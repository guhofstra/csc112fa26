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55"/>
  </p:notesMasterIdLst>
  <p:handoutMasterIdLst>
    <p:handoutMasterId r:id="rId56"/>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371" r:id="rId40"/>
    <p:sldId id="1396" r:id="rId41"/>
    <p:sldId id="396" r:id="rId42"/>
    <p:sldId id="1397" r:id="rId43"/>
    <p:sldId id="1381" r:id="rId44"/>
    <p:sldId id="1388" r:id="rId45"/>
    <p:sldId id="1392" r:id="rId46"/>
    <p:sldId id="1390" r:id="rId47"/>
    <p:sldId id="1391" r:id="rId48"/>
    <p:sldId id="1385" r:id="rId49"/>
    <p:sldId id="1395" r:id="rId50"/>
    <p:sldId id="1386" r:id="rId51"/>
    <p:sldId id="1394" r:id="rId52"/>
    <p:sldId id="1356" r:id="rId53"/>
    <p:sldId id="1406" r:id="rId54"/>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798" autoAdjust="0"/>
  </p:normalViewPr>
  <p:slideViewPr>
    <p:cSldViewPr>
      <p:cViewPr varScale="1">
        <p:scale>
          <a:sx n="101" d="100"/>
          <a:sy n="101" d="100"/>
        </p:scale>
        <p:origin x="990" y="114"/>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559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viewProps" Target="viewProps.xml"/><Relationship Id="rId5" Type="http://schemas.openxmlformats.org/officeDocument/2006/relationships/slide" Target="slides/slide3.xml"/><Relationship Id="rId61" Type="http://schemas.microsoft.com/office/2016/11/relationships/changesInfo" Target="changesInfos/changesInfo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handoutMaster" Target="handoutMasters/handout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mutual </a:t>
            </a:r>
            <a:r>
              <a:rPr lang="en-US" altLang="zh-CN" b="0" i="0" dirty="0" err="1">
                <a:solidFill>
                  <a:srgbClr val="202124"/>
                </a:solidFill>
                <a:effectLst/>
                <a:latin typeface="Google Sans"/>
              </a:rPr>
              <a:t>exclusion</a:t>
            </a:r>
            <a:r>
              <a:rPr lang="en-US" altLang="zh-CN" dirty="0" err="1"/>
              <a:t>A</a:t>
            </a:r>
            <a:r>
              <a:rPr lang="zh-CN" altLang="en-US" dirty="0"/>
              <a:t> </a:t>
            </a:r>
            <a:r>
              <a:rPr lang="en-US" altLang="zh-CN" dirty="0">
                <a:solidFill>
                  <a:srgbClr val="0070C0"/>
                </a:solidFill>
              </a:rPr>
              <a:t>good</a:t>
            </a:r>
            <a:r>
              <a:rPr lang="zh-CN" altLang="en-US" dirty="0">
                <a:solidFill>
                  <a:srgbClr val="0070C0"/>
                </a:solidFill>
              </a:rPr>
              <a:t> </a:t>
            </a:r>
            <a:r>
              <a:rPr lang="en-US" altLang="zh-CN" dirty="0">
                <a:solidFill>
                  <a:srgbClr val="0070C0"/>
                </a:solidFill>
              </a:rPr>
              <a:t>lock</a:t>
            </a:r>
            <a:r>
              <a:rPr lang="en-US" altLang="zh-CN" dirty="0"/>
              <a:t>:</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tickets = 0: No threads have requested the lock yet.</a:t>
            </a:r>
          </a:p>
          <a:p>
            <a:pPr>
              <a:buFont typeface="Arial" panose="020B0604020202020204" pitchFamily="34" charset="0"/>
              <a:buChar char="•"/>
            </a:pPr>
            <a:r>
              <a:rPr lang="en-GB" dirty="0"/>
              <a:t>turn = 0: No threads are currently holding the lock.</a:t>
            </a:r>
          </a:p>
          <a:p>
            <a:r>
              <a:rPr lang="en-GB" b="1" dirty="0"/>
              <a:t>Step-by-Step Execution:</a:t>
            </a:r>
          </a:p>
          <a:p>
            <a:pPr>
              <a:buFont typeface="+mj-lt"/>
              <a:buAutoNum type="arabicPeriod"/>
            </a:pPr>
            <a:r>
              <a:rPr lang="en-GB" b="1" dirty="0"/>
              <a:t>Thread A Calls lock()</a:t>
            </a:r>
            <a:r>
              <a:rPr lang="en-GB" dirty="0"/>
              <a:t>: Thread A increments tickets to 1.</a:t>
            </a:r>
          </a:p>
          <a:p>
            <a:pPr>
              <a:buFont typeface="+mj-lt"/>
              <a:buAutoNum type="arabicPeriod"/>
            </a:pPr>
            <a:r>
              <a:rPr lang="en-GB" dirty="0"/>
              <a:t>Thread A's ticket number is 0 (the value of tickets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tickets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tickets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no threads are currently waiting for the lock.</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(tickets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a:t>text</a:t>
            </a:r>
          </a:p>
          <a:p>
            <a:r>
              <a:rPr lang="en-GB" dirty="0" err="1">
                <a:solidFill>
                  <a:srgbClr val="C5C8C6"/>
                </a:solidFill>
                <a:effectLst/>
                <a:latin typeface="inherit"/>
              </a:rPr>
              <a:t>semaphorerywait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a:t>text</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This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No </a:t>
            </a:r>
            <a:r>
              <a:rPr lang="en-US" altLang="ko-KR" dirty="0" err="1">
                <a:ea typeface="굴림" panose="020B0600000101010101" pitchFamily="34" charset="-127"/>
              </a:rPr>
              <a:t>otjhTechnically</a:t>
            </a:r>
            <a:r>
              <a:rPr lang="en-US" altLang="ko-KR" dirty="0">
                <a:ea typeface="굴림" panose="020B0600000101010101" pitchFamily="34" charset="-127"/>
              </a:rPr>
              <a:t> examining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pthread_wait</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sleep() and release the lock (set guard=0) must be atomic. Similar to the case on slide “Interrupt re-enable in going to sleep”. (can do this in software without hardware support).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logician Tony Hoare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incremente1d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and is blocked;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1;when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t>
            </a:r>
            <a:r>
              <a:rPr lang="en-GB" sz="1200" b="0" kern="0" dirty="0" err="1"/>
              <a:t>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2479287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3535518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(1) before left fork (5).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2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3.xml"/><Relationship Id="rId5" Type="http://schemas.openxmlformats.org/officeDocument/2006/relationships/image" Target="../media/image20.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Monitors</a:t>
            </a:r>
            <a:endParaRPr lang="nb-NO" altLang="zh-CN" dirty="0"/>
          </a:p>
          <a:p>
            <a:endParaRPr lang="en-US" dirty="0"/>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Concurrencies</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irresponsive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 loop, it is preempted/interrupted by Thread 2, which also reads flag==0 and exits the while 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0"/>
            <a:ext cx="6107003" cy="3714749"/>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6107003" y="3409949"/>
            <a:ext cx="5776961" cy="2508235"/>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 variable old,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spin-waits in the while loop and does not enter critical section</a:t>
            </a:r>
          </a:p>
          <a:p>
            <a:r>
              <a:rPr lang="en-US" dirty="0"/>
              <a:t>If multiple threads call TAS when </a:t>
            </a:r>
            <a:r>
              <a:rPr lang="en-US" altLang="zh-CN" dirty="0"/>
              <a:t>lock-flag==0, only one thread will see lock-flag==0 , set it to 1 and enter the critical section, and all the other threads will see  lock-flag==1 and spin-wait.</a:t>
            </a:r>
            <a:endParaRPr lang="en-US" dirty="0"/>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89286" cy="5708373"/>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lock-flag into variable original, compares original with expected (0), and if they are equal (lock-flag==0), sets lock-&gt;flag to 1, then return variable original,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9200" y="2057400"/>
            <a:ext cx="7086601" cy="308301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tickets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tickets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execution </a:t>
            </a:r>
          </a:p>
          <a:p>
            <a:pPr lvl="1"/>
            <a:r>
              <a:rPr lang="en-US" dirty="0"/>
              <a:t>Only one thread must execute critical section</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atomical</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execution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late 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pthreads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 xmlns:a14="http://schemas.microsoft.com/office/drawing/2010/main">
                  <a:solidFill>
                    <a:srgbClr val="FF66CC"/>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1320800" y="939207"/>
            <a:ext cx="9956799" cy="1028700"/>
          </a:xfrm>
        </p:spPr>
        <p:txBody>
          <a:bodyPr>
            <a:normAutofit/>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552282"/>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or “mutex”. Can be used for mutual exclusion as a lock</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Equivalently,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Initialize mutex to 1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picks</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Producer and Consumer can enqueue/dequeue items. concurrently (within critical section protected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 uri="{FAA26D3D-D897-4be2-8F04-BA451C77F1D7}">
              <ma14:placeholderFlag xmlns="" xmlns:ma14="http://schemas.microsoft.com/office/mac/drawingml/2011/main"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Producer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is blocked waiting for Consumer to put items into the queue</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Consumer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Producer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Consumer!</a:t>
            </a:r>
          </a:p>
          <a:p>
            <a:r>
              <a:rPr lang="en-US" altLang="ko-KR" sz="2000" kern="0" dirty="0">
                <a:latin typeface="Gill Sans" panose="020B0502020104020203"/>
                <a:ea typeface="굴림" panose="020B0600000101010101" pitchFamily="34" charset="-127"/>
              </a:rPr>
              <a:t>Similar deadlock situation when the queue is full,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Producer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 </a:t>
            </a:r>
            <a:r>
              <a:rPr lang="en-US" altLang="ko-KR" dirty="0">
                <a:ea typeface="굴림" panose="020B0600000101010101" pitchFamily="34" charset="-127"/>
              </a:rPr>
              <a:t>Monitor with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leads to a deadlock since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Consolas" charset="0"/>
                <a:cs typeface="Consolas" charset="0"/>
              </a:rPr>
              <a:t>Broadcast()</a:t>
            </a:r>
            <a:r>
              <a:rPr lang="en-US" altLang="ko-KR" dirty="0">
                <a:ea typeface="굴림" panose="020B0600000101010101" pitchFamily="34" charset="-127"/>
              </a:rPr>
              <a:t>: Wake up all waiters (if no waiter thread, then the signal is lost/has no effect)</a:t>
            </a:r>
          </a:p>
        </p:txBody>
      </p:sp>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 Monitor with Condition Variables (CV)</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GB" altLang="zh-CN" sz="1800" b="0" kern="0" dirty="0">
                <a:latin typeface="Courier New" panose="02070309020205020404" pitchFamily="49" charset="0"/>
                <a:cs typeface="Courier New" panose="02070309020205020404" pitchFamily="49" charset="0"/>
              </a:rPr>
              <a:t>Thread goes to sleep during waiting</a:t>
            </a:r>
            <a:endParaRPr lang="en-US" altLang="zh-CN" sz="1800" b="0" kern="0" dirty="0">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a:t>
            </a:r>
            <a:r>
              <a:rPr lang="en-US" altLang="ko-KR" sz="2000" b="0" dirty="0" err="1">
                <a:latin typeface="Courier New" panose="02070309020205020404" pitchFamily="49" charset="0"/>
                <a:ea typeface="굴림" charset="0"/>
                <a:cs typeface="Courier New" panose="02070309020205020404" pitchFamily="49" charset="0"/>
              </a:rPr>
              <a:t>dequeue</a:t>
            </a:r>
            <a:r>
              <a:rPr lang="en-US" altLang="ko-KR" sz="2000" b="0" dirty="0">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pthread_cond_signal</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(Code for updating buffer status and setting Boolean flags “buffer full” or “buffer empty” are omitted)</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Xerox-Park Mesa Operating System), where the waiter thread may 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a:t>
            </a:r>
            <a:r>
              <a:rPr lang="en-US" altLang="ko-KR" dirty="0">
                <a:ea typeface="굴림" charset="0"/>
                <a:cs typeface="굴림" charset="0"/>
              </a:rPr>
              <a:t>condition may be false again (called “spurious wakeups”).</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unlock(&amp;mutex);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a14="http://schemas.microsoft.com/office/drawing/2010/main" xmlns="">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a14="http://schemas.microsoft.com/office/drawing/2010/main" xmlns="">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a14="http://schemas.microsoft.com/office/drawing/2010/main" xmlns="">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Condition variables do not maintain state like semaphores do, so we need a shared </a:t>
            </a:r>
            <a:r>
              <a:rPr lang="en-GB" b="0" kern="0" dirty="0" err="1"/>
              <a:t>boolean</a:t>
            </a:r>
            <a:r>
              <a:rPr lang="en-GB" b="0" kern="0" dirty="0"/>
              <a:t> flag “done” to track whether the child thread has completed. (Similar to Boolean flags “buffer full” and “buffer empty” in P/C problem.)</a:t>
            </a:r>
          </a:p>
          <a:p>
            <a:r>
              <a:rPr lang="en-GB" sz="2400" b="0" kern="0" dirty="0"/>
              <a:t>If parent waits first: </a:t>
            </a:r>
            <a:r>
              <a:rPr lang="en-GB" b="0" kern="0" dirty="0"/>
              <a:t>parent calls </a:t>
            </a:r>
            <a:r>
              <a:rPr lang="en-GB" b="0" kern="0" dirty="0" err="1"/>
              <a:t>thr_join</a:t>
            </a:r>
            <a:r>
              <a:rPr lang="en-GB" b="0" kern="0" dirty="0"/>
              <a:t>() and </a:t>
            </a:r>
            <a:r>
              <a:rPr lang="en-GB" b="0" kern="0" dirty="0" err="1"/>
              <a:t>cond_wait</a:t>
            </a:r>
            <a:r>
              <a:rPr lang="en-GB" b="0" kern="0" dirty="0"/>
              <a:t> (&amp;c) before child calls </a:t>
            </a:r>
            <a:r>
              <a:rPr lang="en-GB" b="0" kern="0" dirty="0" err="1"/>
              <a:t>thr_exit</a:t>
            </a:r>
            <a:r>
              <a:rPr lang="en-GB" b="0" kern="0" dirty="0"/>
              <a:t>() and </a:t>
            </a:r>
            <a:r>
              <a:rPr lang="en-GB" b="0" kern="0" dirty="0" err="1"/>
              <a:t>cond_signal</a:t>
            </a:r>
            <a:r>
              <a:rPr lang="en-GB" b="0" kern="0" dirty="0"/>
              <a:t>(&amp;c). The signal on condition variable c will wake up parent.</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Parent will detect that “done” is already set so it will not call </a:t>
            </a:r>
            <a:r>
              <a:rPr lang="en-GB" b="0" kern="0" dirty="0" err="1"/>
              <a:t>cond_wait</a:t>
            </a:r>
            <a:r>
              <a:rPr lang="en-GB" b="0" kern="0" dirty="0"/>
              <a:t>(&amp;c) and block indefinitely. (While loop around </a:t>
            </a:r>
            <a:r>
              <a:rPr lang="en-GB" b="0" kern="0" dirty="0" err="1"/>
              <a:t>cond_wait</a:t>
            </a:r>
            <a:r>
              <a:rPr lang="en-GB" b="0" kern="0" dirty="0"/>
              <a:t>(&amp;c) ensures correctness in case of spurious wakeups.)</a:t>
            </a:r>
          </a:p>
          <a:p>
            <a:endParaRPr lang="en-GB" b="0" kern="0" dirty="0"/>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a:t>Child’s </a:t>
            </a:r>
            <a:r>
              <a:rPr lang="en-GB" b="0" kern="0" dirty="0"/>
              <a:t>signal on condition variable c will be lost, and parent will wait forever in </a:t>
            </a:r>
            <a:r>
              <a:rPr lang="en-GB" b="0" kern="0" dirty="0" err="1"/>
              <a:t>cond_wait</a:t>
            </a:r>
            <a:r>
              <a:rPr lang="en-GB" b="0" kern="0" dirty="0"/>
              <a:t>(&amp;c).</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philosophers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1-5, and 5 forks numbered 1-5;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a:t>
            </a:r>
            <a:r>
              <a:rPr lang="en-GB"/>
              <a:t>forks atomically within </a:t>
            </a:r>
            <a:r>
              <a:rPr lang="en-GB" dirty="0"/>
              <a:t>a critical section, protected by the global semaphore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27898111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412916127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start eating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2163847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(id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(&amp;fork[i+1]);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(id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(&amp;fork[i+1]);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3841710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monitor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065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65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65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065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065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659">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065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065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659">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0659">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0659">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065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659"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96276</TotalTime>
  <Pages>60</Pages>
  <Words>13155</Words>
  <Application>Microsoft Office PowerPoint</Application>
  <PresentationFormat>Widescreen</PresentationFormat>
  <Paragraphs>1394</Paragraphs>
  <Slides>52</Slides>
  <Notes>42</Notes>
  <HiddenSlides>0</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52</vt:i4>
      </vt:variant>
    </vt:vector>
  </HeadingPairs>
  <TitlesOfParts>
    <vt:vector size="68" baseType="lpstr">
      <vt:lpstr>Arial</vt:lpstr>
      <vt:lpstr>Calibri</vt:lpstr>
      <vt:lpstr>Comic Sans MS</vt:lpstr>
      <vt:lpstr>Consolas</vt:lpstr>
      <vt:lpstr>Courier New</vt:lpstr>
      <vt:lpstr>gg sans</vt:lpstr>
      <vt:lpstr>Gill Sans</vt:lpstr>
      <vt:lpstr>Gill Sans Light</vt:lpstr>
      <vt:lpstr>Google Sans</vt:lpstr>
      <vt:lpstr>Helvetica</vt:lpstr>
      <vt:lpstr>inherit</vt:lpstr>
      <vt:lpstr>Menlo</vt:lpstr>
      <vt:lpstr>Times New Roman</vt:lpstr>
      <vt:lpstr>Wingdings</vt:lpstr>
      <vt:lpstr>Office</vt:lpstr>
      <vt:lpstr>1_Office</vt:lpstr>
      <vt:lpstr>CSC 112: Computer Operating Systems Lecture 3  Synchronization</vt:lpstr>
      <vt:lpstr>Outline</vt:lpstr>
      <vt:lpstr>Different Types of Concurrencies</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pthreads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 Monitor with Condition Variables (CV)</vt:lpstr>
      <vt:lpstr> Monitor with Condition Variables (CV)</vt:lpstr>
      <vt:lpstr>CV Common Usage Pattern</vt:lpstr>
      <vt:lpstr>P/C Problem with Condition Variable</vt:lpstr>
      <vt:lpstr>While vs. if for Checking Boolean flag</vt:lpstr>
      <vt:lpstr>Mesa monitors</vt:lpstr>
      <vt:lpstr>The Thread Join Problem</vt:lpstr>
      <vt:lpstr>Thread Join with Semaphore</vt:lpstr>
      <vt:lpstr>Thread Join with Condition Variable</vt:lpstr>
      <vt:lpstr>Thread Join with Condition Variables: Incorrect</vt:lpstr>
      <vt:lpstr>Dinning Philosophers</vt:lpstr>
      <vt:lpstr>Semaphore-based Solution: Deadlock</vt:lpstr>
      <vt:lpstr>Semaphore-based Solution 0: Global Lock</vt:lpstr>
      <vt:lpstr>Semaphore-based Solution: Deadlock</vt:lpstr>
      <vt:lpstr>Semaphore-based Solution I</vt:lpstr>
      <vt:lpstr>Semaphore-based Solution II</vt:lpstr>
      <vt:lpstr>Semaphore-based Solution III</vt:lpstr>
      <vt:lpstr>Semaphore-based Solution IV</vt:lpstr>
      <vt:lpstr>Monitor-based Solution</vt:lpstr>
      <vt:lpstr>Semaphores vs. Monitors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1372</cp:revision>
  <cp:lastPrinted>2022-03-10T08:20:00Z</cp:lastPrinted>
  <dcterms:created xsi:type="dcterms:W3CDTF">1995-08-12T11:37:26Z</dcterms:created>
  <dcterms:modified xsi:type="dcterms:W3CDTF">2026-09-14T21:31:30Z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