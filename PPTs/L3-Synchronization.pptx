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ink/ink1.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740" r:id="rId2"/>
  </p:sldMasterIdLst>
  <p:notesMasterIdLst>
    <p:notesMasterId r:id="rId56"/>
  </p:notesMasterIdLst>
  <p:handoutMasterIdLst>
    <p:handoutMasterId r:id="rId57"/>
  </p:handoutMasterIdLst>
  <p:sldIdLst>
    <p:sldId id="256" r:id="rId3"/>
    <p:sldId id="417" r:id="rId4"/>
    <p:sldId id="1371" r:id="rId5"/>
    <p:sldId id="341" r:id="rId6"/>
    <p:sldId id="343" r:id="rId7"/>
    <p:sldId id="419" r:id="rId8"/>
    <p:sldId id="345" r:id="rId9"/>
    <p:sldId id="346" r:id="rId10"/>
    <p:sldId id="347" r:id="rId11"/>
    <p:sldId id="348" r:id="rId12"/>
    <p:sldId id="350" r:id="rId13"/>
    <p:sldId id="357" r:id="rId14"/>
    <p:sldId id="352" r:id="rId15"/>
    <p:sldId id="356" r:id="rId16"/>
    <p:sldId id="422" r:id="rId17"/>
    <p:sldId id="358" r:id="rId18"/>
    <p:sldId id="359" r:id="rId19"/>
    <p:sldId id="360" r:id="rId20"/>
    <p:sldId id="367" r:id="rId21"/>
    <p:sldId id="1295" r:id="rId22"/>
    <p:sldId id="289" r:id="rId23"/>
    <p:sldId id="1363" r:id="rId24"/>
    <p:sldId id="381" r:id="rId25"/>
    <p:sldId id="1364" r:id="rId26"/>
    <p:sldId id="1369" r:id="rId27"/>
    <p:sldId id="380" r:id="rId28"/>
    <p:sldId id="1365" r:id="rId29"/>
    <p:sldId id="1376" r:id="rId30"/>
    <p:sldId id="1367" r:id="rId31"/>
    <p:sldId id="1370" r:id="rId32"/>
    <p:sldId id="1296" r:id="rId33"/>
    <p:sldId id="1188" r:id="rId34"/>
    <p:sldId id="1373" r:id="rId35"/>
    <p:sldId id="1372" r:id="rId36"/>
    <p:sldId id="1302" r:id="rId37"/>
    <p:sldId id="1299" r:id="rId38"/>
    <p:sldId id="1301" r:id="rId39"/>
    <p:sldId id="1410" r:id="rId66"/>
    <p:sldId id="1411" r:id="rId67"/>
    <p:sldId id="371" r:id="rId40"/>
    <p:sldId id="1396" r:id="rId41"/>
    <p:sldId id="396" r:id="rId42"/>
    <p:sldId id="1397" r:id="rId43"/>
    <p:sldId id="1381" r:id="rId44"/>
    <p:sldId id="1388" r:id="rId45"/>
    <p:sldId id="1392" r:id="rId46"/>
    <p:sldId id="1390" r:id="rId47"/>
    <p:sldId id="1391" r:id="rId48"/>
    <p:sldId id="1385" r:id="rId49"/>
    <p:sldId id="1395" r:id="rId50"/>
    <p:sldId id="1386" r:id="rId51"/>
    <p:sldId id="1394" r:id="rId52"/>
    <p:sldId id="1407" r:id="rId53"/>
    <p:sldId id="1356" r:id="rId54"/>
    <p:sldId id="1408" r:id="rId64"/>
    <p:sldId id="1409" r:id="rId65"/>
    <p:sldId id="1406" r:id="rId55"/>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C7A91B-0AF0-4D79-B6E2-477C6552D5B7}" v="16" dt="2025-09-19T04:01:36.7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25" autoAdjust="0"/>
  </p:normalViewPr>
  <p:slideViewPr>
    <p:cSldViewPr>
      <p:cViewPr varScale="1">
        <p:scale>
          <a:sx n="106" d="100"/>
          <a:sy n="106" d="100"/>
        </p:scale>
        <p:origin x="792" y="114"/>
      </p:cViewPr>
      <p:guideLst>
        <p:guide orient="horz" pos="2160"/>
        <p:guide pos="3840"/>
      </p:guideLst>
    </p:cSldViewPr>
  </p:slideViewPr>
  <p:outlineViewPr>
    <p:cViewPr>
      <p:scale>
        <a:sx n="33" d="100"/>
        <a:sy n="33" d="100"/>
      </p:scale>
      <p:origin x="0" y="-34171"/>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5.xml"/><Relationship Id="rId56" Type="http://schemas.openxmlformats.org/officeDocument/2006/relationships/notesMaster" Target="notesMasters/notesMaster1.xml"/><Relationship Id="rId57" Type="http://schemas.openxmlformats.org/officeDocument/2006/relationships/handoutMaster" Target="handoutMasters/handout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 Id="rId62" Type="http://schemas.microsoft.com/office/2016/11/relationships/changesInfo" Target="changesInfos/changesInfo1.xml"/><Relationship Id="rId63" Type="http://schemas.microsoft.com/office/2015/10/relationships/revisionInfo" Target="revisionInfo.xml"/><Relationship Id="rId64" Type="http://schemas.openxmlformats.org/officeDocument/2006/relationships/slide" Target="slides/slide53.xml"/><Relationship Id="rId65" Type="http://schemas.openxmlformats.org/officeDocument/2006/relationships/slide" Target="slides/slide54.xml"/><Relationship Id="rId66" Type="http://schemas.openxmlformats.org/officeDocument/2006/relationships/slide" Target="slides/slide56.xml"/><Relationship Id="rId67" Type="http://schemas.openxmlformats.org/officeDocument/2006/relationships/slide" Target="slides/slide5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delSld modSld">
      <pc:chgData name="Zonghua Gu" userId="9a7e1853e1951ef5" providerId="LiveId" clId="{CF1FAA12-072C-4ED5-BA76-0FFFAEFDB88A}" dt="2025-09-19T04:02:52.545" v="35" actId="14100"/>
      <pc:docMkLst>
        <pc:docMk/>
      </pc:docMkLst>
      <pc:sldChg chg="modSp">
        <pc:chgData name="Zonghua Gu" userId="9a7e1853e1951ef5" providerId="LiveId" clId="{CF1FAA12-072C-4ED5-BA76-0FFFAEFDB88A}" dt="2025-09-12T02:11:45.046" v="25" actId="20577"/>
        <pc:sldMkLst>
          <pc:docMk/>
          <pc:sldMk cId="2717812291" sldId="1367"/>
        </pc:sldMkLst>
        <pc:spChg chg="mod">
          <ac:chgData name="Zonghua Gu" userId="9a7e1853e1951ef5" providerId="LiveId" clId="{CF1FAA12-072C-4ED5-BA76-0FFFAEFDB88A}" dt="2025-09-12T02:11:41.638" v="21" actId="20577"/>
          <ac:spMkLst>
            <pc:docMk/>
            <pc:sldMk cId="2717812291" sldId="1367"/>
            <ac:spMk id="7" creationId="{00000000-0000-0000-0000-000000000000}"/>
          </ac:spMkLst>
        </pc:spChg>
        <pc:spChg chg="mod">
          <ac:chgData name="Zonghua Gu" userId="9a7e1853e1951ef5" providerId="LiveId" clId="{CF1FAA12-072C-4ED5-BA76-0FFFAEFDB88A}" dt="2025-09-12T02:11:45.046" v="25" actId="20577"/>
          <ac:spMkLst>
            <pc:docMk/>
            <pc:sldMk cId="2717812291" sldId="1367"/>
            <ac:spMk id="9" creationId="{00000000-0000-0000-0000-000000000000}"/>
          </ac:spMkLst>
        </pc:spChg>
      </pc:sldChg>
      <pc:sldChg chg="del">
        <pc:chgData name="Zonghua Gu" userId="9a7e1853e1951ef5" providerId="LiveId" clId="{CF1FAA12-072C-4ED5-BA76-0FFFAEFDB88A}" dt="2025-09-12T02:00:51.221" v="0" actId="47"/>
        <pc:sldMkLst>
          <pc:docMk/>
          <pc:sldMk cId="2199245521" sldId="1368"/>
        </pc:sldMkLst>
      </pc:sldChg>
      <pc:sldChg chg="modSp mod modNotesTx">
        <pc:chgData name="Zonghua Gu" userId="9a7e1853e1951ef5" providerId="LiveId" clId="{CF1FAA12-072C-4ED5-BA76-0FFFAEFDB88A}" dt="2025-09-19T04:02:52.545" v="35" actId="14100"/>
        <pc:sldMkLst>
          <pc:docMk/>
          <pc:sldMk cId="2891265866" sldId="1395"/>
        </pc:sldMkLst>
        <pc:spChg chg="mod">
          <ac:chgData name="Zonghua Gu" userId="9a7e1853e1951ef5" providerId="LiveId" clId="{CF1FAA12-072C-4ED5-BA76-0FFFAEFDB88A}" dt="2025-09-19T04:02:52.545" v="35" actId="14100"/>
          <ac:spMkLst>
            <pc:docMk/>
            <pc:sldMk cId="2891265866" sldId="1395"/>
            <ac:spMk id="3" creationId="{89FB5F88-1B21-FD52-9B87-2917E55D0FE6}"/>
          </ac:spMkLst>
        </pc:spChg>
      </pc:sldChg>
      <pc:sldChg chg="addSp modSp mod">
        <pc:chgData name="Zonghua Gu" userId="9a7e1853e1951ef5" providerId="LiveId" clId="{CF1FAA12-072C-4ED5-BA76-0FFFAEFDB88A}" dt="2025-09-12T02:11:13.476" v="14" actId="1035"/>
        <pc:sldMkLst>
          <pc:docMk/>
          <pc:sldMk cId="1957448404" sldId="1402"/>
        </pc:sldMkLst>
        <pc:spChg chg="add mod">
          <ac:chgData name="Zonghua Gu" userId="9a7e1853e1951ef5" providerId="LiveId" clId="{CF1FAA12-072C-4ED5-BA76-0FFFAEFDB88A}" dt="2025-09-12T02:11:13.476" v="14" actId="1035"/>
          <ac:spMkLst>
            <pc:docMk/>
            <pc:sldMk cId="1957448404" sldId="1402"/>
            <ac:spMk id="2" creationId="{0D6B25AB-15CD-A4E5-E94C-74A5115A8925}"/>
          </ac:spMkLst>
        </pc:spChg>
      </pc:sldChg>
      <pc:sldChg chg="addSp modSp">
        <pc:chgData name="Zonghua Gu" userId="9a7e1853e1951ef5" providerId="LiveId" clId="{CF1FAA12-072C-4ED5-BA76-0FFFAEFDB88A}" dt="2025-09-12T02:11:18.186" v="17"/>
        <pc:sldMkLst>
          <pc:docMk/>
          <pc:sldMk cId="1980838839" sldId="1403"/>
        </pc:sldMkLst>
        <pc:spChg chg="add mod">
          <ac:chgData name="Zonghua Gu" userId="9a7e1853e1951ef5" providerId="LiveId" clId="{CF1FAA12-072C-4ED5-BA76-0FFFAEFDB88A}" dt="2025-09-12T02:11:18.186" v="17"/>
          <ac:spMkLst>
            <pc:docMk/>
            <pc:sldMk cId="1980838839" sldId="1403"/>
            <ac:spMk id="4" creationId="{0F2559D4-A961-DDEE-44F2-9BFB3A483BAA}"/>
          </ac:spMkLst>
        </pc:spChg>
      </pc:sldChg>
      <pc:sldChg chg="addSp modSp">
        <pc:chgData name="Zonghua Gu" userId="9a7e1853e1951ef5" providerId="LiveId" clId="{CF1FAA12-072C-4ED5-BA76-0FFFAEFDB88A}" dt="2025-09-12T02:11:16.232" v="15"/>
        <pc:sldMkLst>
          <pc:docMk/>
          <pc:sldMk cId="857705294" sldId="1404"/>
        </pc:sldMkLst>
        <pc:spChg chg="add mod">
          <ac:chgData name="Zonghua Gu" userId="9a7e1853e1951ef5" providerId="LiveId" clId="{CF1FAA12-072C-4ED5-BA76-0FFFAEFDB88A}" dt="2025-09-12T02:11:16.232" v="15"/>
          <ac:spMkLst>
            <pc:docMk/>
            <pc:sldMk cId="857705294" sldId="1404"/>
            <ac:spMk id="4" creationId="{86B7BFB7-5092-50E2-7B51-76B82C7D607A}"/>
          </ac:spMkLst>
        </pc:spChg>
      </pc:sldChg>
      <pc:sldChg chg="addSp modSp">
        <pc:chgData name="Zonghua Gu" userId="9a7e1853e1951ef5" providerId="LiveId" clId="{CF1FAA12-072C-4ED5-BA76-0FFFAEFDB88A}" dt="2025-09-12T02:11:17.441" v="16"/>
        <pc:sldMkLst>
          <pc:docMk/>
          <pc:sldMk cId="870357890" sldId="1405"/>
        </pc:sldMkLst>
        <pc:spChg chg="add mod">
          <ac:chgData name="Zonghua Gu" userId="9a7e1853e1951ef5" providerId="LiveId" clId="{CF1FAA12-072C-4ED5-BA76-0FFFAEFDB88A}" dt="2025-09-12T02:11:17.441" v="16"/>
          <ac:spMkLst>
            <pc:docMk/>
            <pc:sldMk cId="870357890" sldId="1405"/>
            <ac:spMk id="2" creationId="{241B1494-DA2B-0DB8-860F-DCA063BEA02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6"/>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77">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469"/>
    </inkml:context>
    <inkml:brush xml:id="br0">
      <inkml:brushProperty name="width" value="0.05" units="cm"/>
      <inkml:brushProperty name="height" value="0.05" units="cm"/>
      <inkml:brushProperty name="ignorePressure" value="1"/>
    </inkml:brush>
  </inkml:definitions>
  <inkml:trace contextRef="#ctx0" brushRef="#br0">11 11,'-5'-4,"-1"-2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86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36:35.84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1.596"/>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2.179"/>
    </inkml:context>
    <inkml:brush xml:id="br0">
      <inkml:brushProperty name="width" value="0.05" units="cm"/>
      <inkml:brushProperty name="height" value="0.05" units="cm"/>
      <inkml:brushProperty name="ignorePressure" value="1"/>
    </inkml:brush>
  </inkml:definitions>
  <inkml:trace contextRef="#ctx0" brushRef="#br0">1 0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1:24:45.98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135"/>
    </inkml:context>
    <inkml:brush xml:id="br0">
      <inkml:brushProperty name="width" value="0.05" units="cm"/>
      <inkml:brushProperty name="height" value="0.05" units="cm"/>
      <inkml:brushProperty name="ignorePressure" value="1"/>
    </inkml:brush>
  </inkml:definitions>
  <inkml:trace contextRef="#ctx0" brushRef="#br0">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468"/>
    </inkml:context>
    <inkml:brush xml:id="br0">
      <inkml:brushProperty name="width" value="0.05" units="cm"/>
      <inkml:brushProperty name="height" value="0.05" units="cm"/>
      <inkml:brushProperty name="ignorePressure" value="1"/>
    </inkml:brush>
  </inkml:definitions>
  <inkml:trace contextRef="#ctx0" brushRef="#br0">0 0</inkml:trace>
  <inkml:trace contextRef="#ctx0" brushRef="#br0" timeOffset="1">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2.143"/>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5.13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2.92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5.04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26:46.443"/>
    </inkml:context>
    <inkml:brush xml:id="br0">
      <inkml:brushProperty name="width" value="0.05" units="cm"/>
      <inkml:brushProperty name="height" value="0.05" units="cm"/>
      <inkml:brushProperty name="ignorePressure" value="1"/>
    </inkml:brush>
  </inkml:definitions>
  <inkml:trace contextRef="#ctx0" brushRef="#br0">0 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3" y="6956426"/>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t>Page </a:t>
            </a:r>
            <a:fld id="{6D259941-7246-4245-A40C-55C6F952DF9E}" type="slidenum">
              <a:rPr lang="en-US" sz="1300" b="0"/>
              <a:pPr algn="ctr" defTabSz="917177">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2"/>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9" tIns="46978" rIns="95629" bIns="4697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effectLst/>
                <a:latin typeface="gg sans"/>
              </a:rPr>
              <a:t>Add modifies the private registers in each thread, but store modifies the shared </a:t>
            </a:r>
            <a:r>
              <a:rPr lang="en-GB" b="0" i="0">
                <a:effectLst/>
                <a:latin typeface="gg sans"/>
              </a:rPr>
              <a:t>variable counter in </a:t>
            </a:r>
            <a:r>
              <a:rPr lang="en-GB" b="0" i="0" dirty="0">
                <a:effectLst/>
                <a:latin typeface="gg sans"/>
              </a:rPr>
              <a:t>memory, and a later store of Thread 1 overwrites a previous store of Thread 2.</a:t>
            </a:r>
            <a:endParaRPr lang="en-SE" dirty="0"/>
          </a:p>
        </p:txBody>
      </p:sp>
    </p:spTree>
    <p:extLst>
      <p:ext uri="{BB962C8B-B14F-4D97-AF65-F5344CB8AC3E}">
        <p14:creationId xmlns:p14="http://schemas.microsoft.com/office/powerpoint/2010/main" val="1040947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97980-DA49-7990-0BE0-072EC52DA9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94D5F5-7029-F2E9-7D96-0D9B5EB0D2E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27E4533-B887-8F1F-7D7D-57BB937C3E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i="1" dirty="0">
                <a:effectLst/>
                <a:latin typeface="Helvetica" pitchFamily="2" charset="0"/>
              </a:rPr>
              <a:t>The execution of the critical sections by the threads</a:t>
            </a:r>
            <a:r>
              <a:rPr lang="zh-CN" altLang="en-US" dirty="0">
                <a:latin typeface="Helvetica" pitchFamily="2" charset="0"/>
              </a:rPr>
              <a:t> </a:t>
            </a:r>
            <a:r>
              <a:rPr lang="en-US" altLang="zh-CN" i="1" dirty="0">
                <a:solidFill>
                  <a:srgbClr val="000000"/>
                </a:solidFill>
                <a:effectLst/>
                <a:latin typeface="Helvetica" pitchFamily="2" charset="0"/>
              </a:rPr>
              <a:t>is</a:t>
            </a:r>
            <a:r>
              <a:rPr lang="zh-CN" altLang="en-US" i="1" dirty="0">
                <a:solidFill>
                  <a:srgbClr val="000000"/>
                </a:solidFill>
                <a:effectLst/>
                <a:latin typeface="Helvetica" pitchFamily="2" charset="0"/>
              </a:rPr>
              <a:t> </a:t>
            </a:r>
            <a:r>
              <a:rPr lang="en-US" altLang="zh-CN" i="1" dirty="0">
                <a:solidFill>
                  <a:srgbClr val="0070C1"/>
                </a:solidFill>
                <a:effectLst/>
                <a:latin typeface="Helvetica" pitchFamily="2" charset="0"/>
              </a:rPr>
              <a:t>mutually exclusive </a:t>
            </a:r>
            <a:r>
              <a:rPr lang="en-US" altLang="zh-CN" i="1" dirty="0">
                <a:solidFill>
                  <a:srgbClr val="000000"/>
                </a:solidFill>
                <a:effectLst/>
                <a:latin typeface="Helvetica" pitchFamily="2" charset="0"/>
              </a:rPr>
              <a:t>in time</a:t>
            </a:r>
            <a:endParaRPr lang="en-US" altLang="zh-CN" dirty="0">
              <a:solidFill>
                <a:srgbClr val="0070C1"/>
              </a:solidFill>
              <a:effectLst/>
              <a:latin typeface="Helvetica" pitchFamily="2" charset="0"/>
            </a:endParaRPr>
          </a:p>
          <a:p>
            <a:r>
              <a:rPr lang="en-US" altLang="zh-CN" dirty="0">
                <a:effectLst/>
                <a:latin typeface="Gill Sans"/>
              </a:rPr>
              <a:t>Programmers must make sure that some high-level</a:t>
            </a:r>
            <a:r>
              <a:rPr lang="zh-CN" altLang="en-US" dirty="0">
                <a:latin typeface="Gill Sans"/>
              </a:rPr>
              <a:t> </a:t>
            </a:r>
            <a:r>
              <a:rPr lang="en-US" altLang="zh-CN" dirty="0">
                <a:effectLst/>
                <a:latin typeface="Gill Sans"/>
              </a:rPr>
              <a:t>code sections are executed atomically</a:t>
            </a:r>
          </a:p>
          <a:p>
            <a:pPr lvl="1"/>
            <a:r>
              <a:rPr lang="en-US" altLang="zh-CN" dirty="0">
                <a:effectLst/>
                <a:latin typeface="Gill Sans"/>
              </a:rPr>
              <a:t>Atomic operation: It completes in its entirety without</a:t>
            </a:r>
            <a:r>
              <a:rPr lang="zh-CN" altLang="en-US" dirty="0">
                <a:latin typeface="Gill Sans"/>
              </a:rPr>
              <a:t> </a:t>
            </a:r>
            <a:r>
              <a:rPr lang="en-US" altLang="zh-CN" dirty="0">
                <a:effectLst/>
                <a:latin typeface="Gill Sans"/>
              </a:rPr>
              <a:t>worrying about interruption by any other potentially</a:t>
            </a:r>
            <a:r>
              <a:rPr lang="zh-CN" altLang="en-US" dirty="0">
                <a:latin typeface="Gill Sans"/>
              </a:rPr>
              <a:t> </a:t>
            </a:r>
            <a:r>
              <a:rPr lang="en-US" altLang="zh-CN" dirty="0">
                <a:effectLst/>
                <a:latin typeface="Gill Sans"/>
              </a:rPr>
              <a:t>conflict-causing thread</a:t>
            </a:r>
          </a:p>
          <a:p>
            <a:endParaRPr lang="en-US" dirty="0"/>
          </a:p>
          <a:p>
            <a:endParaRPr lang="en-US" dirty="0"/>
          </a:p>
          <a:p>
            <a:r>
              <a:rPr lang="en-US" dirty="0"/>
              <a:t>1. Mutual exclusion. If process Pi is executing in its critical section, then no other processes can be executing in their critical sections.</a:t>
            </a:r>
          </a:p>
          <a:p>
            <a:r>
              <a:rPr lang="en-US" dirty="0"/>
              <a:t>2. Progress. If no process is executing in its critical section and some processes wish to enter their critical sections, then only those processes that are not executing in their remainder sections can participate in deciding which will enter its critical section next, and this selection cannot be postponed indefinitely.</a:t>
            </a:r>
          </a:p>
          <a:p>
            <a:r>
              <a:rPr lang="en-US" dirty="0"/>
              <a:t>3. Bounded waiting. There exists a bound, or limit, on the number of times that other processes are allowed to enter their critical sections after a process has made a request to enter its critical section and before that request is granted.</a:t>
            </a:r>
          </a:p>
          <a:p>
            <a:endParaRPr lang="en-US" dirty="0"/>
          </a:p>
        </p:txBody>
      </p:sp>
      <p:sp>
        <p:nvSpPr>
          <p:cNvPr id="4" name="灯片编号占位符 3">
            <a:extLst>
              <a:ext uri="{FF2B5EF4-FFF2-40B4-BE49-F238E27FC236}">
                <a16:creationId xmlns:a16="http://schemas.microsoft.com/office/drawing/2014/main" id="{4E014B44-BDD5-9A32-2D51-C8A94E8A9B15}"/>
              </a:ext>
            </a:extLst>
          </p:cNvPr>
          <p:cNvSpPr>
            <a:spLocks noGrp="1"/>
          </p:cNvSpPr>
          <p:nvPr>
            <p:ph type="sldNum" sz="quarter" idx="5"/>
          </p:nvPr>
        </p:nvSpPr>
        <p:spPr/>
        <p:txBody>
          <a:bodyPr/>
          <a:lstStyle/>
          <a:p>
            <a:fld id="{0EB10148-9EF2-FB49-9E1A-13660DDAFF20}" type="slidenum">
              <a:rPr kumimoji="1" lang="zh-CN" altLang="en-US" smtClean="0"/>
              <a:t>6</a:t>
            </a:fld>
            <a:endParaRPr kumimoji="1" lang="zh-CN" altLang="en-US"/>
          </a:p>
        </p:txBody>
      </p:sp>
    </p:spTree>
    <p:extLst>
      <p:ext uri="{BB962C8B-B14F-4D97-AF65-F5344CB8AC3E}">
        <p14:creationId xmlns:p14="http://schemas.microsoft.com/office/powerpoint/2010/main" val="170617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Solution:</a:t>
            </a:r>
            <a:r>
              <a:rPr lang="zh-CN" altLang="en-US" dirty="0"/>
              <a:t> </a:t>
            </a:r>
            <a:endParaRPr lang="en-US" altLang="zh-CN" dirty="0"/>
          </a:p>
          <a:p>
            <a:pPr lvl="1"/>
            <a:r>
              <a:rPr lang="en-US" altLang="zh-CN" b="1" i="1" dirty="0">
                <a:solidFill>
                  <a:schemeClr val="accent2">
                    <a:lumMod val="60000"/>
                    <a:lumOff val="40000"/>
                  </a:schemeClr>
                </a:solidFill>
                <a:effectLst/>
                <a:latin typeface="Helvetica" pitchFamily="2" charset="0"/>
              </a:rPr>
              <a:t>Mutual exclusion</a:t>
            </a:r>
            <a:r>
              <a:rPr lang="en-US" altLang="zh-CN" i="1" dirty="0">
                <a:effectLst/>
                <a:latin typeface="Helvetica" pitchFamily="2" charset="0"/>
              </a:rPr>
              <a:t>:</a:t>
            </a:r>
            <a:r>
              <a:rPr lang="zh-CN" altLang="en-US" i="1" dirty="0">
                <a:effectLst/>
                <a:latin typeface="Helvetica" pitchFamily="2" charset="0"/>
              </a:rPr>
              <a:t> </a:t>
            </a:r>
            <a:r>
              <a:rPr lang="en-US" altLang="zh-CN" i="1" dirty="0">
                <a:effectLst/>
                <a:latin typeface="Helvetica" pitchFamily="2" charset="0"/>
              </a:rPr>
              <a:t>Only one thread in critical section at a time</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Progress (deadlock-free)</a:t>
            </a:r>
            <a:r>
              <a:rPr lang="en-US" altLang="zh-CN" dirty="0">
                <a:latin typeface="Helvetica" pitchFamily="2" charset="0"/>
              </a:rPr>
              <a:t>:</a:t>
            </a:r>
            <a:r>
              <a:rPr lang="zh-CN" altLang="en-US" dirty="0">
                <a:latin typeface="Helvetica" pitchFamily="2" charset="0"/>
              </a:rPr>
              <a:t> </a:t>
            </a:r>
            <a:r>
              <a:rPr lang="en-US" altLang="zh-CN" i="1" dirty="0">
                <a:effectLst/>
                <a:latin typeface="Helvetica" pitchFamily="2" charset="0"/>
              </a:rPr>
              <a:t>If several simultaneous requests, must allow one to proceed</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Bounded (starvation-free)</a:t>
            </a:r>
            <a:r>
              <a:rPr lang="en-US" altLang="zh-CN" b="1" dirty="0">
                <a:solidFill>
                  <a:schemeClr val="accent2">
                    <a:lumMod val="60000"/>
                    <a:lumOff val="40000"/>
                  </a:schemeClr>
                </a:solidFill>
                <a:latin typeface="Helvetica" pitchFamily="2" charset="0"/>
              </a:rPr>
              <a:t>:</a:t>
            </a:r>
            <a:r>
              <a:rPr lang="zh-CN" altLang="en-US" b="1" dirty="0">
                <a:solidFill>
                  <a:schemeClr val="accent2">
                    <a:lumMod val="60000"/>
                    <a:lumOff val="40000"/>
                  </a:schemeClr>
                </a:solidFill>
                <a:latin typeface="Helvetica" pitchFamily="2" charset="0"/>
              </a:rPr>
              <a:t> </a:t>
            </a:r>
            <a:r>
              <a:rPr lang="en-US" altLang="zh-CN" i="1" dirty="0">
                <a:effectLst/>
                <a:latin typeface="Helvetica" pitchFamily="2" charset="0"/>
              </a:rPr>
              <a:t>Must eventually allow each waiting thread to enter</a:t>
            </a:r>
            <a:endParaRPr lang="en-US" altLang="zh-CN" dirty="0">
              <a:effectLst/>
              <a:latin typeface="Helvetica" pitchFamily="2" charset="0"/>
            </a:endParaRPr>
          </a:p>
          <a:p>
            <a:endParaRPr lang="en-US" altLang="zh-CN" i="1" dirty="0">
              <a:effectLst/>
              <a:latin typeface="Helvetica" pitchFamily="2" charset="0"/>
            </a:endParaRPr>
          </a:p>
          <a:p>
            <a:pPr marL="0" indent="0">
              <a:buNone/>
            </a:pPr>
            <a:endParaRPr lang="en-US" altLang="zh-CN" dirty="0"/>
          </a:p>
          <a:p>
            <a:endParaRPr lang="en-SE" dirty="0"/>
          </a:p>
        </p:txBody>
      </p:sp>
    </p:spTree>
    <p:extLst>
      <p:ext uri="{BB962C8B-B14F-4D97-AF65-F5344CB8AC3E}">
        <p14:creationId xmlns:p14="http://schemas.microsoft.com/office/powerpoint/2010/main" val="3419125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202124"/>
                </a:solidFill>
                <a:effectLst/>
                <a:latin typeface="Google Sans"/>
              </a:rPr>
              <a:t>A good lock:</a:t>
            </a:r>
          </a:p>
          <a:p>
            <a:pPr lvl="1"/>
            <a:r>
              <a:rPr lang="en-US" altLang="zh-CN" dirty="0">
                <a:solidFill>
                  <a:srgbClr val="0070C0"/>
                </a:solidFill>
              </a:rPr>
              <a:t>Mutual</a:t>
            </a:r>
            <a:r>
              <a:rPr lang="zh-CN" altLang="en-US" dirty="0">
                <a:solidFill>
                  <a:srgbClr val="0070C0"/>
                </a:solidFill>
              </a:rPr>
              <a:t> </a:t>
            </a:r>
            <a:r>
              <a:rPr lang="en-US" altLang="zh-CN" dirty="0">
                <a:solidFill>
                  <a:srgbClr val="0070C0"/>
                </a:solidFill>
              </a:rPr>
              <a:t>exclusion</a:t>
            </a:r>
          </a:p>
          <a:p>
            <a:pPr lvl="1"/>
            <a:r>
              <a:rPr lang="en-US" altLang="zh-CN" dirty="0">
                <a:solidFill>
                  <a:srgbClr val="0070C0"/>
                </a:solidFill>
              </a:rPr>
              <a:t>Fairness:</a:t>
            </a:r>
            <a:r>
              <a:rPr lang="zh-CN" altLang="en-US" dirty="0">
                <a:solidFill>
                  <a:srgbClr val="0070C0"/>
                </a:solidFill>
              </a:rPr>
              <a:t> </a:t>
            </a:r>
            <a:r>
              <a:rPr lang="en-US" altLang="zh-CN" dirty="0"/>
              <a:t>progress,</a:t>
            </a:r>
            <a:r>
              <a:rPr lang="zh-CN" altLang="en-US" dirty="0"/>
              <a:t> </a:t>
            </a:r>
            <a:r>
              <a:rPr lang="en-US" altLang="zh-CN" dirty="0"/>
              <a:t>no</a:t>
            </a:r>
            <a:r>
              <a:rPr lang="zh-CN" altLang="en-US" dirty="0"/>
              <a:t> </a:t>
            </a:r>
            <a:r>
              <a:rPr lang="en-US" altLang="zh-CN" dirty="0"/>
              <a:t>starvation</a:t>
            </a:r>
          </a:p>
          <a:p>
            <a:pPr lvl="1"/>
            <a:r>
              <a:rPr lang="en-US" altLang="zh-CN" dirty="0">
                <a:solidFill>
                  <a:srgbClr val="0070C0"/>
                </a:solidFill>
              </a:rPr>
              <a:t>Performance:</a:t>
            </a:r>
            <a:r>
              <a:rPr lang="zh-CN" altLang="en-US" dirty="0">
                <a:solidFill>
                  <a:srgbClr val="0070C0"/>
                </a:solidFill>
              </a:rPr>
              <a:t> </a:t>
            </a:r>
            <a:r>
              <a:rPr lang="en-US" altLang="zh-CN" dirty="0"/>
              <a:t>overhead</a:t>
            </a:r>
            <a:r>
              <a:rPr lang="zh-CN" altLang="en-US" dirty="0"/>
              <a:t> </a:t>
            </a:r>
            <a:r>
              <a:rPr lang="en-US" altLang="zh-CN" dirty="0"/>
              <a:t>to</a:t>
            </a:r>
            <a:r>
              <a:rPr lang="zh-CN" altLang="en-US" dirty="0"/>
              <a:t> </a:t>
            </a:r>
            <a:r>
              <a:rPr lang="en-US" altLang="zh-CN" dirty="0"/>
              <a:t>grab</a:t>
            </a:r>
            <a:r>
              <a:rPr lang="zh-CN" altLang="en-US" dirty="0"/>
              <a:t> </a:t>
            </a:r>
            <a:r>
              <a:rPr lang="en-US" altLang="zh-CN" dirty="0"/>
              <a:t>and</a:t>
            </a:r>
            <a:r>
              <a:rPr lang="zh-CN" altLang="en-US" dirty="0"/>
              <a:t> </a:t>
            </a:r>
            <a:r>
              <a:rPr lang="en-US" altLang="zh-CN" dirty="0"/>
              <a:t>release</a:t>
            </a:r>
            <a:r>
              <a:rPr lang="zh-CN" altLang="en-US" dirty="0"/>
              <a:t> </a:t>
            </a:r>
            <a:r>
              <a:rPr lang="en-US" altLang="zh-CN" dirty="0"/>
              <a:t>lock</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8</a:t>
            </a:fld>
            <a:endParaRPr kumimoji="1" lang="zh-CN" altLang="en-US"/>
          </a:p>
        </p:txBody>
      </p:sp>
    </p:spTree>
    <p:extLst>
      <p:ext uri="{BB962C8B-B14F-4D97-AF65-F5344CB8AC3E}">
        <p14:creationId xmlns:p14="http://schemas.microsoft.com/office/powerpoint/2010/main" val="2262374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solidFill>
                  <a:srgbClr val="FF0000"/>
                </a:solidFill>
              </a:rPr>
              <a:t>Abused</a:t>
            </a:r>
            <a:r>
              <a:rPr lang="zh-CN" altLang="en-US" dirty="0">
                <a:solidFill>
                  <a:srgbClr val="FF0000"/>
                </a:solidFill>
              </a:rPr>
              <a:t> </a:t>
            </a:r>
            <a:r>
              <a:rPr lang="en-US" altLang="zh-CN" dirty="0">
                <a:solidFill>
                  <a:srgbClr val="FF0000"/>
                </a:solidFill>
              </a:rPr>
              <a:t>usage</a:t>
            </a:r>
          </a:p>
          <a:p>
            <a:endParaRPr lang="en-SE" dirty="0"/>
          </a:p>
        </p:txBody>
      </p:sp>
    </p:spTree>
    <p:extLst>
      <p:ext uri="{BB962C8B-B14F-4D97-AF65-F5344CB8AC3E}">
        <p14:creationId xmlns:p14="http://schemas.microsoft.com/office/powerpoint/2010/main" val="12514800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Another</a:t>
            </a:r>
            <a:r>
              <a:rPr lang="zh-CN" altLang="en-US" dirty="0"/>
              <a:t> </a:t>
            </a:r>
            <a:r>
              <a:rPr lang="en-US" altLang="zh-CN" dirty="0"/>
              <a:t>problem:</a:t>
            </a:r>
            <a:r>
              <a:rPr lang="zh-CN" altLang="en-US" dirty="0"/>
              <a:t> </a:t>
            </a:r>
            <a:r>
              <a:rPr lang="en-US" altLang="zh-CN" dirty="0"/>
              <a:t>performance</a:t>
            </a:r>
            <a:r>
              <a:rPr lang="zh-CN" altLang="en-US" dirty="0"/>
              <a:t> </a:t>
            </a:r>
            <a:r>
              <a:rPr lang="en-US" altLang="zh-CN" dirty="0"/>
              <a:t>overhead!</a:t>
            </a:r>
            <a:endParaRPr lang="en-US" dirty="0"/>
          </a:p>
          <a:p>
            <a:endParaRPr lang="en-SE" dirty="0"/>
          </a:p>
        </p:txBody>
      </p:sp>
    </p:spTree>
    <p:extLst>
      <p:ext uri="{BB962C8B-B14F-4D97-AF65-F5344CB8AC3E}">
        <p14:creationId xmlns:p14="http://schemas.microsoft.com/office/powerpoint/2010/main" val="2944426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483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36015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b="1" dirty="0">
                <a:solidFill>
                  <a:srgbClr val="0070C0"/>
                </a:solidFill>
              </a:rPr>
              <a:t>ticket</a:t>
            </a:r>
            <a:r>
              <a:rPr lang="zh-CN" altLang="en-US" b="1" dirty="0">
                <a:solidFill>
                  <a:srgbClr val="0070C0"/>
                </a:solidFill>
              </a:rPr>
              <a:t> </a:t>
            </a:r>
            <a:r>
              <a:rPr lang="en-US" altLang="zh-CN" b="1" dirty="0">
                <a:solidFill>
                  <a:srgbClr val="0070C0"/>
                </a:solidFill>
              </a:rPr>
              <a:t>and</a:t>
            </a:r>
            <a:r>
              <a:rPr lang="zh-CN" altLang="en-US" b="1" dirty="0">
                <a:solidFill>
                  <a:srgbClr val="0070C0"/>
                </a:solidFill>
              </a:rPr>
              <a:t> </a:t>
            </a:r>
            <a:r>
              <a:rPr lang="en-US" altLang="zh-CN" b="1" dirty="0">
                <a:solidFill>
                  <a:srgbClr val="0070C0"/>
                </a:solidFill>
              </a:rPr>
              <a:t>turn</a:t>
            </a:r>
            <a:endParaRPr lang="en-SE" dirty="0"/>
          </a:p>
        </p:txBody>
      </p:sp>
    </p:spTree>
    <p:extLst>
      <p:ext uri="{BB962C8B-B14F-4D97-AF65-F5344CB8AC3E}">
        <p14:creationId xmlns:p14="http://schemas.microsoft.com/office/powerpoint/2010/main" val="2069043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Ticket lock is designed to ensure mutual exclusion while avoiding starvation. Here's a detailed explanation of the example:</a:t>
            </a:r>
          </a:p>
          <a:p>
            <a:r>
              <a:rPr lang="en-GB" dirty="0"/>
              <a:t>What is a Ticket Lock?</a:t>
            </a:r>
          </a:p>
          <a:p>
            <a:endParaRPr lang="en-SE" dirty="0"/>
          </a:p>
        </p:txBody>
      </p:sp>
    </p:spTree>
    <p:extLst>
      <p:ext uri="{BB962C8B-B14F-4D97-AF65-F5344CB8AC3E}">
        <p14:creationId xmlns:p14="http://schemas.microsoft.com/office/powerpoint/2010/main" val="2014014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0029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Initial State:</a:t>
            </a:r>
          </a:p>
          <a:p>
            <a:pPr>
              <a:buFont typeface="Arial" panose="020B0604020202020204" pitchFamily="34" charset="0"/>
              <a:buChar char="•"/>
            </a:pPr>
            <a:r>
              <a:rPr lang="en-GB" dirty="0"/>
              <a:t>ticket = 0: No threads have requested the lock yet.</a:t>
            </a:r>
          </a:p>
          <a:p>
            <a:pPr>
              <a:buFont typeface="Arial" panose="020B0604020202020204" pitchFamily="34" charset="0"/>
              <a:buChar char="•"/>
            </a:pPr>
            <a:r>
              <a:rPr lang="en-GB" dirty="0"/>
              <a:t>turn = 0: ticket 0 is being served (the thread holding ticket 0 may enter the critical section).</a:t>
            </a:r>
          </a:p>
          <a:p>
            <a:r>
              <a:rPr lang="en-GB" b="1" dirty="0"/>
              <a:t>Step-by-Step Execution:</a:t>
            </a:r>
          </a:p>
          <a:p>
            <a:pPr>
              <a:buFont typeface="+mj-lt"/>
              <a:buAutoNum type="arabicPeriod"/>
            </a:pPr>
            <a:r>
              <a:rPr lang="en-GB" b="1" dirty="0"/>
              <a:t>Thread A Calls lock()</a:t>
            </a:r>
            <a:r>
              <a:rPr lang="en-GB" dirty="0"/>
              <a:t>: Thread A increments ticket to 1.</a:t>
            </a:r>
          </a:p>
          <a:p>
            <a:pPr>
              <a:buFont typeface="+mj-lt"/>
              <a:buAutoNum type="arabicPeriod"/>
            </a:pPr>
            <a:r>
              <a:rPr lang="en-GB" dirty="0"/>
              <a:t>Thread A's ticket number is 0 (the value of ticket before incrementing).</a:t>
            </a:r>
          </a:p>
          <a:p>
            <a:pPr>
              <a:buFont typeface="+mj-lt"/>
              <a:buAutoNum type="arabicPeriod"/>
            </a:pPr>
            <a:r>
              <a:rPr lang="en-GB" dirty="0"/>
              <a:t>Since turn = 0, Thread A enters the critical section immediately.</a:t>
            </a:r>
          </a:p>
          <a:p>
            <a:pPr>
              <a:buFont typeface="+mj-lt"/>
              <a:buAutoNum type="arabicPeriod"/>
            </a:pPr>
            <a:r>
              <a:rPr lang="en-GB" b="1" dirty="0"/>
              <a:t>Thread B Calls lock()</a:t>
            </a:r>
            <a:r>
              <a:rPr lang="en-GB" dirty="0"/>
              <a:t>: Thread B increments ticket to 2.</a:t>
            </a:r>
          </a:p>
          <a:p>
            <a:pPr>
              <a:buFont typeface="+mj-lt"/>
              <a:buAutoNum type="arabicPeriod"/>
            </a:pPr>
            <a:r>
              <a:rPr lang="en-GB" dirty="0"/>
              <a:t>Thread B's ticket number is 1.</a:t>
            </a:r>
          </a:p>
          <a:p>
            <a:pPr>
              <a:buFont typeface="+mj-lt"/>
              <a:buAutoNum type="arabicPeriod"/>
            </a:pPr>
            <a:r>
              <a:rPr lang="en-GB" dirty="0"/>
              <a:t>Since turn = 0, Thread B spins, waiting for its turn.</a:t>
            </a:r>
          </a:p>
          <a:p>
            <a:pPr>
              <a:buFont typeface="+mj-lt"/>
              <a:buAutoNum type="arabicPeriod"/>
            </a:pPr>
            <a:r>
              <a:rPr lang="en-GB" b="1" dirty="0"/>
              <a:t>Thread C Calls lock()</a:t>
            </a:r>
            <a:r>
              <a:rPr lang="en-GB" dirty="0"/>
              <a:t>: Thread C increments ticket to 3.</a:t>
            </a:r>
          </a:p>
          <a:p>
            <a:pPr>
              <a:buFont typeface="+mj-lt"/>
              <a:buAutoNum type="arabicPeriod"/>
            </a:pPr>
            <a:r>
              <a:rPr lang="en-GB" dirty="0"/>
              <a:t>Thread C's ticket number is 2.</a:t>
            </a:r>
          </a:p>
          <a:p>
            <a:pPr>
              <a:buFont typeface="+mj-lt"/>
              <a:buAutoNum type="arabicPeriod"/>
            </a:pPr>
            <a:r>
              <a:rPr lang="en-GB" dirty="0"/>
              <a:t>Since turn = 0, Thread C also spins, waiting for its turn.</a:t>
            </a:r>
          </a:p>
          <a:p>
            <a:pPr>
              <a:buFont typeface="+mj-lt"/>
              <a:buAutoNum type="arabicPeriod"/>
            </a:pPr>
            <a:r>
              <a:rPr lang="en-GB" b="1" dirty="0"/>
              <a:t>Thread A Calls unlock()</a:t>
            </a:r>
            <a:r>
              <a:rPr lang="en-GB" dirty="0"/>
              <a:t>: Thread A increments turn to 1, </a:t>
            </a:r>
            <a:r>
              <a:rPr lang="en-GB" dirty="0" err="1"/>
              <a:t>signaling</a:t>
            </a:r>
            <a:r>
              <a:rPr lang="en-GB" dirty="0"/>
              <a:t> that it's now Thread B's turn.</a:t>
            </a:r>
          </a:p>
          <a:p>
            <a:pPr>
              <a:buFont typeface="+mj-lt"/>
              <a:buAutoNum type="arabicPeriod"/>
            </a:pPr>
            <a:r>
              <a:rPr lang="en-GB" dirty="0"/>
              <a:t>Thread B stops spinning and enters the critical section.</a:t>
            </a:r>
          </a:p>
          <a:p>
            <a:pPr>
              <a:buFont typeface="+mj-lt"/>
              <a:buAutoNum type="arabicPeriod"/>
            </a:pPr>
            <a:r>
              <a:rPr lang="en-GB" b="1" dirty="0"/>
              <a:t>Thread A Calls lock() again</a:t>
            </a:r>
            <a:r>
              <a:rPr lang="en-GB" dirty="0"/>
              <a:t>: Thread A increments ticket to 4; its new ticket number is 3. Since turn = 1, Thread A spins, waiting for its turn.</a:t>
            </a:r>
          </a:p>
          <a:p>
            <a:pPr>
              <a:buFont typeface="+mj-lt"/>
              <a:buAutoNum type="arabicPeriod"/>
            </a:pPr>
            <a:r>
              <a:rPr lang="en-GB" b="1" dirty="0"/>
              <a:t>Thread B Calls unlock()</a:t>
            </a:r>
            <a:r>
              <a:rPr lang="en-GB" dirty="0"/>
              <a:t>: Thread B increments turn to 2, </a:t>
            </a:r>
            <a:r>
              <a:rPr lang="en-GB" dirty="0" err="1"/>
              <a:t>signaling</a:t>
            </a:r>
            <a:r>
              <a:rPr lang="en-GB" dirty="0"/>
              <a:t> that it's now Thread C's turn.</a:t>
            </a:r>
          </a:p>
          <a:p>
            <a:pPr>
              <a:buFont typeface="+mj-lt"/>
              <a:buAutoNum type="arabicPeriod"/>
            </a:pPr>
            <a:r>
              <a:rPr lang="en-GB" dirty="0"/>
              <a:t>Thread C stops spinning and enters the critical section.</a:t>
            </a:r>
          </a:p>
          <a:p>
            <a:pPr>
              <a:buFont typeface="+mj-lt"/>
              <a:buAutoNum type="arabicPeriod"/>
            </a:pPr>
            <a:r>
              <a:rPr lang="en-GB" dirty="0"/>
              <a:t>Thread A stops spinning (turn = 3 matches its ticket number 3) and enters the critical section.</a:t>
            </a:r>
          </a:p>
          <a:p>
            <a:pPr>
              <a:buFont typeface="+mj-lt"/>
              <a:buAutoNum type="arabicPeriod"/>
            </a:pPr>
            <a:r>
              <a:rPr lang="en-GB" b="1" dirty="0"/>
              <a:t>Thread C Calls unlock()</a:t>
            </a:r>
            <a:r>
              <a:rPr lang="en-GB" dirty="0"/>
              <a:t>: Thread C increments turn to 3, </a:t>
            </a:r>
            <a:r>
              <a:rPr lang="en-GB" dirty="0" err="1"/>
              <a:t>signaling</a:t>
            </a:r>
            <a:r>
              <a:rPr lang="en-GB" dirty="0"/>
              <a:t> that it's now the turn of ticket 3 (Thread A's second lock() request, see the table).</a:t>
            </a:r>
          </a:p>
          <a:p>
            <a:pPr>
              <a:buFont typeface="+mj-lt"/>
              <a:buAutoNum type="arabicPeriod"/>
            </a:pPr>
            <a:r>
              <a:rPr lang="en-GB" b="1" dirty="0"/>
              <a:t>Thread A Calls unlock()</a:t>
            </a:r>
            <a:r>
              <a:rPr lang="en-GB" dirty="0"/>
              <a:t>: Thread A increments turn to 4; no thread is waiting any more.</a:t>
            </a:r>
          </a:p>
          <a:p>
            <a:r>
              <a:rPr lang="en-GB" b="1" dirty="0"/>
              <a:t>Fairness in Ticket Locks</a:t>
            </a:r>
          </a:p>
          <a:p>
            <a:pPr>
              <a:buFont typeface="Arial" panose="020B0604020202020204" pitchFamily="34" charset="0"/>
              <a:buChar char="•"/>
            </a:pPr>
            <a:r>
              <a:rPr lang="en-GB" dirty="0"/>
              <a:t>Threads acquire locks in the exact order they request them, as determined by their ticket numbers.</a:t>
            </a:r>
          </a:p>
          <a:p>
            <a:pPr>
              <a:buFont typeface="Arial" panose="020B0604020202020204" pitchFamily="34" charset="0"/>
              <a:buChar char="•"/>
            </a:pPr>
            <a:r>
              <a:rPr lang="en-GB" dirty="0"/>
              <a:t>This prevents starvation because every thread will eventually get its turn once it has acquired a ticket.</a:t>
            </a:r>
          </a:p>
          <a:p>
            <a:pPr>
              <a:buFont typeface="Arial" panose="020B0604020202020204" pitchFamily="34" charset="0"/>
              <a:buChar char="•"/>
            </a:pPr>
            <a:r>
              <a:rPr lang="en-GB" dirty="0"/>
              <a:t>Unlike basic spinlocks (e.g., Test-and-Set or Compare-and-Swap), ticket locks provide fairness by maintaining an explicit order of access.</a:t>
            </a:r>
          </a:p>
          <a:p>
            <a:r>
              <a:rPr lang="en-GB" b="1" dirty="0"/>
              <a:t>Advantages of Ticket Locks</a:t>
            </a:r>
          </a:p>
          <a:p>
            <a:pPr>
              <a:buFont typeface="+mj-lt"/>
              <a:buAutoNum type="arabicPeriod"/>
            </a:pPr>
            <a:r>
              <a:rPr lang="en-GB" b="1" dirty="0"/>
              <a:t>Fairness</a:t>
            </a:r>
            <a:r>
              <a:rPr lang="en-GB" dirty="0"/>
              <a:t>: Ensures threads are served in FCFS order.</a:t>
            </a:r>
          </a:p>
          <a:p>
            <a:pPr>
              <a:buFont typeface="+mj-lt"/>
              <a:buAutoNum type="arabicPeriod"/>
            </a:pPr>
            <a:r>
              <a:rPr lang="en-GB" b="1" dirty="0"/>
              <a:t>Starvation-Free</a:t>
            </a:r>
            <a:r>
              <a:rPr lang="en-GB" dirty="0"/>
              <a:t>: Every thread holding a ticket will eventually acquire the lock.</a:t>
            </a:r>
          </a:p>
          <a:p>
            <a:pPr>
              <a:buFont typeface="+mj-lt"/>
              <a:buAutoNum type="arabicPeriod"/>
            </a:pPr>
            <a:r>
              <a:rPr lang="en-GB" b="1" dirty="0"/>
              <a:t>Simple Implementation</a:t>
            </a:r>
            <a:r>
              <a:rPr lang="en-GB" dirty="0"/>
              <a:t>: Relies on atomic operations like fetch-and-add.</a:t>
            </a:r>
          </a:p>
          <a:p>
            <a:r>
              <a:rPr lang="en-GB" b="1" dirty="0"/>
              <a:t>Disadvantages of Ticket Locks</a:t>
            </a:r>
          </a:p>
          <a:p>
            <a:pPr>
              <a:buFont typeface="+mj-lt"/>
              <a:buAutoNum type="arabicPeriod"/>
            </a:pPr>
            <a:r>
              <a:rPr lang="en-GB" b="1" dirty="0"/>
              <a:t>Busy Waiting (Spin-Waiting)</a:t>
            </a:r>
            <a:r>
              <a:rPr lang="en-GB" dirty="0"/>
              <a:t>: Threads waiting for their turn spin continuously, consuming CPU resources.</a:t>
            </a:r>
          </a:p>
          <a:p>
            <a:pPr>
              <a:buFont typeface="+mj-lt"/>
              <a:buAutoNum type="arabicPeriod"/>
            </a:pPr>
            <a:r>
              <a:rPr lang="en-GB" b="1" dirty="0"/>
              <a:t>Scalability Issues</a:t>
            </a:r>
            <a:r>
              <a:rPr lang="en-GB" dirty="0"/>
              <a:t>: On systems with many CPUs, cache contention can arise because all threads frequently read and write shared variables (ticket and turn).</a:t>
            </a:r>
          </a:p>
          <a:p>
            <a:endParaRPr lang="en-SE" dirty="0"/>
          </a:p>
          <a:p>
            <a:endParaRPr lang="en-SE" dirty="0"/>
          </a:p>
        </p:txBody>
      </p:sp>
    </p:spTree>
    <p:extLst>
      <p:ext uri="{BB962C8B-B14F-4D97-AF65-F5344CB8AC3E}">
        <p14:creationId xmlns:p14="http://schemas.microsoft.com/office/powerpoint/2010/main" val="1928879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task (if one exists)</a:t>
            </a:r>
          </a:p>
          <a:p>
            <a:endParaRPr lang="en-GB" dirty="0">
              <a:solidFill>
                <a:srgbClr val="C5C8C6"/>
              </a:solidFill>
              <a:effectLst/>
              <a:latin typeface="inherit"/>
            </a:endParaRPr>
          </a:p>
          <a:p>
            <a:r>
              <a:rPr lang="en-GB" dirty="0" err="1">
                <a:solidFill>
                  <a:srgbClr val="C5C8C6"/>
                </a:solidFill>
                <a:effectLst/>
                <a:latin typeface="inherit"/>
              </a:rPr>
              <a:t>sem_wait</a:t>
            </a:r>
            <a:r>
              <a:rPr lang="en-GB" dirty="0">
                <a:solidFill>
                  <a:srgbClr val="C5C8C6"/>
                </a:solidFill>
                <a:effectLst/>
                <a:latin typeface="inherit"/>
              </a:rPr>
              <a:t>()</a:t>
            </a:r>
            <a:endParaRPr lang="en-GB" dirty="0"/>
          </a:p>
          <a:p>
            <a:r>
              <a:rPr lang="en-GB" dirty="0"/>
              <a:t>Performs a blocking wait (decrement) on the semaphore; if the counter is zero, the calling thread will block.</a:t>
            </a:r>
          </a:p>
          <a:p>
            <a:r>
              <a:rPr lang="en-GB" dirty="0" err="1">
                <a:solidFill>
                  <a:srgbClr val="C5C8C6"/>
                </a:solidFill>
                <a:effectLst/>
                <a:latin typeface="inherit"/>
              </a:rPr>
              <a:t>sem_trywait</a:t>
            </a:r>
            <a:r>
              <a:rPr lang="en-GB" dirty="0">
                <a:solidFill>
                  <a:srgbClr val="C5C8C6"/>
                </a:solidFill>
                <a:effectLst/>
                <a:latin typeface="inherit"/>
              </a:rPr>
              <a:t>()</a:t>
            </a:r>
            <a:endParaRPr lang="en-GB" dirty="0"/>
          </a:p>
          <a:p>
            <a:r>
              <a:rPr lang="en-GB" dirty="0"/>
              <a:t>Attempts to perform a non-blocking wait on the semaphore, returning an error if the semaphore is unavailable.</a:t>
            </a:r>
          </a:p>
          <a:p>
            <a:r>
              <a:rPr lang="en-GB" dirty="0" err="1">
                <a:solidFill>
                  <a:srgbClr val="C5C8C6"/>
                </a:solidFill>
                <a:effectLst/>
                <a:latin typeface="inherit"/>
              </a:rPr>
              <a:t>sem_post</a:t>
            </a:r>
            <a:r>
              <a:rPr lang="en-GB" dirty="0">
                <a:solidFill>
                  <a:srgbClr val="C5C8C6"/>
                </a:solidFill>
                <a:effectLst/>
                <a:latin typeface="inherit"/>
              </a:rPr>
              <a:t>()</a:t>
            </a:r>
            <a:endParaRPr lang="en-GB" dirty="0"/>
          </a:p>
          <a:p>
            <a:r>
              <a:rPr lang="en-GB" dirty="0"/>
              <a:t>Increments (signals) the semaphore, potentially unblocking waiting threads.</a:t>
            </a:r>
            <a:endParaRPr lang="en-US"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Main synchronization primitive used in original UNIX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Think of this as the signal() operation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Technically, examining the value</a:t>
            </a:r>
            <a:r>
              <a:rPr lang="en-US" altLang="ko-KR" dirty="0" err="1">
                <a:ea typeface="굴림" panose="020B0600000101010101" pitchFamily="34" charset="-127"/>
              </a:rPr>
              <a:t/>
            </a:r>
            <a:r>
              <a:rPr lang="en-US" altLang="ko-KR" dirty="0">
                <a:ea typeface="굴림" panose="020B0600000101010101" pitchFamily="34" charset="-127"/>
              </a:rPr>
              <a:t> after initialization is not allowed.</a:t>
            </a:r>
          </a:p>
          <a:p>
            <a:r>
              <a:rPr lang="en-US" altLang="zh-CN" sz="3200" dirty="0"/>
              <a:t>An</a:t>
            </a:r>
            <a:r>
              <a:rPr lang="zh-CN" altLang="en-US" sz="3200" dirty="0"/>
              <a:t> </a:t>
            </a:r>
            <a:r>
              <a:rPr lang="en-US" altLang="zh-CN" sz="3200" dirty="0"/>
              <a:t>object</a:t>
            </a:r>
            <a:r>
              <a:rPr lang="zh-CN" altLang="en-US" sz="3200" dirty="0"/>
              <a:t> </a:t>
            </a:r>
            <a:r>
              <a:rPr lang="en-US" altLang="zh-CN" sz="3200" dirty="0"/>
              <a:t>with</a:t>
            </a:r>
            <a:r>
              <a:rPr lang="zh-CN" altLang="en-US" sz="3200" dirty="0"/>
              <a:t> </a:t>
            </a:r>
            <a:r>
              <a:rPr lang="en-US" altLang="zh-CN" sz="3200" b="1" dirty="0">
                <a:solidFill>
                  <a:srgbClr val="0070C0"/>
                </a:solidFill>
              </a:rPr>
              <a:t>an</a:t>
            </a:r>
            <a:r>
              <a:rPr lang="zh-CN" altLang="en-US" sz="3200" b="1" dirty="0">
                <a:solidFill>
                  <a:srgbClr val="0070C0"/>
                </a:solidFill>
              </a:rPr>
              <a:t> </a:t>
            </a:r>
            <a:r>
              <a:rPr lang="en-US" altLang="zh-CN" sz="3200" b="1" dirty="0">
                <a:solidFill>
                  <a:srgbClr val="0070C0"/>
                </a:solidFill>
              </a:rPr>
              <a:t>integer</a:t>
            </a:r>
            <a:r>
              <a:rPr lang="zh-CN" altLang="en-US" sz="3200" b="1" dirty="0">
                <a:solidFill>
                  <a:srgbClr val="0070C0"/>
                </a:solidFill>
              </a:rPr>
              <a:t> </a:t>
            </a:r>
            <a:r>
              <a:rPr lang="en-US" altLang="zh-CN" sz="3200" b="1" dirty="0">
                <a:solidFill>
                  <a:srgbClr val="0070C0"/>
                </a:solidFill>
              </a:rPr>
              <a:t>value</a:t>
            </a:r>
          </a:p>
          <a:p>
            <a:r>
              <a:rPr lang="en-US" altLang="zh-CN" sz="3200" dirty="0"/>
              <a:t>Introduced</a:t>
            </a:r>
            <a:r>
              <a:rPr lang="zh-CN" altLang="en-US" sz="3200" dirty="0"/>
              <a:t> </a:t>
            </a:r>
            <a:r>
              <a:rPr lang="en-US" altLang="zh-CN" sz="3200" dirty="0"/>
              <a:t>by</a:t>
            </a:r>
            <a:r>
              <a:rPr lang="zh-CN" altLang="en-US" sz="3200" dirty="0"/>
              <a:t> </a:t>
            </a:r>
            <a:r>
              <a:rPr lang="en-US" altLang="zh-CN" sz="3200" b="1" dirty="0"/>
              <a:t>E.</a:t>
            </a:r>
            <a:r>
              <a:rPr lang="zh-CN" altLang="en-US" sz="3200" b="1" dirty="0"/>
              <a:t> </a:t>
            </a:r>
            <a:r>
              <a:rPr lang="en-US" altLang="zh-CN" sz="3200" b="1" dirty="0"/>
              <a:t>W.</a:t>
            </a:r>
            <a:r>
              <a:rPr lang="zh-CN" altLang="en-US" sz="3200" b="1" dirty="0"/>
              <a:t> </a:t>
            </a:r>
            <a:r>
              <a:rPr lang="en-US" altLang="zh-CN" sz="3200" b="1" dirty="0"/>
              <a:t>Dijkstra</a:t>
            </a:r>
          </a:p>
          <a:p>
            <a:r>
              <a:rPr lang="en-US" altLang="zh-CN" sz="3200" dirty="0"/>
              <a:t>Manipulate</a:t>
            </a:r>
            <a:r>
              <a:rPr lang="zh-CN" altLang="en-US" sz="3200" dirty="0"/>
              <a:t> </a:t>
            </a:r>
            <a:r>
              <a:rPr lang="en-US" altLang="zh-CN" sz="3200" dirty="0"/>
              <a:t>with</a:t>
            </a:r>
            <a:r>
              <a:rPr lang="zh-CN" altLang="en-US" sz="3200" dirty="0"/>
              <a:t> </a:t>
            </a:r>
            <a:r>
              <a:rPr lang="en-US" altLang="zh-CN" sz="3200" dirty="0"/>
              <a:t>two</a:t>
            </a:r>
            <a:r>
              <a:rPr lang="zh-CN" altLang="en-US" sz="3200" dirty="0"/>
              <a:t> </a:t>
            </a:r>
            <a:r>
              <a:rPr lang="en-US" altLang="zh-CN" sz="3200" dirty="0"/>
              <a:t>routines</a:t>
            </a:r>
          </a:p>
          <a:p>
            <a:pPr lvl="1"/>
            <a:r>
              <a:rPr lang="en-US" altLang="zh-CN" sz="2800" dirty="0" err="1">
                <a:solidFill>
                  <a:srgbClr val="0070C0"/>
                </a:solidFill>
              </a:rPr>
              <a:t>sem_wait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P(s)</a:t>
            </a:r>
            <a:r>
              <a:rPr lang="zh-CN" altLang="en-US" sz="2800" dirty="0">
                <a:solidFill>
                  <a:srgbClr val="0070C0"/>
                </a:solidFill>
              </a:rPr>
              <a:t>   </a:t>
            </a:r>
            <a:r>
              <a:rPr lang="en-US" altLang="zh-CN" sz="2800" dirty="0">
                <a:solidFill>
                  <a:srgbClr val="0070C0"/>
                </a:solidFill>
              </a:rPr>
              <a:t>down(s)</a:t>
            </a:r>
          </a:p>
          <a:p>
            <a:pPr lvl="1"/>
            <a:r>
              <a:rPr lang="en-US" altLang="zh-CN" sz="2800" dirty="0" err="1">
                <a:solidFill>
                  <a:srgbClr val="0070C0"/>
                </a:solidFill>
              </a:rPr>
              <a:t>sem_post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V(s)</a:t>
            </a:r>
            <a:r>
              <a:rPr lang="zh-CN" altLang="en-US" sz="2800" dirty="0">
                <a:solidFill>
                  <a:srgbClr val="0070C0"/>
                </a:solidFill>
              </a:rPr>
              <a:t>   </a:t>
            </a:r>
            <a:r>
              <a:rPr lang="en-US" altLang="zh-CN" sz="2800" dirty="0">
                <a:solidFill>
                  <a:srgbClr val="0070C0"/>
                </a:solidFill>
              </a:rPr>
              <a:t>up(s)</a:t>
            </a:r>
          </a:p>
          <a:p>
            <a:r>
              <a:rPr lang="en-US" altLang="zh-CN" sz="3200" dirty="0"/>
              <a:t>Motivation:</a:t>
            </a:r>
            <a:r>
              <a:rPr lang="zh-CN" altLang="en-US" sz="3200" dirty="0"/>
              <a:t> </a:t>
            </a:r>
            <a:r>
              <a:rPr lang="en-US" altLang="zh-CN" sz="3200" dirty="0"/>
              <a:t>Avoid</a:t>
            </a:r>
            <a:r>
              <a:rPr lang="zh-CN" altLang="en-US" sz="3200" dirty="0"/>
              <a:t> </a:t>
            </a:r>
            <a:r>
              <a:rPr lang="en-US" altLang="zh-CN" sz="3200" dirty="0"/>
              <a:t>busy</a:t>
            </a:r>
            <a:r>
              <a:rPr lang="zh-CN" altLang="en-US" sz="3200" dirty="0"/>
              <a:t> </a:t>
            </a:r>
            <a:r>
              <a:rPr lang="en-US" altLang="zh-CN" sz="3200" dirty="0"/>
              <a:t>waiting</a:t>
            </a:r>
            <a:r>
              <a:rPr lang="zh-CN" altLang="en-US" sz="3200" dirty="0"/>
              <a:t> </a:t>
            </a:r>
            <a:r>
              <a:rPr lang="en-US" altLang="zh-CN" sz="3200" dirty="0"/>
              <a:t>by</a:t>
            </a:r>
            <a:r>
              <a:rPr lang="zh-CN" altLang="en-US" sz="3200" dirty="0"/>
              <a:t> </a:t>
            </a:r>
            <a:r>
              <a:rPr lang="en-US" altLang="zh-CN" sz="3200" dirty="0"/>
              <a:t>blocking</a:t>
            </a:r>
            <a:r>
              <a:rPr lang="zh-CN" altLang="en-US" sz="3200" dirty="0"/>
              <a:t> </a:t>
            </a:r>
            <a:r>
              <a:rPr lang="en-US" altLang="zh-CN" sz="3200" dirty="0"/>
              <a:t>a</a:t>
            </a:r>
            <a:r>
              <a:rPr lang="zh-CN" altLang="en-US" sz="3200" dirty="0"/>
              <a:t> </a:t>
            </a:r>
            <a:r>
              <a:rPr lang="en-US" altLang="zh-CN" sz="3200" dirty="0"/>
              <a:t>process</a:t>
            </a:r>
            <a:r>
              <a:rPr lang="zh-CN" altLang="en-US" sz="3200" dirty="0"/>
              <a:t> </a:t>
            </a:r>
            <a:r>
              <a:rPr lang="en-US" altLang="zh-CN" sz="3200" dirty="0"/>
              <a:t>execution</a:t>
            </a:r>
            <a:r>
              <a:rPr lang="zh-CN" altLang="en-US" sz="3200" dirty="0"/>
              <a:t> </a:t>
            </a:r>
            <a:r>
              <a:rPr lang="en-US" altLang="zh-CN" sz="3200" dirty="0"/>
              <a:t>until</a:t>
            </a:r>
            <a:r>
              <a:rPr lang="zh-CN" altLang="en-US" sz="3200" dirty="0"/>
              <a:t> </a:t>
            </a:r>
            <a:r>
              <a:rPr lang="en-US" altLang="zh-CN" sz="3200" dirty="0"/>
              <a:t>some</a:t>
            </a:r>
            <a:r>
              <a:rPr lang="zh-CN" altLang="en-US" sz="3200" dirty="0"/>
              <a:t> </a:t>
            </a:r>
            <a:r>
              <a:rPr lang="en-US" altLang="zh-CN" sz="3200" dirty="0"/>
              <a:t>condition</a:t>
            </a:r>
            <a:r>
              <a:rPr lang="zh-CN" altLang="en-US" sz="3200" dirty="0"/>
              <a:t> </a:t>
            </a:r>
            <a:r>
              <a:rPr lang="en-US" altLang="zh-CN" sz="3200" dirty="0"/>
              <a:t>is</a:t>
            </a:r>
            <a:r>
              <a:rPr lang="zh-CN" altLang="en-US" sz="3200" dirty="0"/>
              <a:t> </a:t>
            </a:r>
            <a:r>
              <a:rPr lang="en-US" altLang="zh-CN" sz="3200" dirty="0"/>
              <a:t>satisfied</a:t>
            </a:r>
            <a:r>
              <a:rPr lang="zh-CN" altLang="en-US" sz="3200" dirty="0"/>
              <a:t> </a:t>
            </a:r>
            <a:endParaRPr lang="en-US" sz="3200" dirty="0"/>
          </a:p>
          <a:p>
            <a:endParaRPr lang="en-US" altLang="en-US" dirty="0"/>
          </a:p>
        </p:txBody>
      </p:sp>
    </p:spTree>
    <p:extLst>
      <p:ext uri="{BB962C8B-B14F-4D97-AF65-F5344CB8AC3E}">
        <p14:creationId xmlns:p14="http://schemas.microsoft.com/office/powerpoint/2010/main" val="1342602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AF76A94E-5F4C-CF94-BF2D-2FC1B797C8FD}"/>
              </a:ext>
            </a:extLst>
          </p:cNvPr>
          <p:cNvSpPr>
            <a:spLocks noGrp="1" noChangeArrowheads="1"/>
          </p:cNvSpPr>
          <p:nvPr>
            <p:ph type="sldNum" sz="quarter" idx="5"/>
          </p:nvPr>
        </p:nvSpPr>
        <p:spPr>
          <a:ln/>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2CFDD219-E382-4FD4-9A7A-C9C0237EE4CC}" type="slidenum">
              <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rPr>
              <a:pPr marL="0" marR="0" lvl="0" indent="0" algn="l" defTabSz="914400" rtl="0" eaLnBrk="0" fontAlgn="base" latinLnBrk="0" hangingPunct="0">
                <a:lnSpc>
                  <a:spcPct val="100000"/>
                </a:lnSpc>
                <a:spcBef>
                  <a:spcPct val="0"/>
                </a:spcBef>
                <a:spcAft>
                  <a:spcPct val="0"/>
                </a:spcAft>
                <a:buClrTx/>
                <a:buSzTx/>
                <a:buFontTx/>
                <a:buNone/>
                <a:tabLst/>
                <a:defRPr/>
              </a:pPr>
              <a:t>21</a:t>
            </a:fld>
            <a:endPar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endParaRPr>
          </a:p>
        </p:txBody>
      </p:sp>
      <p:sp>
        <p:nvSpPr>
          <p:cNvPr id="162818" name="Rectangle 2">
            <a:extLst>
              <a:ext uri="{FF2B5EF4-FFF2-40B4-BE49-F238E27FC236}">
                <a16:creationId xmlns:a16="http://schemas.microsoft.com/office/drawing/2014/main" id="{DD83F3D1-3DE7-C1DF-58E3-89FBF004A8D0}"/>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1417D01E-0DC3-CCC5-0BF4-0310C40FAFDD}"/>
              </a:ext>
            </a:extLst>
          </p:cNvPr>
          <p:cNvSpPr>
            <a:spLocks noGrp="1" noChangeArrowheads="1"/>
          </p:cNvSpPr>
          <p:nvPr>
            <p:ph type="body" idx="1"/>
          </p:nvPr>
        </p:nvSpPr>
        <p:spPr/>
        <p:txBody>
          <a:bodyPr/>
          <a:lstStyle/>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pthread_mutex_init</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Create a new mutex</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pthread_mutex_destroy</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Destroy a mutex</a:t>
            </a:r>
            <a:endParaRPr lang="en-SE" sz="1800" b="0" i="0" u="none" strike="noStrike" dirty="0">
              <a:effectLst/>
              <a:latin typeface="Arial" panose="020B0604020202020204" pitchFamily="34" charset="0"/>
            </a:endParaRPr>
          </a:p>
          <a:p>
            <a:endParaRPr lang="en-US" altLang="en-SE" dirty="0"/>
          </a:p>
          <a:p>
            <a:pPr lvl="1">
              <a:spcBef>
                <a:spcPct val="50000"/>
              </a:spcBef>
            </a:pPr>
            <a:r>
              <a:rPr lang="en-US" altLang="en-SE" dirty="0">
                <a:latin typeface="Courier New" panose="02070309020205020404" pitchFamily="49" charset="0"/>
              </a:rPr>
              <a:t>t = </a:t>
            </a:r>
            <a:r>
              <a:rPr lang="en-US" altLang="en-SE" dirty="0" err="1">
                <a:latin typeface="Courier New" panose="02070309020205020404" pitchFamily="49" charset="0"/>
              </a:rPr>
              <a:t>pthread_create</a:t>
            </a:r>
            <a:r>
              <a:rPr lang="en-US" altLang="en-SE" dirty="0">
                <a:latin typeface="Courier New" panose="02070309020205020404" pitchFamily="49" charset="0"/>
              </a:rPr>
              <a:t>(attributes, </a:t>
            </a:r>
            <a:r>
              <a:rPr lang="en-US" altLang="en-SE" dirty="0" err="1">
                <a:latin typeface="Courier New" panose="02070309020205020404" pitchFamily="49" charset="0"/>
              </a:rPr>
              <a:t>start_procedure</a:t>
            </a:r>
            <a:r>
              <a:rPr lang="en-US" altLang="en-SE" dirty="0">
                <a:latin typeface="Courier New" panose="02070309020205020404" pitchFamily="49" charset="0"/>
              </a:rPr>
              <a:t>)</a:t>
            </a:r>
          </a:p>
          <a:p>
            <a:pPr lvl="2"/>
            <a:r>
              <a:rPr lang="en-US" altLang="en-SE" dirty="0"/>
              <a:t>creates a new thread of control</a:t>
            </a:r>
          </a:p>
          <a:p>
            <a:pPr lvl="2"/>
            <a:r>
              <a:rPr lang="en-US" altLang="en-SE" dirty="0"/>
              <a:t>new thread begins executing at </a:t>
            </a:r>
            <a:r>
              <a:rPr lang="en-US" altLang="en-SE" dirty="0" err="1"/>
              <a:t>start_procedure</a:t>
            </a:r>
            <a:endParaRPr lang="en-US" altLang="en-SE" dirty="0"/>
          </a:p>
          <a:p>
            <a:pPr lvl="1"/>
            <a:r>
              <a:rPr lang="en-US" altLang="en-SE" dirty="0" err="1">
                <a:latin typeface="Courier New" panose="02070309020205020404" pitchFamily="49" charset="0"/>
              </a:rPr>
              <a:t>pthread_cond_wait</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the calling thread blocks, sometimes called </a:t>
            </a:r>
            <a:r>
              <a:rPr lang="en-US" altLang="en-SE" dirty="0" err="1"/>
              <a:t>thread_block</a:t>
            </a:r>
            <a:r>
              <a:rPr lang="en-US" altLang="en-SE" dirty="0"/>
              <a:t>()</a:t>
            </a:r>
          </a:p>
          <a:p>
            <a:pPr lvl="1"/>
            <a:r>
              <a:rPr lang="en-US" altLang="en-SE" dirty="0" err="1">
                <a:latin typeface="Courier New" panose="02070309020205020404" pitchFamily="49" charset="0"/>
              </a:rPr>
              <a:t>pthread_cond_signal</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starts the thread waiting on the condition variable</a:t>
            </a:r>
          </a:p>
          <a:p>
            <a:pPr lvl="1"/>
            <a:r>
              <a:rPr lang="en-US" altLang="en-SE" dirty="0" err="1">
                <a:latin typeface="Courier New" panose="02070309020205020404" pitchFamily="49" charset="0"/>
              </a:rPr>
              <a:t>pthread_exit</a:t>
            </a:r>
            <a:r>
              <a:rPr lang="en-US" altLang="en-SE" dirty="0">
                <a:latin typeface="Courier New" panose="02070309020205020404" pitchFamily="49" charset="0"/>
              </a:rPr>
              <a:t>()</a:t>
            </a:r>
          </a:p>
          <a:p>
            <a:pPr lvl="2"/>
            <a:r>
              <a:rPr lang="en-US" altLang="en-SE" dirty="0"/>
              <a:t>terminates the calling thread</a:t>
            </a:r>
          </a:p>
          <a:p>
            <a:pPr lvl="1"/>
            <a:r>
              <a:rPr lang="en-US" altLang="en-SE" dirty="0" err="1">
                <a:latin typeface="Courier New" panose="02070309020205020404" pitchFamily="49" charset="0"/>
              </a:rPr>
              <a:t>pthread_join</a:t>
            </a:r>
            <a:r>
              <a:rPr lang="en-US" altLang="en-SE" dirty="0">
                <a:latin typeface="Courier New" panose="02070309020205020404" pitchFamily="49" charset="0"/>
              </a:rPr>
              <a:t>(t)</a:t>
            </a:r>
          </a:p>
          <a:p>
            <a:pPr lvl="2"/>
            <a:r>
              <a:rPr lang="en-US" altLang="en-SE" dirty="0"/>
              <a:t>waits for the named thread to terminate</a:t>
            </a:r>
            <a:endParaRPr lang="en-SE" altLang="en-SE" dirty="0"/>
          </a:p>
        </p:txBody>
      </p:sp>
    </p:spTree>
    <p:extLst>
      <p:ext uri="{BB962C8B-B14F-4D97-AF65-F5344CB8AC3E}">
        <p14:creationId xmlns:p14="http://schemas.microsoft.com/office/powerpoint/2010/main" val="11534803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8323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kern="0" dirty="0">
                <a:solidFill>
                  <a:schemeClr val="tx1"/>
                </a:solidFill>
                <a:latin typeface="Arial" charset="0"/>
                <a:ea typeface="+mn-ea"/>
                <a:cs typeface="+mn-cs"/>
              </a:rPr>
              <a:t>Note: setting guard = 0 and sleep() must happen atomically (the OS does this inside the kernel). Otherwise, if sem_post() runs between guard = 0 and sleep(), it would move the thread from the wait queue to the ready queue before the thread has actually gone to sleep, and the wakeup would be lost.</a:t>
            </a:r>
            <a:endParaRPr lang="en-US" sz="1200" kern="0" dirty="0">
              <a:latin typeface="Courier New" pitchFamily="49" charset="0"/>
              <a:cs typeface="Courier New" pitchFamily="49" charset="0"/>
            </a:endParaRPr>
          </a:p>
          <a:p>
            <a:endParaRPr lang="en-US" dirty="0"/>
          </a:p>
        </p:txBody>
      </p:sp>
      <p:sp>
        <p:nvSpPr>
          <p:cNvPr id="4" name="Slide Number Placeholder 3"/>
          <p:cNvSpPr>
            <a:spLocks noGrp="1"/>
          </p:cNvSpPr>
          <p:nvPr>
            <p:ph type="sldNum" sz="quarter" idx="10"/>
          </p:nvPr>
        </p:nvSpPr>
        <p:spPr/>
        <p:txBody>
          <a:bodyPr/>
          <a:lstStyle/>
          <a:p>
            <a:pPr>
              <a:defRPr/>
            </a:pPr>
            <a:fld id="{0D8AF720-472F-4B50-80B7-CC002CB185FA}" type="slidenum">
              <a:rPr lang="en-US" altLang="zh-CN" smtClean="0"/>
              <a:pPr>
                <a:defRPr/>
              </a:pPr>
              <a:t>23</a:t>
            </a:fld>
            <a:endParaRPr lang="en-US" altLang="zh-C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Rot="1" noChangeAspect="1" noChangeArrowheads="1" noTextEdit="1"/>
          </p:cNvSpPr>
          <p:nvPr>
            <p:ph type="sldImg"/>
          </p:nvPr>
        </p:nvSpPr>
        <p:spPr>
          <a:ln/>
        </p:spPr>
      </p:sp>
      <p:sp>
        <p:nvSpPr>
          <p:cNvPr id="29698"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charset="0"/>
                <a:cs typeface="Gill Sans Light"/>
              </a:rPr>
              <a:t>Let thread 1 wait for a signal from thread 2</a:t>
            </a:r>
          </a:p>
          <a:p>
            <a:endParaRPr lang="en-US" dirty="0">
              <a:ea typeface="ＭＳ Ｐゴシック" charset="0"/>
              <a:cs typeface="ＭＳ Ｐゴシック" charset="0"/>
            </a:endParaRPr>
          </a:p>
        </p:txBody>
      </p:sp>
    </p:spTree>
    <p:extLst>
      <p:ext uri="{BB962C8B-B14F-4D97-AF65-F5344CB8AC3E}">
        <p14:creationId xmlns:p14="http://schemas.microsoft.com/office/powerpoint/2010/main" val="27405418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pPr lvl="1">
              <a:lnSpc>
                <a:spcPct val="80000"/>
              </a:lnSpc>
            </a:pPr>
            <a:r>
              <a:rPr lang="en-US" altLang="ko-KR" dirty="0">
                <a:ea typeface="굴림" panose="020B0600000101010101" pitchFamily="34" charset="-127"/>
              </a:rPr>
              <a:t>Consumer must wait for producer to fill buffers, if no full slots (</a:t>
            </a:r>
            <a:r>
              <a:rPr lang="en-US" altLang="ko-KR" dirty="0" err="1">
                <a:ea typeface="굴림" panose="020B0600000101010101" pitchFamily="34" charset="-127"/>
              </a:rPr>
              <a:t>fullSlots</a:t>
            </a:r>
            <a:r>
              <a:rPr lang="en-US" altLang="ko-KR" dirty="0">
                <a:ea typeface="굴림" panose="020B0600000101010101" pitchFamily="34" charset="-127"/>
              </a:rPr>
              <a:t> == 0)</a:t>
            </a:r>
          </a:p>
          <a:p>
            <a:pPr lvl="1">
              <a:lnSpc>
                <a:spcPct val="80000"/>
              </a:lnSpc>
            </a:pPr>
            <a:r>
              <a:rPr lang="en-US" altLang="ko-KR" dirty="0">
                <a:ea typeface="굴림" panose="020B0600000101010101" pitchFamily="34" charset="-127"/>
              </a:rPr>
              <a:t>Producer must wait for consumer to empty buffers, if no empty slots (</a:t>
            </a:r>
            <a:r>
              <a:rPr lang="en-US" altLang="ko-KR" dirty="0" err="1">
                <a:ea typeface="굴림" panose="020B0600000101010101" pitchFamily="34" charset="-127"/>
              </a:rPr>
              <a:t>emptySlots</a:t>
            </a:r>
            <a:r>
              <a:rPr lang="en-US" altLang="ko-KR" dirty="0">
                <a:ea typeface="굴림" panose="020B0600000101010101" pitchFamily="34" charset="-127"/>
              </a:rPr>
              <a:t> =</a:t>
            </a:r>
            <a:r>
              <a:rPr lang="en-GB" altLang="ko-KR" dirty="0">
                <a:ea typeface="굴림" panose="020B0600000101010101" pitchFamily="34" charset="-127"/>
              </a:rPr>
              <a:t>=</a:t>
            </a:r>
            <a:r>
              <a:rPr lang="en-US" altLang="ko-KR" dirty="0">
                <a:ea typeface="굴림" panose="020B0600000101010101" pitchFamily="34" charset="-127"/>
              </a:rPr>
              <a:t> 0)</a:t>
            </a:r>
          </a:p>
          <a:p>
            <a:endParaRPr lang="en-US" b="1" dirty="0">
              <a:solidFill>
                <a:srgbClr val="0070C0"/>
              </a:solidFill>
            </a:endParaRPr>
          </a:p>
          <a:p>
            <a:r>
              <a:rPr lang="en-US" altLang="zh-CN" b="1" dirty="0">
                <a:solidFill>
                  <a:srgbClr val="0070C0"/>
                </a:solidFill>
              </a:rPr>
              <a:t>Synchronization between producers </a:t>
            </a:r>
          </a:p>
          <a:p>
            <a:r>
              <a:rPr lang="en-US" altLang="zh-CN" b="1" dirty="0">
                <a:solidFill>
                  <a:srgbClr val="0070C0"/>
                </a:solidFill>
              </a:rPr>
              <a:t>Synchronization between producers and consumers</a:t>
            </a:r>
          </a:p>
          <a:p>
            <a:r>
              <a:rPr lang="en-US" altLang="zh-CN" dirty="0"/>
              <a:t>Producing/Consuming</a:t>
            </a:r>
            <a:r>
              <a:rPr lang="zh-CN" altLang="en-US" dirty="0"/>
              <a:t> </a:t>
            </a:r>
            <a:r>
              <a:rPr lang="en-US" altLang="zh-CN" dirty="0"/>
              <a:t>to/from</a:t>
            </a:r>
            <a:r>
              <a:rPr lang="zh-CN" altLang="en-US" dirty="0"/>
              <a:t> </a:t>
            </a:r>
            <a:r>
              <a:rPr lang="en-US" altLang="zh-CN" dirty="0"/>
              <a:t>buffer</a:t>
            </a:r>
            <a:r>
              <a:rPr lang="zh-CN" altLang="en-US" dirty="0"/>
              <a:t> </a:t>
            </a:r>
            <a:r>
              <a:rPr lang="en-US" altLang="zh-CN" dirty="0"/>
              <a:t>require</a:t>
            </a:r>
            <a:r>
              <a:rPr lang="zh-CN" altLang="en-US" dirty="0"/>
              <a:t> </a:t>
            </a:r>
            <a:r>
              <a:rPr lang="en-US" altLang="zh-CN" b="1" dirty="0">
                <a:solidFill>
                  <a:srgbClr val="0070C0"/>
                </a:solidFill>
              </a:rPr>
              <a:t>locking</a:t>
            </a:r>
          </a:p>
          <a:p>
            <a:endParaRPr lang="en-US" b="1" dirty="0">
              <a:solidFill>
                <a:srgbClr val="0070C0"/>
              </a:solidFill>
            </a:endParaRPr>
          </a:p>
          <a:p>
            <a:pPr>
              <a:lnSpc>
                <a:spcPct val="80000"/>
              </a:lnSpc>
            </a:pPr>
            <a:endParaRPr lang="en-US" altLang="ko-KR" dirty="0">
              <a:ea typeface="굴림" panose="020B0600000101010101" pitchFamily="34" charset="-127"/>
            </a:endParaRPr>
          </a:p>
          <a:p>
            <a:pPr>
              <a:lnSpc>
                <a:spcPct val="80000"/>
              </a:lnSpc>
            </a:pPr>
            <a:r>
              <a:rPr lang="en-US" altLang="ko-KR" dirty="0">
                <a:ea typeface="굴림" panose="020B0600000101010101" pitchFamily="34" charset="-127"/>
              </a:rPr>
              <a:t>Remember why we need mutual exclusion</a:t>
            </a:r>
          </a:p>
          <a:p>
            <a:pPr lvl="1">
              <a:lnSpc>
                <a:spcPct val="80000"/>
              </a:lnSpc>
            </a:pPr>
            <a:r>
              <a:rPr lang="en-US" altLang="ko-KR" dirty="0">
                <a:ea typeface="굴림" panose="020B0600000101010101" pitchFamily="34" charset="-127"/>
              </a:rPr>
              <a:t>Because computers are stupid</a:t>
            </a:r>
          </a:p>
          <a:p>
            <a:pPr lvl="1">
              <a:lnSpc>
                <a:spcPct val="80000"/>
              </a:lnSpc>
            </a:pPr>
            <a:r>
              <a:rPr lang="en-US" altLang="ko-KR" dirty="0">
                <a:ea typeface="굴림" panose="020B0600000101010101" pitchFamily="34" charset="-127"/>
              </a:rPr>
              <a:t>Imagine if in real life: the delivery person is filling the machine and somebody comes up and tries to stick their money into the machine</a:t>
            </a:r>
          </a:p>
          <a:p>
            <a:endParaRPr lang="en-US" altLang="en-US" dirty="0"/>
          </a:p>
        </p:txBody>
      </p:sp>
    </p:spTree>
    <p:extLst>
      <p:ext uri="{BB962C8B-B14F-4D97-AF65-F5344CB8AC3E}">
        <p14:creationId xmlns:p14="http://schemas.microsoft.com/office/powerpoint/2010/main" val="32018736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Rot="1" noChangeAspect="1" noChangeArrowheads="1" noTextEdit="1"/>
          </p:cNvSpPr>
          <p:nvPr>
            <p:ph type="sldImg"/>
          </p:nvPr>
        </p:nvSpPr>
        <p:spPr>
          <a:ln/>
        </p:spPr>
      </p:sp>
      <p:sp>
        <p:nvSpPr>
          <p:cNvPr id="35842"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0, 0); //Initially, no data item</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0,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);//Initially, all slots empty</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pt-BR" altLang="ko-KR" sz="1200" dirty="0">
                <a:latin typeface="Courier New" panose="02070309020205020404" pitchFamily="49" charset="0"/>
                <a:ea typeface="굴림" charset="0"/>
                <a:cs typeface="Courier New" panose="02070309020205020404" pitchFamily="49" charset="0"/>
              </a:rPr>
              <a:t>sem_init(&amp;mutex, 0, 1);</a:t>
            </a:r>
            <a:r>
              <a:rPr lang="en-US" altLang="ko-KR" sz="12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Semaphore </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 0; 	// Initially, no coke</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a:t>
            </a:r>
            <a:br>
              <a:rPr lang="en-US" altLang="ko-KR" sz="1200" dirty="0">
                <a:latin typeface="Courier New" panose="02070309020205020404" pitchFamily="49" charset="0"/>
                <a:ea typeface="굴림" charset="0"/>
                <a:cs typeface="Courier New" panose="02070309020205020404" pitchFamily="49" charset="0"/>
              </a:rPr>
            </a:br>
            <a:r>
              <a:rPr lang="en-US" altLang="ko-KR" sz="1200" dirty="0">
                <a:latin typeface="Courier New" panose="02070309020205020404" pitchFamily="49" charset="0"/>
                <a:ea typeface="굴림" charset="0"/>
                <a:cs typeface="Courier New" panose="02070309020205020404" pitchFamily="49" charset="0"/>
              </a:rPr>
              <a:t>				// Initially, num empty slots</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mutex = 1;	// No one using machine</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455576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r>
              <a:rPr lang="en-US" altLang="ko-KR" dirty="0">
                <a:ea typeface="굴림" panose="020B0600000101010101" pitchFamily="34" charset="-127"/>
              </a:rPr>
              <a:t>Is order of V’s important?</a:t>
            </a:r>
          </a:p>
          <a:p>
            <a:r>
              <a:rPr lang="en-US" altLang="ko-KR" dirty="0">
                <a:ea typeface="굴림" panose="020B0600000101010101" pitchFamily="34" charset="-127"/>
              </a:rPr>
              <a:t>No, except that it might </a:t>
            </a:r>
            <a:br>
              <a:rPr lang="en-US" altLang="ko-KR" dirty="0">
                <a:ea typeface="굴림" panose="020B0600000101010101" pitchFamily="34" charset="-127"/>
              </a:rPr>
            </a:br>
            <a:r>
              <a:rPr lang="en-US" altLang="ko-KR" dirty="0">
                <a:ea typeface="굴림" panose="020B0600000101010101" pitchFamily="34" charset="-127"/>
              </a:rPr>
              <a:t>affect scheduling efficiency What if we have 2 producers </a:t>
            </a:r>
            <a:br>
              <a:rPr lang="en-US" altLang="ko-KR" dirty="0">
                <a:ea typeface="굴림" panose="020B0600000101010101" pitchFamily="34" charset="-127"/>
              </a:rPr>
            </a:br>
            <a:r>
              <a:rPr lang="en-US" altLang="ko-KR" dirty="0">
                <a:ea typeface="굴림" panose="020B0600000101010101" pitchFamily="34" charset="-127"/>
              </a:rPr>
              <a:t>or 2 consumers?</a:t>
            </a:r>
          </a:p>
          <a:p>
            <a:pPr lvl="1"/>
            <a:r>
              <a:rPr lang="en-US" altLang="ko-KR" dirty="0">
                <a:ea typeface="굴림" panose="020B0600000101010101" pitchFamily="34" charset="-127"/>
              </a:rPr>
              <a:t>Do we need to change anything?</a:t>
            </a:r>
          </a:p>
          <a:p>
            <a:pPr lvl="1"/>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23211379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lvl="1">
              <a:lnSpc>
                <a:spcPct val="80000"/>
              </a:lnSpc>
              <a:spcBef>
                <a:spcPct val="20000"/>
              </a:spcBef>
            </a:pPr>
            <a:r>
              <a:rPr lang="en-US" dirty="0">
                <a:solidFill>
                  <a:schemeClr val="hlink"/>
                </a:solidFill>
              </a:rPr>
              <a:t>Mutual exclusion</a:t>
            </a:r>
          </a:p>
          <a:p>
            <a:pPr lvl="2">
              <a:lnSpc>
                <a:spcPct val="80000"/>
              </a:lnSpc>
              <a:spcBef>
                <a:spcPct val="20000"/>
              </a:spcBef>
            </a:pPr>
            <a:r>
              <a:rPr lang="en-US" dirty="0"/>
              <a:t>Only one process at a time can use a resource</a:t>
            </a:r>
          </a:p>
          <a:p>
            <a:pPr lvl="1">
              <a:lnSpc>
                <a:spcPct val="80000"/>
              </a:lnSpc>
              <a:spcBef>
                <a:spcPct val="20000"/>
              </a:spcBef>
            </a:pPr>
            <a:r>
              <a:rPr lang="en-US" dirty="0">
                <a:solidFill>
                  <a:schemeClr val="hlink"/>
                </a:solidFill>
              </a:rPr>
              <a:t>Hold and wait</a:t>
            </a:r>
          </a:p>
          <a:p>
            <a:pPr lvl="2">
              <a:lnSpc>
                <a:spcPct val="80000"/>
              </a:lnSpc>
              <a:spcBef>
                <a:spcPct val="20000"/>
              </a:spcBef>
            </a:pPr>
            <a:r>
              <a:rPr lang="en-US" dirty="0"/>
              <a:t>Process holding at least one resource is waiting to acquire additional resources held by other processes</a:t>
            </a:r>
          </a:p>
          <a:p>
            <a:pPr lvl="1">
              <a:lnSpc>
                <a:spcPct val="80000"/>
              </a:lnSpc>
              <a:spcBef>
                <a:spcPct val="20000"/>
              </a:spcBef>
            </a:pPr>
            <a:r>
              <a:rPr lang="en-US" dirty="0">
                <a:solidFill>
                  <a:schemeClr val="hlink"/>
                </a:solidFill>
              </a:rPr>
              <a:t>No preemption</a:t>
            </a:r>
          </a:p>
          <a:p>
            <a:pPr lvl="2">
              <a:lnSpc>
                <a:spcPct val="80000"/>
              </a:lnSpc>
              <a:spcBef>
                <a:spcPct val="20000"/>
              </a:spcBef>
            </a:pPr>
            <a:r>
              <a:rPr lang="en-US" dirty="0"/>
              <a:t>Resources are released only voluntarily by the processes</a:t>
            </a:r>
          </a:p>
          <a:p>
            <a:pPr lvl="1">
              <a:lnSpc>
                <a:spcPct val="80000"/>
              </a:lnSpc>
              <a:spcBef>
                <a:spcPct val="20000"/>
              </a:spcBef>
            </a:pPr>
            <a:r>
              <a:rPr lang="en-US" dirty="0">
                <a:solidFill>
                  <a:schemeClr val="hlink"/>
                </a:solidFill>
              </a:rPr>
              <a:t>Circular wait</a:t>
            </a:r>
          </a:p>
          <a:p>
            <a:pPr lvl="2">
              <a:lnSpc>
                <a:spcPct val="80000"/>
              </a:lnSpc>
              <a:spcBef>
                <a:spcPct val="20000"/>
              </a:spcBef>
            </a:pPr>
            <a:r>
              <a:rPr lang="en-US" dirty="0"/>
              <a:t>Cyclic waiting pattern</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Example: the fact that flipping of P’s in bounded buffer gives deadlock is not immediately obvious.  How do you prove correctness to someone?</a:t>
            </a:r>
          </a:p>
          <a:p>
            <a:pPr lvl="1"/>
            <a:r>
              <a:rPr lang="en-US" altLang="ko-KR" dirty="0">
                <a:ea typeface="굴림" panose="020B0600000101010101" pitchFamily="34" charset="-127"/>
              </a:rPr>
              <a:t>Some languages like Java provide this natively</a:t>
            </a:r>
          </a:p>
          <a:p>
            <a:pPr lvl="1"/>
            <a:r>
              <a:rPr lang="en-US" altLang="ko-KR" dirty="0">
                <a:ea typeface="굴림" panose="020B0600000101010101" pitchFamily="34" charset="-127"/>
              </a:rPr>
              <a:t>Most others use actual locks and condition variables</a:t>
            </a:r>
          </a:p>
          <a:p>
            <a:r>
              <a:rPr lang="en-US" b="1" dirty="0"/>
              <a:t>Mutual exclusion</a:t>
            </a:r>
          </a:p>
          <a:p>
            <a:pPr lvl="1"/>
            <a:r>
              <a:rPr lang="en-US" dirty="0"/>
              <a:t>No two threads access a critical section at the same time</a:t>
            </a:r>
          </a:p>
          <a:p>
            <a:pPr lvl="1"/>
            <a:r>
              <a:rPr lang="en-US" dirty="0"/>
              <a:t>Thread A and B don’t run at the same time</a:t>
            </a:r>
          </a:p>
          <a:p>
            <a:pPr lvl="1"/>
            <a:r>
              <a:rPr lang="en-US" altLang="zh-CN" b="1" dirty="0">
                <a:solidFill>
                  <a:srgbClr val="0070C0"/>
                </a:solidFill>
              </a:rPr>
              <a:t>Locks</a:t>
            </a:r>
            <a:r>
              <a:rPr lang="en-US" altLang="zh-CN" dirty="0"/>
              <a:t> </a:t>
            </a:r>
          </a:p>
          <a:p>
            <a:endParaRPr lang="en-US" altLang="zh-CN" dirty="0"/>
          </a:p>
          <a:p>
            <a:r>
              <a:rPr lang="en-US" altLang="zh-CN" b="1" dirty="0"/>
              <a:t>Condition</a:t>
            </a:r>
            <a:r>
              <a:rPr lang="zh-CN" altLang="en-US" b="1" dirty="0"/>
              <a:t> </a:t>
            </a:r>
            <a:endParaRPr lang="en-US" altLang="zh-CN" b="1" dirty="0"/>
          </a:p>
          <a:p>
            <a:pPr lvl="1"/>
            <a:r>
              <a:rPr lang="en-US" altLang="zh-CN" dirty="0"/>
              <a:t>A</a:t>
            </a:r>
            <a:r>
              <a:rPr lang="zh-CN" altLang="en-US" dirty="0"/>
              <a:t> </a:t>
            </a:r>
            <a:r>
              <a:rPr lang="en-US" altLang="zh-CN" dirty="0"/>
              <a:t>thread</a:t>
            </a:r>
            <a:r>
              <a:rPr lang="zh-CN" altLang="en-US" dirty="0"/>
              <a:t> </a:t>
            </a:r>
            <a:r>
              <a:rPr lang="en-US" altLang="zh-CN" dirty="0"/>
              <a:t>wishes</a:t>
            </a:r>
            <a:r>
              <a:rPr lang="zh-CN" altLang="en-US" dirty="0"/>
              <a:t> </a:t>
            </a:r>
            <a:r>
              <a:rPr lang="en-US" altLang="zh-CN" dirty="0"/>
              <a:t>to</a:t>
            </a:r>
            <a:r>
              <a:rPr lang="zh-CN" altLang="en-US" dirty="0"/>
              <a:t> </a:t>
            </a:r>
            <a:r>
              <a:rPr lang="en-US" altLang="zh-CN" dirty="0"/>
              <a:t>check</a:t>
            </a:r>
            <a:r>
              <a:rPr lang="zh-CN" altLang="en-US" dirty="0"/>
              <a:t> </a:t>
            </a:r>
            <a:r>
              <a:rPr lang="en-US" altLang="zh-CN" dirty="0"/>
              <a:t>whether</a:t>
            </a:r>
            <a:r>
              <a:rPr lang="zh-CN" altLang="en-US" dirty="0"/>
              <a:t> </a:t>
            </a:r>
            <a:r>
              <a:rPr lang="en-US" altLang="zh-CN" dirty="0"/>
              <a:t>a</a:t>
            </a:r>
            <a:r>
              <a:rPr lang="zh-CN" altLang="en-US" dirty="0"/>
              <a:t> </a:t>
            </a:r>
            <a:r>
              <a:rPr lang="en-US" altLang="zh-CN" dirty="0"/>
              <a:t>condition</a:t>
            </a:r>
            <a:r>
              <a:rPr lang="zh-CN" altLang="en-US" dirty="0"/>
              <a:t> </a:t>
            </a:r>
            <a:r>
              <a:rPr lang="en-US" altLang="zh-CN" dirty="0"/>
              <a:t>is</a:t>
            </a:r>
            <a:r>
              <a:rPr lang="zh-CN" altLang="en-US" dirty="0"/>
              <a:t> </a:t>
            </a:r>
            <a:r>
              <a:rPr lang="en-US" altLang="zh-CN" dirty="0"/>
              <a:t>true</a:t>
            </a:r>
            <a:r>
              <a:rPr lang="zh-CN" altLang="en-US" dirty="0"/>
              <a:t> </a:t>
            </a:r>
            <a:r>
              <a:rPr lang="en-US" altLang="zh-CN" dirty="0"/>
              <a:t>before</a:t>
            </a:r>
            <a:r>
              <a:rPr lang="zh-CN" altLang="en-US" dirty="0"/>
              <a:t> </a:t>
            </a:r>
            <a:r>
              <a:rPr lang="en-US" altLang="zh-CN" dirty="0"/>
              <a:t>execution</a:t>
            </a:r>
          </a:p>
          <a:p>
            <a:pPr lvl="1"/>
            <a:r>
              <a:rPr lang="en-US" altLang="zh-CN" dirty="0"/>
              <a:t>Thread</a:t>
            </a:r>
            <a:r>
              <a:rPr lang="zh-CN" altLang="en-US" dirty="0"/>
              <a:t> </a:t>
            </a:r>
            <a:r>
              <a:rPr lang="en-US" altLang="zh-CN" dirty="0"/>
              <a:t>B</a:t>
            </a:r>
            <a:r>
              <a:rPr lang="zh-CN" altLang="en-US" dirty="0"/>
              <a:t> </a:t>
            </a:r>
            <a:r>
              <a:rPr lang="en-US" altLang="zh-CN" dirty="0"/>
              <a:t>runs</a:t>
            </a:r>
            <a:r>
              <a:rPr lang="zh-CN" altLang="en-US" dirty="0"/>
              <a:t> </a:t>
            </a:r>
            <a:r>
              <a:rPr lang="en-US" altLang="zh-CN" dirty="0"/>
              <a:t>after</a:t>
            </a:r>
            <a:r>
              <a:rPr lang="zh-CN" altLang="en-US" dirty="0"/>
              <a:t> </a:t>
            </a:r>
            <a:r>
              <a:rPr lang="en-US" altLang="zh-CN" dirty="0"/>
              <a:t>thread</a:t>
            </a:r>
            <a:r>
              <a:rPr lang="zh-CN" altLang="en-US" dirty="0"/>
              <a:t> </a:t>
            </a:r>
            <a:r>
              <a:rPr lang="en-US" altLang="zh-CN" dirty="0"/>
              <a:t>A</a:t>
            </a:r>
            <a:r>
              <a:rPr lang="zh-CN" altLang="en-US" dirty="0"/>
              <a:t> </a:t>
            </a:r>
            <a:r>
              <a:rPr lang="en-US" altLang="zh-CN" dirty="0"/>
              <a:t>completes</a:t>
            </a:r>
          </a:p>
          <a:p>
            <a:pPr lvl="1"/>
            <a:r>
              <a:rPr lang="en-US" altLang="zh-CN" b="1" dirty="0">
                <a:solidFill>
                  <a:srgbClr val="0070C0"/>
                </a:solidFill>
              </a:rPr>
              <a:t>Condition</a:t>
            </a:r>
            <a:r>
              <a:rPr lang="zh-CN" altLang="en-US" b="1" dirty="0">
                <a:solidFill>
                  <a:srgbClr val="0070C0"/>
                </a:solidFill>
              </a:rPr>
              <a:t> </a:t>
            </a:r>
            <a:r>
              <a:rPr lang="en-US" altLang="zh-CN" b="1" dirty="0">
                <a:solidFill>
                  <a:srgbClr val="0070C0"/>
                </a:solidFill>
              </a:rPr>
              <a:t>variables</a:t>
            </a:r>
            <a:r>
              <a:rPr lang="zh-CN" altLang="en-US" b="1" dirty="0">
                <a:solidFill>
                  <a:srgbClr val="0070C0"/>
                </a:solidFill>
              </a:rPr>
              <a:t> </a:t>
            </a:r>
            <a:r>
              <a:rPr lang="en-US" altLang="zh-CN" b="1" dirty="0"/>
              <a:t>and</a:t>
            </a:r>
            <a:r>
              <a:rPr lang="zh-CN" altLang="en-US" b="1" dirty="0">
                <a:solidFill>
                  <a:srgbClr val="0070C0"/>
                </a:solidFill>
              </a:rPr>
              <a:t> </a:t>
            </a:r>
            <a:r>
              <a:rPr lang="en-US" altLang="zh-CN" b="1" dirty="0">
                <a:solidFill>
                  <a:srgbClr val="0070C0"/>
                </a:solidFill>
              </a:rPr>
              <a:t>semaphores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1789540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solidFill>
                  <a:srgbClr val="0070C0"/>
                </a:solidFill>
              </a:rPr>
              <a:t>pthread_cond_wait</a:t>
            </a:r>
            <a:r>
              <a:rPr lang="en-GB" dirty="0">
                <a:solidFill>
                  <a:srgbClr val="0070C0"/>
                </a:solidFill>
              </a:rPr>
              <a:t>(</a:t>
            </a:r>
            <a:r>
              <a:rPr lang="en-GB" dirty="0" err="1">
                <a:solidFill>
                  <a:srgbClr val="0070C0"/>
                </a:solidFill>
              </a:rPr>
              <a:t>pthread_cond_t</a:t>
            </a:r>
            <a:r>
              <a:rPr lang="en-GB" dirty="0">
                <a:solidFill>
                  <a:srgbClr val="0070C0"/>
                </a:solidFill>
              </a:rPr>
              <a:t> *cond, </a:t>
            </a:r>
            <a:r>
              <a:rPr lang="en-GB" dirty="0" err="1">
                <a:solidFill>
                  <a:srgbClr val="0070C0"/>
                </a:solidFill>
              </a:rPr>
              <a:t>pthread_mutex_t</a:t>
            </a:r>
            <a:r>
              <a:rPr lang="en-GB" dirty="0">
                <a:solidFill>
                  <a:srgbClr val="0070C0"/>
                </a:solidFill>
              </a:rPr>
              <a:t> *mutex); </a:t>
            </a:r>
            <a:r>
              <a:rPr lang="en-US" altLang="ko-KR" dirty="0">
                <a:ea typeface="굴림" panose="020B0600000101010101" pitchFamily="34" charset="-127"/>
              </a:rPr>
              <a:t>Atomically release lock and go to sleep.  Re-acquire lock later, before returning. </a:t>
            </a:r>
          </a:p>
          <a:p>
            <a:endParaRPr lang="en-US" dirty="0">
              <a:solidFill>
                <a:srgbClr val="0070C0"/>
              </a:solidFill>
            </a:endParaRPr>
          </a:p>
          <a:p>
            <a:r>
              <a:rPr lang="en-GB" dirty="0" err="1"/>
              <a:t>pthread_cond_signal</a:t>
            </a:r>
            <a:r>
              <a:rPr lang="en-GB" dirty="0"/>
              <a:t>(</a:t>
            </a:r>
            <a:r>
              <a:rPr lang="en-GB" dirty="0" err="1"/>
              <a:t>pthread_cond_t</a:t>
            </a:r>
            <a:r>
              <a:rPr lang="en-GB" dirty="0"/>
              <a:t> *cond);</a:t>
            </a:r>
            <a:endParaRPr lang="en-US" dirty="0"/>
          </a:p>
          <a:p>
            <a:pPr marL="914400" lvl="2" indent="0">
              <a:buNone/>
            </a:pPr>
            <a:endParaRPr lang="en-US" dirty="0"/>
          </a:p>
          <a:p>
            <a:pPr>
              <a:lnSpc>
                <a:spcPct val="85000"/>
              </a:lnSpc>
              <a:spcBef>
                <a:spcPct val="20000"/>
              </a:spcBef>
            </a:pPr>
            <a:endParaRPr lang="en-US" altLang="ko-KR" dirty="0">
              <a:solidFill>
                <a:schemeClr val="hlink"/>
              </a:solidFill>
              <a:ea typeface="굴림" panose="020B0600000101010101" pitchFamily="34" charset="-127"/>
            </a:endParaRPr>
          </a:p>
          <a:p>
            <a:r>
              <a:rPr lang="en-GB" altLang="zh-CN" dirty="0"/>
              <a:t>Semaphores are dual purpose: They are used for both mutex and scheduling constraints</a:t>
            </a:r>
            <a:endParaRPr lang="en-US" altLang="zh-CN" dirty="0"/>
          </a:p>
          <a:p>
            <a:endParaRPr lang="en-US" altLang="zh-CN" dirty="0"/>
          </a:p>
          <a:p>
            <a:r>
              <a:rPr lang="en-US" altLang="zh-CN" dirty="0"/>
              <a:t>Condition</a:t>
            </a:r>
            <a:r>
              <a:rPr lang="zh-CN" altLang="en-US" dirty="0"/>
              <a:t> </a:t>
            </a:r>
            <a:r>
              <a:rPr lang="en-US" altLang="zh-CN" dirty="0"/>
              <a:t>variables</a:t>
            </a:r>
            <a:r>
              <a:rPr lang="zh-CN" altLang="en-US" dirty="0"/>
              <a:t> </a:t>
            </a:r>
            <a:r>
              <a:rPr lang="en-US" altLang="zh-CN" dirty="0"/>
              <a:t>are</a:t>
            </a:r>
            <a:r>
              <a:rPr lang="zh-CN" altLang="en-US" dirty="0"/>
              <a:t> </a:t>
            </a:r>
            <a:r>
              <a:rPr lang="en-US" altLang="zh-CN" b="1" dirty="0">
                <a:solidFill>
                  <a:srgbClr val="0070C0"/>
                </a:solidFill>
              </a:rPr>
              <a:t>synchronization</a:t>
            </a:r>
            <a:r>
              <a:rPr lang="zh-CN" altLang="en-US" b="1" dirty="0">
                <a:solidFill>
                  <a:srgbClr val="0070C0"/>
                </a:solidFill>
              </a:rPr>
              <a:t> </a:t>
            </a:r>
            <a:r>
              <a:rPr lang="en-US" altLang="zh-CN" b="1" dirty="0">
                <a:solidFill>
                  <a:srgbClr val="0070C0"/>
                </a:solidFill>
              </a:rPr>
              <a:t>primitives</a:t>
            </a:r>
            <a:r>
              <a:rPr lang="en-US" altLang="zh-CN" dirty="0"/>
              <a:t>:</a:t>
            </a:r>
          </a:p>
          <a:p>
            <a:pPr lvl="1"/>
            <a:r>
              <a:rPr lang="en-US" altLang="zh-CN" b="1" dirty="0">
                <a:solidFill>
                  <a:srgbClr val="0070C0"/>
                </a:solidFill>
              </a:rPr>
              <a:t>A</a:t>
            </a:r>
            <a:r>
              <a:rPr lang="zh-CN" altLang="en-US" b="1" dirty="0">
                <a:solidFill>
                  <a:srgbClr val="0070C0"/>
                </a:solidFill>
              </a:rPr>
              <a:t> </a:t>
            </a:r>
            <a:r>
              <a:rPr lang="en-US" altLang="zh-CN" b="1" dirty="0">
                <a:solidFill>
                  <a:srgbClr val="0070C0"/>
                </a:solidFill>
              </a:rPr>
              <a:t>queue</a:t>
            </a:r>
            <a:r>
              <a:rPr lang="zh-CN" altLang="en-US" b="1" dirty="0">
                <a:solidFill>
                  <a:srgbClr val="0070C0"/>
                </a:solidFill>
              </a:rPr>
              <a:t> </a:t>
            </a:r>
            <a:r>
              <a:rPr lang="en-US" altLang="zh-CN" b="1" dirty="0">
                <a:solidFill>
                  <a:srgbClr val="0070C0"/>
                </a:solidFill>
              </a:rPr>
              <a:t>of</a:t>
            </a:r>
            <a:r>
              <a:rPr lang="zh-CN" altLang="en-US" b="1" dirty="0">
                <a:solidFill>
                  <a:srgbClr val="0070C0"/>
                </a:solidFill>
              </a:rPr>
              <a:t> </a:t>
            </a:r>
            <a:r>
              <a:rPr lang="en-US" altLang="zh-CN" b="1" dirty="0">
                <a:solidFill>
                  <a:srgbClr val="0070C0"/>
                </a:solidFill>
              </a:rPr>
              <a:t>waiting</a:t>
            </a:r>
            <a:r>
              <a:rPr lang="zh-CN" altLang="en-US" b="1" dirty="0">
                <a:solidFill>
                  <a:srgbClr val="0070C0"/>
                </a:solidFill>
              </a:rPr>
              <a:t> </a:t>
            </a:r>
            <a:r>
              <a:rPr lang="en-US" altLang="zh-CN" b="1" dirty="0">
                <a:solidFill>
                  <a:srgbClr val="0070C0"/>
                </a:solidFill>
              </a:rPr>
              <a:t>threads</a:t>
            </a:r>
          </a:p>
          <a:p>
            <a:pPr lvl="1"/>
            <a:r>
              <a:rPr lang="en-US" altLang="zh-CN" dirty="0"/>
              <a:t>A</a:t>
            </a:r>
            <a:r>
              <a:rPr lang="zh-CN" altLang="en-US" dirty="0"/>
              <a:t> </a:t>
            </a:r>
            <a:r>
              <a:rPr lang="en-US" altLang="zh-CN" dirty="0"/>
              <a:t>thread</a:t>
            </a:r>
            <a:r>
              <a:rPr lang="zh-CN" altLang="en-US" dirty="0"/>
              <a:t> </a:t>
            </a:r>
            <a:r>
              <a:rPr lang="en-US" altLang="zh-CN" dirty="0"/>
              <a:t>waits</a:t>
            </a:r>
            <a:r>
              <a:rPr lang="zh-CN" altLang="en-US" dirty="0"/>
              <a:t> </a:t>
            </a:r>
            <a:r>
              <a:rPr lang="en-US" altLang="zh-CN" dirty="0"/>
              <a:t>for</a:t>
            </a:r>
            <a:r>
              <a:rPr lang="zh-CN" altLang="en-US" dirty="0"/>
              <a:t> </a:t>
            </a:r>
            <a:r>
              <a:rPr lang="en-US" altLang="zh-CN" dirty="0"/>
              <a:t>a</a:t>
            </a:r>
            <a:r>
              <a:rPr lang="zh-CN" altLang="en-US" dirty="0"/>
              <a:t> </a:t>
            </a:r>
            <a:r>
              <a:rPr lang="en-US" altLang="zh-CN" dirty="0"/>
              <a:t>condition</a:t>
            </a:r>
            <a:r>
              <a:rPr lang="zh-CN" altLang="en-US" dirty="0"/>
              <a:t> </a:t>
            </a:r>
            <a:r>
              <a:rPr lang="en-US" altLang="zh-CN" dirty="0"/>
              <a:t>to</a:t>
            </a:r>
            <a:r>
              <a:rPr lang="zh-CN" altLang="en-US" dirty="0"/>
              <a:t> </a:t>
            </a:r>
            <a:r>
              <a:rPr lang="en-US" altLang="zh-CN" dirty="0"/>
              <a:t>be</a:t>
            </a:r>
            <a:r>
              <a:rPr lang="zh-CN" altLang="en-US" dirty="0"/>
              <a:t> </a:t>
            </a:r>
            <a:r>
              <a:rPr lang="en-US" altLang="zh-CN" dirty="0"/>
              <a:t>true</a:t>
            </a:r>
            <a:r>
              <a:rPr lang="zh-CN" altLang="en-US" dirty="0"/>
              <a:t> </a:t>
            </a:r>
            <a:r>
              <a:rPr lang="en-US" altLang="zh-CN" dirty="0"/>
              <a:t>and</a:t>
            </a:r>
            <a:r>
              <a:rPr lang="zh-CN" altLang="en-US" dirty="0"/>
              <a:t> </a:t>
            </a:r>
            <a:r>
              <a:rPr lang="en-US" altLang="zh-CN" dirty="0"/>
              <a:t>can</a:t>
            </a:r>
            <a:r>
              <a:rPr lang="zh-CN" altLang="en-US" dirty="0"/>
              <a:t> </a:t>
            </a:r>
            <a:r>
              <a:rPr lang="en-US" altLang="zh-CN" dirty="0"/>
              <a:t>put</a:t>
            </a:r>
            <a:r>
              <a:rPr lang="zh-CN" altLang="en-US" dirty="0"/>
              <a:t> </a:t>
            </a:r>
            <a:r>
              <a:rPr lang="en-US" altLang="zh-CN" dirty="0"/>
              <a:t>itself</a:t>
            </a:r>
            <a:r>
              <a:rPr lang="zh-CN" altLang="en-US" dirty="0"/>
              <a:t> </a:t>
            </a:r>
            <a:r>
              <a:rPr lang="en-US" altLang="zh-CN" dirty="0"/>
              <a:t>into</a:t>
            </a:r>
            <a:r>
              <a:rPr lang="zh-CN" altLang="en-US" dirty="0"/>
              <a:t> </a:t>
            </a:r>
            <a:r>
              <a:rPr lang="en-US" altLang="zh-CN" dirty="0"/>
              <a:t>the</a:t>
            </a:r>
            <a:r>
              <a:rPr lang="zh-CN" altLang="en-US" dirty="0"/>
              <a:t> </a:t>
            </a:r>
            <a:r>
              <a:rPr lang="en-US" altLang="zh-CN" dirty="0"/>
              <a:t>queue</a:t>
            </a:r>
          </a:p>
          <a:p>
            <a:pPr lvl="1"/>
            <a:r>
              <a:rPr lang="en-US" altLang="zh-CN" dirty="0"/>
              <a:t>Other</a:t>
            </a:r>
            <a:r>
              <a:rPr lang="zh-CN" altLang="en-US" dirty="0"/>
              <a:t> </a:t>
            </a:r>
            <a:r>
              <a:rPr lang="en-US" altLang="zh-CN" dirty="0"/>
              <a:t>thread</a:t>
            </a:r>
            <a:r>
              <a:rPr lang="zh-CN" altLang="en-US" dirty="0"/>
              <a:t> </a:t>
            </a:r>
            <a:r>
              <a:rPr lang="en-US" altLang="zh-CN" dirty="0"/>
              <a:t>can</a:t>
            </a:r>
            <a:r>
              <a:rPr lang="zh-CN" altLang="en-US" dirty="0"/>
              <a:t> </a:t>
            </a:r>
            <a:r>
              <a:rPr lang="en-US" altLang="zh-CN" dirty="0"/>
              <a:t>wake</a:t>
            </a:r>
            <a:r>
              <a:rPr lang="zh-CN" altLang="en-US" dirty="0"/>
              <a:t> </a:t>
            </a:r>
            <a:r>
              <a:rPr lang="en-US" altLang="zh-CN" dirty="0"/>
              <a:t>up</a:t>
            </a:r>
            <a:r>
              <a:rPr lang="zh-CN" altLang="en-US" dirty="0"/>
              <a:t> </a:t>
            </a:r>
            <a:r>
              <a:rPr lang="en-US" altLang="zh-CN" dirty="0">
                <a:solidFill>
                  <a:srgbClr val="0070C0"/>
                </a:solidFill>
              </a:rPr>
              <a:t>one</a:t>
            </a:r>
            <a:r>
              <a:rPr lang="zh-CN" altLang="en-US" dirty="0">
                <a:solidFill>
                  <a:srgbClr val="0070C0"/>
                </a:solidFill>
              </a:rPr>
              <a:t> </a:t>
            </a:r>
            <a:r>
              <a:rPr lang="en-US" altLang="zh-CN" dirty="0">
                <a:solidFill>
                  <a:srgbClr val="0070C0"/>
                </a:solidFill>
              </a:rPr>
              <a:t>or</a:t>
            </a:r>
            <a:r>
              <a:rPr lang="zh-CN" altLang="en-US" dirty="0">
                <a:solidFill>
                  <a:srgbClr val="0070C0"/>
                </a:solidFill>
              </a:rPr>
              <a:t> </a:t>
            </a:r>
            <a:r>
              <a:rPr lang="en-US" altLang="zh-CN" dirty="0">
                <a:solidFill>
                  <a:srgbClr val="0070C0"/>
                </a:solidFill>
              </a:rPr>
              <a:t>more</a:t>
            </a:r>
            <a:r>
              <a:rPr lang="zh-CN" altLang="en-US" dirty="0">
                <a:solidFill>
                  <a:srgbClr val="0070C0"/>
                </a:solidFill>
              </a:rPr>
              <a:t> </a:t>
            </a:r>
            <a:r>
              <a:rPr lang="en-US" altLang="zh-CN" dirty="0">
                <a:solidFill>
                  <a:srgbClr val="0070C0"/>
                </a:solidFill>
              </a:rPr>
              <a:t>waiting</a:t>
            </a:r>
            <a:r>
              <a:rPr lang="zh-CN" altLang="en-US" dirty="0">
                <a:solidFill>
                  <a:srgbClr val="0070C0"/>
                </a:solidFill>
              </a:rPr>
              <a:t> </a:t>
            </a:r>
            <a:r>
              <a:rPr lang="en-US" altLang="zh-CN" dirty="0">
                <a:solidFill>
                  <a:srgbClr val="0070C0"/>
                </a:solidFill>
              </a:rPr>
              <a:t>threads</a:t>
            </a:r>
          </a:p>
          <a:p>
            <a:pPr lvl="1"/>
            <a:r>
              <a:rPr lang="en-US" altLang="zh-CN" dirty="0"/>
              <a:t>Used</a:t>
            </a:r>
            <a:r>
              <a:rPr lang="zh-CN" altLang="en-US" dirty="0"/>
              <a:t> </a:t>
            </a:r>
            <a:r>
              <a:rPr lang="en-US" altLang="zh-CN" dirty="0"/>
              <a:t>with</a:t>
            </a:r>
            <a:r>
              <a:rPr lang="zh-CN" altLang="en-US" dirty="0"/>
              <a:t> </a:t>
            </a:r>
            <a:r>
              <a:rPr lang="en-US" altLang="zh-CN" dirty="0"/>
              <a:t>mutex</a:t>
            </a:r>
            <a:r>
              <a:rPr lang="zh-CN" altLang="en-US" dirty="0"/>
              <a:t> </a:t>
            </a:r>
            <a:r>
              <a:rPr lang="en-US" altLang="zh-CN" dirty="0"/>
              <a:t>to</a:t>
            </a:r>
            <a:r>
              <a:rPr lang="zh-CN" altLang="en-US" dirty="0"/>
              <a:t> </a:t>
            </a:r>
            <a:r>
              <a:rPr lang="en-US" altLang="zh-CN" dirty="0"/>
              <a:t>prevent</a:t>
            </a:r>
            <a:r>
              <a:rPr lang="zh-CN" altLang="en-US" dirty="0"/>
              <a:t> </a:t>
            </a:r>
            <a:r>
              <a:rPr lang="en-US" altLang="zh-CN" dirty="0">
                <a:solidFill>
                  <a:srgbClr val="FF0000"/>
                </a:solidFill>
              </a:rPr>
              <a:t>race</a:t>
            </a:r>
            <a:r>
              <a:rPr lang="zh-CN" altLang="en-US" dirty="0">
                <a:solidFill>
                  <a:srgbClr val="FF0000"/>
                </a:solidFill>
              </a:rPr>
              <a:t> </a:t>
            </a:r>
            <a:r>
              <a:rPr lang="en-US" altLang="zh-CN" dirty="0">
                <a:solidFill>
                  <a:srgbClr val="FF0000"/>
                </a:solidFill>
              </a:rPr>
              <a:t>conditions</a:t>
            </a:r>
          </a:p>
          <a:p>
            <a:pPr marL="0" marR="0" lvl="0" indent="0" algn="l" defTabSz="914400" rtl="0" eaLnBrk="0" fontAlgn="base" latinLnBrk="0" hangingPunct="0">
              <a:lnSpc>
                <a:spcPct val="85000"/>
              </a:lnSpc>
              <a:spcBef>
                <a:spcPct val="20000"/>
              </a:spcBef>
              <a:spcAft>
                <a:spcPct val="0"/>
              </a:spcAft>
              <a:buClrTx/>
              <a:buSzTx/>
              <a:buFontTx/>
              <a:buNone/>
              <a:tabLst/>
              <a:defRPr/>
            </a:pPr>
            <a:r>
              <a:rPr lang="en-US" altLang="ko-KR" dirty="0">
                <a:ea typeface="굴림" panose="020B0600000101010101" pitchFamily="34" charset="-127"/>
              </a:rPr>
              <a:t>(If a condition is false, the thread releases the lock and goes to sleep waiting to become true signaled)</a:t>
            </a:r>
          </a:p>
          <a:p>
            <a:pPr>
              <a:lnSpc>
                <a:spcPct val="85000"/>
              </a:lnSpc>
              <a:spcBef>
                <a:spcPct val="20000"/>
              </a:spcBef>
            </a:pPr>
            <a:endParaRPr lang="en-US" altLang="ko-KR" dirty="0">
              <a:solidFill>
                <a:schemeClr val="hlink"/>
              </a:solidFill>
              <a:ea typeface="굴림" panose="020B0600000101010101" pitchFamily="34" charset="-127"/>
            </a:endParaRPr>
          </a:p>
          <a:p>
            <a:pPr>
              <a:lnSpc>
                <a:spcPct val="85000"/>
              </a:lnSpc>
              <a:spcBef>
                <a:spcPct val="20000"/>
              </a:spcBef>
            </a:pPr>
            <a:r>
              <a:rPr lang="en-US" altLang="ko-KR" dirty="0">
                <a:solidFill>
                  <a:schemeClr val="hlink"/>
                </a:solidFill>
                <a:ea typeface="굴림" panose="020B0600000101010101" pitchFamily="34" charset="-127"/>
              </a:rPr>
              <a:t>Condition Variable</a:t>
            </a:r>
            <a:r>
              <a:rPr lang="en-US" altLang="ko-KR" dirty="0">
                <a:ea typeface="굴림" panose="020B0600000101010101" pitchFamily="34" charset="-127"/>
              </a:rPr>
              <a:t>: a queue of threads waiting for something </a:t>
            </a:r>
            <a:r>
              <a:rPr lang="en-US" altLang="ko-KR" i="1" dirty="0">
                <a:ea typeface="굴림" panose="020B0600000101010101" pitchFamily="34" charset="-127"/>
              </a:rPr>
              <a:t>inside</a:t>
            </a:r>
            <a:r>
              <a:rPr lang="en-US" altLang="ko-KR" dirty="0">
                <a:ea typeface="굴림" panose="020B0600000101010101" pitchFamily="34" charset="-127"/>
              </a:rPr>
              <a:t> a critical section</a:t>
            </a:r>
          </a:p>
          <a:p>
            <a:pPr lvl="1">
              <a:lnSpc>
                <a:spcPct val="85000"/>
              </a:lnSpc>
              <a:spcBef>
                <a:spcPct val="20000"/>
              </a:spcBef>
            </a:pPr>
            <a:r>
              <a:rPr lang="en-US" altLang="ko-KR" dirty="0">
                <a:ea typeface="굴림" panose="020B0600000101010101" pitchFamily="34" charset="-127"/>
              </a:rPr>
              <a:t>Contrast to semaphores: cannot wait inside critical section</a:t>
            </a:r>
          </a:p>
          <a:p>
            <a:endParaRPr lang="en-US" altLang="en-US" dirty="0"/>
          </a:p>
        </p:txBody>
      </p:sp>
    </p:spTree>
    <p:extLst>
      <p:ext uri="{BB962C8B-B14F-4D97-AF65-F5344CB8AC3E}">
        <p14:creationId xmlns:p14="http://schemas.microsoft.com/office/powerpoint/2010/main" val="3142605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solidFill>
                  <a:srgbClr val="C5C8C6"/>
                </a:solidFill>
                <a:effectLst/>
                <a:latin typeface="inherit"/>
              </a:rPr>
              <a:t>pthread_mutex_t</a:t>
            </a:r>
            <a:r>
              <a:rPr lang="en-GB" dirty="0">
                <a:solidFill>
                  <a:srgbClr val="C5C8C6"/>
                </a:solidFill>
                <a:effectLst/>
                <a:latin typeface="inherit"/>
              </a:rPr>
              <a:t> mutex = PTHREAD_MUTEX_INITIALIZER;</a:t>
            </a:r>
            <a:endParaRPr lang="en-SE" dirty="0"/>
          </a:p>
        </p:txBody>
      </p:sp>
    </p:spTree>
    <p:extLst>
      <p:ext uri="{BB962C8B-B14F-4D97-AF65-F5344CB8AC3E}">
        <p14:creationId xmlns:p14="http://schemas.microsoft.com/office/powerpoint/2010/main" val="41307128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20000"/>
              </a:lnSpc>
              <a:spcBef>
                <a:spcPts val="0"/>
              </a:spcBef>
              <a:buNone/>
              <a:tabLst>
                <a:tab pos="801688" algn="l"/>
                <a:tab pos="1139825" algn="l"/>
                <a:tab pos="1541463" algn="l"/>
                <a:tab pos="4284663" algn="l"/>
              </a:tabLst>
            </a:pPr>
            <a:endParaRPr lang="en-GB" altLang="ko-KR" sz="1200" b="0" dirty="0">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US" altLang="ko-KR" sz="1200" b="0" dirty="0">
                <a:latin typeface="Courier New" panose="02070309020205020404" pitchFamily="49" charset="0"/>
                <a:ea typeface="굴림" charset="0"/>
                <a:cs typeface="Courier New" panose="02070309020205020404" pitchFamily="49" charset="0"/>
              </a:rPr>
              <a:t>lock </a:t>
            </a:r>
            <a:r>
              <a:rPr lang="en-US" altLang="ko-KR" sz="1200" b="0" dirty="0" err="1">
                <a:latin typeface="Courier New" panose="02070309020205020404" pitchFamily="49" charset="0"/>
                <a:ea typeface="굴림" charset="0"/>
                <a:cs typeface="Courier New" panose="02070309020205020404" pitchFamily="49" charset="0"/>
              </a:rPr>
              <a:t>buf_lock</a:t>
            </a:r>
            <a:r>
              <a:rPr lang="en-US" altLang="ko-KR" sz="1200" b="0" dirty="0">
                <a:latin typeface="Courier New" panose="02070309020205020404" pitchFamily="49" charset="0"/>
                <a:ea typeface="굴림" charset="0"/>
                <a:cs typeface="Courier New" panose="02070309020205020404" pitchFamily="49" charset="0"/>
              </a:rPr>
              <a:t> = &lt;initially unlocked&gt;</a:t>
            </a:r>
          </a:p>
          <a:p>
            <a:pPr indent="0">
              <a:lnSpc>
                <a:spcPct val="120000"/>
              </a:lnSpc>
              <a:spcBef>
                <a:spcPts val="0"/>
              </a:spcBef>
              <a:buNone/>
              <a:tabLst>
                <a:tab pos="801688" algn="l"/>
                <a:tab pos="1139825" algn="l"/>
                <a:tab pos="1541463" algn="l"/>
                <a:tab pos="4284663" algn="l"/>
              </a:tabLst>
            </a:pPr>
            <a:r>
              <a:rPr lang="en-US" altLang="ko-KR" sz="1200" b="0" dirty="0">
                <a:solidFill>
                  <a:srgbClr val="FF0000"/>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FF0000"/>
                </a:solidFill>
                <a:latin typeface="Courier New" panose="02070309020205020404" pitchFamily="49" charset="0"/>
                <a:ea typeface="굴림" charset="0"/>
                <a:cs typeface="Courier New" panose="02070309020205020404" pitchFamily="49" charset="0"/>
              </a:rPr>
              <a:t>producer_CV</a:t>
            </a:r>
            <a:r>
              <a:rPr lang="en-US" altLang="ko-KR" sz="1200" b="0" dirty="0">
                <a:solidFill>
                  <a:srgbClr val="FF0000"/>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pPr indent="0">
              <a:lnSpc>
                <a:spcPct val="120000"/>
              </a:lnSpc>
              <a:spcBef>
                <a:spcPts val="0"/>
              </a:spcBef>
              <a:buNone/>
              <a:tabLst>
                <a:tab pos="801688" algn="l"/>
                <a:tab pos="1139825" algn="l"/>
                <a:tab pos="1541463" algn="l"/>
                <a:tab pos="4284663" algn="l"/>
              </a:tabLst>
            </a:pPr>
            <a:r>
              <a:rPr lang="en-US" altLang="ko-KR" sz="1200" b="0" dirty="0">
                <a:solidFill>
                  <a:srgbClr val="2A40E2"/>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2A40E2"/>
                </a:solidFill>
                <a:latin typeface="Courier New" panose="02070309020205020404" pitchFamily="49" charset="0"/>
                <a:ea typeface="굴림" charset="0"/>
                <a:cs typeface="Courier New" panose="02070309020205020404" pitchFamily="49" charset="0"/>
              </a:rPr>
              <a:t>consumer_CV</a:t>
            </a:r>
            <a:r>
              <a:rPr lang="en-US" altLang="ko-KR" sz="1200" b="0" dirty="0">
                <a:solidFill>
                  <a:srgbClr val="2A40E2"/>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endParaRPr lang="en-US" dirty="0"/>
          </a:p>
        </p:txBody>
      </p:sp>
      <p:sp>
        <p:nvSpPr>
          <p:cNvPr id="4" name="Slide Number Placeholder 3"/>
          <p:cNvSpPr>
            <a:spLocks noGrp="1"/>
          </p:cNvSpPr>
          <p:nvPr>
            <p:ph type="sldNum" sz="quarter" idx="5"/>
          </p:nvPr>
        </p:nvSpPr>
        <p:spPr/>
        <p:txBody>
          <a:bodyPr lIns="91414" tIns="45708" rIns="91414" bIns="45708"/>
          <a:lstStyle/>
          <a:p>
            <a:fld id="{BB7440CD-BA39-A148-AE3A-F33EF3E7FD39}" type="slidenum">
              <a:rPr lang="en-US" smtClean="0"/>
              <a:t>35</a:t>
            </a:fld>
            <a:endParaRPr lang="en-US"/>
          </a:p>
        </p:txBody>
      </p:sp>
    </p:spTree>
    <p:extLst>
      <p:ext uri="{BB962C8B-B14F-4D97-AF65-F5344CB8AC3E}">
        <p14:creationId xmlns:p14="http://schemas.microsoft.com/office/powerpoint/2010/main" val="3664912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depends on the type of scheduling</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Hoare-style: Named after British computer scientist Tony Hoare; signal() immediately hands the lock (and the CPU) to the waiter, so the waited-for condition is still true when it resumes and a plain if would suffice</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Mesa-style: signal() only moves the waiter to the ready queue; the signaler keeps the lock and keeps running, so the waiter must re-check its condition when it wakes up (use while, not if).</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Need to be careful about precise definition of signal and wait. </a:t>
            </a:r>
            <a:endParaRPr lang="ko-KR" altLang="en-US" dirty="0">
              <a:ea typeface="굴림" charset="0"/>
              <a:cs typeface="굴림" charset="0"/>
            </a:endParaRPr>
          </a:p>
        </p:txBody>
      </p:sp>
    </p:spTree>
    <p:extLst>
      <p:ext uri="{BB962C8B-B14F-4D97-AF65-F5344CB8AC3E}">
        <p14:creationId xmlns:p14="http://schemas.microsoft.com/office/powerpoint/2010/main" val="221185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dirty="0"/>
              <a:t>when a thread is woken up by </a:t>
            </a:r>
            <a:r>
              <a:rPr lang="en-US" dirty="0">
                <a:latin typeface="Consolas" panose="020B0609020204030204" pitchFamily="49" charset="0"/>
                <a:cs typeface="Consolas" panose="020B0609020204030204" pitchFamily="49" charset="0"/>
              </a:rPr>
              <a:t>signal()</a:t>
            </a:r>
            <a:r>
              <a:rPr lang="en-US" dirty="0"/>
              <a:t>, it is simply put on the ready queue</a:t>
            </a:r>
          </a:p>
          <a:p>
            <a:r>
              <a:rPr lang="en-US" dirty="0"/>
              <a:t>It may or may not reacquire the lock immediately!</a:t>
            </a:r>
          </a:p>
          <a:p>
            <a:pPr lvl="1"/>
            <a:r>
              <a:rPr lang="en-US" dirty="0"/>
              <a:t>Another thread could be scheduled first and "sneak in" to empty the queue</a:t>
            </a:r>
          </a:p>
          <a:p>
            <a:pPr lvl="1"/>
            <a:r>
              <a:rPr lang="en-US" dirty="0"/>
              <a:t>Need a loop to re-check condition on wakeup. (Separately, POSIX also allows spurious wakeups: cond_wait() may return without any signal, which is another reason to use while.)</a:t>
            </a:r>
            <a:endParaRPr lang="ko-KR" altLang="en-US" dirty="0">
              <a:ea typeface="굴림" charset="0"/>
              <a:cs typeface="굴림" charset="0"/>
            </a:endParaRPr>
          </a:p>
        </p:txBody>
      </p:sp>
    </p:spTree>
    <p:extLst>
      <p:ext uri="{BB962C8B-B14F-4D97-AF65-F5344CB8AC3E}">
        <p14:creationId xmlns:p14="http://schemas.microsoft.com/office/powerpoint/2010/main" val="6811359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9248848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16DA0-5807-D257-F01E-096970199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69F7-0B3F-99F2-CC14-6F6B4FA31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741C4-04E9-A8E2-647B-26DFE9500CAB}"/>
              </a:ext>
            </a:extLst>
          </p:cNvPr>
          <p:cNvSpPr>
            <a:spLocks noGrp="1"/>
          </p:cNvSpPr>
          <p:nvPr>
            <p:ph type="body" idx="1"/>
          </p:nvPr>
        </p:nvSpPr>
        <p:spPr/>
        <p:txBody>
          <a:bodyPr/>
          <a:lstStyle/>
          <a:p>
            <a:r>
              <a:rPr lang="en-GB" sz="1200" b="0" kern="0" dirty="0"/>
              <a:t>When child thread calls </a:t>
            </a:r>
            <a:r>
              <a:rPr lang="en-GB" sz="1200" b="0" kern="0" dirty="0" err="1"/>
              <a:t>sem_post</a:t>
            </a:r>
            <a:r>
              <a:rPr lang="en-GB" sz="1200" b="0" kern="0" dirty="0"/>
              <a:t>(&amp;</a:t>
            </a:r>
            <a:r>
              <a:rPr lang="en-GB" sz="1200" b="0" kern="0" dirty="0" err="1"/>
              <a:t>sem</a:t>
            </a:r>
            <a:r>
              <a:rPr lang="en-GB" sz="1200" b="0" kern="0" dirty="0"/>
              <a:t>) with no Parent thread waiting on it, </a:t>
            </a:r>
            <a:r>
              <a:rPr lang="en-GB" sz="1200" b="0" kern="0" dirty="0" err="1"/>
              <a:t>sem</a:t>
            </a:r>
            <a:r>
              <a:rPr lang="en-GB" sz="1200" b="0" kern="0" dirty="0"/>
              <a:t> is incremented from 0 to 1. Later Parent thread calls </a:t>
            </a:r>
            <a:r>
              <a:rPr lang="en-GB" sz="1200" b="0" kern="0" dirty="0" err="1"/>
              <a:t>sem_wait</a:t>
            </a:r>
            <a:r>
              <a:rPr lang="en-GB" sz="1200" b="0" kern="0" dirty="0"/>
              <a:t>(&amp;</a:t>
            </a:r>
            <a:r>
              <a:rPr lang="en-GB" sz="1200" b="0" kern="0" dirty="0" err="1"/>
              <a:t>sem</a:t>
            </a:r>
            <a:r>
              <a:rPr lang="en-GB" sz="1200" b="0" kern="0" dirty="0"/>
              <a:t>) and decrements </a:t>
            </a:r>
            <a:r>
              <a:rPr lang="en-GB" sz="1200" b="0" kern="0" dirty="0" err="1"/>
              <a:t>sem</a:t>
            </a:r>
            <a:r>
              <a:rPr lang="en-GB" sz="1200" b="0" kern="0" dirty="0"/>
              <a:t> from 1 to 0, so Parent thread will not be blocked.</a:t>
            </a:r>
          </a:p>
          <a:p>
            <a:endParaRPr lang="en-GB" sz="1200" b="0" kern="0" dirty="0"/>
          </a:p>
          <a:p>
            <a:endParaRPr lang="en-GB" sz="1200" b="0" kern="0" dirty="0"/>
          </a:p>
          <a:p>
            <a:r>
              <a:rPr lang="en-GB" sz="1200" b="0" kern="0" dirty="0"/>
              <a:t>Semaphore </a:t>
            </a:r>
            <a:r>
              <a:rPr lang="en-GB" sz="1200" b="0" kern="0" dirty="0" err="1"/>
              <a:t>sem</a:t>
            </a:r>
            <a:r>
              <a:rPr lang="en-GB" sz="1200" b="0" kern="0" dirty="0"/>
              <a:t> is initialized to 0. Parent thread calls </a:t>
            </a:r>
            <a:r>
              <a:rPr lang="en-GB" sz="1200" b="0" kern="0" dirty="0" err="1"/>
              <a:t>sem_wait</a:t>
            </a:r>
            <a:r>
              <a:rPr lang="en-GB" sz="1200" b="0" kern="0" dirty="0"/>
              <a:t>() in </a:t>
            </a:r>
            <a:r>
              <a:rPr lang="en-GB" sz="1200" b="0" kern="0" dirty="0" err="1"/>
              <a:t>thr_join() and is blocked</a:t>
            </a:r>
            <a:r>
              <a:rPr lang="en-GB" sz="1200" b="0" kern="0" dirty="0"/>
              <a:t/>
            </a:r>
            <a:r>
              <a:rPr lang="en-GB" sz="1200" b="0" kern="0" dirty="0" err="1"/>
              <a:t/>
            </a:r>
            <a:r>
              <a:rPr lang="en-GB" sz="1200" b="0" kern="0" dirty="0"/>
              <a:t>; when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parent thread will wake up and continue.</a:t>
            </a:r>
          </a:p>
          <a:p>
            <a:r>
              <a:rPr lang="en-GB" sz="1200" b="0" kern="0" dirty="0"/>
              <a:t>This program works whether </a:t>
            </a:r>
            <a:r>
              <a:rPr lang="en-GB" sz="1200" b="0" kern="0" dirty="0" err="1"/>
              <a:t>thr_join</a:t>
            </a:r>
            <a:r>
              <a:rPr lang="en-GB" sz="1200" b="0" kern="0" dirty="0"/>
              <a:t>() is called before or after </a:t>
            </a:r>
            <a:r>
              <a:rPr lang="en-GB" sz="1200" b="0" kern="0" dirty="0" err="1"/>
              <a:t>thr_exit</a:t>
            </a:r>
            <a:r>
              <a:rPr lang="en-GB" sz="1200" b="0" kern="0" dirty="0"/>
              <a:t>().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a:t>
            </a:r>
            <a:r>
              <a:rPr lang="en-GB" sz="1200" b="0" kern="0" dirty="0" err="1"/>
              <a:t>sem</a:t>
            </a:r>
            <a:r>
              <a:rPr lang="en-GB" sz="1200" b="0" kern="0" dirty="0"/>
              <a:t> is incremented to 1; when parent thread calls </a:t>
            </a:r>
            <a:r>
              <a:rPr lang="en-GB" sz="1200" b="0" kern="0" dirty="0" err="1"/>
              <a:t>sem_wait</a:t>
            </a:r>
            <a:r>
              <a:rPr lang="en-GB" sz="1200" b="0" kern="0" dirty="0"/>
              <a:t>() in </a:t>
            </a:r>
            <a:r>
              <a:rPr lang="en-GB" sz="1200" b="0" kern="0" dirty="0" err="1"/>
              <a:t>thr_join(), </a:t>
            </a:r>
            <a:r>
              <a:rPr lang="en-GB" sz="1200" b="0" kern="0" dirty="0"/>
              <a:t/>
            </a:r>
            <a:r>
              <a:rPr lang="en-GB" sz="1200" b="0" kern="0" dirty="0" err="1"/>
              <a:t/>
            </a:r>
            <a:r>
              <a:rPr lang="en-GB" sz="1200" b="0" kern="0" dirty="0"/>
              <a:t/>
            </a:r>
            <a:r>
              <a:rPr lang="en-GB" sz="1200" b="0" kern="0" dirty="0" err="1"/>
              <a:t>sem</a:t>
            </a:r>
            <a:r>
              <a:rPr lang="en-GB" sz="1200" b="0" kern="0" dirty="0"/>
              <a:t> is decremented to 0, so parent thread will not block</a:t>
            </a:r>
            <a:endParaRPr lang="en-GB" dirty="0"/>
          </a:p>
          <a:p>
            <a:r>
              <a:rPr lang="en-GB" dirty="0"/>
              <a:t>#include &lt;</a:t>
            </a:r>
            <a:r>
              <a:rPr lang="en-GB" dirty="0" err="1"/>
              <a:t>semaphore.h</a:t>
            </a:r>
            <a:r>
              <a:rPr lang="en-GB" dirty="0"/>
              <a:t>&gt;</a:t>
            </a:r>
          </a:p>
          <a:p>
            <a:endParaRPr lang="en-GB" dirty="0"/>
          </a:p>
          <a:p>
            <a:r>
              <a:rPr lang="en-GB" dirty="0" err="1"/>
              <a:t>sem_t</a:t>
            </a:r>
            <a:r>
              <a:rPr lang="en-GB" dirty="0"/>
              <a:t> </a:t>
            </a:r>
            <a:r>
              <a:rPr lang="en-GB" dirty="0" err="1"/>
              <a:t>sem</a:t>
            </a:r>
            <a:r>
              <a:rPr lang="en-GB" dirty="0"/>
              <a:t>;</a:t>
            </a:r>
          </a:p>
          <a:p>
            <a:endParaRPr lang="en-GB" dirty="0"/>
          </a:p>
          <a:p>
            <a:r>
              <a:rPr lang="en-GB" dirty="0"/>
              <a:t>void </a:t>
            </a:r>
            <a:r>
              <a:rPr lang="en-GB" dirty="0" err="1"/>
              <a:t>thr_init</a:t>
            </a:r>
            <a:r>
              <a:rPr lang="en-GB" dirty="0"/>
              <a:t>() {</a:t>
            </a:r>
          </a:p>
          <a:p>
            <a:r>
              <a:rPr lang="en-GB" dirty="0"/>
              <a:t>    </a:t>
            </a:r>
            <a:r>
              <a:rPr lang="en-GB" dirty="0" err="1"/>
              <a:t>sem_init</a:t>
            </a:r>
            <a:r>
              <a:rPr lang="en-GB" dirty="0"/>
              <a:t>(&amp;</a:t>
            </a:r>
            <a:r>
              <a:rPr lang="en-GB" dirty="0" err="1"/>
              <a:t>sem</a:t>
            </a:r>
            <a:r>
              <a:rPr lang="en-GB" dirty="0"/>
              <a:t>, 0, 0);</a:t>
            </a:r>
          </a:p>
          <a:p>
            <a:r>
              <a:rPr lang="en-GB" dirty="0"/>
              <a:t>}</a:t>
            </a:r>
          </a:p>
          <a:p>
            <a:endParaRPr lang="en-GB" dirty="0"/>
          </a:p>
          <a:p>
            <a:r>
              <a:rPr lang="en-GB" dirty="0"/>
              <a:t>void </a:t>
            </a:r>
            <a:r>
              <a:rPr lang="en-GB" dirty="0" err="1"/>
              <a:t>thr_exit</a:t>
            </a:r>
            <a:r>
              <a:rPr lang="en-GB" dirty="0"/>
              <a:t>() {</a:t>
            </a:r>
          </a:p>
          <a:p>
            <a:r>
              <a:rPr lang="en-GB" dirty="0"/>
              <a:t>    </a:t>
            </a:r>
            <a:r>
              <a:rPr lang="en-GB" dirty="0" err="1"/>
              <a:t>sem_post</a:t>
            </a:r>
            <a:r>
              <a:rPr lang="en-GB" dirty="0"/>
              <a:t>(&amp;</a:t>
            </a:r>
            <a:r>
              <a:rPr lang="en-GB" dirty="0" err="1"/>
              <a:t>sem</a:t>
            </a:r>
            <a:r>
              <a:rPr lang="en-GB" dirty="0"/>
              <a:t>);</a:t>
            </a:r>
          </a:p>
          <a:p>
            <a:r>
              <a:rPr lang="en-GB" dirty="0"/>
              <a:t>}</a:t>
            </a:r>
          </a:p>
          <a:p>
            <a:endParaRPr lang="en-GB" dirty="0"/>
          </a:p>
          <a:p>
            <a:r>
              <a:rPr lang="en-GB" dirty="0"/>
              <a:t>void </a:t>
            </a:r>
            <a:r>
              <a:rPr lang="en-GB" dirty="0" err="1"/>
              <a:t>thr_join</a:t>
            </a:r>
            <a:r>
              <a:rPr lang="en-GB" dirty="0"/>
              <a:t>() {</a:t>
            </a:r>
          </a:p>
          <a:p>
            <a:r>
              <a:rPr lang="en-GB" dirty="0"/>
              <a:t>    </a:t>
            </a:r>
            <a:r>
              <a:rPr lang="en-GB" dirty="0" err="1"/>
              <a:t>sem_wait</a:t>
            </a:r>
            <a:r>
              <a:rPr lang="en-GB" dirty="0"/>
              <a:t>(&amp;</a:t>
            </a:r>
            <a:r>
              <a:rPr lang="en-GB" dirty="0" err="1"/>
              <a:t>sem</a:t>
            </a:r>
            <a:r>
              <a:rPr lang="en-GB" dirty="0"/>
              <a:t>);</a:t>
            </a:r>
          </a:p>
          <a:p>
            <a:r>
              <a:rPr lang="en-GB" dirty="0"/>
              <a:t>}</a:t>
            </a:r>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thr_init</a:t>
            </a:r>
            <a:r>
              <a:rPr lang="en-GB" dirty="0"/>
              <a:t>();  // Initialize semaphore</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a:t>
            </a:r>
          </a:p>
          <a:p>
            <a:r>
              <a:rPr lang="en-GB" dirty="0"/>
              <a:t>    </a:t>
            </a:r>
            <a:r>
              <a:rPr lang="en-GB" dirty="0" err="1"/>
              <a:t>printf</a:t>
            </a:r>
            <a:r>
              <a:rPr lang="en-GB" dirty="0"/>
              <a:t>("parent: end\n");</a:t>
            </a:r>
          </a:p>
          <a:p>
            <a:r>
              <a:rPr lang="en-GB" dirty="0"/>
              <a:t>    </a:t>
            </a:r>
            <a:r>
              <a:rPr lang="en-GB" dirty="0" err="1"/>
              <a:t>sem_destroy</a:t>
            </a:r>
            <a:r>
              <a:rPr lang="en-GB" dirty="0"/>
              <a:t>(&amp;</a:t>
            </a:r>
            <a:r>
              <a:rPr lang="en-GB" dirty="0" err="1"/>
              <a:t>sem</a:t>
            </a:r>
            <a:r>
              <a:rPr lang="en-GB" dirty="0"/>
              <a:t>);</a:t>
            </a:r>
          </a:p>
          <a:p>
            <a:r>
              <a:rPr lang="en-GB" dirty="0"/>
              <a:t>    return 0;</a:t>
            </a:r>
          </a:p>
          <a:p>
            <a:r>
              <a:rPr lang="en-GB" dirty="0"/>
              <a:t>}</a:t>
            </a:r>
            <a:endParaRPr lang="en-SE" dirty="0"/>
          </a:p>
        </p:txBody>
      </p:sp>
    </p:spTree>
    <p:extLst>
      <p:ext uri="{BB962C8B-B14F-4D97-AF65-F5344CB8AC3E}">
        <p14:creationId xmlns:p14="http://schemas.microsoft.com/office/powerpoint/2010/main" val="4855601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CF24-CAC9-C8FC-9E8F-82662B24C9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FC2C4-EA79-992C-8C3A-9E16F1BD6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571A7-FC10-82B6-B7FA-14A861628729}"/>
              </a:ext>
            </a:extLst>
          </p:cNvPr>
          <p:cNvSpPr>
            <a:spLocks noGrp="1"/>
          </p:cNvSpPr>
          <p:nvPr>
            <p:ph type="body" idx="1"/>
          </p:nvPr>
        </p:nvSpPr>
        <p:spPr/>
        <p:txBody>
          <a:bodyPr/>
          <a:lstStyle/>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p:txBody>
      </p:sp>
    </p:spTree>
    <p:extLst>
      <p:ext uri="{BB962C8B-B14F-4D97-AF65-F5344CB8AC3E}">
        <p14:creationId xmlns:p14="http://schemas.microsoft.com/office/powerpoint/2010/main" val="2479287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F114C-5A90-2B38-907E-9F25D033C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3594-E28A-1134-4E1B-FED86E93E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16659A-B4AF-84B1-06C2-4FAC75CB6F31}"/>
              </a:ext>
            </a:extLst>
          </p:cNvPr>
          <p:cNvSpPr>
            <a:spLocks noGrp="1"/>
          </p:cNvSpPr>
          <p:nvPr>
            <p:ph type="body" idx="1"/>
          </p:nvPr>
        </p:nvSpPr>
        <p:spPr/>
        <p:txBody>
          <a:bodyPr/>
          <a:lstStyle/>
          <a:p>
            <a:r>
              <a:rPr lang="en-GB" sz="3200" b="0" kern="0" dirty="0"/>
              <a:t>because condition variables don't maintain state</a:t>
            </a:r>
            <a:endParaRPr lang="en-GB" sz="2000" b="0" kern="0" dirty="0"/>
          </a:p>
          <a:p>
            <a:r>
              <a:rPr lang="en-GB" sz="2000" b="0" kern="0" dirty="0"/>
              <a:t>The program assumes that the parent will always call </a:t>
            </a:r>
            <a:r>
              <a:rPr lang="en-GB" sz="2000" b="0" kern="0" dirty="0" err="1"/>
              <a:t>thr_join</a:t>
            </a:r>
            <a:r>
              <a:rPr lang="en-GB" sz="2000" b="0" kern="0" dirty="0"/>
              <a:t>() (and thus wait on the condition variable) before the child calls </a:t>
            </a:r>
            <a:r>
              <a:rPr lang="en-GB" sz="2000" b="0" kern="0" dirty="0" err="1"/>
              <a:t>thr_exit</a:t>
            </a:r>
            <a:r>
              <a:rPr lang="en-GB" sz="2000" b="0" kern="0" dirty="0"/>
              <a:t>() to signal. If this ordering is not guaranteed, there is a race condition:</a:t>
            </a:r>
          </a:p>
          <a:p>
            <a:pPr lvl="1"/>
            <a:r>
              <a:rPr lang="en-GB" sz="1800" b="0" kern="0" dirty="0"/>
              <a:t>If the child calls </a:t>
            </a:r>
            <a:r>
              <a:rPr lang="en-GB" sz="1800" b="0" kern="0" dirty="0" err="1"/>
              <a:t>thr_exit</a:t>
            </a:r>
            <a:r>
              <a:rPr lang="en-GB" sz="1800" b="0" kern="0" dirty="0"/>
              <a:t>() before the parent starts waiting on </a:t>
            </a:r>
            <a:r>
              <a:rPr lang="en-GB" sz="1800" b="0" kern="0" dirty="0" err="1"/>
              <a:t>pthread_cond_wait</a:t>
            </a:r>
            <a:r>
              <a:rPr lang="en-GB" sz="1800" b="0" kern="0" dirty="0"/>
              <a:t>, the signal (</a:t>
            </a:r>
            <a:r>
              <a:rPr lang="en-GB" sz="1800" b="0" kern="0" dirty="0" err="1"/>
              <a:t>pthread_cond_signal</a:t>
            </a:r>
            <a:r>
              <a:rPr lang="en-GB" sz="1800" b="0" kern="0" dirty="0"/>
              <a:t>) may be missed because condition variables do not queue signals if no thread is waiting at that moment. As a result, the parent could block indefinitely on </a:t>
            </a:r>
            <a:r>
              <a:rPr lang="en-GB" sz="1800" b="0" kern="0" dirty="0" err="1"/>
              <a:t>pthread_cond_wait</a:t>
            </a:r>
            <a:r>
              <a:rPr lang="en-GB" sz="1800" b="0" kern="0" dirty="0"/>
              <a:t>.</a:t>
            </a:r>
          </a:p>
          <a:p>
            <a:endParaRPr lang="en-GB" sz="2000" b="0" kern="0" dirty="0"/>
          </a:p>
          <a:p>
            <a:endParaRPr lang="en-SE" sz="1800" b="0" kern="0" dirty="0"/>
          </a:p>
          <a:p>
            <a:endParaRPr lang="en-GB" dirty="0"/>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p:txBody>
      </p:sp>
    </p:spTree>
    <p:extLst>
      <p:ext uri="{BB962C8B-B14F-4D97-AF65-F5344CB8AC3E}">
        <p14:creationId xmlns:p14="http://schemas.microsoft.com/office/powerpoint/2010/main" val="35355186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case of 5 philosophers, the shared data </a:t>
            </a:r>
          </a:p>
          <a:p>
            <a:r>
              <a:rPr lang="en-GB" dirty="0"/>
              <a:t>Bowl of rice (data set)</a:t>
            </a:r>
          </a:p>
          <a:p>
            <a:r>
              <a:rPr lang="en-GB" dirty="0"/>
              <a:t>Semaphore chopstick [5] initialized to 1</a:t>
            </a:r>
          </a:p>
          <a:p>
            <a:endParaRPr lang="en-US" dirty="0"/>
          </a:p>
          <a:p>
            <a:r>
              <a:rPr lang="en-US" dirty="0"/>
              <a:t>State is safe if when a philosopher tries to take a fork, either</a:t>
            </a:r>
          </a:p>
          <a:p>
            <a:pPr lvl="1"/>
            <a:r>
              <a:rPr lang="en-US" dirty="0"/>
              <a:t>It is not the last fork,</a:t>
            </a:r>
          </a:p>
          <a:p>
            <a:pPr lvl="1"/>
            <a:r>
              <a:rPr lang="en-US" dirty="0"/>
              <a:t>Or it is the last fork, but someone will have 2 forks afterwards.</a:t>
            </a:r>
          </a:p>
          <a:p>
            <a:pPr lvl="1"/>
            <a:r>
              <a:rPr lang="en-US" sz="2900" dirty="0"/>
              <a:t>Equivalently: do not let a philosopher take the last fork if no one will have 2 forks afterwards.</a:t>
            </a:r>
          </a:p>
          <a:p>
            <a:r>
              <a:rPr lang="en-US" dirty="0"/>
              <a:t>Consider N philosophers </a:t>
            </a:r>
          </a:p>
          <a:p>
            <a:pPr lvl="1"/>
            <a:r>
              <a:rPr lang="en-US" dirty="0"/>
              <a:t>If each of the N-1 philosophers holds his left fork, then the N</a:t>
            </a:r>
            <a:r>
              <a:rPr lang="en-US" baseline="30000" dirty="0"/>
              <a:t>th</a:t>
            </a:r>
            <a:r>
              <a:rPr lang="en-US" dirty="0"/>
              <a:t> philosopher will be prevented from taking the last fork.</a:t>
            </a:r>
          </a:p>
          <a:p>
            <a:pPr lvl="1"/>
            <a:r>
              <a:rPr lang="en-US" dirty="0"/>
              <a:t>If a philosopher is holding his left fork, he can safely pick up his right fork if available, and vice versa.</a:t>
            </a:r>
          </a:p>
          <a:p>
            <a:pPr lvl="1"/>
            <a:r>
              <a:rPr lang="en-US" dirty="0"/>
              <a:t>If one or more philosophers are holding 2 forks and eating, then any remaining forks can be picked up safely by any other philosopher.</a:t>
            </a:r>
          </a:p>
          <a:p>
            <a:r>
              <a:rPr lang="en-US" dirty="0"/>
              <a:t>Banker’s algorithm can be used to verify each of these scenarios</a:t>
            </a:r>
          </a:p>
          <a:p>
            <a:endParaRPr lang="en-SE" dirty="0"/>
          </a:p>
        </p:txBody>
      </p:sp>
    </p:spTree>
    <p:extLst>
      <p:ext uri="{BB962C8B-B14F-4D97-AF65-F5344CB8AC3E}">
        <p14:creationId xmlns:p14="http://schemas.microsoft.com/office/powerpoint/2010/main" val="25471023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This program is subject to deadlock if every philosopher simultaneously picks up his left fork.</a:t>
            </a:r>
          </a:p>
          <a:p>
            <a:r>
              <a:rPr lang="en-GB" dirty="0"/>
              <a:t>#define N 5  // Number of philosophers and forks</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p>
          <a:p>
            <a:endParaRPr lang="en-SE" dirty="0"/>
          </a:p>
        </p:txBody>
      </p:sp>
    </p:spTree>
    <p:extLst>
      <p:ext uri="{BB962C8B-B14F-4D97-AF65-F5344CB8AC3E}">
        <p14:creationId xmlns:p14="http://schemas.microsoft.com/office/powerpoint/2010/main" val="22678854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52BF-8285-D8A0-8F49-730276302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7621E-1CE4-8114-15AE-73748F3808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5E8FC7-51E2-16BE-9796-C456B62399E1}"/>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endParaRPr lang="en-SE" dirty="0"/>
          </a:p>
        </p:txBody>
      </p:sp>
    </p:spTree>
    <p:extLst>
      <p:ext uri="{BB962C8B-B14F-4D97-AF65-F5344CB8AC3E}">
        <p14:creationId xmlns:p14="http://schemas.microsoft.com/office/powerpoint/2010/main" val="31060309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US" altLang="zh-CN" dirty="0"/>
              <a:t>If philosopher i is in the critical section protected by mutex, blocked in </a:t>
            </a:r>
            <a:r>
              <a:rPr lang="en-US" altLang="zh-CN" dirty="0" err="1"/>
              <a:t>sem_wait</a:t>
            </a:r>
            <a:r>
              <a:rPr lang="en-US" altLang="zh-CN" dirty="0"/>
              <a:t>() waiting for any fork (left or right), the neighbor who is holding the requested fork and eating has just finished, but is blocked on </a:t>
            </a:r>
            <a:r>
              <a:rPr lang="en-US" altLang="zh-CN" dirty="0" err="1"/>
              <a:t>sem_wait</a:t>
            </a:r>
            <a:r>
              <a:rPr lang="en-US" altLang="zh-CN" dirty="0"/>
              <a:t>(&amp;mutex), and cannot put down any fork by calling </a:t>
            </a:r>
            <a:r>
              <a:rPr lang="en-US" altLang="zh-CN" dirty="0" err="1"/>
              <a:t>sem_post</a:t>
            </a:r>
            <a:r>
              <a:rPr lang="en-US" altLang="zh-CN" dirty="0"/>
              <a:t>().</a:t>
            </a:r>
          </a:p>
          <a:p>
            <a:endParaRPr lang="en-SE" dirty="0"/>
          </a:p>
        </p:txBody>
      </p:sp>
    </p:spTree>
    <p:extLst>
      <p:ext uri="{BB962C8B-B14F-4D97-AF65-F5344CB8AC3E}">
        <p14:creationId xmlns:p14="http://schemas.microsoft.com/office/powerpoint/2010/main" val="1805728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8459D-568C-CB00-3D02-B1FAA875B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C1ABC-ECFE-01B8-C72F-67C964A5D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2C071-32C7-DA3F-7EF5-100039031E4F}"/>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r>
              <a:rPr lang="en-GB" dirty="0"/>
              <a:t>#define N 5  // Number of philosophers and forks</a:t>
            </a:r>
          </a:p>
          <a:p>
            <a:r>
              <a:rPr lang="en-GB" dirty="0"/>
              <a:t>semaphore mutex = 1; </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(&amp;mutex); // Enter critical section</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r>
              <a:rPr lang="en-GB" dirty="0" err="1"/>
              <a:t>sem_post</a:t>
            </a:r>
            <a:r>
              <a:rPr lang="en-GB" dirty="0"/>
              <a:t>(&amp;mutex); // Exit critical section</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endParaRPr lang="en-SE" dirty="0"/>
          </a:p>
        </p:txBody>
      </p:sp>
    </p:spTree>
    <p:extLst>
      <p:ext uri="{BB962C8B-B14F-4D97-AF65-F5344CB8AC3E}">
        <p14:creationId xmlns:p14="http://schemas.microsoft.com/office/powerpoint/2010/main" val="18572691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One solution is to introduce an additional “room” semaphore that limits the number of philosophers permitted to start eating concurrently. For example, if there are N=5 philosophers, initializing room to 4 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0935128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F2D9F-061C-B1F0-8A13-8545195B7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DFD18-6172-3A15-6067-29595418B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B80F8-7AC6-C97B-B3E1-D55BA6E77DBE}"/>
              </a:ext>
            </a:extLst>
          </p:cNvPr>
          <p:cNvSpPr>
            <a:spLocks noGrp="1"/>
          </p:cNvSpPr>
          <p:nvPr>
            <p:ph type="body" idx="1"/>
          </p:nvPr>
        </p:nvSpPr>
        <p:spPr/>
        <p:txBody>
          <a:bodyPr/>
          <a:lstStyle/>
          <a:p>
            <a:endParaRPr lang="en-GB" dirty="0"/>
          </a:p>
          <a:p>
            <a:r>
              <a:rPr lang="en-GB" dirty="0"/>
              <a:t>4 philosophers pick up left fork before right fork, but 1 philosopher picks up right fork (0) before left fork (4).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method forces each philosopher to pick up lower-numbered fork before higher-numbered fork (modulo N), i.e., assign a total order to the resources, and establish the convention that all resources will be requested in the same order. Here the order of forks is 0, 1, 2, …, N-1. Philosopher 0 picks up left fork 0 before right fork 1; Philosopher 1 picks up left fork 1 before right fork 2;…; </a:t>
            </a:r>
            <a:r>
              <a:rPr lang="en-GB" dirty="0">
                <a:solidFill>
                  <a:srgbClr val="FF0000"/>
                </a:solidFill>
              </a:rPr>
              <a:t>Philosopher N-1 picks up right fork 0 before left fork N-1</a:t>
            </a:r>
            <a:r>
              <a:rPr lang="en-GB" dirty="0"/>
              <a:t>.</a:t>
            </a:r>
          </a:p>
          <a:p>
            <a:endParaRPr lang="en-GB" dirty="0"/>
          </a:p>
          <a:p>
            <a:endParaRPr lang="en-SE" dirty="0"/>
          </a:p>
        </p:txBody>
      </p:sp>
    </p:spTree>
    <p:extLst>
      <p:ext uri="{BB962C8B-B14F-4D97-AF65-F5344CB8AC3E}">
        <p14:creationId xmlns:p14="http://schemas.microsoft.com/office/powerpoint/2010/main" val="35764057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Note that sem_wait(&amp;self[i]) is called after releasing the mutex: if a philosopher slept while holding the mutex, no neighbor could run putdown() to wake it up (deadlock). The sem_post() done in test() is remembered by the semaphore even if philosopher i has not reached sem_wait(&amp;self[i]) yet.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this solution is deadlock-free, a philosopher may still starve if its two neighbors keep taking turns eating.</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3899627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3CCA-14D8-2A84-1182-CEEAA1748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308D-A6D8-1B31-AC35-6D22F7FBD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A20F3-71D2-9D86-6EE3-CE1C526702AE}"/>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structure prevents the circular waiting condition that leads to deadlock.</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Must check the condition while (state[i] != EATING) before waiting on self[i]: If philosopher i changes its state[i] to EATING, calls signal(&amp;self[i]) and no one is waiting on condition self[i], then the signal is lost. If philosopher i then calls wait(&amp;self[i]), it will be blocked incorrectly.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#define N 5  // Number of philosophers and forks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enum</a:t>
            </a:r>
            <a:r>
              <a:rPr lang="en-GB" dirty="0"/>
              <a:t> { THINKING, HUNGRY, EATING } state[N];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condition self[N];  // Condition variable for each philosopher</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mutex_t</a:t>
            </a:r>
            <a:r>
              <a:rPr lang="en-GB" dirty="0"/>
              <a:t> mutex = 1;  // Monitor's mutex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pickup(int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HUNGRY;</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(state[i] != EATING)  // Using while for Mesa semantics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cond_wait</a:t>
            </a:r>
            <a:r>
              <a:rPr lang="en-GB" dirty="0"/>
              <a:t>(&amp;self[i], &amp;mutex);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putdown(int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+ 4) % N);  // Test left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+ 1) % N);  // Test right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test(int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if (state[i] == HUNGRY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+ 4) % N] != EATING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+ 1) % N] != EATING)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EATING;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cond_signal</a:t>
            </a:r>
            <a:r>
              <a:rPr lang="en-GB" dirty="0"/>
              <a:t>(&amp;self[i]);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philosopher(int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think();</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pickup(i);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eat();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putdown(i);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Initialization would be done in main: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main()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Initialize state array to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Create N philosopher threads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create_thread</a:t>
            </a:r>
            <a:r>
              <a:rPr lang="en-GB" dirty="0"/>
              <a:t>(philosopher, 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214173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altLang="ko-KR" dirty="0">
                <a:ea typeface="굴림" panose="020B0600000101010101" pitchFamily="34" charset="-127"/>
              </a:rPr>
              <a:t>Important concept: </a:t>
            </a:r>
            <a:r>
              <a:rPr lang="en-US" altLang="ko-KR" dirty="0">
                <a:solidFill>
                  <a:srgbClr val="FF0000"/>
                </a:solidFill>
                <a:ea typeface="굴림" panose="020B0600000101010101" pitchFamily="34" charset="-127"/>
              </a:rPr>
              <a:t>Atomic Operations</a:t>
            </a:r>
          </a:p>
          <a:p>
            <a:pPr lvl="1"/>
            <a:r>
              <a:rPr lang="en-US" altLang="ko-KR" dirty="0">
                <a:ea typeface="굴림" panose="020B0600000101010101" pitchFamily="34" charset="-127"/>
              </a:rPr>
              <a:t>An operation that runs to completion or not at all</a:t>
            </a:r>
          </a:p>
          <a:p>
            <a:pPr lvl="1"/>
            <a:r>
              <a:rPr lang="en-US" altLang="ko-KR" dirty="0">
                <a:ea typeface="굴림" panose="020B0600000101010101" pitchFamily="34" charset="-127"/>
              </a:rPr>
              <a:t>These are the primitives on which to construct various synchronization primitives</a:t>
            </a:r>
          </a:p>
          <a:p>
            <a:r>
              <a:rPr lang="en-US" altLang="zh-CN" dirty="0"/>
              <a:t>Locks:</a:t>
            </a:r>
            <a:r>
              <a:rPr lang="zh-CN" altLang="en-US" dirty="0"/>
              <a:t> </a:t>
            </a:r>
            <a:r>
              <a:rPr lang="en-US" altLang="zh-CN" dirty="0"/>
              <a:t>provide</a:t>
            </a:r>
            <a:r>
              <a:rPr lang="zh-CN" altLang="en-US" dirty="0"/>
              <a:t> </a:t>
            </a:r>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p>
          <a:p>
            <a:r>
              <a:rPr lang="en-US" altLang="zh-CN" dirty="0"/>
              <a:t>Spinlocks:</a:t>
            </a:r>
            <a:r>
              <a:rPr lang="zh-CN" altLang="en-US" dirty="0"/>
              <a:t> </a:t>
            </a:r>
            <a:endParaRPr lang="en-US" altLang="zh-CN" dirty="0"/>
          </a:p>
          <a:p>
            <a:pPr lvl="1"/>
            <a:r>
              <a:rPr lang="en-US" altLang="zh-CN" dirty="0"/>
              <a:t>Test-And-Set()</a:t>
            </a:r>
          </a:p>
          <a:p>
            <a:pPr lvl="1"/>
            <a:r>
              <a:rPr lang="en-US" altLang="zh-CN" dirty="0"/>
              <a:t>Compare-and-swap()</a:t>
            </a:r>
          </a:p>
          <a:p>
            <a:r>
              <a:rPr lang="en-US" altLang="zh-CN" dirty="0"/>
              <a:t>Producer/consumer problem</a:t>
            </a:r>
          </a:p>
          <a:p>
            <a:r>
              <a:rPr lang="en-US" altLang="zh-CN" dirty="0"/>
              <a:t>Condition</a:t>
            </a:r>
            <a:r>
              <a:rPr lang="zh-CN" altLang="en-US" dirty="0"/>
              <a:t> </a:t>
            </a:r>
            <a:r>
              <a:rPr lang="en-US" altLang="zh-CN" dirty="0"/>
              <a:t>variable</a:t>
            </a:r>
          </a:p>
          <a:p>
            <a:r>
              <a:rPr lang="en-US" altLang="zh-CN" dirty="0"/>
              <a:t>Properly</a:t>
            </a:r>
            <a:r>
              <a:rPr lang="zh-CN" altLang="en-US" dirty="0"/>
              <a:t> </a:t>
            </a:r>
            <a:r>
              <a:rPr lang="en-US" altLang="zh-CN" dirty="0"/>
              <a:t>use</a:t>
            </a:r>
            <a:r>
              <a:rPr lang="zh-CN" altLang="en-US" dirty="0"/>
              <a:t> </a:t>
            </a:r>
            <a:r>
              <a:rPr lang="en-US" altLang="zh-CN" dirty="0"/>
              <a:t>CVs</a:t>
            </a:r>
          </a:p>
          <a:p>
            <a:pPr lvl="1"/>
            <a:r>
              <a:rPr lang="en-US" altLang="zh-CN" dirty="0"/>
              <a:t>Have</a:t>
            </a:r>
            <a:r>
              <a:rPr lang="zh-CN" altLang="en-US" dirty="0"/>
              <a:t> </a:t>
            </a:r>
            <a:r>
              <a:rPr lang="en-US" altLang="zh-CN" dirty="0"/>
              <a:t>a</a:t>
            </a:r>
            <a:r>
              <a:rPr lang="zh-CN" altLang="en-US" dirty="0"/>
              <a:t> </a:t>
            </a:r>
            <a:r>
              <a:rPr lang="en-US" altLang="zh-CN" dirty="0"/>
              <a:t>state</a:t>
            </a:r>
          </a:p>
          <a:p>
            <a:pPr lvl="1"/>
            <a:r>
              <a:rPr lang="en-US" altLang="zh-CN" dirty="0"/>
              <a:t>Use</a:t>
            </a:r>
            <a:r>
              <a:rPr lang="zh-CN" altLang="en-US" dirty="0"/>
              <a:t> </a:t>
            </a:r>
            <a:r>
              <a:rPr lang="en-US" altLang="zh-CN" dirty="0"/>
              <a:t>mutex</a:t>
            </a:r>
            <a:r>
              <a:rPr lang="zh-CN" altLang="en-US" dirty="0"/>
              <a:t> </a:t>
            </a:r>
            <a:r>
              <a:rPr lang="en-US" altLang="zh-CN" dirty="0"/>
              <a:t>to</a:t>
            </a:r>
            <a:r>
              <a:rPr lang="zh-CN" altLang="en-US" dirty="0"/>
              <a:t> </a:t>
            </a:r>
            <a:r>
              <a:rPr lang="en-US" altLang="zh-CN" dirty="0"/>
              <a:t>ensure</a:t>
            </a:r>
            <a:r>
              <a:rPr lang="zh-CN" altLang="en-US" dirty="0"/>
              <a:t> </a:t>
            </a:r>
            <a:r>
              <a:rPr lang="en-US" altLang="zh-CN" dirty="0"/>
              <a:t>no</a:t>
            </a:r>
            <a:r>
              <a:rPr lang="zh-CN" altLang="en-US" dirty="0"/>
              <a:t> </a:t>
            </a:r>
            <a:r>
              <a:rPr lang="en-US" altLang="zh-CN" dirty="0"/>
              <a:t>race</a:t>
            </a:r>
            <a:r>
              <a:rPr lang="zh-CN" altLang="en-US" dirty="0"/>
              <a:t> </a:t>
            </a:r>
            <a:r>
              <a:rPr lang="en-US" altLang="zh-CN" dirty="0"/>
              <a:t>condition</a:t>
            </a:r>
          </a:p>
          <a:p>
            <a:pPr lvl="1"/>
            <a:r>
              <a:rPr lang="en-US" altLang="zh-CN" dirty="0"/>
              <a:t>Recheck</a:t>
            </a:r>
            <a:r>
              <a:rPr lang="zh-CN" altLang="en-US" dirty="0"/>
              <a:t> </a:t>
            </a:r>
            <a:r>
              <a:rPr lang="en-US" altLang="zh-CN" dirty="0"/>
              <a:t>the</a:t>
            </a:r>
            <a:r>
              <a:rPr lang="zh-CN" altLang="en-US" dirty="0"/>
              <a:t> </a:t>
            </a:r>
            <a:r>
              <a:rPr lang="en-US" altLang="zh-CN" dirty="0"/>
              <a:t>state</a:t>
            </a:r>
            <a:r>
              <a:rPr lang="zh-CN" altLang="en-US" dirty="0"/>
              <a:t> </a:t>
            </a:r>
            <a:r>
              <a:rPr lang="en-US" altLang="zh-CN" dirty="0"/>
              <a:t>(while)</a:t>
            </a:r>
          </a:p>
          <a:p>
            <a:pPr lvl="1"/>
            <a:endParaRPr lang="en-US" dirty="0"/>
          </a:p>
          <a:p>
            <a:endParaRPr lang="en-US" altLang="zh-CN"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425331597"/>
      </p:ext>
    </p:extLst>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message: a semaphore is a counter with a wait queue (state + scheduling in one primitive); a monitor separates the two jobs: mutex for mutual exclusion, condition variables for waiting.</a:t>
            </a:r>
          </a:p>
          <a:p>
            <a:r>
              <a:t>Key difference to stress: memory. sem_post() before sem_wait() is remembered (value goes 0 -&gt; 1), cond_signal() before cond_wait() is lost, which is why the thread-join example needs the done flag.</a:t>
            </a:r>
          </a:p>
          <a:p>
            <a:r>
              <a:t>Ownership: a binary semaphore is not the same as a mutex. Any thread may post a semaphore, but only the owner may unlock a mutex (see 'Two Uses of Semaphores').</a:t>
            </a:r>
          </a:p>
          <a:p>
            <a:r>
              <a:t>Tie back: P/C with semaphores (mutex outside emptySlots -&gt; deadlock) vs. cond_wait releasing the mutex.</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are equally expressive. Left: a semaphore built from one mutex, one condition variable and a counter (the while loop handles Mesa semantics). Building a monitor out of semaphores is possible but clumsier.</a:t>
            </a:r>
          </a:p>
          <a:p>
            <a:r>
              <a:t>Rule of thumb: counting / signaling -&gt; semaphore; waiting on a predicate over shared state -&gt; monitor.</a:t>
            </a:r>
          </a:p>
          <a:p>
            <a:r>
              <a:t>The table maps the three examples already covered: thread join, bounded buffer, dining philosophers.</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question, two answers: when thread S calls cond_signal() and thread W is waiting, who runs next?</a:t>
            </a:r>
          </a:p>
          <a:p>
            <a:r>
              <a:t>Hoare (1974): signal-and-wait. S hands the monitor lock and the CPU to W immediately and S waits on an urgent queue. When W runs, the condition S just established is still true, so 'if' is enough.</a:t>
            </a:r>
          </a:p>
          <a:p>
            <a:r>
              <a:t>Mesa (Lampson &amp; Redell, Xerox PARC, 1980): signal-and-continue. S keeps the lock and W is only moved to the ready queue. Before W re-acquires the lock, another thread may enter the monitor and change the state, so W must re-check in a while loop.</a:t>
            </a:r>
          </a:p>
          <a:p>
            <a:r>
              <a:t>Walk the 'Other' lane: in Mesa a third thread can sneak in between signal() and W's wakeup; in Hoare it cannot.</a:t>
            </a:r>
          </a:p>
          <a:p>
            <a:r>
              <a:t>Real systems (pthreads, Java) are Mesa-style, which is why every example in this lecture uses while.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of the trade-off: Hoare gives a stronger guarantee but costs extra context switches and is hard to implement; Mesa is cheaper and simpler, at the price of pushing the re-check onto the programmer (while loop).</a:t>
            </a:r>
          </a:p>
          <a:p>
            <a:r>
              <a:t>Brinch Hansen's variant (signal-and-exit): signal() must be the last statement of the monitor procedure, so the signaler leaves right away.</a:t>
            </a:r>
          </a:p>
          <a:p>
            <a:r>
              <a:t>A Mesa-style while loop also makes spurious wakeups and broadcast() harmless; this is why pthreads allows spurious wakeups.</a:t>
            </a:r>
          </a:p>
          <a:p>
            <a:r>
              <a:t>Tie back to 'While vs. If' and 'Mesa Monitors' slides.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dirty="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3200" b="0" i="0">
                <a:latin typeface="Gill Sans" panose="020B0502020104020203"/>
                <a:ea typeface="Gill Sans" panose="020B0502020104020203"/>
                <a:cs typeface="Gill Sans" panose="020B0502020104020203"/>
              </a:defRPr>
            </a:lvl1pPr>
            <a:lvl2pPr>
              <a:defRPr sz="2800" b="0" i="0">
                <a:latin typeface="Gill Sans"/>
                <a:ea typeface="Gill Sans"/>
                <a:cs typeface="Gill Sans"/>
              </a:defRPr>
            </a:lvl2pPr>
            <a:lvl3pPr>
              <a:defRPr sz="2800" b="0" i="0">
                <a:latin typeface="Gill Sans Light" charset="0"/>
                <a:ea typeface="Gill Sans" panose="020B0502020104020203"/>
                <a:cs typeface="Gill Sans" panose="020B0502020104020203"/>
              </a:defRPr>
            </a:lvl3pPr>
            <a:lvl4pPr>
              <a:defRPr sz="2800" b="0" i="0">
                <a:latin typeface="Gill Sans Light" charset="0"/>
                <a:ea typeface="Gill Sans" panose="020B0502020104020203"/>
                <a:cs typeface="Gill Sans" panose="020B0502020104020203"/>
              </a:defRPr>
            </a:lvl4pPr>
            <a:lvl5pPr>
              <a:defRPr sz="2800" b="0" i="0">
                <a:latin typeface="Gill Sans Light" charset="0"/>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3270261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254254881"/>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21114199"/>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91398415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8784133"/>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051441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3821804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48000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95115211"/>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17828337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5354535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3828691"/>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6638441"/>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8550639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slideLayout" Target="../slideLayouts/slideLayout26.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hf sldNum="0" hdr="0" ftr="0" dt="0"/>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ChangeArrowheads="1"/>
          </p:cNvSpPr>
          <p:nvPr userDrawn="1"/>
        </p:nvSpPr>
        <p:spPr bwMode="auto">
          <a:xfrm>
            <a:off x="11506200" y="6551306"/>
            <a:ext cx="530574"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r>
              <a:rPr lang="en-US" sz="1400" b="0">
                <a:solidFill>
                  <a:srgbClr val="2A40E2"/>
                </a:solidFill>
                <a:latin typeface="Gill Sans" charset="0"/>
                <a:cs typeface="Gill Sans" charset="0"/>
              </a:rPr>
              <a:t>2.</a:t>
            </a:r>
            <a:fld id="{8B82DB86-37F9-954E-8F10-00623E1FD261}" type="slidenum">
              <a:rPr lang="en-US" sz="1400" b="0" smtClean="0">
                <a:solidFill>
                  <a:srgbClr val="2A40E2"/>
                </a:solidFill>
                <a:latin typeface="Gill Sans" charset="0"/>
                <a:cs typeface="Gill Sans" charset="0"/>
              </a:rPr>
              <a:pPr algn="ctr"/>
              <a:t>‹#›</a:t>
            </a:fld>
            <a:endParaRPr lang="en-US" sz="1400" b="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extLst>
      <p:ext uri="{BB962C8B-B14F-4D97-AF65-F5344CB8AC3E}">
        <p14:creationId xmlns:p14="http://schemas.microsoft.com/office/powerpoint/2010/main" val="782803365"/>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753"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3.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4.wmf"/><Relationship Id="rId4" Type="http://schemas.openxmlformats.org/officeDocument/2006/relationships/image" Target="../media/image15.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ustomXml" Target="../ink/ink1.xml"/><Relationship Id="rId4" Type="http://schemas.openxmlformats.org/officeDocument/2006/relationships/image" Target="../media/image16.png"/><Relationship Id="rId5" Type="http://schemas.openxmlformats.org/officeDocument/2006/relationships/customXml" Target="../ink/ink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 Id="rId3"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customXml" Target="../ink/ink3.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slide" Target="slide28.xml"/><Relationship Id="rId4" Type="http://schemas.openxmlformats.org/officeDocument/2006/relationships/customXml" Target="../ink/ink4.xml"/><Relationship Id="rId5" Type="http://schemas.openxmlformats.org/officeDocument/2006/relationships/image" Target="../media/image23.png"/><Relationship Id="rId6" Type="http://schemas.openxmlformats.org/officeDocument/2006/relationships/customXml" Target="../ink/ink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customXml" Target="../ink/ink6.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slide" Target="slide29.xml"/><Relationship Id="rId4" Type="http://schemas.openxmlformats.org/officeDocument/2006/relationships/customXml" Target="../ink/ink7.xml"/><Relationship Id="rId5" Type="http://schemas.openxmlformats.org/officeDocument/2006/relationships/image" Target="../media/image23.png"/><Relationship Id="rId6" Type="http://schemas.openxmlformats.org/officeDocument/2006/relationships/customXml" Target="../ink/ink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customXml" Target="../ink/ink9.xml"/><Relationship Id="rId4" Type="http://schemas.openxmlformats.org/officeDocument/2006/relationships/image" Target="../media/image23.png"/><Relationship Id="rId5" Type="http://schemas.openxmlformats.org/officeDocument/2006/relationships/customXml" Target="../ink/ink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customXml" Target="../ink/ink11.xml"/><Relationship Id="rId4" Type="http://schemas.openxmlformats.org/officeDocument/2006/relationships/image" Target="../media/image23.png"/><Relationship Id="rId5" Type="http://schemas.openxmlformats.org/officeDocument/2006/relationships/customXml" Target="../ink/ink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customXml" Target="../ink/ink13.xml"/><Relationship Id="rId4"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youtube.com/playlist?list=PLbu9W4c-C0iAGUc7dQlqXIsXkGnHMaTEz" TargetMode="External"/><Relationship Id="rId3" Type="http://schemas.openxmlformats.org/officeDocument/2006/relationships/hyperlink" Target="https://www.youtube.com/watch?v=DvF3AsTglUU" TargetMode="External"/><Relationship Id="rId4" Type="http://schemas.openxmlformats.org/officeDocument/2006/relationships/hyperlink" Target="https://pages.cs.wisc.edu/~remzi/OSTEP/" TargetMode="External"/><Relationship Id="rId5" Type="http://schemas.openxmlformats.org/officeDocument/2006/relationships/hyperlink" Target="https://cs162.org"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3</a:t>
            </a:r>
            <a:br>
              <a:rPr lang="en-US" sz="3000" dirty="0"/>
            </a:br>
            <a:br>
              <a:rPr lang="en-US" sz="3000" dirty="0"/>
            </a:br>
            <a:r>
              <a:rPr lang="en-US" sz="3000" dirty="0"/>
              <a:t>Synchronization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0154E98-6D47-0851-88FB-96BF6FC4A29F}"/>
              </a:ext>
            </a:extLst>
          </p:cNvPr>
          <p:cNvSpPr txBox="1"/>
          <p:nvPr/>
        </p:nvSpPr>
        <p:spPr>
          <a:xfrm>
            <a:off x="2713676" y="6362881"/>
            <a:ext cx="6963724" cy="46166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p>
          <a:p>
            <a:r>
              <a:rPr lang="en-US" sz="1200" dirty="0">
                <a:latin typeface="Gill Sans Light"/>
              </a:rPr>
              <a:t>And NTNU course on Operating Systems</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2BD7E9-3361-0EF2-7D69-583791E0343B}"/>
              </a:ext>
            </a:extLst>
          </p:cNvPr>
          <p:cNvSpPr>
            <a:spLocks noGrp="1"/>
          </p:cNvSpPr>
          <p:nvPr>
            <p:ph type="title"/>
          </p:nvPr>
        </p:nvSpPr>
        <p:spPr/>
        <p:txBody>
          <a:bodyPr/>
          <a:lstStyle/>
          <a:p>
            <a:r>
              <a:rPr lang="en-US" altLang="zh-CN" dirty="0"/>
              <a:t>Outline</a:t>
            </a:r>
            <a:endParaRPr lang="en-US" dirty="0"/>
          </a:p>
        </p:txBody>
      </p:sp>
      <p:sp>
        <p:nvSpPr>
          <p:cNvPr id="3" name="内容占位符 2">
            <a:extLst>
              <a:ext uri="{FF2B5EF4-FFF2-40B4-BE49-F238E27FC236}">
                <a16:creationId xmlns:a16="http://schemas.microsoft.com/office/drawing/2014/main" id="{455BF3CE-2EC0-F6ED-873F-DC2120377176}"/>
              </a:ext>
            </a:extLst>
          </p:cNvPr>
          <p:cNvSpPr>
            <a:spLocks noGrp="1"/>
          </p:cNvSpPr>
          <p:nvPr>
            <p:ph idx="1"/>
          </p:nvPr>
        </p:nvSpPr>
        <p:spPr/>
        <p:txBody>
          <a:bodyPr/>
          <a:lstStyle/>
          <a:p>
            <a:r>
              <a:rPr lang="en-US" altLang="zh-CN" dirty="0"/>
              <a:t>Concurrency &amp; Spinlocks</a:t>
            </a:r>
          </a:p>
          <a:p>
            <a:r>
              <a:rPr lang="en-US" altLang="zh-CN" dirty="0"/>
              <a:t>Semaphores</a:t>
            </a:r>
          </a:p>
          <a:p>
            <a:r>
              <a:rPr lang="en-US" altLang="zh-CN" dirty="0"/>
              <a:t>Producer/Consumer Problem</a:t>
            </a:r>
            <a:endParaRPr lang="nb-NO" altLang="zh-CN" dirty="0"/>
          </a:p>
          <a:p>
            <a:r>
              <a:rPr lang="en-US" altLang="zh-CN" dirty="0"/>
              <a:t>Deadlock</a:t>
            </a:r>
          </a:p>
          <a:p>
            <a:r>
              <a:rPr lang="en-US" altLang="zh-CN" dirty="0"/>
              <a:t>Monitors</a:t>
            </a:r>
          </a:p>
          <a:p>
            <a:r>
              <a:rPr lang="en-US" altLang="zh-CN" dirty="0"/>
              <a:t>Thread Join Problem</a:t>
            </a:r>
          </a:p>
          <a:p>
            <a:r>
              <a:rPr lang="en-US" altLang="zh-CN" dirty="0"/>
              <a:t>Dining Philosophers</a:t>
            </a:r>
          </a:p>
          <a:p>
            <a:r>
              <a:rPr lang="en-US" altLang="zh-CN" dirty="0"/>
              <a:t>Semaphores vs. Monitors</a:t>
            </a:r>
          </a:p>
        </p:txBody>
      </p:sp>
    </p:spTree>
    <p:extLst>
      <p:ext uri="{BB962C8B-B14F-4D97-AF65-F5344CB8AC3E}">
        <p14:creationId xmlns:p14="http://schemas.microsoft.com/office/powerpoint/2010/main" val="3381018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A25E7-2442-4502-FC04-E1A36125D5DE}"/>
              </a:ext>
            </a:extLst>
          </p:cNvPr>
          <p:cNvSpPr>
            <a:spLocks noGrp="1"/>
          </p:cNvSpPr>
          <p:nvPr>
            <p:ph type="title"/>
          </p:nvPr>
        </p:nvSpPr>
        <p:spPr/>
        <p:txBody>
          <a:bodyPr/>
          <a:lstStyle/>
          <a:p>
            <a:r>
              <a:rPr lang="en-GB" dirty="0"/>
              <a:t>Different </a:t>
            </a:r>
            <a:r>
              <a:rPr lang="en-GB"/>
              <a:t>Types of Concurrency</a:t>
            </a:r>
            <a:endParaRPr lang="en-SE" dirty="0"/>
          </a:p>
        </p:txBody>
      </p:sp>
      <p:sp>
        <p:nvSpPr>
          <p:cNvPr id="3" name="Content Placeholder 2">
            <a:extLst>
              <a:ext uri="{FF2B5EF4-FFF2-40B4-BE49-F238E27FC236}">
                <a16:creationId xmlns:a16="http://schemas.microsoft.com/office/drawing/2014/main" id="{5363DD48-FF05-C9C6-F10C-A73A2ACE0239}"/>
              </a:ext>
            </a:extLst>
          </p:cNvPr>
          <p:cNvSpPr>
            <a:spLocks noGrp="1"/>
          </p:cNvSpPr>
          <p:nvPr>
            <p:ph idx="1"/>
          </p:nvPr>
        </p:nvSpPr>
        <p:spPr/>
        <p:txBody>
          <a:bodyPr/>
          <a:lstStyle/>
          <a:p>
            <a:r>
              <a:rPr lang="en-GB" dirty="0"/>
              <a:t>Multiprocessing </a:t>
            </a:r>
            <a:r>
              <a:rPr lang="en-GB" dirty="0">
                <a:sym typeface="Wingdings" panose="05000000000000000000" pitchFamily="2" charset="2"/>
              </a:rPr>
              <a:t> </a:t>
            </a:r>
            <a:r>
              <a:rPr lang="en-GB" dirty="0"/>
              <a:t>multiple CPUs running in parallel</a:t>
            </a:r>
          </a:p>
          <a:p>
            <a:r>
              <a:rPr lang="en-GB" dirty="0"/>
              <a:t>Multiprogramming </a:t>
            </a:r>
            <a:r>
              <a:rPr lang="en-GB" dirty="0">
                <a:sym typeface="Wingdings" panose="05000000000000000000" pitchFamily="2" charset="2"/>
              </a:rPr>
              <a:t> </a:t>
            </a:r>
            <a:r>
              <a:rPr lang="en-GB" dirty="0"/>
              <a:t>multiple processes scheduled on a single processor by time-sharing</a:t>
            </a:r>
          </a:p>
          <a:p>
            <a:r>
              <a:rPr lang="en-GB" dirty="0"/>
              <a:t>Multithreading</a:t>
            </a:r>
            <a:r>
              <a:rPr lang="en-GB" dirty="0">
                <a:sym typeface="Wingdings" panose="05000000000000000000" pitchFamily="2" charset="2"/>
              </a:rPr>
              <a:t>  </a:t>
            </a:r>
            <a:r>
              <a:rPr lang="en-GB" dirty="0"/>
              <a:t>multiple threads per process scheduled on a single processor by time-sharing</a:t>
            </a:r>
          </a:p>
          <a:p>
            <a:endParaRPr lang="en-SE" dirty="0"/>
          </a:p>
        </p:txBody>
      </p:sp>
      <p:grpSp>
        <p:nvGrpSpPr>
          <p:cNvPr id="6" name="Group 63">
            <a:extLst>
              <a:ext uri="{FF2B5EF4-FFF2-40B4-BE49-F238E27FC236}">
                <a16:creationId xmlns:a16="http://schemas.microsoft.com/office/drawing/2014/main" id="{AA07F4F9-8F4C-D470-4A38-0507AF03FE28}"/>
              </a:ext>
            </a:extLst>
          </p:cNvPr>
          <p:cNvGrpSpPr>
            <a:grpSpLocks/>
          </p:cNvGrpSpPr>
          <p:nvPr/>
        </p:nvGrpSpPr>
        <p:grpSpPr bwMode="auto">
          <a:xfrm>
            <a:off x="4724400" y="4876800"/>
            <a:ext cx="5105400" cy="568325"/>
            <a:chOff x="2256" y="3552"/>
            <a:chExt cx="3216" cy="358"/>
          </a:xfrm>
        </p:grpSpPr>
        <p:sp>
          <p:nvSpPr>
            <p:cNvPr id="9" name="Line 24">
              <a:extLst>
                <a:ext uri="{FF2B5EF4-FFF2-40B4-BE49-F238E27FC236}">
                  <a16:creationId xmlns:a16="http://schemas.microsoft.com/office/drawing/2014/main" id="{CFD0B548-0FEB-BB19-2A6C-9B48AA8DFCE3}"/>
                </a:ext>
              </a:extLst>
            </p:cNvPr>
            <p:cNvSpPr>
              <a:spLocks noChangeShapeType="1"/>
            </p:cNvSpPr>
            <p:nvPr/>
          </p:nvSpPr>
          <p:spPr bwMode="auto">
            <a:xfrm>
              <a:off x="3792"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0" name="Line 29">
              <a:extLst>
                <a:ext uri="{FF2B5EF4-FFF2-40B4-BE49-F238E27FC236}">
                  <a16:creationId xmlns:a16="http://schemas.microsoft.com/office/drawing/2014/main" id="{C50A75F7-B950-BA02-5B58-6B22DCDE1333}"/>
                </a:ext>
              </a:extLst>
            </p:cNvPr>
            <p:cNvSpPr>
              <a:spLocks noChangeShapeType="1"/>
            </p:cNvSpPr>
            <p:nvPr/>
          </p:nvSpPr>
          <p:spPr bwMode="auto">
            <a:xfrm>
              <a:off x="3792"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1" name="Text Box 31">
              <a:extLst>
                <a:ext uri="{FF2B5EF4-FFF2-40B4-BE49-F238E27FC236}">
                  <a16:creationId xmlns:a16="http://schemas.microsoft.com/office/drawing/2014/main" id="{60BA4630-DCB2-145E-FA4E-5EAD9873DA59}"/>
                </a:ext>
              </a:extLst>
            </p:cNvPr>
            <p:cNvSpPr txBox="1">
              <a:spLocks noChangeArrowheads="1"/>
            </p:cNvSpPr>
            <p:nvPr/>
          </p:nvSpPr>
          <p:spPr bwMode="auto">
            <a:xfrm>
              <a:off x="3880"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12" name="Line 35">
              <a:extLst>
                <a:ext uri="{FF2B5EF4-FFF2-40B4-BE49-F238E27FC236}">
                  <a16:creationId xmlns:a16="http://schemas.microsoft.com/office/drawing/2014/main" id="{1F3E2926-16E3-53D2-DAD8-5707BEFC3030}"/>
                </a:ext>
              </a:extLst>
            </p:cNvPr>
            <p:cNvSpPr>
              <a:spLocks noChangeShapeType="1"/>
            </p:cNvSpPr>
            <p:nvPr/>
          </p:nvSpPr>
          <p:spPr bwMode="auto">
            <a:xfrm>
              <a:off x="2256"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3" name="Line 36">
              <a:extLst>
                <a:ext uri="{FF2B5EF4-FFF2-40B4-BE49-F238E27FC236}">
                  <a16:creationId xmlns:a16="http://schemas.microsoft.com/office/drawing/2014/main" id="{BF126406-EE12-E4D3-5734-691A05AAFACB}"/>
                </a:ext>
              </a:extLst>
            </p:cNvPr>
            <p:cNvSpPr>
              <a:spLocks noChangeShapeType="1"/>
            </p:cNvSpPr>
            <p:nvPr/>
          </p:nvSpPr>
          <p:spPr bwMode="auto">
            <a:xfrm>
              <a:off x="225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4" name="Text Box 37">
              <a:extLst>
                <a:ext uri="{FF2B5EF4-FFF2-40B4-BE49-F238E27FC236}">
                  <a16:creationId xmlns:a16="http://schemas.microsoft.com/office/drawing/2014/main" id="{C60329A9-0AF1-4D12-5C70-CF505E56464D}"/>
                </a:ext>
              </a:extLst>
            </p:cNvPr>
            <p:cNvSpPr txBox="1">
              <a:spLocks noChangeArrowheads="1"/>
            </p:cNvSpPr>
            <p:nvPr/>
          </p:nvSpPr>
          <p:spPr bwMode="auto">
            <a:xfrm>
              <a:off x="2337"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5" name="Line 39">
              <a:extLst>
                <a:ext uri="{FF2B5EF4-FFF2-40B4-BE49-F238E27FC236}">
                  <a16:creationId xmlns:a16="http://schemas.microsoft.com/office/drawing/2014/main" id="{37CCE89E-14F1-2002-14B2-A8B45C8321DF}"/>
                </a:ext>
              </a:extLst>
            </p:cNvPr>
            <p:cNvSpPr>
              <a:spLocks noChangeShapeType="1"/>
            </p:cNvSpPr>
            <p:nvPr/>
          </p:nvSpPr>
          <p:spPr bwMode="auto">
            <a:xfrm>
              <a:off x="3408"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6" name="Line 40">
              <a:extLst>
                <a:ext uri="{FF2B5EF4-FFF2-40B4-BE49-F238E27FC236}">
                  <a16:creationId xmlns:a16="http://schemas.microsoft.com/office/drawing/2014/main" id="{3EA3133F-7B59-DD31-EB4A-FCA8B38D09B4}"/>
                </a:ext>
              </a:extLst>
            </p:cNvPr>
            <p:cNvSpPr>
              <a:spLocks noChangeShapeType="1"/>
            </p:cNvSpPr>
            <p:nvPr/>
          </p:nvSpPr>
          <p:spPr bwMode="auto">
            <a:xfrm>
              <a:off x="3408"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7" name="Text Box 41">
              <a:extLst>
                <a:ext uri="{FF2B5EF4-FFF2-40B4-BE49-F238E27FC236}">
                  <a16:creationId xmlns:a16="http://schemas.microsoft.com/office/drawing/2014/main" id="{2EC66E5A-19FF-45CB-3EF9-43D5724483E2}"/>
                </a:ext>
              </a:extLst>
            </p:cNvPr>
            <p:cNvSpPr txBox="1">
              <a:spLocks noChangeArrowheads="1"/>
            </p:cNvSpPr>
            <p:nvPr/>
          </p:nvSpPr>
          <p:spPr bwMode="auto">
            <a:xfrm>
              <a:off x="3489"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8" name="Line 43">
              <a:extLst>
                <a:ext uri="{FF2B5EF4-FFF2-40B4-BE49-F238E27FC236}">
                  <a16:creationId xmlns:a16="http://schemas.microsoft.com/office/drawing/2014/main" id="{D493E17A-21FB-C456-D716-E2FBF04CF7F1}"/>
                </a:ext>
              </a:extLst>
            </p:cNvPr>
            <p:cNvSpPr>
              <a:spLocks noChangeShapeType="1"/>
            </p:cNvSpPr>
            <p:nvPr/>
          </p:nvSpPr>
          <p:spPr bwMode="auto">
            <a:xfrm>
              <a:off x="3024"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9" name="Line 44">
              <a:extLst>
                <a:ext uri="{FF2B5EF4-FFF2-40B4-BE49-F238E27FC236}">
                  <a16:creationId xmlns:a16="http://schemas.microsoft.com/office/drawing/2014/main" id="{B2686E00-358A-B27D-5D5C-DA38580F1095}"/>
                </a:ext>
              </a:extLst>
            </p:cNvPr>
            <p:cNvSpPr>
              <a:spLocks noChangeShapeType="1"/>
            </p:cNvSpPr>
            <p:nvPr/>
          </p:nvSpPr>
          <p:spPr bwMode="auto">
            <a:xfrm>
              <a:off x="3024"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0" name="Text Box 45">
              <a:extLst>
                <a:ext uri="{FF2B5EF4-FFF2-40B4-BE49-F238E27FC236}">
                  <a16:creationId xmlns:a16="http://schemas.microsoft.com/office/drawing/2014/main" id="{12514C54-4A2F-EDA8-F4DC-57F3432EE15D}"/>
                </a:ext>
              </a:extLst>
            </p:cNvPr>
            <p:cNvSpPr txBox="1">
              <a:spLocks noChangeArrowheads="1"/>
            </p:cNvSpPr>
            <p:nvPr/>
          </p:nvSpPr>
          <p:spPr bwMode="auto">
            <a:xfrm>
              <a:off x="3113"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1" name="Line 47">
              <a:extLst>
                <a:ext uri="{FF2B5EF4-FFF2-40B4-BE49-F238E27FC236}">
                  <a16:creationId xmlns:a16="http://schemas.microsoft.com/office/drawing/2014/main" id="{C8D994DA-65F4-147B-D061-1720CE84F6B7}"/>
                </a:ext>
              </a:extLst>
            </p:cNvPr>
            <p:cNvSpPr>
              <a:spLocks noChangeShapeType="1"/>
            </p:cNvSpPr>
            <p:nvPr/>
          </p:nvSpPr>
          <p:spPr bwMode="auto">
            <a:xfrm>
              <a:off x="2640"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2" name="Line 48">
              <a:extLst>
                <a:ext uri="{FF2B5EF4-FFF2-40B4-BE49-F238E27FC236}">
                  <a16:creationId xmlns:a16="http://schemas.microsoft.com/office/drawing/2014/main" id="{91315D1A-3A35-EA42-B20C-CB795CFD26BC}"/>
                </a:ext>
              </a:extLst>
            </p:cNvPr>
            <p:cNvSpPr>
              <a:spLocks noChangeShapeType="1"/>
            </p:cNvSpPr>
            <p:nvPr/>
          </p:nvSpPr>
          <p:spPr bwMode="auto">
            <a:xfrm>
              <a:off x="264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3" name="Text Box 49">
              <a:extLst>
                <a:ext uri="{FF2B5EF4-FFF2-40B4-BE49-F238E27FC236}">
                  <a16:creationId xmlns:a16="http://schemas.microsoft.com/office/drawing/2014/main" id="{C9B087C7-0676-7743-B86B-D863F77CE589}"/>
                </a:ext>
              </a:extLst>
            </p:cNvPr>
            <p:cNvSpPr txBox="1">
              <a:spLocks noChangeArrowheads="1"/>
            </p:cNvSpPr>
            <p:nvPr/>
          </p:nvSpPr>
          <p:spPr bwMode="auto">
            <a:xfrm>
              <a:off x="2728"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24" name="Line 51">
              <a:extLst>
                <a:ext uri="{FF2B5EF4-FFF2-40B4-BE49-F238E27FC236}">
                  <a16:creationId xmlns:a16="http://schemas.microsoft.com/office/drawing/2014/main" id="{9E2BB443-B97F-A3C1-D6E8-D56610C782F3}"/>
                </a:ext>
              </a:extLst>
            </p:cNvPr>
            <p:cNvSpPr>
              <a:spLocks noChangeShapeType="1"/>
            </p:cNvSpPr>
            <p:nvPr/>
          </p:nvSpPr>
          <p:spPr bwMode="auto">
            <a:xfrm>
              <a:off x="4176"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5" name="Line 52">
              <a:extLst>
                <a:ext uri="{FF2B5EF4-FFF2-40B4-BE49-F238E27FC236}">
                  <a16:creationId xmlns:a16="http://schemas.microsoft.com/office/drawing/2014/main" id="{7A999B4B-4C29-65D8-424D-906779A8496E}"/>
                </a:ext>
              </a:extLst>
            </p:cNvPr>
            <p:cNvSpPr>
              <a:spLocks noChangeShapeType="1"/>
            </p:cNvSpPr>
            <p:nvPr/>
          </p:nvSpPr>
          <p:spPr bwMode="auto">
            <a:xfrm>
              <a:off x="417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6" name="Text Box 53">
              <a:extLst>
                <a:ext uri="{FF2B5EF4-FFF2-40B4-BE49-F238E27FC236}">
                  <a16:creationId xmlns:a16="http://schemas.microsoft.com/office/drawing/2014/main" id="{AC7CFC57-7025-E84A-82C5-5514DE2EB2D0}"/>
                </a:ext>
              </a:extLst>
            </p:cNvPr>
            <p:cNvSpPr txBox="1">
              <a:spLocks noChangeArrowheads="1"/>
            </p:cNvSpPr>
            <p:nvPr/>
          </p:nvSpPr>
          <p:spPr bwMode="auto">
            <a:xfrm>
              <a:off x="4265"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7" name="Line 55">
              <a:extLst>
                <a:ext uri="{FF2B5EF4-FFF2-40B4-BE49-F238E27FC236}">
                  <a16:creationId xmlns:a16="http://schemas.microsoft.com/office/drawing/2014/main" id="{076E2D88-0761-C2FE-7647-119EE3A0D317}"/>
                </a:ext>
              </a:extLst>
            </p:cNvPr>
            <p:cNvSpPr>
              <a:spLocks noChangeShapeType="1"/>
            </p:cNvSpPr>
            <p:nvPr/>
          </p:nvSpPr>
          <p:spPr bwMode="auto">
            <a:xfrm>
              <a:off x="4560" y="3814"/>
              <a:ext cx="912"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8" name="Line 56">
              <a:extLst>
                <a:ext uri="{FF2B5EF4-FFF2-40B4-BE49-F238E27FC236}">
                  <a16:creationId xmlns:a16="http://schemas.microsoft.com/office/drawing/2014/main" id="{CDC16420-BED0-5D20-659D-0D499C6F130C}"/>
                </a:ext>
              </a:extLst>
            </p:cNvPr>
            <p:cNvSpPr>
              <a:spLocks noChangeShapeType="1"/>
            </p:cNvSpPr>
            <p:nvPr/>
          </p:nvSpPr>
          <p:spPr bwMode="auto">
            <a:xfrm>
              <a:off x="456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9" name="Text Box 57">
              <a:extLst>
                <a:ext uri="{FF2B5EF4-FFF2-40B4-BE49-F238E27FC236}">
                  <a16:creationId xmlns:a16="http://schemas.microsoft.com/office/drawing/2014/main" id="{3E4BD5AC-B9EF-7A7F-C003-7D7B6AA06462}"/>
                </a:ext>
              </a:extLst>
            </p:cNvPr>
            <p:cNvSpPr txBox="1">
              <a:spLocks noChangeArrowheads="1"/>
            </p:cNvSpPr>
            <p:nvPr/>
          </p:nvSpPr>
          <p:spPr bwMode="auto">
            <a:xfrm>
              <a:off x="4944"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30" name="Line 58">
              <a:extLst>
                <a:ext uri="{FF2B5EF4-FFF2-40B4-BE49-F238E27FC236}">
                  <a16:creationId xmlns:a16="http://schemas.microsoft.com/office/drawing/2014/main" id="{F82682DC-C408-A403-2F87-572C6D369918}"/>
                </a:ext>
              </a:extLst>
            </p:cNvPr>
            <p:cNvSpPr>
              <a:spLocks noChangeShapeType="1"/>
            </p:cNvSpPr>
            <p:nvPr/>
          </p:nvSpPr>
          <p:spPr bwMode="auto">
            <a:xfrm>
              <a:off x="5464" y="3713"/>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7" name="AutoShape 65">
            <a:extLst>
              <a:ext uri="{FF2B5EF4-FFF2-40B4-BE49-F238E27FC236}">
                <a16:creationId xmlns:a16="http://schemas.microsoft.com/office/drawing/2014/main" id="{BAABB86C-B897-B7F7-DA63-9F7941AA5632}"/>
              </a:ext>
            </a:extLst>
          </p:cNvPr>
          <p:cNvSpPr>
            <a:spLocks/>
          </p:cNvSpPr>
          <p:nvPr/>
        </p:nvSpPr>
        <p:spPr bwMode="auto">
          <a:xfrm>
            <a:off x="3860039" y="4927600"/>
            <a:ext cx="609600" cy="644525"/>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8" name="Text Box 66">
            <a:extLst>
              <a:ext uri="{FF2B5EF4-FFF2-40B4-BE49-F238E27FC236}">
                <a16:creationId xmlns:a16="http://schemas.microsoft.com/office/drawing/2014/main" id="{F04C639A-D869-F5AB-C953-73C13ABC0E1F}"/>
              </a:ext>
            </a:extLst>
          </p:cNvPr>
          <p:cNvSpPr txBox="1">
            <a:spLocks noChangeArrowheads="1"/>
          </p:cNvSpPr>
          <p:nvPr/>
        </p:nvSpPr>
        <p:spPr bwMode="auto">
          <a:xfrm>
            <a:off x="1503003" y="4842256"/>
            <a:ext cx="2465740" cy="923330"/>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Multiprogramming or</a:t>
            </a:r>
          </a:p>
          <a:p>
            <a:r>
              <a:rPr lang="en-US" altLang="ko-KR" dirty="0">
                <a:ea typeface="Gulim" panose="020B0600000101010101" pitchFamily="34" charset="-127"/>
              </a:rPr>
              <a:t>Multithreading on a </a:t>
            </a:r>
          </a:p>
          <a:p>
            <a:r>
              <a:rPr lang="en-US" altLang="ko-KR" dirty="0">
                <a:ea typeface="Gulim" panose="020B0600000101010101" pitchFamily="34" charset="-127"/>
              </a:rPr>
              <a:t>single processor</a:t>
            </a:r>
          </a:p>
        </p:txBody>
      </p:sp>
      <p:grpSp>
        <p:nvGrpSpPr>
          <p:cNvPr id="37" name="Group 69">
            <a:extLst>
              <a:ext uri="{FF2B5EF4-FFF2-40B4-BE49-F238E27FC236}">
                <a16:creationId xmlns:a16="http://schemas.microsoft.com/office/drawing/2014/main" id="{F1C9D7FB-75AD-CDB0-2426-617244DF25C0}"/>
              </a:ext>
            </a:extLst>
          </p:cNvPr>
          <p:cNvGrpSpPr>
            <a:grpSpLocks/>
          </p:cNvGrpSpPr>
          <p:nvPr/>
        </p:nvGrpSpPr>
        <p:grpSpPr bwMode="auto">
          <a:xfrm>
            <a:off x="1762125" y="3124200"/>
            <a:ext cx="5575300" cy="1143000"/>
            <a:chOff x="294" y="2496"/>
            <a:chExt cx="3512" cy="720"/>
          </a:xfrm>
        </p:grpSpPr>
        <p:grpSp>
          <p:nvGrpSpPr>
            <p:cNvPr id="38" name="Group 61">
              <a:extLst>
                <a:ext uri="{FF2B5EF4-FFF2-40B4-BE49-F238E27FC236}">
                  <a16:creationId xmlns:a16="http://schemas.microsoft.com/office/drawing/2014/main" id="{AC37AD16-5129-2897-C45C-109A584CA87B}"/>
                </a:ext>
              </a:extLst>
            </p:cNvPr>
            <p:cNvGrpSpPr>
              <a:grpSpLocks/>
            </p:cNvGrpSpPr>
            <p:nvPr/>
          </p:nvGrpSpPr>
          <p:grpSpPr bwMode="auto">
            <a:xfrm>
              <a:off x="2112" y="2496"/>
              <a:ext cx="1694" cy="615"/>
              <a:chOff x="2208" y="2448"/>
              <a:chExt cx="1694" cy="615"/>
            </a:xfrm>
          </p:grpSpPr>
          <p:sp>
            <p:nvSpPr>
              <p:cNvPr id="41" name="Text Box 4">
                <a:extLst>
                  <a:ext uri="{FF2B5EF4-FFF2-40B4-BE49-F238E27FC236}">
                    <a16:creationId xmlns:a16="http://schemas.microsoft.com/office/drawing/2014/main" id="{A6604946-354B-29C4-DC13-208F1AB725B9}"/>
                  </a:ext>
                </a:extLst>
              </p:cNvPr>
              <p:cNvSpPr txBox="1">
                <a:spLocks noChangeArrowheads="1"/>
              </p:cNvSpPr>
              <p:nvPr/>
            </p:nvSpPr>
            <p:spPr bwMode="auto">
              <a:xfrm>
                <a:off x="2208" y="2448"/>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42" name="Line 7">
                <a:extLst>
                  <a:ext uri="{FF2B5EF4-FFF2-40B4-BE49-F238E27FC236}">
                    <a16:creationId xmlns:a16="http://schemas.microsoft.com/office/drawing/2014/main" id="{BED0BDF1-BFCA-B13C-E77D-F6EFCED51607}"/>
                  </a:ext>
                </a:extLst>
              </p:cNvPr>
              <p:cNvSpPr>
                <a:spLocks noChangeShapeType="1"/>
              </p:cNvSpPr>
              <p:nvPr/>
            </p:nvSpPr>
            <p:spPr bwMode="auto">
              <a:xfrm>
                <a:off x="2414" y="2566"/>
                <a:ext cx="672" cy="0"/>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3" name="Text Box 5">
                <a:extLst>
                  <a:ext uri="{FF2B5EF4-FFF2-40B4-BE49-F238E27FC236}">
                    <a16:creationId xmlns:a16="http://schemas.microsoft.com/office/drawing/2014/main" id="{1DE05912-93E5-592C-ACC1-B07D04C558EE}"/>
                  </a:ext>
                </a:extLst>
              </p:cNvPr>
              <p:cNvSpPr txBox="1">
                <a:spLocks noChangeArrowheads="1"/>
              </p:cNvSpPr>
              <p:nvPr/>
            </p:nvSpPr>
            <p:spPr bwMode="auto">
              <a:xfrm>
                <a:off x="2208" y="2640"/>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44" name="Line 8">
                <a:extLst>
                  <a:ext uri="{FF2B5EF4-FFF2-40B4-BE49-F238E27FC236}">
                    <a16:creationId xmlns:a16="http://schemas.microsoft.com/office/drawing/2014/main" id="{9F854856-E734-C911-CDD2-46812EBB4C5A}"/>
                  </a:ext>
                </a:extLst>
              </p:cNvPr>
              <p:cNvSpPr>
                <a:spLocks noChangeShapeType="1"/>
              </p:cNvSpPr>
              <p:nvPr/>
            </p:nvSpPr>
            <p:spPr bwMode="auto">
              <a:xfrm>
                <a:off x="2414" y="2736"/>
                <a:ext cx="1488" cy="0"/>
              </a:xfrm>
              <a:prstGeom prst="line">
                <a:avLst/>
              </a:prstGeom>
              <a:noFill/>
              <a:ln w="76200">
                <a:solidFill>
                  <a:srgbClr val="FF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5" name="Text Box 6">
                <a:extLst>
                  <a:ext uri="{FF2B5EF4-FFF2-40B4-BE49-F238E27FC236}">
                    <a16:creationId xmlns:a16="http://schemas.microsoft.com/office/drawing/2014/main" id="{C2BA570A-AA9D-0043-C30B-415EF2C7A588}"/>
                  </a:ext>
                </a:extLst>
              </p:cNvPr>
              <p:cNvSpPr txBox="1">
                <a:spLocks noChangeArrowheads="1"/>
              </p:cNvSpPr>
              <p:nvPr/>
            </p:nvSpPr>
            <p:spPr bwMode="auto">
              <a:xfrm>
                <a:off x="2208" y="283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46" name="Line 9">
                <a:extLst>
                  <a:ext uri="{FF2B5EF4-FFF2-40B4-BE49-F238E27FC236}">
                    <a16:creationId xmlns:a16="http://schemas.microsoft.com/office/drawing/2014/main" id="{10388868-F607-D9C1-C5DF-325E7858CFC2}"/>
                  </a:ext>
                </a:extLst>
              </p:cNvPr>
              <p:cNvSpPr>
                <a:spLocks noChangeShapeType="1"/>
              </p:cNvSpPr>
              <p:nvPr/>
            </p:nvSpPr>
            <p:spPr bwMode="auto">
              <a:xfrm>
                <a:off x="2414" y="2928"/>
                <a:ext cx="480" cy="0"/>
              </a:xfrm>
              <a:prstGeom prst="line">
                <a:avLst/>
              </a:prstGeom>
              <a:noFill/>
              <a:ln w="76200">
                <a:solidFill>
                  <a:srgbClr val="2A40E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39" name="Text Box 64">
              <a:extLst>
                <a:ext uri="{FF2B5EF4-FFF2-40B4-BE49-F238E27FC236}">
                  <a16:creationId xmlns:a16="http://schemas.microsoft.com/office/drawing/2014/main" id="{CCEDD2EC-F45D-A121-4D4D-70A826428297}"/>
                </a:ext>
              </a:extLst>
            </p:cNvPr>
            <p:cNvSpPr txBox="1">
              <a:spLocks noChangeArrowheads="1"/>
            </p:cNvSpPr>
            <p:nvPr/>
          </p:nvSpPr>
          <p:spPr bwMode="auto">
            <a:xfrm>
              <a:off x="294" y="2704"/>
              <a:ext cx="1399" cy="407"/>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Multiprocessing on</a:t>
              </a:r>
            </a:p>
            <a:p>
              <a:r>
                <a:rPr lang="en-US" altLang="ko-KR" dirty="0">
                  <a:ea typeface="Gulim" panose="020B0600000101010101" pitchFamily="34" charset="-127"/>
                </a:rPr>
                <a:t>multiprocessor</a:t>
              </a:r>
            </a:p>
          </p:txBody>
        </p:sp>
        <p:sp>
          <p:nvSpPr>
            <p:cNvPr id="40" name="AutoShape 68">
              <a:extLst>
                <a:ext uri="{FF2B5EF4-FFF2-40B4-BE49-F238E27FC236}">
                  <a16:creationId xmlns:a16="http://schemas.microsoft.com/office/drawing/2014/main" id="{9B19B5CC-7EAF-0D02-AC5F-0ACADC818ECE}"/>
                </a:ext>
              </a:extLst>
            </p:cNvPr>
            <p:cNvSpPr>
              <a:spLocks/>
            </p:cNvSpPr>
            <p:nvPr/>
          </p:nvSpPr>
          <p:spPr bwMode="auto">
            <a:xfrm>
              <a:off x="1654" y="2496"/>
              <a:ext cx="384" cy="720"/>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grpSp>
    </p:spTree>
    <p:extLst>
      <p:ext uri="{BB962C8B-B14F-4D97-AF65-F5344CB8AC3E}">
        <p14:creationId xmlns:p14="http://schemas.microsoft.com/office/powerpoint/2010/main" val="103747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032A25-6059-35EE-CC4D-E9A5D1472D2C}"/>
              </a:ext>
            </a:extLst>
          </p:cNvPr>
          <p:cNvSpPr>
            <a:spLocks noGrp="1"/>
          </p:cNvSpPr>
          <p:nvPr>
            <p:ph type="title"/>
          </p:nvPr>
        </p:nvSpPr>
        <p:spPr/>
        <p:txBody>
          <a:bodyPr/>
          <a:lstStyle/>
          <a:p>
            <a:r>
              <a:rPr lang="en-US" altLang="zh-CN" dirty="0"/>
              <a:t>Concurrency</a:t>
            </a:r>
            <a:endParaRPr lang="en-US" dirty="0"/>
          </a:p>
        </p:txBody>
      </p:sp>
      <p:sp>
        <p:nvSpPr>
          <p:cNvPr id="5" name="Plassholder for innhold 2">
            <a:extLst>
              <a:ext uri="{FF2B5EF4-FFF2-40B4-BE49-F238E27FC236}">
                <a16:creationId xmlns:a16="http://schemas.microsoft.com/office/drawing/2014/main" id="{73098D89-A25D-664B-2795-2EC7A8EF17F9}"/>
              </a:ext>
            </a:extLst>
          </p:cNvPr>
          <p:cNvSpPr txBox="1">
            <a:spLocks/>
          </p:cNvSpPr>
          <p:nvPr/>
        </p:nvSpPr>
        <p:spPr>
          <a:xfrm>
            <a:off x="375650" y="790350"/>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stdio.h</a:t>
            </a:r>
            <a:r>
              <a:rPr lang="en-US" altLang="zh-CN" sz="1600" b="0" i="1" dirty="0">
                <a:solidFill>
                  <a:srgbClr val="3D7B7B"/>
                </a:solidFill>
              </a:rPr>
              <a:t>&gt;</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stdlib.h</a:t>
            </a:r>
            <a:r>
              <a:rPr lang="en-US" altLang="zh-CN" sz="1600" b="0" i="1" dirty="0">
                <a:solidFill>
                  <a:srgbClr val="3D7B7B"/>
                </a:solidFill>
              </a:rPr>
              <a:t>&gt;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common.h</a:t>
            </a:r>
            <a:r>
              <a:rPr lang="en-US" altLang="zh-CN" sz="1600" b="0" i="1" dirty="0">
                <a:solidFill>
                  <a:srgbClr val="3D7B7B"/>
                </a:solidFill>
              </a:rPr>
              <a: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common_threads.h</a:t>
            </a:r>
            <a:r>
              <a:rPr lang="en-US" altLang="zh-CN" sz="1600" b="0" i="1" dirty="0">
                <a:solidFill>
                  <a:srgbClr val="3D7B7B"/>
                </a:solidFill>
              </a:rPr>
              <a:t>"</a:t>
            </a:r>
          </a:p>
          <a:p>
            <a:pPr marL="0" indent="0">
              <a:buNone/>
            </a:pPr>
            <a:endParaRPr lang="en-US" altLang="zh-CN" sz="1600" b="0" dirty="0">
              <a:solidFill>
                <a:srgbClr val="008000"/>
              </a:solidFill>
            </a:endParaRP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counter</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loops; </a:t>
            </a:r>
          </a:p>
          <a:p>
            <a:pPr marL="0" indent="0">
              <a:buNone/>
            </a:pP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a:solidFill>
                  <a:srgbClr val="0000FF"/>
                </a:solidFill>
              </a:rPr>
              <a:t>worker</a:t>
            </a:r>
            <a:r>
              <a:rPr lang="en-US" altLang="zh-CN" sz="1600" b="0" dirty="0"/>
              <a:t>(</a:t>
            </a: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err="1"/>
              <a:t>arg</a:t>
            </a:r>
            <a:r>
              <a:rPr lang="en-US" altLang="zh-CN" sz="1600" b="0" dirty="0"/>
              <a:t>)</a:t>
            </a:r>
            <a:r>
              <a:rPr lang="en-US" altLang="zh-CN" sz="1600" b="0" dirty="0">
                <a:solidFill>
                  <a:srgbClr val="BBBBBB"/>
                </a:solidFill>
              </a:rPr>
              <a:t> </a:t>
            </a:r>
            <a:r>
              <a:rPr lang="en-US" altLang="zh-CN" sz="1600" b="0" dirty="0"/>
              <a:t>{ </a:t>
            </a:r>
          </a:p>
          <a:p>
            <a:pPr marL="0" indent="0">
              <a:buNone/>
            </a:pPr>
            <a:r>
              <a:rPr lang="en-US" altLang="zh-CN" sz="1600" b="0" dirty="0">
                <a:solidFill>
                  <a:srgbClr val="B00040"/>
                </a:solidFill>
              </a:rPr>
              <a:t>	int</a:t>
            </a:r>
            <a:r>
              <a:rPr lang="en-US" altLang="zh-CN" sz="1600" b="0" dirty="0">
                <a:solidFill>
                  <a:srgbClr val="BBBBBB"/>
                </a:solidFill>
              </a:rPr>
              <a:t> </a:t>
            </a:r>
            <a:r>
              <a:rPr lang="en-US" altLang="zh-CN" sz="1600" b="0" dirty="0" err="1"/>
              <a:t>i</a:t>
            </a:r>
            <a:r>
              <a:rPr lang="en-US" altLang="zh-CN" sz="1600" b="0" dirty="0"/>
              <a:t>; </a:t>
            </a:r>
          </a:p>
          <a:p>
            <a:pPr marL="0" indent="0">
              <a:buNone/>
            </a:pPr>
            <a:r>
              <a:rPr lang="en-US" altLang="zh-CN" sz="1600" b="0" dirty="0">
                <a:solidFill>
                  <a:srgbClr val="008000"/>
                </a:solidFill>
              </a:rPr>
              <a:t>	for</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&lt;</a:t>
            </a:r>
            <a:r>
              <a:rPr lang="en-US" altLang="zh-CN" sz="1600" b="0" dirty="0">
                <a:solidFill>
                  <a:srgbClr val="BBBBBB"/>
                </a:solidFill>
              </a:rPr>
              <a:t> </a:t>
            </a:r>
            <a:r>
              <a:rPr lang="en-US" altLang="zh-CN" sz="1600" b="0" dirty="0" err="1"/>
              <a:t>loops;i</a:t>
            </a:r>
            <a:r>
              <a:rPr lang="en-US" altLang="zh-CN" sz="1600" b="0" dirty="0">
                <a:solidFill>
                  <a:srgbClr val="666666"/>
                </a:solidFill>
              </a:rPr>
              <a:t>++</a:t>
            </a:r>
            <a:r>
              <a:rPr lang="en-US" altLang="zh-CN" sz="1600" b="0" dirty="0"/>
              <a:t>)</a:t>
            </a:r>
            <a:r>
              <a:rPr lang="en-US" altLang="zh-CN" sz="1600" b="0" dirty="0">
                <a:solidFill>
                  <a:srgbClr val="BBBBBB"/>
                </a:solidFill>
              </a:rPr>
              <a:t> 	</a:t>
            </a:r>
            <a:r>
              <a:rPr lang="en-US" altLang="zh-CN" sz="1600" b="0" dirty="0"/>
              <a:t>{counter</a:t>
            </a:r>
            <a:r>
              <a:rPr lang="en-US" altLang="zh-CN" sz="1600" b="0" dirty="0">
                <a:solidFill>
                  <a:srgbClr val="666666"/>
                </a:solidFill>
              </a:rPr>
              <a:t>++</a:t>
            </a:r>
            <a:r>
              <a:rPr lang="en-US" altLang="zh-CN" sz="1600" b="0" dirty="0"/>
              <a:t>; } </a:t>
            </a:r>
          </a:p>
          <a:p>
            <a:pPr marL="0" indent="0">
              <a:buNone/>
            </a:pPr>
            <a:r>
              <a:rPr lang="zh-CN" altLang="en-US" sz="1600" b="0" dirty="0">
                <a:solidFill>
                  <a:srgbClr val="008000"/>
                </a:solidFill>
              </a:rPr>
              <a:t>        </a:t>
            </a:r>
            <a:r>
              <a:rPr lang="en-US" altLang="zh-CN" sz="1600" b="0" dirty="0">
                <a:solidFill>
                  <a:srgbClr val="008000"/>
                </a:solidFill>
              </a:rPr>
              <a:t>return</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a:t>
            </a:r>
            <a:endParaRPr lang="nb-NO" sz="1600" b="0" dirty="0"/>
          </a:p>
        </p:txBody>
      </p:sp>
      <p:sp>
        <p:nvSpPr>
          <p:cNvPr id="6" name="Plassholder for innhold 2">
            <a:extLst>
              <a:ext uri="{FF2B5EF4-FFF2-40B4-BE49-F238E27FC236}">
                <a16:creationId xmlns:a16="http://schemas.microsoft.com/office/drawing/2014/main" id="{852474F5-ACE0-59CD-AB00-FA592FA2D415}"/>
              </a:ext>
            </a:extLst>
          </p:cNvPr>
          <p:cNvSpPr txBox="1">
            <a:spLocks/>
          </p:cNvSpPr>
          <p:nvPr/>
        </p:nvSpPr>
        <p:spPr>
          <a:xfrm>
            <a:off x="3784764" y="807595"/>
            <a:ext cx="551179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solidFill>
                  <a:srgbClr val="0000FF"/>
                </a:solidFill>
              </a:rPr>
              <a:t>main</a:t>
            </a:r>
            <a:r>
              <a:rPr lang="en-US" altLang="zh-CN" sz="1600" b="0" dirty="0"/>
              <a:t>(</a:t>
            </a:r>
            <a:r>
              <a:rPr lang="en-US" altLang="zh-CN" sz="1600" b="0" dirty="0">
                <a:solidFill>
                  <a:srgbClr val="B00040"/>
                </a:solidFill>
              </a:rPr>
              <a:t>int</a:t>
            </a:r>
            <a:r>
              <a:rPr lang="en-US" altLang="zh-CN" sz="1600" b="0" dirty="0">
                <a:solidFill>
                  <a:srgbClr val="BBBBBB"/>
                </a:solidFill>
              </a:rPr>
              <a:t> </a:t>
            </a:r>
            <a:r>
              <a:rPr lang="en-US" altLang="zh-CN" sz="1600" b="0" dirty="0" err="1"/>
              <a:t>argc</a:t>
            </a:r>
            <a:r>
              <a:rPr lang="en-US" altLang="zh-CN" sz="1600" b="0" dirty="0"/>
              <a:t>,</a:t>
            </a:r>
            <a:r>
              <a:rPr lang="en-US" altLang="zh-CN" sz="1600" b="0" dirty="0">
                <a:solidFill>
                  <a:srgbClr val="BBBBBB"/>
                </a:solidFill>
              </a:rPr>
              <a:t> </a:t>
            </a:r>
            <a:r>
              <a:rPr lang="en-US" altLang="zh-CN" sz="1600" b="0" dirty="0">
                <a:solidFill>
                  <a:srgbClr val="B00040"/>
                </a:solidFill>
              </a:rPr>
              <a:t>char</a:t>
            </a:r>
            <a:r>
              <a:rPr lang="en-US" altLang="zh-CN" sz="1600" b="0" dirty="0">
                <a:solidFill>
                  <a:srgbClr val="BBBBBB"/>
                </a:solidFill>
              </a:rPr>
              <a:t> </a:t>
            </a:r>
            <a:r>
              <a:rPr lang="en-US" altLang="zh-CN" sz="1600" b="0" dirty="0">
                <a:solidFill>
                  <a:srgbClr val="666666"/>
                </a:solidFill>
              </a:rPr>
              <a:t>*</a:t>
            </a:r>
            <a:r>
              <a:rPr lang="en-US" altLang="zh-CN" sz="1600" b="0" dirty="0" err="1"/>
              <a:t>argv</a:t>
            </a:r>
            <a:r>
              <a:rPr lang="en-US" altLang="zh-CN" sz="1600" b="0" dirty="0"/>
              <a:t>[])</a:t>
            </a:r>
            <a:r>
              <a:rPr lang="en-US" altLang="zh-CN" sz="1600" b="0" dirty="0">
                <a:solidFill>
                  <a:srgbClr val="BBBBBB"/>
                </a:solidFill>
              </a:rPr>
              <a:t> </a:t>
            </a:r>
          </a:p>
          <a:p>
            <a:pPr marL="0" indent="0">
              <a:buNone/>
            </a:pPr>
            <a:r>
              <a:rPr lang="en-US" altLang="zh-CN" sz="1600" b="0" dirty="0"/>
              <a:t>{ </a:t>
            </a:r>
          </a:p>
          <a:p>
            <a:pPr marL="0" indent="0">
              <a:buNone/>
            </a:pPr>
            <a:r>
              <a:rPr lang="en-US" altLang="zh-CN" sz="1600" b="0" dirty="0">
                <a:solidFill>
                  <a:srgbClr val="008000"/>
                </a:solidFill>
              </a:rPr>
              <a:t>	if</a:t>
            </a:r>
            <a:r>
              <a:rPr lang="en-US" altLang="zh-CN" sz="1600" b="0" dirty="0">
                <a:solidFill>
                  <a:srgbClr val="BBBBBB"/>
                </a:solidFill>
              </a:rPr>
              <a:t> </a:t>
            </a:r>
            <a:r>
              <a:rPr lang="en-US" altLang="zh-CN" sz="1600" b="0" dirty="0"/>
              <a:t>(</a:t>
            </a:r>
            <a:r>
              <a:rPr lang="en-US" altLang="zh-CN" sz="1600" b="0" dirty="0" err="1"/>
              <a:t>argc</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2</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err="1"/>
              <a:t>fprintf</a:t>
            </a:r>
            <a:r>
              <a:rPr lang="en-US" altLang="zh-CN" sz="1600" b="0" dirty="0"/>
              <a:t>(stderr,</a:t>
            </a:r>
            <a:r>
              <a:rPr lang="en-US" altLang="zh-CN" sz="1600" b="0" dirty="0">
                <a:solidFill>
                  <a:srgbClr val="BBBBBB"/>
                </a:solidFill>
              </a:rPr>
              <a:t> </a:t>
            </a:r>
            <a:r>
              <a:rPr lang="en-US" altLang="zh-CN" sz="1600" b="0" dirty="0">
                <a:solidFill>
                  <a:srgbClr val="BA2121"/>
                </a:solidFill>
              </a:rPr>
              <a:t>"usage: threads &lt;loops&gt;</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exit(</a:t>
            </a:r>
            <a:r>
              <a:rPr lang="en-US" altLang="zh-CN" sz="1600" b="0" dirty="0">
                <a:solidFill>
                  <a:srgbClr val="666666"/>
                </a:solidFill>
              </a:rPr>
              <a:t>1</a:t>
            </a:r>
            <a:r>
              <a:rPr lang="en-US" altLang="zh-CN" sz="1600" b="0" dirty="0"/>
              <a:t>);</a:t>
            </a:r>
            <a:r>
              <a:rPr lang="en-US" altLang="zh-CN" sz="1600" b="0" dirty="0">
                <a:solidFill>
                  <a:srgbClr val="BBBBBB"/>
                </a:solidFill>
              </a:rPr>
              <a:t> </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loops</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err="1"/>
              <a:t>atoi</a:t>
            </a:r>
            <a:r>
              <a:rPr lang="en-US" altLang="zh-CN" sz="1600" b="0" dirty="0"/>
              <a:t>(</a:t>
            </a:r>
            <a:r>
              <a:rPr lang="en-US" altLang="zh-CN" sz="1600" b="0" dirty="0" err="1"/>
              <a:t>argv</a:t>
            </a:r>
            <a:r>
              <a:rPr lang="en-US" altLang="zh-CN" sz="1600" b="0" dirty="0"/>
              <a:t>[</a:t>
            </a:r>
            <a:r>
              <a:rPr lang="en-US" altLang="zh-CN" sz="1600" b="0" dirty="0">
                <a:solidFill>
                  <a:srgbClr val="666666"/>
                </a:solidFill>
              </a:rPr>
              <a:t>1</a:t>
            </a:r>
            <a:r>
              <a:rPr lang="en-US" altLang="zh-CN" sz="1600" b="0" dirty="0"/>
              <a:t>]); </a:t>
            </a:r>
          </a:p>
          <a:p>
            <a:pPr marL="0" indent="0">
              <a:buNone/>
            </a:pPr>
            <a:r>
              <a:rPr lang="en-US" altLang="zh-CN" sz="1600" b="0" dirty="0"/>
              <a:t>	</a:t>
            </a:r>
            <a:r>
              <a:rPr lang="en-US" altLang="zh-CN" sz="1600" b="0" dirty="0" err="1"/>
              <a:t>pthread_t</a:t>
            </a:r>
            <a:r>
              <a:rPr lang="en-US" altLang="zh-CN" sz="1600" b="0" dirty="0">
                <a:solidFill>
                  <a:srgbClr val="BBBBBB"/>
                </a:solidFill>
              </a:rPr>
              <a:t> </a:t>
            </a:r>
            <a:r>
              <a:rPr lang="en-US" altLang="zh-CN" sz="1600" b="0" dirty="0"/>
              <a:t>p1,</a:t>
            </a:r>
            <a:r>
              <a:rPr lang="en-US" altLang="zh-CN" sz="1600" b="0" dirty="0">
                <a:solidFill>
                  <a:srgbClr val="BBBBBB"/>
                </a:solidFill>
              </a:rPr>
              <a:t> </a:t>
            </a:r>
            <a:r>
              <a:rPr lang="en-US" altLang="zh-CN" sz="1600" b="0" dirty="0"/>
              <a:t>p2;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"Initial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 	</a:t>
            </a:r>
            <a:r>
              <a:rPr lang="en-US" altLang="zh-CN" sz="1600" b="0" dirty="0" err="1"/>
              <a:t>pthread_join</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pthread_join</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"Final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p>
          <a:p>
            <a:pPr marL="0" indent="0">
              <a:buNone/>
            </a:pPr>
            <a:r>
              <a:rPr lang="en-US" altLang="zh-CN" sz="1600" b="0" dirty="0">
                <a:solidFill>
                  <a:srgbClr val="008000"/>
                </a:solidFill>
              </a:rPr>
              <a:t>	return</a:t>
            </a:r>
            <a:r>
              <a:rPr lang="en-US" altLang="zh-CN" sz="1600" b="0" dirty="0">
                <a:solidFill>
                  <a:srgbClr val="BBBBBB"/>
                </a:solidFill>
              </a:rPr>
              <a:t> </a:t>
            </a:r>
            <a:r>
              <a:rPr lang="en-US" altLang="zh-CN" sz="1600" b="0" dirty="0">
                <a:solidFill>
                  <a:srgbClr val="666666"/>
                </a:solidFill>
              </a:rPr>
              <a:t>0</a:t>
            </a:r>
            <a:r>
              <a:rPr lang="en-US" altLang="zh-CN" sz="1600" b="0" dirty="0"/>
              <a:t>; </a:t>
            </a:r>
          </a:p>
          <a:p>
            <a:pPr marL="0" indent="0">
              <a:buNone/>
            </a:pPr>
            <a:r>
              <a:rPr lang="en-US" altLang="zh-CN" sz="1600" b="0" dirty="0"/>
              <a:t>}</a:t>
            </a:r>
            <a:endParaRPr lang="nb-NO" sz="2000" b="0" dirty="0"/>
          </a:p>
        </p:txBody>
      </p:sp>
      <p:sp>
        <p:nvSpPr>
          <p:cNvPr id="3" name="文本框 15">
            <a:extLst>
              <a:ext uri="{FF2B5EF4-FFF2-40B4-BE49-F238E27FC236}">
                <a16:creationId xmlns:a16="http://schemas.microsoft.com/office/drawing/2014/main" id="{A81D9DEE-F573-5AFF-BA4D-4B263097FA8C}"/>
              </a:ext>
            </a:extLst>
          </p:cNvPr>
          <p:cNvSpPr txBox="1"/>
          <p:nvPr/>
        </p:nvSpPr>
        <p:spPr>
          <a:xfrm>
            <a:off x="89064" y="5190886"/>
            <a:ext cx="7391400" cy="1323439"/>
          </a:xfrm>
          <a:prstGeom prst="rect">
            <a:avLst/>
          </a:prstGeom>
          <a:noFill/>
        </p:spPr>
        <p:txBody>
          <a:bodyPr wrap="square">
            <a:spAutoFit/>
          </a:bodyPr>
          <a:lstStyle/>
          <a:p>
            <a:r>
              <a:rPr lang="en-GB" altLang="zh-CN" sz="2000" b="0" dirty="0"/>
              <a:t>This concurrent program has a race condition, and may produce different final values of counter for different runs, depending on different non-deterministic </a:t>
            </a:r>
            <a:r>
              <a:rPr lang="en-GB" altLang="zh-CN" sz="2000" b="0" dirty="0" err="1"/>
              <a:t>interleavings</a:t>
            </a:r>
            <a:r>
              <a:rPr lang="en-GB" altLang="zh-CN" sz="2000" b="0" dirty="0"/>
              <a:t> of worker threads</a:t>
            </a:r>
            <a:endParaRPr lang="en-US" altLang="zh-CN" sz="2000" b="0" dirty="0">
              <a:latin typeface="Helvetica" pitchFamily="2" charset="0"/>
            </a:endParaRPr>
          </a:p>
        </p:txBody>
      </p:sp>
      <p:sp>
        <p:nvSpPr>
          <p:cNvPr id="4" name="Rectangle: Rounded Corners 3">
            <a:extLst>
              <a:ext uri="{FF2B5EF4-FFF2-40B4-BE49-F238E27FC236}">
                <a16:creationId xmlns:a16="http://schemas.microsoft.com/office/drawing/2014/main" id="{C254E06E-AF77-DCE3-A71B-4A14AB8C2BF1}"/>
              </a:ext>
            </a:extLst>
          </p:cNvPr>
          <p:cNvSpPr/>
          <p:nvPr/>
        </p:nvSpPr>
        <p:spPr bwMode="auto">
          <a:xfrm>
            <a:off x="7467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7" name="Rectangle: Rounded Corners 6">
            <a:extLst>
              <a:ext uri="{FF2B5EF4-FFF2-40B4-BE49-F238E27FC236}">
                <a16:creationId xmlns:a16="http://schemas.microsoft.com/office/drawing/2014/main" id="{79C870C1-7677-79C8-F97F-4B0357ADC920}"/>
              </a:ext>
            </a:extLst>
          </p:cNvPr>
          <p:cNvSpPr/>
          <p:nvPr/>
        </p:nvSpPr>
        <p:spPr bwMode="auto">
          <a:xfrm>
            <a:off x="8229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8" name="Rectangle: Rounded Corners 7">
            <a:extLst>
              <a:ext uri="{FF2B5EF4-FFF2-40B4-BE49-F238E27FC236}">
                <a16:creationId xmlns:a16="http://schemas.microsoft.com/office/drawing/2014/main" id="{060E96C0-14B7-F9DA-3084-6683C3C20B5B}"/>
              </a:ext>
            </a:extLst>
          </p:cNvPr>
          <p:cNvSpPr/>
          <p:nvPr/>
        </p:nvSpPr>
        <p:spPr bwMode="auto">
          <a:xfrm>
            <a:off x="8991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9" name="Rectangle: Rounded Corners 8">
            <a:extLst>
              <a:ext uri="{FF2B5EF4-FFF2-40B4-BE49-F238E27FC236}">
                <a16:creationId xmlns:a16="http://schemas.microsoft.com/office/drawing/2014/main" id="{D34ECEB4-BB44-6CA5-6DC8-542542893A1E}"/>
              </a:ext>
            </a:extLst>
          </p:cNvPr>
          <p:cNvSpPr/>
          <p:nvPr/>
        </p:nvSpPr>
        <p:spPr bwMode="auto">
          <a:xfrm>
            <a:off x="9753600"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0" name="Rectangle: Rounded Corners 9">
            <a:extLst>
              <a:ext uri="{FF2B5EF4-FFF2-40B4-BE49-F238E27FC236}">
                <a16:creationId xmlns:a16="http://schemas.microsoft.com/office/drawing/2014/main" id="{EEFED9B2-44EC-143E-5B1F-381FEC72419C}"/>
              </a:ext>
            </a:extLst>
          </p:cNvPr>
          <p:cNvSpPr/>
          <p:nvPr/>
        </p:nvSpPr>
        <p:spPr bwMode="auto">
          <a:xfrm>
            <a:off x="10525539"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1" name="Rectangle: Rounded Corners 10">
            <a:extLst>
              <a:ext uri="{FF2B5EF4-FFF2-40B4-BE49-F238E27FC236}">
                <a16:creationId xmlns:a16="http://schemas.microsoft.com/office/drawing/2014/main" id="{524C4442-712B-A1C6-8B04-42C2E002D7C7}"/>
              </a:ext>
            </a:extLst>
          </p:cNvPr>
          <p:cNvSpPr/>
          <p:nvPr/>
        </p:nvSpPr>
        <p:spPr bwMode="auto">
          <a:xfrm>
            <a:off x="11304104" y="4999971"/>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2" name="Rectangle: Rounded Corners 11">
            <a:extLst>
              <a:ext uri="{FF2B5EF4-FFF2-40B4-BE49-F238E27FC236}">
                <a16:creationId xmlns:a16="http://schemas.microsoft.com/office/drawing/2014/main" id="{24C69FB7-7091-0DAE-ADCA-31CB632D3AAD}"/>
              </a:ext>
            </a:extLst>
          </p:cNvPr>
          <p:cNvSpPr/>
          <p:nvPr/>
        </p:nvSpPr>
        <p:spPr bwMode="auto">
          <a:xfrm>
            <a:off x="7467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3" name="Rectangle: Rounded Corners 12">
            <a:extLst>
              <a:ext uri="{FF2B5EF4-FFF2-40B4-BE49-F238E27FC236}">
                <a16:creationId xmlns:a16="http://schemas.microsoft.com/office/drawing/2014/main" id="{F0FE6861-44DC-1EC4-0C6D-FF04300ECAA0}"/>
              </a:ext>
            </a:extLst>
          </p:cNvPr>
          <p:cNvSpPr/>
          <p:nvPr/>
        </p:nvSpPr>
        <p:spPr bwMode="auto">
          <a:xfrm>
            <a:off x="8229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14" name="Rectangle: Rounded Corners 13">
            <a:extLst>
              <a:ext uri="{FF2B5EF4-FFF2-40B4-BE49-F238E27FC236}">
                <a16:creationId xmlns:a16="http://schemas.microsoft.com/office/drawing/2014/main" id="{3F404FE7-BADB-CF87-0205-A3EE231AD2CF}"/>
              </a:ext>
            </a:extLst>
          </p:cNvPr>
          <p:cNvSpPr/>
          <p:nvPr/>
        </p:nvSpPr>
        <p:spPr bwMode="auto">
          <a:xfrm>
            <a:off x="8991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5" name="Rectangle: Rounded Corners 14">
            <a:extLst>
              <a:ext uri="{FF2B5EF4-FFF2-40B4-BE49-F238E27FC236}">
                <a16:creationId xmlns:a16="http://schemas.microsoft.com/office/drawing/2014/main" id="{480D26EB-ABC3-6BC9-4EFF-67AE7A4B8F84}"/>
              </a:ext>
            </a:extLst>
          </p:cNvPr>
          <p:cNvSpPr/>
          <p:nvPr/>
        </p:nvSpPr>
        <p:spPr bwMode="auto">
          <a:xfrm>
            <a:off x="9753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6" name="Rectangle: Rounded Corners 15">
            <a:extLst>
              <a:ext uri="{FF2B5EF4-FFF2-40B4-BE49-F238E27FC236}">
                <a16:creationId xmlns:a16="http://schemas.microsoft.com/office/drawing/2014/main" id="{0EC39727-EE07-7A7B-8E1A-ED364416A701}"/>
              </a:ext>
            </a:extLst>
          </p:cNvPr>
          <p:cNvSpPr/>
          <p:nvPr/>
        </p:nvSpPr>
        <p:spPr bwMode="auto">
          <a:xfrm>
            <a:off x="10525539"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7" name="Rectangle: Rounded Corners 16">
            <a:extLst>
              <a:ext uri="{FF2B5EF4-FFF2-40B4-BE49-F238E27FC236}">
                <a16:creationId xmlns:a16="http://schemas.microsoft.com/office/drawing/2014/main" id="{D5AFBCB7-EB1F-9D13-DA4E-9F7397931DDD}"/>
              </a:ext>
            </a:extLst>
          </p:cNvPr>
          <p:cNvSpPr/>
          <p:nvPr/>
        </p:nvSpPr>
        <p:spPr bwMode="auto">
          <a:xfrm>
            <a:off x="11297478"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8" name="Rectangle: Rounded Corners 17">
            <a:extLst>
              <a:ext uri="{FF2B5EF4-FFF2-40B4-BE49-F238E27FC236}">
                <a16:creationId xmlns:a16="http://schemas.microsoft.com/office/drawing/2014/main" id="{9B8D876F-077A-F035-CD0A-1320AA36377E}"/>
              </a:ext>
            </a:extLst>
          </p:cNvPr>
          <p:cNvSpPr/>
          <p:nvPr/>
        </p:nvSpPr>
        <p:spPr bwMode="auto">
          <a:xfrm>
            <a:off x="7467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9" name="Rectangle: Rounded Corners 18">
            <a:extLst>
              <a:ext uri="{FF2B5EF4-FFF2-40B4-BE49-F238E27FC236}">
                <a16:creationId xmlns:a16="http://schemas.microsoft.com/office/drawing/2014/main" id="{54D5320E-7BDF-BA78-1777-8D3DA1E674DA}"/>
              </a:ext>
            </a:extLst>
          </p:cNvPr>
          <p:cNvSpPr/>
          <p:nvPr/>
        </p:nvSpPr>
        <p:spPr bwMode="auto">
          <a:xfrm>
            <a:off x="8229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20" name="Rectangle: Rounded Corners 19">
            <a:extLst>
              <a:ext uri="{FF2B5EF4-FFF2-40B4-BE49-F238E27FC236}">
                <a16:creationId xmlns:a16="http://schemas.microsoft.com/office/drawing/2014/main" id="{7D958962-DB18-D64E-85F0-24478FBF076A}"/>
              </a:ext>
            </a:extLst>
          </p:cNvPr>
          <p:cNvSpPr/>
          <p:nvPr/>
        </p:nvSpPr>
        <p:spPr bwMode="auto">
          <a:xfrm>
            <a:off x="8991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21" name="Rectangle: Rounded Corners 20">
            <a:extLst>
              <a:ext uri="{FF2B5EF4-FFF2-40B4-BE49-F238E27FC236}">
                <a16:creationId xmlns:a16="http://schemas.microsoft.com/office/drawing/2014/main" id="{9A98C4F8-B7F4-77E4-071E-E9A30FA37E33}"/>
              </a:ext>
            </a:extLst>
          </p:cNvPr>
          <p:cNvSpPr/>
          <p:nvPr/>
        </p:nvSpPr>
        <p:spPr bwMode="auto">
          <a:xfrm>
            <a:off x="9753600"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2" name="Rectangle: Rounded Corners 21">
            <a:extLst>
              <a:ext uri="{FF2B5EF4-FFF2-40B4-BE49-F238E27FC236}">
                <a16:creationId xmlns:a16="http://schemas.microsoft.com/office/drawing/2014/main" id="{246049F5-BB78-9521-917A-F3A5E3ADA771}"/>
              </a:ext>
            </a:extLst>
          </p:cNvPr>
          <p:cNvSpPr/>
          <p:nvPr/>
        </p:nvSpPr>
        <p:spPr bwMode="auto">
          <a:xfrm>
            <a:off x="10525539"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3" name="Rectangle: Rounded Corners 22">
            <a:extLst>
              <a:ext uri="{FF2B5EF4-FFF2-40B4-BE49-F238E27FC236}">
                <a16:creationId xmlns:a16="http://schemas.microsoft.com/office/drawing/2014/main" id="{50CDE014-F1DB-40EE-857F-3269BF44D7D4}"/>
              </a:ext>
            </a:extLst>
          </p:cNvPr>
          <p:cNvSpPr/>
          <p:nvPr/>
        </p:nvSpPr>
        <p:spPr bwMode="auto">
          <a:xfrm>
            <a:off x="11297478"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Tree>
    <p:extLst>
      <p:ext uri="{BB962C8B-B14F-4D97-AF65-F5344CB8AC3E}">
        <p14:creationId xmlns:p14="http://schemas.microsoft.com/office/powerpoint/2010/main" val="1765083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15B787-2DC2-BC4A-E94F-F65E320A1F99}"/>
              </a:ext>
            </a:extLst>
          </p:cNvPr>
          <p:cNvSpPr>
            <a:spLocks noGrp="1"/>
          </p:cNvSpPr>
          <p:nvPr>
            <p:ph type="title"/>
          </p:nvPr>
        </p:nvSpPr>
        <p:spPr>
          <a:xfrm>
            <a:off x="419449" y="274639"/>
            <a:ext cx="11336392" cy="532956"/>
          </a:xfrm>
        </p:spPr>
        <p:txBody>
          <a:bodyPr/>
          <a:lstStyle/>
          <a:p>
            <a:r>
              <a:rPr lang="en-US" dirty="0"/>
              <a:t>Race Condition</a:t>
            </a:r>
          </a:p>
        </p:txBody>
      </p:sp>
      <p:sp>
        <p:nvSpPr>
          <p:cNvPr id="3" name="内容占位符 2">
            <a:extLst>
              <a:ext uri="{FF2B5EF4-FFF2-40B4-BE49-F238E27FC236}">
                <a16:creationId xmlns:a16="http://schemas.microsoft.com/office/drawing/2014/main" id="{D4364994-687E-C5C5-B082-A74D3FEB353D}"/>
              </a:ext>
            </a:extLst>
          </p:cNvPr>
          <p:cNvSpPr>
            <a:spLocks noGrp="1"/>
          </p:cNvSpPr>
          <p:nvPr>
            <p:ph idx="1"/>
          </p:nvPr>
        </p:nvSpPr>
        <p:spPr>
          <a:xfrm>
            <a:off x="342406" y="772145"/>
            <a:ext cx="6389214" cy="4233377"/>
          </a:xfrm>
        </p:spPr>
        <p:txBody>
          <a:bodyPr>
            <a:normAutofit fontScale="85000" lnSpcReduction="10000"/>
          </a:bodyPr>
          <a:lstStyle/>
          <a:p>
            <a:r>
              <a:rPr lang="en-US" dirty="0"/>
              <a:t>Incrementing </a:t>
            </a:r>
            <a:r>
              <a:rPr lang="en-US" b="1" dirty="0">
                <a:solidFill>
                  <a:srgbClr val="0070C0"/>
                </a:solidFill>
              </a:rPr>
              <a:t>counter </a:t>
            </a:r>
            <a:r>
              <a:rPr lang="en-US" dirty="0"/>
              <a:t>has </a:t>
            </a:r>
            <a:r>
              <a:rPr lang="en-US" dirty="0">
                <a:solidFill>
                  <a:srgbClr val="FF0000"/>
                </a:solidFill>
              </a:rPr>
              <a:t>3 instructions</a:t>
            </a:r>
            <a:r>
              <a:rPr lang="en-US" dirty="0"/>
              <a:t> in assembly code:</a:t>
            </a:r>
          </a:p>
          <a:p>
            <a:r>
              <a:rPr lang="en-US" altLang="zh-CN" b="1" dirty="0" err="1">
                <a:solidFill>
                  <a:schemeClr val="tx1"/>
                </a:solidFill>
                <a:effectLst/>
                <a:latin typeface="Menlo" panose="020B0609030804020204" pitchFamily="49" charset="0"/>
              </a:rPr>
              <a:t>ldr</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a:t>
            </a:r>
            <a:r>
              <a:rPr lang="en-US" dirty="0"/>
              <a:t>Read the value of counter at memory address x9 into register w8</a:t>
            </a:r>
          </a:p>
          <a:p>
            <a:r>
              <a:rPr lang="en-US" altLang="zh-CN" b="1" dirty="0">
                <a:solidFill>
                  <a:schemeClr val="tx1"/>
                </a:solidFill>
                <a:effectLst/>
                <a:latin typeface="Menlo" panose="020B0609030804020204" pitchFamily="49" charset="0"/>
              </a:rPr>
              <a:t>add w8, w8, #0x1</a:t>
            </a:r>
            <a:r>
              <a:rPr lang="en-US" altLang="zh-CN" dirty="0">
                <a:solidFill>
                  <a:schemeClr val="tx1"/>
                </a:solidFill>
                <a:effectLst/>
                <a:latin typeface="Menlo" panose="020B0609030804020204" pitchFamily="49" charset="0"/>
              </a:rPr>
              <a:t>: increment the value of </a:t>
            </a:r>
            <a:r>
              <a:rPr lang="en-US" dirty="0"/>
              <a:t>register w8 by 1</a:t>
            </a:r>
          </a:p>
          <a:p>
            <a:r>
              <a:rPr lang="en-US" altLang="zh-CN" b="1" dirty="0" err="1">
                <a:solidFill>
                  <a:schemeClr val="tx1"/>
                </a:solidFill>
                <a:effectLst/>
                <a:latin typeface="Menlo" panose="020B0609030804020204" pitchFamily="49" charset="0"/>
              </a:rPr>
              <a:t>str</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write the new value of counter in </a:t>
            </a:r>
            <a:r>
              <a:rPr lang="en-US" dirty="0"/>
              <a:t>register w8</a:t>
            </a:r>
            <a:r>
              <a:rPr lang="en-US" altLang="zh-CN" dirty="0">
                <a:solidFill>
                  <a:schemeClr val="tx1"/>
                </a:solidFill>
                <a:effectLst/>
                <a:latin typeface="Menlo" panose="020B0609030804020204" pitchFamily="49" charset="0"/>
              </a:rPr>
              <a:t> to </a:t>
            </a:r>
            <a:r>
              <a:rPr lang="en-US" dirty="0"/>
              <a:t>memory address x9</a:t>
            </a:r>
            <a:endParaRPr lang="en-US" dirty="0">
              <a:latin typeface="Menlo" panose="020B0609030804020204" pitchFamily="49" charset="0"/>
            </a:endParaRPr>
          </a:p>
          <a:p>
            <a:r>
              <a:rPr lang="en-US" altLang="zh-CN" dirty="0">
                <a:solidFill>
                  <a:schemeClr val="tx1"/>
                </a:solidFill>
                <a:effectLst/>
                <a:latin typeface="Menlo" panose="020B0609030804020204" pitchFamily="49" charset="0"/>
              </a:rPr>
              <a:t>When both threads read the same value of counter before writing to it, counter is incremented only by 1 instead of by 2!</a:t>
            </a:r>
          </a:p>
          <a:p>
            <a:r>
              <a:rPr lang="en-US" altLang="zh-CN" dirty="0">
                <a:latin typeface="Menlo" panose="020B0609030804020204" pitchFamily="49" charset="0"/>
              </a:rPr>
              <a:t>Note: threads in the same process share the same memory space, but have separate registers. So in both threads, </a:t>
            </a:r>
            <a:r>
              <a:rPr lang="en-US" altLang="zh-CN" dirty="0">
                <a:solidFill>
                  <a:schemeClr val="tx1"/>
                </a:solidFill>
                <a:effectLst/>
                <a:latin typeface="Menlo" panose="020B0609030804020204" pitchFamily="49" charset="0"/>
              </a:rPr>
              <a:t>[x9] refers to the same memory address at x9, but w8 refers to different registers in each thread.</a:t>
            </a:r>
          </a:p>
          <a:p>
            <a:endParaRPr lang="en-US" altLang="zh-CN" dirty="0">
              <a:solidFill>
                <a:schemeClr val="tx1"/>
              </a:solidFill>
              <a:effectLst/>
              <a:latin typeface="Menlo" panose="020B0609030804020204" pitchFamily="49" charset="0"/>
            </a:endParaRPr>
          </a:p>
          <a:p>
            <a:endParaRPr lang="en-US" dirty="0"/>
          </a:p>
        </p:txBody>
      </p:sp>
      <p:sp>
        <p:nvSpPr>
          <p:cNvPr id="8" name="文本框 7">
            <a:extLst>
              <a:ext uri="{FF2B5EF4-FFF2-40B4-BE49-F238E27FC236}">
                <a16:creationId xmlns:a16="http://schemas.microsoft.com/office/drawing/2014/main" id="{040A7D81-9540-D347-340C-C645D31B718F}"/>
              </a:ext>
            </a:extLst>
          </p:cNvPr>
          <p:cNvSpPr txBox="1"/>
          <p:nvPr/>
        </p:nvSpPr>
        <p:spPr>
          <a:xfrm>
            <a:off x="2474192" y="4872645"/>
            <a:ext cx="1828800" cy="461665"/>
          </a:xfrm>
          <a:prstGeom prst="rect">
            <a:avLst/>
          </a:prstGeom>
          <a:noFill/>
        </p:spPr>
        <p:txBody>
          <a:bodyPr wrap="square">
            <a:spAutoFit/>
          </a:bodyPr>
          <a:lstStyle/>
          <a:p>
            <a:r>
              <a:rPr lang="en-US" altLang="zh-CN" sz="2400" dirty="0"/>
              <a:t>counter</a:t>
            </a:r>
            <a:r>
              <a:rPr lang="en-US" altLang="zh-CN" sz="2400" dirty="0">
                <a:solidFill>
                  <a:srgbClr val="666666"/>
                </a:solidFill>
              </a:rPr>
              <a:t>++</a:t>
            </a:r>
            <a:r>
              <a:rPr lang="en-US" altLang="zh-CN" sz="2400" dirty="0"/>
              <a:t>; </a:t>
            </a:r>
            <a:endParaRPr lang="en-US" sz="2400" dirty="0"/>
          </a:p>
        </p:txBody>
      </p:sp>
      <p:sp>
        <p:nvSpPr>
          <p:cNvPr id="10" name="矩形 9">
            <a:extLst>
              <a:ext uri="{FF2B5EF4-FFF2-40B4-BE49-F238E27FC236}">
                <a16:creationId xmlns:a16="http://schemas.microsoft.com/office/drawing/2014/main" id="{7B43032E-2AA4-D514-2931-EB05B7B02E2B}"/>
              </a:ext>
            </a:extLst>
          </p:cNvPr>
          <p:cNvSpPr/>
          <p:nvPr/>
        </p:nvSpPr>
        <p:spPr>
          <a:xfrm>
            <a:off x="707570" y="5336363"/>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11" name="矩形 10">
            <a:extLst>
              <a:ext uri="{FF2B5EF4-FFF2-40B4-BE49-F238E27FC236}">
                <a16:creationId xmlns:a16="http://schemas.microsoft.com/office/drawing/2014/main" id="{A91B0E9F-477B-4B9B-D664-A9AB1A2A42A0}"/>
              </a:ext>
            </a:extLst>
          </p:cNvPr>
          <p:cNvSpPr/>
          <p:nvPr/>
        </p:nvSpPr>
        <p:spPr>
          <a:xfrm>
            <a:off x="3429000" y="5334000"/>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12" name="文本框 11">
            <a:extLst>
              <a:ext uri="{FF2B5EF4-FFF2-40B4-BE49-F238E27FC236}">
                <a16:creationId xmlns:a16="http://schemas.microsoft.com/office/drawing/2014/main" id="{8E1859E4-A9F3-4244-0843-A0E82F719E09}"/>
              </a:ext>
            </a:extLst>
          </p:cNvPr>
          <p:cNvSpPr txBox="1"/>
          <p:nvPr/>
        </p:nvSpPr>
        <p:spPr>
          <a:xfrm>
            <a:off x="1186542" y="6380594"/>
            <a:ext cx="1223412" cy="369332"/>
          </a:xfrm>
          <a:prstGeom prst="rect">
            <a:avLst/>
          </a:prstGeom>
          <a:noFill/>
        </p:spPr>
        <p:txBody>
          <a:bodyPr wrap="none" rtlCol="0">
            <a:spAutoFit/>
          </a:bodyPr>
          <a:lstStyle/>
          <a:p>
            <a:r>
              <a:rPr lang="en-US" dirty="0"/>
              <a:t>Thread 1</a:t>
            </a:r>
          </a:p>
        </p:txBody>
      </p:sp>
      <p:sp>
        <p:nvSpPr>
          <p:cNvPr id="13" name="文本框 12">
            <a:extLst>
              <a:ext uri="{FF2B5EF4-FFF2-40B4-BE49-F238E27FC236}">
                <a16:creationId xmlns:a16="http://schemas.microsoft.com/office/drawing/2014/main" id="{6D490E2D-4EBE-DF2E-CFEF-F84CFAFD5B28}"/>
              </a:ext>
            </a:extLst>
          </p:cNvPr>
          <p:cNvSpPr txBox="1"/>
          <p:nvPr/>
        </p:nvSpPr>
        <p:spPr>
          <a:xfrm>
            <a:off x="3923182" y="6380594"/>
            <a:ext cx="1223412" cy="369332"/>
          </a:xfrm>
          <a:prstGeom prst="rect">
            <a:avLst/>
          </a:prstGeom>
          <a:noFill/>
        </p:spPr>
        <p:txBody>
          <a:bodyPr wrap="none" rtlCol="0">
            <a:spAutoFit/>
          </a:bodyPr>
          <a:lstStyle/>
          <a:p>
            <a:r>
              <a:rPr lang="en-US" dirty="0"/>
              <a:t>Thread </a:t>
            </a:r>
            <a:r>
              <a:rPr lang="en-US" altLang="zh-CN" dirty="0"/>
              <a:t>2</a:t>
            </a:r>
            <a:endParaRPr lang="en-US" dirty="0"/>
          </a:p>
        </p:txBody>
      </p:sp>
      <p:sp>
        <p:nvSpPr>
          <p:cNvPr id="36" name="矩形 4">
            <a:extLst>
              <a:ext uri="{FF2B5EF4-FFF2-40B4-BE49-F238E27FC236}">
                <a16:creationId xmlns:a16="http://schemas.microsoft.com/office/drawing/2014/main" id="{B2CB40BB-3E1A-758E-4F96-14003CB767F0}"/>
              </a:ext>
            </a:extLst>
          </p:cNvPr>
          <p:cNvSpPr/>
          <p:nvPr/>
        </p:nvSpPr>
        <p:spPr>
          <a:xfrm>
            <a:off x="6705600" y="1574925"/>
            <a:ext cx="1970376"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bg1">
                    <a:lumMod val="75000"/>
                  </a:schemeClr>
                </a:solidFill>
                <a:effectLst/>
                <a:latin typeface="Menlo" panose="020B0609030804020204" pitchFamily="49" charset="0"/>
              </a:rPr>
              <a:t>str</a:t>
            </a:r>
            <a:r>
              <a:rPr lang="en-US" altLang="zh-CN" dirty="0">
                <a:solidFill>
                  <a:schemeClr val="bg1">
                    <a:lumMod val="75000"/>
                  </a:schemeClr>
                </a:solidFill>
                <a:effectLst/>
                <a:latin typeface="Menlo" panose="020B0609030804020204" pitchFamily="49" charset="0"/>
              </a:rPr>
              <a:t> w8, [x9]</a:t>
            </a:r>
          </a:p>
        </p:txBody>
      </p:sp>
      <p:sp>
        <p:nvSpPr>
          <p:cNvPr id="37" name="矩形 5">
            <a:extLst>
              <a:ext uri="{FF2B5EF4-FFF2-40B4-BE49-F238E27FC236}">
                <a16:creationId xmlns:a16="http://schemas.microsoft.com/office/drawing/2014/main" id="{05BFC5EB-B3DC-0B7E-12AE-69A445B71488}"/>
              </a:ext>
            </a:extLst>
          </p:cNvPr>
          <p:cNvSpPr/>
          <p:nvPr/>
        </p:nvSpPr>
        <p:spPr>
          <a:xfrm>
            <a:off x="10116581" y="2995073"/>
            <a:ext cx="1873820"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38" name="文本框 6">
            <a:extLst>
              <a:ext uri="{FF2B5EF4-FFF2-40B4-BE49-F238E27FC236}">
                <a16:creationId xmlns:a16="http://schemas.microsoft.com/office/drawing/2014/main" id="{93BA2F49-F93B-09BA-A110-FF238B5D5235}"/>
              </a:ext>
            </a:extLst>
          </p:cNvPr>
          <p:cNvSpPr txBox="1"/>
          <p:nvPr/>
        </p:nvSpPr>
        <p:spPr>
          <a:xfrm>
            <a:off x="7199781" y="1135032"/>
            <a:ext cx="1337226" cy="400110"/>
          </a:xfrm>
          <a:prstGeom prst="rect">
            <a:avLst/>
          </a:prstGeom>
          <a:noFill/>
        </p:spPr>
        <p:txBody>
          <a:bodyPr wrap="none" rtlCol="0">
            <a:spAutoFit/>
          </a:bodyPr>
          <a:lstStyle/>
          <a:p>
            <a:r>
              <a:rPr lang="en-US" sz="2000" dirty="0"/>
              <a:t>Thread 1</a:t>
            </a:r>
          </a:p>
        </p:txBody>
      </p:sp>
      <p:sp>
        <p:nvSpPr>
          <p:cNvPr id="39" name="文本框 7">
            <a:extLst>
              <a:ext uri="{FF2B5EF4-FFF2-40B4-BE49-F238E27FC236}">
                <a16:creationId xmlns:a16="http://schemas.microsoft.com/office/drawing/2014/main" id="{89D1141A-F47A-4A9A-DF58-47DE25ADC3ED}"/>
              </a:ext>
            </a:extLst>
          </p:cNvPr>
          <p:cNvSpPr txBox="1"/>
          <p:nvPr/>
        </p:nvSpPr>
        <p:spPr>
          <a:xfrm>
            <a:off x="10153467" y="1135032"/>
            <a:ext cx="1337226" cy="400110"/>
          </a:xfrm>
          <a:prstGeom prst="rect">
            <a:avLst/>
          </a:prstGeom>
          <a:noFill/>
        </p:spPr>
        <p:txBody>
          <a:bodyPr wrap="none" rtlCol="0">
            <a:spAutoFit/>
          </a:bodyPr>
          <a:lstStyle/>
          <a:p>
            <a:r>
              <a:rPr lang="en-US" sz="2000" dirty="0"/>
              <a:t>Thread </a:t>
            </a:r>
            <a:r>
              <a:rPr lang="en-US" altLang="zh-CN" sz="2000" dirty="0"/>
              <a:t>2</a:t>
            </a:r>
            <a:endParaRPr lang="en-US" sz="2000" dirty="0"/>
          </a:p>
        </p:txBody>
      </p:sp>
      <p:sp>
        <p:nvSpPr>
          <p:cNvPr id="40" name="文本框 9">
            <a:extLst>
              <a:ext uri="{FF2B5EF4-FFF2-40B4-BE49-F238E27FC236}">
                <a16:creationId xmlns:a16="http://schemas.microsoft.com/office/drawing/2014/main" id="{68D74403-F7B1-7FAC-2FF9-1FB63E9E271D}"/>
              </a:ext>
            </a:extLst>
          </p:cNvPr>
          <p:cNvSpPr txBox="1"/>
          <p:nvPr/>
        </p:nvSpPr>
        <p:spPr>
          <a:xfrm>
            <a:off x="8769441" y="914990"/>
            <a:ext cx="1104790" cy="400110"/>
          </a:xfrm>
          <a:prstGeom prst="rect">
            <a:avLst/>
          </a:prstGeom>
          <a:noFill/>
        </p:spPr>
        <p:txBody>
          <a:bodyPr wrap="none" rtlCol="0">
            <a:spAutoFit/>
          </a:bodyPr>
          <a:lstStyle/>
          <a:p>
            <a:r>
              <a:rPr lang="en-US" altLang="zh-CN" sz="2000" dirty="0"/>
              <a:t>counter</a:t>
            </a:r>
            <a:endParaRPr lang="en-US" sz="2400" dirty="0"/>
          </a:p>
        </p:txBody>
      </p:sp>
      <p:sp>
        <p:nvSpPr>
          <p:cNvPr id="41" name="矩形 10">
            <a:extLst>
              <a:ext uri="{FF2B5EF4-FFF2-40B4-BE49-F238E27FC236}">
                <a16:creationId xmlns:a16="http://schemas.microsoft.com/office/drawing/2014/main" id="{4F19E18B-571D-0588-24B7-2BFB8AB248E3}"/>
              </a:ext>
            </a:extLst>
          </p:cNvPr>
          <p:cNvSpPr/>
          <p:nvPr/>
        </p:nvSpPr>
        <p:spPr>
          <a:xfrm>
            <a:off x="6723043" y="5045999"/>
            <a:ext cx="1952933" cy="50108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42" name="文本框 12">
            <a:extLst>
              <a:ext uri="{FF2B5EF4-FFF2-40B4-BE49-F238E27FC236}">
                <a16:creationId xmlns:a16="http://schemas.microsoft.com/office/drawing/2014/main" id="{E1048C04-C9DE-68E6-EC6D-B203465AA2DC}"/>
              </a:ext>
            </a:extLst>
          </p:cNvPr>
          <p:cNvSpPr txBox="1"/>
          <p:nvPr/>
        </p:nvSpPr>
        <p:spPr>
          <a:xfrm>
            <a:off x="8999946" y="1633927"/>
            <a:ext cx="747320" cy="461665"/>
          </a:xfrm>
          <a:prstGeom prst="rect">
            <a:avLst/>
          </a:prstGeom>
          <a:noFill/>
        </p:spPr>
        <p:txBody>
          <a:bodyPr wrap="none" rtlCol="0">
            <a:spAutoFit/>
          </a:bodyPr>
          <a:lstStyle/>
          <a:p>
            <a:r>
              <a:rPr lang="en-US" altLang="zh-CN" sz="2400" dirty="0"/>
              <a:t>100</a:t>
            </a:r>
            <a:endParaRPr lang="en-US" sz="2400" dirty="0"/>
          </a:p>
        </p:txBody>
      </p:sp>
      <p:sp>
        <p:nvSpPr>
          <p:cNvPr id="43" name="文本框 13">
            <a:extLst>
              <a:ext uri="{FF2B5EF4-FFF2-40B4-BE49-F238E27FC236}">
                <a16:creationId xmlns:a16="http://schemas.microsoft.com/office/drawing/2014/main" id="{21CF643F-09FA-8C6C-A8BC-6C1CF401D940}"/>
              </a:ext>
            </a:extLst>
          </p:cNvPr>
          <p:cNvSpPr txBox="1"/>
          <p:nvPr/>
        </p:nvSpPr>
        <p:spPr>
          <a:xfrm>
            <a:off x="8999946" y="1972155"/>
            <a:ext cx="747320" cy="461665"/>
          </a:xfrm>
          <a:prstGeom prst="rect">
            <a:avLst/>
          </a:prstGeom>
          <a:noFill/>
        </p:spPr>
        <p:txBody>
          <a:bodyPr wrap="none" rtlCol="0">
            <a:spAutoFit/>
          </a:bodyPr>
          <a:lstStyle/>
          <a:p>
            <a:r>
              <a:rPr lang="en-US" altLang="zh-CN" sz="2400" dirty="0"/>
              <a:t>101</a:t>
            </a:r>
            <a:endParaRPr lang="en-US" sz="2400" dirty="0"/>
          </a:p>
        </p:txBody>
      </p:sp>
      <p:sp>
        <p:nvSpPr>
          <p:cNvPr id="44" name="文本框 14">
            <a:extLst>
              <a:ext uri="{FF2B5EF4-FFF2-40B4-BE49-F238E27FC236}">
                <a16:creationId xmlns:a16="http://schemas.microsoft.com/office/drawing/2014/main" id="{7E0629FA-5500-106D-11FB-046B4CF1A059}"/>
              </a:ext>
            </a:extLst>
          </p:cNvPr>
          <p:cNvSpPr txBox="1"/>
          <p:nvPr/>
        </p:nvSpPr>
        <p:spPr>
          <a:xfrm>
            <a:off x="9021717" y="2930313"/>
            <a:ext cx="747320" cy="461665"/>
          </a:xfrm>
          <a:prstGeom prst="rect">
            <a:avLst/>
          </a:prstGeom>
          <a:noFill/>
        </p:spPr>
        <p:txBody>
          <a:bodyPr wrap="none" rtlCol="0">
            <a:spAutoFit/>
          </a:bodyPr>
          <a:lstStyle/>
          <a:p>
            <a:r>
              <a:rPr lang="en-US" altLang="zh-CN" sz="2400" dirty="0">
                <a:solidFill>
                  <a:srgbClr val="FF0000"/>
                </a:solidFill>
              </a:rPr>
              <a:t>100</a:t>
            </a:r>
            <a:endParaRPr lang="en-US" sz="2400" dirty="0">
              <a:solidFill>
                <a:srgbClr val="FF0000"/>
              </a:solidFill>
            </a:endParaRPr>
          </a:p>
        </p:txBody>
      </p:sp>
      <p:sp>
        <p:nvSpPr>
          <p:cNvPr id="45" name="文本框 15">
            <a:extLst>
              <a:ext uri="{FF2B5EF4-FFF2-40B4-BE49-F238E27FC236}">
                <a16:creationId xmlns:a16="http://schemas.microsoft.com/office/drawing/2014/main" id="{815441F2-8424-3334-086D-25F7F3C5AC78}"/>
              </a:ext>
            </a:extLst>
          </p:cNvPr>
          <p:cNvSpPr txBox="1"/>
          <p:nvPr/>
        </p:nvSpPr>
        <p:spPr>
          <a:xfrm>
            <a:off x="9021717" y="3268541"/>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6" name="文本框 16">
            <a:extLst>
              <a:ext uri="{FF2B5EF4-FFF2-40B4-BE49-F238E27FC236}">
                <a16:creationId xmlns:a16="http://schemas.microsoft.com/office/drawing/2014/main" id="{00126566-49C5-0898-A431-EF3C3AB3EF8E}"/>
              </a:ext>
            </a:extLst>
          </p:cNvPr>
          <p:cNvSpPr txBox="1"/>
          <p:nvPr/>
        </p:nvSpPr>
        <p:spPr>
          <a:xfrm>
            <a:off x="9021717" y="3643272"/>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7" name="文本框 17">
            <a:extLst>
              <a:ext uri="{FF2B5EF4-FFF2-40B4-BE49-F238E27FC236}">
                <a16:creationId xmlns:a16="http://schemas.microsoft.com/office/drawing/2014/main" id="{249ED277-F254-9B85-14DB-EF6DA7B38AF2}"/>
              </a:ext>
            </a:extLst>
          </p:cNvPr>
          <p:cNvSpPr txBox="1"/>
          <p:nvPr/>
        </p:nvSpPr>
        <p:spPr>
          <a:xfrm>
            <a:off x="8990479" y="5150050"/>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Tree>
    <p:extLst>
      <p:ext uri="{BB962C8B-B14F-4D97-AF65-F5344CB8AC3E}">
        <p14:creationId xmlns:p14="http://schemas.microsoft.com/office/powerpoint/2010/main" val="1282735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C7F1C-BE3A-2D2B-0128-1A039DD49F8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8356CA-8C6D-7D44-177C-24EB22090FFD}"/>
              </a:ext>
            </a:extLst>
          </p:cNvPr>
          <p:cNvSpPr>
            <a:spLocks noGrp="1"/>
          </p:cNvSpPr>
          <p:nvPr>
            <p:ph type="title"/>
          </p:nvPr>
        </p:nvSpPr>
        <p:spPr/>
        <p:txBody>
          <a:bodyPr/>
          <a:lstStyle/>
          <a:p>
            <a:r>
              <a:rPr lang="en-US" dirty="0"/>
              <a:t>Race Condition &amp; Critical Section </a:t>
            </a:r>
          </a:p>
        </p:txBody>
      </p:sp>
      <p:sp>
        <p:nvSpPr>
          <p:cNvPr id="3" name="内容占位符 2">
            <a:extLst>
              <a:ext uri="{FF2B5EF4-FFF2-40B4-BE49-F238E27FC236}">
                <a16:creationId xmlns:a16="http://schemas.microsoft.com/office/drawing/2014/main" id="{A7ECDCD3-BA5B-1A9B-B33B-8BA6AC4A47F7}"/>
              </a:ext>
            </a:extLst>
          </p:cNvPr>
          <p:cNvSpPr>
            <a:spLocks noGrp="1"/>
          </p:cNvSpPr>
          <p:nvPr>
            <p:ph idx="1"/>
          </p:nvPr>
        </p:nvSpPr>
        <p:spPr>
          <a:xfrm>
            <a:off x="436159" y="685800"/>
            <a:ext cx="11336392" cy="3047999"/>
          </a:xfrm>
        </p:spPr>
        <p:txBody>
          <a:bodyPr/>
          <a:lstStyle/>
          <a:p>
            <a:r>
              <a:rPr lang="en-US" altLang="zh-CN" sz="2000" b="1" dirty="0">
                <a:latin typeface="Gill Sans"/>
              </a:rPr>
              <a:t>Race</a:t>
            </a:r>
            <a:r>
              <a:rPr lang="zh-CN" altLang="en-US" sz="2000" b="1" dirty="0">
                <a:latin typeface="Gill Sans"/>
              </a:rPr>
              <a:t> </a:t>
            </a:r>
            <a:r>
              <a:rPr lang="en-US" altLang="zh-CN" sz="2000" b="1" dirty="0">
                <a:latin typeface="Gill Sans"/>
              </a:rPr>
              <a:t>condition</a:t>
            </a:r>
            <a:r>
              <a:rPr lang="en-US" altLang="zh-CN" sz="2000" dirty="0">
                <a:latin typeface="Gill Sans"/>
              </a:rPr>
              <a:t>:</a:t>
            </a:r>
            <a:r>
              <a:rPr lang="zh-CN" altLang="en-US" sz="2000" dirty="0">
                <a:latin typeface="Gill Sans"/>
              </a:rPr>
              <a:t> </a:t>
            </a:r>
            <a:endParaRPr lang="en-GB" altLang="zh-CN" sz="2000" dirty="0">
              <a:latin typeface="Gill Sans"/>
            </a:endParaRPr>
          </a:p>
          <a:p>
            <a:pPr lvl="1"/>
            <a:r>
              <a:rPr lang="en-US" altLang="zh-CN" sz="2000" dirty="0">
                <a:latin typeface="Gill Sans"/>
              </a:rPr>
              <a:t>Multiple</a:t>
            </a:r>
            <a:r>
              <a:rPr lang="zh-CN" altLang="en-US" sz="2000" dirty="0">
                <a:latin typeface="Gill Sans"/>
              </a:rPr>
              <a:t> </a:t>
            </a:r>
            <a:r>
              <a:rPr lang="en-US" altLang="zh-CN" sz="2000" dirty="0">
                <a:latin typeface="Gill Sans"/>
              </a:rPr>
              <a:t>threads</a:t>
            </a:r>
            <a:r>
              <a:rPr lang="zh-CN" altLang="en-US" sz="2000" dirty="0">
                <a:latin typeface="Gill Sans"/>
              </a:rPr>
              <a:t> </a:t>
            </a:r>
            <a:r>
              <a:rPr lang="en-US" altLang="zh-CN" sz="2000" dirty="0">
                <a:latin typeface="Gill Sans"/>
              </a:rPr>
              <a:t>of</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update</a:t>
            </a:r>
            <a:r>
              <a:rPr lang="zh-CN" altLang="en-US" sz="2000" dirty="0">
                <a:latin typeface="Gill Sans"/>
              </a:rPr>
              <a:t> </a:t>
            </a:r>
            <a:r>
              <a:rPr lang="en-US" altLang="zh-CN" sz="2000" dirty="0">
                <a:latin typeface="Gill Sans"/>
              </a:rPr>
              <a:t>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r>
              <a:rPr lang="en-US" altLang="zh-CN" sz="2000" dirty="0">
                <a:latin typeface="Gill Sans"/>
              </a:rPr>
              <a:t>,</a:t>
            </a:r>
            <a:r>
              <a:rPr lang="zh-CN" altLang="en-US" sz="2000" dirty="0">
                <a:latin typeface="Gill Sans"/>
              </a:rPr>
              <a:t> </a:t>
            </a:r>
            <a:r>
              <a:rPr lang="en-US" altLang="zh-CN" sz="2000" dirty="0">
                <a:latin typeface="Gill Sans"/>
              </a:rPr>
              <a:t>and</a:t>
            </a:r>
            <a:r>
              <a:rPr lang="zh-CN" altLang="en-US" sz="2000" dirty="0">
                <a:latin typeface="Gill Sans"/>
              </a:rPr>
              <a:t> </a:t>
            </a:r>
            <a:r>
              <a:rPr lang="en-US" altLang="zh-CN" sz="2000" dirty="0">
                <a:latin typeface="Gill Sans"/>
              </a:rPr>
              <a:t>final</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depend</a:t>
            </a:r>
            <a:r>
              <a:rPr lang="zh-CN" altLang="en-US" sz="2000" dirty="0">
                <a:latin typeface="Gill Sans"/>
              </a:rPr>
              <a:t> </a:t>
            </a:r>
            <a:r>
              <a:rPr lang="en-US" altLang="zh-CN" sz="2000" dirty="0">
                <a:latin typeface="Gill Sans"/>
              </a:rPr>
              <a:t>on</a:t>
            </a:r>
            <a:r>
              <a:rPr lang="zh-CN" altLang="en-US" sz="2000" dirty="0">
                <a:latin typeface="Gill Sans"/>
              </a:rPr>
              <a:t> </a:t>
            </a:r>
            <a:r>
              <a:rPr lang="en-US" altLang="zh-CN" sz="2000" dirty="0">
                <a:latin typeface="Gill Sans"/>
              </a:rPr>
              <a:t>the</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order</a:t>
            </a:r>
          </a:p>
          <a:p>
            <a:pPr lvl="1"/>
            <a:r>
              <a:rPr lang="en-US" altLang="zh-CN" sz="2000" dirty="0">
                <a:latin typeface="Gill Sans"/>
              </a:rPr>
              <a:t>Race condition</a:t>
            </a:r>
            <a:r>
              <a:rPr lang="zh-CN" altLang="en-US" sz="2000" dirty="0">
                <a:latin typeface="Gill Sans"/>
              </a:rPr>
              <a:t> </a:t>
            </a:r>
            <a:r>
              <a:rPr lang="en-US" altLang="zh-CN" sz="2000" dirty="0">
                <a:latin typeface="Gill Sans"/>
              </a:rPr>
              <a:t>leads</a:t>
            </a:r>
            <a:r>
              <a:rPr lang="zh-CN" altLang="en-US" sz="2000" dirty="0">
                <a:latin typeface="Gill Sans"/>
              </a:rPr>
              <a:t> </a:t>
            </a:r>
            <a:r>
              <a:rPr lang="en-US" altLang="zh-CN" sz="2000" dirty="0">
                <a:latin typeface="Gill Sans"/>
              </a:rPr>
              <a:t>to</a:t>
            </a:r>
            <a:r>
              <a:rPr lang="zh-CN" altLang="en-US" sz="2000" dirty="0">
                <a:latin typeface="Gill Sans"/>
              </a:rPr>
              <a:t> </a:t>
            </a:r>
            <a:r>
              <a:rPr lang="en-US" altLang="zh-CN" sz="2000" dirty="0">
                <a:latin typeface="Gill Sans"/>
              </a:rPr>
              <a:t>non-deterministic</a:t>
            </a:r>
            <a:r>
              <a:rPr lang="zh-CN" altLang="en-US" sz="2000" dirty="0">
                <a:latin typeface="Gill Sans"/>
              </a:rPr>
              <a:t> </a:t>
            </a:r>
            <a:r>
              <a:rPr lang="en-US" altLang="zh-CN" sz="2000" dirty="0">
                <a:latin typeface="Gill Sans"/>
              </a:rPr>
              <a:t>results: different</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even</a:t>
            </a:r>
            <a:r>
              <a:rPr lang="zh-CN" altLang="en-US" sz="2000" dirty="0">
                <a:latin typeface="Gill Sans"/>
              </a:rPr>
              <a:t> </a:t>
            </a:r>
            <a:r>
              <a:rPr lang="en-US" altLang="zh-CN" sz="2000" dirty="0">
                <a:latin typeface="Gill Sans"/>
              </a:rPr>
              <a:t>for the</a:t>
            </a:r>
            <a:r>
              <a:rPr lang="zh-CN" altLang="en-US" sz="2000" dirty="0">
                <a:latin typeface="Gill Sans"/>
              </a:rPr>
              <a:t> </a:t>
            </a:r>
            <a:r>
              <a:rPr lang="en-US" altLang="zh-CN" sz="2000" dirty="0">
                <a:latin typeface="Gill Sans"/>
              </a:rPr>
              <a:t>same</a:t>
            </a:r>
            <a:r>
              <a:rPr lang="zh-CN" altLang="en-US" sz="2000" dirty="0">
                <a:latin typeface="Gill Sans"/>
              </a:rPr>
              <a:t> </a:t>
            </a:r>
            <a:r>
              <a:rPr lang="en-US" altLang="zh-CN" sz="2000" dirty="0">
                <a:latin typeface="Gill Sans"/>
              </a:rPr>
              <a:t>inputs</a:t>
            </a:r>
          </a:p>
          <a:p>
            <a:r>
              <a:rPr lang="en-US" altLang="zh-CN" sz="2000" dirty="0">
                <a:latin typeface="Gill Sans"/>
              </a:rPr>
              <a:t>To prevent race condition, a </a:t>
            </a:r>
            <a:r>
              <a:rPr lang="en-US" altLang="zh-CN" sz="2000" b="1" dirty="0">
                <a:latin typeface="Gill Sans"/>
              </a:rPr>
              <a:t>critical section </a:t>
            </a:r>
            <a:r>
              <a:rPr lang="en-US" altLang="zh-CN" sz="2000" dirty="0">
                <a:latin typeface="Gill Sans"/>
              </a:rPr>
              <a:t>should be used to protect 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endParaRPr lang="en-US" altLang="zh-CN" sz="2000" dirty="0">
              <a:latin typeface="Gill Sans"/>
            </a:endParaRPr>
          </a:p>
          <a:p>
            <a:pPr lvl="1"/>
            <a:r>
              <a:rPr lang="en-US" altLang="zh-CN" sz="2000" dirty="0">
                <a:latin typeface="Gill Sans"/>
              </a:rPr>
              <a:t>A critical section is executed atomically</a:t>
            </a:r>
            <a:endParaRPr lang="en-US" altLang="zh-CN" sz="2000" dirty="0">
              <a:effectLst/>
              <a:latin typeface="Gill Sans"/>
            </a:endParaRPr>
          </a:p>
          <a:p>
            <a:pPr lvl="1"/>
            <a:r>
              <a:rPr lang="en-US" altLang="zh-CN" sz="2000" dirty="0">
                <a:effectLst/>
                <a:latin typeface="Gill Sans"/>
              </a:rPr>
              <a:t>Mutual exclusion (mutex) ensures that when one thread is executing</a:t>
            </a:r>
            <a:r>
              <a:rPr lang="zh-CN" altLang="en-US" sz="2000" dirty="0">
                <a:latin typeface="Gill Sans"/>
              </a:rPr>
              <a:t> </a:t>
            </a:r>
            <a:r>
              <a:rPr lang="en-US" altLang="zh-CN" sz="2000" dirty="0">
                <a:effectLst/>
                <a:latin typeface="Gill Sans"/>
              </a:rPr>
              <a:t>in its critical section, no other thread is allowed to</a:t>
            </a:r>
            <a:r>
              <a:rPr lang="zh-CN" altLang="en-US" sz="2000" dirty="0">
                <a:latin typeface="Gill Sans"/>
              </a:rPr>
              <a:t> </a:t>
            </a:r>
            <a:r>
              <a:rPr lang="en-US" altLang="zh-CN" sz="2000" dirty="0">
                <a:effectLst/>
                <a:latin typeface="Gill Sans"/>
              </a:rPr>
              <a:t>execute in that critical section</a:t>
            </a:r>
            <a:endParaRPr lang="en-US" altLang="zh-CN" sz="2000" dirty="0">
              <a:latin typeface="Gill Sans"/>
            </a:endParaRPr>
          </a:p>
        </p:txBody>
      </p:sp>
      <p:pic>
        <p:nvPicPr>
          <p:cNvPr id="5" name="图片 4">
            <a:extLst>
              <a:ext uri="{FF2B5EF4-FFF2-40B4-BE49-F238E27FC236}">
                <a16:creationId xmlns:a16="http://schemas.microsoft.com/office/drawing/2014/main" id="{651D8B46-D5DB-3D36-AB10-CED4A806E116}"/>
              </a:ext>
            </a:extLst>
          </p:cNvPr>
          <p:cNvPicPr>
            <a:picLocks noChangeAspect="1"/>
          </p:cNvPicPr>
          <p:nvPr/>
        </p:nvPicPr>
        <p:blipFill>
          <a:blip r:embed="rId3"/>
          <a:stretch>
            <a:fillRect/>
          </a:stretch>
        </p:blipFill>
        <p:spPr>
          <a:xfrm>
            <a:off x="1828800" y="3522133"/>
            <a:ext cx="6764918" cy="3276600"/>
          </a:xfrm>
          <a:prstGeom prst="rect">
            <a:avLst/>
          </a:prstGeom>
        </p:spPr>
      </p:pic>
      <p:sp>
        <p:nvSpPr>
          <p:cNvPr id="4" name="TextBox 3">
            <a:extLst>
              <a:ext uri="{FF2B5EF4-FFF2-40B4-BE49-F238E27FC236}">
                <a16:creationId xmlns:a16="http://schemas.microsoft.com/office/drawing/2014/main" id="{03929E60-858B-4513-B511-B6B87F5A22DA}"/>
              </a:ext>
            </a:extLst>
          </p:cNvPr>
          <p:cNvSpPr txBox="1"/>
          <p:nvPr/>
        </p:nvSpPr>
        <p:spPr>
          <a:xfrm>
            <a:off x="1648126" y="4105713"/>
            <a:ext cx="1033809" cy="369332"/>
          </a:xfrm>
          <a:prstGeom prst="rect">
            <a:avLst/>
          </a:prstGeom>
          <a:solidFill>
            <a:schemeClr val="bg1"/>
          </a:solidFill>
        </p:spPr>
        <p:txBody>
          <a:bodyPr wrap="none" rtlCol="0">
            <a:spAutoFit/>
          </a:bodyPr>
          <a:lstStyle/>
          <a:p>
            <a:r>
              <a:rPr lang="en-GB" dirty="0">
                <a:latin typeface="Gill Sans Light"/>
              </a:rPr>
              <a:t>Thread A</a:t>
            </a:r>
            <a:endParaRPr lang="en-SE" dirty="0">
              <a:latin typeface="Gill Sans Light"/>
            </a:endParaRPr>
          </a:p>
        </p:txBody>
      </p:sp>
      <p:sp>
        <p:nvSpPr>
          <p:cNvPr id="6" name="TextBox 5">
            <a:extLst>
              <a:ext uri="{FF2B5EF4-FFF2-40B4-BE49-F238E27FC236}">
                <a16:creationId xmlns:a16="http://schemas.microsoft.com/office/drawing/2014/main" id="{70C66899-E9A8-C76C-3F15-BEB559B7048C}"/>
              </a:ext>
            </a:extLst>
          </p:cNvPr>
          <p:cNvSpPr txBox="1"/>
          <p:nvPr/>
        </p:nvSpPr>
        <p:spPr>
          <a:xfrm>
            <a:off x="1659415" y="5452223"/>
            <a:ext cx="1033809" cy="369332"/>
          </a:xfrm>
          <a:prstGeom prst="rect">
            <a:avLst/>
          </a:prstGeom>
          <a:solidFill>
            <a:schemeClr val="bg1"/>
          </a:solidFill>
        </p:spPr>
        <p:txBody>
          <a:bodyPr wrap="none" rtlCol="0">
            <a:spAutoFit/>
          </a:bodyPr>
          <a:lstStyle/>
          <a:p>
            <a:r>
              <a:rPr lang="en-GB" dirty="0">
                <a:latin typeface="Gill Sans Light"/>
              </a:rPr>
              <a:t>Thread B</a:t>
            </a:r>
            <a:endParaRPr lang="en-SE" dirty="0">
              <a:latin typeface="Gill Sans Light"/>
            </a:endParaRPr>
          </a:p>
        </p:txBody>
      </p:sp>
      <p:pic>
        <p:nvPicPr>
          <p:cNvPr id="8" name="Picture 7">
            <a:extLst>
              <a:ext uri="{FF2B5EF4-FFF2-40B4-BE49-F238E27FC236}">
                <a16:creationId xmlns:a16="http://schemas.microsoft.com/office/drawing/2014/main" id="{7902382B-0ADC-6120-913F-2D6D5D5273BB}"/>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8968405" y="4417847"/>
            <a:ext cx="3128359" cy="2068752"/>
          </a:xfrm>
          <a:prstGeom prst="rect">
            <a:avLst/>
          </a:prstGeom>
        </p:spPr>
      </p:pic>
    </p:spTree>
    <p:extLst>
      <p:ext uri="{BB962C8B-B14F-4D97-AF65-F5344CB8AC3E}">
        <p14:creationId xmlns:p14="http://schemas.microsoft.com/office/powerpoint/2010/main" val="3731079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DB2B1F-B1C9-CA46-EF1D-ED0A5B0ABFEB}"/>
              </a:ext>
            </a:extLst>
          </p:cNvPr>
          <p:cNvSpPr>
            <a:spLocks noGrp="1"/>
          </p:cNvSpPr>
          <p:nvPr>
            <p:ph type="title"/>
          </p:nvPr>
        </p:nvSpPr>
        <p:spPr>
          <a:xfrm>
            <a:off x="1838587" y="274639"/>
            <a:ext cx="8502294" cy="532956"/>
          </a:xfrm>
        </p:spPr>
        <p:txBody>
          <a:bodyPr/>
          <a:lstStyle/>
          <a:p>
            <a:r>
              <a:rPr lang="en-US" altLang="zh-CN" dirty="0"/>
              <a:t>Lock to Protect a Critical Section</a:t>
            </a:r>
            <a:endParaRPr lang="en-US" dirty="0"/>
          </a:p>
        </p:txBody>
      </p:sp>
      <p:sp>
        <p:nvSpPr>
          <p:cNvPr id="5" name="矩形 4">
            <a:extLst>
              <a:ext uri="{FF2B5EF4-FFF2-40B4-BE49-F238E27FC236}">
                <a16:creationId xmlns:a16="http://schemas.microsoft.com/office/drawing/2014/main" id="{DA0B6490-9EA9-A6A8-5C05-7BFC1E689A36}"/>
              </a:ext>
            </a:extLst>
          </p:cNvPr>
          <p:cNvSpPr/>
          <p:nvPr/>
        </p:nvSpPr>
        <p:spPr>
          <a:xfrm>
            <a:off x="2362200" y="1549467"/>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6" name="矩形 5">
            <a:extLst>
              <a:ext uri="{FF2B5EF4-FFF2-40B4-BE49-F238E27FC236}">
                <a16:creationId xmlns:a16="http://schemas.microsoft.com/office/drawing/2014/main" id="{0A3406A5-3282-A7B7-2B4B-A54CAE6B728B}"/>
              </a:ext>
            </a:extLst>
          </p:cNvPr>
          <p:cNvSpPr/>
          <p:nvPr/>
        </p:nvSpPr>
        <p:spPr>
          <a:xfrm>
            <a:off x="7144867" y="2885276"/>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ldr</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str</a:t>
            </a:r>
            <a:r>
              <a:rPr lang="en-US" altLang="zh-CN" dirty="0">
                <a:solidFill>
                  <a:schemeClr val="tx1"/>
                </a:solidFill>
                <a:effectLst/>
                <a:latin typeface="Menlo" panose="020B0609030804020204" pitchFamily="49" charset="0"/>
              </a:rPr>
              <a:t> w8, [x9]</a:t>
            </a:r>
          </a:p>
        </p:txBody>
      </p:sp>
      <p:sp>
        <p:nvSpPr>
          <p:cNvPr id="7" name="文本框 6">
            <a:extLst>
              <a:ext uri="{FF2B5EF4-FFF2-40B4-BE49-F238E27FC236}">
                <a16:creationId xmlns:a16="http://schemas.microsoft.com/office/drawing/2014/main" id="{44BD9317-24B9-462F-AADB-F72A637605E4}"/>
              </a:ext>
            </a:extLst>
          </p:cNvPr>
          <p:cNvSpPr txBox="1"/>
          <p:nvPr/>
        </p:nvSpPr>
        <p:spPr>
          <a:xfrm>
            <a:off x="2856382" y="1109574"/>
            <a:ext cx="1569660" cy="461665"/>
          </a:xfrm>
          <a:prstGeom prst="rect">
            <a:avLst/>
          </a:prstGeom>
          <a:noFill/>
        </p:spPr>
        <p:txBody>
          <a:bodyPr wrap="none" rtlCol="0">
            <a:spAutoFit/>
          </a:bodyPr>
          <a:lstStyle/>
          <a:p>
            <a:r>
              <a:rPr lang="en-US" sz="2400" dirty="0"/>
              <a:t>Thread 1</a:t>
            </a:r>
          </a:p>
        </p:txBody>
      </p:sp>
      <p:sp>
        <p:nvSpPr>
          <p:cNvPr id="8" name="文本框 7">
            <a:extLst>
              <a:ext uri="{FF2B5EF4-FFF2-40B4-BE49-F238E27FC236}">
                <a16:creationId xmlns:a16="http://schemas.microsoft.com/office/drawing/2014/main" id="{8E057356-CFC8-D9E9-B92F-40DE34AE2FFC}"/>
              </a:ext>
            </a:extLst>
          </p:cNvPr>
          <p:cNvSpPr txBox="1"/>
          <p:nvPr/>
        </p:nvSpPr>
        <p:spPr>
          <a:xfrm>
            <a:off x="7639050" y="1109574"/>
            <a:ext cx="1569660" cy="461665"/>
          </a:xfrm>
          <a:prstGeom prst="rect">
            <a:avLst/>
          </a:prstGeom>
          <a:noFill/>
        </p:spPr>
        <p:txBody>
          <a:bodyPr wrap="none" rtlCol="0">
            <a:spAutoFit/>
          </a:bodyPr>
          <a:lstStyle/>
          <a:p>
            <a:r>
              <a:rPr lang="en-US" sz="2400" dirty="0"/>
              <a:t>Thread </a:t>
            </a:r>
            <a:r>
              <a:rPr lang="en-US" altLang="zh-CN" sz="2400" dirty="0"/>
              <a:t>2</a:t>
            </a:r>
            <a:endParaRPr lang="en-US" sz="2400" dirty="0"/>
          </a:p>
        </p:txBody>
      </p:sp>
      <p:sp>
        <p:nvSpPr>
          <p:cNvPr id="10" name="文本框 9">
            <a:extLst>
              <a:ext uri="{FF2B5EF4-FFF2-40B4-BE49-F238E27FC236}">
                <a16:creationId xmlns:a16="http://schemas.microsoft.com/office/drawing/2014/main" id="{DEE9A9D1-1CA4-0341-9506-E9CBC7387224}"/>
              </a:ext>
            </a:extLst>
          </p:cNvPr>
          <p:cNvSpPr txBox="1"/>
          <p:nvPr/>
        </p:nvSpPr>
        <p:spPr>
          <a:xfrm>
            <a:off x="5231177" y="807052"/>
            <a:ext cx="1136850" cy="830997"/>
          </a:xfrm>
          <a:prstGeom prst="rect">
            <a:avLst/>
          </a:prstGeom>
          <a:noFill/>
        </p:spPr>
        <p:txBody>
          <a:bodyPr wrap="none" rtlCol="0">
            <a:spAutoFit/>
          </a:bodyPr>
          <a:lstStyle/>
          <a:p>
            <a:r>
              <a:rPr lang="en-US" altLang="zh-CN" sz="2400" dirty="0"/>
              <a:t>Count</a:t>
            </a:r>
            <a:r>
              <a:rPr lang="zh-CN" altLang="en-US" sz="2400" dirty="0"/>
              <a:t> </a:t>
            </a:r>
            <a:endParaRPr lang="en-US" altLang="zh-CN" sz="2400" dirty="0"/>
          </a:p>
          <a:p>
            <a:r>
              <a:rPr lang="en-US" altLang="zh-CN" sz="2400" dirty="0"/>
              <a:t>Value</a:t>
            </a:r>
            <a:endParaRPr lang="en-US" sz="2400" dirty="0"/>
          </a:p>
        </p:txBody>
      </p:sp>
      <p:sp>
        <p:nvSpPr>
          <p:cNvPr id="13" name="文本框 12">
            <a:extLst>
              <a:ext uri="{FF2B5EF4-FFF2-40B4-BE49-F238E27FC236}">
                <a16:creationId xmlns:a16="http://schemas.microsoft.com/office/drawing/2014/main" id="{BB0E0DA6-AC3A-83E4-02D2-EBE0A806253A}"/>
              </a:ext>
            </a:extLst>
          </p:cNvPr>
          <p:cNvSpPr txBox="1"/>
          <p:nvPr/>
        </p:nvSpPr>
        <p:spPr>
          <a:xfrm>
            <a:off x="5399971" y="1524130"/>
            <a:ext cx="747320" cy="461665"/>
          </a:xfrm>
          <a:prstGeom prst="rect">
            <a:avLst/>
          </a:prstGeom>
          <a:noFill/>
        </p:spPr>
        <p:txBody>
          <a:bodyPr wrap="none" rtlCol="0">
            <a:spAutoFit/>
          </a:bodyPr>
          <a:lstStyle/>
          <a:p>
            <a:r>
              <a:rPr lang="en-US" altLang="zh-CN" sz="2400" dirty="0"/>
              <a:t>100</a:t>
            </a:r>
            <a:endParaRPr lang="en-US" sz="2400" dirty="0"/>
          </a:p>
        </p:txBody>
      </p:sp>
      <p:sp>
        <p:nvSpPr>
          <p:cNvPr id="14" name="文本框 13">
            <a:extLst>
              <a:ext uri="{FF2B5EF4-FFF2-40B4-BE49-F238E27FC236}">
                <a16:creationId xmlns:a16="http://schemas.microsoft.com/office/drawing/2014/main" id="{0D2C8F7B-64C4-BE1A-0FBE-E40DCDB50586}"/>
              </a:ext>
            </a:extLst>
          </p:cNvPr>
          <p:cNvSpPr txBox="1"/>
          <p:nvPr/>
        </p:nvSpPr>
        <p:spPr>
          <a:xfrm>
            <a:off x="5399971" y="1862358"/>
            <a:ext cx="747320" cy="461665"/>
          </a:xfrm>
          <a:prstGeom prst="rect">
            <a:avLst/>
          </a:prstGeom>
          <a:noFill/>
        </p:spPr>
        <p:txBody>
          <a:bodyPr wrap="none" rtlCol="0">
            <a:spAutoFit/>
          </a:bodyPr>
          <a:lstStyle/>
          <a:p>
            <a:r>
              <a:rPr lang="en-US" altLang="zh-CN" sz="2400" dirty="0"/>
              <a:t>101</a:t>
            </a:r>
            <a:endParaRPr lang="en-US" sz="2400" dirty="0"/>
          </a:p>
        </p:txBody>
      </p:sp>
      <p:sp>
        <p:nvSpPr>
          <p:cNvPr id="15" name="文本框 14">
            <a:extLst>
              <a:ext uri="{FF2B5EF4-FFF2-40B4-BE49-F238E27FC236}">
                <a16:creationId xmlns:a16="http://schemas.microsoft.com/office/drawing/2014/main" id="{D8E62532-DF6E-F1DD-EA54-DED1E68D1F84}"/>
              </a:ext>
            </a:extLst>
          </p:cNvPr>
          <p:cNvSpPr txBox="1"/>
          <p:nvPr/>
        </p:nvSpPr>
        <p:spPr>
          <a:xfrm>
            <a:off x="5421742" y="2820516"/>
            <a:ext cx="747320" cy="461665"/>
          </a:xfrm>
          <a:prstGeom prst="rect">
            <a:avLst/>
          </a:prstGeom>
          <a:noFill/>
        </p:spPr>
        <p:txBody>
          <a:bodyPr wrap="none" rtlCol="0">
            <a:spAutoFit/>
          </a:bodyPr>
          <a:lstStyle/>
          <a:p>
            <a:r>
              <a:rPr lang="en-US" altLang="zh-CN" sz="2400" dirty="0">
                <a:solidFill>
                  <a:srgbClr val="0070C0"/>
                </a:solidFill>
              </a:rPr>
              <a:t>101</a:t>
            </a:r>
            <a:endParaRPr lang="en-US" sz="2400" dirty="0">
              <a:solidFill>
                <a:srgbClr val="0070C0"/>
              </a:solidFill>
            </a:endParaRPr>
          </a:p>
        </p:txBody>
      </p:sp>
      <p:sp>
        <p:nvSpPr>
          <p:cNvPr id="16" name="文本框 15">
            <a:extLst>
              <a:ext uri="{FF2B5EF4-FFF2-40B4-BE49-F238E27FC236}">
                <a16:creationId xmlns:a16="http://schemas.microsoft.com/office/drawing/2014/main" id="{6E07AD98-87AB-D82F-9869-2162FD51B202}"/>
              </a:ext>
            </a:extLst>
          </p:cNvPr>
          <p:cNvSpPr txBox="1"/>
          <p:nvPr/>
        </p:nvSpPr>
        <p:spPr>
          <a:xfrm>
            <a:off x="5421742" y="3158744"/>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sp>
        <p:nvSpPr>
          <p:cNvPr id="17" name="文本框 16">
            <a:extLst>
              <a:ext uri="{FF2B5EF4-FFF2-40B4-BE49-F238E27FC236}">
                <a16:creationId xmlns:a16="http://schemas.microsoft.com/office/drawing/2014/main" id="{95BFF0B9-A088-BA35-CC84-46DDC6C946D7}"/>
              </a:ext>
            </a:extLst>
          </p:cNvPr>
          <p:cNvSpPr txBox="1"/>
          <p:nvPr/>
        </p:nvSpPr>
        <p:spPr>
          <a:xfrm>
            <a:off x="5421742" y="3533475"/>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pic>
        <p:nvPicPr>
          <p:cNvPr id="4098" name="Picture 2" descr="Locked padlock - Free security icons">
            <a:extLst>
              <a:ext uri="{FF2B5EF4-FFF2-40B4-BE49-F238E27FC236}">
                <a16:creationId xmlns:a16="http://schemas.microsoft.com/office/drawing/2014/main" id="{5CA256FA-EE94-3B4C-2EC2-556E020EAF2D}"/>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726489" y="2419637"/>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9B1FBBC7-E1F3-AA92-FB2F-485F11B17184}"/>
              </a:ext>
            </a:extLst>
          </p:cNvPr>
          <p:cNvSpPr txBox="1"/>
          <p:nvPr/>
        </p:nvSpPr>
        <p:spPr>
          <a:xfrm>
            <a:off x="3582514" y="3567118"/>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20" name="文本框 19">
            <a:extLst>
              <a:ext uri="{FF2B5EF4-FFF2-40B4-BE49-F238E27FC236}">
                <a16:creationId xmlns:a16="http://schemas.microsoft.com/office/drawing/2014/main" id="{233131BF-0813-E582-2902-E94288F8349D}"/>
              </a:ext>
            </a:extLst>
          </p:cNvPr>
          <p:cNvSpPr txBox="1"/>
          <p:nvPr/>
        </p:nvSpPr>
        <p:spPr>
          <a:xfrm>
            <a:off x="5399971" y="2217990"/>
            <a:ext cx="747320" cy="461665"/>
          </a:xfrm>
          <a:prstGeom prst="rect">
            <a:avLst/>
          </a:prstGeom>
          <a:noFill/>
        </p:spPr>
        <p:txBody>
          <a:bodyPr wrap="none" rtlCol="0">
            <a:spAutoFit/>
          </a:bodyPr>
          <a:lstStyle/>
          <a:p>
            <a:r>
              <a:rPr lang="en-US" altLang="zh-CN" sz="2400" dirty="0"/>
              <a:t>101</a:t>
            </a:r>
            <a:endParaRPr lang="en-US" sz="2400" dirty="0"/>
          </a:p>
        </p:txBody>
      </p:sp>
      <p:pic>
        <p:nvPicPr>
          <p:cNvPr id="21" name="Picture 2" descr="Locked padlock - Free security icons">
            <a:extLst>
              <a:ext uri="{FF2B5EF4-FFF2-40B4-BE49-F238E27FC236}">
                <a16:creationId xmlns:a16="http://schemas.microsoft.com/office/drawing/2014/main" id="{7F80E48C-CBE6-E118-F56D-82B0018EB059}"/>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753461" y="3758580"/>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C59AE186-98FC-2EFF-4BA0-0A970BD1CFF7}"/>
              </a:ext>
            </a:extLst>
          </p:cNvPr>
          <p:cNvSpPr txBox="1"/>
          <p:nvPr/>
        </p:nvSpPr>
        <p:spPr>
          <a:xfrm>
            <a:off x="8609486" y="4906061"/>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9" name="文本框 8">
            <a:extLst>
              <a:ext uri="{FF2B5EF4-FFF2-40B4-BE49-F238E27FC236}">
                <a16:creationId xmlns:a16="http://schemas.microsoft.com/office/drawing/2014/main" id="{2803DB31-DE90-1E73-D89F-97B424B8E76F}"/>
              </a:ext>
            </a:extLst>
          </p:cNvPr>
          <p:cNvSpPr txBox="1"/>
          <p:nvPr/>
        </p:nvSpPr>
        <p:spPr>
          <a:xfrm>
            <a:off x="0" y="4379648"/>
            <a:ext cx="8502294" cy="2308324"/>
          </a:xfrm>
          <a:prstGeom prst="rect">
            <a:avLst/>
          </a:prstGeom>
          <a:noFill/>
        </p:spPr>
        <p:txBody>
          <a:bodyPr wrap="square">
            <a:spAutoFit/>
          </a:bodyPr>
          <a:lstStyle/>
          <a:p>
            <a:pPr marL="742950" lvl="1" indent="-285750">
              <a:buFont typeface="Arial" panose="020B0604020202020204" pitchFamily="34" charset="0"/>
              <a:buChar char="•"/>
            </a:pPr>
            <a:r>
              <a:rPr lang="en-US" altLang="zh-CN" sz="1800" b="0" dirty="0">
                <a:solidFill>
                  <a:srgbClr val="FF0000"/>
                </a:solidFill>
              </a:rPr>
              <a:t>Critical</a:t>
            </a:r>
            <a:r>
              <a:rPr lang="zh-CN" altLang="en-US" sz="1800" b="0" dirty="0">
                <a:solidFill>
                  <a:srgbClr val="FF0000"/>
                </a:solidFill>
              </a:rPr>
              <a:t> </a:t>
            </a:r>
            <a:r>
              <a:rPr lang="en-US" altLang="zh-CN" sz="1800" b="0" dirty="0">
                <a:solidFill>
                  <a:srgbClr val="FF0000"/>
                </a:solidFill>
              </a:rPr>
              <a:t>section</a:t>
            </a:r>
            <a:r>
              <a:rPr lang="en-US" altLang="zh-CN" sz="1800" b="0" dirty="0"/>
              <a:t>:</a:t>
            </a:r>
            <a:r>
              <a:rPr lang="zh-CN" altLang="en-US" sz="1800" b="0" dirty="0"/>
              <a:t> </a:t>
            </a:r>
            <a:r>
              <a:rPr lang="en-US" altLang="zh-CN" sz="1800" b="0" dirty="0">
                <a:latin typeface="Helvetica" pitchFamily="2" charset="0"/>
              </a:rPr>
              <a:t>a piece of code that accesses a </a:t>
            </a:r>
            <a:r>
              <a:rPr lang="en-US" altLang="zh-CN" sz="1800" b="0" dirty="0">
                <a:solidFill>
                  <a:srgbClr val="0070C0"/>
                </a:solidFill>
                <a:latin typeface="Helvetica" pitchFamily="2" charset="0"/>
              </a:rPr>
              <a:t>shared </a:t>
            </a:r>
            <a:r>
              <a:rPr lang="en-US" altLang="zh-CN" sz="1800" b="0" dirty="0">
                <a:latin typeface="Helvetica" pitchFamily="2" charset="0"/>
              </a:rPr>
              <a:t>resource,</a:t>
            </a:r>
            <a:r>
              <a:rPr lang="zh-CN" altLang="en-US" sz="1800" b="0" dirty="0">
                <a:latin typeface="Helvetica" pitchFamily="2" charset="0"/>
              </a:rPr>
              <a:t> </a:t>
            </a:r>
            <a:r>
              <a:rPr lang="en-US" altLang="zh-CN" sz="1800" b="0" dirty="0">
                <a:latin typeface="Helvetica" pitchFamily="2" charset="0"/>
              </a:rPr>
              <a:t>usually a variable or data structure</a:t>
            </a:r>
          </a:p>
          <a:p>
            <a:pPr marL="742950" lvl="1" indent="-285750">
              <a:buFont typeface="Arial" panose="020B0604020202020204" pitchFamily="34" charset="0"/>
              <a:buChar char="•"/>
            </a:pPr>
            <a:r>
              <a:rPr lang="en-US" altLang="zh-CN" b="0" dirty="0">
                <a:latin typeface="Helvetica" pitchFamily="2" charset="0"/>
              </a:rPr>
              <a:t>Correctness of a concurrent program:</a:t>
            </a:r>
            <a:endParaRPr lang="en-US" altLang="zh-CN" sz="1800" b="0" dirty="0">
              <a:latin typeface="Helvetica" pitchFamily="2" charset="0"/>
            </a:endParaRPr>
          </a:p>
          <a:p>
            <a:pPr marL="1200150" lvl="2" indent="-285750">
              <a:buFont typeface="Arial" panose="020B0604020202020204" pitchFamily="34" charset="0"/>
              <a:buChar char="•"/>
            </a:pPr>
            <a:r>
              <a:rPr lang="en-US" altLang="zh-CN" b="0" dirty="0">
                <a:solidFill>
                  <a:srgbClr val="FF0000"/>
                </a:solidFill>
                <a:effectLst/>
                <a:latin typeface="Helvetica" pitchFamily="2" charset="0"/>
              </a:rPr>
              <a:t>Mutual exclusion</a:t>
            </a:r>
            <a:r>
              <a:rPr lang="en-US" altLang="zh-CN" b="0" dirty="0">
                <a:effectLst/>
                <a:latin typeface="Helvetica" pitchFamily="2" charset="0"/>
              </a:rPr>
              <a:t>:</a:t>
            </a:r>
            <a:r>
              <a:rPr lang="zh-CN" altLang="en-US" b="0" dirty="0">
                <a:effectLst/>
                <a:latin typeface="Helvetica" pitchFamily="2" charset="0"/>
              </a:rPr>
              <a:t> </a:t>
            </a:r>
            <a:r>
              <a:rPr lang="en-US" altLang="zh-CN" b="0" dirty="0">
                <a:effectLst/>
                <a:latin typeface="Helvetica" pitchFamily="2" charset="0"/>
              </a:rPr>
              <a:t>Only one thread in critical section at a time</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Progress (deadlock-free)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If several simultaneous requests, must allow one to proceed</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Bounded waiting (starvation-free)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Must eventually allow each waiting thread to enter</a:t>
            </a:r>
          </a:p>
        </p:txBody>
      </p:sp>
    </p:spTree>
    <p:extLst>
      <p:ext uri="{BB962C8B-B14F-4D97-AF65-F5344CB8AC3E}">
        <p14:creationId xmlns:p14="http://schemas.microsoft.com/office/powerpoint/2010/main" val="20083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9" grpId="0"/>
      <p:bldP spid="20"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6ACBEC-3A2D-0F3C-69F5-E226FE7BD638}"/>
              </a:ext>
            </a:extLst>
          </p:cNvPr>
          <p:cNvSpPr>
            <a:spLocks noGrp="1"/>
          </p:cNvSpPr>
          <p:nvPr>
            <p:ph type="title"/>
          </p:nvPr>
        </p:nvSpPr>
        <p:spPr/>
        <p:txBody>
          <a:bodyPr/>
          <a:lstStyle/>
          <a:p>
            <a:r>
              <a:rPr lang="en-US" altLang="zh-CN" dirty="0"/>
              <a:t>Locks</a:t>
            </a:r>
            <a:endParaRPr lang="en-US" dirty="0"/>
          </a:p>
        </p:txBody>
      </p:sp>
      <p:sp>
        <p:nvSpPr>
          <p:cNvPr id="3" name="内容占位符 2">
            <a:extLst>
              <a:ext uri="{FF2B5EF4-FFF2-40B4-BE49-F238E27FC236}">
                <a16:creationId xmlns:a16="http://schemas.microsoft.com/office/drawing/2014/main" id="{960752D7-E7F1-9E8C-C134-54FD99D3AAF3}"/>
              </a:ext>
            </a:extLst>
          </p:cNvPr>
          <p:cNvSpPr>
            <a:spLocks noGrp="1"/>
          </p:cNvSpPr>
          <p:nvPr>
            <p:ph idx="1"/>
          </p:nvPr>
        </p:nvSpPr>
        <p:spPr/>
        <p:txBody>
          <a:bodyPr/>
          <a:lstStyle/>
          <a:p>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lock</a:t>
            </a:r>
            <a:r>
              <a:rPr lang="zh-CN" altLang="en-US" dirty="0">
                <a:effectLst/>
                <a:latin typeface="Helvetica" pitchFamily="2" charset="0"/>
              </a:rPr>
              <a:t> </a:t>
            </a:r>
            <a:r>
              <a:rPr lang="en-US" altLang="zh-CN" dirty="0">
                <a:effectLst/>
                <a:latin typeface="Helvetica" pitchFamily="2" charset="0"/>
              </a:rPr>
              <a:t>is</a:t>
            </a:r>
            <a:r>
              <a:rPr lang="zh-CN" altLang="en-US" dirty="0">
                <a:effectLst/>
                <a:latin typeface="Helvetica" pitchFamily="2" charset="0"/>
              </a:rPr>
              <a:t> </a:t>
            </a:r>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variable</a:t>
            </a:r>
          </a:p>
          <a:p>
            <a:r>
              <a:rPr lang="en-US" altLang="zh-CN" b="1" dirty="0">
                <a:solidFill>
                  <a:srgbClr val="0070C0"/>
                </a:solidFill>
                <a:latin typeface="Helvetica" pitchFamily="2" charset="0"/>
              </a:rPr>
              <a:t>Objective:</a:t>
            </a:r>
            <a:r>
              <a:rPr lang="zh-CN" altLang="en-US" b="1" dirty="0">
                <a:solidFill>
                  <a:srgbClr val="0070C0"/>
                </a:solidFill>
                <a:latin typeface="Helvetica" pitchFamily="2" charset="0"/>
              </a:rPr>
              <a:t> </a:t>
            </a:r>
            <a:r>
              <a:rPr lang="en-US" altLang="zh-CN" dirty="0">
                <a:latin typeface="Helvetica" pitchFamily="2" charset="0"/>
              </a:rPr>
              <a:t>Provide</a:t>
            </a:r>
            <a:r>
              <a:rPr lang="zh-CN" altLang="en-US" dirty="0">
                <a:solidFill>
                  <a:srgbClr val="0070C0"/>
                </a:solidFill>
                <a:latin typeface="Helvetica" pitchFamily="2" charset="0"/>
              </a:rPr>
              <a:t> </a:t>
            </a:r>
            <a:r>
              <a:rPr lang="en-US" altLang="zh-CN" dirty="0">
                <a:solidFill>
                  <a:srgbClr val="0070C0"/>
                </a:solidFill>
                <a:latin typeface="Helvetica" pitchFamily="2" charset="0"/>
              </a:rPr>
              <a:t>mutual</a:t>
            </a:r>
            <a:r>
              <a:rPr lang="zh-CN" altLang="en-US" dirty="0">
                <a:solidFill>
                  <a:srgbClr val="0070C0"/>
                </a:solidFill>
                <a:latin typeface="Helvetica" pitchFamily="2" charset="0"/>
              </a:rPr>
              <a:t> </a:t>
            </a:r>
            <a:r>
              <a:rPr lang="en-US" altLang="zh-CN" dirty="0">
                <a:solidFill>
                  <a:srgbClr val="0070C0"/>
                </a:solidFill>
                <a:latin typeface="Helvetica" pitchFamily="2" charset="0"/>
              </a:rPr>
              <a:t>exclusion (mutex)</a:t>
            </a:r>
            <a:endParaRPr lang="en-US" altLang="zh-CN" dirty="0">
              <a:solidFill>
                <a:srgbClr val="0070C0"/>
              </a:solidFill>
              <a:effectLst/>
              <a:latin typeface="Helvetica" pitchFamily="2" charset="0"/>
            </a:endParaRPr>
          </a:p>
          <a:p>
            <a:r>
              <a:rPr lang="en-US" altLang="zh-CN" dirty="0">
                <a:effectLst/>
                <a:latin typeface="Helvetica" pitchFamily="2" charset="0"/>
              </a:rPr>
              <a:t>Two states</a:t>
            </a:r>
          </a:p>
          <a:p>
            <a:pPr lvl="1"/>
            <a:r>
              <a:rPr lang="en-US" altLang="zh-CN" dirty="0">
                <a:solidFill>
                  <a:srgbClr val="0070C0"/>
                </a:solidFill>
                <a:effectLst/>
                <a:latin typeface="Helvetica" pitchFamily="2" charset="0"/>
              </a:rPr>
              <a:t>Available</a:t>
            </a:r>
            <a:r>
              <a:rPr lang="en-US" altLang="zh-CN" dirty="0">
                <a:effectLst/>
                <a:latin typeface="Helvetica" pitchFamily="2" charset="0"/>
              </a:rPr>
              <a:t> or </a:t>
            </a:r>
            <a:r>
              <a:rPr lang="en-US" altLang="zh-CN" dirty="0">
                <a:solidFill>
                  <a:srgbClr val="0070C0"/>
                </a:solidFill>
                <a:effectLst/>
                <a:latin typeface="Helvetica" pitchFamily="2" charset="0"/>
              </a:rPr>
              <a:t>free</a:t>
            </a:r>
          </a:p>
          <a:p>
            <a:pPr lvl="1"/>
            <a:r>
              <a:rPr lang="en-US" altLang="zh-CN" dirty="0">
                <a:solidFill>
                  <a:srgbClr val="FF0000"/>
                </a:solidFill>
                <a:effectLst/>
                <a:latin typeface="Helvetica" pitchFamily="2" charset="0"/>
              </a:rPr>
              <a:t>Locked</a:t>
            </a:r>
            <a:r>
              <a:rPr lang="en-US" altLang="zh-CN" dirty="0">
                <a:effectLst/>
                <a:latin typeface="Helvetica" pitchFamily="2" charset="0"/>
              </a:rPr>
              <a:t> or </a:t>
            </a:r>
            <a:r>
              <a:rPr lang="en-US" altLang="zh-CN" dirty="0">
                <a:solidFill>
                  <a:srgbClr val="FF0000"/>
                </a:solidFill>
                <a:effectLst/>
                <a:latin typeface="Helvetica" pitchFamily="2" charset="0"/>
              </a:rPr>
              <a:t>held</a:t>
            </a:r>
          </a:p>
          <a:p>
            <a:r>
              <a:rPr lang="en-US" altLang="zh-CN" dirty="0">
                <a:solidFill>
                  <a:srgbClr val="0070C1"/>
                </a:solidFill>
                <a:effectLst/>
                <a:latin typeface="Helvetica" pitchFamily="2" charset="0"/>
              </a:rPr>
              <a:t>lock(): </a:t>
            </a:r>
            <a:r>
              <a:rPr lang="en-US" altLang="zh-CN" dirty="0">
                <a:effectLst/>
                <a:latin typeface="Helvetica" pitchFamily="2" charset="0"/>
              </a:rPr>
              <a:t>tries to acquire the lock</a:t>
            </a:r>
          </a:p>
          <a:p>
            <a:r>
              <a:rPr lang="en-US" altLang="zh-CN" dirty="0">
                <a:solidFill>
                  <a:srgbClr val="0070C1"/>
                </a:solidFill>
                <a:effectLst/>
                <a:latin typeface="Helvetica" pitchFamily="2" charset="0"/>
              </a:rPr>
              <a:t>unlock(): </a:t>
            </a:r>
            <a:r>
              <a:rPr lang="en-US" altLang="zh-CN" dirty="0">
                <a:effectLst/>
                <a:latin typeface="Helvetica" pitchFamily="2" charset="0"/>
              </a:rPr>
              <a:t>releases the lock that was previously acquired</a:t>
            </a:r>
          </a:p>
          <a:p>
            <a:endParaRPr lang="en-US" altLang="zh-CN" dirty="0">
              <a:effectLst/>
              <a:latin typeface="Helvetica" pitchFamily="2" charset="0"/>
            </a:endParaRPr>
          </a:p>
        </p:txBody>
      </p:sp>
      <p:sp>
        <p:nvSpPr>
          <p:cNvPr id="5" name="Plassholder for innhold 2">
            <a:extLst>
              <a:ext uri="{FF2B5EF4-FFF2-40B4-BE49-F238E27FC236}">
                <a16:creationId xmlns:a16="http://schemas.microsoft.com/office/drawing/2014/main" id="{D7EA04BC-2374-A6F1-9ECD-88FFDDC8FA48}"/>
              </a:ext>
            </a:extLst>
          </p:cNvPr>
          <p:cNvSpPr txBox="1">
            <a:spLocks/>
          </p:cNvSpPr>
          <p:nvPr/>
        </p:nvSpPr>
        <p:spPr>
          <a:xfrm>
            <a:off x="8458200" y="1339259"/>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dirty="0" err="1">
                <a:solidFill>
                  <a:srgbClr val="008000"/>
                </a:solidFill>
              </a:rPr>
              <a:t>lock_t</a:t>
            </a:r>
            <a:r>
              <a:rPr lang="zh-CN" altLang="en-US" sz="1600" dirty="0">
                <a:solidFill>
                  <a:srgbClr val="008000"/>
                </a:solidFill>
              </a:rPr>
              <a:t> </a:t>
            </a:r>
            <a:r>
              <a:rPr lang="en-US" altLang="zh-CN" sz="1600" dirty="0">
                <a:solidFill>
                  <a:srgbClr val="008000"/>
                </a:solidFill>
              </a:rPr>
              <a:t>mutex;</a:t>
            </a:r>
          </a:p>
          <a:p>
            <a:pPr marL="0" indent="0">
              <a:buNone/>
            </a:pP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a:solidFill>
                  <a:srgbClr val="0000FF"/>
                </a:solidFill>
              </a:rPr>
              <a:t>worker</a:t>
            </a:r>
            <a:r>
              <a:rPr lang="en-US" altLang="zh-CN" sz="1600" dirty="0"/>
              <a:t>(</a:t>
            </a: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err="1"/>
              <a:t>arg</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err="1"/>
              <a:t>i</a:t>
            </a:r>
            <a:r>
              <a:rPr lang="en-US" altLang="zh-CN" sz="1600" dirty="0"/>
              <a:t>; </a:t>
            </a:r>
          </a:p>
          <a:p>
            <a:pPr marL="0" indent="0">
              <a:buNone/>
            </a:pPr>
            <a:r>
              <a:rPr lang="en-US" altLang="zh-CN" sz="1600" dirty="0">
                <a:solidFill>
                  <a:srgbClr val="008000"/>
                </a:solidFill>
              </a:rPr>
              <a:t>	for</a:t>
            </a:r>
            <a:r>
              <a:rPr lang="en-US" altLang="zh-CN" sz="1600" dirty="0">
                <a:solidFill>
                  <a:srgbClr val="BBBBBB"/>
                </a:solidFill>
              </a:rPr>
              <a:t> </a:t>
            </a:r>
            <a:r>
              <a:rPr lang="en-US" altLang="zh-CN" sz="1600" dirty="0"/>
              <a:t>(</a:t>
            </a:r>
            <a:r>
              <a:rPr lang="en-US" altLang="zh-CN" sz="1600" dirty="0" err="1"/>
              <a:t>i</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err="1"/>
              <a:t>i</a:t>
            </a:r>
            <a:r>
              <a:rPr lang="en-US" altLang="zh-CN" sz="1600" dirty="0">
                <a:solidFill>
                  <a:srgbClr val="BBBBBB"/>
                </a:solidFill>
              </a:rPr>
              <a:t> </a:t>
            </a:r>
            <a:r>
              <a:rPr lang="en-US" altLang="zh-CN" sz="1600" dirty="0">
                <a:solidFill>
                  <a:srgbClr val="666666"/>
                </a:solidFill>
              </a:rPr>
              <a:t>&lt;</a:t>
            </a:r>
            <a:r>
              <a:rPr lang="en-US" altLang="zh-CN" sz="1600" dirty="0">
                <a:solidFill>
                  <a:srgbClr val="BBBBBB"/>
                </a:solidFill>
              </a:rPr>
              <a:t> </a:t>
            </a:r>
            <a:r>
              <a:rPr lang="en-US" altLang="zh-CN" sz="1600" dirty="0" err="1"/>
              <a:t>loops;i</a:t>
            </a:r>
            <a:r>
              <a:rPr lang="en-US" altLang="zh-CN" sz="1600" dirty="0">
                <a:solidFill>
                  <a:srgbClr val="666666"/>
                </a:solidFill>
              </a:rPr>
              <a:t>++</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FF0000"/>
                </a:solidFill>
              </a:rPr>
              <a:t>		lock(&amp;mutex);</a:t>
            </a:r>
          </a:p>
          <a:p>
            <a:pPr marL="0" indent="0">
              <a:buNone/>
            </a:pPr>
            <a:r>
              <a:rPr lang="en-US" altLang="zh-CN" sz="1600" dirty="0"/>
              <a:t>		counter</a:t>
            </a:r>
            <a:r>
              <a:rPr lang="en-US" altLang="zh-CN" sz="1600" dirty="0">
                <a:solidFill>
                  <a:srgbClr val="666666"/>
                </a:solidFill>
              </a:rPr>
              <a:t>++</a:t>
            </a:r>
            <a:r>
              <a:rPr lang="en-US" altLang="zh-CN" sz="1600" dirty="0"/>
              <a:t>; </a:t>
            </a:r>
          </a:p>
          <a:p>
            <a:pPr marL="0" indent="0">
              <a:buNone/>
            </a:pPr>
            <a:r>
              <a:rPr lang="en-US" altLang="zh-CN" sz="1600" dirty="0">
                <a:solidFill>
                  <a:srgbClr val="FF0000"/>
                </a:solidFill>
              </a:rPr>
              <a:t>		unlock(&amp;mutex);} </a:t>
            </a:r>
          </a:p>
          <a:p>
            <a:pPr marL="0" indent="0">
              <a:buNone/>
            </a:pPr>
            <a:r>
              <a:rPr lang="zh-CN" altLang="en-US" sz="1600" dirty="0">
                <a:solidFill>
                  <a:srgbClr val="008000"/>
                </a:solidFill>
              </a:rPr>
              <a:t>        </a:t>
            </a:r>
            <a:r>
              <a:rPr lang="en-US" altLang="zh-CN" sz="1600" dirty="0">
                <a:solidFill>
                  <a:srgbClr val="008000"/>
                </a:solidFill>
              </a:rPr>
              <a:t>return</a:t>
            </a:r>
            <a:r>
              <a:rPr lang="en-US" altLang="zh-CN" sz="1600" dirty="0">
                <a:solidFill>
                  <a:srgbClr val="BBBBBB"/>
                </a:solidFill>
              </a:rPr>
              <a:t> </a:t>
            </a:r>
            <a:r>
              <a:rPr lang="en-US" altLang="zh-CN" sz="1600" dirty="0">
                <a:solidFill>
                  <a:srgbClr val="008000"/>
                </a:solidFill>
              </a:rPr>
              <a:t>NULL</a:t>
            </a:r>
            <a:r>
              <a:rPr lang="en-US" altLang="zh-CN" sz="1600" dirty="0"/>
              <a:t>; </a:t>
            </a:r>
          </a:p>
          <a:p>
            <a:pPr marL="0" indent="0">
              <a:buNone/>
            </a:pPr>
            <a:r>
              <a:rPr lang="en-US" altLang="zh-CN" sz="1600" dirty="0"/>
              <a:t>}</a:t>
            </a:r>
            <a:endParaRPr lang="nb-NO" sz="1600" dirty="0"/>
          </a:p>
        </p:txBody>
      </p:sp>
    </p:spTree>
    <p:extLst>
      <p:ext uri="{BB962C8B-B14F-4D97-AF65-F5344CB8AC3E}">
        <p14:creationId xmlns:p14="http://schemas.microsoft.com/office/powerpoint/2010/main" val="3443019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508448-D0CD-4483-E8CF-278884CC761B}"/>
              </a:ext>
            </a:extLst>
          </p:cNvPr>
          <p:cNvSpPr>
            <a:spLocks noGrp="1"/>
          </p:cNvSpPr>
          <p:nvPr>
            <p:ph type="title"/>
          </p:nvPr>
        </p:nvSpPr>
        <p:spPr/>
        <p:txBody>
          <a:bodyPr/>
          <a:lstStyle/>
          <a:p>
            <a:r>
              <a:rPr lang="en-US" altLang="zh-CN" dirty="0"/>
              <a:t>Locks: Disable Interrupts</a:t>
            </a:r>
            <a:endParaRPr lang="en-US" dirty="0"/>
          </a:p>
        </p:txBody>
      </p:sp>
      <p:sp>
        <p:nvSpPr>
          <p:cNvPr id="3" name="内容占位符 2">
            <a:extLst>
              <a:ext uri="{FF2B5EF4-FFF2-40B4-BE49-F238E27FC236}">
                <a16:creationId xmlns:a16="http://schemas.microsoft.com/office/drawing/2014/main" id="{BFBF4951-B690-480B-9C05-F0C946504920}"/>
              </a:ext>
            </a:extLst>
          </p:cNvPr>
          <p:cNvSpPr>
            <a:spLocks noGrp="1"/>
          </p:cNvSpPr>
          <p:nvPr>
            <p:ph idx="1"/>
          </p:nvPr>
        </p:nvSpPr>
        <p:spPr/>
        <p:txBody>
          <a:bodyPr>
            <a:normAutofit/>
          </a:bodyPr>
          <a:lstStyle/>
          <a:p>
            <a:r>
              <a:rPr lang="en-US" altLang="zh-CN" dirty="0"/>
              <a:t>An</a:t>
            </a:r>
            <a:r>
              <a:rPr lang="zh-CN" altLang="en-US" dirty="0"/>
              <a:t> </a:t>
            </a:r>
            <a:r>
              <a:rPr lang="en-US" altLang="zh-CN" dirty="0"/>
              <a:t>early</a:t>
            </a:r>
            <a:r>
              <a:rPr lang="zh-CN" altLang="en-US" dirty="0"/>
              <a:t> </a:t>
            </a:r>
            <a:r>
              <a:rPr lang="en-US" altLang="zh-CN" dirty="0"/>
              <a:t>solution:</a:t>
            </a:r>
            <a:r>
              <a:rPr lang="zh-CN" altLang="en-US" dirty="0"/>
              <a:t> </a:t>
            </a:r>
            <a:r>
              <a:rPr lang="en-US" altLang="zh-CN" dirty="0"/>
              <a:t>disable</a:t>
            </a:r>
            <a:r>
              <a:rPr lang="zh-CN" altLang="en-US" dirty="0"/>
              <a:t> </a:t>
            </a:r>
            <a:r>
              <a:rPr lang="en-US" altLang="zh-CN" dirty="0"/>
              <a:t>interrupts</a:t>
            </a:r>
            <a:r>
              <a:rPr lang="zh-CN" altLang="en-US" dirty="0"/>
              <a:t> </a:t>
            </a:r>
            <a:r>
              <a:rPr lang="en-US" altLang="zh-CN" dirty="0"/>
              <a:t>for</a:t>
            </a:r>
            <a:r>
              <a:rPr lang="zh-CN" altLang="en-US" dirty="0"/>
              <a:t> </a:t>
            </a:r>
            <a:r>
              <a:rPr lang="en-US" altLang="zh-CN" dirty="0"/>
              <a:t>critical</a:t>
            </a:r>
            <a:r>
              <a:rPr lang="zh-CN" altLang="en-US" dirty="0"/>
              <a:t> </a:t>
            </a:r>
            <a:r>
              <a:rPr lang="en-US" altLang="zh-CN" dirty="0"/>
              <a:t>sections</a:t>
            </a:r>
          </a:p>
          <a:p>
            <a:r>
              <a:rPr lang="en-US" altLang="zh-CN" dirty="0"/>
              <a:t>Problems:</a:t>
            </a:r>
            <a:r>
              <a:rPr lang="zh-CN" altLang="en-US" dirty="0"/>
              <a:t> </a:t>
            </a:r>
            <a:endParaRPr lang="en-US" altLang="zh-CN" dirty="0"/>
          </a:p>
          <a:p>
            <a:pPr lvl="1"/>
            <a:r>
              <a:rPr lang="en-GB" altLang="zh-CN" dirty="0"/>
              <a:t>System becomes unresponsive if interrupts are disabled for a long time</a:t>
            </a:r>
          </a:p>
          <a:p>
            <a:pPr lvl="1"/>
            <a:r>
              <a:rPr lang="en-US" altLang="zh-CN" dirty="0"/>
              <a:t>Does</a:t>
            </a:r>
            <a:r>
              <a:rPr lang="zh-CN" altLang="en-US" dirty="0"/>
              <a:t> </a:t>
            </a:r>
            <a:r>
              <a:rPr lang="en-US" altLang="zh-CN" dirty="0"/>
              <a:t>not</a:t>
            </a:r>
            <a:r>
              <a:rPr lang="zh-CN" altLang="en-US" dirty="0"/>
              <a:t> </a:t>
            </a:r>
            <a:r>
              <a:rPr lang="en-US" altLang="zh-CN" dirty="0"/>
              <a:t>work</a:t>
            </a:r>
            <a:r>
              <a:rPr lang="zh-CN" altLang="en-US" dirty="0"/>
              <a:t> </a:t>
            </a:r>
            <a:r>
              <a:rPr lang="en-US" altLang="zh-CN" dirty="0"/>
              <a:t>on</a:t>
            </a:r>
            <a:r>
              <a:rPr lang="zh-CN" altLang="en-US" dirty="0"/>
              <a:t> </a:t>
            </a:r>
            <a:r>
              <a:rPr lang="en-US" altLang="zh-CN" dirty="0"/>
              <a:t>multiprocessors</a:t>
            </a:r>
            <a:r>
              <a:rPr lang="en-GB" altLang="zh-CN" dirty="0"/>
              <a:t>, as disabling interrupts on all processor cores requires inter-core messages and would be very time consuming</a:t>
            </a:r>
            <a:endParaRPr lang="en-US" altLang="zh-CN" dirty="0"/>
          </a:p>
        </p:txBody>
      </p:sp>
      <p:pic>
        <p:nvPicPr>
          <p:cNvPr id="5" name="图片 4">
            <a:extLst>
              <a:ext uri="{FF2B5EF4-FFF2-40B4-BE49-F238E27FC236}">
                <a16:creationId xmlns:a16="http://schemas.microsoft.com/office/drawing/2014/main" id="{9D38BF38-DC33-34F1-AE53-FEE43F14B8A9}"/>
              </a:ext>
            </a:extLst>
          </p:cNvPr>
          <p:cNvPicPr>
            <a:picLocks noChangeAspect="1"/>
          </p:cNvPicPr>
          <p:nvPr/>
        </p:nvPicPr>
        <p:blipFill>
          <a:blip r:embed="rId3"/>
          <a:stretch>
            <a:fillRect/>
          </a:stretch>
        </p:blipFill>
        <p:spPr>
          <a:xfrm>
            <a:off x="4419600" y="3124200"/>
            <a:ext cx="4092388" cy="1932517"/>
          </a:xfrm>
          <a:prstGeom prst="rect">
            <a:avLst/>
          </a:prstGeom>
        </p:spPr>
      </p:pic>
    </p:spTree>
    <p:extLst>
      <p:ext uri="{BB962C8B-B14F-4D97-AF65-F5344CB8AC3E}">
        <p14:creationId xmlns:p14="http://schemas.microsoft.com/office/powerpoint/2010/main" val="250555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FEE6C2-FE33-908E-6602-16FBFBA8F856}"/>
              </a:ext>
            </a:extLst>
          </p:cNvPr>
          <p:cNvSpPr>
            <a:spLocks noGrp="1"/>
          </p:cNvSpPr>
          <p:nvPr>
            <p:ph type="title"/>
          </p:nvPr>
        </p:nvSpPr>
        <p:spPr/>
        <p:txBody>
          <a:bodyPr/>
          <a:lstStyle/>
          <a:p>
            <a:r>
              <a:rPr lang="en-US" altLang="zh-CN" dirty="0"/>
              <a:t>Locks:</a:t>
            </a:r>
            <a:r>
              <a:rPr lang="zh-CN" altLang="en-US" dirty="0"/>
              <a:t> </a:t>
            </a:r>
            <a:r>
              <a:rPr lang="en-US" altLang="zh-CN" dirty="0"/>
              <a:t>Loads/Stores</a:t>
            </a:r>
            <a:endParaRPr lang="en-US" dirty="0"/>
          </a:p>
        </p:txBody>
      </p:sp>
      <p:sp>
        <p:nvSpPr>
          <p:cNvPr id="3" name="内容占位符 2">
            <a:extLst>
              <a:ext uri="{FF2B5EF4-FFF2-40B4-BE49-F238E27FC236}">
                <a16:creationId xmlns:a16="http://schemas.microsoft.com/office/drawing/2014/main" id="{C2B43995-29E2-B617-DB18-8A6C9C00386F}"/>
              </a:ext>
            </a:extLst>
          </p:cNvPr>
          <p:cNvSpPr>
            <a:spLocks noGrp="1"/>
          </p:cNvSpPr>
          <p:nvPr>
            <p:ph idx="1"/>
          </p:nvPr>
        </p:nvSpPr>
        <p:spPr>
          <a:xfrm>
            <a:off x="438807" y="836170"/>
            <a:ext cx="11336392" cy="2107014"/>
          </a:xfrm>
        </p:spPr>
        <p:txBody>
          <a:bodyPr>
            <a:normAutofit lnSpcReduction="10000"/>
          </a:bodyPr>
          <a:lstStyle/>
          <a:p>
            <a:r>
              <a:rPr lang="en-US" altLang="zh-CN" dirty="0"/>
              <a:t>This implementation does not ensure mutual</a:t>
            </a:r>
            <a:r>
              <a:rPr lang="zh-CN" altLang="en-US" dirty="0"/>
              <a:t> </a:t>
            </a:r>
            <a:r>
              <a:rPr lang="en-US" altLang="zh-CN" dirty="0"/>
              <a:t>exclusion, since both</a:t>
            </a:r>
            <a:r>
              <a:rPr lang="zh-CN" altLang="en-US" dirty="0"/>
              <a:t> </a:t>
            </a:r>
            <a:r>
              <a:rPr lang="en-US" altLang="zh-CN" dirty="0"/>
              <a:t>threads</a:t>
            </a:r>
            <a:r>
              <a:rPr lang="zh-CN" altLang="en-US" dirty="0"/>
              <a:t> </a:t>
            </a:r>
            <a:r>
              <a:rPr lang="en-GB" altLang="zh-CN" dirty="0"/>
              <a:t>may </a:t>
            </a:r>
            <a:r>
              <a:rPr lang="en-US" altLang="zh-CN" dirty="0"/>
              <a:t>grab</a:t>
            </a:r>
            <a:r>
              <a:rPr lang="zh-CN" altLang="en-US" dirty="0"/>
              <a:t> </a:t>
            </a:r>
            <a:r>
              <a:rPr lang="en-US" altLang="zh-CN" dirty="0"/>
              <a:t>the</a:t>
            </a:r>
            <a:r>
              <a:rPr lang="zh-CN" altLang="en-US" dirty="0"/>
              <a:t> </a:t>
            </a:r>
            <a:r>
              <a:rPr lang="en-US" altLang="zh-CN" dirty="0"/>
              <a:t>lock:</a:t>
            </a:r>
          </a:p>
          <a:p>
            <a:r>
              <a:rPr lang="en-US" altLang="zh-CN" dirty="0"/>
              <a:t>After Thread 1 reads flag==0 and exits the while(flag) spin-wait loop, it is preempted/interrupted by Thread 2, which also reads flag==0 and exits the while(flag</a:t>
            </a:r>
            <a:r>
              <a:rPr lang="en-US" altLang="zh-CN"/>
              <a:t>) spin-wait </a:t>
            </a:r>
            <a:r>
              <a:rPr lang="en-US" altLang="zh-CN" dirty="0"/>
              <a:t>loop. Then both threads set flag=1 and enter the critical section.</a:t>
            </a:r>
          </a:p>
          <a:p>
            <a:r>
              <a:rPr lang="en-US" altLang="zh-CN" dirty="0"/>
              <a:t>Root cause: Lock</a:t>
            </a:r>
            <a:r>
              <a:rPr lang="zh-CN" altLang="en-US" dirty="0"/>
              <a:t> </a:t>
            </a:r>
            <a:r>
              <a:rPr lang="en-US" altLang="zh-CN" dirty="0"/>
              <a:t>is</a:t>
            </a:r>
            <a:r>
              <a:rPr lang="zh-CN" altLang="en-US" dirty="0"/>
              <a:t> </a:t>
            </a:r>
            <a:r>
              <a:rPr lang="en-US" altLang="zh-CN" dirty="0"/>
              <a:t>not an</a:t>
            </a:r>
            <a:r>
              <a:rPr lang="zh-CN" altLang="en-US" dirty="0"/>
              <a:t> </a:t>
            </a:r>
            <a:r>
              <a:rPr lang="en-US" altLang="zh-CN" dirty="0"/>
              <a:t>atomic operation!</a:t>
            </a:r>
            <a:endParaRPr lang="en-US" dirty="0"/>
          </a:p>
        </p:txBody>
      </p:sp>
      <p:pic>
        <p:nvPicPr>
          <p:cNvPr id="5" name="图片 4">
            <a:extLst>
              <a:ext uri="{FF2B5EF4-FFF2-40B4-BE49-F238E27FC236}">
                <a16:creationId xmlns:a16="http://schemas.microsoft.com/office/drawing/2014/main" id="{51CDA18B-86BC-120E-FB90-91EFF6B9C33C}"/>
              </a:ext>
            </a:extLst>
          </p:cNvPr>
          <p:cNvPicPr>
            <a:picLocks noChangeAspect="1"/>
          </p:cNvPicPr>
          <p:nvPr/>
        </p:nvPicPr>
        <p:blipFill rotWithShape="1">
          <a:blip r:embed="rId3"/>
          <a:srcRect b="2011"/>
          <a:stretch/>
        </p:blipFill>
        <p:spPr>
          <a:xfrm>
            <a:off x="0" y="2971801"/>
            <a:ext cx="5776961" cy="3513992"/>
          </a:xfrm>
          <a:prstGeom prst="rect">
            <a:avLst/>
          </a:prstGeom>
        </p:spPr>
      </p:pic>
      <p:grpSp>
        <p:nvGrpSpPr>
          <p:cNvPr id="12" name="Group 11">
            <a:extLst>
              <a:ext uri="{FF2B5EF4-FFF2-40B4-BE49-F238E27FC236}">
                <a16:creationId xmlns:a16="http://schemas.microsoft.com/office/drawing/2014/main" id="{13B10D53-DAFC-A89B-7660-B2BB8072209B}"/>
              </a:ext>
            </a:extLst>
          </p:cNvPr>
          <p:cNvGrpSpPr/>
          <p:nvPr/>
        </p:nvGrpSpPr>
        <p:grpSpPr>
          <a:xfrm>
            <a:off x="5776961" y="3335779"/>
            <a:ext cx="6186506" cy="2686051"/>
            <a:chOff x="1744735" y="877084"/>
            <a:chExt cx="8596146" cy="3732266"/>
          </a:xfrm>
        </p:grpSpPr>
        <p:pic>
          <p:nvPicPr>
            <p:cNvPr id="10" name="图片 4">
              <a:extLst>
                <a:ext uri="{FF2B5EF4-FFF2-40B4-BE49-F238E27FC236}">
                  <a16:creationId xmlns:a16="http://schemas.microsoft.com/office/drawing/2014/main" id="{AA762737-FAE7-795F-2A3A-903843091E29}"/>
                </a:ext>
              </a:extLst>
            </p:cNvPr>
            <p:cNvPicPr>
              <a:picLocks noChangeAspect="1"/>
            </p:cNvPicPr>
            <p:nvPr/>
          </p:nvPicPr>
          <p:blipFill>
            <a:blip r:embed="rId4"/>
            <a:stretch>
              <a:fillRect/>
            </a:stretch>
          </p:blipFill>
          <p:spPr>
            <a:xfrm>
              <a:off x="1744735" y="1472450"/>
              <a:ext cx="8596146" cy="3136900"/>
            </a:xfrm>
            <a:prstGeom prst="rect">
              <a:avLst/>
            </a:prstGeom>
          </p:spPr>
        </p:pic>
        <p:sp>
          <p:nvSpPr>
            <p:cNvPr id="11" name="文本框 7">
              <a:extLst>
                <a:ext uri="{FF2B5EF4-FFF2-40B4-BE49-F238E27FC236}">
                  <a16:creationId xmlns:a16="http://schemas.microsoft.com/office/drawing/2014/main" id="{0E852D2D-A657-57D8-A3D5-B75DD9185828}"/>
                </a:ext>
              </a:extLst>
            </p:cNvPr>
            <p:cNvSpPr txBox="1"/>
            <p:nvPr/>
          </p:nvSpPr>
          <p:spPr>
            <a:xfrm>
              <a:off x="1894323" y="877084"/>
              <a:ext cx="1486503" cy="595366"/>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flag</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grpSp>
      <p:sp>
        <p:nvSpPr>
          <p:cNvPr id="9" name="TextBox 8">
            <a:extLst>
              <a:ext uri="{FF2B5EF4-FFF2-40B4-BE49-F238E27FC236}">
                <a16:creationId xmlns:a16="http://schemas.microsoft.com/office/drawing/2014/main" id="{8436BA8F-FB9B-44B3-B855-08E43B6D2417}"/>
              </a:ext>
            </a:extLst>
          </p:cNvPr>
          <p:cNvSpPr txBox="1"/>
          <p:nvPr/>
        </p:nvSpPr>
        <p:spPr>
          <a:xfrm>
            <a:off x="7492126" y="4229827"/>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013C4B83-14BD-4F88-8114-350674B3E77C}"/>
              </a:ext>
            </a:extLst>
          </p:cNvPr>
          <p:cNvSpPr txBox="1"/>
          <p:nvPr/>
        </p:nvSpPr>
        <p:spPr>
          <a:xfrm>
            <a:off x="10506547" y="4931118"/>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053610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034803-371B-42A6-3212-C8C3090465D3}"/>
              </a:ext>
            </a:extLst>
          </p:cNvPr>
          <p:cNvSpPr>
            <a:spLocks noGrp="1"/>
          </p:cNvSpPr>
          <p:nvPr>
            <p:ph type="title"/>
          </p:nvPr>
        </p:nvSpPr>
        <p:spPr/>
        <p:txBody>
          <a:bodyPr/>
          <a:lstStyle/>
          <a:p>
            <a:r>
              <a:rPr lang="en-US" altLang="zh-CN" dirty="0"/>
              <a:t>Locks:</a:t>
            </a:r>
            <a:r>
              <a:rPr lang="zh-CN" altLang="en-US" dirty="0"/>
              <a:t> </a:t>
            </a:r>
            <a:r>
              <a:rPr lang="en-US" altLang="zh-CN" dirty="0"/>
              <a:t>Test-and-Set</a:t>
            </a:r>
            <a:endParaRPr lang="en-US" dirty="0"/>
          </a:p>
        </p:txBody>
      </p:sp>
      <p:sp>
        <p:nvSpPr>
          <p:cNvPr id="3" name="内容占位符 2">
            <a:extLst>
              <a:ext uri="{FF2B5EF4-FFF2-40B4-BE49-F238E27FC236}">
                <a16:creationId xmlns:a16="http://schemas.microsoft.com/office/drawing/2014/main" id="{0B677883-169F-6D50-18D5-75E5ECB775BD}"/>
              </a:ext>
            </a:extLst>
          </p:cNvPr>
          <p:cNvSpPr>
            <a:spLocks noGrp="1"/>
          </p:cNvSpPr>
          <p:nvPr>
            <p:ph idx="1"/>
          </p:nvPr>
        </p:nvSpPr>
        <p:spPr>
          <a:xfrm>
            <a:off x="152399" y="990600"/>
            <a:ext cx="4671148" cy="6098674"/>
          </a:xfrm>
        </p:spPr>
        <p:txBody>
          <a:bodyPr>
            <a:normAutofit fontScale="77500" lnSpcReduction="20000"/>
          </a:bodyPr>
          <a:lstStyle/>
          <a:p>
            <a:r>
              <a:rPr lang="en-US" altLang="zh-CN" dirty="0"/>
              <a:t>How</a:t>
            </a:r>
            <a:r>
              <a:rPr lang="zh-CN" altLang="en-US" dirty="0"/>
              <a:t> </a:t>
            </a:r>
            <a:r>
              <a:rPr lang="en-US" altLang="zh-CN" dirty="0"/>
              <a:t>to</a:t>
            </a:r>
            <a:r>
              <a:rPr lang="zh-CN" altLang="en-US" dirty="0"/>
              <a:t> </a:t>
            </a:r>
            <a:r>
              <a:rPr lang="en-US" altLang="zh-CN" dirty="0"/>
              <a:t>provide</a:t>
            </a:r>
            <a:r>
              <a:rPr lang="zh-CN" altLang="en-US" dirty="0"/>
              <a:t> </a:t>
            </a:r>
            <a:r>
              <a:rPr lang="en-US" altLang="zh-CN" dirty="0"/>
              <a:t>mutual</a:t>
            </a:r>
            <a:r>
              <a:rPr lang="zh-CN" altLang="en-US" dirty="0"/>
              <a:t> </a:t>
            </a:r>
            <a:r>
              <a:rPr lang="en-US" altLang="zh-CN" dirty="0"/>
              <a:t>exclusion</a:t>
            </a:r>
            <a:r>
              <a:rPr lang="zh-CN" altLang="en-US" dirty="0"/>
              <a:t> </a:t>
            </a:r>
            <a:r>
              <a:rPr lang="en-US" altLang="zh-CN" dirty="0"/>
              <a:t>for</a:t>
            </a:r>
            <a:r>
              <a:rPr lang="zh-CN" altLang="en-US" dirty="0"/>
              <a:t> </a:t>
            </a:r>
            <a:r>
              <a:rPr lang="en-US" altLang="zh-CN" dirty="0"/>
              <a:t>locks?</a:t>
            </a:r>
          </a:p>
          <a:p>
            <a:pPr lvl="1"/>
            <a:r>
              <a:rPr lang="en-US" altLang="zh-CN" b="1" dirty="0">
                <a:solidFill>
                  <a:srgbClr val="0070C0"/>
                </a:solidFill>
              </a:rPr>
              <a:t>Get</a:t>
            </a:r>
            <a:r>
              <a:rPr lang="zh-CN" altLang="en-US" b="1" dirty="0">
                <a:solidFill>
                  <a:srgbClr val="0070C0"/>
                </a:solidFill>
              </a:rPr>
              <a:t> </a:t>
            </a:r>
            <a:r>
              <a:rPr lang="en-US" altLang="zh-CN" b="1" dirty="0">
                <a:solidFill>
                  <a:srgbClr val="0070C0"/>
                </a:solidFill>
              </a:rPr>
              <a:t>help</a:t>
            </a:r>
            <a:r>
              <a:rPr lang="zh-CN" altLang="en-US" b="1" dirty="0">
                <a:solidFill>
                  <a:srgbClr val="0070C0"/>
                </a:solidFill>
              </a:rPr>
              <a:t> </a:t>
            </a:r>
            <a:r>
              <a:rPr lang="en-US" altLang="zh-CN" b="1" dirty="0">
                <a:solidFill>
                  <a:srgbClr val="0070C0"/>
                </a:solidFill>
              </a:rPr>
              <a:t>from</a:t>
            </a:r>
            <a:r>
              <a:rPr lang="zh-CN" altLang="en-US" b="1" dirty="0">
                <a:solidFill>
                  <a:srgbClr val="0070C0"/>
                </a:solidFill>
              </a:rPr>
              <a:t> </a:t>
            </a:r>
            <a:r>
              <a:rPr lang="en-US" altLang="zh-CN" b="1" dirty="0">
                <a:solidFill>
                  <a:srgbClr val="0070C0"/>
                </a:solidFill>
              </a:rPr>
              <a:t>hardware!</a:t>
            </a:r>
          </a:p>
          <a:p>
            <a:r>
              <a:rPr lang="en-US" altLang="zh-CN" dirty="0"/>
              <a:t>CPUs</a:t>
            </a:r>
            <a:r>
              <a:rPr lang="zh-CN" altLang="en-US" dirty="0"/>
              <a:t> </a:t>
            </a:r>
            <a:r>
              <a:rPr lang="en-US" altLang="zh-CN" dirty="0"/>
              <a:t>provide</a:t>
            </a:r>
            <a:r>
              <a:rPr lang="zh-CN" altLang="en-US" dirty="0"/>
              <a:t> </a:t>
            </a:r>
            <a:r>
              <a:rPr lang="en-US" altLang="zh-CN" dirty="0"/>
              <a:t>special</a:t>
            </a:r>
            <a:r>
              <a:rPr lang="zh-CN" altLang="en-US" dirty="0"/>
              <a:t> </a:t>
            </a:r>
            <a:r>
              <a:rPr lang="en-US" altLang="zh-CN" dirty="0"/>
              <a:t>hardware</a:t>
            </a:r>
            <a:r>
              <a:rPr lang="zh-CN" altLang="en-US" dirty="0"/>
              <a:t> </a:t>
            </a:r>
            <a:r>
              <a:rPr lang="en-US" altLang="zh-CN" dirty="0"/>
              <a:t>instructions</a:t>
            </a:r>
            <a:r>
              <a:rPr lang="zh-CN" altLang="en-US" dirty="0"/>
              <a:t> </a:t>
            </a:r>
            <a:r>
              <a:rPr lang="en-US" altLang="zh-CN" dirty="0"/>
              <a:t>to</a:t>
            </a:r>
            <a:r>
              <a:rPr lang="zh-CN" altLang="en-US" dirty="0"/>
              <a:t> </a:t>
            </a:r>
            <a:r>
              <a:rPr lang="en-US" altLang="zh-CN" dirty="0"/>
              <a:t>help</a:t>
            </a:r>
            <a:r>
              <a:rPr lang="zh-CN" altLang="en-US" dirty="0"/>
              <a:t> </a:t>
            </a:r>
            <a:r>
              <a:rPr lang="en-US" altLang="zh-CN" dirty="0"/>
              <a:t>achieve</a:t>
            </a:r>
            <a:r>
              <a:rPr lang="zh-CN" altLang="en-US" dirty="0"/>
              <a:t> </a:t>
            </a:r>
            <a:r>
              <a:rPr lang="en-US" altLang="zh-CN" dirty="0"/>
              <a:t>mutual</a:t>
            </a:r>
            <a:r>
              <a:rPr lang="zh-CN" altLang="en-US" dirty="0"/>
              <a:t> </a:t>
            </a:r>
            <a:r>
              <a:rPr lang="en-US" altLang="zh-CN" dirty="0"/>
              <a:t>exclusion</a:t>
            </a:r>
          </a:p>
          <a:p>
            <a:pPr lvl="1"/>
            <a:r>
              <a:rPr lang="en-US" altLang="zh-CN" dirty="0"/>
              <a:t>The</a:t>
            </a:r>
            <a:r>
              <a:rPr lang="zh-CN" altLang="en-US" dirty="0"/>
              <a:t> </a:t>
            </a:r>
            <a:r>
              <a:rPr lang="en-US" altLang="zh-CN" b="1" dirty="0">
                <a:solidFill>
                  <a:srgbClr val="0070C0"/>
                </a:solidFill>
              </a:rPr>
              <a:t>Test-and-Set</a:t>
            </a:r>
            <a:r>
              <a:rPr lang="zh-CN" altLang="en-US" dirty="0"/>
              <a:t> </a:t>
            </a:r>
            <a:r>
              <a:rPr lang="en-US" altLang="zh-CN" dirty="0"/>
              <a:t>(TAS)</a:t>
            </a:r>
            <a:r>
              <a:rPr lang="zh-CN" altLang="en-US" dirty="0"/>
              <a:t> </a:t>
            </a:r>
            <a:r>
              <a:rPr lang="en-US" altLang="zh-CN" dirty="0"/>
              <a:t>instruction</a:t>
            </a:r>
            <a:r>
              <a:rPr lang="zh-CN" altLang="en-US" dirty="0"/>
              <a:t> </a:t>
            </a:r>
            <a:r>
              <a:rPr lang="en-US" altLang="zh-CN" dirty="0"/>
              <a:t>tests</a:t>
            </a:r>
            <a:r>
              <a:rPr lang="zh-CN" altLang="en-US" dirty="0"/>
              <a:t> </a:t>
            </a:r>
            <a:r>
              <a:rPr lang="en-US" altLang="zh-CN" dirty="0"/>
              <a:t>and</a:t>
            </a:r>
            <a:r>
              <a:rPr lang="zh-CN" altLang="en-US" dirty="0"/>
              <a:t> </a:t>
            </a:r>
            <a:r>
              <a:rPr lang="en-US" altLang="zh-CN" dirty="0"/>
              <a:t>modifies</a:t>
            </a:r>
            <a:r>
              <a:rPr lang="zh-CN" altLang="en-US" dirty="0"/>
              <a:t> </a:t>
            </a:r>
            <a:r>
              <a:rPr lang="en-US" altLang="zh-CN" dirty="0"/>
              <a:t>the</a:t>
            </a:r>
            <a:r>
              <a:rPr lang="zh-CN" altLang="en-US" dirty="0"/>
              <a:t> </a:t>
            </a:r>
            <a:r>
              <a:rPr lang="en-US" altLang="zh-CN" dirty="0"/>
              <a:t>content</a:t>
            </a:r>
            <a:r>
              <a:rPr lang="zh-CN" altLang="en-US" dirty="0"/>
              <a:t> </a:t>
            </a:r>
            <a:r>
              <a:rPr lang="en-US" altLang="zh-CN" dirty="0"/>
              <a:t>of</a:t>
            </a:r>
            <a:r>
              <a:rPr lang="zh-CN" altLang="en-US" dirty="0"/>
              <a:t> </a:t>
            </a:r>
            <a:r>
              <a:rPr lang="en-US" altLang="zh-CN" dirty="0"/>
              <a:t>a</a:t>
            </a:r>
            <a:r>
              <a:rPr lang="zh-CN" altLang="en-US" dirty="0"/>
              <a:t> </a:t>
            </a:r>
            <a:r>
              <a:rPr lang="en-US" altLang="zh-CN" dirty="0"/>
              <a:t>memory</a:t>
            </a:r>
            <a:r>
              <a:rPr lang="zh-CN" altLang="en-US" dirty="0"/>
              <a:t> </a:t>
            </a:r>
            <a:r>
              <a:rPr lang="en-US" altLang="zh-CN" dirty="0"/>
              <a:t>word</a:t>
            </a:r>
            <a:r>
              <a:rPr lang="zh-CN" altLang="en-US" dirty="0"/>
              <a:t> </a:t>
            </a:r>
            <a:r>
              <a:rPr lang="en-US" altLang="zh-CN" b="1" dirty="0">
                <a:solidFill>
                  <a:srgbClr val="0070C0"/>
                </a:solidFill>
              </a:rPr>
              <a:t>atomically</a:t>
            </a:r>
          </a:p>
          <a:p>
            <a:r>
              <a:rPr lang="en-US" altLang="zh-CN" dirty="0"/>
              <a:t>Locking</a:t>
            </a:r>
            <a:r>
              <a:rPr lang="zh-CN" altLang="en-US" dirty="0"/>
              <a:t> </a:t>
            </a:r>
            <a:r>
              <a:rPr lang="en-US" altLang="zh-CN" dirty="0"/>
              <a:t>with</a:t>
            </a:r>
            <a:r>
              <a:rPr lang="zh-CN" altLang="en-US" dirty="0"/>
              <a:t> </a:t>
            </a:r>
            <a:r>
              <a:rPr lang="en-GB" altLang="zh-CN" dirty="0"/>
              <a:t>TAS</a:t>
            </a:r>
            <a:r>
              <a:rPr lang="en-US" altLang="zh-CN" dirty="0"/>
              <a:t>: TAS fetches the old value of lock-&gt;flag into variable old, sets lock-&gt;flag to 1, then returns variable old, all in one atomic operation</a:t>
            </a:r>
          </a:p>
          <a:p>
            <a:pPr lvl="1"/>
            <a:r>
              <a:rPr lang="en-US" dirty="0"/>
              <a:t>If </a:t>
            </a:r>
            <a:r>
              <a:rPr lang="en-US" altLang="zh-CN" dirty="0"/>
              <a:t>lock-&gt;flag==0, then TestAndSet() sets it to 1 and returns old==0, so the thread exits the while loop and enters critical section</a:t>
            </a:r>
          </a:p>
          <a:p>
            <a:pPr lvl="1"/>
            <a:r>
              <a:rPr lang="en-US" dirty="0"/>
              <a:t>If </a:t>
            </a:r>
            <a:r>
              <a:rPr lang="en-US" altLang="zh-CN" dirty="0"/>
              <a:t>lock-&gt;flag==1, then TestAndSet() returns old==1, so the thread spin-waits in the while loop and does not enter critical section</a:t>
            </a:r>
          </a:p>
          <a:p>
            <a:r>
              <a:rPr lang="en-US" dirty="0"/>
              <a:t>If multiple threads call TAS when lock-&gt;flag==0, only one thread will see lock-&gt;flag==0, set it to 1 and enter the critical section, and all the other threads will see lock-&gt;flag==1 and spin-wait.</a:t>
            </a:r>
            <a:r>
              <a:rPr lang="en-US" altLang="zh-CN" dirty="0"/>
              <a:t/>
            </a:r>
            <a:endParaRPr lang="en-US" dirty="0"/>
          </a:p>
        </p:txBody>
      </p:sp>
      <p:sp>
        <p:nvSpPr>
          <p:cNvPr id="4" name="Plassholder for innhold 2">
            <a:extLst>
              <a:ext uri="{FF2B5EF4-FFF2-40B4-BE49-F238E27FC236}">
                <a16:creationId xmlns:a16="http://schemas.microsoft.com/office/drawing/2014/main" id="{40A50057-727C-1618-CE45-ED77A4B866CB}"/>
              </a:ext>
            </a:extLst>
          </p:cNvPr>
          <p:cNvSpPr txBox="1">
            <a:spLocks/>
          </p:cNvSpPr>
          <p:nvPr/>
        </p:nvSpPr>
        <p:spPr bwMode="auto">
          <a:xfrm>
            <a:off x="4953000" y="1143001"/>
            <a:ext cx="7086601" cy="5181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typedef struct __</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int flag;</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int new){    </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fetch old value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new;     // store new into </a:t>
            </a:r>
            <a:r>
              <a:rPr lang="en-GB" altLang="zh-CN" sz="1800" b="0" kern="0" dirty="0" err="1">
                <a:latin typeface="Courier New" panose="02070309020205020404" pitchFamily="49" charset="0"/>
                <a:cs typeface="Courier New" panose="02070309020205020404" pitchFamily="49" charset="0"/>
              </a:rPr>
              <a:t>old_ptr</a:t>
            </a: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  return old;          // return the old value</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(&amp;lock-&gt;flag, 1) == 1)        </a:t>
            </a:r>
          </a:p>
          <a:p>
            <a:pPr marL="0" indent="0">
              <a:buFontTx/>
              <a:buNone/>
            </a:pPr>
            <a:r>
              <a:rPr lang="en-GB" altLang="zh-CN" sz="1800" b="0" kern="0" dirty="0">
                <a:latin typeface="Courier New" panose="02070309020205020404" pitchFamily="49" charset="0"/>
                <a:cs typeface="Courier New" panose="02070309020205020404" pitchFamily="49" charset="0"/>
              </a:rPr>
              <a:t>    ;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unlock(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lock-&gt;flag = 0;</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49860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F03D90-3904-F973-B6A9-D3A34DB2001E}"/>
              </a:ext>
            </a:extLst>
          </p:cNvPr>
          <p:cNvSpPr>
            <a:spLocks noGrp="1"/>
          </p:cNvSpPr>
          <p:nvPr>
            <p:ph type="title"/>
          </p:nvPr>
        </p:nvSpPr>
        <p:spPr/>
        <p:txBody>
          <a:bodyPr/>
          <a:lstStyle/>
          <a:p>
            <a:r>
              <a:rPr lang="en-US" altLang="zh-CN" dirty="0"/>
              <a:t>Locks:</a:t>
            </a:r>
            <a:r>
              <a:rPr lang="zh-CN" altLang="en-US" dirty="0"/>
              <a:t> </a:t>
            </a:r>
            <a:r>
              <a:rPr lang="en-US" altLang="zh-CN" dirty="0"/>
              <a:t>Compare-and-Swap</a:t>
            </a:r>
            <a:endParaRPr lang="en-US" dirty="0"/>
          </a:p>
        </p:txBody>
      </p:sp>
      <p:sp>
        <p:nvSpPr>
          <p:cNvPr id="3" name="内容占位符 2">
            <a:extLst>
              <a:ext uri="{FF2B5EF4-FFF2-40B4-BE49-F238E27FC236}">
                <a16:creationId xmlns:a16="http://schemas.microsoft.com/office/drawing/2014/main" id="{0B7321FA-5952-67E4-57BF-0468264B6C81}"/>
              </a:ext>
            </a:extLst>
          </p:cNvPr>
          <p:cNvSpPr>
            <a:spLocks noGrp="1"/>
          </p:cNvSpPr>
          <p:nvPr>
            <p:ph idx="1"/>
          </p:nvPr>
        </p:nvSpPr>
        <p:spPr>
          <a:xfrm>
            <a:off x="98777" y="830173"/>
            <a:ext cx="4989286" cy="5708373"/>
          </a:xfrm>
        </p:spPr>
        <p:txBody>
          <a:bodyPr>
            <a:normAutofit lnSpcReduction="10000"/>
          </a:bodyPr>
          <a:lstStyle/>
          <a:p>
            <a:r>
              <a:rPr lang="en-US" altLang="zh-CN" dirty="0"/>
              <a:t>Another</a:t>
            </a:r>
            <a:r>
              <a:rPr lang="zh-CN" altLang="en-US" dirty="0"/>
              <a:t> </a:t>
            </a:r>
            <a:r>
              <a:rPr lang="en-US" altLang="zh-CN" dirty="0"/>
              <a:t>hardware</a:t>
            </a:r>
            <a:r>
              <a:rPr lang="zh-CN" altLang="en-US" dirty="0"/>
              <a:t> </a:t>
            </a:r>
            <a:r>
              <a:rPr lang="en-US" altLang="zh-CN" dirty="0"/>
              <a:t>primitive:</a:t>
            </a:r>
            <a:r>
              <a:rPr lang="zh-CN" altLang="en-US" dirty="0"/>
              <a:t> </a:t>
            </a:r>
            <a:r>
              <a:rPr lang="en-US" altLang="zh-CN" b="1" dirty="0">
                <a:solidFill>
                  <a:srgbClr val="0070C0"/>
                </a:solidFill>
              </a:rPr>
              <a:t>Compare-and-Swap (CAS)</a:t>
            </a:r>
          </a:p>
          <a:p>
            <a:r>
              <a:rPr lang="en-US" altLang="zh-CN" dirty="0"/>
              <a:t>Locking</a:t>
            </a:r>
            <a:r>
              <a:rPr lang="zh-CN" altLang="en-US" dirty="0"/>
              <a:t> </a:t>
            </a:r>
            <a:r>
              <a:rPr lang="en-US" altLang="zh-CN" dirty="0"/>
              <a:t>with</a:t>
            </a:r>
            <a:r>
              <a:rPr lang="zh-CN" altLang="en-US" dirty="0"/>
              <a:t> </a:t>
            </a:r>
            <a:r>
              <a:rPr lang="en-GB" altLang="zh-CN" dirty="0"/>
              <a:t>CAS</a:t>
            </a:r>
            <a:r>
              <a:rPr lang="en-US" altLang="zh-CN" dirty="0"/>
              <a:t>: CAS fetches the old value of lock-&gt;flag into variable old, compares old with expected (0), and if they are equal (lock-&gt;flag==0), sets lock-&gt;flag to 1, then returns variable old, all in one atomic operation</a:t>
            </a:r>
          </a:p>
          <a:p>
            <a:pPr lvl="1"/>
            <a:r>
              <a:rPr lang="en-US" dirty="0"/>
              <a:t>If </a:t>
            </a:r>
            <a:r>
              <a:rPr lang="en-US" altLang="zh-CN" dirty="0"/>
              <a:t>lock-&gt;flag==0, then CompareAndSwap() sets it to 1 and returns old==0, so the thread exits the while loop and enters critical section</a:t>
            </a:r>
          </a:p>
          <a:p>
            <a:pPr lvl="1"/>
            <a:r>
              <a:rPr lang="en-US" dirty="0"/>
              <a:t>If </a:t>
            </a:r>
            <a:r>
              <a:rPr lang="en-US" altLang="zh-CN" dirty="0"/>
              <a:t>lock-&gt;flag==1, then CompareAndSwap() returns old==1, so the thread spins in the while loop and does not enter critical section</a:t>
            </a:r>
          </a:p>
        </p:txBody>
      </p:sp>
      <p:sp>
        <p:nvSpPr>
          <p:cNvPr id="4" name="Plassholder for innhold 2">
            <a:extLst>
              <a:ext uri="{FF2B5EF4-FFF2-40B4-BE49-F238E27FC236}">
                <a16:creationId xmlns:a16="http://schemas.microsoft.com/office/drawing/2014/main" id="{BB6F1475-47B0-6D23-DD98-AD99AB6FBA3A}"/>
              </a:ext>
            </a:extLst>
          </p:cNvPr>
          <p:cNvSpPr txBox="1">
            <a:spLocks/>
          </p:cNvSpPr>
          <p:nvPr/>
        </p:nvSpPr>
        <p:spPr bwMode="auto">
          <a:xfrm>
            <a:off x="5029200" y="2057400"/>
            <a:ext cx="7086601" cy="308301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int expected, int new){</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if (old == expected)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 new;    </a:t>
            </a:r>
          </a:p>
          <a:p>
            <a:pPr marL="0" indent="0">
              <a:buFontTx/>
              <a:buNone/>
            </a:pPr>
            <a:r>
              <a:rPr lang="en-GB" altLang="zh-CN" sz="1800" b="0" kern="0" dirty="0">
                <a:latin typeface="Courier New" panose="02070309020205020404" pitchFamily="49" charset="0"/>
                <a:cs typeface="Courier New" panose="02070309020205020404" pitchFamily="49" charset="0"/>
              </a:rPr>
              <a:t>  return old;</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(&amp;lock-&gt;flag, 0, 1) == 1)</a:t>
            </a:r>
          </a:p>
          <a:p>
            <a:pPr marL="0" indent="0">
              <a:buFontTx/>
              <a:buNone/>
            </a:pPr>
            <a:r>
              <a:rPr lang="en-GB" altLang="zh-CN" sz="1800" b="0" kern="0" dirty="0">
                <a:latin typeface="Courier New" panose="02070309020205020404" pitchFamily="49" charset="0"/>
                <a:cs typeface="Courier New" panose="02070309020205020404" pitchFamily="49" charset="0"/>
              </a:rPr>
              <a:t>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75919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08FFBC-E03B-1FB4-E54F-C44027FB8DC5}"/>
              </a:ext>
            </a:extLst>
          </p:cNvPr>
          <p:cNvSpPr>
            <a:spLocks noGrp="1"/>
          </p:cNvSpPr>
          <p:nvPr>
            <p:ph type="title"/>
          </p:nvPr>
        </p:nvSpPr>
        <p:spPr/>
        <p:txBody>
          <a:bodyPr/>
          <a:lstStyle/>
          <a:p>
            <a:r>
              <a:rPr lang="en-US" altLang="zh-CN" dirty="0"/>
              <a:t>Locks:</a:t>
            </a:r>
            <a:r>
              <a:rPr lang="zh-CN" altLang="en-US" dirty="0"/>
              <a:t> </a:t>
            </a:r>
            <a:r>
              <a:rPr lang="en-US" altLang="zh-CN" dirty="0"/>
              <a:t>Busy</a:t>
            </a:r>
            <a:r>
              <a:rPr lang="zh-CN" altLang="en-US" dirty="0"/>
              <a:t> </a:t>
            </a:r>
            <a:r>
              <a:rPr lang="en-US" altLang="zh-CN" dirty="0"/>
              <a:t>Waiting</a:t>
            </a:r>
            <a:endParaRPr lang="en-US" dirty="0"/>
          </a:p>
        </p:txBody>
      </p:sp>
      <p:sp>
        <p:nvSpPr>
          <p:cNvPr id="3" name="内容占位符 2">
            <a:extLst>
              <a:ext uri="{FF2B5EF4-FFF2-40B4-BE49-F238E27FC236}">
                <a16:creationId xmlns:a16="http://schemas.microsoft.com/office/drawing/2014/main" id="{AA95A88A-6309-8B30-CAD6-A030B81BAA1F}"/>
              </a:ext>
            </a:extLst>
          </p:cNvPr>
          <p:cNvSpPr>
            <a:spLocks noGrp="1"/>
          </p:cNvSpPr>
          <p:nvPr>
            <p:ph idx="1"/>
          </p:nvPr>
        </p:nvSpPr>
        <p:spPr>
          <a:xfrm>
            <a:off x="1844853" y="3148327"/>
            <a:ext cx="8502294" cy="2841171"/>
          </a:xfrm>
        </p:spPr>
        <p:txBody>
          <a:bodyPr/>
          <a:lstStyle/>
          <a:p>
            <a:r>
              <a:rPr lang="en-US" altLang="zh-CN" dirty="0"/>
              <a:t>Both TAS and CAS </a:t>
            </a:r>
            <a:r>
              <a:rPr lang="en-GB" altLang="zh-CN" dirty="0"/>
              <a:t>are </a:t>
            </a:r>
            <a:r>
              <a:rPr lang="en-GB" altLang="zh-CN" dirty="0">
                <a:solidFill>
                  <a:srgbClr val="FF0000"/>
                </a:solidFill>
              </a:rPr>
              <a:t>spinlocks</a:t>
            </a:r>
            <a:r>
              <a:rPr lang="zh-CN" altLang="en-US" dirty="0"/>
              <a:t> </a:t>
            </a:r>
            <a:r>
              <a:rPr lang="en-US" altLang="zh-CN" dirty="0"/>
              <a:t>based</a:t>
            </a:r>
            <a:r>
              <a:rPr lang="zh-CN" altLang="en-US" dirty="0"/>
              <a:t> </a:t>
            </a:r>
            <a:r>
              <a:rPr lang="en-US" altLang="zh-CN" dirty="0"/>
              <a:t>on</a:t>
            </a:r>
            <a:r>
              <a:rPr lang="zh-CN" altLang="en-US" b="1" dirty="0">
                <a:solidFill>
                  <a:srgbClr val="FF0000"/>
                </a:solidFill>
              </a:rPr>
              <a:t> </a:t>
            </a:r>
            <a:r>
              <a:rPr lang="en-US" altLang="zh-CN" b="1" dirty="0">
                <a:solidFill>
                  <a:srgbClr val="FF0000"/>
                </a:solidFill>
              </a:rPr>
              <a:t>busy</a:t>
            </a:r>
            <a:r>
              <a:rPr lang="zh-CN" altLang="en-US" b="1" dirty="0">
                <a:solidFill>
                  <a:srgbClr val="FF0000"/>
                </a:solidFill>
              </a:rPr>
              <a:t> </a:t>
            </a:r>
            <a:r>
              <a:rPr lang="en-US" altLang="zh-CN" b="1" dirty="0">
                <a:solidFill>
                  <a:srgbClr val="FF0000"/>
                </a:solidFill>
              </a:rPr>
              <a:t>waiting</a:t>
            </a:r>
          </a:p>
          <a:p>
            <a:pPr lvl="1"/>
            <a:r>
              <a:rPr lang="en-US" altLang="zh-CN" dirty="0">
                <a:solidFill>
                  <a:srgbClr val="FF0000"/>
                </a:solidFill>
              </a:rPr>
              <a:t>A</a:t>
            </a:r>
            <a:r>
              <a:rPr lang="zh-CN" altLang="en-US" dirty="0">
                <a:solidFill>
                  <a:srgbClr val="FF0000"/>
                </a:solidFill>
              </a:rPr>
              <a:t> </a:t>
            </a:r>
            <a:r>
              <a:rPr lang="en-US" altLang="zh-CN" dirty="0">
                <a:solidFill>
                  <a:srgbClr val="FF0000"/>
                </a:solidFill>
              </a:rPr>
              <a:t>thread</a:t>
            </a:r>
            <a:r>
              <a:rPr lang="zh-CN" altLang="en-US" dirty="0">
                <a:solidFill>
                  <a:srgbClr val="FF0000"/>
                </a:solidFill>
              </a:rPr>
              <a:t> </a:t>
            </a:r>
            <a:r>
              <a:rPr lang="en-US" altLang="zh-CN" dirty="0">
                <a:solidFill>
                  <a:srgbClr val="FF0000"/>
                </a:solidFill>
              </a:rPr>
              <a:t>is stuck in a while loop</a:t>
            </a:r>
            <a:r>
              <a:rPr lang="zh-CN" altLang="en-US" dirty="0">
                <a:solidFill>
                  <a:srgbClr val="FF0000"/>
                </a:solidFill>
              </a:rPr>
              <a:t> </a:t>
            </a:r>
            <a:r>
              <a:rPr lang="en-US" altLang="zh-CN" dirty="0">
                <a:solidFill>
                  <a:srgbClr val="FF0000"/>
                </a:solidFill>
              </a:rPr>
              <a:t>endlessly</a:t>
            </a:r>
            <a:r>
              <a:rPr lang="zh-CN" altLang="en-US" dirty="0">
                <a:solidFill>
                  <a:srgbClr val="FF0000"/>
                </a:solidFill>
              </a:rPr>
              <a:t> </a:t>
            </a:r>
            <a:r>
              <a:rPr lang="en-US" altLang="zh-CN" dirty="0">
                <a:solidFill>
                  <a:srgbClr val="FF0000"/>
                </a:solidFill>
              </a:rPr>
              <a:t>checking</a:t>
            </a:r>
            <a:r>
              <a:rPr lang="zh-CN" altLang="en-US" dirty="0">
                <a:solidFill>
                  <a:srgbClr val="FF0000"/>
                </a:solidFill>
              </a:rPr>
              <a:t> </a:t>
            </a:r>
            <a:r>
              <a:rPr lang="en-US" altLang="zh-CN" dirty="0">
                <a:solidFill>
                  <a:srgbClr val="FF0000"/>
                </a:solidFill>
              </a:rPr>
              <a:t>lock-&gt;flag</a:t>
            </a:r>
            <a:r>
              <a:rPr lang="zh-CN" altLang="en-US" dirty="0">
                <a:solidFill>
                  <a:srgbClr val="FF0000"/>
                </a:solidFill>
              </a:rPr>
              <a:t> </a:t>
            </a:r>
            <a:r>
              <a:rPr lang="en-US" altLang="zh-CN" dirty="0">
                <a:solidFill>
                  <a:srgbClr val="FF0000"/>
                </a:solidFill>
              </a:rPr>
              <a:t>if</a:t>
            </a:r>
            <a:r>
              <a:rPr lang="zh-CN" altLang="en-US" dirty="0">
                <a:solidFill>
                  <a:srgbClr val="FF0000"/>
                </a:solidFill>
              </a:rPr>
              <a:t> </a:t>
            </a:r>
            <a:r>
              <a:rPr lang="en-US" altLang="zh-CN" dirty="0">
                <a:solidFill>
                  <a:srgbClr val="FF0000"/>
                </a:solidFill>
              </a:rPr>
              <a:t>the</a:t>
            </a:r>
            <a:r>
              <a:rPr lang="zh-CN" altLang="en-US" dirty="0">
                <a:solidFill>
                  <a:srgbClr val="FF0000"/>
                </a:solidFill>
              </a:rPr>
              <a:t> </a:t>
            </a:r>
            <a:r>
              <a:rPr lang="en-US" altLang="zh-CN" dirty="0">
                <a:solidFill>
                  <a:srgbClr val="FF0000"/>
                </a:solidFill>
              </a:rPr>
              <a:t>lock</a:t>
            </a:r>
            <a:r>
              <a:rPr lang="zh-CN" altLang="en-US" dirty="0">
                <a:solidFill>
                  <a:srgbClr val="FF0000"/>
                </a:solidFill>
              </a:rPr>
              <a:t> </a:t>
            </a:r>
            <a:r>
              <a:rPr lang="en-US" altLang="zh-CN" dirty="0">
                <a:solidFill>
                  <a:srgbClr val="FF0000"/>
                </a:solidFill>
              </a:rPr>
              <a:t>is</a:t>
            </a:r>
            <a:r>
              <a:rPr lang="zh-CN" altLang="en-US" dirty="0">
                <a:solidFill>
                  <a:srgbClr val="FF0000"/>
                </a:solidFill>
              </a:rPr>
              <a:t> </a:t>
            </a:r>
            <a:r>
              <a:rPr lang="en-US" altLang="zh-CN" dirty="0">
                <a:solidFill>
                  <a:srgbClr val="FF0000"/>
                </a:solidFill>
              </a:rPr>
              <a:t>held</a:t>
            </a:r>
            <a:r>
              <a:rPr lang="zh-CN" altLang="en-US" dirty="0">
                <a:solidFill>
                  <a:srgbClr val="FF0000"/>
                </a:solidFill>
              </a:rPr>
              <a:t> </a:t>
            </a:r>
            <a:r>
              <a:rPr lang="en-US" altLang="zh-CN" dirty="0">
                <a:solidFill>
                  <a:srgbClr val="FF0000"/>
                </a:solidFill>
              </a:rPr>
              <a:t>by</a:t>
            </a:r>
            <a:r>
              <a:rPr lang="zh-CN" altLang="en-US" dirty="0">
                <a:solidFill>
                  <a:srgbClr val="FF0000"/>
                </a:solidFill>
              </a:rPr>
              <a:t> </a:t>
            </a:r>
            <a:r>
              <a:rPr lang="en-US" altLang="zh-CN" dirty="0">
                <a:solidFill>
                  <a:srgbClr val="FF0000"/>
                </a:solidFill>
              </a:rPr>
              <a:t>others</a:t>
            </a:r>
          </a:p>
          <a:p>
            <a:r>
              <a:rPr lang="en-US" altLang="zh-CN" dirty="0"/>
              <a:t>Goals achieved?</a:t>
            </a:r>
          </a:p>
          <a:p>
            <a:pPr lvl="1"/>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r>
              <a:rPr lang="zh-CN" altLang="en-US" b="1" dirty="0">
                <a:solidFill>
                  <a:srgbClr val="0070C0"/>
                </a:solidFill>
              </a:rPr>
              <a:t> </a:t>
            </a:r>
            <a:r>
              <a:rPr lang="en-US" altLang="zh-CN" b="1" dirty="0">
                <a:solidFill>
                  <a:srgbClr val="0070C0"/>
                </a:solidFill>
              </a:rPr>
              <a:t>(Yes!)</a:t>
            </a:r>
          </a:p>
          <a:p>
            <a:pPr lvl="1"/>
            <a:r>
              <a:rPr lang="en-US" altLang="zh-CN" b="1" dirty="0">
                <a:solidFill>
                  <a:srgbClr val="FF0000"/>
                </a:solidFill>
              </a:rPr>
              <a:t>Fairness</a:t>
            </a:r>
            <a:r>
              <a:rPr lang="zh-CN" altLang="en-US" b="1" dirty="0">
                <a:solidFill>
                  <a:srgbClr val="FF0000"/>
                </a:solidFill>
              </a:rPr>
              <a:t> </a:t>
            </a:r>
            <a:r>
              <a:rPr lang="en-US" altLang="zh-CN" b="1" dirty="0">
                <a:solidFill>
                  <a:srgbClr val="FF0000"/>
                </a:solidFill>
              </a:rPr>
              <a:t>(NO!!)</a:t>
            </a:r>
          </a:p>
          <a:p>
            <a:pPr lvl="1"/>
            <a:r>
              <a:rPr lang="en-US" altLang="zh-CN" b="1" dirty="0">
                <a:solidFill>
                  <a:srgbClr val="FF0000"/>
                </a:solidFill>
              </a:rPr>
              <a:t>Performance?</a:t>
            </a:r>
            <a:endParaRPr lang="en-US" b="1" dirty="0">
              <a:solidFill>
                <a:srgbClr val="FF0000"/>
              </a:solidFill>
            </a:endParaRPr>
          </a:p>
        </p:txBody>
      </p:sp>
      <p:pic>
        <p:nvPicPr>
          <p:cNvPr id="7" name="图片 6">
            <a:extLst>
              <a:ext uri="{FF2B5EF4-FFF2-40B4-BE49-F238E27FC236}">
                <a16:creationId xmlns:a16="http://schemas.microsoft.com/office/drawing/2014/main" id="{26234751-2083-1B94-3C52-2CD137DFE910}"/>
              </a:ext>
            </a:extLst>
          </p:cNvPr>
          <p:cNvPicPr>
            <a:picLocks noChangeAspect="1"/>
          </p:cNvPicPr>
          <p:nvPr/>
        </p:nvPicPr>
        <p:blipFill>
          <a:blip r:embed="rId2"/>
          <a:stretch>
            <a:fillRect/>
          </a:stretch>
        </p:blipFill>
        <p:spPr>
          <a:xfrm>
            <a:off x="2444667" y="777858"/>
            <a:ext cx="6691970" cy="1198788"/>
          </a:xfrm>
          <a:prstGeom prst="rect">
            <a:avLst/>
          </a:prstGeom>
        </p:spPr>
      </p:pic>
      <p:pic>
        <p:nvPicPr>
          <p:cNvPr id="5" name="图片 5">
            <a:extLst>
              <a:ext uri="{FF2B5EF4-FFF2-40B4-BE49-F238E27FC236}">
                <a16:creationId xmlns:a16="http://schemas.microsoft.com/office/drawing/2014/main" id="{2CEB3167-790D-1BBD-E8D6-53F63EC1021B}"/>
              </a:ext>
            </a:extLst>
          </p:cNvPr>
          <p:cNvPicPr>
            <a:picLocks noChangeAspect="1"/>
          </p:cNvPicPr>
          <p:nvPr/>
        </p:nvPicPr>
        <p:blipFill>
          <a:blip r:embed="rId3"/>
          <a:stretch>
            <a:fillRect/>
          </a:stretch>
        </p:blipFill>
        <p:spPr>
          <a:xfrm>
            <a:off x="2444666" y="1976645"/>
            <a:ext cx="7666317" cy="1198787"/>
          </a:xfrm>
          <a:prstGeom prst="rect">
            <a:avLst/>
          </a:prstGeom>
        </p:spPr>
      </p:pic>
    </p:spTree>
    <p:extLst>
      <p:ext uri="{BB962C8B-B14F-4D97-AF65-F5344CB8AC3E}">
        <p14:creationId xmlns:p14="http://schemas.microsoft.com/office/powerpoint/2010/main" val="1784994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326DCB-BB45-C10B-250C-9B551DF85ECC}"/>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42249BE2-14BF-EFE6-B996-5BFC081CE488}"/>
              </a:ext>
            </a:extLst>
          </p:cNvPr>
          <p:cNvSpPr>
            <a:spLocks noGrp="1"/>
          </p:cNvSpPr>
          <p:nvPr>
            <p:ph idx="1"/>
          </p:nvPr>
        </p:nvSpPr>
        <p:spPr>
          <a:xfrm>
            <a:off x="304800" y="801151"/>
            <a:ext cx="5585565" cy="3798649"/>
          </a:xfrm>
        </p:spPr>
        <p:txBody>
          <a:bodyPr>
            <a:normAutofit lnSpcReduction="10000"/>
          </a:bodyPr>
          <a:lstStyle/>
          <a:p>
            <a:r>
              <a:rPr lang="en-US" altLang="zh-CN" dirty="0"/>
              <a:t>Basic</a:t>
            </a:r>
            <a:r>
              <a:rPr lang="zh-CN" altLang="en-US" dirty="0"/>
              <a:t> </a:t>
            </a:r>
            <a:r>
              <a:rPr lang="en-US" altLang="zh-CN" dirty="0"/>
              <a:t>spinlocks</a:t>
            </a:r>
            <a:r>
              <a:rPr lang="zh-CN" altLang="en-US" dirty="0"/>
              <a:t> </a:t>
            </a:r>
            <a:r>
              <a:rPr lang="en-US" altLang="zh-CN" dirty="0"/>
              <a:t>are</a:t>
            </a:r>
            <a:r>
              <a:rPr lang="zh-CN" altLang="en-US" dirty="0"/>
              <a:t> </a:t>
            </a:r>
            <a:r>
              <a:rPr lang="en-US" altLang="zh-CN" b="1" dirty="0">
                <a:solidFill>
                  <a:srgbClr val="FF0000"/>
                </a:solidFill>
              </a:rPr>
              <a:t>not</a:t>
            </a:r>
            <a:r>
              <a:rPr lang="zh-CN" altLang="en-US" b="1" dirty="0">
                <a:solidFill>
                  <a:srgbClr val="FF0000"/>
                </a:solidFill>
              </a:rPr>
              <a:t> </a:t>
            </a:r>
            <a:r>
              <a:rPr lang="en-US" altLang="zh-CN" b="1" dirty="0">
                <a:solidFill>
                  <a:srgbClr val="FF0000"/>
                </a:solidFill>
              </a:rPr>
              <a:t>fair</a:t>
            </a:r>
            <a:r>
              <a:rPr lang="zh-CN" altLang="en-US" b="1" dirty="0">
                <a:solidFill>
                  <a:srgbClr val="FF0000"/>
                </a:solidFill>
              </a:rPr>
              <a:t> </a:t>
            </a:r>
            <a:r>
              <a:rPr lang="en-US" altLang="zh-CN" dirty="0"/>
              <a:t>and</a:t>
            </a:r>
            <a:r>
              <a:rPr lang="zh-CN" altLang="en-US" b="1" dirty="0">
                <a:solidFill>
                  <a:srgbClr val="FF0000"/>
                </a:solidFill>
              </a:rPr>
              <a:t> </a:t>
            </a:r>
            <a:r>
              <a:rPr lang="en-US" altLang="zh-CN" dirty="0"/>
              <a:t>may</a:t>
            </a:r>
            <a:r>
              <a:rPr lang="zh-CN" altLang="en-US" dirty="0"/>
              <a:t> </a:t>
            </a:r>
            <a:r>
              <a:rPr lang="en-US" altLang="zh-CN" dirty="0"/>
              <a:t>cause</a:t>
            </a:r>
            <a:r>
              <a:rPr lang="zh-CN" altLang="en-US" dirty="0"/>
              <a:t> </a:t>
            </a:r>
            <a:r>
              <a:rPr lang="en-US" altLang="zh-CN" b="1" dirty="0">
                <a:solidFill>
                  <a:srgbClr val="FF0000"/>
                </a:solidFill>
              </a:rPr>
              <a:t>starvation</a:t>
            </a:r>
            <a:endParaRPr lang="en-US" b="1" dirty="0">
              <a:solidFill>
                <a:srgbClr val="FF0000"/>
              </a:solidFill>
            </a:endParaRPr>
          </a:p>
          <a:p>
            <a:r>
              <a:rPr lang="en-US" altLang="zh-CN" dirty="0"/>
              <a:t>Ticket lock uses hardware</a:t>
            </a:r>
            <a:r>
              <a:rPr lang="zh-CN" altLang="en-US" dirty="0"/>
              <a:t> </a:t>
            </a:r>
            <a:r>
              <a:rPr lang="en-US" altLang="zh-CN" dirty="0"/>
              <a:t>primitive</a:t>
            </a:r>
            <a:r>
              <a:rPr lang="zh-CN" altLang="en-US" dirty="0"/>
              <a:t> </a:t>
            </a:r>
            <a:r>
              <a:rPr lang="en-US" altLang="zh-CN" b="1" dirty="0">
                <a:solidFill>
                  <a:srgbClr val="0070C0"/>
                </a:solidFill>
              </a:rPr>
              <a:t>fetch-and-add</a:t>
            </a:r>
            <a:r>
              <a:rPr lang="en-US" altLang="zh-CN" dirty="0"/>
              <a:t> to guarantee fairness</a:t>
            </a:r>
          </a:p>
          <a:p>
            <a:r>
              <a:rPr lang="en-US" altLang="zh-CN" b="1" dirty="0">
                <a:solidFill>
                  <a:srgbClr val="0070C0"/>
                </a:solidFill>
              </a:rPr>
              <a:t>Lock:</a:t>
            </a:r>
          </a:p>
          <a:p>
            <a:pPr lvl="1"/>
            <a:r>
              <a:rPr lang="en-US" altLang="zh-CN" dirty="0"/>
              <a:t>Use</a:t>
            </a:r>
            <a:r>
              <a:rPr lang="zh-CN" altLang="en-US" dirty="0"/>
              <a:t> </a:t>
            </a:r>
            <a:r>
              <a:rPr lang="en-US" altLang="zh-CN" dirty="0"/>
              <a:t>fetch-and-add</a:t>
            </a:r>
            <a:r>
              <a:rPr lang="zh-CN" altLang="en-US" dirty="0"/>
              <a:t> </a:t>
            </a:r>
            <a:r>
              <a:rPr lang="en-US" altLang="zh-CN" dirty="0"/>
              <a:t>on</a:t>
            </a:r>
            <a:r>
              <a:rPr lang="zh-CN" altLang="en-US" dirty="0"/>
              <a:t> </a:t>
            </a:r>
            <a:r>
              <a:rPr lang="en-US" altLang="zh-CN" dirty="0"/>
              <a:t>the</a:t>
            </a:r>
            <a:r>
              <a:rPr lang="zh-CN" altLang="en-US" dirty="0"/>
              <a:t> </a:t>
            </a:r>
            <a:r>
              <a:rPr lang="en-US" altLang="zh-CN" dirty="0"/>
              <a:t>ticket</a:t>
            </a:r>
            <a:r>
              <a:rPr lang="zh-CN" altLang="en-US" dirty="0"/>
              <a:t> </a:t>
            </a:r>
            <a:r>
              <a:rPr lang="en-US" altLang="zh-CN" dirty="0"/>
              <a:t>value</a:t>
            </a:r>
          </a:p>
          <a:p>
            <a:pPr lvl="1"/>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is</a:t>
            </a:r>
            <a:r>
              <a:rPr lang="zh-CN" altLang="en-US" dirty="0"/>
              <a:t> </a:t>
            </a:r>
            <a:r>
              <a:rPr lang="en-US" altLang="zh-CN" dirty="0"/>
              <a:t>the</a:t>
            </a:r>
            <a:r>
              <a:rPr lang="zh-CN" altLang="en-US" dirty="0"/>
              <a:t> </a:t>
            </a:r>
            <a:r>
              <a:rPr lang="en-US" altLang="zh-CN" dirty="0"/>
              <a:t>thread’s</a:t>
            </a:r>
            <a:r>
              <a:rPr lang="zh-CN" altLang="en-US" dirty="0"/>
              <a:t> </a:t>
            </a:r>
            <a:r>
              <a:rPr lang="en-US" altLang="zh-CN" dirty="0"/>
              <a:t>“turn”</a:t>
            </a:r>
            <a:r>
              <a:rPr lang="zh-CN" altLang="en-US" dirty="0"/>
              <a:t> </a:t>
            </a:r>
            <a:r>
              <a:rPr lang="en-US" altLang="zh-CN" dirty="0"/>
              <a:t>value</a:t>
            </a:r>
          </a:p>
          <a:p>
            <a:r>
              <a:rPr lang="en-US" altLang="zh-CN" b="1" dirty="0">
                <a:solidFill>
                  <a:srgbClr val="0070C0"/>
                </a:solidFill>
              </a:rPr>
              <a:t>Unlock:</a:t>
            </a:r>
          </a:p>
          <a:p>
            <a:pPr lvl="1"/>
            <a:r>
              <a:rPr lang="en-US" altLang="zh-CN" dirty="0"/>
              <a:t>Increment</a:t>
            </a:r>
            <a:r>
              <a:rPr lang="zh-CN" altLang="en-US" dirty="0"/>
              <a:t> </a:t>
            </a:r>
            <a:r>
              <a:rPr lang="en-US" altLang="zh-CN" dirty="0"/>
              <a:t>the</a:t>
            </a:r>
            <a:r>
              <a:rPr lang="zh-CN" altLang="en-US" dirty="0"/>
              <a:t> </a:t>
            </a:r>
            <a:r>
              <a:rPr lang="en-US" altLang="zh-CN" dirty="0"/>
              <a:t>turn</a:t>
            </a:r>
            <a:endParaRPr lang="en-US" b="1" dirty="0">
              <a:solidFill>
                <a:srgbClr val="0070C0"/>
              </a:solidFill>
            </a:endParaRPr>
          </a:p>
        </p:txBody>
      </p:sp>
      <p:pic>
        <p:nvPicPr>
          <p:cNvPr id="5" name="图片 4">
            <a:extLst>
              <a:ext uri="{FF2B5EF4-FFF2-40B4-BE49-F238E27FC236}">
                <a16:creationId xmlns:a16="http://schemas.microsoft.com/office/drawing/2014/main" id="{9CD324EC-9178-A32A-AC81-7F8FB8AAABE3}"/>
              </a:ext>
            </a:extLst>
          </p:cNvPr>
          <p:cNvPicPr>
            <a:picLocks noChangeAspect="1"/>
          </p:cNvPicPr>
          <p:nvPr/>
        </p:nvPicPr>
        <p:blipFill>
          <a:blip r:embed="rId3"/>
          <a:stretch>
            <a:fillRect/>
          </a:stretch>
        </p:blipFill>
        <p:spPr>
          <a:xfrm>
            <a:off x="304800" y="4599800"/>
            <a:ext cx="4191000" cy="1529429"/>
          </a:xfrm>
          <a:prstGeom prst="rect">
            <a:avLst/>
          </a:prstGeom>
        </p:spPr>
      </p:pic>
      <p:pic>
        <p:nvPicPr>
          <p:cNvPr id="6" name="图片 5">
            <a:extLst>
              <a:ext uri="{FF2B5EF4-FFF2-40B4-BE49-F238E27FC236}">
                <a16:creationId xmlns:a16="http://schemas.microsoft.com/office/drawing/2014/main" id="{AAF4E815-039E-F890-F911-D21D85220519}"/>
              </a:ext>
            </a:extLst>
          </p:cNvPr>
          <p:cNvPicPr>
            <a:picLocks noChangeAspect="1"/>
          </p:cNvPicPr>
          <p:nvPr/>
        </p:nvPicPr>
        <p:blipFill>
          <a:blip r:embed="rId4"/>
          <a:stretch>
            <a:fillRect/>
          </a:stretch>
        </p:blipFill>
        <p:spPr>
          <a:xfrm>
            <a:off x="5588652" y="914437"/>
            <a:ext cx="6428015" cy="5142412"/>
          </a:xfrm>
          <a:prstGeom prst="rect">
            <a:avLst/>
          </a:prstGeom>
        </p:spPr>
      </p:pic>
    </p:spTree>
    <p:extLst>
      <p:ext uri="{BB962C8B-B14F-4D97-AF65-F5344CB8AC3E}">
        <p14:creationId xmlns:p14="http://schemas.microsoft.com/office/powerpoint/2010/main" val="3651034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DEA3AB-F276-6EFC-6820-FAB96CAA59B8}"/>
              </a:ext>
            </a:extLst>
          </p:cNvPr>
          <p:cNvSpPr>
            <a:spLocks noGrp="1"/>
          </p:cNvSpPr>
          <p:nvPr>
            <p:ph idx="1"/>
          </p:nvPr>
        </p:nvSpPr>
        <p:spPr>
          <a:xfrm>
            <a:off x="427804" y="824528"/>
            <a:ext cx="11336392" cy="5509934"/>
          </a:xfrm>
        </p:spPr>
        <p:txBody>
          <a:bodyPr/>
          <a:lstStyle/>
          <a:p>
            <a:r>
              <a:rPr lang="en-GB" dirty="0"/>
              <a:t>A ticket lock is a synchronization mechanism used in multithreaded programming to ensure that threads acquire a lock in the order they request it. It uses two counters:</a:t>
            </a:r>
          </a:p>
          <a:p>
            <a:pPr lvl="1"/>
            <a:r>
              <a:rPr lang="en-GB" dirty="0"/>
              <a:t>ticket (or </a:t>
            </a:r>
            <a:r>
              <a:rPr lang="en-GB" dirty="0" err="1"/>
              <a:t>next_ticket</a:t>
            </a:r>
            <a:r>
              <a:rPr lang="en-GB" dirty="0"/>
              <a:t>): Tracks the next "ticket number" to be assigned to a thread requesting the lock.</a:t>
            </a:r>
          </a:p>
          <a:p>
            <a:pPr lvl="1"/>
            <a:r>
              <a:rPr lang="en-GB" dirty="0"/>
              <a:t>turn: Tracks the "ticket number" of the thread currently holding the lock.</a:t>
            </a:r>
          </a:p>
          <a:p>
            <a:r>
              <a:rPr lang="en-GB" dirty="0"/>
              <a:t>Lock Acquisition (lock()):</a:t>
            </a:r>
          </a:p>
          <a:p>
            <a:pPr lvl="1"/>
            <a:r>
              <a:rPr lang="en-GB" dirty="0"/>
              <a:t>A thread atomically increments the ticket counter (using fetch-and-add) and receives its "ticket number.”</a:t>
            </a:r>
          </a:p>
          <a:p>
            <a:pPr lvl="1"/>
            <a:r>
              <a:rPr lang="en-GB" dirty="0"/>
              <a:t>The thread then spin-waits until its ticket number matches the turn counter, indicating it is its turn to enter the critical section.</a:t>
            </a:r>
          </a:p>
          <a:p>
            <a:r>
              <a:rPr lang="en-GB" dirty="0"/>
              <a:t>Lock Release (unlock()):</a:t>
            </a:r>
          </a:p>
          <a:p>
            <a:pPr lvl="1"/>
            <a:r>
              <a:rPr lang="en-GB" dirty="0"/>
              <a:t>When a thread finishes its critical section, it increments the turn counter, </a:t>
            </a:r>
            <a:r>
              <a:rPr lang="en-GB" dirty="0" err="1"/>
              <a:t>signaling</a:t>
            </a:r>
            <a:r>
              <a:rPr lang="en-GB" dirty="0"/>
              <a:t> that the next thread in line can proceed.</a:t>
            </a:r>
          </a:p>
          <a:p>
            <a:pPr lvl="1"/>
            <a:r>
              <a:rPr lang="en-GB" dirty="0"/>
              <a:t>This ensures that threads are served in a first-come, first-served (FCFS) manner, preventing starvation and ensuring fairness.</a:t>
            </a:r>
            <a:endParaRPr lang="en-SE" dirty="0"/>
          </a:p>
        </p:txBody>
      </p:sp>
      <p:sp>
        <p:nvSpPr>
          <p:cNvPr id="4" name="标题 1">
            <a:extLst>
              <a:ext uri="{FF2B5EF4-FFF2-40B4-BE49-F238E27FC236}">
                <a16:creationId xmlns:a16="http://schemas.microsoft.com/office/drawing/2014/main" id="{4428190A-437E-FA4A-DEDC-FA3F68F46FA5}"/>
              </a:ext>
            </a:extLst>
          </p:cNvPr>
          <p:cNvSpPr>
            <a:spLocks noGrp="1"/>
          </p:cNvSpPr>
          <p:nvPr>
            <p:ph type="title"/>
          </p:nvPr>
        </p:nvSpPr>
        <p:spPr>
          <a:xfrm>
            <a:off x="419449" y="274639"/>
            <a:ext cx="11336392" cy="532956"/>
          </a:xfrm>
        </p:spPr>
        <p:txBody>
          <a:bodyPr/>
          <a:lstStyle/>
          <a:p>
            <a:r>
              <a:rPr lang="en-US" altLang="zh-CN" dirty="0"/>
              <a:t>Ticket</a:t>
            </a:r>
            <a:r>
              <a:rPr lang="zh-CN" altLang="en-US" dirty="0"/>
              <a:t> </a:t>
            </a:r>
            <a:r>
              <a:rPr lang="en-US" altLang="zh-CN" dirty="0"/>
              <a:t>Lock</a:t>
            </a:r>
            <a:endParaRPr lang="en-US" dirty="0"/>
          </a:p>
        </p:txBody>
      </p:sp>
    </p:spTree>
    <p:extLst>
      <p:ext uri="{BB962C8B-B14F-4D97-AF65-F5344CB8AC3E}">
        <p14:creationId xmlns:p14="http://schemas.microsoft.com/office/powerpoint/2010/main" val="1854362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a:xfrm>
            <a:ext cx="4300000" cy="0"/>
          </a:xfrm>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dirty="0"/>
                        <a:t>0</a:t>
                      </a:r>
                      <a:endParaRPr lang="en-US" dirty="0"/>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graphicFrame>
        <p:nvGraphicFramePr>
          <p:cNvPr id="4" name="表格 5">
            <a:extLst>
              <a:ext uri="{FF2B5EF4-FFF2-40B4-BE49-F238E27FC236}">
                <a16:creationId xmlns:a16="http://schemas.microsoft.com/office/drawing/2014/main" id="{93924DF6-A78A-7C48-CF30-09EBDC5D347A}"/>
              </a:ext>
            </a:extLst>
          </p:cNvPr>
          <p:cNvGraphicFramePr>
            <a:graphicFrameLocks noGrp="1"/>
          </p:cNvGraphicFramePr>
          <p:nvPr>
            <p:extLst>
              <p:ext uri="{D42A27DB-BD31-4B8C-83A1-F6EECF244321}">
                <p14:modId xmlns:p14="http://schemas.microsoft.com/office/powerpoint/2010/main" val="2109070970"/>
              </p:ext>
            </p:extLst>
          </p:nvPr>
        </p:nvGraphicFramePr>
        <p:xfrm>
          <a:off x="939797" y="1857821"/>
          <a:ext cx="3195759" cy="4045943"/>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9" name="Straight Arrow Connector 8">
            <a:extLst>
              <a:ext uri="{FF2B5EF4-FFF2-40B4-BE49-F238E27FC236}">
                <a16:creationId xmlns:a16="http://schemas.microsoft.com/office/drawing/2014/main" id="{758B046D-E732-48EF-893B-524395BB082A}"/>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 name="Straight Arrow Connector 9">
            <a:extLst>
              <a:ext uri="{FF2B5EF4-FFF2-40B4-BE49-F238E27FC236}">
                <a16:creationId xmlns:a16="http://schemas.microsoft.com/office/drawing/2014/main" id="{E2276F8C-BE11-40E7-B643-E30B8744471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714377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a:xfrm>
            <a:ext cx="4300000" cy="0"/>
          </a:xfrm>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2"/>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3"/>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4"/>
          <a:stretch>
            <a:fillRect/>
          </a:stretch>
        </p:blipFill>
        <p:spPr>
          <a:xfrm>
            <a:off x="4552950" y="5603171"/>
            <a:ext cx="5740400" cy="1041400"/>
          </a:xfrm>
          <a:prstGeom prst="rect">
            <a:avLst/>
          </a:prstGeom>
        </p:spPr>
      </p:pic>
      <p:graphicFrame>
        <p:nvGraphicFramePr>
          <p:cNvPr id="10" name="表格 5">
            <a:extLst>
              <a:ext uri="{FF2B5EF4-FFF2-40B4-BE49-F238E27FC236}">
                <a16:creationId xmlns:a16="http://schemas.microsoft.com/office/drawing/2014/main" id="{C3CFFE03-5F8E-4A6E-66AF-72E6636EFD5A}"/>
              </a:ext>
            </a:extLst>
          </p:cNvPr>
          <p:cNvGraphicFramePr>
            <a:graphicFrameLocks noGrp="1"/>
          </p:cNvGraphicFramePr>
          <p:nvPr>
            <p:extLst>
              <p:ext uri="{D42A27DB-BD31-4B8C-83A1-F6EECF244321}">
                <p14:modId xmlns:p14="http://schemas.microsoft.com/office/powerpoint/2010/main" val="2213812110"/>
              </p:ext>
            </p:extLst>
          </p:nvPr>
        </p:nvGraphicFramePr>
        <p:xfrm>
          <a:off x="939797" y="1857821"/>
          <a:ext cx="3195759" cy="4424731"/>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11" name="Straight Arrow Connector 10">
            <a:extLst>
              <a:ext uri="{FF2B5EF4-FFF2-40B4-BE49-F238E27FC236}">
                <a16:creationId xmlns:a16="http://schemas.microsoft.com/office/drawing/2014/main" id="{09A1D685-8BDD-4E65-A1E5-10FB9B5EE889}"/>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65A72CF2-FF1D-4E41-BACA-22699180F3AA}"/>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3" name="Straight Arrow Connector 12">
            <a:extLst>
              <a:ext uri="{FF2B5EF4-FFF2-40B4-BE49-F238E27FC236}">
                <a16:creationId xmlns:a16="http://schemas.microsoft.com/office/drawing/2014/main" id="{3A842226-537B-47C7-A90C-86CA12E2E126}"/>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61681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a:xfrm>
            <a:ext cx="4300000" cy="0"/>
          </a:xfrm>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extLst>
              <p:ext uri="{D42A27DB-BD31-4B8C-83A1-F6EECF244321}">
                <p14:modId xmlns:p14="http://schemas.microsoft.com/office/powerpoint/2010/main" val="3676873206"/>
              </p:ext>
            </p:extLst>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5"/>
          <a:stretch>
            <a:fillRect/>
          </a:stretch>
        </p:blipFill>
        <p:spPr>
          <a:xfrm>
            <a:off x="4552950" y="5603171"/>
            <a:ext cx="5740400" cy="1041400"/>
          </a:xfrm>
          <a:prstGeom prst="rect">
            <a:avLst/>
          </a:prstGeom>
        </p:spPr>
      </p:pic>
      <p:graphicFrame>
        <p:nvGraphicFramePr>
          <p:cNvPr id="4" name="表格 5">
            <a:extLst>
              <a:ext uri="{FF2B5EF4-FFF2-40B4-BE49-F238E27FC236}">
                <a16:creationId xmlns:a16="http://schemas.microsoft.com/office/drawing/2014/main" id="{AC847C19-E867-B3FE-B8AF-AFA610ECE10E}"/>
              </a:ext>
            </a:extLst>
          </p:cNvPr>
          <p:cNvGraphicFramePr>
            <a:graphicFrameLocks noGrp="1"/>
          </p:cNvGraphicFramePr>
          <p:nvPr>
            <p:extLst>
              <p:ext uri="{D42A27DB-BD31-4B8C-83A1-F6EECF244321}">
                <p14:modId xmlns:p14="http://schemas.microsoft.com/office/powerpoint/2010/main" val="3147218211"/>
              </p:ext>
            </p:extLst>
          </p:nvPr>
        </p:nvGraphicFramePr>
        <p:xfrm>
          <a:off x="939797" y="1857821"/>
          <a:ext cx="3195759" cy="4803519"/>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2</a:t>
                      </a: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3</a:t>
                      </a: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txBody>
                  <a:tcPr/>
                </a:tc>
                <a:tc>
                  <a:txBody>
                    <a:bodyPr/>
                    <a:lstStyle/>
                    <a:p>
                      <a:pPr algn="ctr"/>
                      <a:r>
                        <a:rPr lang="en-US" altLang="zh-CN" sz="1600" dirty="0"/>
                        <a:t>4</a:t>
                      </a:r>
                      <a:endParaRPr lang="en-US" sz="1600" dirty="0"/>
                    </a:p>
                  </a:txBody>
                  <a:tcPr/>
                </a:tc>
                <a:tc>
                  <a:txBody>
                    <a:bodyPr/>
                    <a:lstStyle/>
                    <a:p>
                      <a:pPr algn="ctr"/>
                      <a:r>
                        <a:rPr lang="en-US" altLang="zh-CN" sz="1600" dirty="0"/>
                        <a:t>4</a:t>
                      </a:r>
                      <a:endParaRPr lang="en-US" sz="1600" dirty="0"/>
                    </a:p>
                  </a:txBody>
                  <a:tcPr/>
                </a:tc>
                <a:extLst>
                  <a:ext uri="{0D108BD9-81ED-4DB2-BD59-A6C34878D82A}">
                    <a16:rowId xmlns:a16="http://schemas.microsoft.com/office/drawing/2014/main" val="1659834337"/>
                  </a:ext>
                </a:extLst>
              </a:tr>
            </a:tbl>
          </a:graphicData>
        </a:graphic>
      </p:graphicFrame>
      <p:cxnSp>
        <p:nvCxnSpPr>
          <p:cNvPr id="10" name="Straight Arrow Connector 9">
            <a:extLst>
              <a:ext uri="{FF2B5EF4-FFF2-40B4-BE49-F238E27FC236}">
                <a16:creationId xmlns:a16="http://schemas.microsoft.com/office/drawing/2014/main" id="{C1B11F61-DE5D-47FF-A96C-797D179A69E6}"/>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1" name="Straight Arrow Connector 10">
            <a:extLst>
              <a:ext uri="{FF2B5EF4-FFF2-40B4-BE49-F238E27FC236}">
                <a16:creationId xmlns:a16="http://schemas.microsoft.com/office/drawing/2014/main" id="{5B0D38DB-11C1-4B78-8B78-7F6B29C518D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A042888B-B6F2-4D70-896A-612358930AB0}"/>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436716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B5A68A-7151-2BA4-2BEB-DA7DCD4DD086}"/>
              </a:ext>
            </a:extLst>
          </p:cNvPr>
          <p:cNvSpPr>
            <a:spLocks noGrp="1"/>
          </p:cNvSpPr>
          <p:nvPr>
            <p:ph type="title"/>
          </p:nvPr>
        </p:nvSpPr>
        <p:spPr/>
        <p:txBody>
          <a:bodyPr/>
          <a:lstStyle/>
          <a:p>
            <a:r>
              <a:rPr lang="en-US" altLang="zh-CN" dirty="0"/>
              <a:t>Recap</a:t>
            </a:r>
            <a:endParaRPr lang="en-US" dirty="0"/>
          </a:p>
        </p:txBody>
      </p:sp>
      <p:sp>
        <p:nvSpPr>
          <p:cNvPr id="3" name="内容占位符 2">
            <a:extLst>
              <a:ext uri="{FF2B5EF4-FFF2-40B4-BE49-F238E27FC236}">
                <a16:creationId xmlns:a16="http://schemas.microsoft.com/office/drawing/2014/main" id="{0513D4CA-5C6B-98C2-5985-79CD185AD709}"/>
              </a:ext>
            </a:extLst>
          </p:cNvPr>
          <p:cNvSpPr>
            <a:spLocks noGrp="1"/>
          </p:cNvSpPr>
          <p:nvPr>
            <p:ph idx="1"/>
          </p:nvPr>
        </p:nvSpPr>
        <p:spPr/>
        <p:txBody>
          <a:bodyPr/>
          <a:lstStyle/>
          <a:p>
            <a:r>
              <a:rPr lang="en-US" dirty="0"/>
              <a:t>Locks --- </a:t>
            </a:r>
            <a:r>
              <a:rPr lang="en-US" b="1" dirty="0">
                <a:solidFill>
                  <a:srgbClr val="0070C0"/>
                </a:solidFill>
              </a:rPr>
              <a:t>mutual exclusion </a:t>
            </a:r>
          </a:p>
          <a:p>
            <a:pPr lvl="1"/>
            <a:r>
              <a:rPr lang="en-US" dirty="0"/>
              <a:t>Only one thread may execute the critical section at a time</a:t>
            </a:r>
          </a:p>
          <a:p>
            <a:r>
              <a:rPr lang="en-US" dirty="0"/>
              <a:t>Hardware support</a:t>
            </a:r>
            <a:r>
              <a:rPr lang="zh-CN" altLang="en-US" dirty="0"/>
              <a:t> </a:t>
            </a:r>
            <a:r>
              <a:rPr lang="en-US" altLang="zh-CN" dirty="0"/>
              <a:t>–</a:t>
            </a:r>
            <a:r>
              <a:rPr lang="zh-CN" altLang="en-US" dirty="0"/>
              <a:t> </a:t>
            </a:r>
            <a:r>
              <a:rPr lang="en-US" altLang="zh-CN" b="1" dirty="0">
                <a:solidFill>
                  <a:srgbClr val="0070C0"/>
                </a:solidFill>
              </a:rPr>
              <a:t>atomic</a:t>
            </a:r>
            <a:r>
              <a:rPr lang="zh-CN" altLang="en-US" b="1" dirty="0">
                <a:solidFill>
                  <a:srgbClr val="0070C0"/>
                </a:solidFill>
              </a:rPr>
              <a:t> </a:t>
            </a:r>
            <a:r>
              <a:rPr lang="en-US" altLang="zh-CN" b="1" dirty="0">
                <a:solidFill>
                  <a:srgbClr val="0070C0"/>
                </a:solidFill>
              </a:rPr>
              <a:t>execution</a:t>
            </a:r>
            <a:endParaRPr lang="en-US" b="1" dirty="0">
              <a:solidFill>
                <a:srgbClr val="0070C0"/>
              </a:solidFill>
            </a:endParaRPr>
          </a:p>
          <a:p>
            <a:pPr lvl="1"/>
            <a:r>
              <a:rPr lang="en-US" dirty="0">
                <a:solidFill>
                  <a:srgbClr val="0070C0"/>
                </a:solidFill>
              </a:rPr>
              <a:t>Test-and-set </a:t>
            </a:r>
            <a:r>
              <a:rPr lang="en-US" dirty="0"/>
              <a:t>and </a:t>
            </a:r>
            <a:r>
              <a:rPr lang="en-US" dirty="0">
                <a:solidFill>
                  <a:srgbClr val="0070C0"/>
                </a:solidFill>
              </a:rPr>
              <a:t>compare-and-swap</a:t>
            </a:r>
            <a:r>
              <a:rPr lang="en-US" dirty="0"/>
              <a:t> </a:t>
            </a:r>
          </a:p>
          <a:p>
            <a:r>
              <a:rPr lang="en-US" dirty="0"/>
              <a:t>Busy-waiting --- </a:t>
            </a:r>
            <a:r>
              <a:rPr lang="en-US" b="1" dirty="0">
                <a:solidFill>
                  <a:srgbClr val="FF0000"/>
                </a:solidFill>
              </a:rPr>
              <a:t>spinlock</a:t>
            </a:r>
          </a:p>
          <a:p>
            <a:r>
              <a:rPr lang="en-US" dirty="0"/>
              <a:t>Metrics to evaluate locks:</a:t>
            </a:r>
          </a:p>
          <a:p>
            <a:pPr lvl="1"/>
            <a:r>
              <a:rPr lang="en-US" dirty="0"/>
              <a:t>Correctness: mutual exclusion</a:t>
            </a:r>
          </a:p>
          <a:p>
            <a:pPr lvl="1"/>
            <a:r>
              <a:rPr lang="en-US" dirty="0"/>
              <a:t>Fairness: no starvation</a:t>
            </a:r>
          </a:p>
          <a:p>
            <a:pPr lvl="1"/>
            <a:r>
              <a:rPr lang="en-US" dirty="0"/>
              <a:t>Performance: no high cost to acquire and release a lock</a:t>
            </a:r>
          </a:p>
          <a:p>
            <a:r>
              <a:rPr lang="en-US" dirty="0"/>
              <a:t>Ticket locks --- </a:t>
            </a:r>
            <a:r>
              <a:rPr lang="en-US" b="1" dirty="0">
                <a:solidFill>
                  <a:srgbClr val="0070C0"/>
                </a:solidFill>
              </a:rPr>
              <a:t>No starvation</a:t>
            </a:r>
          </a:p>
        </p:txBody>
      </p:sp>
    </p:spTree>
    <p:extLst>
      <p:ext uri="{BB962C8B-B14F-4D97-AF65-F5344CB8AC3E}">
        <p14:creationId xmlns:p14="http://schemas.microsoft.com/office/powerpoint/2010/main" val="788808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ea typeface="굴림" panose="020B0600000101010101" pitchFamily="34" charset="-127"/>
              </a:rPr>
              <a:t>Semaphores</a:t>
            </a:r>
          </a:p>
        </p:txBody>
      </p:sp>
      <p:sp>
        <p:nvSpPr>
          <p:cNvPr id="459779" name="Rectangle 3"/>
          <p:cNvSpPr>
            <a:spLocks noGrp="1" noChangeArrowheads="1"/>
          </p:cNvSpPr>
          <p:nvPr>
            <p:ph type="body" idx="1"/>
          </p:nvPr>
        </p:nvSpPr>
        <p:spPr>
          <a:xfrm>
            <a:off x="609600" y="840288"/>
            <a:ext cx="10058400" cy="5978201"/>
          </a:xfrm>
        </p:spPr>
        <p:txBody>
          <a:bodyPr>
            <a:normAutofit fontScale="77500" lnSpcReduction="20000"/>
          </a:bodyPr>
          <a:lstStyle/>
          <a:p>
            <a:pPr>
              <a:spcBef>
                <a:spcPct val="25000"/>
              </a:spcBef>
            </a:pPr>
            <a:r>
              <a:rPr lang="en-US" altLang="ko-KR" dirty="0">
                <a:ea typeface="굴림" panose="020B0600000101010101" pitchFamily="34" charset="-127"/>
              </a:rPr>
              <a:t>Semaphores were proposed by a Dutch computer scientist Dijkstra in the 1960s</a:t>
            </a:r>
          </a:p>
          <a:p>
            <a:pPr>
              <a:spcBef>
                <a:spcPct val="25000"/>
              </a:spcBef>
            </a:pPr>
            <a:r>
              <a:rPr lang="en-US" altLang="ko-KR" dirty="0">
                <a:ea typeface="굴림" panose="020B0600000101010101" pitchFamily="34" charset="-127"/>
              </a:rPr>
              <a:t>Definition: a semaphore has a </a:t>
            </a:r>
            <a:r>
              <a:rPr lang="en-US" altLang="ko-KR" dirty="0">
                <a:solidFill>
                  <a:srgbClr val="FF0000"/>
                </a:solidFill>
                <a:ea typeface="굴림" panose="020B0600000101010101" pitchFamily="34" charset="-127"/>
              </a:rPr>
              <a:t>non-negative integer value</a:t>
            </a:r>
            <a:r>
              <a:rPr lang="en-US" altLang="ko-KR" dirty="0">
                <a:ea typeface="굴림" panose="020B0600000101010101" pitchFamily="34" charset="-127"/>
              </a:rPr>
              <a:t> and supports the following operations:</a:t>
            </a:r>
          </a:p>
          <a:p>
            <a:pPr lvl="1">
              <a:spcBef>
                <a:spcPct val="25000"/>
              </a:spcBef>
            </a:pPr>
            <a:r>
              <a:rPr lang="pt-BR" altLang="ko-KR" dirty="0">
                <a:solidFill>
                  <a:srgbClr val="FF0000"/>
                </a:solidFill>
                <a:ea typeface="굴림" panose="020B0600000101010101" pitchFamily="34" charset="-127"/>
              </a:rPr>
              <a:t>sem_t sem</a:t>
            </a:r>
            <a:r>
              <a:rPr lang="pt-BR" altLang="ko-KR" dirty="0">
                <a:ea typeface="굴림" panose="020B0600000101010101" pitchFamily="34" charset="-127"/>
              </a:rPr>
              <a:t> or </a:t>
            </a:r>
            <a:r>
              <a:rPr lang="pt-BR" altLang="ko-KR" dirty="0">
                <a:solidFill>
                  <a:srgbClr val="FF0000"/>
                </a:solidFill>
                <a:ea typeface="굴림" panose="020B0600000101010101" pitchFamily="34" charset="-127"/>
              </a:rPr>
              <a:t>semaphore sem: </a:t>
            </a:r>
            <a:r>
              <a:rPr lang="pt-BR" altLang="ko-KR" dirty="0">
                <a:ea typeface="굴림" panose="020B0600000101010101" pitchFamily="34" charset="-127"/>
              </a:rPr>
              <a:t>Declare a semaphore</a:t>
            </a:r>
          </a:p>
          <a:p>
            <a:pPr lvl="1">
              <a:spcBef>
                <a:spcPct val="25000"/>
              </a:spcBef>
            </a:pPr>
            <a:r>
              <a:rPr lang="pt-BR" altLang="ko-KR" dirty="0">
                <a:solidFill>
                  <a:srgbClr val="FF0000"/>
                </a:solidFill>
                <a:ea typeface="굴림" panose="020B0600000101010101" pitchFamily="34" charset="-127"/>
              </a:rPr>
              <a:t>sem_init(&amp;sem, 0, N): </a:t>
            </a:r>
            <a:r>
              <a:rPr lang="en-GB" altLang="ko-KR" dirty="0">
                <a:ea typeface="굴림" panose="020B0600000101010101" pitchFamily="34" charset="-127"/>
              </a:rPr>
              <a:t>Initialize the semaphore to any non-negative value</a:t>
            </a:r>
            <a:endParaRPr lang="pt-BR" altLang="ko-KR" dirty="0">
              <a:ea typeface="굴림" panose="020B0600000101010101" pitchFamily="34" charset="-127"/>
            </a:endParaRPr>
          </a:p>
          <a:p>
            <a:pPr lvl="1">
              <a:spcBef>
                <a:spcPct val="25000"/>
              </a:spcBef>
            </a:pPr>
            <a:r>
              <a:rPr lang="en-US" altLang="ko-KR" dirty="0">
                <a:solidFill>
                  <a:srgbClr val="FF0000"/>
                </a:solidFill>
                <a:ea typeface="굴림" panose="020B0600000101010101" pitchFamily="34" charset="-127"/>
              </a:rPr>
              <a:t>sem</a:t>
            </a:r>
            <a:r>
              <a:rPr lang="en-GB" altLang="ko-KR" dirty="0">
                <a:solidFill>
                  <a:srgbClr val="FF0000"/>
                </a:solidFill>
                <a:ea typeface="굴림" panose="020B0600000101010101" pitchFamily="34" charset="-127"/>
              </a:rPr>
              <a:t>_</a:t>
            </a:r>
            <a:r>
              <a:rPr lang="en-US" altLang="ko-KR" dirty="0">
                <a:solidFill>
                  <a:srgbClr val="FF0000"/>
                </a:solidFill>
                <a:ea typeface="굴림" panose="020B0600000101010101" pitchFamily="34" charset="-127"/>
              </a:rPr>
              <a:t>wait(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a:t>
            </a:r>
            <a:r>
              <a:rPr lang="en-US" altLang="ko-KR" dirty="0">
                <a:ea typeface="굴림" panose="020B0600000101010101" pitchFamily="34" charset="-127"/>
              </a:rPr>
              <a:t> also called </a:t>
            </a:r>
            <a:r>
              <a:rPr lang="en-US" altLang="zh-CN" dirty="0">
                <a:ea typeface="굴림" panose="020B0600000101010101" pitchFamily="34" charset="-127"/>
              </a:rPr>
              <a:t>d</a:t>
            </a:r>
            <a:r>
              <a:rPr lang="en-US" altLang="ko-KR" dirty="0">
                <a:ea typeface="굴림" panose="020B0600000101010101" pitchFamily="34" charset="-127"/>
              </a:rPr>
              <a:t>own() or P(), an atomic operation that decrements it by 1 if non-zero. If the semaphore is equal to 0, go to sleep waiting to be signaled by another thread</a:t>
            </a:r>
          </a:p>
          <a:p>
            <a:pPr lvl="1">
              <a:spcBef>
                <a:spcPct val="25000"/>
              </a:spcBef>
            </a:pPr>
            <a:r>
              <a:rPr lang="en-US" altLang="ko-KR" dirty="0" err="1">
                <a:solidFill>
                  <a:srgbClr val="FF0000"/>
                </a:solidFill>
                <a:ea typeface="굴림" panose="020B0600000101010101" pitchFamily="34" charset="-127"/>
              </a:rPr>
              <a:t>sem_post</a:t>
            </a:r>
            <a:r>
              <a:rPr lang="en-US" altLang="ko-KR" dirty="0">
                <a:solidFill>
                  <a:srgbClr val="FF0000"/>
                </a:solidFill>
                <a:ea typeface="굴림" panose="020B0600000101010101" pitchFamily="34" charset="-127"/>
              </a:rPr>
              <a: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also called signal(), up() or V(), an atomic operation that increments it by 1, and wakes up a waiting/sleeping thread, if any</a:t>
            </a:r>
          </a:p>
          <a:p>
            <a:pPr>
              <a:spcBef>
                <a:spcPct val="25000"/>
              </a:spcBef>
            </a:pPr>
            <a:r>
              <a:rPr lang="en-US" altLang="ko-KR" dirty="0">
                <a:ea typeface="굴림" panose="020B0600000101010101" pitchFamily="34" charset="-127"/>
              </a:rPr>
              <a:t>Semaphores are also called sleeping locks, since the waiting thread goes to sleep instead of spin-waiting</a:t>
            </a:r>
          </a:p>
          <a:p>
            <a:pPr lvl="1">
              <a:spcBef>
                <a:spcPct val="25000"/>
              </a:spcBef>
            </a:pPr>
            <a:r>
              <a:rPr lang="en-US" altLang="ko-KR" dirty="0">
                <a:ea typeface="굴림" panose="020B0600000101010101" pitchFamily="34" charset="-127"/>
              </a:rPr>
              <a:t>If the waiting time is long, then sleeping is more efficient since the thread gives up the CPU to other threads, but incurs system call (kernel) overhead to go to sleep and wake up; if waiting time is short, then spinlock may be more efficient since it does not involve the kernel. </a:t>
            </a:r>
          </a:p>
          <a:p>
            <a:pPr lvl="1">
              <a:spcBef>
                <a:spcPct val="25000"/>
              </a:spcBef>
            </a:pPr>
            <a:r>
              <a:rPr lang="en-US" altLang="ko-KR" dirty="0">
                <a:ea typeface="굴림" panose="020B0600000101010101" pitchFamily="34" charset="-127"/>
              </a:rPr>
              <a:t>Spinlock may cause starvation, e.g., if the waiting thread has higher priority than the signaler thread under fixed priority scheduling (but not under round-robin scheduling).</a:t>
            </a:r>
          </a:p>
        </p:txBody>
      </p:sp>
      <p:pic>
        <p:nvPicPr>
          <p:cNvPr id="3" name="Picture 2" descr="A person wearing glasses and a vest&#10;&#10;AI-generated content may be incorrect.">
            <a:extLst>
              <a:ext uri="{FF2B5EF4-FFF2-40B4-BE49-F238E27FC236}">
                <a16:creationId xmlns:a16="http://schemas.microsoft.com/office/drawing/2014/main" id="{2002B418-9D62-A255-5E8A-2D5A282D5A6F}"/>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0668000" y="52512"/>
            <a:ext cx="1447254" cy="1929671"/>
          </a:xfrm>
          <a:prstGeom prst="rect">
            <a:avLst/>
          </a:prstGeom>
        </p:spPr>
      </p:pic>
      <p:sp>
        <p:nvSpPr>
          <p:cNvPr id="2" name="Plassholder for lysbildenummer 5">
            <a:extLst>
              <a:ext uri="{FF2B5EF4-FFF2-40B4-BE49-F238E27FC236}">
                <a16:creationId xmlns:a16="http://schemas.microsoft.com/office/drawing/2014/main" id="{38CBB5E3-D299-68DA-769F-F5233EF67405}"/>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20</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8659901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977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977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977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977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977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59779">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9779">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97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0F6FC2F3-9914-DF3C-FFB0-96B89F43C84D}"/>
              </a:ext>
            </a:extLst>
          </p:cNvPr>
          <p:cNvSpPr>
            <a:spLocks noGrp="1" noChangeArrowheads="1"/>
          </p:cNvSpPr>
          <p:nvPr>
            <p:ph type="title"/>
          </p:nvPr>
        </p:nvSpPr>
        <p:spPr/>
        <p:txBody>
          <a:bodyPr/>
          <a:lstStyle/>
          <a:p>
            <a:r>
              <a:rPr lang="en-US" altLang="en-SE" dirty="0"/>
              <a:t>POSIX </a:t>
            </a:r>
            <a:r>
              <a:rPr lang="en-US" altLang="en-SE" dirty="0" err="1"/>
              <a:t>Threads &amp; Semaphores</a:t>
            </a:r>
            <a:r>
              <a:rPr lang="en-US" altLang="en-SE" dirty="0"/>
              <a:t> API</a:t>
            </a:r>
          </a:p>
        </p:txBody>
      </p:sp>
      <p:sp>
        <p:nvSpPr>
          <p:cNvPr id="120835" name="Rectangle 3">
            <a:extLst>
              <a:ext uri="{FF2B5EF4-FFF2-40B4-BE49-F238E27FC236}">
                <a16:creationId xmlns:a16="http://schemas.microsoft.com/office/drawing/2014/main" id="{35C56527-5185-CE39-5F8B-1CF99897BC99}"/>
              </a:ext>
            </a:extLst>
          </p:cNvPr>
          <p:cNvSpPr>
            <a:spLocks noGrp="1" noChangeArrowheads="1"/>
          </p:cNvSpPr>
          <p:nvPr>
            <p:ph type="body" idx="1"/>
          </p:nvPr>
        </p:nvSpPr>
        <p:spPr>
          <a:xfrm>
            <a:off x="381000" y="816682"/>
            <a:ext cx="4726105" cy="5888918"/>
          </a:xfrm>
        </p:spPr>
        <p:txBody>
          <a:bodyPr/>
          <a:lstStyle/>
          <a:p>
            <a:r>
              <a:rPr lang="en-GB" altLang="en-SE" dirty="0"/>
              <a:t>A Portable Operating System Interface (POSIX) library (IEEE 1003.1c), written in C language</a:t>
            </a:r>
          </a:p>
          <a:p>
            <a:r>
              <a:rPr lang="en-GB" altLang="en-SE" dirty="0"/>
              <a:t>In this lecture, we sometimes use some simpler notations for brevity, e.g., </a:t>
            </a:r>
          </a:p>
          <a:p>
            <a:r>
              <a:rPr lang="pt-BR" altLang="en-SE" dirty="0"/>
              <a:t>sem_init(&amp;sem, 0, N)</a:t>
            </a:r>
            <a:endParaRPr lang="en-GB" altLang="en-SE" dirty="0"/>
          </a:p>
          <a:p>
            <a:pPr lvl="1"/>
            <a:r>
              <a:rPr lang="en-GB" altLang="en-SE" dirty="0"/>
              <a:t>written as: semaphore </a:t>
            </a:r>
            <a:r>
              <a:rPr lang="en-GB" altLang="en-SE" dirty="0" err="1"/>
              <a:t>sem</a:t>
            </a:r>
            <a:r>
              <a:rPr lang="en-GB" altLang="en-SE" dirty="0"/>
              <a:t>=N; </a:t>
            </a:r>
          </a:p>
          <a:p>
            <a:r>
              <a:rPr lang="en-GB" altLang="en-SE" dirty="0" err="1"/>
              <a:t>sem_wait</a:t>
            </a:r>
            <a:r>
              <a:rPr lang="en-GB" altLang="en-SE" dirty="0"/>
              <a:t>(</a:t>
            </a:r>
            <a:r>
              <a:rPr lang="pt-BR" altLang="en-SE" dirty="0"/>
              <a:t>&amp;sem</a:t>
            </a:r>
            <a:r>
              <a:rPr lang="en-GB" altLang="en-SE" dirty="0"/>
              <a:t>)</a:t>
            </a:r>
          </a:p>
          <a:p>
            <a:pPr lvl="1"/>
            <a:r>
              <a:rPr lang="en-GB" altLang="en-SE" dirty="0"/>
              <a:t>written as </a:t>
            </a:r>
            <a:r>
              <a:rPr lang="en-GB" altLang="en-SE" dirty="0" err="1"/>
              <a:t>sem.wait</a:t>
            </a:r>
            <a:r>
              <a:rPr lang="en-GB" altLang="en-SE" dirty="0"/>
              <a:t>()</a:t>
            </a:r>
          </a:p>
          <a:p>
            <a:r>
              <a:rPr lang="en-GB" altLang="en-SE" dirty="0" err="1"/>
              <a:t>sem_post</a:t>
            </a:r>
            <a:r>
              <a:rPr lang="en-GB" altLang="en-SE" dirty="0"/>
              <a:t>(</a:t>
            </a:r>
            <a:r>
              <a:rPr lang="pt-BR" altLang="en-SE" dirty="0"/>
              <a:t>&amp;sem</a:t>
            </a:r>
            <a:r>
              <a:rPr lang="en-GB" altLang="en-SE" dirty="0"/>
              <a:t>)</a:t>
            </a:r>
          </a:p>
          <a:p>
            <a:pPr lvl="1"/>
            <a:r>
              <a:rPr lang="en-GB" altLang="en-SE" dirty="0"/>
              <a:t>written as </a:t>
            </a:r>
            <a:r>
              <a:rPr lang="en-GB" altLang="en-SE" dirty="0" err="1"/>
              <a:t>sem.signal</a:t>
            </a:r>
            <a:r>
              <a:rPr lang="en-GB" altLang="en-SE" dirty="0"/>
              <a:t>() </a:t>
            </a:r>
          </a:p>
        </p:txBody>
      </p:sp>
      <p:graphicFrame>
        <p:nvGraphicFramePr>
          <p:cNvPr id="2" name="表格 5">
            <a:extLst>
              <a:ext uri="{FF2B5EF4-FFF2-40B4-BE49-F238E27FC236}">
                <a16:creationId xmlns:a16="http://schemas.microsoft.com/office/drawing/2014/main" id="{06DFB30D-FC10-11A7-C07D-43D28D623A0E}"/>
              </a:ext>
            </a:extLst>
          </p:cNvPr>
          <p:cNvGraphicFramePr>
            <a:graphicFrameLocks/>
          </p:cNvGraphicFramePr>
          <p:nvPr>
            <p:extLst>
              <p:ext uri="{D42A27DB-BD31-4B8C-83A1-F6EECF244321}">
                <p14:modId xmlns:p14="http://schemas.microsoft.com/office/powerpoint/2010/main" val="1924626725"/>
              </p:ext>
            </p:extLst>
          </p:nvPr>
        </p:nvGraphicFramePr>
        <p:xfrm>
          <a:off x="5321459" y="907928"/>
          <a:ext cx="6715552" cy="5247640"/>
        </p:xfrm>
        <a:graphic>
          <a:graphicData uri="http://schemas.openxmlformats.org/drawingml/2006/table">
            <a:tbl>
              <a:tblPr firstRow="1" bandRow="1"/>
              <a:tblGrid>
                <a:gridCol w="3357776">
                  <a:extLst>
                    <a:ext uri="{9D8B030D-6E8A-4147-A177-3AD203B41FA5}">
                      <a16:colId xmlns:a16="http://schemas.microsoft.com/office/drawing/2014/main" val="141944448"/>
                    </a:ext>
                  </a:extLst>
                </a:gridCol>
                <a:gridCol w="3357776">
                  <a:extLst>
                    <a:ext uri="{9D8B030D-6E8A-4147-A177-3AD203B41FA5}">
                      <a16:colId xmlns:a16="http://schemas.microsoft.com/office/drawing/2014/main" val="3748161652"/>
                    </a:ext>
                  </a:extLst>
                </a:gridCol>
              </a:tblGrid>
              <a:tr h="370840">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API</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Functionality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extLst>
                  <a:ext uri="{0D108BD9-81ED-4DB2-BD59-A6C34878D82A}">
                    <a16:rowId xmlns:a16="http://schemas.microsoft.com/office/drawing/2014/main" val="2635768267"/>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pthread_create</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Create a new thread in the caller’s address space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087647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pthread_exit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Terminate the calling thread</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3733784"/>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pthread_join</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for a thread to terminate</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67535002"/>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Lock a mutex</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222976492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pthread_mutex_unlock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Unlock a mutex</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1656279817"/>
                  </a:ext>
                </a:extLst>
              </a:tr>
              <a:tr h="370840">
                <a:tc>
                  <a:txBody>
                    <a:bodyPr/>
                    <a:lstStyle/>
                    <a:p>
                      <a:r>
                        <a:rPr lang="en-US" altLang="zh-CN" sz="2000" i="0" kern="1200" dirty="0" err="1">
                          <a:solidFill>
                            <a:schemeClr val="dk1"/>
                          </a:solidFill>
                          <a:effectLst/>
                          <a:latin typeface="+mn-lt"/>
                          <a:ea typeface="+mn-ea"/>
                          <a:cs typeface="+mn-cs"/>
                        </a:rPr>
                        <a:t>sem_wait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r>
                        <a:rPr lang="en-US" sz="2000" i="0" dirty="0"/>
                        <a:t>Wait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2822192891"/>
                  </a:ext>
                </a:extLst>
              </a:tr>
              <a:tr h="370840">
                <a:tc>
                  <a:txBody>
                    <a:bodyPr/>
                    <a:lstStyle/>
                    <a:p>
                      <a:r>
                        <a:rPr lang="en-US" altLang="zh-CN" sz="2000" i="0" kern="1200" dirty="0" err="1">
                          <a:solidFill>
                            <a:schemeClr val="dk1"/>
                          </a:solidFill>
                          <a:effectLst/>
                          <a:latin typeface="+mn-lt"/>
                          <a:ea typeface="+mn-ea"/>
                          <a:cs typeface="+mn-cs"/>
                        </a:rPr>
                        <a:t>sem_post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i="0" dirty="0"/>
                        <a:t>Signal or post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196641475"/>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extLst>
                  <a:ext uri="{0D108BD9-81ED-4DB2-BD59-A6C34878D82A}">
                    <a16:rowId xmlns:a16="http://schemas.microsoft.com/office/drawing/2014/main" val="2293221819"/>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pthread_cond_signal</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Wake up one thread waiting on a condition variable</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20022751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err="1">
                          <a:solidFill>
                            <a:schemeClr val="dk1"/>
                          </a:solidFill>
                          <a:effectLst/>
                          <a:latin typeface="+mn-lt"/>
                          <a:ea typeface="+mn-ea"/>
                          <a:cs typeface="+mn-cs"/>
                        </a:rPr>
                        <a:t>pthread_cond_broadcast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Wake up all threads waiting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1074044474"/>
                  </a:ext>
                </a:extLst>
              </a:tr>
            </a:tbl>
          </a:graphicData>
        </a:graphic>
      </p:graphicFrame>
    </p:spTree>
    <p:extLst>
      <p:ext uri="{BB962C8B-B14F-4D97-AF65-F5344CB8AC3E}">
        <p14:creationId xmlns:p14="http://schemas.microsoft.com/office/powerpoint/2010/main" val="46193654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002" name="Rectangle 2"/>
          <p:cNvSpPr>
            <a:spLocks noChangeArrowheads="1"/>
          </p:cNvSpPr>
          <p:nvPr/>
        </p:nvSpPr>
        <p:spPr bwMode="auto">
          <a:xfrm>
            <a:off x="2362200" y="4953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03" name="Text Box 3"/>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a:latin typeface="Gill Sans" charset="0"/>
                <a:ea typeface="Gill Sans" charset="0"/>
                <a:cs typeface="Gill Sans" charset="0"/>
              </a:rPr>
              <a:t>Value=2</a:t>
            </a:r>
          </a:p>
        </p:txBody>
      </p:sp>
      <p:sp>
        <p:nvSpPr>
          <p:cNvPr id="512004" name="Text Box 4"/>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Value=1</a:t>
            </a:r>
          </a:p>
        </p:txBody>
      </p:sp>
      <p:sp>
        <p:nvSpPr>
          <p:cNvPr id="512005" name="Text Box 5"/>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Value=0</a:t>
            </a:r>
          </a:p>
        </p:txBody>
      </p:sp>
      <p:pic>
        <p:nvPicPr>
          <p:cNvPr id="512006" name="Picture 6"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07" name="Rectangle 7"/>
          <p:cNvSpPr>
            <a:spLocks noGrp="1" noChangeArrowheads="1"/>
          </p:cNvSpPr>
          <p:nvPr>
            <p:ph type="title"/>
          </p:nvPr>
        </p:nvSpPr>
        <p:spPr/>
        <p:txBody>
          <a:bodyPr/>
          <a:lstStyle/>
          <a:p>
            <a:r>
              <a:rPr lang="en-US" altLang="ko-KR" dirty="0">
                <a:ea typeface="굴림" panose="020B0600000101010101" pitchFamily="34" charset="-127"/>
              </a:rPr>
              <a:t>Semaphores Like Integers Except…</a:t>
            </a:r>
          </a:p>
        </p:txBody>
      </p:sp>
      <p:pic>
        <p:nvPicPr>
          <p:cNvPr id="512009" name="Picture 9"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10" name="Picture 10"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512011" name="Group 11"/>
          <p:cNvGrpSpPr>
            <a:grpSpLocks/>
          </p:cNvGrpSpPr>
          <p:nvPr/>
        </p:nvGrpSpPr>
        <p:grpSpPr bwMode="auto">
          <a:xfrm>
            <a:off x="2514600" y="4800600"/>
            <a:ext cx="7239000" cy="1447800"/>
            <a:chOff x="672" y="3024"/>
            <a:chExt cx="4560" cy="912"/>
          </a:xfrm>
        </p:grpSpPr>
        <p:sp>
          <p:nvSpPr>
            <p:cNvPr id="25621" name="Line 12"/>
            <p:cNvSpPr>
              <a:spLocks noChangeShapeType="1"/>
            </p:cNvSpPr>
            <p:nvPr/>
          </p:nvSpPr>
          <p:spPr bwMode="auto">
            <a:xfrm>
              <a:off x="672" y="3648"/>
              <a:ext cx="139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2" name="Line 13"/>
            <p:cNvSpPr>
              <a:spLocks noChangeShapeType="1"/>
            </p:cNvSpPr>
            <p:nvPr/>
          </p:nvSpPr>
          <p:spPr bwMode="auto">
            <a:xfrm>
              <a:off x="2496" y="3408"/>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3" name="Line 14"/>
            <p:cNvSpPr>
              <a:spLocks noChangeShapeType="1"/>
            </p:cNvSpPr>
            <p:nvPr/>
          </p:nvSpPr>
          <p:spPr bwMode="auto">
            <a:xfrm>
              <a:off x="2496" y="3936"/>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4" name="Freeform 15"/>
            <p:cNvSpPr>
              <a:spLocks/>
            </p:cNvSpPr>
            <p:nvPr/>
          </p:nvSpPr>
          <p:spPr bwMode="auto">
            <a:xfrm>
              <a:off x="2016"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5" name="Freeform 16"/>
            <p:cNvSpPr>
              <a:spLocks/>
            </p:cNvSpPr>
            <p:nvPr/>
          </p:nvSpPr>
          <p:spPr bwMode="auto">
            <a:xfrm flipV="1">
              <a:off x="2016"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6" name="Freeform 17"/>
            <p:cNvSpPr>
              <a:spLocks/>
            </p:cNvSpPr>
            <p:nvPr/>
          </p:nvSpPr>
          <p:spPr bwMode="auto">
            <a:xfrm flipH="1">
              <a:off x="3888"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7" name="Freeform 18"/>
            <p:cNvSpPr>
              <a:spLocks/>
            </p:cNvSpPr>
            <p:nvPr/>
          </p:nvSpPr>
          <p:spPr bwMode="auto">
            <a:xfrm flipH="1" flipV="1">
              <a:off x="3888"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8" name="Line 19"/>
            <p:cNvSpPr>
              <a:spLocks noChangeShapeType="1"/>
            </p:cNvSpPr>
            <p:nvPr/>
          </p:nvSpPr>
          <p:spPr bwMode="auto">
            <a:xfrm>
              <a:off x="4320" y="3648"/>
              <a:ext cx="91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pic>
          <p:nvPicPr>
            <p:cNvPr id="25629" name="Picture 20" descr="MCj03641660000[1]"/>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1872" y="3024"/>
              <a:ext cx="298" cy="57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sp>
        <p:nvSpPr>
          <p:cNvPr id="512021" name="Rectangle 21"/>
          <p:cNvSpPr>
            <a:spLocks noChangeArrowheads="1"/>
          </p:cNvSpPr>
          <p:nvPr/>
        </p:nvSpPr>
        <p:spPr bwMode="auto">
          <a:xfrm>
            <a:off x="6096000" y="4572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2" name="Picture 22"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024" name="Rectangle 24"/>
          <p:cNvSpPr>
            <a:spLocks noChangeArrowheads="1"/>
          </p:cNvSpPr>
          <p:nvPr/>
        </p:nvSpPr>
        <p:spPr bwMode="auto">
          <a:xfrm>
            <a:off x="3276600" y="4800600"/>
            <a:ext cx="1143000" cy="9144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5" name="Picture 25"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27" name="Picture 27"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19" name="Rectangle 28"/>
          <p:cNvSpPr>
            <a:spLocks noChangeArrowheads="1"/>
          </p:cNvSpPr>
          <p:nvPr/>
        </p:nvSpPr>
        <p:spPr bwMode="auto">
          <a:xfrm>
            <a:off x="609600" y="5257800"/>
            <a:ext cx="990600" cy="9906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30" name="Text Box 30"/>
          <p:cNvSpPr txBox="1">
            <a:spLocks noChangeArrowheads="1"/>
          </p:cNvSpPr>
          <p:nvPr/>
        </p:nvSpPr>
        <p:spPr bwMode="auto">
          <a:xfrm>
            <a:off x="3533599" y="5911334"/>
            <a:ext cx="936475"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Value=2</a:t>
            </a:r>
          </a:p>
        </p:txBody>
      </p:sp>
      <p:sp>
        <p:nvSpPr>
          <p:cNvPr id="2" name="Plassholder for lysbildenummer 5">
            <a:extLst>
              <a:ext uri="{FF2B5EF4-FFF2-40B4-BE49-F238E27FC236}">
                <a16:creationId xmlns:a16="http://schemas.microsoft.com/office/drawing/2014/main" id="{D3F97F3E-D6FA-22D8-E3C1-C5B204244D13}"/>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22</a:t>
            </a:fld>
            <a:endParaRPr lang="nb-NO" sz="1400" b="0" i="0" dirty="0">
              <a:solidFill>
                <a:schemeClr val="tx1"/>
              </a:solidFill>
              <a:latin typeface="Arial"/>
              <a:cs typeface="Arial"/>
            </a:endParaRPr>
          </a:p>
        </p:txBody>
      </p:sp>
      <p:sp>
        <p:nvSpPr>
          <p:cNvPr id="512008" name="Rectangle 8"/>
          <p:cNvSpPr>
            <a:spLocks noGrp="1" noChangeArrowheads="1"/>
          </p:cNvSpPr>
          <p:nvPr>
            <p:ph type="body" idx="1"/>
          </p:nvPr>
        </p:nvSpPr>
        <p:spPr>
          <a:xfrm>
            <a:off x="457200" y="762000"/>
            <a:ext cx="11353800" cy="4114800"/>
          </a:xfrm>
        </p:spPr>
        <p:txBody>
          <a:bodyPr>
            <a:normAutofit fontScale="85000" lnSpcReduction="10000"/>
          </a:bodyPr>
          <a:lstStyle/>
          <a:p>
            <a:r>
              <a:rPr lang="en-US" altLang="ko-KR" dirty="0">
                <a:ea typeface="굴림" panose="020B0600000101010101" pitchFamily="34" charset="-127"/>
              </a:rPr>
              <a:t>Semaphores are like integers, except:</a:t>
            </a:r>
          </a:p>
          <a:p>
            <a:pPr lvl="1"/>
            <a:r>
              <a:rPr lang="en-US" altLang="ko-KR" dirty="0">
                <a:ea typeface="굴림" panose="020B0600000101010101" pitchFamily="34" charset="-127"/>
              </a:rPr>
              <a:t>No negative values</a:t>
            </a:r>
          </a:p>
          <a:p>
            <a:pPr lvl="1"/>
            <a:r>
              <a:rPr lang="en-US" altLang="ko-KR" dirty="0">
                <a:ea typeface="굴림" panose="020B0600000101010101" pitchFamily="34" charset="-127"/>
              </a:rPr>
              <a:t>Only operations allowed are sem</a:t>
            </a:r>
            <a:r>
              <a:rPr lang="en-GB" altLang="ko-KR" dirty="0">
                <a:ea typeface="굴림" panose="020B0600000101010101" pitchFamily="34" charset="-127"/>
              </a:rPr>
              <a:t>_</a:t>
            </a:r>
            <a:r>
              <a:rPr lang="en-US" altLang="ko-KR" dirty="0">
                <a:ea typeface="굴림" panose="020B0600000101010101" pitchFamily="34" charset="-127"/>
              </a:rPr>
              <a:t>wait() and </a:t>
            </a:r>
            <a:r>
              <a:rPr lang="en-US" altLang="ko-KR" dirty="0" err="1">
                <a:ea typeface="굴림" panose="020B0600000101010101" pitchFamily="34" charset="-127"/>
              </a:rPr>
              <a:t>sem_post</a:t>
            </a:r>
            <a:r>
              <a:rPr lang="en-US" altLang="ko-KR" dirty="0">
                <a:ea typeface="굴림" panose="020B0600000101010101" pitchFamily="34" charset="-127"/>
              </a:rPr>
              <a:t>() – cannot read or write value, except initialization</a:t>
            </a:r>
          </a:p>
          <a:p>
            <a:pPr lvl="1"/>
            <a:r>
              <a:rPr lang="en-US" altLang="ko-KR" dirty="0">
                <a:ea typeface="굴림" panose="020B0600000101010101" pitchFamily="34" charset="-127"/>
              </a:rPr>
              <a:t>Operations must be atomic</a:t>
            </a:r>
          </a:p>
          <a:p>
            <a:pPr lvl="2"/>
            <a:r>
              <a:rPr lang="en-US" altLang="ko-KR" sz="2600" dirty="0">
                <a:latin typeface="Gill Sans" panose="020B0502020104020203"/>
                <a:ea typeface="굴림" panose="020B0600000101010101" pitchFamily="34" charset="-127"/>
              </a:rPr>
              <a:t>Two calls to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together can’t decrement value below zero</a:t>
            </a:r>
          </a:p>
          <a:p>
            <a:pPr lvl="2"/>
            <a:r>
              <a:rPr lang="en-US" altLang="ko-KR" sz="2600" dirty="0">
                <a:latin typeface="Gill Sans" panose="020B0502020104020203"/>
                <a:ea typeface="굴림" panose="020B0600000101010101" pitchFamily="34" charset="-127"/>
              </a:rPr>
              <a:t>A thread going to sleep in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won’t miss wakeup from </a:t>
            </a:r>
            <a:r>
              <a:rPr lang="en-US" altLang="ko-KR" sz="2600" dirty="0" err="1">
                <a:latin typeface="Gill Sans" panose="020B0502020104020203"/>
                <a:ea typeface="굴림" panose="020B0600000101010101" pitchFamily="34" charset="-127"/>
              </a:rPr>
              <a:t>sem_post</a:t>
            </a:r>
            <a:r>
              <a:rPr lang="en-US" altLang="ko-KR" sz="2600" dirty="0">
                <a:latin typeface="Gill Sans" panose="020B0502020104020203"/>
                <a:ea typeface="굴림" panose="020B0600000101010101" pitchFamily="34" charset="-127"/>
              </a:rPr>
              <a:t> () – even if both happen concurrently</a:t>
            </a:r>
          </a:p>
          <a:p>
            <a:r>
              <a:rPr lang="en-US" altLang="ko-KR" dirty="0">
                <a:ea typeface="굴림" panose="020B0600000101010101" pitchFamily="34" charset="-127"/>
              </a:rPr>
              <a:t>Semaphore from railway analogy</a:t>
            </a:r>
          </a:p>
          <a:p>
            <a:pPr lvl="1"/>
            <a:r>
              <a:rPr lang="en-US" altLang="ko-KR" dirty="0">
                <a:ea typeface="굴림" panose="020B0600000101010101" pitchFamily="34" charset="-127"/>
              </a:rPr>
              <a:t>Here is a semaphore initialized to 2, to allow two trains to enter the two tracks in the middle (not a Critical Section, since two trains can enter the </a:t>
            </a:r>
            <a:r>
              <a:rPr lang="en-US" altLang="ko-KR">
                <a:ea typeface="굴림" panose="020B0600000101010101" pitchFamily="34" charset="-127"/>
              </a:rPr>
              <a:t>middle tracks)</a:t>
            </a:r>
            <a:endParaRPr lang="ko-KR" altLang="en-US" dirty="0">
              <a:ea typeface="굴림" panose="020B0600000101010101" pitchFamily="34" charset="-127"/>
            </a:endParaRPr>
          </a:p>
        </p:txBody>
      </p:sp>
    </p:spTree>
    <p:extLst>
      <p:ext uri="{BB962C8B-B14F-4D97-AF65-F5344CB8AC3E}">
        <p14:creationId xmlns:p14="http://schemas.microsoft.com/office/powerpoint/2010/main" val="10205267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2030"/>
                                        </p:tgtEl>
                                        <p:attrNameLst>
                                          <p:attrName>style.visibility</p:attrName>
                                        </p:attrNameLst>
                                      </p:cBhvr>
                                      <p:to>
                                        <p:strVal val="visible"/>
                                      </p:to>
                                    </p:set>
                                  </p:childTnLst>
                                  <p:subTnLst>
                                    <p:set>
                                      <p:cBhvr override="childStyle">
                                        <p:cTn dur="1" fill="hold" display="0" masterRel="nextClick" afterEffect="1"/>
                                        <p:tgtEl>
                                          <p:spTgt spid="512030"/>
                                        </p:tgtEl>
                                        <p:attrNameLst>
                                          <p:attrName>style.visibility</p:attrName>
                                        </p:attrNameLst>
                                      </p:cBhvr>
                                      <p:to>
                                        <p:strVal val="hidden"/>
                                      </p:to>
                                    </p:set>
                                  </p:subTnLst>
                                </p:cTn>
                              </p:par>
                              <p:par>
                                <p:cTn id="9" presetID="1" presetClass="entr" presetSubtype="0" fill="hold" grpId="0" nodeType="withEffect">
                                  <p:stCondLst>
                                    <p:cond delay="0"/>
                                  </p:stCondLst>
                                  <p:childTnLst>
                                    <p:set>
                                      <p:cBhvr>
                                        <p:cTn id="10" dur="1" fill="hold">
                                          <p:stCondLst>
                                            <p:cond delay="0"/>
                                          </p:stCondLst>
                                        </p:cTn>
                                        <p:tgtEl>
                                          <p:spTgt spid="5120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decel="50000" fill="hold" nodeType="clickEffect">
                                  <p:stCondLst>
                                    <p:cond delay="0"/>
                                  </p:stCondLst>
                                  <p:childTnLst>
                                    <p:animMotion origin="layout" path="M 0.04687 -0.04467 C 0.12644 -0.04028 0.20612 -0.03565 0.25105 -0.04467 C 0.29597 -0.0537 0.28165 -0.09028 0.3168 -0.0993 C 0.35196 -0.10833 0.40691 -0.10393 0.46198 -0.0993 " pathEditMode="fixed" rAng="0" ptsTypes="AAAA">
                                      <p:cBhvr>
                                        <p:cTn id="14" dur="500" fill="hold"/>
                                        <p:tgtEl>
                                          <p:spTgt spid="512009"/>
                                        </p:tgtEl>
                                        <p:attrNameLst>
                                          <p:attrName>ppt_x</p:attrName>
                                          <p:attrName>ppt_y</p:attrName>
                                        </p:attrNameLst>
                                      </p:cBhvr>
                                      <p:rCtr x="20755" y="-2755"/>
                                    </p:animMotion>
                                  </p:childTnLst>
                                </p:cTn>
                              </p:par>
                              <p:par>
                                <p:cTn id="15" presetID="1" presetClass="entr" presetSubtype="0" fill="hold" grpId="0" nodeType="withEffect">
                                  <p:stCondLst>
                                    <p:cond delay="300"/>
                                  </p:stCondLst>
                                  <p:childTnLst>
                                    <p:set>
                                      <p:cBhvr>
                                        <p:cTn id="16" dur="1" fill="hold">
                                          <p:stCondLst>
                                            <p:cond delay="0"/>
                                          </p:stCondLst>
                                        </p:cTn>
                                        <p:tgtEl>
                                          <p:spTgt spid="5120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0" presetClass="path" presetSubtype="0" decel="50000" fill="hold" nodeType="clickEffect">
                                  <p:stCondLst>
                                    <p:cond delay="0"/>
                                  </p:stCondLst>
                                  <p:childTnLst>
                                    <p:animMotion origin="layout" path="M 0.04947 -0.03079 C 0.11602 -0.02963 0.18256 -0.02824 0.22748 -0.02708 C 0.2724 -0.02592 0.29623 -0.03379 0.31928 -0.02338 C 0.34245 -0.01296 0.34206 0.02546 0.36589 0.03496 C 0.38959 0.04445 0.42579 0.03889 0.46185 0.03334 " pathEditMode="fixed" rAng="0" ptsTypes="AAAAA">
                                      <p:cBhvr>
                                        <p:cTn id="20" dur="500" fill="hold"/>
                                        <p:tgtEl>
                                          <p:spTgt spid="512006"/>
                                        </p:tgtEl>
                                        <p:attrNameLst>
                                          <p:attrName>ppt_x</p:attrName>
                                          <p:attrName>ppt_y</p:attrName>
                                        </p:attrNameLst>
                                      </p:cBhvr>
                                      <p:rCtr x="20612" y="3542"/>
                                    </p:animMotion>
                                  </p:childTnLst>
                                </p:cTn>
                              </p:par>
                              <p:par>
                                <p:cTn id="21" presetID="1" presetClass="entr" presetSubtype="0" fill="hold" grpId="0" nodeType="withEffect">
                                  <p:stCondLst>
                                    <p:cond delay="300"/>
                                  </p:stCondLst>
                                  <p:childTnLst>
                                    <p:set>
                                      <p:cBhvr>
                                        <p:cTn id="22" dur="1" fill="hold">
                                          <p:stCondLst>
                                            <p:cond delay="0"/>
                                          </p:stCondLst>
                                        </p:cTn>
                                        <p:tgtEl>
                                          <p:spTgt spid="5120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nodeType="clickEffect">
                                  <p:stCondLst>
                                    <p:cond delay="0"/>
                                  </p:stCondLst>
                                  <p:childTnLst>
                                    <p:animMotion origin="layout" path="M 0.06576 -0.03518 C 0.06576 -0.03495 0.14258 -0.03426 0.21928 -0.03333 " pathEditMode="fixed" rAng="0" ptsTypes="AA">
                                      <p:cBhvr>
                                        <p:cTn id="26" dur="1000" fill="hold"/>
                                        <p:tgtEl>
                                          <p:spTgt spid="512010"/>
                                        </p:tgtEl>
                                        <p:attrNameLst>
                                          <p:attrName>ppt_x</p:attrName>
                                          <p:attrName>ppt_y</p:attrName>
                                        </p:attrNameLst>
                                      </p:cBhvr>
                                      <p:rCtr x="7669" y="93"/>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45573 -0.08889 C 0.52657 -0.09329 0.5974 -0.09745 0.63529 -0.09074 C 0.67305 -0.08403 0.66524 -0.05741 0.68321 -0.04884 C 0.70105 -0.04028 0.69336 -0.04051 0.7431 -0.03958 C 0.79271 -0.03866 0.93178 -0.04259 0.98139 -0.04329 " pathEditMode="fixed" rAng="0" ptsTypes="AAAAA">
                                      <p:cBhvr>
                                        <p:cTn id="30" dur="500" fill="hold"/>
                                        <p:tgtEl>
                                          <p:spTgt spid="512022"/>
                                        </p:tgtEl>
                                        <p:attrNameLst>
                                          <p:attrName>ppt_x</p:attrName>
                                          <p:attrName>ppt_y</p:attrName>
                                        </p:attrNameLst>
                                      </p:cBhvr>
                                      <p:rCtr x="26276" y="2176"/>
                                    </p:animMotion>
                                  </p:childTnLst>
                                </p:cTn>
                              </p:par>
                              <p:par>
                                <p:cTn id="31" presetID="1" presetClass="entr" presetSubtype="0" fill="hold" grpId="0" nodeType="withEffect">
                                  <p:stCondLst>
                                    <p:cond delay="0"/>
                                  </p:stCondLst>
                                  <p:childTnLst>
                                    <p:set>
                                      <p:cBhvr>
                                        <p:cTn id="32" dur="1" fill="hold">
                                          <p:stCondLst>
                                            <p:cond delay="0"/>
                                          </p:stCondLst>
                                        </p:cTn>
                                        <p:tgtEl>
                                          <p:spTgt spid="512021"/>
                                        </p:tgtEl>
                                        <p:attrNameLst>
                                          <p:attrName>style.visibility</p:attrName>
                                        </p:attrNameLst>
                                      </p:cBhvr>
                                      <p:to>
                                        <p:strVal val="visible"/>
                                      </p:to>
                                    </p:set>
                                  </p:childTnLst>
                                </p:cTn>
                              </p:par>
                            </p:childTnLst>
                          </p:cTn>
                        </p:par>
                        <p:par>
                          <p:cTn id="33" fill="hold">
                            <p:stCondLst>
                              <p:cond delay="500"/>
                            </p:stCondLst>
                            <p:childTnLst>
                              <p:par>
                                <p:cTn id="34" presetID="0" presetClass="path" presetSubtype="0" accel="50000" decel="50000" fill="hold" nodeType="afterEffect">
                                  <p:stCondLst>
                                    <p:cond delay="0"/>
                                  </p:stCondLst>
                                  <p:childTnLst>
                                    <p:animMotion origin="layout" path="M 0.19948 -0.03333 C 0.22084 -0.02847 0.24219 -0.02338 0.26251 -0.03333 C 0.28282 -0.04329 0.28803 -0.08356 0.32136 -0.09352 C 0.35469 -0.10347 0.40847 -0.09861 0.46251 -0.09352 " pathEditMode="fixed" rAng="0" ptsTypes="AAAA">
                                      <p:cBhvr>
                                        <p:cTn id="35" dur="500" fill="hold"/>
                                        <p:tgtEl>
                                          <p:spTgt spid="512025"/>
                                        </p:tgtEl>
                                        <p:attrNameLst>
                                          <p:attrName>ppt_x</p:attrName>
                                          <p:attrName>ppt_y</p:attrName>
                                        </p:attrNameLst>
                                      </p:cBhvr>
                                      <p:rCtr x="13151" y="-3032"/>
                                    </p:animMotion>
                                  </p:childTnLst>
                                </p:cTn>
                              </p:par>
                              <p:par>
                                <p:cTn id="36" presetID="1" presetClass="entr" presetSubtype="0" fill="hold" grpId="0" nodeType="withEffect">
                                  <p:stCondLst>
                                    <p:cond delay="0"/>
                                  </p:stCondLst>
                                  <p:childTnLst>
                                    <p:set>
                                      <p:cBhvr>
                                        <p:cTn id="37" dur="1" fill="hold">
                                          <p:stCondLst>
                                            <p:cond delay="0"/>
                                          </p:stCondLst>
                                        </p:cTn>
                                        <p:tgtEl>
                                          <p:spTgt spid="512024"/>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1200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0" presetClass="path" presetSubtype="0" decel="50000" fill="hold" nodeType="clickEffect">
                                  <p:stCondLst>
                                    <p:cond delay="0"/>
                                  </p:stCondLst>
                                  <p:childTnLst>
                                    <p:animMotion origin="layout" path="M 0.06576 -0.03518 C 0.06576 -0.03495 0.14258 -0.03426 0.21928 -0.03333 " pathEditMode="fixed" rAng="0" ptsTypes="AA">
                                      <p:cBhvr>
                                        <p:cTn id="43" dur="500" fill="hold"/>
                                        <p:tgtEl>
                                          <p:spTgt spid="512027"/>
                                        </p:tgtEl>
                                        <p:attrNameLst>
                                          <p:attrName>ppt_x</p:attrName>
                                          <p:attrName>ppt_y</p:attrName>
                                        </p:attrNameLst>
                                      </p:cBhvr>
                                      <p:rCtr x="7669" y="9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02" grpId="0" animBg="1"/>
      <p:bldP spid="512003" grpId="0" animBg="1"/>
      <p:bldP spid="512004" grpId="0" animBg="1"/>
      <p:bldP spid="512005" grpId="0" animBg="1"/>
      <p:bldP spid="512021" grpId="0" animBg="1"/>
      <p:bldP spid="512024" grpId="0" animBg="1"/>
      <p:bldP spid="51203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Semaphores with </a:t>
            </a:r>
            <a:r>
              <a:rPr lang="en-US" dirty="0" err="1"/>
              <a:t>TestAndSet</a:t>
            </a:r>
            <a:endParaRPr lang="en-US" dirty="0"/>
          </a:p>
        </p:txBody>
      </p:sp>
      <p:sp>
        <p:nvSpPr>
          <p:cNvPr id="3" name="Content Placeholder 2"/>
          <p:cNvSpPr>
            <a:spLocks noGrp="1"/>
          </p:cNvSpPr>
          <p:nvPr>
            <p:ph idx="1"/>
          </p:nvPr>
        </p:nvSpPr>
        <p:spPr>
          <a:xfrm>
            <a:off x="609600" y="685800"/>
            <a:ext cx="10667999" cy="1191219"/>
          </a:xfrm>
        </p:spPr>
        <p:txBody>
          <a:bodyPr>
            <a:normAutofit fontScale="85000" lnSpcReduction="20000"/>
          </a:bodyPr>
          <a:lstStyle/>
          <a:p>
            <a:pPr marL="0" lvl="1" indent="0">
              <a:buClr>
                <a:schemeClr val="bg2"/>
              </a:buClr>
              <a:buSzPct val="90000"/>
              <a:buNone/>
            </a:pPr>
            <a:r>
              <a:rPr lang="en-US" dirty="0"/>
              <a:t>Use TAS, but only spin-wait to atomically check </a:t>
            </a:r>
            <a:r>
              <a:rPr lang="en-US" dirty="0">
                <a:latin typeface="Courier New" pitchFamily="49" charset="0"/>
                <a:cs typeface="Courier New" pitchFamily="49" charset="0"/>
              </a:rPr>
              <a:t>guard</a:t>
            </a:r>
            <a:r>
              <a:rPr lang="en-US" dirty="0"/>
              <a:t> value (very short waiting time); Compared to previous method of using </a:t>
            </a:r>
            <a:r>
              <a:rPr lang="en-US" dirty="0" err="1"/>
              <a:t>SpinLock</a:t>
            </a:r>
            <a:r>
              <a:rPr lang="en-US" dirty="0"/>
              <a:t> to protect critical sections, here we use </a:t>
            </a:r>
            <a:r>
              <a:rPr lang="en-US" dirty="0" err="1"/>
              <a:t>SpinLock</a:t>
            </a:r>
            <a:r>
              <a:rPr lang="en-US" dirty="0"/>
              <a:t> not to protect critical sections, but to protect </a:t>
            </a:r>
            <a:r>
              <a:rPr lang="en-US" dirty="0" err="1"/>
              <a:t>sem_wait</a:t>
            </a:r>
            <a:r>
              <a:rPr lang="en-US" dirty="0"/>
              <a:t>() and </a:t>
            </a:r>
            <a:r>
              <a:rPr lang="en-US" dirty="0" err="1"/>
              <a:t>sem_post</a:t>
            </a:r>
            <a:r>
              <a:rPr lang="en-US" dirty="0"/>
              <a:t>(), which are very short code segments.</a:t>
            </a:r>
          </a:p>
          <a:p>
            <a:pPr marL="469900" lvl="1" indent="-469900">
              <a:buClr>
                <a:schemeClr val="bg2"/>
              </a:buClr>
              <a:buSzPct val="90000"/>
              <a:buFont typeface="Wingdings" pitchFamily="2" charset="2"/>
              <a:buChar char="]"/>
            </a:pPr>
            <a:endParaRPr lang="en-US" dirty="0"/>
          </a:p>
          <a:p>
            <a:endParaRPr lang="en-US" dirty="0"/>
          </a:p>
        </p:txBody>
      </p:sp>
      <p:sp>
        <p:nvSpPr>
          <p:cNvPr id="5" name="Text Box 5"/>
          <p:cNvSpPr txBox="1">
            <a:spLocks noChangeArrowheads="1"/>
          </p:cNvSpPr>
          <p:nvPr/>
        </p:nvSpPr>
        <p:spPr bwMode="auto">
          <a:xfrm>
            <a:off x="6248400" y="2307372"/>
            <a:ext cx="5113695" cy="3454792"/>
          </a:xfrm>
          <a:prstGeom prst="rect">
            <a:avLst/>
          </a:prstGeom>
          <a:noFill/>
          <a:ln w="9525" algn="ctr">
            <a:solidFill>
              <a:schemeClr val="tx1"/>
            </a:solidFill>
            <a:miter lim="800000"/>
            <a:headEnd/>
            <a:tailEnd/>
          </a:ln>
          <a:effectLst/>
        </p:spPr>
        <p:txBody>
          <a:bodyPr wrap="square">
            <a:spAutoFit/>
          </a:bodyPr>
          <a:lstStyle/>
          <a:p>
            <a:pPr>
              <a:lnSpc>
                <a:spcPct val="90000"/>
              </a:lnSpc>
              <a:spcBef>
                <a:spcPct val="10000"/>
              </a:spcBef>
              <a:buSzPct val="100000"/>
              <a:tabLst>
                <a:tab pos="338138" algn="l"/>
                <a:tab pos="688975" algn="l"/>
                <a:tab pos="1027113" algn="l"/>
              </a:tabLst>
            </a:pPr>
            <a:r>
              <a:rPr lang="en-US" sz="2000" b="0" dirty="0" err="1">
                <a:latin typeface="Courier New" pitchFamily="49" charset="0"/>
              </a:rPr>
              <a:t>sem_post</a:t>
            </a: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TestAndSet(&amp;guard, 1));</a:t>
            </a:r>
            <a:r>
              <a:rPr lang="en-US" sz="2000" b="0" dirty="0">
                <a:solidFill>
                  <a:schemeClr val="hlink"/>
                </a:solidFill>
                <a:latin typeface="Courier New" pitchFamily="49" charset="0"/>
              </a:rPr>
              <a:t/>
            </a:r>
            <a:br>
              <a:rPr lang="en-US" sz="2000" b="0" dirty="0">
                <a:solidFill>
                  <a:schemeClr val="hlink"/>
                </a:solidFill>
                <a:latin typeface="Courier New" pitchFamily="49" charset="0"/>
              </a:rPr>
            </a:br>
            <a:r>
              <a:rPr lang="en-US" sz="2000" b="0" dirty="0">
                <a:latin typeface="Courier New" pitchFamily="49" charset="0"/>
              </a:rPr>
              <a:t>	if any thread in wait queue {</a:t>
            </a:r>
            <a:br>
              <a:rPr lang="en-US" sz="2000" b="0" dirty="0">
                <a:latin typeface="Courier New" pitchFamily="49" charset="0"/>
              </a:rPr>
            </a:br>
            <a:r>
              <a:rPr lang="en-US" sz="2000" b="0" dirty="0">
                <a:latin typeface="Courier New" pitchFamily="49" charset="0"/>
              </a:rPr>
              <a:t>		take thread off wait queue;</a:t>
            </a:r>
            <a:br>
              <a:rPr lang="en-US" sz="2000" b="0" dirty="0">
                <a:latin typeface="Courier New" pitchFamily="49" charset="0"/>
              </a:rPr>
            </a:br>
            <a:r>
              <a:rPr lang="en-US" sz="2000" b="0" dirty="0">
                <a:latin typeface="Courier New" pitchFamily="49" charset="0"/>
              </a:rPr>
              <a:t>		place on ready queue;</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br>
              <a:rPr lang="en-US" sz="2000" b="0" dirty="0">
                <a:latin typeface="Courier New" pitchFamily="49" charset="0"/>
              </a:rPr>
            </a:b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guard = 0;</a:t>
            </a:r>
          </a:p>
          <a:p>
            <a:pPr>
              <a:lnSpc>
                <a:spcPct val="90000"/>
              </a:lnSpc>
              <a:spcBef>
                <a:spcPct val="10000"/>
              </a:spcBef>
              <a:buSzPct val="100000"/>
              <a:tabLst>
                <a:tab pos="338138" algn="l"/>
                <a:tab pos="688975" algn="l"/>
                <a:tab pos="1027113" algn="l"/>
              </a:tabLst>
            </a:pPr>
            <a:r>
              <a:rPr lang="en-US" sz="2000" b="0" dirty="0">
                <a:solidFill>
                  <a:schemeClr val="hlink"/>
                </a:solidFill>
                <a:latin typeface="Courier New" pitchFamily="49" charset="0"/>
              </a:rPr>
              <a:t>}</a:t>
            </a:r>
          </a:p>
        </p:txBody>
      </p:sp>
      <p:sp>
        <p:nvSpPr>
          <p:cNvPr id="7" name="Text Box 4"/>
          <p:cNvSpPr txBox="1">
            <a:spLocks noChangeArrowheads="1"/>
          </p:cNvSpPr>
          <p:nvPr/>
        </p:nvSpPr>
        <p:spPr bwMode="auto">
          <a:xfrm>
            <a:off x="1295400" y="2307372"/>
            <a:ext cx="4876800" cy="4093428"/>
          </a:xfrm>
          <a:prstGeom prst="rect">
            <a:avLst/>
          </a:prstGeom>
          <a:noFill/>
          <a:ln w="9525" algn="ctr">
            <a:solidFill>
              <a:schemeClr val="accent1"/>
            </a:solidFill>
            <a:miter lim="800000"/>
            <a:headEnd/>
            <a:tailEnd/>
          </a:ln>
          <a:effectLst/>
        </p:spPr>
        <p:txBody>
          <a:bodyPr wrap="square">
            <a:spAutoFit/>
          </a:bodyPr>
          <a:lstStyle/>
          <a:p>
            <a:pPr>
              <a:tabLst>
                <a:tab pos="338138" algn="l"/>
                <a:tab pos="688975" algn="l"/>
                <a:tab pos="1027113" algn="l"/>
              </a:tabLst>
            </a:pPr>
            <a:r>
              <a:rPr lang="en-US" sz="2000" b="0" dirty="0" err="1">
                <a:latin typeface="Courier New" pitchFamily="49" charset="0"/>
              </a:rPr>
              <a:t>sem_wait</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TestAndSet(&amp;guard, 1));</a:t>
            </a:r>
            <a:r>
              <a:rPr lang="en-US" sz="2000" b="0" dirty="0">
                <a:solidFill>
                  <a:schemeClr val="hlink"/>
                </a:solidFill>
                <a:latin typeface="Courier New" pitchFamily="49" charset="0"/>
              </a:rPr>
              <a:t/>
            </a:r>
            <a:br>
              <a:rPr lang="en-US" sz="2000" b="0" dirty="0">
                <a:latin typeface="Courier New" pitchFamily="49" charset="0"/>
              </a:rPr>
            </a:br>
            <a:r>
              <a:rPr lang="en-US" sz="2000" b="0" dirty="0">
                <a:latin typeface="Courier New" pitchFamily="49" charset="0"/>
              </a:rPr>
              <a:t>	if (</a:t>
            </a:r>
            <a:r>
              <a:rPr lang="en-US" sz="2000" b="0" dirty="0">
                <a:solidFill>
                  <a:srgbClr val="2A40E2"/>
                </a:solidFill>
                <a:latin typeface="Courier New" pitchFamily="49" charset="0"/>
              </a:rPr>
              <a:t>value == 0</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put thread on wait queue;</a:t>
            </a:r>
          </a:p>
          <a:p>
            <a:pPr>
              <a:tabLst>
                <a:tab pos="338138" algn="l"/>
                <a:tab pos="688975" algn="l"/>
                <a:tab pos="1027113" algn="l"/>
              </a:tabLst>
            </a:pPr>
            <a:r>
              <a:rPr lang="en-US" sz="2000" b="0" dirty="0">
                <a:solidFill>
                  <a:srgbClr val="FF0000"/>
                </a:solidFill>
                <a:latin typeface="Courier New" pitchFamily="49" charset="0"/>
              </a:rPr>
              <a:t>    guard = 0;</a:t>
            </a:r>
          </a:p>
          <a:p>
            <a:pPr>
              <a:tabLst>
                <a:tab pos="338138" algn="l"/>
                <a:tab pos="688975" algn="l"/>
                <a:tab pos="1027113" algn="l"/>
              </a:tabLst>
            </a:pPr>
            <a:r>
              <a:rPr lang="en-US" sz="2000" b="0" dirty="0">
                <a:latin typeface="Courier New" pitchFamily="49" charset="0"/>
              </a:rPr>
              <a:t>	  sleep();</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p>
          <a:p>
            <a:pPr>
              <a:tabLst>
                <a:tab pos="338138" algn="l"/>
                <a:tab pos="688975" algn="l"/>
                <a:tab pos="1027113" algn="l"/>
              </a:tabLst>
            </a:pPr>
            <a:r>
              <a:rPr lang="en-US" sz="2000" b="0" dirty="0">
                <a:solidFill>
                  <a:srgbClr val="2A40E2"/>
                </a:solidFill>
                <a:latin typeface="Courier New" pitchFamily="49" charset="0"/>
              </a:rPr>
              <a:t>	  </a:t>
            </a:r>
            <a:r>
              <a:rPr lang="en-US" sz="2000" b="0" dirty="0">
                <a:solidFill>
                  <a:srgbClr val="FF0000"/>
                </a:solidFill>
                <a:latin typeface="Courier New" pitchFamily="49" charset="0"/>
              </a:rPr>
              <a:t>guard = 0;</a:t>
            </a:r>
          </a:p>
          <a:p>
            <a:pPr>
              <a:tabLst>
                <a:tab pos="338138" algn="l"/>
                <a:tab pos="688975" algn="l"/>
                <a:tab pos="1027113" algn="l"/>
              </a:tabLst>
            </a:pP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a:t>
            </a:r>
          </a:p>
        </p:txBody>
      </p:sp>
      <p:sp>
        <p:nvSpPr>
          <p:cNvPr id="6" name="Plassholder for lysbildenummer 5">
            <a:extLst>
              <a:ext uri="{FF2B5EF4-FFF2-40B4-BE49-F238E27FC236}">
                <a16:creationId xmlns:a16="http://schemas.microsoft.com/office/drawing/2014/main" id="{F03CBBC6-257D-EDC2-26EA-6F37F45AFC3F}"/>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23</a:t>
            </a:fld>
            <a:endParaRPr lang="nb-NO" sz="1400" b="0" i="0" dirty="0">
              <a:solidFill>
                <a:schemeClr val="tx1"/>
              </a:solidFill>
              <a:latin typeface="Arial"/>
              <a:cs typeface="Arial"/>
            </a:endParaRPr>
          </a:p>
        </p:txBody>
      </p:sp>
      <p:sp>
        <p:nvSpPr>
          <p:cNvPr id="4" name="Text Box 4">
            <a:extLst>
              <a:ext uri="{FF2B5EF4-FFF2-40B4-BE49-F238E27FC236}">
                <a16:creationId xmlns:a16="http://schemas.microsoft.com/office/drawing/2014/main" id="{C1E49F4E-CBE0-5286-5F25-AA72DC577B30}"/>
              </a:ext>
            </a:extLst>
          </p:cNvPr>
          <p:cNvSpPr txBox="1">
            <a:spLocks noChangeArrowheads="1"/>
          </p:cNvSpPr>
          <p:nvPr/>
        </p:nvSpPr>
        <p:spPr bwMode="auto">
          <a:xfrm>
            <a:off x="4872481" y="1676400"/>
            <a:ext cx="2447038" cy="707886"/>
          </a:xfrm>
          <a:prstGeom prst="rect">
            <a:avLst/>
          </a:prstGeom>
          <a:noFill/>
          <a:ln w="38100" algn="ctr">
            <a:noFill/>
            <a:miter lim="800000"/>
            <a:headEnd/>
            <a:tailEnd/>
          </a:ln>
          <a:effectLst/>
        </p:spPr>
        <p:txBody>
          <a:bodyPr wrap="square">
            <a:spAutoFit/>
          </a:bodyPr>
          <a:lstStyle/>
          <a:p>
            <a:pPr>
              <a:tabLst>
                <a:tab pos="338138" algn="l"/>
                <a:tab pos="688975" algn="l"/>
                <a:tab pos="1027113" algn="l"/>
              </a:tabLst>
            </a:pPr>
            <a:r>
              <a:rPr lang="en-US" sz="2000" b="0" dirty="0" err="1">
                <a:solidFill>
                  <a:schemeClr val="hlink"/>
                </a:solidFill>
                <a:latin typeface="Courier New" pitchFamily="49" charset="0"/>
              </a:rPr>
              <a:t>int</a:t>
            </a:r>
            <a:r>
              <a:rPr lang="en-US" sz="2000" b="0" dirty="0">
                <a:solidFill>
                  <a:schemeClr val="hlink"/>
                </a:solidFill>
                <a:latin typeface="Courier New" pitchFamily="49" charset="0"/>
              </a:rPr>
              <a:t> guard = 0;</a:t>
            </a:r>
          </a:p>
          <a:p>
            <a:pPr>
              <a:tabLst>
                <a:tab pos="338138" algn="l"/>
                <a:tab pos="688975" algn="l"/>
                <a:tab pos="1027113" algn="l"/>
              </a:tabLst>
            </a:pPr>
            <a:r>
              <a:rPr lang="en-US" sz="2000" b="0" dirty="0">
                <a:solidFill>
                  <a:srgbClr val="233AE1"/>
                </a:solidFill>
                <a:latin typeface="Courier New" pitchFamily="49" charset="0"/>
              </a:rPr>
              <a:t>int value = 0;</a:t>
            </a:r>
            <a:endParaRPr lang="en-US" sz="2000" b="0" dirty="0">
              <a:latin typeface="Courier New" pitchFamily="49" charset="0"/>
            </a:endParaRPr>
          </a:p>
        </p:txBody>
      </p:sp>
      <p:sp>
        <p:nvSpPr>
          <p:cNvPr id="8" name="TextBox 7">
            <a:extLst>
              <a:ext uri="{FF2B5EF4-FFF2-40B4-BE49-F238E27FC236}">
                <a16:creationId xmlns:a16="http://schemas.microsoft.com/office/drawing/2014/main" id="{8AE40AC0-8E5F-4BA5-B37E-4DB68DDD2CCB}"/>
              </a:ext>
            </a:extLst>
          </p:cNvPr>
          <p:cNvSpPr txBox="1"/>
          <p:nvPr/>
        </p:nvSpPr>
        <p:spPr>
          <a:xfrm>
            <a:off x="381000" y="3198167"/>
            <a:ext cx="1415772" cy="461665"/>
          </a:xfrm>
          <a:prstGeom prst="rect">
            <a:avLst/>
          </a:prstGeom>
          <a:noFill/>
        </p:spPr>
        <p:txBody>
          <a:bodyPr wrap="none" rtlCol="0">
            <a:spAutoFit/>
          </a:bodyPr>
          <a:lstStyle/>
          <a:p>
            <a:r>
              <a:rPr lang="en-US" sz="2400" dirty="0">
                <a:latin typeface="Gill Sans Light"/>
              </a:rPr>
              <a:t>Lock() </a:t>
            </a:r>
            <a:r>
              <a:rPr lang="en-US" sz="2400" dirty="0">
                <a:latin typeface="Gill Sans Light"/>
                <a:sym typeface="Wingdings" panose="05000000000000000000" pitchFamily="2" charset="2"/>
              </a:rPr>
              <a:t> </a:t>
            </a:r>
            <a:endParaRPr lang="en-US" sz="2400" dirty="0">
              <a:latin typeface="Gill Sans Light"/>
            </a:endParaRPr>
          </a:p>
        </p:txBody>
      </p:sp>
      <p:sp>
        <p:nvSpPr>
          <p:cNvPr id="9" name="TextBox 8">
            <a:extLst>
              <a:ext uri="{FF2B5EF4-FFF2-40B4-BE49-F238E27FC236}">
                <a16:creationId xmlns:a16="http://schemas.microsoft.com/office/drawing/2014/main" id="{5C2E1874-0D50-4449-ABB9-81B658EA0E13}"/>
              </a:ext>
            </a:extLst>
          </p:cNvPr>
          <p:cNvSpPr txBox="1"/>
          <p:nvPr/>
        </p:nvSpPr>
        <p:spPr>
          <a:xfrm>
            <a:off x="106886" y="4088962"/>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2" name="TextBox 11">
            <a:extLst>
              <a:ext uri="{FF2B5EF4-FFF2-40B4-BE49-F238E27FC236}">
                <a16:creationId xmlns:a16="http://schemas.microsoft.com/office/drawing/2014/main" id="{5A589A94-BDD0-41B1-9607-E1B944D3E9ED}"/>
              </a:ext>
            </a:extLst>
          </p:cNvPr>
          <p:cNvSpPr txBox="1"/>
          <p:nvPr/>
        </p:nvSpPr>
        <p:spPr>
          <a:xfrm>
            <a:off x="106886" y="5341336"/>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3" name="TextBox 12">
            <a:extLst>
              <a:ext uri="{FF2B5EF4-FFF2-40B4-BE49-F238E27FC236}">
                <a16:creationId xmlns:a16="http://schemas.microsoft.com/office/drawing/2014/main" id="{97C2A9BE-F51C-4BF0-BA0E-5155841B6C3A}"/>
              </a:ext>
            </a:extLst>
          </p:cNvPr>
          <p:cNvSpPr txBox="1"/>
          <p:nvPr/>
        </p:nvSpPr>
        <p:spPr>
          <a:xfrm>
            <a:off x="10923570" y="3038475"/>
            <a:ext cx="1029449" cy="461665"/>
          </a:xfrm>
          <a:prstGeom prst="rect">
            <a:avLst/>
          </a:prstGeom>
          <a:noFill/>
        </p:spPr>
        <p:txBody>
          <a:bodyPr wrap="none" rtlCol="0">
            <a:spAutoFit/>
          </a:bodyPr>
          <a:lstStyle/>
          <a:p>
            <a:r>
              <a:rPr lang="en-US" sz="2400" dirty="0">
                <a:latin typeface="Gill Sans Light"/>
              </a:rPr>
              <a:t>Lock()</a:t>
            </a:r>
            <a:r>
              <a:rPr lang="en-US" sz="2400" dirty="0">
                <a:latin typeface="Gill Sans Light"/>
                <a:sym typeface="Wingdings" panose="05000000000000000000" pitchFamily="2" charset="2"/>
              </a:rPr>
              <a:t> </a:t>
            </a:r>
            <a:endParaRPr lang="en-US" sz="2400" dirty="0">
              <a:latin typeface="Gill Sans Light"/>
            </a:endParaRPr>
          </a:p>
        </p:txBody>
      </p:sp>
      <p:sp>
        <p:nvSpPr>
          <p:cNvPr id="14" name="TextBox 13">
            <a:extLst>
              <a:ext uri="{FF2B5EF4-FFF2-40B4-BE49-F238E27FC236}">
                <a16:creationId xmlns:a16="http://schemas.microsoft.com/office/drawing/2014/main" id="{96265CCB-3F01-4DC8-9543-FEBC44F166E5}"/>
              </a:ext>
            </a:extLst>
          </p:cNvPr>
          <p:cNvSpPr txBox="1"/>
          <p:nvPr/>
        </p:nvSpPr>
        <p:spPr>
          <a:xfrm>
            <a:off x="10990245" y="4870146"/>
            <a:ext cx="1303562" cy="461665"/>
          </a:xfrm>
          <a:prstGeom prst="rect">
            <a:avLst/>
          </a:prstGeom>
          <a:noFill/>
        </p:spPr>
        <p:txBody>
          <a:bodyPr wrap="none" rtlCol="0">
            <a:spAutoFit/>
          </a:bodyPr>
          <a:lstStyle/>
          <a:p>
            <a:r>
              <a:rPr lang="en-US" sz="2400" dirty="0">
                <a:latin typeface="Gill Sans Light"/>
              </a:rPr>
              <a:t>Unlock()</a:t>
            </a:r>
            <a:r>
              <a:rPr lang="en-US" sz="2400" dirty="0">
                <a:latin typeface="Gill Sans Light"/>
                <a:sym typeface="Wingdings" panose="05000000000000000000" pitchFamily="2" charset="2"/>
              </a:rPr>
              <a:t> </a:t>
            </a:r>
            <a:endParaRPr lang="en-US" sz="2400" dirty="0">
              <a:latin typeface="Gill Sans Light"/>
            </a:endParaRPr>
          </a:p>
        </p:txBody>
      </p:sp>
      <mc:AlternateContent xmlns:mc="http://schemas.openxmlformats.org/markup-compatibility/2006" xmlns:p14="http://schemas.microsoft.com/office/powerpoint/2010/main">
        <mc:Choice Requires="p14">
          <p:contentPart p14:bwMode="auto" r:id="rId3">
            <p14:nvContentPartPr>
              <p14:cNvPr id="15" name="Ink 14">
                <a:extLst>
                  <a:ext uri="{FF2B5EF4-FFF2-40B4-BE49-F238E27FC236}">
                    <a16:creationId xmlns:a16="http://schemas.microsoft.com/office/drawing/2014/main" id="{E9296729-4F67-468C-8DAF-3EB9C680EEBC}"/>
                  </a:ext>
                </a:extLst>
              </p14:cNvPr>
              <p14:cNvContentPartPr/>
              <p14:nvPr/>
            </p14:nvContentPartPr>
            <p14:xfrm>
              <a:off x="4158495" y="1300785"/>
              <a:ext cx="3960" cy="3960"/>
            </p14:xfrm>
          </p:contentPart>
        </mc:Choice>
        <mc:Fallback xmlns="">
          <p:pic>
            <p:nvPicPr>
              <p:cNvPr id="15" name="Ink 14">
                <a:extLst>
                  <a:ext uri="{FF2B5EF4-FFF2-40B4-BE49-F238E27FC236}">
                    <a16:creationId xmlns:a16="http://schemas.microsoft.com/office/drawing/2014/main" id="{E9296729-4F67-468C-8DAF-3EB9C680EEBC}"/>
                  </a:ext>
                </a:extLst>
              </p:cNvPr>
              <p:cNvPicPr/>
              <p:nvPr/>
            </p:nvPicPr>
            <p:blipFill>
              <a:blip r:embed="rId4"/>
              <a:stretch>
                <a:fillRect/>
              </a:stretch>
            </p:blipFill>
            <p:spPr>
              <a:xfrm>
                <a:off x="4149495" y="1292145"/>
                <a:ext cx="2160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6" name="Ink 15">
                <a:extLst>
                  <a:ext uri="{FF2B5EF4-FFF2-40B4-BE49-F238E27FC236}">
                    <a16:creationId xmlns:a16="http://schemas.microsoft.com/office/drawing/2014/main" id="{8EDFFC6D-99AA-4E94-8148-664D55E49904}"/>
                  </a:ext>
                </a:extLst>
              </p14:cNvPr>
              <p14:cNvContentPartPr/>
              <p14:nvPr/>
            </p14:nvContentPartPr>
            <p14:xfrm>
              <a:off x="2580975" y="1295385"/>
              <a:ext cx="360" cy="360"/>
            </p14:xfrm>
          </p:contentPart>
        </mc:Choice>
        <mc:Fallback xmlns="">
          <p:pic>
            <p:nvPicPr>
              <p:cNvPr id="16" name="Ink 15">
                <a:extLst>
                  <a:ext uri="{FF2B5EF4-FFF2-40B4-BE49-F238E27FC236}">
                    <a16:creationId xmlns:a16="http://schemas.microsoft.com/office/drawing/2014/main" id="{8EDFFC6D-99AA-4E94-8148-664D55E49904}"/>
                  </a:ext>
                </a:extLst>
              </p:cNvPr>
              <p:cNvPicPr/>
              <p:nvPr/>
            </p:nvPicPr>
            <p:blipFill>
              <a:blip r:embed="rId4"/>
              <a:stretch>
                <a:fillRect/>
              </a:stretch>
            </p:blipFill>
            <p:spPr>
              <a:xfrm>
                <a:off x="2572335" y="1286385"/>
                <a:ext cx="18000" cy="18000"/>
              </a:xfrm>
              <a:prstGeom prst="rect">
                <a:avLst/>
              </a:prstGeom>
            </p:spPr>
          </p:pic>
        </mc:Fallback>
      </mc:AlternateContent>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title"/>
          </p:nvPr>
        </p:nvSpPr>
        <p:spPr/>
        <p:txBody>
          <a:bodyPr/>
          <a:lstStyle/>
          <a:p>
            <a:r>
              <a:rPr lang="en-US" altLang="ko-KR" dirty="0">
                <a:latin typeface="Helvetica" charset="0"/>
                <a:ea typeface="굴림" charset="0"/>
                <a:cs typeface="굴림" charset="0"/>
              </a:rPr>
              <a:t>Two Uses of Semaphores</a:t>
            </a:r>
          </a:p>
        </p:txBody>
      </p:sp>
      <p:sp>
        <p:nvSpPr>
          <p:cNvPr id="461827" name="Rectangle 3"/>
          <p:cNvSpPr>
            <a:spLocks noGrp="1" noChangeArrowheads="1"/>
          </p:cNvSpPr>
          <p:nvPr>
            <p:ph type="body" idx="1"/>
          </p:nvPr>
        </p:nvSpPr>
        <p:spPr>
          <a:xfrm>
            <a:off x="152399" y="749474"/>
            <a:ext cx="5486401" cy="6172200"/>
          </a:xfrm>
        </p:spPr>
        <p:txBody>
          <a:bodyPr>
            <a:normAutofit fontScale="70000" lnSpcReduction="20000"/>
          </a:bodyPr>
          <a:lstStyle/>
          <a:p>
            <a:pPr marL="0" indent="0">
              <a:lnSpc>
                <a:spcPct val="80000"/>
              </a:lnSpc>
              <a:buNone/>
            </a:pPr>
            <a:r>
              <a:rPr lang="en-US" altLang="ko-KR" dirty="0">
                <a:ea typeface="굴림" charset="0"/>
                <a:cs typeface="Gill Sans Light"/>
              </a:rPr>
              <a:t>Mutual Exclusion (value = 0 or 1)</a:t>
            </a:r>
          </a:p>
          <a:p>
            <a:pPr>
              <a:lnSpc>
                <a:spcPct val="80000"/>
              </a:lnSpc>
            </a:pPr>
            <a:r>
              <a:rPr lang="en-US" altLang="ko-KR" dirty="0">
                <a:ea typeface="굴림" charset="0"/>
                <a:cs typeface="Gill Sans Light"/>
              </a:rPr>
              <a:t>Called “Binary Semaphore”. Can be used for mutual exclusion as a lock (mutex-like, but without ownership)</a:t>
            </a:r>
          </a:p>
          <a:p>
            <a:pPr lvl="1">
              <a:lnSpc>
                <a:spcPct val="80000"/>
              </a:lnSpc>
            </a:pPr>
            <a:r>
              <a:rPr lang="en-US" altLang="ko-KR" dirty="0">
                <a:ea typeface="굴림" charset="0"/>
                <a:cs typeface="Gill Sans Light"/>
              </a:rPr>
              <a:t>Example: sem is initialized to 1. The first thread that calls </a:t>
            </a:r>
            <a:r>
              <a:rPr lang="en-US" altLang="ko-KR" dirty="0" err="1">
                <a:ea typeface="굴림" charset="0"/>
                <a:cs typeface="Gill Sans Light"/>
              </a:rPr>
              <a:t>sem_wait</a:t>
            </a:r>
            <a:r>
              <a:rPr lang="en-US" altLang="ko-KR" dirty="0">
                <a:ea typeface="굴림" charset="0"/>
                <a:cs typeface="Gill Sans Light"/>
              </a:rPr>
              <a:t>() decrements sem to 0 and enters the critical section: other threads will be blocked when they see sem==0. When the first thread calls </a:t>
            </a:r>
            <a:r>
              <a:rPr lang="en-US" altLang="ko-KR" dirty="0" err="1">
                <a:ea typeface="굴림" charset="0"/>
                <a:cs typeface="Gill Sans Light"/>
              </a:rPr>
              <a:t>sem_post</a:t>
            </a:r>
            <a:r>
              <a:rPr lang="en-US" altLang="ko-KR" dirty="0">
                <a:ea typeface="굴림" charset="0"/>
                <a:cs typeface="Gill Sans Light"/>
              </a:rPr>
              <a:t>(), one of the waiting threads will be woken up and enter the critical section.</a:t>
            </a:r>
          </a:p>
          <a:p>
            <a:pPr>
              <a:lnSpc>
                <a:spcPct val="80000"/>
              </a:lnSpc>
            </a:pPr>
            <a:r>
              <a:rPr lang="en-GB" altLang="ko-KR" dirty="0">
                <a:ea typeface="굴림" charset="0"/>
                <a:cs typeface="Gill Sans Light"/>
              </a:rPr>
              <a:t>In contrast, </a:t>
            </a:r>
            <a:r>
              <a:rPr lang="en-GB" altLang="ko-KR" dirty="0" err="1">
                <a:ea typeface="굴림" charset="0"/>
                <a:cs typeface="Gill Sans Light"/>
              </a:rPr>
              <a:t>pthread_mutex_t</a:t>
            </a:r>
            <a:r>
              <a:rPr lang="en-GB" altLang="ko-KR" dirty="0">
                <a:ea typeface="굴림" charset="0"/>
                <a:cs typeface="Gill Sans Light"/>
              </a:rPr>
              <a:t> is designed specifically for mutual exclusion, meaning only one thread can hold the lock at a time. Only the thread that locks the mutex can unlock it, with strict ownership semantics.</a:t>
            </a:r>
            <a:endParaRPr lang="en-US" altLang="ko-KR" dirty="0">
              <a:ea typeface="굴림" charset="0"/>
              <a:cs typeface="Gill Sans Light"/>
            </a:endParaRPr>
          </a:p>
          <a:p>
            <a:pPr marL="0" indent="0">
              <a:lnSpc>
                <a:spcPct val="80000"/>
              </a:lnSpc>
              <a:buNone/>
            </a:pPr>
            <a:r>
              <a:rPr lang="en-US" altLang="ko-KR" dirty="0">
                <a:ea typeface="굴림" charset="0"/>
                <a:cs typeface="Gill Sans Light"/>
              </a:rPr>
              <a:t>Scheduling Constraints (value &gt;= 0)</a:t>
            </a:r>
          </a:p>
          <a:p>
            <a:pPr>
              <a:lnSpc>
                <a:spcPct val="80000"/>
              </a:lnSpc>
            </a:pPr>
            <a:r>
              <a:rPr lang="en-US" altLang="ko-KR" dirty="0">
                <a:ea typeface="굴림" charset="0"/>
                <a:cs typeface="Gill Sans Light"/>
              </a:rPr>
              <a:t>Called “Counting Semaphore”.</a:t>
            </a:r>
          </a:p>
          <a:p>
            <a:pPr lvl="1">
              <a:lnSpc>
                <a:spcPct val="80000"/>
              </a:lnSpc>
            </a:pPr>
            <a:r>
              <a:rPr lang="en-US" altLang="ko-KR" dirty="0">
                <a:ea typeface="굴림" charset="0"/>
                <a:cs typeface="Gill Sans Light"/>
              </a:rPr>
              <a:t>Binary Semaphore is a special case of Counting Semaphore, and can be used for either mutual exclusion </a:t>
            </a:r>
            <a:r>
              <a:rPr lang="en-US" altLang="ko-KR">
                <a:ea typeface="굴림" charset="0"/>
                <a:cs typeface="Gill Sans Light"/>
              </a:rPr>
              <a:t>or scheduling.</a:t>
            </a:r>
            <a:endParaRPr lang="en-US" altLang="ko-KR" dirty="0">
              <a:ea typeface="굴림" charset="0"/>
              <a:cs typeface="Gill Sans Light"/>
            </a:endParaRPr>
          </a:p>
          <a:p>
            <a:pPr>
              <a:lnSpc>
                <a:spcPct val="80000"/>
              </a:lnSpc>
            </a:pPr>
            <a:r>
              <a:rPr lang="en-GB" altLang="ko-KR" dirty="0">
                <a:ea typeface="굴림" charset="0"/>
                <a:cs typeface="Gill Sans Light"/>
              </a:rPr>
              <a:t>Can be used as </a:t>
            </a:r>
            <a:r>
              <a:rPr lang="en-GB" altLang="ko-KR" dirty="0" err="1">
                <a:ea typeface="굴림" charset="0"/>
                <a:cs typeface="Gill Sans Light"/>
              </a:rPr>
              <a:t>signaling</a:t>
            </a:r>
            <a:r>
              <a:rPr lang="en-GB" altLang="ko-KR" dirty="0">
                <a:ea typeface="굴림" charset="0"/>
                <a:cs typeface="Gill Sans Light"/>
              </a:rPr>
              <a:t> mechanisms, such as notifying other threads that a resource is available or an event has occurred. Any thread can signal or release the semaphore, regardless of which thread acquired it. </a:t>
            </a:r>
            <a:endParaRPr lang="en-US" altLang="ko-KR" dirty="0">
              <a:ea typeface="굴림" charset="0"/>
              <a:cs typeface="Gill Sans Light"/>
            </a:endParaRPr>
          </a:p>
          <a:p>
            <a:pPr>
              <a:lnSpc>
                <a:spcPct val="80000"/>
              </a:lnSpc>
            </a:pPr>
            <a:r>
              <a:rPr lang="en-US" altLang="ko-KR" dirty="0">
                <a:ea typeface="굴림" charset="0"/>
                <a:cs typeface="Gill Sans Light"/>
              </a:rPr>
              <a:t>See next slide for an example.</a:t>
            </a:r>
            <a:endParaRPr lang="en-US" altLang="ko-KR" dirty="0">
              <a:latin typeface="Courier New" panose="02070309020205020404" pitchFamily="49" charset="0"/>
              <a:ea typeface="굴림" charset="0"/>
              <a:cs typeface="Courier New" panose="02070309020205020404" pitchFamily="49" charset="0"/>
            </a:endParaRPr>
          </a:p>
        </p:txBody>
      </p:sp>
      <p:sp>
        <p:nvSpPr>
          <p:cNvPr id="3" name="Plassholder for lysbildenummer 5">
            <a:extLst>
              <a:ext uri="{FF2B5EF4-FFF2-40B4-BE49-F238E27FC236}">
                <a16:creationId xmlns:a16="http://schemas.microsoft.com/office/drawing/2014/main" id="{25E63D16-93A4-ECA5-6C08-8C8C2466154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24</a:t>
            </a:fld>
            <a:endParaRPr lang="nb-NO" sz="1400" b="0" i="0" dirty="0">
              <a:solidFill>
                <a:schemeClr val="tx1"/>
              </a:solidFill>
              <a:latin typeface="Arial"/>
              <a:cs typeface="Arial"/>
            </a:endParaRPr>
          </a:p>
        </p:txBody>
      </p:sp>
      <p:sp>
        <p:nvSpPr>
          <p:cNvPr id="4" name="Plassholder for innhold 2">
            <a:extLst>
              <a:ext uri="{FF2B5EF4-FFF2-40B4-BE49-F238E27FC236}">
                <a16:creationId xmlns:a16="http://schemas.microsoft.com/office/drawing/2014/main" id="{D51ABBF0-E510-111C-FA73-D86B739D394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pt-BR" altLang="zh-CN" sz="1800" b="0" kern="0" dirty="0">
                <a:latin typeface="Courier New" panose="02070309020205020404" pitchFamily="49" charset="0"/>
                <a:cs typeface="Courier New" panose="02070309020205020404" pitchFamily="49" charset="0"/>
              </a:rPr>
              <a:t>//Mutual exclusion using binary semaphore</a:t>
            </a:r>
          </a:p>
          <a:p>
            <a:pPr marL="0" indent="0">
              <a:buNone/>
            </a:pPr>
            <a:r>
              <a:rPr lang="pt-BR" altLang="zh-CN" sz="1800" b="0" kern="0" dirty="0">
                <a:latin typeface="Courier New" panose="02070309020205020404" pitchFamily="49" charset="0"/>
                <a:cs typeface="Courier New" panose="02070309020205020404" pitchFamily="49" charset="0"/>
              </a:rPr>
              <a:t>sem_t sem;</a:t>
            </a:r>
          </a:p>
          <a:p>
            <a:pPr marL="0" indent="0">
              <a:buNone/>
            </a:pPr>
            <a:r>
              <a:rPr lang="pt-BR" altLang="zh-CN" sz="1800" b="0" kern="0" dirty="0">
                <a:latin typeface="Courier New" panose="02070309020205020404" pitchFamily="49" charset="0"/>
                <a:cs typeface="Courier New" panose="02070309020205020404" pitchFamily="49" charset="0"/>
              </a:rPr>
              <a:t>sem_init(&amp;sem, 0, 1);  // Initialize to 1 for mutex-like behavior</a:t>
            </a:r>
          </a:p>
          <a:p>
            <a:pPr marL="0" indent="0">
              <a:buNone/>
            </a:pPr>
            <a:r>
              <a:rPr lang="pt-BR" altLang="zh-CN" sz="1800" b="0" kern="0" dirty="0">
                <a:latin typeface="Courier New" panose="02070309020205020404" pitchFamily="49" charset="0"/>
                <a:cs typeface="Courier New" panose="02070309020205020404" pitchFamily="49" charset="0"/>
              </a:rPr>
              <a:t>sem_wait(&amp;sem); </a:t>
            </a:r>
          </a:p>
          <a:p>
            <a:pPr marL="0" indent="0">
              <a:buNone/>
            </a:pPr>
            <a:r>
              <a:rPr lang="pt-BR" altLang="zh-CN" sz="1800" b="0" kern="0" dirty="0">
                <a:latin typeface="Courier New" panose="02070309020205020404" pitchFamily="49" charset="0"/>
                <a:cs typeface="Courier New" panose="02070309020205020404" pitchFamily="49" charset="0"/>
              </a:rPr>
              <a:t>// Critical section</a:t>
            </a:r>
          </a:p>
          <a:p>
            <a:pPr marL="0" indent="0">
              <a:buNone/>
            </a:pPr>
            <a:r>
              <a:rPr lang="pt-BR" altLang="zh-CN" sz="1800" b="0" kern="0" dirty="0">
                <a:latin typeface="Courier New" panose="02070309020205020404" pitchFamily="49" charset="0"/>
                <a:cs typeface="Courier New" panose="02070309020205020404" pitchFamily="49" charset="0"/>
              </a:rPr>
              <a:t>sem_post(&amp;sem);</a:t>
            </a:r>
          </a:p>
          <a:p>
            <a:pPr marL="0" indent="0">
              <a:buNone/>
            </a:pPr>
            <a:endParaRPr lang="pt-BR" altLang="zh-CN" sz="1800" b="0" kern="0" dirty="0">
              <a:latin typeface="Courier New" panose="02070309020205020404" pitchFamily="49" charset="0"/>
              <a:cs typeface="Courier New" panose="02070309020205020404" pitchFamily="49" charset="0"/>
            </a:endParaRPr>
          </a:p>
          <a:p>
            <a:pPr marL="0" indent="0">
              <a:buNone/>
            </a:pPr>
            <a:r>
              <a:rPr lang="pt-BR" altLang="zh-CN" sz="1800" b="0" kern="0" dirty="0">
                <a:latin typeface="Courier New" panose="02070309020205020404" pitchFamily="49" charset="0"/>
                <a:cs typeface="Courier New" panose="02070309020205020404" pitchFamily="49" charset="0"/>
              </a:rPr>
              <a:t>//Mutual exclusion using mutex</a:t>
            </a:r>
          </a:p>
          <a:p>
            <a:pPr marL="0" indent="0">
              <a:buNone/>
            </a:pPr>
            <a:r>
              <a:rPr lang="pt-BR" altLang="zh-CN" sz="1800" b="0" kern="0" dirty="0">
                <a:latin typeface="Courier New" panose="02070309020205020404" pitchFamily="49" charset="0"/>
                <a:cs typeface="Courier New" panose="02070309020205020404" pitchFamily="49" charset="0"/>
              </a:rPr>
              <a:t>pthread_mutex_t mutex = PTHREAD_MUTEX_INITIALIZER;  // Statically initialized (unlocked)</a:t>
            </a:r>
          </a:p>
          <a:p>
            <a:pPr marL="0" indent="0">
              <a:buNone/>
            </a:pPr>
            <a:r>
              <a:rPr lang="pt-BR" altLang="zh-CN" sz="1800" b="0" kern="0" dirty="0">
                <a:latin typeface="Courier New" panose="02070309020205020404" pitchFamily="49" charset="0"/>
                <a:cs typeface="Courier New" panose="02070309020205020404" pitchFamily="49" charset="0"/>
              </a:rPr>
              <a:t>pthread_mutex_lock(&amp;mutex);   </a:t>
            </a:r>
          </a:p>
          <a:p>
            <a:pPr marL="0" indent="0">
              <a:buNone/>
            </a:pPr>
            <a:r>
              <a:rPr lang="pt-BR" altLang="zh-CN" sz="1800" b="0" kern="0" dirty="0">
                <a:latin typeface="Courier New" panose="02070309020205020404" pitchFamily="49" charset="0"/>
                <a:cs typeface="Courier New" panose="02070309020205020404" pitchFamily="49" charset="0"/>
              </a:rPr>
              <a:t>//Critical section</a:t>
            </a:r>
          </a:p>
          <a:p>
            <a:pPr marL="0" indent="0">
              <a:buNone/>
            </a:pPr>
            <a:r>
              <a:rPr lang="pt-BR" altLang="zh-CN" sz="1800" b="0" kern="0" dirty="0">
                <a:latin typeface="Courier New" panose="02070309020205020404" pitchFamily="49" charset="0"/>
                <a:cs typeface="Courier New" panose="02070309020205020404" pitchFamily="49" charset="0"/>
              </a:rPr>
              <a:t>pthread_mutex_unlock(&amp;mutex);</a:t>
            </a:r>
          </a:p>
        </p:txBody>
      </p:sp>
    </p:spTree>
    <p:extLst>
      <p:ext uri="{BB962C8B-B14F-4D97-AF65-F5344CB8AC3E}">
        <p14:creationId xmlns:p14="http://schemas.microsoft.com/office/powerpoint/2010/main" val="13404303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2">
            <a:extLst>
              <a:ext uri="{FF2B5EF4-FFF2-40B4-BE49-F238E27FC236}">
                <a16:creationId xmlns:a16="http://schemas.microsoft.com/office/drawing/2014/main" id="{9B71A9CB-1652-306D-C986-BA9742B61053}"/>
              </a:ext>
            </a:extLst>
          </p:cNvPr>
          <p:cNvPicPr>
            <a:picLocks noChangeAspect="1" noChangeArrowheads="1"/>
          </p:cNvPicPr>
          <p:nvPr/>
        </p:nvPicPr>
        <p:blipFill>
          <a:blip r:embed="rId2" cstate="print"/>
          <a:srcRect/>
          <a:stretch>
            <a:fillRect/>
          </a:stretch>
        </p:blipFill>
        <p:spPr bwMode="auto">
          <a:xfrm>
            <a:off x="4391378" y="1828800"/>
            <a:ext cx="7599696" cy="4633245"/>
          </a:xfrm>
          <a:prstGeom prst="rect">
            <a:avLst/>
          </a:prstGeom>
          <a:noFill/>
          <a:ln w="9525">
            <a:noFill/>
            <a:miter lim="800000"/>
            <a:headEnd/>
            <a:tailEnd/>
          </a:ln>
        </p:spPr>
      </p:pic>
      <p:sp>
        <p:nvSpPr>
          <p:cNvPr id="2" name="Title 1">
            <a:extLst>
              <a:ext uri="{FF2B5EF4-FFF2-40B4-BE49-F238E27FC236}">
                <a16:creationId xmlns:a16="http://schemas.microsoft.com/office/drawing/2014/main" id="{550BB58F-D701-2CEE-E716-CA9EB4C2F980}"/>
              </a:ext>
            </a:extLst>
          </p:cNvPr>
          <p:cNvSpPr>
            <a:spLocks noGrp="1"/>
          </p:cNvSpPr>
          <p:nvPr>
            <p:ph type="title"/>
          </p:nvPr>
        </p:nvSpPr>
        <p:spPr/>
        <p:txBody>
          <a:bodyPr/>
          <a:lstStyle/>
          <a:p>
            <a:r>
              <a:rPr lang="en-GB" dirty="0"/>
              <a:t>Using Semaphores for Scheduling</a:t>
            </a:r>
            <a:endParaRPr lang="en-SE" dirty="0"/>
          </a:p>
        </p:txBody>
      </p:sp>
      <p:sp>
        <p:nvSpPr>
          <p:cNvPr id="3" name="Content Placeholder 2">
            <a:extLst>
              <a:ext uri="{FF2B5EF4-FFF2-40B4-BE49-F238E27FC236}">
                <a16:creationId xmlns:a16="http://schemas.microsoft.com/office/drawing/2014/main" id="{89F8685E-84C5-05B5-584E-D2A11D3FD577}"/>
              </a:ext>
            </a:extLst>
          </p:cNvPr>
          <p:cNvSpPr>
            <a:spLocks noGrp="1"/>
          </p:cNvSpPr>
          <p:nvPr>
            <p:ph idx="1"/>
          </p:nvPr>
        </p:nvSpPr>
        <p:spPr>
          <a:xfrm>
            <a:off x="453316" y="723839"/>
            <a:ext cx="11565980" cy="1457481"/>
          </a:xfrm>
        </p:spPr>
        <p:txBody>
          <a:bodyPr/>
          <a:lstStyle/>
          <a:p>
            <a:r>
              <a:rPr lang="en-GB" dirty="0"/>
              <a:t>Consider 5 threads A, B, C, D, E. They must execute based on the partial ordering below, regardless of the ordering of process start (e.g., if E starts before B and D finishes, it will be blocked waiting for B and D to finish before it can execute)</a:t>
            </a:r>
            <a:endParaRPr lang="en-SE" dirty="0"/>
          </a:p>
        </p:txBody>
      </p:sp>
      <p:grpSp>
        <p:nvGrpSpPr>
          <p:cNvPr id="14" name="Group 13">
            <a:extLst>
              <a:ext uri="{FF2B5EF4-FFF2-40B4-BE49-F238E27FC236}">
                <a16:creationId xmlns:a16="http://schemas.microsoft.com/office/drawing/2014/main" id="{309B9DC7-F0E2-4869-FC83-74B101A55281}"/>
              </a:ext>
            </a:extLst>
          </p:cNvPr>
          <p:cNvGrpSpPr/>
          <p:nvPr/>
        </p:nvGrpSpPr>
        <p:grpSpPr>
          <a:xfrm>
            <a:off x="209604" y="1844820"/>
            <a:ext cx="11546237" cy="2540488"/>
            <a:chOff x="924449" y="3837530"/>
            <a:chExt cx="18496011" cy="3601059"/>
          </a:xfrm>
        </p:grpSpPr>
        <p:sp>
          <p:nvSpPr>
            <p:cNvPr id="4" name="Rectangle 3">
              <a:extLst>
                <a:ext uri="{FF2B5EF4-FFF2-40B4-BE49-F238E27FC236}">
                  <a16:creationId xmlns:a16="http://schemas.microsoft.com/office/drawing/2014/main" id="{70959DD6-FFA8-DB46-E338-20FA9C056124}"/>
                </a:ext>
              </a:extLst>
            </p:cNvPr>
            <p:cNvSpPr/>
            <p:nvPr/>
          </p:nvSpPr>
          <p:spPr bwMode="auto">
            <a:xfrm>
              <a:off x="924449" y="5096608"/>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A</a:t>
              </a:r>
            </a:p>
          </p:txBody>
        </p:sp>
        <p:sp>
          <p:nvSpPr>
            <p:cNvPr id="5" name="Rectangle 4">
              <a:extLst>
                <a:ext uri="{FF2B5EF4-FFF2-40B4-BE49-F238E27FC236}">
                  <a16:creationId xmlns:a16="http://schemas.microsoft.com/office/drawing/2014/main" id="{CF6E3A40-08EB-6F09-6CB5-C8385ED114FF}"/>
                </a:ext>
              </a:extLst>
            </p:cNvPr>
            <p:cNvSpPr/>
            <p:nvPr/>
          </p:nvSpPr>
          <p:spPr bwMode="auto">
            <a:xfrm>
              <a:off x="2996083" y="431451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B</a:t>
              </a:r>
            </a:p>
          </p:txBody>
        </p:sp>
        <p:sp>
          <p:nvSpPr>
            <p:cNvPr id="6" name="Rectangle 5">
              <a:extLst>
                <a:ext uri="{FF2B5EF4-FFF2-40B4-BE49-F238E27FC236}">
                  <a16:creationId xmlns:a16="http://schemas.microsoft.com/office/drawing/2014/main" id="{C4D4D6AE-7CDC-6986-DB81-D11D0EFD03E7}"/>
                </a:ext>
              </a:extLst>
            </p:cNvPr>
            <p:cNvSpPr/>
            <p:nvPr/>
          </p:nvSpPr>
          <p:spPr bwMode="auto">
            <a:xfrm>
              <a:off x="2986036" y="5721281"/>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C</a:t>
              </a:r>
            </a:p>
          </p:txBody>
        </p:sp>
        <p:sp>
          <p:nvSpPr>
            <p:cNvPr id="7" name="Rectangle 6">
              <a:extLst>
                <a:ext uri="{FF2B5EF4-FFF2-40B4-BE49-F238E27FC236}">
                  <a16:creationId xmlns:a16="http://schemas.microsoft.com/office/drawing/2014/main" id="{29093085-525C-9FAF-88D5-A04043266191}"/>
                </a:ext>
              </a:extLst>
            </p:cNvPr>
            <p:cNvSpPr/>
            <p:nvPr/>
          </p:nvSpPr>
          <p:spPr bwMode="auto">
            <a:xfrm>
              <a:off x="4915319" y="571123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D</a:t>
              </a:r>
            </a:p>
          </p:txBody>
        </p:sp>
        <p:sp>
          <p:nvSpPr>
            <p:cNvPr id="8" name="Rectangle 7">
              <a:extLst>
                <a:ext uri="{FF2B5EF4-FFF2-40B4-BE49-F238E27FC236}">
                  <a16:creationId xmlns:a16="http://schemas.microsoft.com/office/drawing/2014/main" id="{FE998B5C-E413-3A3B-0644-843674A76575}"/>
                </a:ext>
              </a:extLst>
            </p:cNvPr>
            <p:cNvSpPr/>
            <p:nvPr/>
          </p:nvSpPr>
          <p:spPr bwMode="auto">
            <a:xfrm>
              <a:off x="6975231" y="4967654"/>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E</a:t>
              </a:r>
            </a:p>
          </p:txBody>
        </p:sp>
        <p:cxnSp>
          <p:nvCxnSpPr>
            <p:cNvPr id="9" name="Elbow Connector 11">
              <a:extLst>
                <a:ext uri="{FF2B5EF4-FFF2-40B4-BE49-F238E27FC236}">
                  <a16:creationId xmlns:a16="http://schemas.microsoft.com/office/drawing/2014/main" id="{0CDFB9D6-0C62-2BA8-45D6-52E049A654C0}"/>
                </a:ext>
              </a:extLst>
            </p:cNvPr>
            <p:cNvCxnSpPr>
              <a:stCxn id="4" idx="3"/>
              <a:endCxn id="5" idx="1"/>
            </p:cNvCxnSpPr>
            <p:nvPr/>
          </p:nvCxnSpPr>
          <p:spPr bwMode="auto">
            <a:xfrm flipV="1">
              <a:off x="2431701" y="4711422"/>
              <a:ext cx="564382" cy="782096"/>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0" name="Elbow Connector 13">
              <a:extLst>
                <a:ext uri="{FF2B5EF4-FFF2-40B4-BE49-F238E27FC236}">
                  <a16:creationId xmlns:a16="http://schemas.microsoft.com/office/drawing/2014/main" id="{CFB4451A-9901-F8BB-9CA3-BE0F555854CA}"/>
                </a:ext>
              </a:extLst>
            </p:cNvPr>
            <p:cNvCxnSpPr>
              <a:stCxn id="4" idx="3"/>
              <a:endCxn id="6" idx="1"/>
            </p:cNvCxnSpPr>
            <p:nvPr/>
          </p:nvCxnSpPr>
          <p:spPr bwMode="auto">
            <a:xfrm>
              <a:off x="2431701" y="5493518"/>
              <a:ext cx="554335" cy="624673"/>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CB6CE96C-A0A8-D92E-223B-54C08CC8FA53}"/>
                </a:ext>
              </a:extLst>
            </p:cNvPr>
            <p:cNvCxnSpPr>
              <a:stCxn id="6" idx="3"/>
              <a:endCxn id="7" idx="1"/>
            </p:cNvCxnSpPr>
            <p:nvPr/>
          </p:nvCxnSpPr>
          <p:spPr bwMode="auto">
            <a:xfrm flipV="1">
              <a:off x="4493288" y="6108142"/>
              <a:ext cx="422031" cy="10049"/>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2" name="Elbow Connector 17">
              <a:extLst>
                <a:ext uri="{FF2B5EF4-FFF2-40B4-BE49-F238E27FC236}">
                  <a16:creationId xmlns:a16="http://schemas.microsoft.com/office/drawing/2014/main" id="{DABCF0FF-B4BD-68CA-DB52-82B545659DDA}"/>
                </a:ext>
              </a:extLst>
            </p:cNvPr>
            <p:cNvCxnSpPr>
              <a:stCxn id="7" idx="3"/>
              <a:endCxn id="8" idx="1"/>
            </p:cNvCxnSpPr>
            <p:nvPr/>
          </p:nvCxnSpPr>
          <p:spPr bwMode="auto">
            <a:xfrm flipV="1">
              <a:off x="6422571" y="5364564"/>
              <a:ext cx="552660" cy="743578"/>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3" name="Elbow Connector 19">
              <a:extLst>
                <a:ext uri="{FF2B5EF4-FFF2-40B4-BE49-F238E27FC236}">
                  <a16:creationId xmlns:a16="http://schemas.microsoft.com/office/drawing/2014/main" id="{9BD2106B-3BA3-1ADF-AC85-EF58EC8DAA25}"/>
                </a:ext>
              </a:extLst>
            </p:cNvPr>
            <p:cNvCxnSpPr>
              <a:stCxn id="5" idx="3"/>
              <a:endCxn id="8" idx="1"/>
            </p:cNvCxnSpPr>
            <p:nvPr/>
          </p:nvCxnSpPr>
          <p:spPr bwMode="auto">
            <a:xfrm>
              <a:off x="4503335" y="4711422"/>
              <a:ext cx="2471896" cy="653142"/>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sp>
          <p:nvSpPr>
            <p:cNvPr id="21" name="Rectangle 20">
              <a:extLst>
                <a:ext uri="{FF2B5EF4-FFF2-40B4-BE49-F238E27FC236}">
                  <a16:creationId xmlns:a16="http://schemas.microsoft.com/office/drawing/2014/main" id="{99536182-D80A-149D-04BE-56E22D2C29D9}"/>
                </a:ext>
              </a:extLst>
            </p:cNvPr>
            <p:cNvSpPr/>
            <p:nvPr/>
          </p:nvSpPr>
          <p:spPr bwMode="auto">
            <a:xfrm>
              <a:off x="7912604" y="6123058"/>
              <a:ext cx="1507252"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A</a:t>
              </a:r>
            </a:p>
          </p:txBody>
        </p:sp>
        <p:sp>
          <p:nvSpPr>
            <p:cNvPr id="22" name="Rectangle 21">
              <a:extLst>
                <a:ext uri="{FF2B5EF4-FFF2-40B4-BE49-F238E27FC236}">
                  <a16:creationId xmlns:a16="http://schemas.microsoft.com/office/drawing/2014/main" id="{88A66B3F-2A0F-7522-C51B-5815223AC897}"/>
                </a:ext>
              </a:extLst>
            </p:cNvPr>
            <p:cNvSpPr/>
            <p:nvPr/>
          </p:nvSpPr>
          <p:spPr bwMode="auto">
            <a:xfrm>
              <a:off x="11208371" y="3837530"/>
              <a:ext cx="1507253" cy="340030"/>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B</a:t>
              </a:r>
            </a:p>
          </p:txBody>
        </p:sp>
        <p:sp>
          <p:nvSpPr>
            <p:cNvPr id="23" name="Rectangle 22">
              <a:extLst>
                <a:ext uri="{FF2B5EF4-FFF2-40B4-BE49-F238E27FC236}">
                  <a16:creationId xmlns:a16="http://schemas.microsoft.com/office/drawing/2014/main" id="{6FA23C89-45A4-5B46-221B-799F2D44CA37}"/>
                </a:ext>
              </a:extLst>
            </p:cNvPr>
            <p:cNvSpPr/>
            <p:nvPr/>
          </p:nvSpPr>
          <p:spPr bwMode="auto">
            <a:xfrm>
              <a:off x="11208372" y="7098558"/>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C</a:t>
              </a:r>
            </a:p>
          </p:txBody>
        </p:sp>
        <p:sp>
          <p:nvSpPr>
            <p:cNvPr id="24" name="Rectangle 23">
              <a:extLst>
                <a:ext uri="{FF2B5EF4-FFF2-40B4-BE49-F238E27FC236}">
                  <a16:creationId xmlns:a16="http://schemas.microsoft.com/office/drawing/2014/main" id="{A3D9F8EE-88D7-8EFE-86D8-FCBF77CF36E3}"/>
                </a:ext>
              </a:extLst>
            </p:cNvPr>
            <p:cNvSpPr/>
            <p:nvPr/>
          </p:nvSpPr>
          <p:spPr bwMode="auto">
            <a:xfrm>
              <a:off x="14626204" y="7008371"/>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D</a:t>
              </a:r>
            </a:p>
          </p:txBody>
        </p:sp>
        <p:sp>
          <p:nvSpPr>
            <p:cNvPr id="25" name="Rectangle 24">
              <a:extLst>
                <a:ext uri="{FF2B5EF4-FFF2-40B4-BE49-F238E27FC236}">
                  <a16:creationId xmlns:a16="http://schemas.microsoft.com/office/drawing/2014/main" id="{B39DE903-F5B5-E09E-CFB1-3E6EB1DD0B30}"/>
                </a:ext>
              </a:extLst>
            </p:cNvPr>
            <p:cNvSpPr/>
            <p:nvPr/>
          </p:nvSpPr>
          <p:spPr bwMode="auto">
            <a:xfrm>
              <a:off x="17913207" y="4611204"/>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E</a:t>
              </a:r>
            </a:p>
          </p:txBody>
        </p:sp>
      </p:grpSp>
      <p:sp>
        <p:nvSpPr>
          <p:cNvPr id="27" name="TextBox 26">
            <a:extLst>
              <a:ext uri="{FF2B5EF4-FFF2-40B4-BE49-F238E27FC236}">
                <a16:creationId xmlns:a16="http://schemas.microsoft.com/office/drawing/2014/main" id="{CDC48D19-14AA-ED4A-6A70-3AC350D660ED}"/>
              </a:ext>
            </a:extLst>
          </p:cNvPr>
          <p:cNvSpPr txBox="1"/>
          <p:nvPr/>
        </p:nvSpPr>
        <p:spPr>
          <a:xfrm>
            <a:off x="670915" y="6169657"/>
            <a:ext cx="5666474" cy="58477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b="0" dirty="0">
                <a:latin typeface="Gill Sans" panose="020B0502020104020203"/>
              </a:rPr>
              <a:t>Syntax in the figure is slightly different: wait(sem) and signal(sem) instead of </a:t>
            </a:r>
            <a:r>
              <a:rPr lang="en-US" sz="1600" b="0" dirty="0" err="1">
                <a:latin typeface="Gill Sans" panose="020B0502020104020203"/>
              </a:rPr>
              <a:t>sem_wait</a:t>
            </a:r>
            <a:r>
              <a:rPr lang="en-US" sz="1600" b="0" dirty="0">
                <a:latin typeface="Gill Sans" panose="020B0502020104020203"/>
              </a:rPr>
              <a:t>(&amp;sem) and </a:t>
            </a:r>
            <a:r>
              <a:rPr lang="en-US" sz="1600" b="0" dirty="0" err="1">
                <a:latin typeface="Gill Sans" panose="020B0502020104020203"/>
              </a:rPr>
              <a:t>sem_post</a:t>
            </a:r>
            <a:r>
              <a:rPr lang="en-US" sz="1600" b="0" dirty="0">
                <a:latin typeface="Gill Sans" panose="020B0502020104020203"/>
              </a:rPr>
              <a:t>(&amp;sem).</a:t>
            </a:r>
          </a:p>
        </p:txBody>
      </p:sp>
    </p:spTree>
    <p:extLst>
      <p:ext uri="{BB962C8B-B14F-4D97-AF65-F5344CB8AC3E}">
        <p14:creationId xmlns:p14="http://schemas.microsoft.com/office/powerpoint/2010/main" val="329669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C054B0-602D-2BD9-E5F2-2D4517FE43B9}"/>
              </a:ext>
            </a:extLst>
          </p:cNvPr>
          <p:cNvSpPr>
            <a:spLocks noGrp="1"/>
          </p:cNvSpPr>
          <p:nvPr>
            <p:ph type="title"/>
          </p:nvPr>
        </p:nvSpPr>
        <p:spPr/>
        <p:txBody>
          <a:bodyPr/>
          <a:lstStyle/>
          <a:p>
            <a:r>
              <a:rPr lang="en-US" altLang="zh-CN" dirty="0"/>
              <a:t>Producer/Consumer</a:t>
            </a:r>
            <a:r>
              <a:rPr lang="zh-CN" altLang="en-US" dirty="0"/>
              <a:t> </a:t>
            </a:r>
            <a:r>
              <a:rPr lang="en-US" altLang="zh-CN" dirty="0"/>
              <a:t>Problem</a:t>
            </a:r>
            <a:endParaRPr lang="en-US" dirty="0"/>
          </a:p>
        </p:txBody>
      </p:sp>
      <p:sp>
        <p:nvSpPr>
          <p:cNvPr id="3" name="内容占位符 2">
            <a:extLst>
              <a:ext uri="{FF2B5EF4-FFF2-40B4-BE49-F238E27FC236}">
                <a16:creationId xmlns:a16="http://schemas.microsoft.com/office/drawing/2014/main" id="{49BEF1AA-2BE9-5AE8-E47C-E73743B93579}"/>
              </a:ext>
            </a:extLst>
          </p:cNvPr>
          <p:cNvSpPr>
            <a:spLocks noGrp="1"/>
          </p:cNvSpPr>
          <p:nvPr>
            <p:ph idx="1"/>
          </p:nvPr>
        </p:nvSpPr>
        <p:spPr>
          <a:xfrm>
            <a:off x="419449" y="1073427"/>
            <a:ext cx="11336392" cy="5627702"/>
          </a:xfrm>
        </p:spPr>
        <p:txBody>
          <a:bodyPr/>
          <a:lstStyle/>
          <a:p>
            <a:r>
              <a:rPr lang="en-US" altLang="zh-CN" dirty="0"/>
              <a:t>A</a:t>
            </a:r>
            <a:r>
              <a:rPr lang="zh-CN" altLang="en-US" dirty="0"/>
              <a:t> </a:t>
            </a:r>
            <a:r>
              <a:rPr lang="en-US" altLang="zh-CN" dirty="0"/>
              <a:t>classical</a:t>
            </a:r>
            <a:r>
              <a:rPr lang="zh-CN" altLang="en-US" dirty="0"/>
              <a:t> </a:t>
            </a:r>
            <a:r>
              <a:rPr lang="en-US" altLang="zh-CN" dirty="0"/>
              <a:t>synchronization</a:t>
            </a:r>
            <a:r>
              <a:rPr lang="zh-CN" altLang="en-US" dirty="0"/>
              <a:t> </a:t>
            </a:r>
            <a:r>
              <a:rPr lang="en-US" altLang="zh-CN" dirty="0"/>
              <a:t>problem,</a:t>
            </a:r>
            <a:r>
              <a:rPr lang="zh-CN" altLang="en-US" dirty="0"/>
              <a:t> </a:t>
            </a:r>
            <a:r>
              <a:rPr lang="en-US" altLang="zh-CN" dirty="0"/>
              <a:t>also</a:t>
            </a:r>
            <a:r>
              <a:rPr lang="zh-CN" altLang="en-US" dirty="0"/>
              <a:t> </a:t>
            </a:r>
            <a:r>
              <a:rPr lang="en-US" altLang="zh-CN" dirty="0"/>
              <a:t>called</a:t>
            </a:r>
            <a:r>
              <a:rPr lang="zh-CN" altLang="en-US" dirty="0"/>
              <a:t> </a:t>
            </a:r>
            <a:r>
              <a:rPr lang="en-US" altLang="zh-CN" dirty="0"/>
              <a:t>the</a:t>
            </a:r>
            <a:r>
              <a:rPr lang="zh-CN" altLang="en-US" dirty="0"/>
              <a:t> </a:t>
            </a:r>
            <a:r>
              <a:rPr lang="en-US" altLang="zh-CN" b="1" dirty="0">
                <a:solidFill>
                  <a:srgbClr val="0070C0"/>
                </a:solidFill>
              </a:rPr>
              <a:t>bounded-buffer</a:t>
            </a:r>
            <a:r>
              <a:rPr lang="zh-CN" altLang="en-US" b="1" dirty="0">
                <a:solidFill>
                  <a:srgbClr val="0070C0"/>
                </a:solidFill>
              </a:rPr>
              <a:t> </a:t>
            </a:r>
            <a:r>
              <a:rPr lang="en-US" altLang="zh-CN" b="1" dirty="0">
                <a:solidFill>
                  <a:srgbClr val="0070C0"/>
                </a:solidFill>
              </a:rPr>
              <a:t>problem</a:t>
            </a:r>
          </a:p>
          <a:p>
            <a:r>
              <a:rPr lang="en-US" altLang="zh-CN" dirty="0"/>
              <a:t>A</a:t>
            </a:r>
            <a:r>
              <a:rPr lang="zh-CN" altLang="en-US" dirty="0"/>
              <a:t> </a:t>
            </a:r>
            <a:r>
              <a:rPr lang="en-US" altLang="zh-CN" dirty="0"/>
              <a:t>buffer</a:t>
            </a:r>
            <a:r>
              <a:rPr lang="zh-CN" altLang="en-US" dirty="0"/>
              <a:t> </a:t>
            </a:r>
            <a:r>
              <a:rPr lang="en-US" altLang="zh-CN" dirty="0"/>
              <a:t>has</a:t>
            </a:r>
            <a:r>
              <a:rPr lang="zh-CN" altLang="en-US" dirty="0"/>
              <a:t> </a:t>
            </a:r>
            <a:r>
              <a:rPr lang="en-US" altLang="zh-CN" dirty="0"/>
              <a:t>a</a:t>
            </a:r>
            <a:r>
              <a:rPr lang="zh-CN" altLang="en-US" dirty="0"/>
              <a:t> </a:t>
            </a:r>
            <a:r>
              <a:rPr lang="en-US" altLang="zh-CN" b="1" dirty="0">
                <a:solidFill>
                  <a:srgbClr val="0070C0"/>
                </a:solidFill>
              </a:rPr>
              <a:t>bounded</a:t>
            </a:r>
            <a:r>
              <a:rPr lang="zh-CN" altLang="en-US" b="1" dirty="0">
                <a:solidFill>
                  <a:srgbClr val="0070C0"/>
                </a:solidFill>
              </a:rPr>
              <a:t> </a:t>
            </a:r>
            <a:r>
              <a:rPr lang="en-US" altLang="zh-CN" b="1" dirty="0">
                <a:solidFill>
                  <a:srgbClr val="0070C0"/>
                </a:solidFill>
              </a:rPr>
              <a:t>size</a:t>
            </a:r>
            <a:endParaRPr lang="en-US" b="1" dirty="0">
              <a:solidFill>
                <a:srgbClr val="0070C0"/>
              </a:solidFill>
            </a:endParaRPr>
          </a:p>
          <a:p>
            <a:r>
              <a:rPr lang="en-US" altLang="zh-CN" dirty="0"/>
              <a:t>Examples</a:t>
            </a:r>
            <a:r>
              <a:rPr lang="zh-CN" altLang="en-US" dirty="0"/>
              <a:t> </a:t>
            </a:r>
            <a:r>
              <a:rPr lang="en-US" altLang="zh-CN" dirty="0"/>
              <a:t>of</a:t>
            </a:r>
            <a:r>
              <a:rPr lang="zh-CN" altLang="en-US" dirty="0"/>
              <a:t> </a:t>
            </a:r>
            <a:r>
              <a:rPr lang="en-US" altLang="zh-CN" dirty="0"/>
              <a:t>Producer/Consumer</a:t>
            </a:r>
            <a:r>
              <a:rPr lang="zh-CN" altLang="en-US" dirty="0"/>
              <a:t> </a:t>
            </a:r>
            <a:r>
              <a:rPr lang="en-US" altLang="zh-CN" dirty="0"/>
              <a:t>Problems:</a:t>
            </a:r>
          </a:p>
          <a:p>
            <a:pPr lvl="1"/>
            <a:r>
              <a:rPr lang="en-US" altLang="zh-CN" b="1" dirty="0">
                <a:solidFill>
                  <a:srgbClr val="0070C0"/>
                </a:solidFill>
              </a:rPr>
              <a:t>Web</a:t>
            </a:r>
            <a:r>
              <a:rPr lang="zh-CN" altLang="en-US" b="1" dirty="0">
                <a:solidFill>
                  <a:srgbClr val="0070C0"/>
                </a:solidFill>
              </a:rPr>
              <a:t> </a:t>
            </a:r>
            <a:r>
              <a:rPr lang="en-US" altLang="zh-CN" b="1" dirty="0">
                <a:solidFill>
                  <a:srgbClr val="0070C0"/>
                </a:solidFill>
              </a:rPr>
              <a:t>servers:</a:t>
            </a:r>
          </a:p>
          <a:p>
            <a:pPr lvl="2"/>
            <a:r>
              <a:rPr lang="en-US" altLang="zh-CN" dirty="0"/>
              <a:t>Producer</a:t>
            </a:r>
            <a:r>
              <a:rPr lang="zh-CN" altLang="en-US" dirty="0"/>
              <a:t> </a:t>
            </a:r>
            <a:r>
              <a:rPr lang="en-US" altLang="zh-CN" dirty="0"/>
              <a:t>puts</a:t>
            </a:r>
            <a:r>
              <a:rPr lang="zh-CN" altLang="en-US" dirty="0"/>
              <a:t> </a:t>
            </a:r>
            <a:r>
              <a:rPr lang="en-US" altLang="zh-CN" dirty="0"/>
              <a:t>requests</a:t>
            </a:r>
            <a:r>
              <a:rPr lang="zh-CN" altLang="en-US" dirty="0"/>
              <a:t> </a:t>
            </a:r>
            <a:r>
              <a:rPr lang="en-US" altLang="zh-CN" dirty="0"/>
              <a:t>in</a:t>
            </a:r>
            <a:r>
              <a:rPr lang="zh-CN" altLang="en-US" dirty="0"/>
              <a:t> </a:t>
            </a:r>
            <a:r>
              <a:rPr lang="en-US" altLang="zh-CN" dirty="0"/>
              <a:t>a</a:t>
            </a:r>
            <a:r>
              <a:rPr lang="zh-CN" altLang="en-US" dirty="0"/>
              <a:t> </a:t>
            </a:r>
            <a:r>
              <a:rPr lang="en-US" altLang="zh-CN" dirty="0"/>
              <a:t>queue</a:t>
            </a:r>
          </a:p>
          <a:p>
            <a:pPr lvl="2"/>
            <a:r>
              <a:rPr lang="en-US" altLang="zh-CN" dirty="0"/>
              <a:t>Consumers</a:t>
            </a:r>
            <a:r>
              <a:rPr lang="zh-CN" altLang="en-US" dirty="0"/>
              <a:t> </a:t>
            </a:r>
            <a:r>
              <a:rPr lang="en-US" altLang="zh-CN" dirty="0"/>
              <a:t>pick</a:t>
            </a:r>
            <a:r>
              <a:rPr lang="zh-CN" altLang="en-US" dirty="0"/>
              <a:t> </a:t>
            </a:r>
            <a:r>
              <a:rPr lang="en-US" altLang="zh-CN" dirty="0"/>
              <a:t>requests</a:t>
            </a:r>
            <a:r>
              <a:rPr lang="zh-CN" altLang="en-US" dirty="0"/>
              <a:t> </a:t>
            </a:r>
            <a:r>
              <a:rPr lang="en-US" altLang="zh-CN" dirty="0"/>
              <a:t>from</a:t>
            </a:r>
            <a:r>
              <a:rPr lang="zh-CN" altLang="en-US" dirty="0"/>
              <a:t> </a:t>
            </a:r>
            <a:r>
              <a:rPr lang="en-US" altLang="zh-CN" dirty="0"/>
              <a:t>the</a:t>
            </a:r>
            <a:r>
              <a:rPr lang="zh-CN" altLang="en-US" dirty="0"/>
              <a:t> </a:t>
            </a:r>
            <a:r>
              <a:rPr lang="en-US" altLang="zh-CN" dirty="0"/>
              <a:t>queue</a:t>
            </a:r>
            <a:r>
              <a:rPr lang="zh-CN" altLang="en-US" dirty="0"/>
              <a:t> </a:t>
            </a:r>
            <a:r>
              <a:rPr lang="en-US" altLang="zh-CN" dirty="0"/>
              <a:t>to</a:t>
            </a:r>
            <a:r>
              <a:rPr lang="zh-CN" altLang="en-US" dirty="0"/>
              <a:t> </a:t>
            </a:r>
            <a:r>
              <a:rPr lang="en-US" altLang="zh-CN" dirty="0"/>
              <a:t>process</a:t>
            </a:r>
          </a:p>
          <a:p>
            <a:pPr lvl="1"/>
            <a:r>
              <a:rPr lang="en-US" altLang="zh-CN" b="1" dirty="0">
                <a:solidFill>
                  <a:srgbClr val="0070C0"/>
                </a:solidFill>
              </a:rPr>
              <a:t>Linux</a:t>
            </a:r>
            <a:r>
              <a:rPr lang="zh-CN" altLang="en-US" b="1" dirty="0">
                <a:solidFill>
                  <a:srgbClr val="0070C0"/>
                </a:solidFill>
              </a:rPr>
              <a:t> </a:t>
            </a:r>
            <a:r>
              <a:rPr lang="en-US" altLang="zh-CN" b="1" dirty="0">
                <a:solidFill>
                  <a:srgbClr val="0070C0"/>
                </a:solidFill>
              </a:rPr>
              <a:t>Pipes</a:t>
            </a:r>
          </a:p>
          <a:p>
            <a:pPr lvl="1"/>
            <a:r>
              <a:rPr lang="en-GB" b="1" dirty="0">
                <a:solidFill>
                  <a:srgbClr val="0070C0"/>
                </a:solidFill>
              </a:rPr>
              <a:t>Coke vending machine</a:t>
            </a:r>
            <a:endParaRPr lang="en-GB" dirty="0"/>
          </a:p>
          <a:p>
            <a:pPr lvl="2"/>
            <a:r>
              <a:rPr lang="en-GB" dirty="0"/>
              <a:t>Producer can put limited number of cokes in machine</a:t>
            </a:r>
          </a:p>
          <a:p>
            <a:pPr lvl="2"/>
            <a:r>
              <a:rPr lang="en-GB" dirty="0"/>
              <a:t>Consumer can’t take cokes out if machine is empty</a:t>
            </a:r>
          </a:p>
          <a:p>
            <a:r>
              <a:rPr lang="en-GB" dirty="0"/>
              <a:t>Different from Readers/Writers problem</a:t>
            </a:r>
          </a:p>
          <a:p>
            <a:pPr lvl="1"/>
            <a:r>
              <a:rPr lang="en-GB" dirty="0"/>
              <a:t>There is a queue of items</a:t>
            </a:r>
          </a:p>
          <a:p>
            <a:pPr lvl="1"/>
            <a:r>
              <a:rPr lang="en-GB" dirty="0"/>
              <a:t>Consumer performs destructive read: reading an item removes it from the queue</a:t>
            </a:r>
          </a:p>
          <a:p>
            <a:pPr lvl="1"/>
            <a:endParaRPr lang="en-US" b="1" dirty="0">
              <a:solidFill>
                <a:srgbClr val="0070C0"/>
              </a:solidFill>
            </a:endParaRPr>
          </a:p>
        </p:txBody>
      </p:sp>
      <p:pic>
        <p:nvPicPr>
          <p:cNvPr id="1030" name="Picture 6" descr="web server Icon - Free PNG &amp; SVG 2346885 - Noun Project">
            <a:extLst>
              <a:ext uri="{FF2B5EF4-FFF2-40B4-BE49-F238E27FC236}">
                <a16:creationId xmlns:a16="http://schemas.microsoft.com/office/drawing/2014/main" id="{7188777A-6A1F-8CDE-7649-C5D44E415678}"/>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064129" y="1488007"/>
            <a:ext cx="812656" cy="81265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lient - Free people icons">
            <a:extLst>
              <a:ext uri="{FF2B5EF4-FFF2-40B4-BE49-F238E27FC236}">
                <a16:creationId xmlns:a16="http://schemas.microsoft.com/office/drawing/2014/main" id="{212120CA-E6BF-648C-2F6D-6A40915BE77A}"/>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176647"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lient - Free people icons">
            <a:extLst>
              <a:ext uri="{FF2B5EF4-FFF2-40B4-BE49-F238E27FC236}">
                <a16:creationId xmlns:a16="http://schemas.microsoft.com/office/drawing/2014/main" id="{7AB0FBBF-D384-E3A6-406E-01B7F40ACD77}"/>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064129"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Client - Free people icons">
            <a:extLst>
              <a:ext uri="{FF2B5EF4-FFF2-40B4-BE49-F238E27FC236}">
                <a16:creationId xmlns:a16="http://schemas.microsoft.com/office/drawing/2014/main" id="{76B465E2-9983-2967-9AE7-C640C9174B55}"/>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073002" y="2676073"/>
            <a:ext cx="696138" cy="6961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直线箭头连接符 8">
            <a:extLst>
              <a:ext uri="{FF2B5EF4-FFF2-40B4-BE49-F238E27FC236}">
                <a16:creationId xmlns:a16="http://schemas.microsoft.com/office/drawing/2014/main" id="{DD45C1A4-5697-8B90-A03A-B4EE1FF7B1EB}"/>
              </a:ext>
            </a:extLst>
          </p:cNvPr>
          <p:cNvCxnSpPr>
            <a:stCxn id="1032" idx="0"/>
          </p:cNvCxnSpPr>
          <p:nvPr/>
        </p:nvCxnSpPr>
        <p:spPr>
          <a:xfrm flipV="1">
            <a:off x="8524717" y="2192294"/>
            <a:ext cx="348069" cy="45538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0" name="直线箭头连接符 9">
            <a:extLst>
              <a:ext uri="{FF2B5EF4-FFF2-40B4-BE49-F238E27FC236}">
                <a16:creationId xmlns:a16="http://schemas.microsoft.com/office/drawing/2014/main" id="{5824D4B6-E7F4-FDFD-D445-72B062064826}"/>
              </a:ext>
            </a:extLst>
          </p:cNvPr>
          <p:cNvCxnSpPr>
            <a:cxnSpLocks/>
            <a:stCxn id="6" idx="0"/>
          </p:cNvCxnSpPr>
          <p:nvPr/>
        </p:nvCxnSpPr>
        <p:spPr>
          <a:xfrm flipH="1" flipV="1">
            <a:off x="9359554" y="2275592"/>
            <a:ext cx="52644" cy="37208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直线箭头连接符 11">
            <a:extLst>
              <a:ext uri="{FF2B5EF4-FFF2-40B4-BE49-F238E27FC236}">
                <a16:creationId xmlns:a16="http://schemas.microsoft.com/office/drawing/2014/main" id="{A49242BB-26EE-B171-3232-B25DF27C0264}"/>
              </a:ext>
            </a:extLst>
          </p:cNvPr>
          <p:cNvCxnSpPr>
            <a:cxnSpLocks/>
            <a:stCxn id="7" idx="0"/>
          </p:cNvCxnSpPr>
          <p:nvPr/>
        </p:nvCxnSpPr>
        <p:spPr>
          <a:xfrm flipH="1" flipV="1">
            <a:off x="9951611" y="2244905"/>
            <a:ext cx="469460" cy="43116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 name="Group 4">
            <a:extLst>
              <a:ext uri="{FF2B5EF4-FFF2-40B4-BE49-F238E27FC236}">
                <a16:creationId xmlns:a16="http://schemas.microsoft.com/office/drawing/2014/main" id="{63165047-574D-2ACE-18B5-24B77FA74726}"/>
              </a:ext>
            </a:extLst>
          </p:cNvPr>
          <p:cNvGrpSpPr/>
          <p:nvPr/>
        </p:nvGrpSpPr>
        <p:grpSpPr>
          <a:xfrm>
            <a:off x="7779321" y="3657600"/>
            <a:ext cx="3713693" cy="1316210"/>
            <a:chOff x="4908550" y="4273325"/>
            <a:chExt cx="5216493" cy="1848833"/>
          </a:xfrm>
        </p:grpSpPr>
        <p:pic>
          <p:nvPicPr>
            <p:cNvPr id="14" name="图片 13">
              <a:extLst>
                <a:ext uri="{FF2B5EF4-FFF2-40B4-BE49-F238E27FC236}">
                  <a16:creationId xmlns:a16="http://schemas.microsoft.com/office/drawing/2014/main" id="{4090FCF7-E5C8-E13C-FB47-08F98791CF2B}"/>
                </a:ext>
              </a:extLst>
            </p:cNvPr>
            <p:cNvPicPr>
              <a:picLocks noChangeAspect="1"/>
            </p:cNvPicPr>
            <p:nvPr/>
          </p:nvPicPr>
          <p:blipFill>
            <a:blip r:embed="rId4"/>
            <a:stretch>
              <a:fillRect/>
            </a:stretch>
          </p:blipFill>
          <p:spPr>
            <a:xfrm>
              <a:off x="4908550" y="4273325"/>
              <a:ext cx="5118100" cy="558800"/>
            </a:xfrm>
            <a:prstGeom prst="rect">
              <a:avLst/>
            </a:prstGeom>
          </p:spPr>
        </p:pic>
        <p:sp>
          <p:nvSpPr>
            <p:cNvPr id="15" name="文本框 14">
              <a:extLst>
                <a:ext uri="{FF2B5EF4-FFF2-40B4-BE49-F238E27FC236}">
                  <a16:creationId xmlns:a16="http://schemas.microsoft.com/office/drawing/2014/main" id="{9603C10E-2FC2-22F5-7616-B3256EA37782}"/>
                </a:ext>
              </a:extLst>
            </p:cNvPr>
            <p:cNvSpPr txBox="1"/>
            <p:nvPr/>
          </p:nvSpPr>
          <p:spPr>
            <a:xfrm>
              <a:off x="5343627" y="5601718"/>
              <a:ext cx="1627299" cy="515973"/>
            </a:xfrm>
            <a:prstGeom prst="rect">
              <a:avLst/>
            </a:prstGeom>
            <a:noFill/>
          </p:spPr>
          <p:txBody>
            <a:bodyPr wrap="none" rtlCol="0">
              <a:spAutoFit/>
            </a:bodyPr>
            <a:lstStyle/>
            <a:p>
              <a:r>
                <a:rPr lang="en-US" altLang="zh-CN" dirty="0">
                  <a:solidFill>
                    <a:srgbClr val="0070C0"/>
                  </a:solidFill>
                </a:rPr>
                <a:t>producer</a:t>
              </a:r>
              <a:endParaRPr lang="en-US" sz="1200" b="1" dirty="0">
                <a:solidFill>
                  <a:srgbClr val="0070C0"/>
                </a:solidFill>
              </a:endParaRPr>
            </a:p>
          </p:txBody>
        </p:sp>
        <p:sp>
          <p:nvSpPr>
            <p:cNvPr id="16" name="文本框 15">
              <a:extLst>
                <a:ext uri="{FF2B5EF4-FFF2-40B4-BE49-F238E27FC236}">
                  <a16:creationId xmlns:a16="http://schemas.microsoft.com/office/drawing/2014/main" id="{0E31DF8B-5D4C-7F4C-D07D-A4AD225E8830}"/>
                </a:ext>
              </a:extLst>
            </p:cNvPr>
            <p:cNvSpPr txBox="1"/>
            <p:nvPr/>
          </p:nvSpPr>
          <p:spPr>
            <a:xfrm>
              <a:off x="8437796" y="5606185"/>
              <a:ext cx="1687247" cy="515973"/>
            </a:xfrm>
            <a:prstGeom prst="rect">
              <a:avLst/>
            </a:prstGeom>
            <a:noFill/>
          </p:spPr>
          <p:txBody>
            <a:bodyPr wrap="none" rtlCol="0">
              <a:spAutoFit/>
            </a:bodyPr>
            <a:lstStyle/>
            <a:p>
              <a:r>
                <a:rPr lang="en-US" altLang="zh-CN" dirty="0">
                  <a:solidFill>
                    <a:srgbClr val="0070C0"/>
                  </a:solidFill>
                </a:rPr>
                <a:t>consumer</a:t>
              </a:r>
              <a:endParaRPr lang="en-US" sz="1200" b="1" dirty="0">
                <a:solidFill>
                  <a:srgbClr val="0070C0"/>
                </a:solidFill>
              </a:endParaRPr>
            </a:p>
          </p:txBody>
        </p:sp>
        <p:sp>
          <p:nvSpPr>
            <p:cNvPr id="17" name="右箭头 16">
              <a:extLst>
                <a:ext uri="{FF2B5EF4-FFF2-40B4-BE49-F238E27FC236}">
                  <a16:creationId xmlns:a16="http://schemas.microsoft.com/office/drawing/2014/main" id="{A4DC6A25-9C08-57D7-B364-85B222F8BB26}"/>
                </a:ext>
              </a:extLst>
            </p:cNvPr>
            <p:cNvSpPr/>
            <p:nvPr/>
          </p:nvSpPr>
          <p:spPr>
            <a:xfrm rot="16200000">
              <a:off x="5781571" y="5100516"/>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sp>
          <p:nvSpPr>
            <p:cNvPr id="18" name="右箭头 17">
              <a:extLst>
                <a:ext uri="{FF2B5EF4-FFF2-40B4-BE49-F238E27FC236}">
                  <a16:creationId xmlns:a16="http://schemas.microsoft.com/office/drawing/2014/main" id="{07E3EF5B-B5E0-D112-94F1-4CB65C227B54}"/>
                </a:ext>
              </a:extLst>
            </p:cNvPr>
            <p:cNvSpPr/>
            <p:nvPr/>
          </p:nvSpPr>
          <p:spPr>
            <a:xfrm rot="16200000">
              <a:off x="8936118" y="5113939"/>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grpSp>
      <p:pic>
        <p:nvPicPr>
          <p:cNvPr id="8" name="Picture 11">
            <a:extLst>
              <a:ext uri="{FF2B5EF4-FFF2-40B4-BE49-F238E27FC236}">
                <a16:creationId xmlns:a16="http://schemas.microsoft.com/office/drawing/2014/main" id="{8C9CEE40-74FC-7DFB-9C94-802294D923DE}"/>
              </a:ext>
            </a:extLst>
          </p:cNvPr>
          <p:cNvPicPr>
            <a:picLocks noChangeAspect="1" noChangeArrowheads="1"/>
          </p:cNvPicPr>
          <p:nvPr/>
        </p:nvPicPr>
        <p:blipFill>
          <a:blip r:embed="rId5" cstate="print"/>
          <a:srcRect/>
          <a:stretch>
            <a:fillRect/>
          </a:stretch>
        </p:blipFill>
        <p:spPr bwMode="auto">
          <a:xfrm>
            <a:off x="10515600" y="5077534"/>
            <a:ext cx="1550271" cy="1623595"/>
          </a:xfrm>
          <a:prstGeom prst="rect">
            <a:avLst/>
          </a:prstGeom>
          <a:noFill/>
          <a:ln w="38100" algn="ctr">
            <a:noFill/>
            <a:miter lim="800000"/>
            <a:headEnd/>
            <a:tailEnd/>
          </a:ln>
          <a:effectLst/>
        </p:spPr>
      </p:pic>
    </p:spTree>
    <p:extLst>
      <p:ext uri="{BB962C8B-B14F-4D97-AF65-F5344CB8AC3E}">
        <p14:creationId xmlns:p14="http://schemas.microsoft.com/office/powerpoint/2010/main" val="2336058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762000" y="152400"/>
            <a:ext cx="10668000" cy="533400"/>
          </a:xfrm>
        </p:spPr>
        <p:txBody>
          <a:bodyPr/>
          <a:lstStyle/>
          <a:p>
            <a:pPr>
              <a:lnSpc>
                <a:spcPct val="85000"/>
              </a:lnSpc>
            </a:pPr>
            <a:r>
              <a:rPr lang="en-US" altLang="zh-CN" sz="2800" dirty="0"/>
              <a:t>Producer/Consumer</a:t>
            </a:r>
            <a:r>
              <a:rPr lang="zh-CN" altLang="en-US" sz="2800" dirty="0"/>
              <a:t> </a:t>
            </a:r>
            <a:r>
              <a:rPr lang="en-US" altLang="zh-CN" sz="2800" dirty="0"/>
              <a:t>Problem</a:t>
            </a:r>
            <a:endParaRPr lang="en-US" altLang="ko-KR" sz="2800" dirty="0">
              <a:ea typeface="굴림" panose="020B0600000101010101" pitchFamily="34" charset="-127"/>
            </a:endParaRPr>
          </a:p>
        </p:txBody>
      </p:sp>
      <p:sp>
        <p:nvSpPr>
          <p:cNvPr id="28675" name="Rectangle 3"/>
          <p:cNvSpPr>
            <a:spLocks noGrp="1" noChangeArrowheads="1"/>
          </p:cNvSpPr>
          <p:nvPr>
            <p:ph type="body" idx="1"/>
          </p:nvPr>
        </p:nvSpPr>
        <p:spPr>
          <a:xfrm>
            <a:off x="753533" y="750711"/>
            <a:ext cx="11071224" cy="3570287"/>
          </a:xfrm>
        </p:spPr>
        <p:txBody>
          <a:bodyPr>
            <a:normAutofit fontScale="92500" lnSpcReduction="10000"/>
          </a:bodyPr>
          <a:lstStyle/>
          <a:p>
            <a:pPr>
              <a:lnSpc>
                <a:spcPct val="80000"/>
              </a:lnSpc>
            </a:pPr>
            <a:r>
              <a:rPr lang="en-US" altLang="ko-KR" dirty="0">
                <a:ea typeface="굴림" panose="020B0600000101010101" pitchFamily="34" charset="-127"/>
              </a:rPr>
              <a:t>Correctness Constraints:</a:t>
            </a:r>
          </a:p>
          <a:p>
            <a:pPr lvl="1">
              <a:lnSpc>
                <a:spcPct val="80000"/>
              </a:lnSpc>
            </a:pPr>
            <a:r>
              <a:rPr lang="en-GB" altLang="ko-KR" dirty="0">
                <a:ea typeface="굴림" panose="020B0600000101010101" pitchFamily="34" charset="-127"/>
              </a:rPr>
              <a:t>When buffer is full, producer must wait</a:t>
            </a:r>
          </a:p>
          <a:p>
            <a:pPr lvl="1">
              <a:lnSpc>
                <a:spcPct val="80000"/>
              </a:lnSpc>
            </a:pPr>
            <a:r>
              <a:rPr lang="en-GB" altLang="ko-KR" dirty="0">
                <a:ea typeface="굴림" panose="020B0600000101010101" pitchFamily="34" charset="-127"/>
              </a:rPr>
              <a:t>When buffer is empty, consumer must wait</a:t>
            </a:r>
          </a:p>
          <a:p>
            <a:pPr lvl="1">
              <a:lnSpc>
                <a:spcPct val="80000"/>
              </a:lnSpc>
            </a:pPr>
            <a:r>
              <a:rPr lang="en-US" altLang="ko-KR" dirty="0">
                <a:ea typeface="굴림" panose="020B0600000101010101" pitchFamily="34" charset="-127"/>
              </a:rPr>
              <a:t>Only one thread can manipulate buffer at a time (mutual exclusion)</a:t>
            </a:r>
          </a:p>
          <a:p>
            <a:pPr>
              <a:lnSpc>
                <a:spcPct val="80000"/>
              </a:lnSpc>
            </a:pPr>
            <a:r>
              <a:rPr lang="en-US" altLang="ko-KR" dirty="0">
                <a:ea typeface="굴림" panose="020B0600000101010101" pitchFamily="34" charset="-127"/>
              </a:rPr>
              <a:t>Use a separate semaphore for each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fullSlots</a:t>
            </a:r>
            <a:r>
              <a:rPr lang="en-US" altLang="ko-KR" dirty="0">
                <a:ea typeface="굴림" panose="020B0600000101010101" pitchFamily="34" charset="-127"/>
              </a:rPr>
              <a:t>; // consumer’s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emptySlots</a:t>
            </a:r>
            <a:r>
              <a:rPr lang="en-US" altLang="ko-KR" dirty="0">
                <a:ea typeface="굴림" panose="020B0600000101010101" pitchFamily="34" charset="-127"/>
              </a:rPr>
              <a:t>;// producer’s constraint</a:t>
            </a:r>
          </a:p>
          <a:p>
            <a:pPr lvl="1">
              <a:lnSpc>
                <a:spcPct val="80000"/>
              </a:lnSpc>
            </a:pPr>
            <a:r>
              <a:rPr lang="en-US" altLang="ko-KR" dirty="0">
                <a:ea typeface="굴림" panose="020B0600000101010101" pitchFamily="34" charset="-127"/>
              </a:rPr>
              <a:t>semaphore mutex;       // mutual exclusion</a:t>
            </a:r>
          </a:p>
          <a:p>
            <a:pPr>
              <a:lnSpc>
                <a:spcPct val="80000"/>
              </a:lnSpc>
            </a:pPr>
            <a:endParaRPr lang="en-US" altLang="ko-KR" dirty="0">
              <a:ea typeface="굴림" panose="020B0600000101010101" pitchFamily="34" charset="-127"/>
            </a:endParaRPr>
          </a:p>
        </p:txBody>
      </p:sp>
      <p:sp>
        <p:nvSpPr>
          <p:cNvPr id="2" name="矩形 4">
            <a:extLst>
              <a:ext uri="{FF2B5EF4-FFF2-40B4-BE49-F238E27FC236}">
                <a16:creationId xmlns:a16="http://schemas.microsoft.com/office/drawing/2014/main" id="{3C97C899-C404-E617-7BA3-2E04255D9137}"/>
              </a:ext>
            </a:extLst>
          </p:cNvPr>
          <p:cNvSpPr/>
          <p:nvPr/>
        </p:nvSpPr>
        <p:spPr>
          <a:xfrm>
            <a:off x="3657600" y="4453467"/>
            <a:ext cx="4495800" cy="11321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文本框 5">
            <a:extLst>
              <a:ext uri="{FF2B5EF4-FFF2-40B4-BE49-F238E27FC236}">
                <a16:creationId xmlns:a16="http://schemas.microsoft.com/office/drawing/2014/main" id="{C2CA72FA-F470-BA76-CC65-D5157107A15F}"/>
              </a:ext>
            </a:extLst>
          </p:cNvPr>
          <p:cNvSpPr txBox="1"/>
          <p:nvPr/>
        </p:nvSpPr>
        <p:spPr>
          <a:xfrm>
            <a:off x="3976087" y="5650492"/>
            <a:ext cx="3979028" cy="830997"/>
          </a:xfrm>
          <a:prstGeom prst="rect">
            <a:avLst/>
          </a:prstGeom>
          <a:noFill/>
        </p:spPr>
        <p:txBody>
          <a:bodyPr wrap="square" rtlCol="0">
            <a:spAutoFit/>
          </a:bodyPr>
          <a:lstStyle/>
          <a:p>
            <a:r>
              <a:rPr lang="en-US" altLang="zh-CN" sz="2400" b="0" dirty="0">
                <a:latin typeface="Gill Sans" panose="020B0502020104020203"/>
              </a:rPr>
              <a:t>Bounded</a:t>
            </a:r>
            <a:r>
              <a:rPr lang="zh-CN" altLang="en-US" sz="2400" b="0" dirty="0">
                <a:latin typeface="Gill Sans" panose="020B0502020104020203"/>
              </a:rPr>
              <a:t> </a:t>
            </a:r>
            <a:r>
              <a:rPr lang="en-US" altLang="zh-CN" sz="2400" b="0" dirty="0">
                <a:latin typeface="Gill Sans" panose="020B0502020104020203"/>
              </a:rPr>
              <a:t>buffer</a:t>
            </a:r>
          </a:p>
          <a:p>
            <a:r>
              <a:rPr lang="en-US" altLang="ko-KR" sz="2400" b="0" dirty="0" err="1">
                <a:latin typeface="Gill Sans" panose="020B0502020104020203"/>
                <a:ea typeface="굴림" panose="020B0600000101010101" pitchFamily="34" charset="-127"/>
              </a:rPr>
              <a:t>fullSlots</a:t>
            </a:r>
            <a:r>
              <a:rPr lang="en-US" altLang="ko-KR" sz="2400" b="0" dirty="0">
                <a:latin typeface="Gill Sans" panose="020B0502020104020203"/>
                <a:ea typeface="굴림" panose="020B0600000101010101" pitchFamily="34" charset="-127"/>
              </a:rPr>
              <a:t>==3, </a:t>
            </a:r>
            <a:r>
              <a:rPr lang="en-US" altLang="ko-KR" sz="2400" b="0" dirty="0" err="1">
                <a:latin typeface="Gill Sans" panose="020B0502020104020203"/>
                <a:ea typeface="굴림" panose="020B0600000101010101" pitchFamily="34" charset="-127"/>
              </a:rPr>
              <a:t>emptySlots</a:t>
            </a:r>
            <a:r>
              <a:rPr lang="en-US" altLang="ko-KR" sz="2400" b="0" dirty="0">
                <a:latin typeface="Gill Sans" panose="020B0502020104020203"/>
                <a:ea typeface="굴림" panose="020B0600000101010101" pitchFamily="34" charset="-127"/>
              </a:rPr>
              <a:t>==4</a:t>
            </a:r>
            <a:endParaRPr lang="en-US" sz="2400" b="0" dirty="0">
              <a:latin typeface="Gill Sans" panose="020B0502020104020203"/>
            </a:endParaRPr>
          </a:p>
        </p:txBody>
      </p:sp>
      <p:sp>
        <p:nvSpPr>
          <p:cNvPr id="4" name="矩形 6">
            <a:extLst>
              <a:ext uri="{FF2B5EF4-FFF2-40B4-BE49-F238E27FC236}">
                <a16:creationId xmlns:a16="http://schemas.microsoft.com/office/drawing/2014/main" id="{2E539C34-D67B-6531-F2A9-7265E4181413}"/>
              </a:ext>
            </a:extLst>
          </p:cNvPr>
          <p:cNvSpPr/>
          <p:nvPr/>
        </p:nvSpPr>
        <p:spPr>
          <a:xfrm>
            <a:off x="3766459"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 name="矩形 7">
            <a:extLst>
              <a:ext uri="{FF2B5EF4-FFF2-40B4-BE49-F238E27FC236}">
                <a16:creationId xmlns:a16="http://schemas.microsoft.com/office/drawing/2014/main" id="{423000A7-5D17-7A2C-6426-CCB593B73746}"/>
              </a:ext>
            </a:extLst>
          </p:cNvPr>
          <p:cNvSpPr/>
          <p:nvPr/>
        </p:nvSpPr>
        <p:spPr>
          <a:xfrm>
            <a:off x="4381111"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 name="矩形 8">
            <a:extLst>
              <a:ext uri="{FF2B5EF4-FFF2-40B4-BE49-F238E27FC236}">
                <a16:creationId xmlns:a16="http://schemas.microsoft.com/office/drawing/2014/main" id="{66D055D8-B7C0-04F1-6A14-50F8C5BFFC96}"/>
              </a:ext>
            </a:extLst>
          </p:cNvPr>
          <p:cNvSpPr/>
          <p:nvPr/>
        </p:nvSpPr>
        <p:spPr>
          <a:xfrm>
            <a:off x="4995763"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 name="文本框 11">
            <a:extLst>
              <a:ext uri="{FF2B5EF4-FFF2-40B4-BE49-F238E27FC236}">
                <a16:creationId xmlns:a16="http://schemas.microsoft.com/office/drawing/2014/main" id="{7C9666B9-23A5-5E40-4A37-6033F6CC0A59}"/>
              </a:ext>
            </a:extLst>
          </p:cNvPr>
          <p:cNvSpPr txBox="1"/>
          <p:nvPr/>
        </p:nvSpPr>
        <p:spPr>
          <a:xfrm>
            <a:off x="914400" y="4604025"/>
            <a:ext cx="2686245" cy="830997"/>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Producer writes data items to buffer</a:t>
            </a:r>
            <a:endParaRPr lang="en-US" dirty="0"/>
          </a:p>
        </p:txBody>
      </p:sp>
      <p:sp>
        <p:nvSpPr>
          <p:cNvPr id="8" name="文本框 12">
            <a:extLst>
              <a:ext uri="{FF2B5EF4-FFF2-40B4-BE49-F238E27FC236}">
                <a16:creationId xmlns:a16="http://schemas.microsoft.com/office/drawing/2014/main" id="{F9AF5378-6AAC-5CC2-0B6F-138ACDB1D5C7}"/>
              </a:ext>
            </a:extLst>
          </p:cNvPr>
          <p:cNvSpPr txBox="1"/>
          <p:nvPr/>
        </p:nvSpPr>
        <p:spPr>
          <a:xfrm>
            <a:off x="8382000" y="4453467"/>
            <a:ext cx="3200400" cy="1569660"/>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Consumer reads and removes data items from buffer (destructive read)</a:t>
            </a:r>
            <a:endParaRPr lang="en-US" dirty="0"/>
          </a:p>
        </p:txBody>
      </p:sp>
      <p:sp>
        <p:nvSpPr>
          <p:cNvPr id="9" name="矩形 8">
            <a:extLst>
              <a:ext uri="{FF2B5EF4-FFF2-40B4-BE49-F238E27FC236}">
                <a16:creationId xmlns:a16="http://schemas.microsoft.com/office/drawing/2014/main" id="{FB41532F-8ACD-B8B7-D86C-BE8739EBB559}"/>
              </a:ext>
            </a:extLst>
          </p:cNvPr>
          <p:cNvSpPr/>
          <p:nvPr/>
        </p:nvSpPr>
        <p:spPr>
          <a:xfrm>
            <a:off x="5610415"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矩形 8">
            <a:extLst>
              <a:ext uri="{FF2B5EF4-FFF2-40B4-BE49-F238E27FC236}">
                <a16:creationId xmlns:a16="http://schemas.microsoft.com/office/drawing/2014/main" id="{B5E4A924-211F-CE0E-EB5B-213209EC67A1}"/>
              </a:ext>
            </a:extLst>
          </p:cNvPr>
          <p:cNvSpPr/>
          <p:nvPr/>
        </p:nvSpPr>
        <p:spPr>
          <a:xfrm>
            <a:off x="6225067"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矩形 8">
            <a:extLst>
              <a:ext uri="{FF2B5EF4-FFF2-40B4-BE49-F238E27FC236}">
                <a16:creationId xmlns:a16="http://schemas.microsoft.com/office/drawing/2014/main" id="{EBF2327F-1B0D-98D3-367E-E7EF802AA9E5}"/>
              </a:ext>
            </a:extLst>
          </p:cNvPr>
          <p:cNvSpPr/>
          <p:nvPr/>
        </p:nvSpPr>
        <p:spPr>
          <a:xfrm>
            <a:off x="6839719"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矩形 8">
            <a:extLst>
              <a:ext uri="{FF2B5EF4-FFF2-40B4-BE49-F238E27FC236}">
                <a16:creationId xmlns:a16="http://schemas.microsoft.com/office/drawing/2014/main" id="{77A84923-D753-6F74-8F00-C02EA76670C9}"/>
              </a:ext>
            </a:extLst>
          </p:cNvPr>
          <p:cNvSpPr/>
          <p:nvPr/>
        </p:nvSpPr>
        <p:spPr>
          <a:xfrm>
            <a:off x="7454372"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Plassholder for lysbildenummer 5">
            <a:extLst>
              <a:ext uri="{FF2B5EF4-FFF2-40B4-BE49-F238E27FC236}">
                <a16:creationId xmlns:a16="http://schemas.microsoft.com/office/drawing/2014/main" id="{31B7CF91-F7C3-AFC7-DF93-A6BABAC2EDF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27</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950979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867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type="body" idx="1"/>
          </p:nvPr>
        </p:nvSpPr>
        <p:spPr>
          <a:xfrm>
            <a:off x="1514071" y="890588"/>
            <a:ext cx="9740900" cy="5662612"/>
          </a:xfrm>
        </p:spPr>
        <p:txBody>
          <a:bodyPr>
            <a:normAutofit lnSpcReduction="10000"/>
          </a:bodyPr>
          <a:lstStyle/>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=0; //Initially, no full slots</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zh-CN" sz="2000">
                <a:latin typeface="Courier New" panose="02070309020205020404" pitchFamily="49" charset="0"/>
                <a:ea typeface="굴림" charset="0"/>
                <a:cs typeface="Courier New" panose="02070309020205020404" pitchFamily="49" charset="0"/>
              </a:rPr>
              <a:t>empty</a:t>
            </a:r>
            <a:r>
              <a:rPr lang="en-US" altLang="ko-KR" sz="2000">
                <a:latin typeface="Courier New" panose="02070309020205020404" pitchFamily="49" charset="0"/>
                <a:ea typeface="굴림" charset="0"/>
                <a:cs typeface="Courier New" panose="02070309020205020404" pitchFamily="49" charset="0"/>
              </a:rPr>
              <a:t>Slots</a:t>
            </a:r>
            <a:r>
              <a:rPr lang="en-US" altLang="ko-KR" sz="2000" dirty="0">
                <a:latin typeface="Courier New" panose="02070309020205020404" pitchFamily="49" charset="0"/>
                <a:ea typeface="굴림" charset="0"/>
                <a:cs typeface="Courier New" panose="02070309020205020404" pitchFamily="49" charset="0"/>
              </a:rPr>
              <a:t>=</a:t>
            </a:r>
            <a:r>
              <a:rPr lang="en-US" altLang="ko-KR" sz="2000" dirty="0" err="1">
                <a:latin typeface="Courier New" panose="02070309020205020404" pitchFamily="49" charset="0"/>
                <a:ea typeface="굴림" charset="0"/>
                <a:cs typeface="Courier New" panose="02070309020205020404" pitchFamily="49" charset="0"/>
              </a:rPr>
              <a:t>bufSize</a:t>
            </a:r>
            <a:r>
              <a:rPr lang="en-US" altLang="ko-KR" sz="2000" dirty="0">
                <a:latin typeface="Courier New" panose="02070309020205020404" pitchFamily="49" charset="0"/>
                <a:ea typeface="굴림" charset="0"/>
                <a:cs typeface="Courier New" panose="02070309020205020404" pitchFamily="49" charset="0"/>
              </a:rPr>
              <a:t>; //Initially, all slots empty</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mutex=1;</a:t>
            </a:r>
            <a:endParaRPr lang="pt-BR" altLang="ko-KR" sz="20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Producer(item)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enqueue(item);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Consumer()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item = dequeue();</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return 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endParaRPr lang="en-US" altLang="ko-KR" sz="2000" dirty="0">
              <a:latin typeface="Courier New" panose="02070309020205020404" pitchFamily="49" charset="0"/>
              <a:ea typeface="굴림" charset="0"/>
              <a:cs typeface="Courier New" panose="02070309020205020404" pitchFamily="49" charset="0"/>
            </a:endParaRPr>
          </a:p>
        </p:txBody>
      </p:sp>
      <p:sp>
        <p:nvSpPr>
          <p:cNvPr id="9" name="TextBox 8"/>
          <p:cNvSpPr txBox="1"/>
          <p:nvPr/>
        </p:nvSpPr>
        <p:spPr>
          <a:xfrm>
            <a:off x="5822687" y="3685440"/>
            <a:ext cx="3648803" cy="430887"/>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full slot</a:t>
            </a:r>
          </a:p>
        </p:txBody>
      </p:sp>
      <p:sp>
        <p:nvSpPr>
          <p:cNvPr id="16" name="TextBox 15"/>
          <p:cNvSpPr txBox="1"/>
          <p:nvPr/>
        </p:nvSpPr>
        <p:spPr>
          <a:xfrm>
            <a:off x="96504" y="4601963"/>
            <a:ext cx="1879862" cy="1107996"/>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empty slot</a:t>
            </a:r>
          </a:p>
        </p:txBody>
      </p:sp>
      <p:sp>
        <p:nvSpPr>
          <p:cNvPr id="5" name="Curved Right Arrow 4"/>
          <p:cNvSpPr>
            <a:spLocks noChangeArrowheads="1"/>
          </p:cNvSpPr>
          <p:nvPr/>
        </p:nvSpPr>
        <p:spPr bwMode="auto">
          <a:xfrm flipV="1">
            <a:off x="1628371" y="2590800"/>
            <a:ext cx="723900" cy="2667000"/>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3" name="Rectangle 2"/>
          <p:cNvSpPr/>
          <p:nvPr/>
        </p:nvSpPr>
        <p:spPr bwMode="auto">
          <a:xfrm>
            <a:off x="2324360" y="27919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34817" name="Rectangle 2"/>
          <p:cNvSpPr>
            <a:spLocks noGrp="1" noChangeArrowheads="1"/>
          </p:cNvSpPr>
          <p:nvPr>
            <p:ph type="title"/>
          </p:nvPr>
        </p:nvSpPr>
        <p:spPr/>
        <p:txBody>
          <a:bodyPr/>
          <a:lstStyle/>
          <a:p>
            <a:r>
              <a:rPr lang="en-US" altLang="ko-KR" dirty="0">
                <a:latin typeface="Helvetica" charset="0"/>
                <a:ea typeface="굴림" charset="0"/>
                <a:cs typeface="굴림" charset="0"/>
              </a:rPr>
              <a:t>Full Solution to Bounded Buffer (coke machine)</a:t>
            </a:r>
          </a:p>
        </p:txBody>
      </p:sp>
      <p:sp>
        <p:nvSpPr>
          <p:cNvPr id="2" name="Curved Right Arrow 1"/>
          <p:cNvSpPr>
            <a:spLocks noChangeArrowheads="1"/>
          </p:cNvSpPr>
          <p:nvPr/>
        </p:nvSpPr>
        <p:spPr bwMode="auto">
          <a:xfrm flipH="1">
            <a:off x="5397714" y="3556256"/>
            <a:ext cx="397541" cy="838200"/>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7" name="Rectangle 6"/>
          <p:cNvSpPr/>
          <p:nvPr/>
        </p:nvSpPr>
        <p:spPr bwMode="auto">
          <a:xfrm>
            <a:off x="2324360" y="43822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nvGrpSpPr>
          <p:cNvPr id="8" name="Group 7"/>
          <p:cNvGrpSpPr/>
          <p:nvPr/>
        </p:nvGrpSpPr>
        <p:grpSpPr>
          <a:xfrm>
            <a:off x="10200842" y="2743200"/>
            <a:ext cx="1991158" cy="2103407"/>
            <a:chOff x="9243614" y="3080238"/>
            <a:chExt cx="2035351" cy="2209799"/>
          </a:xfrm>
        </p:grpSpPr>
        <p:sp>
          <p:nvSpPr>
            <p:cNvPr id="4" name="TextBox 3"/>
            <p:cNvSpPr txBox="1"/>
            <p:nvPr/>
          </p:nvSpPr>
          <p:spPr>
            <a:xfrm>
              <a:off x="9321535" y="3468997"/>
              <a:ext cx="1957430" cy="1446550"/>
            </a:xfrm>
            <a:prstGeom prst="rect">
              <a:avLst/>
            </a:prstGeom>
            <a:solidFill>
              <a:schemeClr val="accent2">
                <a:lumMod val="20000"/>
                <a:lumOff val="80000"/>
              </a:schemeClr>
            </a:solidFill>
          </p:spPr>
          <p:txBody>
            <a:bodyPr wrap="square" rtlCol="0">
              <a:spAutoFit/>
            </a:bodyPr>
            <a:lstStyle/>
            <a:p>
              <a:r>
                <a:rPr lang="en-US" sz="2200" dirty="0">
                  <a:latin typeface="Gill Sans Light"/>
                </a:rPr>
                <a:t>mutex</a:t>
              </a:r>
              <a:r>
                <a:rPr lang="en-US" sz="2200" b="0" dirty="0">
                  <a:latin typeface="Gill Sans Light"/>
                </a:rPr>
                <a:t> protects integrity of the queue within critical sections</a:t>
              </a:r>
            </a:p>
          </p:txBody>
        </p:sp>
        <p:sp>
          <p:nvSpPr>
            <p:cNvPr id="10" name="Bent Arrow 9"/>
            <p:cNvSpPr/>
            <p:nvPr/>
          </p:nvSpPr>
          <p:spPr bwMode="auto">
            <a:xfrm rot="10800000">
              <a:off x="9243614" y="4864793"/>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12" name="Bent Arrow 11"/>
            <p:cNvSpPr/>
            <p:nvPr/>
          </p:nvSpPr>
          <p:spPr bwMode="auto">
            <a:xfrm rot="10800000" flipV="1">
              <a:off x="9243614" y="3080238"/>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pic>
        <p:nvPicPr>
          <p:cNvPr id="15"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03499" y="37501"/>
            <a:ext cx="1417029" cy="1484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6" name="TextBox 5">
            <a:extLst>
              <a:ext uri="{FF2B5EF4-FFF2-40B4-BE49-F238E27FC236}">
                <a16:creationId xmlns:a16="http://schemas.microsoft.com/office/drawing/2014/main" id="{A7329038-BF8E-73E9-C80E-82CE771F5C03}"/>
              </a:ext>
            </a:extLst>
          </p:cNvPr>
          <p:cNvSpPr txBox="1"/>
          <p:nvPr/>
        </p:nvSpPr>
        <p:spPr>
          <a:xfrm>
            <a:off x="2089894" y="5713000"/>
            <a:ext cx="8682463" cy="1015663"/>
          </a:xfrm>
          <a:prstGeom prst="rect">
            <a:avLst/>
          </a:prstGeom>
          <a:solidFill>
            <a:schemeClr val="accent2">
              <a:lumMod val="20000"/>
              <a:lumOff val="80000"/>
            </a:schemeClr>
          </a:solidFill>
        </p:spPr>
        <p:txBody>
          <a:bodyPr wrap="square" rtlCol="0">
            <a:spAutoFit/>
          </a:bodyPr>
          <a:lstStyle/>
          <a:p>
            <a:r>
              <a:rPr lang="en-US" sz="2000" b="0" dirty="0" err="1">
                <a:latin typeface="Gill Sans Light"/>
              </a:rPr>
              <a:t>emptySlots</a:t>
            </a:r>
            <a:r>
              <a:rPr lang="en-US" sz="2000" b="0" dirty="0">
                <a:latin typeface="Gill Sans Light"/>
              </a:rPr>
              <a:t>==0: Producer waits; </a:t>
            </a:r>
            <a:r>
              <a:rPr lang="en-US" sz="2000" b="0" dirty="0" err="1">
                <a:latin typeface="Gill Sans Light"/>
              </a:rPr>
              <a:t>fullSlots</a:t>
            </a:r>
            <a:r>
              <a:rPr lang="en-US" sz="2000" b="0" dirty="0">
                <a:latin typeface="Gill Sans Light"/>
              </a:rPr>
              <a:t> ==0: Consumer waits.</a:t>
            </a:r>
          </a:p>
          <a:p>
            <a:r>
              <a:rPr lang="en-US" sz="2000" b="0" dirty="0" err="1">
                <a:latin typeface="Gill Sans Light"/>
              </a:rPr>
              <a:t>fullSlots</a:t>
            </a:r>
            <a:r>
              <a:rPr lang="en-US" sz="2000" b="0" dirty="0">
                <a:latin typeface="Gill Sans Light"/>
              </a:rPr>
              <a:t>&gt;0 &amp;&amp; </a:t>
            </a:r>
            <a:r>
              <a:rPr lang="en-US" sz="2000" b="0" dirty="0" err="1">
                <a:latin typeface="Gill Sans Light"/>
              </a:rPr>
              <a:t>emptySlots</a:t>
            </a:r>
            <a:r>
              <a:rPr lang="en-US" sz="2000" b="0" dirty="0">
                <a:latin typeface="Gill Sans Light"/>
              </a:rPr>
              <a:t>&gt;0: neither Producer nor Consumer blocks on a slot semaphore, but enqueue/dequeue are still serialized by mutex.</a:t>
            </a:r>
          </a:p>
        </p:txBody>
      </p:sp>
    </p:spTree>
    <p:extLst>
      <p:ext uri="{BB962C8B-B14F-4D97-AF65-F5344CB8AC3E}">
        <p14:creationId xmlns:p14="http://schemas.microsoft.com/office/powerpoint/2010/main" val="45834898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2"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500"/>
                                        <p:tgtEl>
                                          <p:spTgt spid="8"/>
                                        </p:tgtEl>
                                      </p:cBhvr>
                                    </p:animEffect>
                                  </p:childTnLst>
                                </p:cTn>
                              </p:par>
                            </p:childTnLst>
                          </p:cTn>
                        </p:par>
                        <p:par>
                          <p:cTn id="16" fill="hold">
                            <p:stCondLst>
                              <p:cond delay="500"/>
                            </p:stCondLst>
                            <p:childTnLst>
                              <p:par>
                                <p:cTn id="17" presetID="22" presetClass="entr" presetSubtype="2" fill="hold" grpId="0"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up)">
                                      <p:cBhvr>
                                        <p:cTn id="27" dur="500"/>
                                        <p:tgtEl>
                                          <p:spTgt spid="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500"/>
                                        <p:tgtEl>
                                          <p:spTgt spid="5"/>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P spid="9" grpId="0" animBg="1"/>
      <p:bldP spid="16" grpId="0" animBg="1"/>
      <p:bldP spid="5" grpId="0" animBg="1"/>
      <p:bldP spid="3" grpId="0" animBg="1"/>
      <p:bldP spid="2" grpId="0" animBg="1"/>
      <p:bldP spid="7"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ea typeface="굴림" panose="020B0600000101010101" pitchFamily="34" charset="-127"/>
              </a:rPr>
              <a:t>Discussions</a:t>
            </a:r>
          </a:p>
        </p:txBody>
      </p:sp>
      <p:sp>
        <p:nvSpPr>
          <p:cNvPr id="465923" name="Rectangle 3"/>
          <p:cNvSpPr>
            <a:spLocks noGrp="1" noChangeArrowheads="1"/>
          </p:cNvSpPr>
          <p:nvPr>
            <p:ph type="body" idx="1"/>
          </p:nvPr>
        </p:nvSpPr>
        <p:spPr>
          <a:xfrm>
            <a:off x="533400" y="990600"/>
            <a:ext cx="10668000" cy="1284660"/>
          </a:xfrm>
        </p:spPr>
        <p:txBody>
          <a:bodyPr>
            <a:normAutofit fontScale="92500" lnSpcReduction="20000"/>
          </a:bodyPr>
          <a:lstStyle/>
          <a:p>
            <a:r>
              <a:rPr lang="en-US" altLang="ko-KR" dirty="0">
                <a:ea typeface="굴림" panose="020B0600000101010101" pitchFamily="34" charset="-127"/>
              </a:rPr>
              <a:t>Two semaphores</a:t>
            </a:r>
          </a:p>
          <a:p>
            <a:pPr lvl="1"/>
            <a:r>
              <a:rPr lang="en-US" altLang="ko-KR" dirty="0">
                <a:ea typeface="굴림" panose="020B0600000101010101" pitchFamily="34" charset="-127"/>
              </a:rPr>
              <a:t>Producer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a:t>
            </a:r>
          </a:p>
          <a:p>
            <a:pPr lvl="1"/>
            <a:r>
              <a:rPr lang="en-US" altLang="ko-KR" dirty="0">
                <a:ea typeface="굴림" panose="020B0600000101010101" pitchFamily="34" charset="-127"/>
              </a:rPr>
              <a:t>Consumer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a:t>
            </a:r>
          </a:p>
          <a:p>
            <a:pPr lvl="1"/>
            <a:endParaRPr lang="en-US" altLang="ko-KR" dirty="0">
              <a:ea typeface="굴림" panose="020B0600000101010101" pitchFamily="34" charset="-127"/>
            </a:endParaRPr>
          </a:p>
        </p:txBody>
      </p:sp>
      <p:sp>
        <p:nvSpPr>
          <p:cNvPr id="6" name="Rectangular Callout 5"/>
          <p:cNvSpPr>
            <a:spLocks noChangeArrowheads="1"/>
          </p:cNvSpPr>
          <p:nvPr/>
        </p:nvSpPr>
        <p:spPr bwMode="auto">
          <a:xfrm>
            <a:off x="4419600"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empty slots</a:t>
            </a:r>
          </a:p>
        </p:txBody>
      </p:sp>
      <p:sp>
        <p:nvSpPr>
          <p:cNvPr id="7" name="Rectangular Callout 6"/>
          <p:cNvSpPr>
            <a:spLocks noChangeArrowheads="1"/>
          </p:cNvSpPr>
          <p:nvPr/>
        </p:nvSpPr>
        <p:spPr bwMode="auto">
          <a:xfrm>
            <a:off x="7296856"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full slots</a:t>
            </a:r>
          </a:p>
        </p:txBody>
      </p:sp>
      <p:sp>
        <p:nvSpPr>
          <p:cNvPr id="8" name="Rectangular Callout 7"/>
          <p:cNvSpPr>
            <a:spLocks noChangeArrowheads="1"/>
          </p:cNvSpPr>
          <p:nvPr/>
        </p:nvSpPr>
        <p:spPr bwMode="auto">
          <a:xfrm>
            <a:off x="7296856" y="2275260"/>
            <a:ext cx="1752600" cy="685800"/>
          </a:xfrm>
          <a:prstGeom prst="wedgeRectCallout">
            <a:avLst>
              <a:gd name="adj1" fmla="val -9741"/>
              <a:gd name="adj2" fmla="val -71653"/>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empty slots</a:t>
            </a:r>
          </a:p>
        </p:txBody>
      </p:sp>
      <p:sp>
        <p:nvSpPr>
          <p:cNvPr id="9" name="Rectangular Callout 8"/>
          <p:cNvSpPr>
            <a:spLocks noChangeArrowheads="1"/>
          </p:cNvSpPr>
          <p:nvPr/>
        </p:nvSpPr>
        <p:spPr bwMode="auto">
          <a:xfrm>
            <a:off x="4419600" y="2275260"/>
            <a:ext cx="1752600" cy="685800"/>
          </a:xfrm>
          <a:prstGeom prst="wedgeRectCallout">
            <a:avLst>
              <a:gd name="adj1" fmla="val -31397"/>
              <a:gd name="adj2" fmla="val -74945"/>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full slots</a:t>
            </a:r>
          </a:p>
        </p:txBody>
      </p:sp>
      <p:sp>
        <p:nvSpPr>
          <p:cNvPr id="10" name="Rectangle 3"/>
          <p:cNvSpPr txBox="1">
            <a:spLocks noChangeArrowheads="1"/>
          </p:cNvSpPr>
          <p:nvPr/>
        </p:nvSpPr>
        <p:spPr bwMode="auto">
          <a:xfrm>
            <a:off x="7296856" y="3134940"/>
            <a:ext cx="3763162" cy="35706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 uri="{FAA26D3D-D897-4be2-8F04-BA451C77F1D7}">
              <ma14:placeholderFlag xmlns:ma14="http://schemas.microsoft.com/office/mac/drawingml/2011/main" xmlns="" val="1"/>
            </a:ext>
          </a:extLst>
        </p:spPr>
        <p:txBody>
          <a:bodyPr lIns="90478" tIns="44445" rIns="90478" bIns="44445"/>
          <a:lstStyle>
            <a:lvl1pPr marL="285750" indent="-285750">
              <a:tabLst>
                <a:tab pos="801688" algn="l"/>
                <a:tab pos="1139825" algn="l"/>
                <a:tab pos="1541463" algn="l"/>
                <a:tab pos="4284663" algn="l"/>
              </a:tabLst>
              <a:defRPr sz="2400" b="1">
                <a:solidFill>
                  <a:schemeClr val="tx1"/>
                </a:solidFill>
                <a:latin typeface="Comic Sans MS" charset="0"/>
                <a:ea typeface="ＭＳ Ｐゴシック" charset="0"/>
                <a:cs typeface="ＭＳ Ｐゴシック" charset="0"/>
              </a:defRPr>
            </a:lvl1pPr>
            <a:lvl2pPr marL="742950" indent="-285750">
              <a:tabLst>
                <a:tab pos="801688" algn="l"/>
                <a:tab pos="1139825" algn="l"/>
                <a:tab pos="1541463" algn="l"/>
                <a:tab pos="4284663" algn="l"/>
              </a:tabLst>
              <a:defRPr sz="2400" b="1">
                <a:solidFill>
                  <a:schemeClr val="tx1"/>
                </a:solidFill>
                <a:latin typeface="Comic Sans MS" charset="0"/>
                <a:ea typeface="ＭＳ Ｐゴシック" charset="0"/>
              </a:defRPr>
            </a:lvl2pPr>
            <a:lvl3pPr marL="1143000" indent="-228600">
              <a:tabLst>
                <a:tab pos="801688" algn="l"/>
                <a:tab pos="1139825" algn="l"/>
                <a:tab pos="1541463" algn="l"/>
                <a:tab pos="4284663" algn="l"/>
              </a:tabLst>
              <a:defRPr sz="2400" b="1">
                <a:solidFill>
                  <a:schemeClr val="tx1"/>
                </a:solidFill>
                <a:latin typeface="Comic Sans MS" charset="0"/>
                <a:ea typeface="ＭＳ Ｐゴシック" charset="0"/>
              </a:defRPr>
            </a:lvl3pPr>
            <a:lvl4pPr marL="1600200" indent="-228600">
              <a:tabLst>
                <a:tab pos="801688" algn="l"/>
                <a:tab pos="1139825" algn="l"/>
                <a:tab pos="1541463" algn="l"/>
                <a:tab pos="4284663" algn="l"/>
              </a:tabLst>
              <a:defRPr sz="2400" b="1">
                <a:solidFill>
                  <a:schemeClr val="tx1"/>
                </a:solidFill>
                <a:latin typeface="Comic Sans MS" charset="0"/>
                <a:ea typeface="ＭＳ Ｐゴシック" charset="0"/>
              </a:defRPr>
            </a:lvl4pPr>
            <a:lvl5pPr marL="2057400" indent="-228600">
              <a:tabLst>
                <a:tab pos="801688" algn="l"/>
                <a:tab pos="1139825" algn="l"/>
                <a:tab pos="1541463" algn="l"/>
                <a:tab pos="428466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9pPr>
          </a:lstStyle>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//Incorrect code  </a:t>
            </a:r>
          </a:p>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  Producer(item)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Consumer()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item = dequeue();</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p>
        </p:txBody>
      </p:sp>
      <p:sp>
        <p:nvSpPr>
          <p:cNvPr id="5" name="Rectangle 3">
            <a:extLst>
              <a:ext uri="{FF2B5EF4-FFF2-40B4-BE49-F238E27FC236}">
                <a16:creationId xmlns:a16="http://schemas.microsoft.com/office/drawing/2014/main" id="{198A3FC5-8C9B-7875-7A01-C65118EBA833}"/>
              </a:ext>
            </a:extLst>
          </p:cNvPr>
          <p:cNvSpPr txBox="1">
            <a:spLocks noChangeArrowheads="1"/>
          </p:cNvSpPr>
          <p:nvPr/>
        </p:nvSpPr>
        <p:spPr bwMode="auto">
          <a:xfrm>
            <a:off x="310952" y="2961060"/>
            <a:ext cx="6851847" cy="374454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sz="2000" kern="0" dirty="0">
                <a:latin typeface="Gill Sans" panose="020B0502020104020203"/>
                <a:ea typeface="굴림" panose="020B0600000101010101" pitchFamily="34" charset="-127"/>
              </a:rPr>
              <a:t>Can we put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mutex outside of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a:t>
            </a:r>
          </a:p>
          <a:p>
            <a:r>
              <a:rPr lang="en-US" altLang="ko-KR" sz="2000" kern="0" dirty="0">
                <a:latin typeface="Gill Sans" panose="020B0502020104020203"/>
                <a:ea typeface="굴림" panose="020B0600000101010101" pitchFamily="34" charset="-127"/>
              </a:rPr>
              <a:t>No! This may cause deadlock. Suppose the queue is initially empty. Consumer enters the critical section,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and is blocked waiting for Producer to put items into the queue (since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 0)</a:t>
            </a:r>
            <a:r>
              <a:rPr lang="en-GB" altLang="ko-KR" sz="2000" kern="0" dirty="0">
                <a:latin typeface="Gill Sans" panose="020B0502020104020203"/>
                <a:ea typeface="굴림" panose="020B0600000101010101" pitchFamily="34" charset="-127"/>
              </a:rPr>
              <a:t>;</a:t>
            </a:r>
            <a:r>
              <a:rPr lang="en-US" altLang="ko-KR" sz="2000" kern="0" dirty="0">
                <a:latin typeface="Gill Sans" panose="020B0502020104020203"/>
                <a:ea typeface="굴림" panose="020B0600000101010101" pitchFamily="34" charset="-127"/>
              </a:rPr>
              <a:t> Producer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 and is blocked waiting to enter the critical section. But Consumer will never exit the critical section and call </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(&amp;mutex) to wake up Producer!</a:t>
            </a:r>
          </a:p>
          <a:p>
            <a:r>
              <a:rPr lang="en-US" altLang="ko-KR" sz="2000" kern="0" dirty="0">
                <a:latin typeface="Gill Sans" panose="020B0502020104020203"/>
                <a:ea typeface="굴림" panose="020B0600000101010101" pitchFamily="34" charset="-127"/>
              </a:rPr>
              <a:t>Similar deadlock situation when the queue is full (emptySlots = 0): Producer holds mutex and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Consumer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a:t>
            </a:r>
            <a:endParaRPr lang="ko-KR" altLang="en-US" sz="2000" kern="0" dirty="0">
              <a:latin typeface="Gill Sans" panose="020B0502020104020203"/>
              <a:ea typeface="굴림" panose="020B0600000101010101" pitchFamily="34" charset="-127"/>
            </a:endParaRPr>
          </a:p>
        </p:txBody>
      </p:sp>
      <p:sp>
        <p:nvSpPr>
          <p:cNvPr id="4" name="Arrow: Left 3">
            <a:extLst>
              <a:ext uri="{FF2B5EF4-FFF2-40B4-BE49-F238E27FC236}">
                <a16:creationId xmlns:a16="http://schemas.microsoft.com/office/drawing/2014/main" id="{8B716CC1-FCEF-9AEB-1D81-040AD282E2B5}"/>
              </a:ext>
            </a:extLst>
          </p:cNvPr>
          <p:cNvSpPr/>
          <p:nvPr/>
        </p:nvSpPr>
        <p:spPr bwMode="auto">
          <a:xfrm flipH="1">
            <a:off x="7162800" y="3920616"/>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1" name="Arrow: Left 10">
            <a:extLst>
              <a:ext uri="{FF2B5EF4-FFF2-40B4-BE49-F238E27FC236}">
                <a16:creationId xmlns:a16="http://schemas.microsoft.com/office/drawing/2014/main" id="{968C47D4-9F96-6BB9-85EE-B19C0748D082}"/>
              </a:ext>
            </a:extLst>
          </p:cNvPr>
          <p:cNvSpPr/>
          <p:nvPr/>
        </p:nvSpPr>
        <p:spPr bwMode="auto">
          <a:xfrm flipH="1">
            <a:off x="7162800" y="5257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2" name="Plassholder for lysbildenummer 5">
            <a:extLst>
              <a:ext uri="{FF2B5EF4-FFF2-40B4-BE49-F238E27FC236}">
                <a16:creationId xmlns:a16="http://schemas.microsoft.com/office/drawing/2014/main" id="{445A372E-8A16-7203-43A1-2597574A46A0}"/>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29</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271781229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592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592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659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53" presetClass="entr" presetSubtype="16"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p:cTn id="15" dur="500" fill="hold"/>
                                        <p:tgtEl>
                                          <p:spTgt spid="6"/>
                                        </p:tgtEl>
                                        <p:attrNameLst>
                                          <p:attrName>ppt_w</p:attrName>
                                        </p:attrNameLst>
                                      </p:cBhvr>
                                      <p:tavLst>
                                        <p:tav tm="0">
                                          <p:val>
                                            <p:fltVal val="0"/>
                                          </p:val>
                                        </p:tav>
                                        <p:tav tm="100000">
                                          <p:val>
                                            <p:strVal val="#ppt_w"/>
                                          </p:val>
                                        </p:tav>
                                      </p:tavLst>
                                    </p:anim>
                                    <p:anim calcmode="lin" valueType="num">
                                      <p:cBhvr>
                                        <p:cTn id="16" dur="500" fill="hold"/>
                                        <p:tgtEl>
                                          <p:spTgt spid="6"/>
                                        </p:tgtEl>
                                        <p:attrNameLst>
                                          <p:attrName>ppt_h</p:attrName>
                                        </p:attrNameLst>
                                      </p:cBhvr>
                                      <p:tavLst>
                                        <p:tav tm="0">
                                          <p:val>
                                            <p:fltVal val="0"/>
                                          </p:val>
                                        </p:tav>
                                        <p:tav tm="100000">
                                          <p:val>
                                            <p:strVal val="#ppt_h"/>
                                          </p:val>
                                        </p:tav>
                                      </p:tavLst>
                                    </p:anim>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500" fill="hold"/>
                                        <p:tgtEl>
                                          <p:spTgt spid="7"/>
                                        </p:tgtEl>
                                        <p:attrNameLst>
                                          <p:attrName>ppt_w</p:attrName>
                                        </p:attrNameLst>
                                      </p:cBhvr>
                                      <p:tavLst>
                                        <p:tav tm="0">
                                          <p:val>
                                            <p:fltVal val="0"/>
                                          </p:val>
                                        </p:tav>
                                        <p:tav tm="100000">
                                          <p:val>
                                            <p:strVal val="#ppt_w"/>
                                          </p:val>
                                        </p:tav>
                                      </p:tavLst>
                                    </p:anim>
                                    <p:anim calcmode="lin" valueType="num">
                                      <p:cBhvr>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500" fill="hold"/>
                                        <p:tgtEl>
                                          <p:spTgt spid="8"/>
                                        </p:tgtEl>
                                        <p:attrNameLst>
                                          <p:attrName>ppt_w</p:attrName>
                                        </p:attrNameLst>
                                      </p:cBhvr>
                                      <p:tavLst>
                                        <p:tav tm="0">
                                          <p:val>
                                            <p:fltVal val="0"/>
                                          </p:val>
                                        </p:tav>
                                        <p:tav tm="100000">
                                          <p:val>
                                            <p:strVal val="#ppt_w"/>
                                          </p:val>
                                        </p:tav>
                                      </p:tavLst>
                                    </p:anim>
                                    <p:anim calcmode="lin" valueType="num">
                                      <p:cBhvr>
                                        <p:cTn id="37" dur="500" fill="hold"/>
                                        <p:tgtEl>
                                          <p:spTgt spid="8"/>
                                        </p:tgtEl>
                                        <p:attrNameLst>
                                          <p:attrName>ppt_h</p:attrName>
                                        </p:attrNameLst>
                                      </p:cBhvr>
                                      <p:tavLst>
                                        <p:tav tm="0">
                                          <p:val>
                                            <p:fltVal val="0"/>
                                          </p:val>
                                        </p:tav>
                                        <p:tav tm="100000">
                                          <p:val>
                                            <p:strVal val="#ppt_h"/>
                                          </p:val>
                                        </p:tav>
                                      </p:tavLst>
                                    </p:anim>
                                    <p:animEffect transition="in" filter="fade">
                                      <p:cBhvr>
                                        <p:cTn id="38" dur="5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923" grpId="0" uiExpand="1" build="p" bldLvl="2"/>
      <p:bldP spid="6" grpId="0" animBg="1"/>
      <p:bldP spid="7" grpId="0" animBg="1"/>
      <p:bldP spid="8" grpId="0" animBg="1"/>
      <p:bldP spid="9" grpId="0" animBg="1"/>
      <p:bldP spid="5" grpId="0" uiExpand="1" build="p" bldLvl="2"/>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1"/>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1</a:t>
              </a:r>
              <a:endParaRPr lang="en-US" sz="14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2</a:t>
              </a:r>
              <a:endParaRPr lang="en-US" sz="14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dirty="0"/>
                <a:t>1</a:t>
              </a:r>
              <a:endParaRPr lang="en-US" sz="14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a:t>2</a:t>
              </a:r>
              <a:endParaRPr lang="en-US" altLang="zh-CN" sz="1400" dirty="0"/>
            </a:p>
          </p:txBody>
        </p:sp>
        <p:cxnSp>
          <p:nvCxnSpPr>
            <p:cNvPr id="10" name="曲线连接符 9">
              <a:extLst>
                <a:ext uri="{FF2B5EF4-FFF2-40B4-BE49-F238E27FC236}">
                  <a16:creationId xmlns:a16="http://schemas.microsoft.com/office/drawing/2014/main" id="{FE176D05-338C-AF67-D401-CD7057E28ED5}"/>
                </a:ext>
              </a:extLst>
            </p:cNvPr>
            <p:cNvCxnSpPr>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threads are said to be in a deadlock state when every thread in the set is waiting for an event that can be caused only by another thread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thread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Threads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threads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threads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thread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Tree>
    <p:extLst>
      <p:ext uri="{BB962C8B-B14F-4D97-AF65-F5344CB8AC3E}">
        <p14:creationId xmlns:p14="http://schemas.microsoft.com/office/powerpoint/2010/main" val="10215876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1676400" y="152400"/>
            <a:ext cx="8839200" cy="533400"/>
          </a:xfrm>
        </p:spPr>
        <p:txBody>
          <a:bodyPr/>
          <a:lstStyle/>
          <a:p>
            <a:r>
              <a:rPr lang="en-US" altLang="ko-KR">
                <a:ea typeface="굴림" panose="020B0600000101010101" pitchFamily="34" charset="-127"/>
              </a:rPr>
              <a:t>Monitors</a:t>
            </a:r>
            <a:endParaRPr lang="en-US" altLang="ko-KR" dirty="0">
              <a:ea typeface="굴림" panose="020B0600000101010101" pitchFamily="34" charset="-127"/>
            </a:endParaRPr>
          </a:p>
        </p:txBody>
      </p:sp>
      <p:sp>
        <p:nvSpPr>
          <p:cNvPr id="31747" name="Rectangle 3"/>
          <p:cNvSpPr>
            <a:spLocks noGrp="1" noChangeArrowheads="1"/>
          </p:cNvSpPr>
          <p:nvPr>
            <p:ph type="body" idx="1"/>
          </p:nvPr>
        </p:nvSpPr>
        <p:spPr>
          <a:xfrm>
            <a:off x="762000" y="762000"/>
            <a:ext cx="10591800" cy="5791200"/>
          </a:xfrm>
        </p:spPr>
        <p:txBody>
          <a:bodyPr>
            <a:normAutofit/>
          </a:bodyPr>
          <a:lstStyle/>
          <a:p>
            <a:r>
              <a:rPr lang="en-US" altLang="ko-KR" dirty="0">
                <a:ea typeface="굴림" panose="020B0600000101010101" pitchFamily="34" charset="-127"/>
              </a:rPr>
              <a:t>Semaphores are dual purpose, used for both mutex and scheduling constraints</a:t>
            </a:r>
          </a:p>
          <a:p>
            <a:r>
              <a:rPr lang="en-GB" altLang="ko-KR" dirty="0">
                <a:ea typeface="굴림" panose="020B0600000101010101" pitchFamily="34" charset="-127"/>
              </a:rPr>
              <a:t>Monitors provide a higher-level abstraction that encapsulates shared state and condition variables. </a:t>
            </a:r>
            <a:endParaRPr lang="en-US" altLang="ko-KR" dirty="0">
              <a:ea typeface="굴림" panose="020B0600000101010101" pitchFamily="34" charset="-127"/>
            </a:endParaRPr>
          </a:p>
          <a:p>
            <a:r>
              <a:rPr lang="en-US" altLang="ko-KR" dirty="0">
                <a:solidFill>
                  <a:schemeClr val="hlink"/>
                </a:solidFill>
                <a:ea typeface="굴림" panose="020B0600000101010101" pitchFamily="34" charset="-127"/>
              </a:rPr>
              <a:t>Monitor</a:t>
            </a:r>
            <a:r>
              <a:rPr lang="en-US" altLang="ko-KR" dirty="0">
                <a:ea typeface="굴림" panose="020B0600000101010101" pitchFamily="34" charset="-127"/>
              </a:rPr>
              <a:t>: a </a:t>
            </a:r>
            <a:r>
              <a:rPr lang="en-US" altLang="ko-KR" dirty="0">
                <a:solidFill>
                  <a:srgbClr val="FF0000"/>
                </a:solidFill>
                <a:ea typeface="굴림" panose="020B0600000101010101" pitchFamily="34" charset="-127"/>
              </a:rPr>
              <a:t>mutex lock</a:t>
            </a:r>
            <a:r>
              <a:rPr lang="en-US" altLang="ko-KR" dirty="0">
                <a:ea typeface="굴림" panose="020B0600000101010101" pitchFamily="34" charset="-127"/>
              </a:rPr>
              <a:t> and one or more </a:t>
            </a:r>
            <a:r>
              <a:rPr lang="en-US" altLang="ko-KR" dirty="0">
                <a:solidFill>
                  <a:srgbClr val="FF0000"/>
                </a:solidFill>
                <a:ea typeface="굴림" panose="020B0600000101010101" pitchFamily="34" charset="-127"/>
              </a:rPr>
              <a:t>condition variables </a:t>
            </a:r>
            <a:r>
              <a:rPr lang="en-US" altLang="ko-KR" dirty="0">
                <a:ea typeface="굴림" panose="020B0600000101010101" pitchFamily="34" charset="-127"/>
              </a:rPr>
              <a:t>for managing concurrent access to shared data</a:t>
            </a:r>
          </a:p>
          <a:p>
            <a:pPr lvl="1"/>
            <a:r>
              <a:rPr lang="en-GB" altLang="ko-KR" dirty="0">
                <a:ea typeface="굴림" panose="020B0600000101010101" pitchFamily="34" charset="-127"/>
              </a:rPr>
              <a:t>A paradigm for concurrent programming</a:t>
            </a:r>
          </a:p>
          <a:p>
            <a:pPr lvl="1"/>
            <a:r>
              <a:rPr lang="en-GB" altLang="ko-KR" dirty="0">
                <a:ea typeface="굴림" panose="020B0600000101010101" pitchFamily="34" charset="-127"/>
              </a:rPr>
              <a:t>Use lock for mutual exclusion and condition variables for scheduling constraints. (Must hold lock when doing condition operations!)</a:t>
            </a:r>
            <a:endParaRPr lang="en-US" altLang="ko-KR" dirty="0">
              <a:ea typeface="굴림" panose="020B0600000101010101" pitchFamily="34" charset="-127"/>
            </a:endParaRPr>
          </a:p>
          <a:p>
            <a:pPr lvl="1"/>
            <a:r>
              <a:rPr lang="en-US" altLang="ko-KR" dirty="0">
                <a:ea typeface="굴림" panose="020B0600000101010101" pitchFamily="34" charset="-127"/>
              </a:rPr>
              <a:t>Java supports monitors natively</a:t>
            </a:r>
          </a:p>
        </p:txBody>
      </p:sp>
    </p:spTree>
    <p:extLst>
      <p:ext uri="{BB962C8B-B14F-4D97-AF65-F5344CB8AC3E}">
        <p14:creationId xmlns:p14="http://schemas.microsoft.com/office/powerpoint/2010/main" val="363378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74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ko-KR" altLang="en-US" dirty="0">
                <a:ea typeface="굴림" panose="020B0600000101010101" pitchFamily="34" charset="-127"/>
              </a:rPr>
              <a:t>Monitor with</a:t>
            </a:r>
            <a:r>
              <a:rPr lang="en-US" altLang="ko-KR" dirty="0">
                <a:ea typeface="굴림" panose="020B0600000101010101" pitchFamily="34" charset="-127"/>
              </a:rPr>
              <a:t> Condition Variables (CV)</a:t>
            </a:r>
          </a:p>
        </p:txBody>
      </p:sp>
      <p:sp>
        <p:nvSpPr>
          <p:cNvPr id="466948" name="Rectangle 4"/>
          <p:cNvSpPr>
            <a:spLocks noGrp="1" noChangeArrowheads="1"/>
          </p:cNvSpPr>
          <p:nvPr>
            <p:ph type="body" idx="1"/>
          </p:nvPr>
        </p:nvSpPr>
        <p:spPr>
          <a:xfrm>
            <a:off x="533400" y="787400"/>
            <a:ext cx="10896600" cy="6070600"/>
          </a:xfrm>
        </p:spPr>
        <p:txBody>
          <a:bodyPr>
            <a:normAutofit fontScale="77500" lnSpcReduction="20000"/>
          </a:bodyPr>
          <a:lstStyle/>
          <a:p>
            <a:pPr>
              <a:lnSpc>
                <a:spcPct val="85000"/>
              </a:lnSpc>
              <a:spcBef>
                <a:spcPct val="20000"/>
              </a:spcBef>
            </a:pPr>
            <a:r>
              <a:rPr lang="en-US" altLang="ko-KR" dirty="0" err="1">
                <a:solidFill>
                  <a:srgbClr val="FF0000"/>
                </a:solidFill>
                <a:ea typeface="굴림" panose="020B0600000101010101" pitchFamily="34" charset="-127"/>
              </a:rPr>
              <a:t>pthread_mutex_t</a:t>
            </a:r>
            <a:r>
              <a:rPr lang="en-US" altLang="ko-KR" dirty="0">
                <a:solidFill>
                  <a:srgbClr val="FF0000"/>
                </a:solidFill>
                <a:ea typeface="굴림" panose="020B0600000101010101" pitchFamily="34" charset="-127"/>
              </a:rPr>
              <a:t> mutex: </a:t>
            </a:r>
            <a:r>
              <a:rPr lang="en-US" altLang="ko-KR" dirty="0">
                <a:ea typeface="굴림" panose="020B0600000101010101" pitchFamily="34" charset="-127"/>
              </a:rPr>
              <a:t>a mutex lock</a:t>
            </a:r>
          </a:p>
          <a:p>
            <a:pPr lvl="1">
              <a:lnSpc>
                <a:spcPct val="85000"/>
              </a:lnSpc>
              <a:spcBef>
                <a:spcPct val="20000"/>
              </a:spcBef>
            </a:pPr>
            <a:r>
              <a:rPr lang="en-US" altLang="ko-KR" dirty="0">
                <a:ea typeface="굴림" panose="020B0600000101010101" pitchFamily="34" charset="-127"/>
              </a:rPr>
              <a:t>Provides mutual exclusion to critical section</a:t>
            </a:r>
          </a:p>
          <a:p>
            <a:pPr lvl="1">
              <a:lnSpc>
                <a:spcPct val="85000"/>
              </a:lnSpc>
              <a:spcBef>
                <a:spcPct val="20000"/>
              </a:spcBef>
            </a:pPr>
            <a:r>
              <a:rPr lang="en-US" altLang="ko-KR" dirty="0">
                <a:ea typeface="굴림" panose="020B0600000101010101" pitchFamily="34" charset="-127"/>
              </a:rPr>
              <a:t>Acquire before entering, release upon exiting critical section</a:t>
            </a:r>
          </a:p>
          <a:p>
            <a:pPr>
              <a:lnSpc>
                <a:spcPct val="85000"/>
              </a:lnSpc>
              <a:spcBef>
                <a:spcPct val="20000"/>
              </a:spcBef>
            </a:pPr>
            <a:r>
              <a:rPr lang="en-US" altLang="ko-KR" dirty="0" err="1">
                <a:solidFill>
                  <a:srgbClr val="FF0000"/>
                </a:solidFill>
                <a:ea typeface="굴림" panose="020B0600000101010101" pitchFamily="34" charset="-127"/>
              </a:rPr>
              <a:t>pthread_cond_t</a:t>
            </a:r>
            <a:r>
              <a:rPr lang="en-US" altLang="ko-KR" dirty="0">
                <a:solidFill>
                  <a:srgbClr val="FF0000"/>
                </a:solidFill>
                <a:ea typeface="굴림" panose="020B0600000101010101" pitchFamily="34" charset="-127"/>
              </a:rPr>
              <a:t> </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one or more condition variables:</a:t>
            </a:r>
          </a:p>
          <a:p>
            <a:pPr lvl="1">
              <a:lnSpc>
                <a:spcPct val="85000"/>
              </a:lnSpc>
              <a:spcBef>
                <a:spcPct val="20000"/>
              </a:spcBef>
            </a:pPr>
            <a:r>
              <a:rPr lang="en-US" altLang="ko-KR" dirty="0">
                <a:ea typeface="굴림" panose="020B0600000101010101" pitchFamily="34" charset="-127"/>
              </a:rPr>
              <a:t>For each condition variable, a queue of threads may be </a:t>
            </a:r>
            <a:r>
              <a:rPr lang="en-US" altLang="ko-KR" dirty="0">
                <a:solidFill>
                  <a:srgbClr val="FF0000"/>
                </a:solidFill>
                <a:ea typeface="굴림" panose="020B0600000101010101" pitchFamily="34" charset="-127"/>
              </a:rPr>
              <a:t>waiting for it to be signaled </a:t>
            </a:r>
            <a:r>
              <a:rPr lang="en-US" altLang="ko-KR" i="1" dirty="0">
                <a:solidFill>
                  <a:srgbClr val="FF0000"/>
                </a:solidFill>
                <a:ea typeface="굴림" panose="020B0600000101010101" pitchFamily="34" charset="-127"/>
              </a:rPr>
              <a:t>inside </a:t>
            </a:r>
            <a:r>
              <a:rPr lang="en-US" altLang="ko-KR" dirty="0">
                <a:solidFill>
                  <a:srgbClr val="FF0000"/>
                </a:solidFill>
                <a:ea typeface="굴림" panose="020B0600000101010101" pitchFamily="34" charset="-127"/>
              </a:rPr>
              <a:t>the critical section.</a:t>
            </a:r>
            <a:r>
              <a:rPr lang="en-US" altLang="ko-KR" dirty="0">
                <a:ea typeface="굴림" panose="020B0600000101010101" pitchFamily="34" charset="-127"/>
              </a:rPr>
              <a:t> </a:t>
            </a:r>
          </a:p>
          <a:p>
            <a:pPr lvl="2">
              <a:lnSpc>
                <a:spcPct val="85000"/>
              </a:lnSpc>
              <a:spcBef>
                <a:spcPct val="20000"/>
              </a:spcBef>
            </a:pPr>
            <a:r>
              <a:rPr lang="en-US" altLang="ko-KR" dirty="0">
                <a:ea typeface="굴림" panose="020B0600000101010101" pitchFamily="34" charset="-127"/>
              </a:rPr>
              <a:t>Key idea: allow threads to wait on a condition variable (sleeping) inside the  critical section, since the mutex lock is released (implicitly) when a thread goes to sleep</a:t>
            </a:r>
          </a:p>
          <a:p>
            <a:pPr lvl="2">
              <a:lnSpc>
                <a:spcPct val="85000"/>
              </a:lnSpc>
              <a:spcBef>
                <a:spcPct val="20000"/>
              </a:spcBef>
            </a:pPr>
            <a:r>
              <a:rPr lang="en-US" altLang="ko-KR" dirty="0">
                <a:ea typeface="굴림" panose="020B0600000101010101" pitchFamily="34" charset="-127"/>
              </a:rPr>
              <a:t>Contrast with semaphores: cannot wait on a semaphore inside critical section, otherwise it can lead to a deadlock since the mutex lock is still held</a:t>
            </a:r>
          </a:p>
          <a:p>
            <a:pPr lvl="1">
              <a:lnSpc>
                <a:spcPct val="85000"/>
              </a:lnSpc>
              <a:spcBef>
                <a:spcPct val="20000"/>
              </a:spcBef>
            </a:pPr>
            <a:r>
              <a:rPr lang="en-US" altLang="ko-KR" dirty="0">
                <a:ea typeface="굴림" panose="020B0600000101010101" pitchFamily="34" charset="-127"/>
              </a:rPr>
              <a:t>There may be an entry queue of threads waiting on the lock </a:t>
            </a:r>
            <a:r>
              <a:rPr lang="en-US" altLang="ko-KR" i="1" dirty="0">
                <a:ea typeface="굴림" panose="020B0600000101010101" pitchFamily="34" charset="-127"/>
              </a:rPr>
              <a:t>outside of</a:t>
            </a:r>
            <a:r>
              <a:rPr lang="en-US" altLang="ko-KR" dirty="0">
                <a:ea typeface="굴림" panose="020B0600000101010101" pitchFamily="34" charset="-127"/>
              </a:rPr>
              <a:t> the critical section</a:t>
            </a:r>
          </a:p>
          <a:p>
            <a:pPr>
              <a:lnSpc>
                <a:spcPct val="85000"/>
              </a:lnSpc>
              <a:spcBef>
                <a:spcPct val="20000"/>
              </a:spcBef>
            </a:pPr>
            <a:r>
              <a:rPr lang="en-US" altLang="ko-KR" dirty="0">
                <a:ea typeface="굴림" panose="020B0600000101010101" pitchFamily="34" charset="-127"/>
              </a:rPr>
              <a:t>Condition operations:</a:t>
            </a:r>
          </a:p>
          <a:p>
            <a:pPr lvl="1">
              <a:lnSpc>
                <a:spcPct val="85000"/>
              </a:lnSpc>
              <a:spcBef>
                <a:spcPct val="20000"/>
              </a:spcBef>
            </a:pPr>
            <a:r>
              <a:rPr lang="en-GB" altLang="ko-KR" dirty="0" err="1">
                <a:solidFill>
                  <a:srgbClr val="FF0000"/>
                </a:solidFill>
                <a:ea typeface="Consolas" charset="0"/>
                <a:cs typeface="Consolas" charset="0"/>
              </a:rPr>
              <a:t>pthread_cond_wait</a:t>
            </a:r>
            <a:r>
              <a:rPr lang="en-GB" altLang="ko-KR" dirty="0">
                <a:solidFill>
                  <a:srgbClr val="FF0000"/>
                </a:solidFill>
                <a:ea typeface="Consolas" charset="0"/>
                <a:cs typeface="Consolas" charset="0"/>
              </a:rPr>
              <a:t>(&amp;cond, &amp;mutex): </a:t>
            </a:r>
            <a:r>
              <a:rPr lang="en-GB" altLang="ko-KR" dirty="0">
                <a:ea typeface="Consolas" charset="0"/>
                <a:cs typeface="Consolas" charset="0"/>
              </a:rPr>
              <a:t>it releases the mutex lock temporarily and enters the monitor's wait queue to go to sleep. This allows other threads to acquire the lock and proceed with their tasks. When the waiting/sleeping thread is </a:t>
            </a:r>
            <a:r>
              <a:rPr lang="en-GB" altLang="ko-KR" dirty="0" err="1">
                <a:ea typeface="Consolas" charset="0"/>
                <a:cs typeface="Consolas" charset="0"/>
              </a:rPr>
              <a:t>signaled</a:t>
            </a:r>
            <a:r>
              <a:rPr lang="en-GB" altLang="ko-KR" dirty="0">
                <a:ea typeface="Consolas" charset="0"/>
                <a:cs typeface="Consolas" charset="0"/>
              </a:rPr>
              <a:t>, it re-acquires the lock before resuming execution.</a:t>
            </a:r>
          </a:p>
          <a:p>
            <a:pPr lvl="1">
              <a:lnSpc>
                <a:spcPct val="85000"/>
              </a:lnSpc>
              <a:spcBef>
                <a:spcPct val="20000"/>
              </a:spcBef>
            </a:pPr>
            <a:r>
              <a:rPr lang="en-GB" altLang="ko-KR" dirty="0" err="1">
                <a:solidFill>
                  <a:srgbClr val="FF0000"/>
                </a:solidFill>
                <a:ea typeface="Consolas" charset="0"/>
                <a:cs typeface="Consolas" charset="0"/>
              </a:rPr>
              <a:t>pthread_cond_signal</a:t>
            </a:r>
            <a:r>
              <a:rPr lang="en-GB" altLang="ko-KR" dirty="0">
                <a:solidFill>
                  <a:srgbClr val="FF0000"/>
                </a:solidFill>
                <a:ea typeface="Consolas" charset="0"/>
                <a:cs typeface="Consolas" charset="0"/>
              </a:rPr>
              <a:t>(&amp;cond): </a:t>
            </a:r>
            <a:r>
              <a:rPr lang="en-US" altLang="ko-KR" dirty="0">
                <a:ea typeface="굴림" panose="020B0600000101010101" pitchFamily="34" charset="-127"/>
              </a:rPr>
              <a:t>Wake up one waiter, if any (if no waiter thread, then the signal is lost/has no effect)</a:t>
            </a:r>
          </a:p>
          <a:p>
            <a:pPr lvl="1">
              <a:lnSpc>
                <a:spcPct val="85000"/>
              </a:lnSpc>
              <a:spcBef>
                <a:spcPct val="20000"/>
              </a:spcBef>
            </a:pPr>
            <a:r>
              <a:rPr lang="en-US" altLang="ko-KR" dirty="0" err="1">
                <a:solidFill>
                  <a:srgbClr val="FF0000"/>
                </a:solidFill>
                <a:ea typeface="굴림" panose="020B0600000101010101" pitchFamily="34" charset="-127"/>
              </a:rPr>
              <a:t>pthread_cond_broadcast</a:t>
            </a:r>
            <a:r>
              <a:rPr lang="en-US" altLang="ko-KR" dirty="0">
                <a:solidFill>
                  <a:srgbClr val="FF0000"/>
                </a:solidFill>
                <a:ea typeface="굴림" panose="020B0600000101010101" pitchFamily="34" charset="-127"/>
              </a:rPr>
              <a:t>(&amp;</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Wake up all waiters</a:t>
            </a:r>
            <a:r>
              <a:rPr lang="en-US" altLang="ko-KR" dirty="0">
                <a:ea typeface="Consolas" charset="0"/>
                <a:cs typeface="Consolas" charset="0"/>
              </a:rPr>
              <a:t/>
            </a:r>
            <a:r>
              <a:rPr lang="en-US" altLang="ko-KR" dirty="0">
                <a:ea typeface="굴림" panose="020B0600000101010101" pitchFamily="34" charset="-127"/>
              </a:rPr>
              <a:t> (if no waiter thread, then the signal is lost/has no effect)</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7F42EF05-BDB6-4DC9-B157-B2951B9E0B40}"/>
                  </a:ext>
                </a:extLst>
              </p14:cNvPr>
              <p14:cNvContentPartPr/>
              <p14:nvPr/>
            </p14:nvContentPartPr>
            <p14:xfrm>
              <a:off x="6171975" y="3695505"/>
              <a:ext cx="360" cy="360"/>
            </p14:xfrm>
          </p:contentPart>
        </mc:Choice>
        <mc:Fallback xmlns="">
          <p:pic>
            <p:nvPicPr>
              <p:cNvPr id="2" name="Ink 1">
                <a:extLst>
                  <a:ext uri="{FF2B5EF4-FFF2-40B4-BE49-F238E27FC236}">
                    <a16:creationId xmlns:a16="http://schemas.microsoft.com/office/drawing/2014/main" id="{7F42EF05-BDB6-4DC9-B157-B2951B9E0B40}"/>
                  </a:ext>
                </a:extLst>
              </p:cNvPr>
              <p:cNvPicPr/>
              <p:nvPr/>
            </p:nvPicPr>
            <p:blipFill>
              <a:blip r:embed="rId4"/>
              <a:stretch>
                <a:fillRect/>
              </a:stretch>
            </p:blipFill>
            <p:spPr>
              <a:xfrm>
                <a:off x="6163335" y="3686505"/>
                <a:ext cx="18000" cy="18000"/>
              </a:xfrm>
              <a:prstGeom prst="rect">
                <a:avLst/>
              </a:prstGeom>
            </p:spPr>
          </p:pic>
        </mc:Fallback>
      </mc:AlternateContent>
    </p:spTree>
    <p:extLst>
      <p:ext uri="{BB962C8B-B14F-4D97-AF65-F5344CB8AC3E}">
        <p14:creationId xmlns:p14="http://schemas.microsoft.com/office/powerpoint/2010/main" val="8242644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6948">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6948">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66948">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694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4A1DA-5EDD-0B7C-9176-B2038BB266CF}"/>
              </a:ext>
            </a:extLst>
          </p:cNvPr>
          <p:cNvSpPr>
            <a:spLocks noGrp="1"/>
          </p:cNvSpPr>
          <p:nvPr>
            <p:ph type="title"/>
          </p:nvPr>
        </p:nvSpPr>
        <p:spPr/>
        <p:txBody>
          <a:bodyPr/>
          <a:lstStyle/>
          <a:p>
            <a:r>
              <a:rPr lang="en-GB" dirty="0"/>
              <a:t>Monitor Structure</a:t>
            </a:r>
            <a:endParaRPr lang="en-SE" dirty="0"/>
          </a:p>
        </p:txBody>
      </p:sp>
      <p:sp>
        <p:nvSpPr>
          <p:cNvPr id="3" name="Content Placeholder 2">
            <a:extLst>
              <a:ext uri="{FF2B5EF4-FFF2-40B4-BE49-F238E27FC236}">
                <a16:creationId xmlns:a16="http://schemas.microsoft.com/office/drawing/2014/main" id="{9E17B4BA-4168-2377-FCDD-C51640115F9A}"/>
              </a:ext>
            </a:extLst>
          </p:cNvPr>
          <p:cNvSpPr>
            <a:spLocks noGrp="1"/>
          </p:cNvSpPr>
          <p:nvPr>
            <p:ph idx="1"/>
          </p:nvPr>
        </p:nvSpPr>
        <p:spPr/>
        <p:txBody>
          <a:bodyPr/>
          <a:lstStyle/>
          <a:p>
            <a:endParaRPr lang="en-SE"/>
          </a:p>
        </p:txBody>
      </p:sp>
      <p:pic>
        <p:nvPicPr>
          <p:cNvPr id="32772" name="Picture 3"/>
          <p:cNvPicPr>
            <a:picLocks noChangeAspect="1" noChangeArrowheads="1"/>
          </p:cNvPicPr>
          <p:nvPr/>
        </p:nvPicPr>
        <p:blipFill>
          <a:blip r:embed="rId2" cstate="email">
            <a:extLst>
              <a:ext uri="{28A0092B-C50C-407E-A947-70E740481C1C}">
                <a14:useLocalDpi xmlns:a14="http://schemas.microsoft.com/office/drawing/2010/main" val="0"/>
              </a:ext>
            </a:extLst>
          </a:blip>
          <a:srcRect l="424" t="4802" r="1059" b="4802"/>
          <a:stretch>
            <a:fillRect/>
          </a:stretch>
        </p:blipFill>
        <p:spPr bwMode="auto">
          <a:xfrm>
            <a:off x="914400" y="1066800"/>
            <a:ext cx="10799626" cy="5325842"/>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686720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27864-83E1-455D-6D78-F66FD2F3F64F}"/>
              </a:ext>
            </a:extLst>
          </p:cNvPr>
          <p:cNvSpPr>
            <a:spLocks noGrp="1"/>
          </p:cNvSpPr>
          <p:nvPr>
            <p:ph type="title"/>
          </p:nvPr>
        </p:nvSpPr>
        <p:spPr/>
        <p:txBody>
          <a:bodyPr/>
          <a:lstStyle/>
          <a:p>
            <a:r>
              <a:rPr lang="en-GB" dirty="0"/>
              <a:t>CV Common Usage Pattern</a:t>
            </a:r>
            <a:endParaRPr lang="en-SE" dirty="0"/>
          </a:p>
        </p:txBody>
      </p:sp>
      <p:sp>
        <p:nvSpPr>
          <p:cNvPr id="4" name="Plassholder for innhold 2">
            <a:extLst>
              <a:ext uri="{FF2B5EF4-FFF2-40B4-BE49-F238E27FC236}">
                <a16:creationId xmlns:a16="http://schemas.microsoft.com/office/drawing/2014/main" id="{FC094DBA-F9D4-158C-3D84-69D4D44004E3}"/>
              </a:ext>
            </a:extLst>
          </p:cNvPr>
          <p:cNvSpPr txBox="1">
            <a:spLocks/>
          </p:cNvSpPr>
          <p:nvPr/>
        </p:nvSpPr>
        <p:spPr bwMode="auto">
          <a:xfrm>
            <a:off x="533400" y="762000"/>
            <a:ext cx="10337800" cy="5943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mutex = PTHREAD_MUTEX_INITIALIZER;</a:t>
            </a:r>
          </a:p>
          <a:p>
            <a:pPr marL="0" indent="0">
              <a:buFontTx/>
              <a:buNone/>
            </a:pPr>
            <a:r>
              <a:rPr lang="en-US" altLang="zh-CN" sz="1800" b="0" kern="0" dirty="0" err="1">
                <a:latin typeface="Courier New" panose="02070309020205020404" pitchFamily="49" charset="0"/>
                <a:cs typeface="Courier New" panose="02070309020205020404" pitchFamily="49" charset="0"/>
              </a:rPr>
              <a:t>pthread_cond_t</a:t>
            </a: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 PTHREAD_COND_INITIALIZER;</a:t>
            </a:r>
          </a:p>
          <a:p>
            <a:pPr marL="0" indent="0">
              <a:buFontTx/>
              <a:buNone/>
            </a:pPr>
            <a:r>
              <a:rPr lang="en-US" altLang="zh-CN" sz="1800" b="0" kern="0" dirty="0">
                <a:latin typeface="Courier New" panose="02070309020205020404" pitchFamily="49" charset="0"/>
                <a:cs typeface="Courier New" panose="02070309020205020404" pitchFamily="49" charset="0"/>
              </a:rPr>
              <a:t>bool flag; //Initialization value is application-specific, hence omitted here</a:t>
            </a:r>
          </a:p>
          <a:p>
            <a:pPr marL="0" indent="0">
              <a:buFontTx/>
              <a:buNone/>
            </a:pPr>
            <a:r>
              <a:rPr lang="en-US" altLang="zh-CN" sz="1800" b="0" kern="0" dirty="0">
                <a:latin typeface="Courier New" panose="02070309020205020404" pitchFamily="49" charset="0"/>
                <a:cs typeface="Courier New" panose="02070309020205020404" pitchFamily="49" charset="0"/>
              </a:rPr>
              <a:t>// Signaler thread</a:t>
            </a:r>
          </a:p>
          <a:p>
            <a:pPr marL="0" indent="0">
              <a:buFontTx/>
              <a:buNone/>
            </a:pPr>
            <a:r>
              <a:rPr lang="en-US" altLang="zh-CN" sz="1800" b="0" kern="0" dirty="0">
                <a:latin typeface="Courier New" panose="02070309020205020404" pitchFamily="49" charset="0"/>
                <a:cs typeface="Courier New" panose="02070309020205020404" pitchFamily="49" charset="0"/>
              </a:rPr>
              <a:t>Signaler(){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err="1">
                <a:latin typeface="Courier New" panose="02070309020205020404" pitchFamily="49" charset="0"/>
                <a:cs typeface="Courier New" panose="02070309020205020404" pitchFamily="49" charset="0"/>
              </a:rPr>
              <a:t>update_flag</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Set flag = true</a:t>
            </a:r>
          </a:p>
          <a:p>
            <a:pPr marL="400050" lvl="1" indent="0">
              <a:buNone/>
            </a:pPr>
            <a:r>
              <a:rPr lang="en-US" altLang="zh-CN" sz="1800" b="0" kern="0" dirty="0">
                <a:latin typeface="Courier New" panose="02070309020205020404" pitchFamily="49" charset="0"/>
                <a:cs typeface="Courier New" panose="02070309020205020404" pitchFamily="49" charset="0"/>
              </a:rPr>
              <a:t>//Either signal 1 thread, or broadcast to all threads, but not both</a:t>
            </a:r>
          </a:p>
          <a:p>
            <a:pPr marL="400050" lvl="1" indent="0">
              <a:buNone/>
            </a:pPr>
            <a:r>
              <a:rPr lang="en-US" altLang="zh-CN" sz="1800" b="0" kern="0" dirty="0" err="1">
                <a:latin typeface="Courier New" panose="02070309020205020404" pitchFamily="49" charset="0"/>
                <a:cs typeface="Courier New" panose="02070309020205020404" pitchFamily="49" charset="0"/>
              </a:rPr>
              <a:t>pthread_cond_signal</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Must be used in combination with </a:t>
            </a:r>
            <a:r>
              <a:rPr lang="en-US" altLang="zh-CN" sz="1800" b="0" kern="0" dirty="0" err="1">
                <a:solidFill>
                  <a:srgbClr val="FF0000"/>
                </a:solidFill>
                <a:latin typeface="Courier New" panose="02070309020205020404" pitchFamily="49" charset="0"/>
                <a:cs typeface="Courier New" panose="02070309020205020404" pitchFamily="49" charset="0"/>
              </a:rPr>
              <a:t>update_flag</a:t>
            </a:r>
            <a:r>
              <a:rPr lang="en-US" altLang="zh-CN" sz="1800" b="0" kern="0">
                <a:solidFill>
                  <a:srgbClr val="FF0000"/>
                </a:solidFill>
                <a:latin typeface="Courier New" panose="02070309020205020404" pitchFamily="49" charset="0"/>
                <a:cs typeface="Courier New" panose="02070309020205020404" pitchFamily="49" charset="0"/>
              </a:rPr>
              <a:t>()</a:t>
            </a:r>
            <a:endParaRPr lang="en-US" altLang="zh-CN" sz="1800" b="0" kern="0" dirty="0">
              <a:solidFill>
                <a:srgbClr val="FF0000"/>
              </a:solidFill>
              <a:latin typeface="Courier New" panose="02070309020205020404" pitchFamily="49" charset="0"/>
              <a:cs typeface="Courier New" panose="02070309020205020404" pitchFamily="49" charset="0"/>
            </a:endParaRP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US" altLang="zh-CN" sz="1800" b="0" kern="0" dirty="0" err="1">
                <a:latin typeface="Courier New" panose="02070309020205020404" pitchFamily="49" charset="0"/>
                <a:cs typeface="Courier New" panose="02070309020205020404" pitchFamily="49" charset="0"/>
              </a:rPr>
              <a:t>pthread_cond_broadcast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None/>
            </a:pPr>
            <a:r>
              <a:rPr lang="en-US" altLang="zh-CN" sz="1800" b="0" kern="0" dirty="0">
                <a:latin typeface="Courier New" panose="02070309020205020404" pitchFamily="49" charset="0"/>
                <a:cs typeface="Courier New" panose="02070309020205020404" pitchFamily="49" charset="0"/>
              </a:rPr>
              <a:t>// Waiter thread</a:t>
            </a:r>
          </a:p>
          <a:p>
            <a:pPr marL="0" indent="0">
              <a:buNone/>
            </a:pPr>
            <a:r>
              <a:rPr lang="en-US" altLang="zh-CN" sz="1800" b="0" kern="0" dirty="0">
                <a:latin typeface="Courier New" panose="02070309020205020404" pitchFamily="49" charset="0"/>
                <a:cs typeface="Courier New" panose="02070309020205020404" pitchFamily="49" charset="0"/>
              </a:rPr>
              <a:t>Waiter(){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a:t>
            </a:r>
            <a:r>
              <a:rPr lang="en-GB" altLang="zh-CN" sz="1800" b="0" kern="0" dirty="0">
                <a:solidFill>
                  <a:srgbClr val="FF0000"/>
                </a:solidFill>
                <a:latin typeface="Courier New" panose="02070309020205020404" pitchFamily="49" charset="0"/>
                <a:cs typeface="Courier New" panose="02070309020205020404" pitchFamily="49" charset="0"/>
              </a:rPr>
              <a:t>Thread goes to sleep during waiting; </a:t>
            </a:r>
            <a:r>
              <a:rPr lang="en-US" altLang="zh-CN" sz="1800" b="0" kern="0" dirty="0">
                <a:solidFill>
                  <a:srgbClr val="FF0000"/>
                </a:solidFill>
                <a:latin typeface="Courier New" panose="02070309020205020404" pitchFamily="49" charset="0"/>
                <a:cs typeface="Courier New" panose="02070309020205020404" pitchFamily="49" charset="0"/>
              </a:rPr>
              <a:t>the mutex lock is released (implicitly) when it goes to sleep</a:t>
            </a:r>
          </a:p>
          <a:p>
            <a:pPr marL="400050" lvl="1" indent="0">
              <a:buNone/>
            </a:pPr>
            <a:r>
              <a:rPr lang="en-US" altLang="zh-CN" sz="1800" b="0" kern="0" dirty="0">
                <a:latin typeface="Courier New" panose="02070309020205020404" pitchFamily="49" charset="0"/>
                <a:cs typeface="Courier New" panose="02070309020205020404" pitchFamily="49" charset="0"/>
              </a:rPr>
              <a:t>while (!flag){</a:t>
            </a:r>
            <a:r>
              <a:rPr lang="en-US" altLang="zh-CN" sz="1800" b="0" kern="0" dirty="0" err="1">
                <a:latin typeface="Courier New" panose="02070309020205020404" pitchFamily="49" charset="0"/>
                <a:cs typeface="Courier New" panose="02070309020205020404" pitchFamily="49" charset="0"/>
              </a:rPr>
              <a:t>pthread_cond_wait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&amp;mutex);} </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//When the waiting/sleeping thread is signaled, it re-acquires the lock before resuming execution. Now flag = true, so it will exit the while(!flag) loop and go to next line</a:t>
            </a:r>
          </a:p>
          <a:p>
            <a:pPr marL="400050" lvl="1" indent="0">
              <a:buNone/>
            </a:pPr>
            <a:r>
              <a:rPr lang="en-US" altLang="zh-CN" sz="1800" b="0" kern="0" dirty="0">
                <a:latin typeface="Courier New" panose="02070309020205020404" pitchFamily="49" charset="0"/>
                <a:cs typeface="Courier New" panose="02070309020205020404" pitchFamily="49" charset="0"/>
              </a:rPr>
              <a:t>// Process data</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1872775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6FB968-B554-4E4F-8A65-879E107A4083}"/>
              </a:ext>
            </a:extLst>
          </p:cNvPr>
          <p:cNvSpPr txBox="1">
            <a:spLocks noChangeArrowheads="1"/>
          </p:cNvSpPr>
          <p:nvPr/>
        </p:nvSpPr>
        <p:spPr>
          <a:xfrm>
            <a:off x="1524001" y="685799"/>
            <a:ext cx="8673267" cy="1034427"/>
          </a:xfrm>
          <a:prstGeom prst="rect">
            <a:avLst/>
          </a:prstGeom>
          <a:ln>
            <a:solidFill>
              <a:schemeClr val="accent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20000"/>
              </a:lnSpc>
              <a:spcBef>
                <a:spcPts val="0"/>
              </a:spcBef>
              <a:buNone/>
              <a:tabLst>
                <a:tab pos="801688" algn="l"/>
                <a:tab pos="1139825" algn="l"/>
                <a:tab pos="1541463" algn="l"/>
                <a:tab pos="4284663" algn="l"/>
              </a:tabLst>
            </a:pPr>
            <a:r>
              <a:rPr lang="en-GB" altLang="ko-KR" sz="2400" b="0" dirty="0" err="1">
                <a:latin typeface="Courier New" panose="02070309020205020404" pitchFamily="49" charset="0"/>
                <a:ea typeface="굴림" charset="0"/>
                <a:cs typeface="Courier New" panose="02070309020205020404" pitchFamily="49" charset="0"/>
              </a:rPr>
              <a:t>pthread_mutex_t</a:t>
            </a:r>
            <a:r>
              <a:rPr lang="en-GB" altLang="ko-KR" sz="2400" b="0" dirty="0">
                <a:latin typeface="Courier New" panose="02070309020205020404" pitchFamily="49" charset="0"/>
                <a:ea typeface="굴림" charset="0"/>
                <a:cs typeface="Courier New" panose="02070309020205020404" pitchFamily="49" charset="0"/>
              </a:rPr>
              <a:t> mutex = PTHREAD_MUTEX_INITIALIZER;</a:t>
            </a:r>
          </a:p>
          <a:p>
            <a:pPr indent="0">
              <a:lnSpc>
                <a:spcPct val="120000"/>
              </a:lnSpc>
              <a:spcBef>
                <a:spcPts val="0"/>
              </a:spcBef>
              <a:buNone/>
              <a:tabLst>
                <a:tab pos="801688" algn="l"/>
                <a:tab pos="1139825" algn="l"/>
                <a:tab pos="1541463" algn="l"/>
                <a:tab pos="4284663" algn="l"/>
              </a:tabLst>
            </a:pPr>
            <a:r>
              <a:rPr lang="en-GB"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pthread_cond_t</a:t>
            </a:r>
            <a:r>
              <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a:t>
            </a:r>
            <a:r>
              <a:rPr lang="en-US"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GB" altLang="ko-KR" sz="2400" b="0" dirty="0" err="1">
                <a:solidFill>
                  <a:srgbClr val="FF0000"/>
                </a:solidFill>
                <a:latin typeface="Courier New" panose="02070309020205020404" pitchFamily="49" charset="0"/>
                <a:ea typeface="굴림" charset="0"/>
                <a:cs typeface="Courier New" panose="02070309020205020404" pitchFamily="49" charset="0"/>
              </a:rPr>
              <a:t>pthread_cond_t</a:t>
            </a:r>
            <a:r>
              <a:rPr lang="en-GB" altLang="ko-KR" sz="2400" b="0" dirty="0">
                <a:solidFill>
                  <a:srgbClr val="FF0000"/>
                </a:solidFill>
                <a:latin typeface="Courier New" panose="02070309020205020404" pitchFamily="49" charset="0"/>
                <a:ea typeface="굴림" charset="0"/>
                <a:cs typeface="Courier New" panose="02070309020205020404" pitchFamily="49" charset="0"/>
              </a:rPr>
              <a:t> </a:t>
            </a:r>
            <a:r>
              <a:rPr lang="en-US" altLang="ko-KR" sz="24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400" b="0" dirty="0">
                <a:solidFill>
                  <a:srgbClr val="FF0000"/>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rgbClr val="FF0000"/>
              </a:solidFill>
              <a:latin typeface="Courier New" panose="02070309020205020404" pitchFamily="49" charset="0"/>
              <a:ea typeface="굴림" charset="0"/>
              <a:cs typeface="Courier New" panose="02070309020205020404" pitchFamily="49" charset="0"/>
            </a:endParaRPr>
          </a:p>
        </p:txBody>
      </p:sp>
      <p:sp>
        <p:nvSpPr>
          <p:cNvPr id="5" name="TextBox 4">
            <a:extLst>
              <a:ext uri="{FF2B5EF4-FFF2-40B4-BE49-F238E27FC236}">
                <a16:creationId xmlns:a16="http://schemas.microsoft.com/office/drawing/2014/main" id="{1EEC9C23-136B-4945-A0CD-F4FBA22029AF}"/>
              </a:ext>
            </a:extLst>
          </p:cNvPr>
          <p:cNvSpPr txBox="1"/>
          <p:nvPr/>
        </p:nvSpPr>
        <p:spPr>
          <a:xfrm>
            <a:off x="1447800" y="1828800"/>
            <a:ext cx="9753599" cy="2039020"/>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Producer(item)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rgbClr val="2A40E2"/>
                </a:solidFill>
                <a:latin typeface="Courier New" panose="02070309020205020404" pitchFamily="49" charset="0"/>
                <a:ea typeface="굴림" charset="0"/>
                <a:cs typeface="Courier New" panose="02070309020205020404" pitchFamily="49" charset="0"/>
              </a:rPr>
              <a:t>while(buffer full){</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pthread_cond_wait</a:t>
            </a:r>
            <a:r>
              <a:rPr lang="en-GB" altLang="ko-KR" sz="2000" b="0" dirty="0">
                <a:solidFill>
                  <a:srgbClr val="2A40E2"/>
                </a:solidFill>
                <a:latin typeface="Courier New" panose="02070309020205020404" pitchFamily="49" charset="0"/>
                <a:ea typeface="굴림" charset="0"/>
                <a:cs typeface="Courier New" panose="02070309020205020404" pitchFamily="49" charset="0"/>
              </a:rPr>
              <a:t>(&amp;</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prod_CV</a:t>
            </a:r>
            <a:r>
              <a:rPr lang="en-GB" altLang="ko-KR" sz="2000" b="0" dirty="0">
                <a:solidFill>
                  <a:srgbClr val="2A40E2"/>
                </a:solidFill>
                <a:latin typeface="Courier New" panose="02070309020205020404" pitchFamily="49" charset="0"/>
                <a:ea typeface="굴림" charset="0"/>
                <a:cs typeface="Courier New" panose="02070309020205020404" pitchFamily="49" charset="0"/>
              </a:rPr>
              <a:t>, &amp;mutex);}</a:t>
            </a:r>
            <a:endParaRPr lang="en-US" altLang="ko-KR" sz="2000" b="0" dirty="0">
              <a:solidFill>
                <a:srgbClr val="2A40E2"/>
              </a:solidFill>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enqueue(item); if(FULL)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hlink"/>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 false; pthread_cond_signal</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t>
            </a:r>
            <a:br>
              <a:rPr lang="en-US" altLang="ko-KR" sz="2000" b="0" dirty="0">
                <a:latin typeface="Courier New" panose="02070309020205020404" pitchFamily="49" charset="0"/>
                <a:ea typeface="굴림" charset="0"/>
                <a:cs typeface="Courier New" panose="02070309020205020404" pitchFamily="49" charset="0"/>
              </a:rPr>
            </a:b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2B640435-8718-5749-8837-B26C02671F42}"/>
              </a:ext>
            </a:extLst>
          </p:cNvPr>
          <p:cNvSpPr txBox="1"/>
          <p:nvPr/>
        </p:nvSpPr>
        <p:spPr>
          <a:xfrm>
            <a:off x="1447802" y="4027944"/>
            <a:ext cx="9753597" cy="2316019"/>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Consumer()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solidFill>
                  <a:srgbClr val="FF0000"/>
                </a:solidFill>
                <a:latin typeface="Courier New" panose="02070309020205020404" pitchFamily="49" charset="0"/>
                <a:ea typeface="굴림" charset="0"/>
                <a:cs typeface="Courier New" panose="02070309020205020404" pitchFamily="49" charset="0"/>
              </a:rPr>
              <a:t>  while(buffer empty){</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pthread_cond_wait</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 &amp;mutex);}</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latin typeface="Courier New" panose="02070309020205020404" pitchFamily="49" charset="0"/>
                <a:ea typeface="굴림" charset="0"/>
                <a:cs typeface="Courier New" panose="02070309020205020404" pitchFamily="49" charset="0"/>
              </a:rPr>
              <a:t>item = dequeue(); if(EMPTY)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false;</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pthread_cond_signal(&amp;</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return item;</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3" name="Title 2"/>
          <p:cNvSpPr>
            <a:spLocks noGrp="1"/>
          </p:cNvSpPr>
          <p:nvPr>
            <p:ph type="title"/>
          </p:nvPr>
        </p:nvSpPr>
        <p:spPr>
          <a:xfrm>
            <a:off x="1676401" y="152400"/>
            <a:ext cx="8839198" cy="533400"/>
          </a:xfrm>
        </p:spPr>
        <p:txBody>
          <a:bodyPr/>
          <a:lstStyle/>
          <a:p>
            <a:r>
              <a:rPr lang="en-GB" dirty="0"/>
              <a:t>P/C Problem with Condition Variable</a:t>
            </a:r>
            <a:endParaRPr lang="en-US" dirty="0"/>
          </a:p>
        </p:txBody>
      </p:sp>
      <p:sp>
        <p:nvSpPr>
          <p:cNvPr id="12" name="TextBox 11">
            <a:extLst>
              <a:ext uri="{FF2B5EF4-FFF2-40B4-BE49-F238E27FC236}">
                <a16:creationId xmlns:a16="http://schemas.microsoft.com/office/drawing/2014/main" id="{3BA86E5C-2D18-451B-D540-23E6AEDC85F1}"/>
              </a:ext>
            </a:extLst>
          </p:cNvPr>
          <p:cNvSpPr txBox="1"/>
          <p:nvPr/>
        </p:nvSpPr>
        <p:spPr>
          <a:xfrm>
            <a:off x="1676401" y="6020126"/>
            <a:ext cx="10210800" cy="707886"/>
          </a:xfrm>
          <a:prstGeom prst="rect">
            <a:avLst/>
          </a:prstGeom>
          <a:solidFill>
            <a:schemeClr val="accent2">
              <a:lumMod val="20000"/>
              <a:lumOff val="80000"/>
            </a:schemeClr>
          </a:solidFill>
        </p:spPr>
        <p:txBody>
          <a:bodyPr wrap="square" rtlCol="0">
            <a:spAutoFit/>
          </a:bodyPr>
          <a:lstStyle/>
          <a:p>
            <a:r>
              <a:rPr lang="en-US" sz="2000" b="0" dirty="0">
                <a:latin typeface="Gill Sans Light"/>
              </a:rPr>
              <a:t>This program has the same behavior as </a:t>
            </a:r>
            <a:r>
              <a:rPr lang="en-US" sz="2000" b="0" dirty="0">
                <a:latin typeface="Gill Sans Light"/>
                <a:hlinkClick r:id="rId3" action="ppaction://hlinksldjump"/>
              </a:rPr>
              <a:t>previous program using semaphores</a:t>
            </a:r>
            <a:r>
              <a:rPr lang="en-US" sz="2000" b="0" dirty="0">
                <a:latin typeface="Gill Sans Light"/>
              </a:rPr>
              <a:t>.</a:t>
            </a:r>
          </a:p>
          <a:p>
            <a:r>
              <a:rPr lang="en-US" sz="2000" b="0" dirty="0">
                <a:latin typeface="Gill Sans Light"/>
              </a:rPr>
              <a:t>(if(FULL) and if(EMPTY) are pseudocode for updating buffer status based on queue condition)</a:t>
            </a:r>
          </a:p>
        </p:txBody>
      </p:sp>
      <p:sp>
        <p:nvSpPr>
          <p:cNvPr id="2" name="TextBox 1">
            <a:extLst>
              <a:ext uri="{FF2B5EF4-FFF2-40B4-BE49-F238E27FC236}">
                <a16:creationId xmlns:a16="http://schemas.microsoft.com/office/drawing/2014/main" id="{64330D19-230E-2A47-F71F-207041BD2E78}"/>
              </a:ext>
            </a:extLst>
          </p:cNvPr>
          <p:cNvSpPr txBox="1"/>
          <p:nvPr/>
        </p:nvSpPr>
        <p:spPr>
          <a:xfrm>
            <a:off x="0" y="4944565"/>
            <a:ext cx="1823209" cy="1477328"/>
          </a:xfrm>
          <a:prstGeom prst="rect">
            <a:avLst/>
          </a:prstGeom>
          <a:solidFill>
            <a:schemeClr val="accent2">
              <a:lumMod val="20000"/>
              <a:lumOff val="80000"/>
            </a:schemeClr>
          </a:solidFill>
        </p:spPr>
        <p:txBody>
          <a:bodyPr wrap="square" rtlCol="0">
            <a:spAutoFit/>
          </a:bodyPr>
          <a:lstStyle/>
          <a:p>
            <a:r>
              <a:rPr lang="en-US" b="0" dirty="0">
                <a:latin typeface="Gill Sans Light"/>
              </a:rPr>
              <a:t>Wake up any waiting producer thread blocked on a full buffer (if any)</a:t>
            </a:r>
          </a:p>
        </p:txBody>
      </p:sp>
      <p:sp>
        <p:nvSpPr>
          <p:cNvPr id="7" name="Curved Right Arrow 4">
            <a:extLst>
              <a:ext uri="{FF2B5EF4-FFF2-40B4-BE49-F238E27FC236}">
                <a16:creationId xmlns:a16="http://schemas.microsoft.com/office/drawing/2014/main" id="{4072B221-AAA5-B345-8027-7AD6246953E4}"/>
              </a:ext>
            </a:extLst>
          </p:cNvPr>
          <p:cNvSpPr>
            <a:spLocks noChangeArrowheads="1"/>
          </p:cNvSpPr>
          <p:nvPr/>
        </p:nvSpPr>
        <p:spPr bwMode="auto">
          <a:xfrm flipV="1">
            <a:off x="1085850" y="2438400"/>
            <a:ext cx="723900" cy="2946206"/>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8" name="TextBox 7">
            <a:extLst>
              <a:ext uri="{FF2B5EF4-FFF2-40B4-BE49-F238E27FC236}">
                <a16:creationId xmlns:a16="http://schemas.microsoft.com/office/drawing/2014/main" id="{22C7A00A-93CA-C4B8-80CF-0D85EBA92754}"/>
              </a:ext>
            </a:extLst>
          </p:cNvPr>
          <p:cNvSpPr txBox="1"/>
          <p:nvPr/>
        </p:nvSpPr>
        <p:spPr>
          <a:xfrm>
            <a:off x="6885084" y="3267655"/>
            <a:ext cx="3648803" cy="1015663"/>
          </a:xfrm>
          <a:prstGeom prst="rect">
            <a:avLst/>
          </a:prstGeom>
          <a:solidFill>
            <a:schemeClr val="accent2">
              <a:lumMod val="20000"/>
              <a:lumOff val="80000"/>
            </a:schemeClr>
          </a:solidFill>
        </p:spPr>
        <p:txBody>
          <a:bodyPr wrap="square" rtlCol="0">
            <a:spAutoFit/>
          </a:bodyPr>
          <a:lstStyle/>
          <a:p>
            <a:r>
              <a:rPr lang="en-US" sz="2000" b="0" dirty="0">
                <a:latin typeface="Gill Sans Light"/>
              </a:rPr>
              <a:t>Wake up any waiting consumer thread blocked on an empty buffer (if any)</a:t>
            </a:r>
          </a:p>
        </p:txBody>
      </p:sp>
      <p:sp>
        <p:nvSpPr>
          <p:cNvPr id="9" name="Curved Right Arrow 1">
            <a:extLst>
              <a:ext uri="{FF2B5EF4-FFF2-40B4-BE49-F238E27FC236}">
                <a16:creationId xmlns:a16="http://schemas.microsoft.com/office/drawing/2014/main" id="{CFE1C388-0C4D-072C-79C4-698EF07FF18E}"/>
              </a:ext>
            </a:extLst>
          </p:cNvPr>
          <p:cNvSpPr>
            <a:spLocks noChangeArrowheads="1"/>
          </p:cNvSpPr>
          <p:nvPr/>
        </p:nvSpPr>
        <p:spPr bwMode="auto">
          <a:xfrm flipH="1">
            <a:off x="6417787" y="3157766"/>
            <a:ext cx="397541" cy="1490434"/>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673C8901-57C4-4018-A925-E5BC715024B2}"/>
                  </a:ext>
                </a:extLst>
              </p14:cNvPr>
              <p14:cNvContentPartPr/>
              <p14:nvPr/>
            </p14:nvContentPartPr>
            <p14:xfrm>
              <a:off x="1892303" y="5241664"/>
              <a:ext cx="360" cy="360"/>
            </p14:xfrm>
          </p:contentPart>
        </mc:Choice>
        <mc:Fallback xmlns="">
          <p:pic>
            <p:nvPicPr>
              <p:cNvPr id="10" name="Ink 9">
                <a:extLst>
                  <a:ext uri="{FF2B5EF4-FFF2-40B4-BE49-F238E27FC236}">
                    <a16:creationId xmlns:a16="http://schemas.microsoft.com/office/drawing/2014/main" id="{673C8901-57C4-4018-A925-E5BC715024B2}"/>
                  </a:ext>
                </a:extLst>
              </p:cNvPr>
              <p:cNvPicPr/>
              <p:nvPr/>
            </p:nvPicPr>
            <p:blipFill>
              <a:blip r:embed="rId5"/>
              <a:stretch>
                <a:fillRect/>
              </a:stretch>
            </p:blipFill>
            <p:spPr>
              <a:xfrm>
                <a:off x="1883303" y="523302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1B396B42-7952-4653-91C2-22FC359BA2D4}"/>
                  </a:ext>
                </a:extLst>
              </p14:cNvPr>
              <p14:cNvContentPartPr/>
              <p14:nvPr/>
            </p14:nvContentPartPr>
            <p14:xfrm>
              <a:off x="2045663" y="5269024"/>
              <a:ext cx="360" cy="360"/>
            </p14:xfrm>
          </p:contentPart>
        </mc:Choice>
        <mc:Fallback xmlns="">
          <p:pic>
            <p:nvPicPr>
              <p:cNvPr id="11" name="Ink 10">
                <a:extLst>
                  <a:ext uri="{FF2B5EF4-FFF2-40B4-BE49-F238E27FC236}">
                    <a16:creationId xmlns:a16="http://schemas.microsoft.com/office/drawing/2014/main" id="{1B396B42-7952-4653-91C2-22FC359BA2D4}"/>
                  </a:ext>
                </a:extLst>
              </p:cNvPr>
              <p:cNvPicPr/>
              <p:nvPr/>
            </p:nvPicPr>
            <p:blipFill>
              <a:blip r:embed="rId5"/>
              <a:stretch>
                <a:fillRect/>
              </a:stretch>
            </p:blipFill>
            <p:spPr>
              <a:xfrm>
                <a:off x="2037023" y="5260024"/>
                <a:ext cx="18000" cy="18000"/>
              </a:xfrm>
              <a:prstGeom prst="rect">
                <a:avLst/>
              </a:prstGeom>
            </p:spPr>
          </p:pic>
        </mc:Fallback>
      </mc:AlternateContent>
    </p:spTree>
    <p:extLst>
      <p:ext uri="{BB962C8B-B14F-4D97-AF65-F5344CB8AC3E}">
        <p14:creationId xmlns:p14="http://schemas.microsoft.com/office/powerpoint/2010/main" val="12909547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2" grpId="0" animBg="1"/>
      <p:bldP spid="2" grpId="0" animBg="1"/>
      <p:bldP spid="7" grpId="0" animBg="1"/>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latin typeface="Helvetica" charset="0"/>
                <a:ea typeface="굴림" charset="0"/>
                <a:cs typeface="굴림" charset="0"/>
              </a:rPr>
              <a:t>While vs. If for Checking a Boolean Flag</a:t>
            </a:r>
          </a:p>
        </p:txBody>
      </p:sp>
      <p:sp>
        <p:nvSpPr>
          <p:cNvPr id="478211" name="Rectangle 3"/>
          <p:cNvSpPr>
            <a:spLocks noGrp="1" noChangeArrowheads="1"/>
          </p:cNvSpPr>
          <p:nvPr>
            <p:ph type="body" idx="1"/>
          </p:nvPr>
        </p:nvSpPr>
        <p:spPr>
          <a:xfrm>
            <a:off x="1143000" y="685800"/>
            <a:ext cx="9509760" cy="5715000"/>
          </a:xfrm>
        </p:spPr>
        <p:txBody>
          <a:bodyPr>
            <a:normAutofit/>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Consider the dequeue code in Consumer thread:</a:t>
            </a:r>
          </a:p>
          <a:p>
            <a:pPr>
              <a:lnSpc>
                <a:spcPct val="100000"/>
              </a:lnSpc>
              <a:spcBef>
                <a:spcPct val="20000"/>
              </a:spcBef>
              <a:buNone/>
              <a:tabLst>
                <a:tab pos="688975" algn="l"/>
                <a:tab pos="1027113" algn="l"/>
                <a:tab pos="1377950" algn="l"/>
              </a:tabLst>
            </a:pPr>
            <a:r>
              <a:rPr lang="en-US" altLang="ko-KR" sz="2000" dirty="0">
                <a:latin typeface="Courier New" charset="0"/>
                <a:ea typeface="굴림" charset="0"/>
                <a:cs typeface="굴림" charset="0"/>
              </a:rPr>
              <a:t>		</a:t>
            </a:r>
            <a:r>
              <a:rPr lang="en-US" altLang="ko-KR" sz="2000" b="1" dirty="0">
                <a:latin typeface="Courier New" charset="0"/>
                <a:ea typeface="굴림" charset="0"/>
                <a:cs typeface="굴림" charset="0"/>
              </a:rPr>
              <a:t>	</a:t>
            </a:r>
            <a:r>
              <a:rPr lang="en-GB" altLang="ko-KR" sz="2000" dirty="0">
                <a:solidFill>
                  <a:srgbClr val="FF0000"/>
                </a:solidFill>
                <a:latin typeface="Courier New" panose="02070309020205020404" pitchFamily="49" charset="0"/>
                <a:ea typeface="굴림" charset="0"/>
                <a:cs typeface="Courier New" panose="02070309020205020404" pitchFamily="49" charset="0"/>
              </a:rPr>
              <a:t>while(buffer empty){ //NOT if(buffer empty)</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r>
              <a:rPr lang="en-GB" altLang="ko-KR" sz="2000" dirty="0" err="1">
                <a:latin typeface="Courier New" panose="02070309020205020404" pitchFamily="49" charset="0"/>
                <a:ea typeface="굴림" charset="0"/>
                <a:cs typeface="Courier New" panose="02070309020205020404" pitchFamily="49" charset="0"/>
              </a:rPr>
              <a:t>cond_wait</a:t>
            </a:r>
            <a:r>
              <a:rPr lang="en-GB" altLang="ko-KR" sz="2000" dirty="0">
                <a:latin typeface="Courier New" panose="02070309020205020404" pitchFamily="49" charset="0"/>
                <a:ea typeface="굴림" charset="0"/>
                <a:cs typeface="Courier New" panose="02070309020205020404" pitchFamily="49" charset="0"/>
              </a:rPr>
              <a:t>(&amp;</a:t>
            </a:r>
            <a:r>
              <a:rPr lang="en-GB" altLang="ko-KR" sz="2000" dirty="0" err="1">
                <a:latin typeface="Courier New" panose="02070309020205020404" pitchFamily="49" charset="0"/>
                <a:ea typeface="굴림" charset="0"/>
                <a:cs typeface="Courier New" panose="02070309020205020404" pitchFamily="49" charset="0"/>
              </a:rPr>
              <a:t>cons_CV</a:t>
            </a:r>
            <a:r>
              <a:rPr lang="en-GB" altLang="ko-KR" sz="2000" dirty="0">
                <a:latin typeface="Courier New" panose="02070309020205020404" pitchFamily="49" charset="0"/>
                <a:ea typeface="굴림" charset="0"/>
                <a:cs typeface="Courier New" panose="02070309020205020404" pitchFamily="49" charset="0"/>
              </a:rPr>
              <a:t>, &amp;mutex);</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br>
              <a:rPr lang="en-US" altLang="ko-KR" sz="2000" dirty="0">
                <a:solidFill>
                  <a:schemeClr val="hlink"/>
                </a:solidFill>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item = </a:t>
            </a:r>
            <a:r>
              <a:rPr lang="en-US" altLang="ko-KR" sz="2000" dirty="0" err="1">
                <a:latin typeface="Courier New" panose="02070309020205020404" pitchFamily="49" charset="0"/>
                <a:ea typeface="굴림" charset="0"/>
                <a:cs typeface="Courier New" panose="02070309020205020404" pitchFamily="49" charset="0"/>
              </a:rPr>
              <a:t>dequeue</a:t>
            </a:r>
            <a:r>
              <a:rPr lang="en-US" altLang="ko-KR" sz="2000" dirty="0">
                <a:latin typeface="Courier New" panose="02070309020205020404" pitchFamily="49" charset="0"/>
                <a:ea typeface="굴림" charset="0"/>
                <a:cs typeface="Courier New" panose="02070309020205020404" pitchFamily="49" charset="0"/>
              </a:rPr>
              <a:t>(&amp;queue);	// Get next item</a:t>
            </a:r>
          </a:p>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Why do we use a while loop to check the Boolean flag “buffer empty”?</a:t>
            </a:r>
          </a:p>
          <a:p>
            <a:pPr lvl="1">
              <a:lnSpc>
                <a:spcPct val="100000"/>
              </a:lnSpc>
              <a:spcBef>
                <a:spcPct val="20000"/>
              </a:spcBef>
              <a:tabLst>
                <a:tab pos="688975" algn="l"/>
                <a:tab pos="1027113" algn="l"/>
                <a:tab pos="1377950" algn="l"/>
              </a:tabLst>
            </a:pPr>
            <a:r>
              <a:rPr lang="en-GB" altLang="ko-KR" dirty="0">
                <a:latin typeface="Helvetica" charset="0"/>
                <a:ea typeface="굴림" charset="0"/>
                <a:cs typeface="굴림" charset="0"/>
              </a:rPr>
              <a:t>Most OSes use Mesa-style monitor (n</a:t>
            </a:r>
            <a:r>
              <a:rPr lang="en-US" altLang="ko-KR" dirty="0" err="1">
                <a:latin typeface="Helvetica" charset="0"/>
                <a:ea typeface="굴림" charset="0"/>
                <a:cs typeface="굴림" charset="0"/>
              </a:rPr>
              <a:t>amed</a:t>
            </a:r>
            <a:r>
              <a:rPr lang="en-US" altLang="ko-KR" dirty="0">
                <a:latin typeface="Helvetica" charset="0"/>
                <a:ea typeface="굴림" charset="0"/>
                <a:cs typeface="굴림" charset="0"/>
              </a:rPr>
              <a:t> after Xerox PARC’s Mesa system), where the waiter thread when signaled, joins a ready queue, </a:t>
            </a:r>
            <a:r>
              <a:rPr lang="en-US" altLang="ko-KR">
                <a:latin typeface="Helvetica" charset="0"/>
                <a:ea typeface="굴림" charset="0"/>
                <a:cs typeface="굴림" charset="0"/>
              </a:rPr>
              <a:t>and may </a:t>
            </a:r>
            <a:r>
              <a:rPr lang="en-US" altLang="ko-KR" dirty="0">
                <a:latin typeface="Helvetica" charset="0"/>
                <a:ea typeface="굴림" charset="0"/>
                <a:cs typeface="굴림" charset="0"/>
              </a:rPr>
              <a:t>start to run some time after </a:t>
            </a:r>
            <a:r>
              <a:rPr lang="en-GB" altLang="ko-KR" dirty="0" err="1">
                <a:latin typeface="Helvetica" charset="0"/>
                <a:ea typeface="굴림" charset="0"/>
                <a:cs typeface="굴림" charset="0"/>
              </a:rPr>
              <a:t>Signaler</a:t>
            </a:r>
            <a:r>
              <a:rPr lang="en-GB" altLang="ko-KR" dirty="0">
                <a:latin typeface="Helvetica" charset="0"/>
                <a:ea typeface="굴림" charset="0"/>
                <a:cs typeface="굴림" charset="0"/>
              </a:rPr>
              <a:t> thread calls </a:t>
            </a:r>
            <a:r>
              <a:rPr lang="en-GB" altLang="ko-KR" dirty="0" err="1">
                <a:latin typeface="Helvetica" charset="0"/>
                <a:ea typeface="굴림" charset="0"/>
                <a:cs typeface="굴림" charset="0"/>
              </a:rPr>
              <a:t>cond_signal</a:t>
            </a:r>
            <a:r>
              <a:rPr lang="en-GB" altLang="ko-KR" dirty="0">
                <a:latin typeface="Helvetica" charset="0"/>
                <a:ea typeface="굴림" charset="0"/>
                <a:cs typeface="굴림" charset="0"/>
              </a:rPr>
              <a:t>() </a:t>
            </a:r>
            <a:endParaRPr lang="en-US" altLang="ko-KR" dirty="0">
              <a:latin typeface="Helvetica" charset="0"/>
              <a:ea typeface="굴림" charset="0"/>
              <a:cs typeface="굴림" charset="0"/>
            </a:endParaRPr>
          </a:p>
        </p:txBody>
      </p:sp>
    </p:spTree>
    <p:extLst>
      <p:ext uri="{BB962C8B-B14F-4D97-AF65-F5344CB8AC3E}">
        <p14:creationId xmlns:p14="http://schemas.microsoft.com/office/powerpoint/2010/main" val="274642877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78211">
                                            <p:txEl>
                                              <p:pRg st="0" end="0"/>
                                            </p:txEl>
                                          </p:spTgt>
                                        </p:tgtEl>
                                        <p:attrNameLst>
                                          <p:attrName>style.visibility</p:attrName>
                                        </p:attrNameLst>
                                      </p:cBhvr>
                                      <p:to>
                                        <p:strVal val="visible"/>
                                      </p:to>
                                    </p:set>
                                    <p:anim calcmode="lin" valueType="num">
                                      <p:cBhvr additive="base">
                                        <p:cTn id="7" dur="500" fill="hold"/>
                                        <p:tgtEl>
                                          <p:spTgt spid="47821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478211">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478211">
                                            <p:txEl>
                                              <p:pRg st="1" end="1"/>
                                            </p:txEl>
                                          </p:spTgt>
                                        </p:tgtEl>
                                        <p:attrNameLst>
                                          <p:attrName>style.visibility</p:attrName>
                                        </p:attrNameLst>
                                      </p:cBhvr>
                                      <p:to>
                                        <p:strVal val="visible"/>
                                      </p:to>
                                    </p:set>
                                    <p:anim calcmode="lin" valueType="num">
                                      <p:cBhvr additive="base">
                                        <p:cTn id="11" dur="500" fill="hold"/>
                                        <p:tgtEl>
                                          <p:spTgt spid="478211">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478211">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78211">
                                            <p:txEl>
                                              <p:pRg st="2" end="2"/>
                                            </p:txEl>
                                          </p:spTgt>
                                        </p:tgtEl>
                                        <p:attrNameLst>
                                          <p:attrName>style.visibility</p:attrName>
                                        </p:attrNameLst>
                                      </p:cBhvr>
                                      <p:to>
                                        <p:strVal val="visible"/>
                                      </p:to>
                                    </p:set>
                                    <p:anim calcmode="lin" valueType="num">
                                      <p:cBhvr additive="base">
                                        <p:cTn id="15" dur="500" fill="hold"/>
                                        <p:tgtEl>
                                          <p:spTgt spid="478211">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478211">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478211">
                                            <p:txEl>
                                              <p:pRg st="3" end="3"/>
                                            </p:txEl>
                                          </p:spTgt>
                                        </p:tgtEl>
                                        <p:attrNameLst>
                                          <p:attrName>style.visibility</p:attrName>
                                        </p:attrNameLst>
                                      </p:cBhvr>
                                      <p:to>
                                        <p:strVal val="visible"/>
                                      </p:to>
                                    </p:set>
                                    <p:anim calcmode="lin" valueType="num">
                                      <p:cBhvr additive="base">
                                        <p:cTn id="19" dur="500" fill="hold"/>
                                        <p:tgtEl>
                                          <p:spTgt spid="478211">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47821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478211">
                                            <p:txEl>
                                              <p:pRg st="4" end="4"/>
                                            </p:txEl>
                                          </p:spTgt>
                                        </p:tgtEl>
                                        <p:attrNameLst>
                                          <p:attrName>style.visibility</p:attrName>
                                        </p:attrNameLst>
                                      </p:cBhvr>
                                      <p:to>
                                        <p:strVal val="visible"/>
                                      </p:to>
                                    </p:set>
                                    <p:anim calcmode="lin" valueType="num">
                                      <p:cBhvr additive="base">
                                        <p:cTn id="25" dur="500" fill="hold"/>
                                        <p:tgtEl>
                                          <p:spTgt spid="478211">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478211">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2" fill="hold" grpId="0" nodeType="withEffect">
                                  <p:stCondLst>
                                    <p:cond delay="0"/>
                                  </p:stCondLst>
                                  <p:childTnLst>
                                    <p:set>
                                      <p:cBhvr>
                                        <p:cTn id="28" dur="1" fill="hold">
                                          <p:stCondLst>
                                            <p:cond delay="0"/>
                                          </p:stCondLst>
                                        </p:cTn>
                                        <p:tgtEl>
                                          <p:spTgt spid="478211">
                                            <p:txEl>
                                              <p:pRg st="5" end="5"/>
                                            </p:txEl>
                                          </p:spTgt>
                                        </p:tgtEl>
                                        <p:attrNameLst>
                                          <p:attrName>style.visibility</p:attrName>
                                        </p:attrNameLst>
                                      </p:cBhvr>
                                      <p:to>
                                        <p:strVal val="visible"/>
                                      </p:to>
                                    </p:set>
                                    <p:anim calcmode="lin" valueType="num">
                                      <p:cBhvr additive="base">
                                        <p:cTn id="29" dur="500" fill="hold"/>
                                        <p:tgtEl>
                                          <p:spTgt spid="478211">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478211">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8211" grpId="0" build="p"/>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a:latin typeface="Helvetica" charset="0"/>
                <a:ea typeface="굴림" charset="0"/>
                <a:cs typeface="굴림" charset="0"/>
              </a:rPr>
              <a:t>Mesa Monitors</a:t>
            </a:r>
          </a:p>
        </p:txBody>
      </p:sp>
      <p:sp>
        <p:nvSpPr>
          <p:cNvPr id="58370" name="Rectangle 3"/>
          <p:cNvSpPr>
            <a:spLocks noGrp="1" noChangeArrowheads="1"/>
          </p:cNvSpPr>
          <p:nvPr>
            <p:ph type="body" idx="1"/>
          </p:nvPr>
        </p:nvSpPr>
        <p:spPr>
          <a:xfrm>
            <a:off x="533400" y="762000"/>
            <a:ext cx="11277600" cy="5791200"/>
          </a:xfrm>
        </p:spPr>
        <p:txBody>
          <a:bodyPr>
            <a:normAutofit fontScale="70000" lnSpcReduction="20000"/>
          </a:bodyPr>
          <a:lstStyle/>
          <a:p>
            <a:pPr>
              <a:lnSpc>
                <a:spcPct val="85000"/>
              </a:lnSpc>
              <a:spcBef>
                <a:spcPct val="20000"/>
              </a:spcBef>
            </a:pPr>
            <a:r>
              <a:rPr lang="en-US" altLang="ko-KR" dirty="0">
                <a:ea typeface="굴림" panose="020B0600000101010101" pitchFamily="34" charset="-127"/>
              </a:rPr>
              <a:t>Inside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 </a:t>
            </a:r>
            <a:r>
              <a:rPr lang="en-GB" altLang="ko-KR" dirty="0">
                <a:ea typeface="Consolas" charset="0"/>
                <a:cs typeface="Consolas" charset="0"/>
              </a:rPr>
              <a:t>Waiter thread releases the mutex lock temporarily and enters the monitor's wait queue to go to sleep. This allows </a:t>
            </a:r>
            <a:r>
              <a:rPr lang="en-GB" altLang="ko-KR" dirty="0" err="1">
                <a:ea typeface="Consolas" charset="0"/>
                <a:cs typeface="Consolas" charset="0"/>
              </a:rPr>
              <a:t>Signaler</a:t>
            </a:r>
            <a:r>
              <a:rPr lang="en-GB" altLang="ko-KR" dirty="0">
                <a:ea typeface="Consolas" charset="0"/>
                <a:cs typeface="Consolas" charset="0"/>
              </a:rPr>
              <a:t> thread to acquire the mutex lock and proceed with its task. </a:t>
            </a:r>
          </a:p>
          <a:p>
            <a:pPr>
              <a:lnSpc>
                <a:spcPct val="85000"/>
              </a:lnSpc>
              <a:spcBef>
                <a:spcPct val="20000"/>
              </a:spcBef>
            </a:pPr>
            <a:r>
              <a:rPr lang="en-GB" altLang="ko-KR" dirty="0">
                <a:ea typeface="굴림" charset="0"/>
                <a:cs typeface="굴림" charset="0"/>
              </a:rPr>
              <a:t>When </a:t>
            </a:r>
            <a:r>
              <a:rPr lang="en-GB" altLang="ko-KR" dirty="0" err="1">
                <a:ea typeface="굴림" charset="0"/>
                <a:cs typeface="굴림" charset="0"/>
              </a:rPr>
              <a:t>Signaler</a:t>
            </a:r>
            <a:r>
              <a:rPr lang="en-GB" altLang="ko-KR" dirty="0">
                <a:ea typeface="굴림" charset="0"/>
                <a:cs typeface="굴림" charset="0"/>
              </a:rPr>
              <a:t> thread calls </a:t>
            </a:r>
            <a:r>
              <a:rPr lang="en-GB" altLang="ko-KR" dirty="0" err="1">
                <a:solidFill>
                  <a:srgbClr val="FF0000"/>
                </a:solidFill>
                <a:ea typeface="굴림" charset="0"/>
                <a:cs typeface="굴림" charset="0"/>
              </a:rPr>
              <a:t>cond_signal</a:t>
            </a:r>
            <a:r>
              <a:rPr lang="en-GB" altLang="ko-KR" dirty="0">
                <a:solidFill>
                  <a:srgbClr val="FF0000"/>
                </a:solidFill>
                <a:ea typeface="굴림" charset="0"/>
                <a:cs typeface="굴림" charset="0"/>
              </a:rPr>
              <a:t>() </a:t>
            </a:r>
            <a:r>
              <a:rPr lang="en-GB" altLang="ko-KR" dirty="0">
                <a:ea typeface="굴림" charset="0"/>
                <a:cs typeface="굴림" charset="0"/>
              </a:rPr>
              <a:t>to signal Waiter thread, Waiter thread is put on the ready queue </a:t>
            </a:r>
            <a:r>
              <a:rPr lang="en-US" altLang="ko-KR" dirty="0">
                <a:ea typeface="굴림" charset="0"/>
                <a:cs typeface="굴림" charset="0"/>
              </a:rPr>
              <a:t>(not woken up immediately). </a:t>
            </a:r>
            <a:r>
              <a:rPr lang="en-GB" altLang="ko-KR" dirty="0" err="1">
                <a:ea typeface="굴림" charset="0"/>
                <a:cs typeface="굴림" charset="0"/>
              </a:rPr>
              <a:t>Signaler</a:t>
            </a:r>
            <a:r>
              <a:rPr lang="en-GB" altLang="ko-KR" dirty="0">
                <a:ea typeface="굴림" charset="0"/>
                <a:cs typeface="굴림" charset="0"/>
              </a:rPr>
              <a:t> thread continues execution and releases the mutex lock. </a:t>
            </a:r>
            <a:r>
              <a:rPr lang="en-US" altLang="ko-KR" dirty="0">
                <a:ea typeface="굴림" charset="0"/>
                <a:cs typeface="굴림" charset="0"/>
              </a:rPr>
              <a:t>When Waiter thread gets to run on the CPU when OS actually schedules it, </a:t>
            </a:r>
            <a:r>
              <a:rPr lang="en-GB" altLang="ko-KR" dirty="0">
                <a:ea typeface="Consolas" charset="0"/>
                <a:cs typeface="Consolas" charset="0"/>
              </a:rPr>
              <a:t>it re-acquires the mutex lock, exits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a:t>
            </a:r>
            <a:r>
              <a:rPr lang="en-GB" altLang="ko-KR" dirty="0">
                <a:ea typeface="Consolas" charset="0"/>
                <a:cs typeface="Consolas" charset="0"/>
              </a:rPr>
              <a:t> enters the critical section, and finally releases the mutex lock.</a:t>
            </a:r>
            <a:endParaRPr lang="en-GB" altLang="ko-KR" dirty="0">
              <a:ea typeface="굴림" charset="0"/>
              <a:cs typeface="굴림" charset="0"/>
            </a:endParaRPr>
          </a:p>
          <a:p>
            <a:pPr>
              <a:lnSpc>
                <a:spcPct val="85000"/>
              </a:lnSpc>
              <a:spcBef>
                <a:spcPct val="20000"/>
              </a:spcBef>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r>
              <a:rPr lang="en-US" altLang="ko-KR" dirty="0">
                <a:ea typeface="굴림" charset="0"/>
                <a:cs typeface="굴림" charset="0"/>
              </a:rPr>
              <a:t>Waiter thread must use a while loop to re-check condition upon wakeup</a:t>
            </a:r>
          </a:p>
          <a:p>
            <a:pPr lvl="1">
              <a:lnSpc>
                <a:spcPct val="80000"/>
              </a:lnSpc>
              <a:spcBef>
                <a:spcPct val="20000"/>
              </a:spcBef>
              <a:tabLst>
                <a:tab pos="688975" algn="l"/>
                <a:tab pos="1027113" algn="l"/>
                <a:tab pos="1377950" algn="l"/>
              </a:tabLst>
            </a:pPr>
            <a:r>
              <a:rPr lang="en-GB" altLang="ko-KR" dirty="0">
                <a:ea typeface="굴림" charset="0"/>
                <a:cs typeface="굴림" charset="0"/>
              </a:rPr>
              <a:t>Another thread may be scheduled before Waiter thread gets to run, and "sneak in" to modify the state (e.g., empty the queue), so the buffer empty flag may be true again, and </a:t>
            </a:r>
            <a:r>
              <a:rPr lang="en-US" altLang="ko-KR" dirty="0">
                <a:ea typeface="굴림" charset="0"/>
                <a:cs typeface="굴림" charset="0"/>
              </a:rPr>
              <a:t>condition may be false again (Mesa semantics: a signal is only a hint).</a:t>
            </a:r>
          </a:p>
        </p:txBody>
      </p:sp>
      <p:sp>
        <p:nvSpPr>
          <p:cNvPr id="58371" name="Rectangle 3"/>
          <p:cNvSpPr>
            <a:spLocks noChangeArrowheads="1"/>
          </p:cNvSpPr>
          <p:nvPr/>
        </p:nvSpPr>
        <p:spPr bwMode="auto">
          <a:xfrm>
            <a:off x="6629400" y="3075254"/>
            <a:ext cx="4419600" cy="20313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rgbClr val="000000"/>
                </a:solidFill>
                <a:latin typeface="Courier New" charset="0"/>
                <a:ea typeface="굴림" charset="0"/>
                <a:cs typeface="굴림" charset="0"/>
              </a:rPr>
              <a:t>lock(&amp;mutex);</a:t>
            </a:r>
          </a:p>
          <a:p>
            <a:r>
              <a:rPr lang="en-US" altLang="ko-KR" b="0" dirty="0">
                <a:solidFill>
                  <a:srgbClr val="000000"/>
                </a:solidFill>
                <a:latin typeface="Courier New" charset="0"/>
                <a:ea typeface="굴림" charset="0"/>
                <a:cs typeface="굴림" charset="0"/>
              </a:rPr>
              <a:t>…</a:t>
            </a:r>
          </a:p>
          <a:p>
            <a:r>
              <a:rPr lang="en-US" altLang="ko-KR" b="0" dirty="0">
                <a:solidFill>
                  <a:schemeClr val="hlink"/>
                </a:solidFill>
                <a:latin typeface="Courier New" charset="0"/>
                <a:ea typeface="굴림" charset="0"/>
                <a:cs typeface="굴림" charset="0"/>
              </a:rPr>
              <a:t>while(</a:t>
            </a:r>
            <a:r>
              <a:rPr lang="en-US" altLang="ko-KR" b="0">
                <a:solidFill>
                  <a:schemeClr val="hlink"/>
                </a:solidFill>
                <a:latin typeface="Courier New" charset="0"/>
                <a:ea typeface="굴림" charset="0"/>
                <a:cs typeface="굴림" charset="0"/>
              </a:rPr>
              <a:t>buffer empty) </a:t>
            </a: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  </a:t>
            </a:r>
            <a:r>
              <a:rPr lang="en-US" altLang="ko-KR" b="0" dirty="0" err="1">
                <a:solidFill>
                  <a:schemeClr val="hlink"/>
                </a:solidFill>
                <a:latin typeface="Courier New" charset="0"/>
                <a:ea typeface="굴림" charset="0"/>
                <a:cs typeface="굴림" charset="0"/>
              </a:rPr>
              <a:t>cond_wait</a:t>
            </a:r>
            <a:r>
              <a:rPr lang="en-US" altLang="ko-KR" b="0" dirty="0">
                <a:solidFill>
                  <a:schemeClr val="hlink"/>
                </a:solidFill>
                <a:latin typeface="Courier New" charset="0"/>
                <a:ea typeface="굴림" charset="0"/>
                <a:cs typeface="굴림" charset="0"/>
              </a:rPr>
              <a:t>(&amp;</a:t>
            </a:r>
            <a:r>
              <a:rPr lang="en-US" altLang="ko-KR" b="0" dirty="0" err="1">
                <a:solidFill>
                  <a:schemeClr val="hlink"/>
                </a:solidFill>
                <a:latin typeface="Courier New" charset="0"/>
                <a:ea typeface="굴림" charset="0"/>
                <a:cs typeface="굴림" charset="0"/>
              </a:rPr>
              <a:t>cons_CV,&amp;mutex</a:t>
            </a:r>
            <a:r>
              <a:rPr lang="en-US" altLang="ko-KR" b="0" dirty="0">
                <a:solidFill>
                  <a:schemeClr val="hlink"/>
                </a:solidFill>
                <a:latin typeface="Courier New" charset="0"/>
                <a:ea typeface="굴림" charset="0"/>
                <a:cs typeface="굴림" charset="0"/>
              </a:rPr>
              <a:t>); </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sp>
        <p:nvSpPr>
          <p:cNvPr id="58372" name="Rectangle 4"/>
          <p:cNvSpPr>
            <a:spLocks noChangeArrowheads="1"/>
          </p:cNvSpPr>
          <p:nvPr/>
        </p:nvSpPr>
        <p:spPr bwMode="auto">
          <a:xfrm>
            <a:off x="1905000" y="3073667"/>
            <a:ext cx="3505200" cy="175432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chemeClr val="hlink"/>
                </a:solidFill>
                <a:latin typeface="Courier New" charset="0"/>
                <a:ea typeface="굴림" charset="0"/>
                <a:cs typeface="굴림" charset="0"/>
              </a:rPr>
              <a:t>…</a:t>
            </a:r>
          </a:p>
          <a:p>
            <a:r>
              <a:rPr lang="en-US" altLang="ko-KR" b="0" dirty="0">
                <a:latin typeface="Courier New" charset="0"/>
                <a:ea typeface="굴림" charset="0"/>
                <a:cs typeface="굴림" charset="0"/>
              </a:rPr>
              <a:t>lock(&amp;mutex);</a:t>
            </a:r>
          </a:p>
          <a:p>
            <a:r>
              <a:rPr lang="en-US" altLang="ko-KR" b="0" dirty="0">
                <a:latin typeface="Courier New" charset="0"/>
                <a:ea typeface="굴림" charset="0"/>
                <a:cs typeface="굴림" charset="0"/>
              </a:rPr>
              <a:t>… </a:t>
            </a:r>
            <a:endParaRPr lang="en-US" altLang="ko-KR" b="0" dirty="0">
              <a:solidFill>
                <a:schemeClr val="hlink"/>
              </a:solidFill>
              <a:latin typeface="Courier New" charset="0"/>
              <a:ea typeface="굴림" charset="0"/>
              <a:cs typeface="굴림" charset="0"/>
            </a:endParaRPr>
          </a:p>
          <a:p>
            <a:r>
              <a:rPr lang="en-US" altLang="ko-KR" b="0" dirty="0">
                <a:solidFill>
                  <a:schemeClr val="hlink"/>
                </a:solidFill>
                <a:latin typeface="Courier New" charset="0"/>
                <a:ea typeface="굴림" charset="0"/>
                <a:cs typeface="굴림" charset="0"/>
              </a:rPr>
              <a:t>cond_signal(&amp;</a:t>
            </a:r>
            <a:r>
              <a:rPr lang="en-US" altLang="ko-KR" b="0" dirty="0" err="1">
                <a:solidFill>
                  <a:schemeClr val="hlink"/>
                </a:solidFill>
                <a:latin typeface="Courier New" charset="0"/>
                <a:ea typeface="굴림" charset="0"/>
                <a:cs typeface="굴림" charset="0"/>
              </a:rPr>
              <a:t>cons_CV</a:t>
            </a:r>
            <a:r>
              <a:rPr lang="en-US" altLang="ko-KR" b="0" dirty="0">
                <a:solidFill>
                  <a:schemeClr val="hlink"/>
                </a:solidFill>
                <a:latin typeface="Courier New" charset="0"/>
                <a:ea typeface="굴림" charset="0"/>
                <a:cs typeface="굴림" charset="0"/>
              </a:rPr>
              <a:t>);</a:t>
            </a:r>
            <a:endParaRPr lang="en-US" altLang="ko-KR" b="0" dirty="0">
              <a:latin typeface="Courier New" charset="0"/>
              <a:ea typeface="굴림" charset="0"/>
              <a:cs typeface="굴림" charset="0"/>
            </a:endParaRPr>
          </a:p>
          <a:p>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cxnSp>
        <p:nvCxnSpPr>
          <p:cNvPr id="58373" name="Straight Arrow Connector 20"/>
          <p:cNvCxnSpPr>
            <a:cxnSpLocks noChangeShapeType="1"/>
          </p:cNvCxnSpPr>
          <p:nvPr/>
        </p:nvCxnSpPr>
        <p:spPr bwMode="auto">
          <a:xfrm rot="5400000">
            <a:off x="2782094" y="3874559"/>
            <a:ext cx="228600" cy="1588"/>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cxnSp>
        <p:nvCxnSpPr>
          <p:cNvPr id="58374" name="Straight Arrow Connector 27"/>
          <p:cNvCxnSpPr>
            <a:cxnSpLocks noChangeShapeType="1"/>
          </p:cNvCxnSpPr>
          <p:nvPr/>
        </p:nvCxnSpPr>
        <p:spPr bwMode="auto">
          <a:xfrm rot="5400000">
            <a:off x="2780507" y="4407960"/>
            <a:ext cx="228600" cy="1587"/>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grpSp>
        <p:nvGrpSpPr>
          <p:cNvPr id="2" name="Group 10"/>
          <p:cNvGrpSpPr>
            <a:grpSpLocks/>
          </p:cNvGrpSpPr>
          <p:nvPr/>
        </p:nvGrpSpPr>
        <p:grpSpPr bwMode="auto">
          <a:xfrm rot="21303948">
            <a:off x="4379369" y="4141167"/>
            <a:ext cx="2451254" cy="942011"/>
            <a:chOff x="3151163" y="4038600"/>
            <a:chExt cx="2451254" cy="942011"/>
          </a:xfrm>
        </p:grpSpPr>
        <p:cxnSp>
          <p:nvCxnSpPr>
            <p:cNvPr id="58377" name="Straight Arrow Connector 7"/>
            <p:cNvCxnSpPr>
              <a:cxnSpLocks noChangeShapeType="1"/>
            </p:cNvCxnSpPr>
            <p:nvPr/>
          </p:nvCxnSpPr>
          <p:spPr bwMode="auto">
            <a:xfrm flipV="1">
              <a:off x="3151163" y="4038600"/>
              <a:ext cx="2438400" cy="762000"/>
            </a:xfrm>
            <a:prstGeom prst="straightConnector1">
              <a:avLst/>
            </a:prstGeom>
            <a:noFill/>
            <a:ln w="38100">
              <a:solidFill>
                <a:srgbClr val="83A6FA"/>
              </a:solidFill>
              <a:prstDash val="dash"/>
              <a:round/>
              <a:headEnd/>
              <a:tailEnd type="triangle" w="med" len="med"/>
            </a:ln>
            <a:extLst>
              <a:ext uri="{909E8E84-426E-40dd-AFC4-6F175D3DCCD1}">
                <a14:hiddenFill xmlns="" xmlns:a14="http://schemas.microsoft.com/office/drawing/2010/main">
                  <a:noFill/>
                </a14:hiddenFill>
              </a:ext>
            </a:extLst>
          </p:spPr>
        </p:cxnSp>
        <p:sp>
          <p:nvSpPr>
            <p:cNvPr id="58378" name="TextBox 17"/>
            <p:cNvSpPr txBox="1">
              <a:spLocks noChangeArrowheads="1"/>
            </p:cNvSpPr>
            <p:nvPr/>
          </p:nvSpPr>
          <p:spPr bwMode="auto">
            <a:xfrm rot="20571012">
              <a:off x="3263314" y="4334280"/>
              <a:ext cx="2339103"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Helvetica" charset="0"/>
                  <a:cs typeface="Helvetica" charset="0"/>
                </a:rPr>
                <a:t>OS schedules thread</a:t>
              </a:r>
              <a:br>
                <a:rPr lang="en-US" sz="1800" b="0" dirty="0">
                  <a:latin typeface="Helvetica" charset="0"/>
                  <a:cs typeface="Helvetica" charset="0"/>
                </a:rPr>
              </a:br>
              <a:r>
                <a:rPr lang="en-US" sz="1800" b="0" dirty="0">
                  <a:latin typeface="Helvetica" charset="0"/>
                  <a:cs typeface="Helvetica" charset="0"/>
                </a:rPr>
                <a:t>(sometime later)</a:t>
              </a:r>
            </a:p>
          </p:txBody>
        </p:sp>
      </p:grpSp>
      <p:sp>
        <p:nvSpPr>
          <p:cNvPr id="12" name="Rounded Rectangular Callout 1"/>
          <p:cNvSpPr>
            <a:spLocks noChangeArrowheads="1"/>
          </p:cNvSpPr>
          <p:nvPr/>
        </p:nvSpPr>
        <p:spPr bwMode="auto">
          <a:xfrm>
            <a:off x="4661475" y="2743200"/>
            <a:ext cx="1752600" cy="838200"/>
          </a:xfrm>
          <a:prstGeom prst="wedgeRoundRectCallout">
            <a:avLst>
              <a:gd name="adj1" fmla="val -53209"/>
              <a:gd name="adj2" fmla="val 86135"/>
              <a:gd name="adj3" fmla="val 16667"/>
            </a:avLst>
          </a:prstGeom>
          <a:solidFill>
            <a:srgbClr val="FF66CC"/>
          </a:solidFill>
          <a:ln w="25400">
            <a:solidFill>
              <a:schemeClr val="tx1"/>
            </a:solidFill>
            <a:round/>
            <a:headEnd type="triangle" w="med" len="med"/>
            <a:tailEnd/>
          </a:ln>
        </p:spPr>
        <p:txBody>
          <a:bodyPr anchor="ctr"/>
          <a:lstStyle/>
          <a:p>
            <a:pPr algn="ctr"/>
            <a:r>
              <a:rPr lang="en-US" b="0" dirty="0">
                <a:latin typeface="Helvetica" charset="0"/>
                <a:cs typeface="Helvetica" charset="0"/>
              </a:rPr>
              <a:t>Put Waiter</a:t>
            </a:r>
          </a:p>
          <a:p>
            <a:pPr algn="ctr"/>
            <a:r>
              <a:rPr lang="en-US" b="0" dirty="0">
                <a:latin typeface="Helvetica" charset="0"/>
                <a:cs typeface="Helvetica" charset="0"/>
              </a:rPr>
              <a:t>thread on ready queue</a:t>
            </a:r>
          </a:p>
        </p:txBody>
      </p:sp>
      <p:sp>
        <p:nvSpPr>
          <p:cNvPr id="3" name="TextBox 2">
            <a:extLst>
              <a:ext uri="{FF2B5EF4-FFF2-40B4-BE49-F238E27FC236}">
                <a16:creationId xmlns:a16="http://schemas.microsoft.com/office/drawing/2014/main" id="{3228E252-7E13-2A4A-5FBA-A0780D0ACC07}"/>
              </a:ext>
            </a:extLst>
          </p:cNvPr>
          <p:cNvSpPr txBox="1"/>
          <p:nvPr/>
        </p:nvSpPr>
        <p:spPr>
          <a:xfrm>
            <a:off x="7136114"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Waiter thread</a:t>
            </a:r>
          </a:p>
        </p:txBody>
      </p:sp>
      <p:sp>
        <p:nvSpPr>
          <p:cNvPr id="4" name="TextBox 3">
            <a:extLst>
              <a:ext uri="{FF2B5EF4-FFF2-40B4-BE49-F238E27FC236}">
                <a16:creationId xmlns:a16="http://schemas.microsoft.com/office/drawing/2014/main" id="{5589E091-E40A-6A66-F1B6-D98A2D8C15ED}"/>
              </a:ext>
            </a:extLst>
          </p:cNvPr>
          <p:cNvSpPr txBox="1"/>
          <p:nvPr/>
        </p:nvSpPr>
        <p:spPr>
          <a:xfrm>
            <a:off x="2471466"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Signaler thread</a:t>
            </a:r>
          </a:p>
        </p:txBody>
      </p:sp>
    </p:spTree>
    <p:extLst>
      <p:ext uri="{BB962C8B-B14F-4D97-AF65-F5344CB8AC3E}">
        <p14:creationId xmlns:p14="http://schemas.microsoft.com/office/powerpoint/2010/main" val="38873016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37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37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37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83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58373"/>
                                        </p:tgtEl>
                                        <p:attrNameLst>
                                          <p:attrName>style.visibility</p:attrName>
                                        </p:attrNameLst>
                                      </p:cBhvr>
                                      <p:to>
                                        <p:strVal val="visible"/>
                                      </p:to>
                                    </p:set>
                                    <p:animEffect transition="in" filter="wipe(up)">
                                      <p:cBhvr>
                                        <p:cTn id="21" dur="500"/>
                                        <p:tgtEl>
                                          <p:spTgt spid="58373"/>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58374"/>
                                        </p:tgtEl>
                                        <p:attrNameLst>
                                          <p:attrName>style.visibility</p:attrName>
                                        </p:attrNameLst>
                                      </p:cBhvr>
                                      <p:to>
                                        <p:strVal val="visible"/>
                                      </p:to>
                                    </p:set>
                                    <p:animEffect transition="in" filter="wipe(up)">
                                      <p:cBhvr>
                                        <p:cTn id="30" dur="500"/>
                                        <p:tgtEl>
                                          <p:spTgt spid="5837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animEffect transition="in" filter="wipe(down)">
                                      <p:cBhvr>
                                        <p:cTn id="35" dur="500"/>
                                        <p:tgtEl>
                                          <p:spTgt spid="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58370">
                                            <p:txEl>
                                              <p:pRg st="13" end="13"/>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8370">
                                            <p:txEl>
                                              <p:pRg st="14" end="14"/>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0" grpId="0" uiExpand="1" build="p"/>
      <p:bldP spid="58371" grpId="0"/>
      <p:bldP spid="58372" grpId="0"/>
      <p:bldP spid="12" grpId="0" animBg="1"/>
      <p:bldP spid="3" grpId="0" animBg="1"/>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CB0B75-BD16-1031-E9EE-93DA654ECF05}"/>
              </a:ext>
            </a:extLst>
          </p:cNvPr>
          <p:cNvSpPr>
            <a:spLocks noGrp="1"/>
          </p:cNvSpPr>
          <p:nvPr>
            <p:ph type="title"/>
          </p:nvPr>
        </p:nvSpPr>
        <p:spPr/>
        <p:txBody>
          <a:bodyPr/>
          <a:lstStyle/>
          <a:p>
            <a:r>
              <a:rPr lang="en-US" altLang="zh-CN" dirty="0"/>
              <a:t>The Thread Join Problem</a:t>
            </a:r>
            <a:endParaRPr lang="en-US" dirty="0"/>
          </a:p>
        </p:txBody>
      </p:sp>
      <p:sp>
        <p:nvSpPr>
          <p:cNvPr id="7" name="文本框 6">
            <a:extLst>
              <a:ext uri="{FF2B5EF4-FFF2-40B4-BE49-F238E27FC236}">
                <a16:creationId xmlns:a16="http://schemas.microsoft.com/office/drawing/2014/main" id="{C47E594C-1D27-7A57-13DE-F999A8F92530}"/>
              </a:ext>
            </a:extLst>
          </p:cNvPr>
          <p:cNvSpPr txBox="1"/>
          <p:nvPr/>
        </p:nvSpPr>
        <p:spPr>
          <a:xfrm>
            <a:off x="2249459" y="2849561"/>
            <a:ext cx="1305165" cy="523220"/>
          </a:xfrm>
          <a:prstGeom prst="rect">
            <a:avLst/>
          </a:prstGeom>
          <a:noFill/>
        </p:spPr>
        <p:txBody>
          <a:bodyPr wrap="none" rtlCol="0">
            <a:spAutoFit/>
          </a:bodyPr>
          <a:lstStyle/>
          <a:p>
            <a:r>
              <a:rPr lang="en-US" altLang="zh-CN" sz="2800" dirty="0">
                <a:solidFill>
                  <a:srgbClr val="FF0000"/>
                </a:solidFill>
              </a:rPr>
              <a:t>Parent</a:t>
            </a:r>
            <a:endParaRPr lang="en-US" sz="2800" dirty="0">
              <a:solidFill>
                <a:srgbClr val="FF0000"/>
              </a:solidFill>
            </a:endParaRPr>
          </a:p>
        </p:txBody>
      </p:sp>
      <p:sp>
        <p:nvSpPr>
          <p:cNvPr id="9" name="文本框 8">
            <a:extLst>
              <a:ext uri="{FF2B5EF4-FFF2-40B4-BE49-F238E27FC236}">
                <a16:creationId xmlns:a16="http://schemas.microsoft.com/office/drawing/2014/main" id="{1FDB735C-6DD3-D43E-53B6-0A6E9BEEB07F}"/>
              </a:ext>
            </a:extLst>
          </p:cNvPr>
          <p:cNvSpPr txBox="1"/>
          <p:nvPr/>
        </p:nvSpPr>
        <p:spPr>
          <a:xfrm>
            <a:off x="2529985" y="5135561"/>
            <a:ext cx="1024639" cy="523220"/>
          </a:xfrm>
          <a:prstGeom prst="rect">
            <a:avLst/>
          </a:prstGeom>
          <a:noFill/>
        </p:spPr>
        <p:txBody>
          <a:bodyPr wrap="none" rtlCol="0">
            <a:spAutoFit/>
          </a:bodyPr>
          <a:lstStyle/>
          <a:p>
            <a:r>
              <a:rPr lang="en-US" altLang="zh-CN" sz="2800" dirty="0">
                <a:solidFill>
                  <a:srgbClr val="FF0000"/>
                </a:solidFill>
              </a:rPr>
              <a:t>Child</a:t>
            </a:r>
            <a:endParaRPr lang="en-US" sz="2800" dirty="0">
              <a:solidFill>
                <a:srgbClr val="FF0000"/>
              </a:solidFill>
            </a:endParaRPr>
          </a:p>
        </p:txBody>
      </p:sp>
      <p:sp>
        <p:nvSpPr>
          <p:cNvPr id="14" name="内容占位符 2">
            <a:extLst>
              <a:ext uri="{FF2B5EF4-FFF2-40B4-BE49-F238E27FC236}">
                <a16:creationId xmlns:a16="http://schemas.microsoft.com/office/drawing/2014/main" id="{78622BAD-4AA9-F6BF-A9DA-2694A98A7FB1}"/>
              </a:ext>
            </a:extLst>
          </p:cNvPr>
          <p:cNvSpPr>
            <a:spLocks noGrp="1"/>
          </p:cNvSpPr>
          <p:nvPr>
            <p:ph idx="1"/>
          </p:nvPr>
        </p:nvSpPr>
        <p:spPr>
          <a:xfrm>
            <a:off x="427804" y="852836"/>
            <a:ext cx="11336392" cy="981631"/>
          </a:xfrm>
        </p:spPr>
        <p:txBody>
          <a:bodyPr/>
          <a:lstStyle/>
          <a:p>
            <a:r>
              <a:rPr lang="en-US" altLang="zh-CN" dirty="0"/>
              <a:t>A</a:t>
            </a:r>
            <a:r>
              <a:rPr lang="zh-CN" altLang="en-US" dirty="0"/>
              <a:t> </a:t>
            </a:r>
            <a:r>
              <a:rPr lang="en-US" altLang="zh-CN" dirty="0"/>
              <a:t>parent</a:t>
            </a:r>
            <a:r>
              <a:rPr lang="zh-CN" altLang="en-US" dirty="0"/>
              <a:t> </a:t>
            </a:r>
            <a:r>
              <a:rPr lang="en-GB" altLang="zh-CN" dirty="0"/>
              <a:t>thread creates a child thread and </a:t>
            </a:r>
            <a:r>
              <a:rPr lang="en-US" altLang="zh-CN" dirty="0"/>
              <a:t>waits</a:t>
            </a:r>
            <a:r>
              <a:rPr lang="zh-CN" altLang="en-US" dirty="0"/>
              <a:t> </a:t>
            </a:r>
            <a:r>
              <a:rPr lang="en-US" altLang="zh-CN" dirty="0"/>
              <a:t>for</a:t>
            </a:r>
            <a:r>
              <a:rPr lang="zh-CN" altLang="en-US" dirty="0"/>
              <a:t> </a:t>
            </a:r>
            <a:r>
              <a:rPr lang="en-US" altLang="zh-CN" dirty="0"/>
              <a:t>the</a:t>
            </a:r>
            <a:r>
              <a:rPr lang="zh-CN" altLang="en-US" dirty="0"/>
              <a:t> </a:t>
            </a:r>
            <a:r>
              <a:rPr lang="en-US" altLang="zh-CN" dirty="0"/>
              <a:t>child thread to finish by calling </a:t>
            </a:r>
            <a:r>
              <a:rPr lang="en-US" altLang="zh-CN" dirty="0" err="1"/>
              <a:t>thr_join</a:t>
            </a:r>
            <a:r>
              <a:rPr lang="en-US" altLang="zh-CN" dirty="0"/>
              <a:t>(); </a:t>
            </a:r>
            <a:r>
              <a:rPr lang="en-US" dirty="0"/>
              <a:t>the child thread signals completion by calling </a:t>
            </a:r>
            <a:r>
              <a:rPr lang="en-US" dirty="0" err="1"/>
              <a:t>thr_exit</a:t>
            </a:r>
            <a:r>
              <a:rPr lang="en-US" dirty="0"/>
              <a:t>(). We need to implement functions </a:t>
            </a:r>
            <a:r>
              <a:rPr lang="en-US" altLang="zh-CN" dirty="0" err="1"/>
              <a:t>thr_join</a:t>
            </a:r>
            <a:r>
              <a:rPr lang="en-US" altLang="zh-CN" dirty="0"/>
              <a:t>() and </a:t>
            </a:r>
            <a:r>
              <a:rPr lang="en-US" altLang="zh-CN" dirty="0" err="1"/>
              <a:t>thr_exit</a:t>
            </a:r>
            <a:r>
              <a:rPr lang="en-US" altLang="zh-CN" dirty="0"/>
              <a:t>().</a:t>
            </a:r>
            <a:endParaRPr lang="en-US" dirty="0"/>
          </a:p>
        </p:txBody>
      </p:sp>
      <p:sp>
        <p:nvSpPr>
          <p:cNvPr id="3" name="Plassholder for innhold 2">
            <a:extLst>
              <a:ext uri="{FF2B5EF4-FFF2-40B4-BE49-F238E27FC236}">
                <a16:creationId xmlns:a16="http://schemas.microsoft.com/office/drawing/2014/main" id="{FB1ABF61-0A55-5A25-F36E-A2428AE727C0}"/>
              </a:ext>
            </a:extLst>
          </p:cNvPr>
          <p:cNvSpPr txBox="1">
            <a:spLocks/>
          </p:cNvSpPr>
          <p:nvPr/>
        </p:nvSpPr>
        <p:spPr bwMode="auto">
          <a:xfrm>
            <a:off x="3581400" y="1986069"/>
            <a:ext cx="5638800" cy="4597292"/>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US" altLang="zh-CN" sz="2000" b="0" kern="0" dirty="0">
                <a:latin typeface="Courier New" panose="02070309020205020404" pitchFamily="49" charset="0"/>
                <a:cs typeface="Courier New" panose="02070309020205020404" pitchFamily="49" charset="0"/>
              </a:rPr>
              <a:t>int main(int </a:t>
            </a:r>
            <a:r>
              <a:rPr lang="en-US" altLang="zh-CN" sz="2000" b="0" kern="0" dirty="0" err="1">
                <a:latin typeface="Courier New" panose="02070309020205020404" pitchFamily="49" charset="0"/>
                <a:cs typeface="Courier New" panose="02070309020205020404" pitchFamily="49" charset="0"/>
              </a:rPr>
              <a:t>argc</a:t>
            </a:r>
            <a:r>
              <a:rPr lang="en-US" altLang="zh-CN" sz="2000" b="0" kern="0" dirty="0">
                <a:latin typeface="Courier New" panose="02070309020205020404" pitchFamily="49" charset="0"/>
                <a:cs typeface="Courier New" panose="02070309020205020404" pitchFamily="49" charset="0"/>
              </a:rPr>
              <a:t>, char *</a:t>
            </a:r>
            <a:r>
              <a:rPr lang="en-US" altLang="zh-CN" sz="2000" b="0" kern="0" dirty="0" err="1">
                <a:latin typeface="Courier New" panose="02070309020205020404" pitchFamily="49" charset="0"/>
                <a:cs typeface="Courier New" panose="02070309020205020404" pitchFamily="49" charset="0"/>
              </a:rPr>
              <a:t>argv</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begin\n");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pthread_t</a:t>
            </a:r>
            <a:r>
              <a:rPr lang="en-US" altLang="zh-CN" sz="2000" b="0" kern="0" dirty="0">
                <a:latin typeface="Courier New" panose="02070309020205020404" pitchFamily="49" charset="0"/>
                <a:cs typeface="Courier New" panose="02070309020205020404" pitchFamily="49" charset="0"/>
              </a:rPr>
              <a:t> p;</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pthread_create</a:t>
            </a:r>
            <a:r>
              <a:rPr lang="en-US" altLang="zh-CN" sz="2000" b="0" kern="0" dirty="0">
                <a:latin typeface="Courier New" panose="02070309020205020404" pitchFamily="49" charset="0"/>
                <a:cs typeface="Courier New" panose="02070309020205020404" pitchFamily="49" charset="0"/>
              </a:rPr>
              <a:t>(&amp;p, NULL, child, NULL);</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thr_join</a:t>
            </a:r>
            <a:r>
              <a:rPr lang="en-US" altLang="zh-CN" sz="2000" b="0" kern="0" dirty="0">
                <a:latin typeface="Courier New" panose="02070309020205020404" pitchFamily="49" charset="0"/>
                <a:cs typeface="Courier New" panose="02070309020205020404" pitchFamily="49" charset="0"/>
              </a:rPr>
              <a:t>(); // wait</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end\n");</a:t>
            </a:r>
          </a:p>
          <a:p>
            <a:pPr marL="0" indent="0">
              <a:buFontTx/>
              <a:buNone/>
            </a:pPr>
            <a:r>
              <a:rPr lang="en-US" altLang="zh-CN" sz="2000" b="0" kern="0" dirty="0">
                <a:latin typeface="Courier New" panose="02070309020205020404" pitchFamily="49" charset="0"/>
                <a:cs typeface="Courier New" panose="02070309020205020404" pitchFamily="49" charset="0"/>
              </a:rPr>
              <a:t>    return 0;</a:t>
            </a:r>
          </a:p>
          <a:p>
            <a:pPr marL="0" indent="0">
              <a:buFontTx/>
              <a:buNone/>
            </a:pPr>
            <a:r>
              <a:rPr lang="en-US" altLang="zh-CN" sz="2000" b="0" kern="0" dirty="0">
                <a:latin typeface="Courier New" panose="02070309020205020404" pitchFamily="49" charset="0"/>
                <a:cs typeface="Courier New" panose="02070309020205020404" pitchFamily="49" charset="0"/>
              </a:rPr>
              <a:t>}</a:t>
            </a:r>
          </a:p>
          <a:p>
            <a:pPr marL="0" indent="0">
              <a:buFontTx/>
              <a:buNone/>
            </a:pPr>
            <a:endParaRPr lang="en-US" altLang="zh-CN" sz="2000" b="0" kern="0" dirty="0">
              <a:latin typeface="Courier New" panose="02070309020205020404" pitchFamily="49" charset="0"/>
              <a:cs typeface="Courier New" panose="02070309020205020404" pitchFamily="49" charset="0"/>
            </a:endParaRPr>
          </a:p>
          <a:p>
            <a:pPr marL="0" indent="0">
              <a:buFontTx/>
              <a:buNone/>
            </a:pPr>
            <a:r>
              <a:rPr lang="en-US" altLang="zh-CN" sz="2000" b="0" kern="0" dirty="0">
                <a:latin typeface="Courier New" panose="02070309020205020404" pitchFamily="49" charset="0"/>
                <a:cs typeface="Courier New" panose="02070309020205020404" pitchFamily="49" charset="0"/>
              </a:rPr>
              <a:t>void *child(void *</a:t>
            </a:r>
            <a:r>
              <a:rPr lang="en-US" altLang="zh-CN" sz="2000" b="0" kern="0" dirty="0" err="1">
                <a:latin typeface="Courier New" panose="02070309020205020404" pitchFamily="49" charset="0"/>
                <a:cs typeface="Courier New" panose="02070309020205020404" pitchFamily="49" charset="0"/>
              </a:rPr>
              <a:t>arg</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("child\n");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thr_exit</a:t>
            </a:r>
            <a:r>
              <a:rPr lang="en-US" altLang="zh-CN" sz="2000" b="0" kern="0" dirty="0">
                <a:latin typeface="Courier New" panose="02070309020205020404" pitchFamily="49" charset="0"/>
                <a:cs typeface="Courier New" panose="02070309020205020404" pitchFamily="49" charset="0"/>
              </a:rPr>
              <a:t>(); // signal</a:t>
            </a:r>
          </a:p>
          <a:p>
            <a:pPr marL="0" indent="0">
              <a:buFontTx/>
              <a:buNone/>
            </a:pPr>
            <a:r>
              <a:rPr lang="en-US" altLang="zh-CN" sz="2000" b="0" kern="0" dirty="0">
                <a:latin typeface="Courier New" panose="02070309020205020404" pitchFamily="49" charset="0"/>
                <a:cs typeface="Courier New" panose="02070309020205020404" pitchFamily="49" charset="0"/>
              </a:rPr>
              <a:t>    return NULL;</a:t>
            </a:r>
          </a:p>
          <a:p>
            <a:pPr marL="0" indent="0">
              <a:buFontTx/>
              <a:buNone/>
            </a:pPr>
            <a:r>
              <a:rPr lang="en-US" altLang="zh-CN" sz="20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338357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B46C6-E5E7-88D4-AB88-7A0516838B6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ABD3D5-A141-189C-D9A7-6B7DDBFD1EF2}"/>
              </a:ext>
            </a:extLst>
          </p:cNvPr>
          <p:cNvSpPr>
            <a:spLocks noGrp="1"/>
          </p:cNvSpPr>
          <p:nvPr>
            <p:ph type="title"/>
          </p:nvPr>
        </p:nvSpPr>
        <p:spPr>
          <a:xfrm>
            <a:off x="247416" y="205381"/>
            <a:ext cx="11563584" cy="477557"/>
          </a:xfrm>
        </p:spPr>
        <p:txBody>
          <a:bodyPr/>
          <a:lstStyle/>
          <a:p>
            <a:r>
              <a:rPr lang="en-US" altLang="zh-CN" sz="2800" dirty="0"/>
              <a:t>Thread Join with </a:t>
            </a:r>
            <a:r>
              <a:rPr lang="en-GB" altLang="zh-CN" sz="2800" dirty="0"/>
              <a:t>Semaphore</a:t>
            </a:r>
            <a:endParaRPr lang="en-US" sz="2800" dirty="0"/>
          </a:p>
        </p:txBody>
      </p:sp>
      <p:sp>
        <p:nvSpPr>
          <p:cNvPr id="27" name="Content Placeholder 6">
            <a:extLst>
              <a:ext uri="{FF2B5EF4-FFF2-40B4-BE49-F238E27FC236}">
                <a16:creationId xmlns:a16="http://schemas.microsoft.com/office/drawing/2014/main" id="{6237FC8E-F362-CAB0-DF73-F0E68D1F1B71}"/>
              </a:ext>
            </a:extLst>
          </p:cNvPr>
          <p:cNvSpPr txBox="1">
            <a:spLocks/>
          </p:cNvSpPr>
          <p:nvPr/>
        </p:nvSpPr>
        <p:spPr bwMode="auto">
          <a:xfrm>
            <a:off x="0" y="728867"/>
            <a:ext cx="6248400" cy="6153141"/>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Semaphore </a:t>
            </a:r>
            <a:r>
              <a:rPr lang="en-GB" b="0" kern="0" dirty="0" err="1"/>
              <a:t>sem</a:t>
            </a:r>
            <a:r>
              <a:rPr lang="en-GB" b="0" kern="0" dirty="0"/>
              <a:t> acts as the synchronization flag. </a:t>
            </a:r>
            <a:r>
              <a:rPr lang="en-GB" b="0" kern="0" dirty="0" err="1"/>
              <a:t>sem</a:t>
            </a:r>
            <a:r>
              <a:rPr lang="en-GB" b="0" kern="0" dirty="0"/>
              <a:t> is initialized to 0. </a:t>
            </a:r>
          </a:p>
          <a:p>
            <a:r>
              <a:rPr lang="en-GB" b="0" kern="0" dirty="0"/>
              <a:t>Works correctly regardless of whether parent or child executes first:</a:t>
            </a:r>
          </a:p>
          <a:p>
            <a:r>
              <a:rPr lang="en-GB" sz="2200" b="0" kern="0" dirty="0"/>
              <a:t>If parent waits first: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blocks since </a:t>
            </a:r>
            <a:r>
              <a:rPr lang="en-GB" sz="2200" b="0" kern="0" dirty="0" err="1"/>
              <a:t>sem</a:t>
            </a:r>
            <a:r>
              <a:rPr lang="en-GB" sz="2200" b="0" kern="0" dirty="0"/>
              <a:t>==0, until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to wake it up.</a:t>
            </a:r>
          </a:p>
          <a:p>
            <a:r>
              <a:rPr lang="en-GB" sz="2200" b="0" kern="0" dirty="0"/>
              <a:t>If child finishes first: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increments </a:t>
            </a:r>
            <a:r>
              <a:rPr lang="en-GB" sz="2200" b="0" kern="0" dirty="0" err="1"/>
              <a:t>sem</a:t>
            </a:r>
            <a:r>
              <a:rPr lang="en-GB" sz="2200" b="0" kern="0" dirty="0"/>
              <a:t> from 0 to 1; subsequently,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decrements </a:t>
            </a:r>
            <a:r>
              <a:rPr lang="en-GB" sz="2200" b="0" kern="0" dirty="0" err="1"/>
              <a:t>sem</a:t>
            </a:r>
            <a:r>
              <a:rPr lang="en-GB" sz="2200" b="0" kern="0" dirty="0"/>
              <a:t> from 1 to 0, and parent continues immediately without blocking.</a:t>
            </a:r>
          </a:p>
          <a:p>
            <a:r>
              <a:rPr lang="en-GB" b="0" kern="0" dirty="0"/>
              <a:t>No Race Condition:</a:t>
            </a:r>
          </a:p>
          <a:p>
            <a:pPr lvl="1"/>
            <a:r>
              <a:rPr lang="en-GB" sz="2000" b="0" kern="0" dirty="0"/>
              <a:t>Semaphores maintain state; No need for additional flags or mutex protection. (In contrast to condition variables.)</a:t>
            </a:r>
          </a:p>
        </p:txBody>
      </p:sp>
      <p:sp>
        <p:nvSpPr>
          <p:cNvPr id="29" name="Plassholder for innhold 2">
            <a:extLst>
              <a:ext uri="{FF2B5EF4-FFF2-40B4-BE49-F238E27FC236}">
                <a16:creationId xmlns:a16="http://schemas.microsoft.com/office/drawing/2014/main" id="{CDBD8B1A-8380-2973-0DBE-CC90C5539050}"/>
              </a:ext>
            </a:extLst>
          </p:cNvPr>
          <p:cNvSpPr txBox="1">
            <a:spLocks/>
          </p:cNvSpPr>
          <p:nvPr/>
        </p:nvSpPr>
        <p:spPr bwMode="auto">
          <a:xfrm>
            <a:off x="6587924" y="914400"/>
            <a:ext cx="5223076" cy="475288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700" b="0" kern="0" dirty="0">
                <a:latin typeface="Courier New" panose="02070309020205020404" pitchFamily="49" charset="0"/>
                <a:cs typeface="Courier New" panose="02070309020205020404" pitchFamily="49" charset="0"/>
              </a:rPr>
              <a:t>semaphore </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0; </a:t>
            </a:r>
          </a:p>
          <a:p>
            <a:pPr marL="0" indent="0">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thr_exit</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pt-BR" altLang="zh-CN" sz="1700" b="0" kern="0" dirty="0">
                <a:latin typeface="Courier New" panose="02070309020205020404" pitchFamily="49" charset="0"/>
                <a:cs typeface="Courier New" panose="02070309020205020404" pitchFamily="49" charset="0"/>
              </a:rPr>
              <a:t>  sem_post(&amp;sem); //Signal parent</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thr_join</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err="1">
                <a:latin typeface="Courier New" panose="02070309020205020404" pitchFamily="49" charset="0"/>
                <a:cs typeface="Courier New" panose="02070309020205020404" pitchFamily="49" charset="0"/>
              </a:rPr>
              <a:t>sem_wait</a:t>
            </a:r>
            <a:r>
              <a:rPr lang="en-GB" altLang="zh-CN" sz="1700" b="0" kern="0" dirty="0">
                <a:latin typeface="Courier New" panose="02070309020205020404" pitchFamily="49" charset="0"/>
                <a:cs typeface="Courier New" panose="02070309020205020404" pitchFamily="49" charset="0"/>
              </a:rPr>
              <a:t>(&amp;</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Wait for child</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297622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C91A3-0201-548F-E9DC-5D1EDAB9ED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41B4C6-FC3E-8857-0E04-306F824A5470}"/>
              </a:ext>
            </a:extLst>
          </p:cNvPr>
          <p:cNvSpPr>
            <a:spLocks noGrp="1"/>
          </p:cNvSpPr>
          <p:nvPr>
            <p:ph type="title"/>
          </p:nvPr>
        </p:nvSpPr>
        <p:spPr>
          <a:xfrm>
            <a:off x="247416" y="205381"/>
            <a:ext cx="11697168" cy="477557"/>
          </a:xfrm>
        </p:spPr>
        <p:txBody>
          <a:bodyPr/>
          <a:lstStyle/>
          <a:p>
            <a:r>
              <a:rPr lang="en-US" altLang="zh-CN" sz="2800" dirty="0"/>
              <a:t>Thread Join with Condition</a:t>
            </a:r>
            <a:r>
              <a:rPr lang="zh-CN" altLang="en-US" sz="2800" dirty="0"/>
              <a:t> </a:t>
            </a:r>
            <a:r>
              <a:rPr lang="en-US" altLang="zh-CN" sz="2800" dirty="0"/>
              <a:t>Variable</a:t>
            </a:r>
            <a:endParaRPr lang="en-US" sz="2800" dirty="0"/>
          </a:p>
        </p:txBody>
      </p:sp>
      <p:sp>
        <p:nvSpPr>
          <p:cNvPr id="27" name="Content Placeholder 6">
            <a:extLst>
              <a:ext uri="{FF2B5EF4-FFF2-40B4-BE49-F238E27FC236}">
                <a16:creationId xmlns:a16="http://schemas.microsoft.com/office/drawing/2014/main" id="{BD86E2CE-B767-B2C5-5D2D-09001E389046}"/>
              </a:ext>
            </a:extLst>
          </p:cNvPr>
          <p:cNvSpPr txBox="1">
            <a:spLocks/>
          </p:cNvSpPr>
          <p:nvPr/>
        </p:nvSpPr>
        <p:spPr bwMode="auto">
          <a:xfrm>
            <a:off x="0" y="672596"/>
            <a:ext cx="5791200" cy="5771233"/>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2200" b="0" kern="0" dirty="0"/>
              <a:t>Condition variables do not maintain state like semaphores do, so we need a shared </a:t>
            </a:r>
            <a:r>
              <a:rPr lang="en-GB" sz="2200" b="0" kern="0" dirty="0" err="1"/>
              <a:t>boolean</a:t>
            </a:r>
            <a:r>
              <a:rPr lang="en-GB" sz="2200" b="0" kern="0" dirty="0"/>
              <a:t> flag “done” to track whether the child thread has completed. (Similar to Boolean flags “buffer full” and “buffer empty” in P/C problem.)</a:t>
            </a:r>
          </a:p>
          <a:p>
            <a:r>
              <a:rPr lang="en-GB" sz="2200" b="0" kern="0" dirty="0"/>
              <a:t>If parent waits first: parent calls </a:t>
            </a:r>
            <a:r>
              <a:rPr lang="en-GB" sz="2200" b="0" kern="0" dirty="0" err="1"/>
              <a:t>thr_join</a:t>
            </a:r>
            <a:r>
              <a:rPr lang="en-GB" sz="2200" b="0" kern="0" dirty="0"/>
              <a:t>() and </a:t>
            </a:r>
            <a:r>
              <a:rPr lang="en-GB" sz="2200" b="0" kern="0" dirty="0" err="1"/>
              <a:t>cond_wait</a:t>
            </a:r>
            <a:r>
              <a:rPr lang="en-GB" sz="2200" b="0" kern="0" dirty="0"/>
              <a:t>(&amp;c, &amp;m) before child calls </a:t>
            </a:r>
            <a:r>
              <a:rPr lang="en-GB" sz="2200" b="0" kern="0" dirty="0" err="1"/>
              <a:t>thr_exit</a:t>
            </a:r>
            <a:r>
              <a:rPr lang="en-GB" sz="2200" b="0" kern="0" dirty="0"/>
              <a:t>() and </a:t>
            </a:r>
            <a:r>
              <a:rPr lang="en-GB" sz="2200" b="0" kern="0" dirty="0" err="1"/>
              <a:t>cond_signal</a:t>
            </a:r>
            <a:r>
              <a:rPr lang="en-GB" sz="2200" b="0" kern="0" dirty="0"/>
              <a:t>(&amp;c). The signal on condition variable c will wake up parent.</a:t>
            </a:r>
          </a:p>
          <a:p>
            <a:r>
              <a:rPr lang="en-GB" sz="2200" b="0" kern="0" dirty="0"/>
              <a:t>If child finishes first: child calls </a:t>
            </a:r>
            <a:r>
              <a:rPr lang="en-GB" sz="2200" b="0" kern="0" dirty="0" err="1"/>
              <a:t>thr_exit</a:t>
            </a:r>
            <a:r>
              <a:rPr lang="en-GB" sz="2200" b="0" kern="0" dirty="0"/>
              <a:t>() and </a:t>
            </a:r>
            <a:r>
              <a:rPr lang="en-GB" sz="2200" b="0" kern="0" dirty="0" err="1"/>
              <a:t>cond_signal</a:t>
            </a:r>
            <a:r>
              <a:rPr lang="en-GB" sz="2200" b="0" kern="0" dirty="0"/>
              <a:t>(&amp;c) before parent calls </a:t>
            </a:r>
            <a:r>
              <a:rPr lang="en-GB" sz="2200" b="0" kern="0" dirty="0" err="1"/>
              <a:t>thr_join</a:t>
            </a:r>
            <a:r>
              <a:rPr lang="en-GB" sz="2200" b="0" kern="0" dirty="0"/>
              <a:t>(). </a:t>
            </a:r>
            <a:r>
              <a:rPr lang="en-GB" sz="2200" b="0" kern="0" dirty="0">
                <a:solidFill>
                  <a:srgbClr val="FF0000"/>
                </a:solidFill>
              </a:rPr>
              <a:t>Parent will detect that “done” is already set so it will not call </a:t>
            </a:r>
            <a:r>
              <a:rPr lang="en-GB" sz="2200" b="0" kern="0" dirty="0" err="1">
                <a:solidFill>
                  <a:srgbClr val="FF0000"/>
                </a:solidFill>
              </a:rPr>
              <a:t>cond_wait</a:t>
            </a:r>
            <a:r>
              <a:rPr lang="en-GB" sz="2200" b="0" kern="0" dirty="0">
                <a:solidFill>
                  <a:srgbClr val="FF0000"/>
                </a:solidFill>
              </a:rPr>
              <a:t>() and will not block. </a:t>
            </a:r>
            <a:r>
              <a:rPr lang="en-GB" sz="2200" b="0" kern="0" dirty="0"/>
              <a:t>(While loop around </a:t>
            </a:r>
            <a:r>
              <a:rPr lang="en-GB" sz="2200" b="0" kern="0" dirty="0" err="1"/>
              <a:t>cond_wait</a:t>
            </a:r>
            <a:r>
              <a:rPr lang="en-GB" sz="2200" b="0" kern="0" dirty="0"/>
              <a:t>(&amp;c) ensures correctness in case of spurious wakeups.)</a:t>
            </a:r>
          </a:p>
          <a:p>
            <a:r>
              <a:rPr lang="en-GB" sz="2200" b="0" kern="0" dirty="0"/>
              <a:t>Special case of Producer-Consumer problem with buffer size 1.</a:t>
            </a:r>
          </a:p>
        </p:txBody>
      </p:sp>
      <p:sp>
        <p:nvSpPr>
          <p:cNvPr id="29" name="Plassholder for innhold 2">
            <a:extLst>
              <a:ext uri="{FF2B5EF4-FFF2-40B4-BE49-F238E27FC236}">
                <a16:creationId xmlns:a16="http://schemas.microsoft.com/office/drawing/2014/main" id="{F160DA55-268F-FE51-8A65-F73F17B4B281}"/>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700" b="0" kern="0" dirty="0" err="1">
                <a:latin typeface="Courier New" panose="02070309020205020404" pitchFamily="49" charset="0"/>
                <a:cs typeface="Courier New" panose="02070309020205020404" pitchFamily="49" charset="0"/>
              </a:rPr>
              <a:t>pthread_mutex_t</a:t>
            </a:r>
            <a:r>
              <a:rPr lang="en-US" altLang="zh-CN" sz="1700" b="0" kern="0" dirty="0">
                <a:latin typeface="Courier New" panose="02070309020205020404" pitchFamily="49" charset="0"/>
                <a:cs typeface="Courier New" panose="02070309020205020404" pitchFamily="49" charset="0"/>
              </a:rPr>
              <a:t> m = PTHREAD_MUTEX_INITIALIZER;</a:t>
            </a:r>
          </a:p>
          <a:p>
            <a:pPr marL="0" indent="0">
              <a:buNone/>
            </a:pPr>
            <a:r>
              <a:rPr lang="en-US" altLang="zh-CN" sz="1700" b="0" kern="0" dirty="0" err="1">
                <a:latin typeface="Courier New" panose="02070309020205020404" pitchFamily="49" charset="0"/>
                <a:cs typeface="Courier New" panose="02070309020205020404" pitchFamily="49" charset="0"/>
              </a:rPr>
              <a:t>pthread_cond_t</a:t>
            </a:r>
            <a:r>
              <a:rPr lang="en-US" altLang="zh-CN" sz="1700" b="0" kern="0" dirty="0">
                <a:latin typeface="Courier New" panose="02070309020205020404" pitchFamily="49" charset="0"/>
                <a:cs typeface="Courier New" panose="02070309020205020404" pitchFamily="49" charset="0"/>
              </a:rPr>
              <a:t> c = PTHREAD_COND_INITIALIZER;</a:t>
            </a:r>
          </a:p>
          <a:p>
            <a:pPr marL="0" indent="0">
              <a:buNone/>
            </a:pPr>
            <a:r>
              <a:rPr lang="en-US" altLang="zh-CN" sz="1700" b="0" kern="0" dirty="0">
                <a:latin typeface="Courier New" panose="02070309020205020404" pitchFamily="49" charset="0"/>
                <a:cs typeface="Courier New" panose="02070309020205020404" pitchFamily="49" charset="0"/>
              </a:rPr>
              <a:t>bool done = false;  </a:t>
            </a: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thr_exit</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done = true;</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pthread_cond_signal</a:t>
            </a:r>
            <a:r>
              <a:rPr lang="en-US" altLang="zh-CN" sz="1700" b="0" kern="0" dirty="0">
                <a:latin typeface="Courier New" panose="02070309020205020404" pitchFamily="49" charset="0"/>
                <a:cs typeface="Courier New" panose="02070309020205020404" pitchFamily="49" charset="0"/>
              </a:rPr>
              <a:t>(&amp;c);</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thr_join</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while (!done) {//Check if child has finished</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pthread_cond_wait</a:t>
            </a:r>
            <a:r>
              <a:rPr lang="en-US" altLang="zh-CN" sz="1700" b="0" kern="0" dirty="0">
                <a:latin typeface="Courier New" panose="02070309020205020404" pitchFamily="49" charset="0"/>
                <a:cs typeface="Courier New" panose="02070309020205020404" pitchFamily="49" charset="0"/>
              </a:rPr>
              <a:t>(&amp;c, &amp;m);</a:t>
            </a:r>
          </a:p>
          <a:p>
            <a:pPr marL="0" indent="0">
              <a:buNone/>
            </a:pP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7664380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CD166-A4AC-EBF2-F45B-2310E06E06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6182E5-1700-2C6F-B8CC-8CD4E7D9EEC6}"/>
              </a:ext>
            </a:extLst>
          </p:cNvPr>
          <p:cNvSpPr>
            <a:spLocks noGrp="1"/>
          </p:cNvSpPr>
          <p:nvPr>
            <p:ph type="title"/>
          </p:nvPr>
        </p:nvSpPr>
        <p:spPr>
          <a:xfrm>
            <a:off x="247416" y="0"/>
            <a:ext cx="10725384" cy="477557"/>
          </a:xfrm>
        </p:spPr>
        <p:txBody>
          <a:bodyPr/>
          <a:lstStyle/>
          <a:p>
            <a:r>
              <a:rPr lang="en-US" altLang="zh-CN" sz="2800" dirty="0"/>
              <a:t>Thread Join with Condition</a:t>
            </a:r>
            <a:r>
              <a:rPr lang="zh-CN" altLang="en-US" sz="2800" dirty="0"/>
              <a:t> </a:t>
            </a:r>
            <a:r>
              <a:rPr lang="en-US" altLang="zh-CN" sz="2800" dirty="0"/>
              <a:t>Variables: Incorrect</a:t>
            </a:r>
            <a:endParaRPr lang="en-US" sz="2800" dirty="0"/>
          </a:p>
        </p:txBody>
      </p:sp>
      <p:sp>
        <p:nvSpPr>
          <p:cNvPr id="29" name="Plassholder for innhold 2">
            <a:extLst>
              <a:ext uri="{FF2B5EF4-FFF2-40B4-BE49-F238E27FC236}">
                <a16:creationId xmlns:a16="http://schemas.microsoft.com/office/drawing/2014/main" id="{559F303D-9FE6-A286-8D99-0492024F5964}"/>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 = PTHREAD_MUTEX_INITIALIZER;</a:t>
            </a:r>
          </a:p>
          <a:p>
            <a:pPr marL="0" indent="0">
              <a:buFontTx/>
              <a:buNone/>
            </a:pPr>
            <a:r>
              <a:rPr lang="en-GB" altLang="zh-CN" sz="1800" b="0" kern="0" dirty="0" err="1">
                <a:latin typeface="Courier New" panose="02070309020205020404" pitchFamily="49" charset="0"/>
                <a:cs typeface="Courier New" panose="02070309020205020404" pitchFamily="49" charset="0"/>
              </a:rPr>
              <a:t>pthread_cond_t</a:t>
            </a:r>
            <a:r>
              <a:rPr lang="en-GB" altLang="zh-CN" sz="1800" b="0" kern="0" dirty="0">
                <a:latin typeface="Courier New" panose="02070309020205020404" pitchFamily="49" charset="0"/>
                <a:cs typeface="Courier New" panose="02070309020205020404" pitchFamily="49" charset="0"/>
              </a:rPr>
              <a:t> c = PTHREAD_COND_INITIALIZER; </a:t>
            </a:r>
          </a:p>
          <a:p>
            <a:pPr marL="0" indent="0">
              <a:buFontTx/>
              <a:buNone/>
            </a:pPr>
            <a:r>
              <a:rPr lang="en-GB" altLang="zh-CN" sz="1800" b="0" kern="0" dirty="0">
                <a:latin typeface="Courier New" panose="02070309020205020404" pitchFamily="49" charset="0"/>
                <a:cs typeface="Courier New" panose="02070309020205020404" pitchFamily="49" charset="0"/>
              </a:rPr>
              <a:t>//Child</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thr_exit</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(&amp;m);//A</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pthread_cond_signal</a:t>
            </a:r>
            <a:r>
              <a:rPr lang="en-GB" altLang="zh-CN" sz="1800" b="0" kern="0" dirty="0">
                <a:latin typeface="Courier New" panose="02070309020205020404" pitchFamily="49" charset="0"/>
                <a:cs typeface="Courier New" panose="02070309020205020404" pitchFamily="49" charset="0"/>
              </a:rPr>
              <a:t>(&amp;c);//B</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(&amp;m);}//C</a:t>
            </a:r>
          </a:p>
          <a:p>
            <a:pPr marL="0" indent="0">
              <a:buFontTx/>
              <a:buNone/>
            </a:pPr>
            <a:r>
              <a:rPr lang="en-GB" altLang="zh-CN" sz="1800" b="0" kern="0" dirty="0">
                <a:latin typeface="Courier New" panose="02070309020205020404" pitchFamily="49" charset="0"/>
                <a:cs typeface="Courier New" panose="02070309020205020404" pitchFamily="49" charset="0"/>
              </a:rPr>
              <a:t>//Parent</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thr_join</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(&amp;m);//X</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pthread_cond_wait</a:t>
            </a:r>
            <a:r>
              <a:rPr lang="en-GB" altLang="zh-CN" sz="1800" b="0" kern="0" dirty="0">
                <a:latin typeface="Courier New" panose="02070309020205020404" pitchFamily="49" charset="0"/>
                <a:cs typeface="Courier New" panose="02070309020205020404" pitchFamily="49" charset="0"/>
              </a:rPr>
              <a:t>(&amp;c, &amp;m);//Y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(&amp;m);}//Z</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1883F811-354B-A945-7268-7F8B66B45AFE}"/>
              </a:ext>
            </a:extLst>
          </p:cNvPr>
          <p:cNvGraphicFramePr>
            <a:graphicFrameLocks noGrp="1"/>
          </p:cNvGraphicFramePr>
          <p:nvPr>
            <p:extLst>
              <p:ext uri="{D42A27DB-BD31-4B8C-83A1-F6EECF244321}">
                <p14:modId xmlns:p14="http://schemas.microsoft.com/office/powerpoint/2010/main" val="747533662"/>
              </p:ext>
            </p:extLst>
          </p:nvPr>
        </p:nvGraphicFramePr>
        <p:xfrm>
          <a:off x="1279530" y="4460267"/>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tc>
                  <a:txBody>
                    <a:bodyPr/>
                    <a:lstStyle/>
                    <a:p>
                      <a:pPr algn="ctr"/>
                      <a:endParaRPr lang="en-SE"/>
                    </a:p>
                  </a:txBody>
                  <a:tcPr/>
                </a:tc>
                <a:tc>
                  <a:txBody>
                    <a:bodyPr/>
                    <a:lstStyle/>
                    <a:p>
                      <a:pPr algn="ctr"/>
                      <a:endParaRPr lang="en-SE" dirty="0"/>
                    </a:p>
                  </a:txBody>
                  <a:tcPr/>
                </a:tc>
                <a:tc>
                  <a:txBody>
                    <a:bodyPr/>
                    <a:lstStyle/>
                    <a:p>
                      <a:pPr algn="ctr"/>
                      <a:r>
                        <a:rPr lang="en-GB" dirty="0"/>
                        <a:t>Z</a:t>
                      </a:r>
                      <a:endParaRPr lang="en-SE" dirty="0"/>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graphicFrame>
        <p:nvGraphicFramePr>
          <p:cNvPr id="7" name="Table 6">
            <a:extLst>
              <a:ext uri="{FF2B5EF4-FFF2-40B4-BE49-F238E27FC236}">
                <a16:creationId xmlns:a16="http://schemas.microsoft.com/office/drawing/2014/main" id="{2552F690-185D-D5A0-0992-A4426C71A77A}"/>
              </a:ext>
            </a:extLst>
          </p:cNvPr>
          <p:cNvGraphicFramePr>
            <a:graphicFrameLocks noGrp="1"/>
          </p:cNvGraphicFramePr>
          <p:nvPr>
            <p:extLst>
              <p:ext uri="{D42A27DB-BD31-4B8C-83A1-F6EECF244321}">
                <p14:modId xmlns:p14="http://schemas.microsoft.com/office/powerpoint/2010/main" val="775633817"/>
              </p:ext>
            </p:extLst>
          </p:nvPr>
        </p:nvGraphicFramePr>
        <p:xfrm>
          <a:off x="1289978" y="5954174"/>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sp>
        <p:nvSpPr>
          <p:cNvPr id="15" name="文本框 8">
            <a:extLst>
              <a:ext uri="{FF2B5EF4-FFF2-40B4-BE49-F238E27FC236}">
                <a16:creationId xmlns:a16="http://schemas.microsoft.com/office/drawing/2014/main" id="{5F5A7023-863A-3B58-2CAE-A5CCBF87C48C}"/>
              </a:ext>
            </a:extLst>
          </p:cNvPr>
          <p:cNvSpPr txBox="1"/>
          <p:nvPr/>
        </p:nvSpPr>
        <p:spPr>
          <a:xfrm>
            <a:off x="698404" y="5163256"/>
            <a:ext cx="4325371"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400" b="0" kern="0" dirty="0">
                <a:latin typeface="Gill Sans" charset="0"/>
              </a:rPr>
              <a:t>2</a:t>
            </a:r>
            <a:r>
              <a:rPr lang="en-US" sz="2000" b="0" kern="0" dirty="0">
                <a:latin typeface="Gill Sans" charset="0"/>
              </a:rPr>
              <a:t>: Child calls </a:t>
            </a:r>
            <a:r>
              <a:rPr lang="en-GB" sz="2000" b="0" kern="0" dirty="0" err="1">
                <a:latin typeface="Gill Sans" charset="0"/>
              </a:rPr>
              <a:t>thr_exit</a:t>
            </a:r>
            <a:r>
              <a:rPr lang="en-GB" sz="2000" b="0" kern="0" dirty="0">
                <a:latin typeface="Gill Sans" charset="0"/>
              </a:rPr>
              <a:t>() first. Parent blocks forever!</a:t>
            </a:r>
            <a:endParaRPr lang="en-US" sz="2000" b="0" kern="0" dirty="0">
              <a:latin typeface="Gill Sans" charset="0"/>
            </a:endParaRPr>
          </a:p>
        </p:txBody>
      </p:sp>
      <p:sp>
        <p:nvSpPr>
          <p:cNvPr id="3" name="Content Placeholder 6">
            <a:extLst>
              <a:ext uri="{FF2B5EF4-FFF2-40B4-BE49-F238E27FC236}">
                <a16:creationId xmlns:a16="http://schemas.microsoft.com/office/drawing/2014/main" id="{8F9D8102-76C3-178D-B437-0788C922D438}"/>
              </a:ext>
            </a:extLst>
          </p:cNvPr>
          <p:cNvSpPr txBox="1">
            <a:spLocks/>
          </p:cNvSpPr>
          <p:nvPr/>
        </p:nvSpPr>
        <p:spPr bwMode="auto">
          <a:xfrm>
            <a:off x="5248" y="545020"/>
            <a:ext cx="5969668" cy="3295056"/>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If we remove Boolean flag “done”, then the program is incorrect. </a:t>
            </a:r>
            <a:r>
              <a:rPr lang="en-GB" sz="2400" b="0" kern="0" dirty="0"/>
              <a:t>Condition variables do not maintain state (queue signals) if no thread is waiting at the time of signal. </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a:t>
            </a:r>
            <a:r>
              <a:rPr lang="en-GB" b="0" kern="0" dirty="0">
                <a:solidFill>
                  <a:srgbClr val="FF0000"/>
                </a:solidFill>
              </a:rPr>
              <a:t>Child’s signal on condition variable c will be lost, and parent will wait forever in </a:t>
            </a:r>
            <a:r>
              <a:rPr lang="en-GB" b="0" kern="0" dirty="0" err="1">
                <a:solidFill>
                  <a:srgbClr val="FF0000"/>
                </a:solidFill>
              </a:rPr>
              <a:t>cond_wait</a:t>
            </a:r>
            <a:r>
              <a:rPr lang="en-GB" b="0" kern="0" dirty="0">
                <a:solidFill>
                  <a:srgbClr val="FF0000"/>
                </a:solidFill>
              </a:rPr>
              <a:t>().</a:t>
            </a:r>
          </a:p>
        </p:txBody>
      </p:sp>
      <p:sp>
        <p:nvSpPr>
          <p:cNvPr id="13" name="文本框 8">
            <a:extLst>
              <a:ext uri="{FF2B5EF4-FFF2-40B4-BE49-F238E27FC236}">
                <a16:creationId xmlns:a16="http://schemas.microsoft.com/office/drawing/2014/main" id="{9347C3B6-C21E-6182-775F-E60A6E0E2B1B}"/>
              </a:ext>
            </a:extLst>
          </p:cNvPr>
          <p:cNvSpPr txBox="1"/>
          <p:nvPr/>
        </p:nvSpPr>
        <p:spPr>
          <a:xfrm>
            <a:off x="685800" y="3657600"/>
            <a:ext cx="4896048"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000" b="0" kern="0" dirty="0">
                <a:latin typeface="Gill Sans" charset="0"/>
              </a:rPr>
              <a:t>1: Parent calls </a:t>
            </a:r>
            <a:r>
              <a:rPr lang="en-GB" sz="2000" b="0" kern="0" dirty="0" err="1">
                <a:latin typeface="Gill Sans" charset="0"/>
              </a:rPr>
              <a:t>thr_join</a:t>
            </a:r>
            <a:r>
              <a:rPr lang="en-GB" sz="2000" b="0" kern="0" dirty="0">
                <a:latin typeface="Gill Sans" charset="0"/>
              </a:rPr>
              <a:t>() first. Works OK.</a:t>
            </a:r>
            <a:r>
              <a:rPr lang="en-US" sz="2000" b="0" kern="0" dirty="0">
                <a:latin typeface="Gill Sans" charset="0"/>
              </a:rPr>
              <a:t> </a:t>
            </a:r>
          </a:p>
        </p:txBody>
      </p:sp>
    </p:spTree>
    <p:extLst>
      <p:ext uri="{BB962C8B-B14F-4D97-AF65-F5344CB8AC3E}">
        <p14:creationId xmlns:p14="http://schemas.microsoft.com/office/powerpoint/2010/main" val="15922011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Dining Philosophers</a:t>
            </a:r>
          </a:p>
        </p:txBody>
      </p:sp>
      <p:sp>
        <p:nvSpPr>
          <p:cNvPr id="3" name="Content Placeholder 2"/>
          <p:cNvSpPr>
            <a:spLocks noGrp="1"/>
          </p:cNvSpPr>
          <p:nvPr>
            <p:ph idx="1"/>
          </p:nvPr>
        </p:nvSpPr>
        <p:spPr>
          <a:xfrm>
            <a:off x="838200" y="914400"/>
            <a:ext cx="6858000" cy="5638800"/>
          </a:xfrm>
        </p:spPr>
        <p:txBody>
          <a:bodyPr>
            <a:normAutofit fontScale="92500" lnSpcReduction="20000"/>
          </a:bodyPr>
          <a:lstStyle/>
          <a:p>
            <a:r>
              <a:rPr lang="en-GB" dirty="0"/>
              <a:t>N philosophers sit at a round table.</a:t>
            </a:r>
          </a:p>
          <a:p>
            <a:r>
              <a:rPr lang="en-GB" dirty="0"/>
              <a:t>They spend their lives alternating thinking and eating.</a:t>
            </a:r>
          </a:p>
          <a:p>
            <a:r>
              <a:rPr lang="en-GB" dirty="0"/>
              <a:t>They do not communicate with their </a:t>
            </a:r>
            <a:r>
              <a:rPr lang="en-GB" dirty="0" err="1"/>
              <a:t>neighbors</a:t>
            </a:r>
            <a:r>
              <a:rPr lang="en-GB" dirty="0"/>
              <a:t>.</a:t>
            </a:r>
          </a:p>
          <a:p>
            <a:r>
              <a:rPr lang="en-GB" dirty="0"/>
              <a:t>Each philosopher occasionally tries to pick up </a:t>
            </a:r>
            <a:r>
              <a:rPr lang="en-US" dirty="0"/>
              <a:t>his left and right forks </a:t>
            </a:r>
            <a:r>
              <a:rPr lang="en-GB" dirty="0"/>
              <a:t>(one at a time) to eat.</a:t>
            </a:r>
          </a:p>
          <a:p>
            <a:r>
              <a:rPr lang="en-GB" dirty="0"/>
              <a:t>Needs both forks to eat, then releases both when done eating</a:t>
            </a:r>
            <a:r>
              <a:rPr lang="en-US" dirty="0"/>
              <a:t>.</a:t>
            </a:r>
          </a:p>
          <a:p>
            <a:r>
              <a:rPr lang="en-US" dirty="0"/>
              <a:t>Suppose we have 5 philosophers numbered 0-4, and 5 forks numbered 0-4; philosopher i has left fork numbered i, and right fork (i+1)%5.</a:t>
            </a:r>
            <a:endParaRPr lang="en-GB" dirty="0"/>
          </a:p>
        </p:txBody>
      </p:sp>
      <p:pic>
        <p:nvPicPr>
          <p:cNvPr id="5" name="Picture 2">
            <a:extLst>
              <a:ext uri="{FF2B5EF4-FFF2-40B4-BE49-F238E27FC236}">
                <a16:creationId xmlns:a16="http://schemas.microsoft.com/office/drawing/2014/main" id="{537666FB-B07D-870B-E47C-B48D50FEE8DA}"/>
              </a:ext>
            </a:extLst>
          </p:cNvPr>
          <p:cNvPicPr>
            <a:picLocks noChangeAspect="1" noChangeArrowheads="1"/>
          </p:cNvPicPr>
          <p:nvPr/>
        </p:nvPicPr>
        <p:blipFill>
          <a:blip r:embed="rId3" cstate="print"/>
          <a:srcRect/>
          <a:stretch>
            <a:fillRect/>
          </a:stretch>
        </p:blipFill>
        <p:spPr bwMode="auto">
          <a:xfrm>
            <a:off x="7828991" y="1304925"/>
            <a:ext cx="4114800" cy="4248150"/>
          </a:xfrm>
          <a:prstGeom prst="rect">
            <a:avLst/>
          </a:prstGeom>
          <a:noFill/>
          <a:ln w="9525">
            <a:noFill/>
            <a:miter lim="800000"/>
            <a:headEnd/>
            <a:tailEnd/>
          </a:ln>
        </p:spPr>
      </p:pic>
      <p:sp>
        <p:nvSpPr>
          <p:cNvPr id="6" name="TextBox 5">
            <a:extLst>
              <a:ext uri="{FF2B5EF4-FFF2-40B4-BE49-F238E27FC236}">
                <a16:creationId xmlns:a16="http://schemas.microsoft.com/office/drawing/2014/main" id="{DB200728-F5F9-8217-05C0-B6B16278B9B3}"/>
              </a:ext>
            </a:extLst>
          </p:cNvPr>
          <p:cNvSpPr txBox="1"/>
          <p:nvPr/>
        </p:nvSpPr>
        <p:spPr>
          <a:xfrm>
            <a:off x="8196580" y="344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7" name="TextBox 6">
            <a:extLst>
              <a:ext uri="{FF2B5EF4-FFF2-40B4-BE49-F238E27FC236}">
                <a16:creationId xmlns:a16="http://schemas.microsoft.com/office/drawing/2014/main" id="{947EFD54-F0E0-D0D5-12C2-D6AE5DB91B37}"/>
              </a:ext>
            </a:extLst>
          </p:cNvPr>
          <p:cNvSpPr txBox="1"/>
          <p:nvPr/>
        </p:nvSpPr>
        <p:spPr>
          <a:xfrm>
            <a:off x="9745980" y="4547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8" name="TextBox 7">
            <a:extLst>
              <a:ext uri="{FF2B5EF4-FFF2-40B4-BE49-F238E27FC236}">
                <a16:creationId xmlns:a16="http://schemas.microsoft.com/office/drawing/2014/main" id="{C47CD7E6-D10F-6376-D2E9-AD2E20245D33}"/>
              </a:ext>
            </a:extLst>
          </p:cNvPr>
          <p:cNvSpPr txBox="1"/>
          <p:nvPr/>
        </p:nvSpPr>
        <p:spPr>
          <a:xfrm>
            <a:off x="11219180" y="3455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9" name="TextBox 8">
            <a:extLst>
              <a:ext uri="{FF2B5EF4-FFF2-40B4-BE49-F238E27FC236}">
                <a16:creationId xmlns:a16="http://schemas.microsoft.com/office/drawing/2014/main" id="{72BC418B-459E-03D4-0819-57CD34B5D0A2}"/>
              </a:ext>
            </a:extLst>
          </p:cNvPr>
          <p:cNvSpPr txBox="1"/>
          <p:nvPr/>
        </p:nvSpPr>
        <p:spPr>
          <a:xfrm>
            <a:off x="10660380" y="1600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0" name="TextBox 9">
            <a:extLst>
              <a:ext uri="{FF2B5EF4-FFF2-40B4-BE49-F238E27FC236}">
                <a16:creationId xmlns:a16="http://schemas.microsoft.com/office/drawing/2014/main" id="{7A7754C4-0F64-59F3-8DCF-3561EBBD1B3D}"/>
              </a:ext>
            </a:extLst>
          </p:cNvPr>
          <p:cNvSpPr txBox="1"/>
          <p:nvPr/>
        </p:nvSpPr>
        <p:spPr>
          <a:xfrm>
            <a:off x="8780780" y="16389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1" name="TextBox 10">
            <a:extLst>
              <a:ext uri="{FF2B5EF4-FFF2-40B4-BE49-F238E27FC236}">
                <a16:creationId xmlns:a16="http://schemas.microsoft.com/office/drawing/2014/main" id="{99E6400D-BF84-A2B3-48A7-359FB517CC18}"/>
              </a:ext>
            </a:extLst>
          </p:cNvPr>
          <p:cNvSpPr txBox="1"/>
          <p:nvPr/>
        </p:nvSpPr>
        <p:spPr>
          <a:xfrm>
            <a:off x="8387080" y="46361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12" name="TextBox 11">
            <a:extLst>
              <a:ext uri="{FF2B5EF4-FFF2-40B4-BE49-F238E27FC236}">
                <a16:creationId xmlns:a16="http://schemas.microsoft.com/office/drawing/2014/main" id="{D40C0E9E-AB59-487C-D9FA-B414CEF7FFA8}"/>
              </a:ext>
            </a:extLst>
          </p:cNvPr>
          <p:cNvSpPr txBox="1"/>
          <p:nvPr/>
        </p:nvSpPr>
        <p:spPr>
          <a:xfrm>
            <a:off x="11028680" y="4598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13" name="TextBox 12">
            <a:extLst>
              <a:ext uri="{FF2B5EF4-FFF2-40B4-BE49-F238E27FC236}">
                <a16:creationId xmlns:a16="http://schemas.microsoft.com/office/drawing/2014/main" id="{E9296375-A25C-B5F2-D294-BD6182118DEB}"/>
              </a:ext>
            </a:extLst>
          </p:cNvPr>
          <p:cNvSpPr txBox="1"/>
          <p:nvPr/>
        </p:nvSpPr>
        <p:spPr>
          <a:xfrm>
            <a:off x="11605237" y="217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14" name="TextBox 13">
            <a:extLst>
              <a:ext uri="{FF2B5EF4-FFF2-40B4-BE49-F238E27FC236}">
                <a16:creationId xmlns:a16="http://schemas.microsoft.com/office/drawing/2014/main" id="{45A9AA3E-0200-EFFF-C4FD-F4B6A93A1BB9}"/>
              </a:ext>
            </a:extLst>
          </p:cNvPr>
          <p:cNvSpPr txBox="1"/>
          <p:nvPr/>
        </p:nvSpPr>
        <p:spPr>
          <a:xfrm>
            <a:off x="9606280" y="864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5" name="TextBox 14">
            <a:extLst>
              <a:ext uri="{FF2B5EF4-FFF2-40B4-BE49-F238E27FC236}">
                <a16:creationId xmlns:a16="http://schemas.microsoft.com/office/drawing/2014/main" id="{1840FA62-D8ED-F8AE-0380-9FD4A4D43C8B}"/>
              </a:ext>
            </a:extLst>
          </p:cNvPr>
          <p:cNvSpPr txBox="1"/>
          <p:nvPr/>
        </p:nvSpPr>
        <p:spPr>
          <a:xfrm>
            <a:off x="7726680" y="2108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7BA9F-17F8-0876-DB88-BE4CA8825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F09191-233B-2C4D-CE62-D76DF7EE52FF}"/>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38F17742-894B-0FF2-6609-07CC66648006}"/>
              </a:ext>
            </a:extLst>
          </p:cNvPr>
          <p:cNvSpPr>
            <a:spLocks noGrp="1"/>
          </p:cNvSpPr>
          <p:nvPr>
            <p:ph idx="1"/>
          </p:nvPr>
        </p:nvSpPr>
        <p:spPr>
          <a:xfrm>
            <a:off x="0" y="838200"/>
            <a:ext cx="5486401" cy="6134100"/>
          </a:xfrm>
        </p:spPr>
        <p:txBody>
          <a:bodyPr>
            <a:normAutofit fontScale="85000" lnSpcReduction="20000"/>
          </a:bodyPr>
          <a:lstStyle/>
          <a:p>
            <a:r>
              <a:rPr lang="en-GB" dirty="0"/>
              <a:t>Each fork (or chopstick) is </a:t>
            </a:r>
            <a:r>
              <a:rPr lang="en-GB" dirty="0" err="1"/>
              <a:t>modeled</a:t>
            </a:r>
            <a:r>
              <a:rPr lang="en-GB" dirty="0"/>
              <a:t> as a binary semaphore that is initially set to 1, meaning it is available. When a philosopher wants to eat, they perform a wait (or P) operation to pick up a fork and a signal (or V) operation to release it afterward. </a:t>
            </a:r>
          </a:p>
          <a:p>
            <a:r>
              <a:rPr lang="en-GB" b="1" dirty="0"/>
              <a:t>Deadlock situation: </a:t>
            </a:r>
            <a:r>
              <a:rPr lang="en-GB" dirty="0"/>
              <a:t>Each philosopher first executes a blocking wait to pick up the left fork and then tries to pick up the right fork. If all philosophers adopt this pattern simultaneously, every philosopher may pick up their left fork and then block waiting for the right fork (which is held by its </a:t>
            </a:r>
            <a:r>
              <a:rPr lang="en-GB" dirty="0" err="1"/>
              <a:t>neighbor</a:t>
            </a:r>
            <a:r>
              <a:rPr lang="en-GB" dirty="0"/>
              <a:t>), resulting in a deadlock, circular wait where none can proceed.</a:t>
            </a:r>
          </a:p>
        </p:txBody>
      </p:sp>
      <p:sp>
        <p:nvSpPr>
          <p:cNvPr id="4" name="Plassholder for innhold 2">
            <a:extLst>
              <a:ext uri="{FF2B5EF4-FFF2-40B4-BE49-F238E27FC236}">
                <a16:creationId xmlns:a16="http://schemas.microsoft.com/office/drawing/2014/main" id="{BE5AB1A5-A8A3-D5E2-C9EB-9C6C7933BF51}"/>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242957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BA019-2F28-7682-A799-D40B915FB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EF80D7-DC69-8CBE-22BE-E8D6454F8B84}"/>
              </a:ext>
            </a:extLst>
          </p:cNvPr>
          <p:cNvSpPr>
            <a:spLocks noGrp="1"/>
          </p:cNvSpPr>
          <p:nvPr>
            <p:ph type="title"/>
          </p:nvPr>
        </p:nvSpPr>
        <p:spPr/>
        <p:txBody>
          <a:bodyPr/>
          <a:lstStyle/>
          <a:p>
            <a:r>
              <a:rPr lang="en-GB" dirty="0"/>
              <a:t>Semaphore-based Solution 0: Global Lock</a:t>
            </a:r>
            <a:endParaRPr lang="en-SE" dirty="0"/>
          </a:p>
        </p:txBody>
      </p:sp>
      <p:sp>
        <p:nvSpPr>
          <p:cNvPr id="3" name="Content Placeholder 2">
            <a:extLst>
              <a:ext uri="{FF2B5EF4-FFF2-40B4-BE49-F238E27FC236}">
                <a16:creationId xmlns:a16="http://schemas.microsoft.com/office/drawing/2014/main" id="{F4D19AEE-1F71-0BE2-F627-FC4797B08793}"/>
              </a:ext>
            </a:extLst>
          </p:cNvPr>
          <p:cNvSpPr>
            <a:spLocks noGrp="1"/>
          </p:cNvSpPr>
          <p:nvPr>
            <p:ph idx="1"/>
          </p:nvPr>
        </p:nvSpPr>
        <p:spPr>
          <a:xfrm>
            <a:off x="77894" y="870966"/>
            <a:ext cx="5486401" cy="5987034"/>
          </a:xfrm>
        </p:spPr>
        <p:txBody>
          <a:bodyPr>
            <a:normAutofit/>
          </a:bodyPr>
          <a:lstStyle/>
          <a:p>
            <a:r>
              <a:rPr lang="en-GB" dirty="0"/>
              <a:t>We use the global semaphore mutex to ensure that only one philosopher can pick up forks and eat at any one time.</a:t>
            </a:r>
          </a:p>
          <a:p>
            <a:r>
              <a:rPr lang="en-GB" dirty="0"/>
              <a:t>This solution works, but is very inefficient, since only one philosopher can be eating at one time; it should be possible for two philosophers to eat at the same time, since there are 5 forks.</a:t>
            </a:r>
          </a:p>
          <a:p>
            <a:endParaRPr lang="en-GB" dirty="0"/>
          </a:p>
        </p:txBody>
      </p:sp>
      <p:sp>
        <p:nvSpPr>
          <p:cNvPr id="4" name="Plassholder for innhold 2">
            <a:extLst>
              <a:ext uri="{FF2B5EF4-FFF2-40B4-BE49-F238E27FC236}">
                <a16:creationId xmlns:a16="http://schemas.microsoft.com/office/drawing/2014/main" id="{762A39C3-7FAD-0D24-F879-3864B76F4CC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5CC2EA9-18F3-428C-992D-BD8E42EC523C}"/>
                  </a:ext>
                </a:extLst>
              </p14:cNvPr>
              <p14:cNvContentPartPr/>
              <p14:nvPr/>
            </p14:nvContentPartPr>
            <p14:xfrm>
              <a:off x="5619375" y="1457385"/>
              <a:ext cx="360" cy="360"/>
            </p14:xfrm>
          </p:contentPart>
        </mc:Choice>
        <mc:Fallback xmlns="">
          <p:pic>
            <p:nvPicPr>
              <p:cNvPr id="5" name="Ink 4">
                <a:extLst>
                  <a:ext uri="{FF2B5EF4-FFF2-40B4-BE49-F238E27FC236}">
                    <a16:creationId xmlns:a16="http://schemas.microsoft.com/office/drawing/2014/main" id="{35CC2EA9-18F3-428C-992D-BD8E42EC523C}"/>
                  </a:ext>
                </a:extLst>
              </p:cNvPr>
              <p:cNvPicPr/>
              <p:nvPr/>
            </p:nvPicPr>
            <p:blipFill>
              <a:blip r:embed="rId4"/>
              <a:stretch>
                <a:fillRect/>
              </a:stretch>
            </p:blipFill>
            <p:spPr>
              <a:xfrm>
                <a:off x="5610735" y="1448385"/>
                <a:ext cx="18000" cy="18000"/>
              </a:xfrm>
              <a:prstGeom prst="rect">
                <a:avLst/>
              </a:prstGeom>
            </p:spPr>
          </p:pic>
        </mc:Fallback>
      </mc:AlternateContent>
    </p:spTree>
    <p:extLst>
      <p:ext uri="{BB962C8B-B14F-4D97-AF65-F5344CB8AC3E}">
        <p14:creationId xmlns:p14="http://schemas.microsoft.com/office/powerpoint/2010/main" val="313653192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56AF6-5A62-419A-0C0E-4A77802FB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91427A-FFFA-2E72-C2AC-E3D816FE6411}"/>
              </a:ext>
            </a:extLst>
          </p:cNvPr>
          <p:cNvSpPr>
            <a:spLocks noGrp="1"/>
          </p:cNvSpPr>
          <p:nvPr>
            <p:ph type="title"/>
          </p:nvPr>
        </p:nvSpPr>
        <p:spPr/>
        <p:txBody>
          <a:bodyPr/>
          <a:lstStyle/>
          <a:p>
            <a:r>
              <a:rPr lang="en-GB" dirty="0"/>
              <a:t>Solution 0 (Variant): Deadlock</a:t>
            </a:r>
            <a:endParaRPr lang="en-SE" dirty="0"/>
          </a:p>
        </p:txBody>
      </p:sp>
      <p:sp>
        <p:nvSpPr>
          <p:cNvPr id="3" name="Content Placeholder 2">
            <a:extLst>
              <a:ext uri="{FF2B5EF4-FFF2-40B4-BE49-F238E27FC236}">
                <a16:creationId xmlns:a16="http://schemas.microsoft.com/office/drawing/2014/main" id="{2E1E40DA-A836-9342-82A5-F94ED641228D}"/>
              </a:ext>
            </a:extLst>
          </p:cNvPr>
          <p:cNvSpPr>
            <a:spLocks noGrp="1"/>
          </p:cNvSpPr>
          <p:nvPr>
            <p:ph idx="1"/>
          </p:nvPr>
        </p:nvSpPr>
        <p:spPr>
          <a:xfrm>
            <a:off x="77894" y="870966"/>
            <a:ext cx="5486401" cy="5987034"/>
          </a:xfrm>
        </p:spPr>
        <p:txBody>
          <a:bodyPr>
            <a:normAutofit fontScale="70000" lnSpcReduction="20000"/>
          </a:bodyPr>
          <a:lstStyle/>
          <a:p>
            <a:r>
              <a:rPr lang="en-GB" dirty="0"/>
              <a:t>One solution is to let each philosopher pick up (and put down) both left and right forks atomically within a critical section, protected by the global mutex.</a:t>
            </a:r>
          </a:p>
          <a:p>
            <a:r>
              <a:rPr lang="en-GB" b="1" dirty="0"/>
              <a:t>Deadlock situation: </a:t>
            </a:r>
            <a:r>
              <a:rPr lang="en-GB" dirty="0"/>
              <a:t>This solution is flawed because it can lead to deadlock, similar to </a:t>
            </a:r>
            <a:r>
              <a:rPr lang="en-GB" dirty="0">
                <a:hlinkClick r:id="rId3" action="ppaction://hlinksldjump"/>
              </a:rPr>
              <a:t>the deadlock situation in the P/C problem</a:t>
            </a:r>
            <a:r>
              <a:rPr lang="en-GB" dirty="0"/>
              <a:t>.</a:t>
            </a:r>
          </a:p>
          <a:p>
            <a:r>
              <a:rPr lang="en-GB" dirty="0"/>
              <a:t>Philosopher A gets mutex, is blocked trying to get a fork (left or right); meanwhile, his </a:t>
            </a:r>
            <a:r>
              <a:rPr lang="en-GB" dirty="0" err="1"/>
              <a:t>neighbor</a:t>
            </a:r>
            <a:r>
              <a:rPr lang="en-GB" dirty="0"/>
              <a:t> Philosopher B (who has both forks) finishes eating and tries to put down forks. But B is blocked trying to get mutex (which A holds). Now we have a circular wait condition: A holds mutex, waiting for fork; B holds fork, waiting for mutex.</a:t>
            </a:r>
          </a:p>
          <a:p>
            <a:pPr lvl="1"/>
            <a:r>
              <a:rPr lang="en-US" dirty="0"/>
              <a:t>Philosopher B does not have to be A’s direct neighbor. There may be a chain of philosophers starting from </a:t>
            </a:r>
            <a:r>
              <a:rPr lang="en-GB" dirty="0"/>
              <a:t>A,</a:t>
            </a:r>
            <a:r>
              <a:rPr lang="en-US" dirty="0"/>
              <a:t> each holding his left fork, and B may be the last one’s neighbor.</a:t>
            </a:r>
            <a:endParaRPr lang="en-GB" dirty="0"/>
          </a:p>
        </p:txBody>
      </p:sp>
      <p:sp>
        <p:nvSpPr>
          <p:cNvPr id="4" name="Plassholder for innhold 2">
            <a:extLst>
              <a:ext uri="{FF2B5EF4-FFF2-40B4-BE49-F238E27FC236}">
                <a16:creationId xmlns:a16="http://schemas.microsoft.com/office/drawing/2014/main" id="{8B458C19-B55C-0B93-CA6C-0BBE9C63479A}"/>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Put down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
        <p:nvSpPr>
          <p:cNvPr id="5" name="Arrow: Left 4">
            <a:extLst>
              <a:ext uri="{FF2B5EF4-FFF2-40B4-BE49-F238E27FC236}">
                <a16:creationId xmlns:a16="http://schemas.microsoft.com/office/drawing/2014/main" id="{3279F1FF-2BE8-AD58-29D5-767CF8942997}"/>
              </a:ext>
            </a:extLst>
          </p:cNvPr>
          <p:cNvSpPr/>
          <p:nvPr/>
        </p:nvSpPr>
        <p:spPr bwMode="auto">
          <a:xfrm flipH="1">
            <a:off x="5503334" y="3288792"/>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6" name="Arrow: Left 5">
            <a:extLst>
              <a:ext uri="{FF2B5EF4-FFF2-40B4-BE49-F238E27FC236}">
                <a16:creationId xmlns:a16="http://schemas.microsoft.com/office/drawing/2014/main" id="{EFC7F03F-8857-6A78-342E-BE5F25256BBA}"/>
              </a:ext>
            </a:extLst>
          </p:cNvPr>
          <p:cNvSpPr/>
          <p:nvPr/>
        </p:nvSpPr>
        <p:spPr bwMode="auto">
          <a:xfrm flipH="1">
            <a:off x="5503334" y="4495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grpSp>
        <p:nvGrpSpPr>
          <p:cNvPr id="9" name="Group 8">
            <a:extLst>
              <a:ext uri="{FF2B5EF4-FFF2-40B4-BE49-F238E27FC236}">
                <a16:creationId xmlns:a16="http://schemas.microsoft.com/office/drawing/2014/main" id="{1CC935AB-ED3A-4874-9C0E-A6E0DF8722DB}"/>
              </a:ext>
            </a:extLst>
          </p:cNvPr>
          <p:cNvGrpSpPr/>
          <p:nvPr/>
        </p:nvGrpSpPr>
        <p:grpSpPr>
          <a:xfrm>
            <a:off x="3720743" y="1674784"/>
            <a:ext cx="360" cy="360"/>
            <a:chOff x="3720743" y="1674784"/>
            <a:chExt cx="360" cy="360"/>
          </a:xfrm>
        </p:grpSpPr>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B3F0EE0D-B6A1-4CB6-BAC5-ACBC442B8F99}"/>
                    </a:ext>
                  </a:extLst>
                </p14:cNvPr>
                <p14:cNvContentPartPr/>
                <p14:nvPr/>
              </p14:nvContentPartPr>
              <p14:xfrm>
                <a:off x="3720743" y="1674784"/>
                <a:ext cx="360" cy="360"/>
              </p14:xfrm>
            </p:contentPart>
          </mc:Choice>
          <mc:Fallback xmlns="">
            <p:pic>
              <p:nvPicPr>
                <p:cNvPr id="7" name="Ink 6">
                  <a:extLst>
                    <a:ext uri="{FF2B5EF4-FFF2-40B4-BE49-F238E27FC236}">
                      <a16:creationId xmlns:a16="http://schemas.microsoft.com/office/drawing/2014/main" id="{B3F0EE0D-B6A1-4CB6-BAC5-ACBC442B8F99}"/>
                    </a:ext>
                  </a:extLst>
                </p:cNvPr>
                <p:cNvPicPr/>
                <p:nvPr/>
              </p:nvPicPr>
              <p:blipFill>
                <a:blip r:embed="rId5"/>
                <a:stretch>
                  <a:fillRect/>
                </a:stretch>
              </p:blipFill>
              <p:spPr>
                <a:xfrm>
                  <a:off x="3711743" y="166578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81135772-15AE-44AA-B079-97641CF41D1E}"/>
                    </a:ext>
                  </a:extLst>
                </p14:cNvPr>
                <p14:cNvContentPartPr/>
                <p14:nvPr/>
              </p14:nvContentPartPr>
              <p14:xfrm>
                <a:off x="3720743" y="1674784"/>
                <a:ext cx="360" cy="360"/>
              </p14:xfrm>
            </p:contentPart>
          </mc:Choice>
          <mc:Fallback xmlns="">
            <p:pic>
              <p:nvPicPr>
                <p:cNvPr id="8" name="Ink 7">
                  <a:extLst>
                    <a:ext uri="{FF2B5EF4-FFF2-40B4-BE49-F238E27FC236}">
                      <a16:creationId xmlns:a16="http://schemas.microsoft.com/office/drawing/2014/main" id="{81135772-15AE-44AA-B079-97641CF41D1E}"/>
                    </a:ext>
                  </a:extLst>
                </p:cNvPr>
                <p:cNvPicPr/>
                <p:nvPr/>
              </p:nvPicPr>
              <p:blipFill>
                <a:blip r:embed="rId5"/>
                <a:stretch>
                  <a:fillRect/>
                </a:stretch>
              </p:blipFill>
              <p:spPr>
                <a:xfrm>
                  <a:off x="3711743" y="1665784"/>
                  <a:ext cx="18000" cy="18000"/>
                </a:xfrm>
                <a:prstGeom prst="rect">
                  <a:avLst/>
                </a:prstGeom>
              </p:spPr>
            </p:pic>
          </mc:Fallback>
        </mc:AlternateContent>
      </p:grpSp>
      <p:sp>
        <p:nvSpPr>
          <p:cNvPr id="11" name="TextBox 10">
            <a:extLst>
              <a:ext uri="{FF2B5EF4-FFF2-40B4-BE49-F238E27FC236}">
                <a16:creationId xmlns:a16="http://schemas.microsoft.com/office/drawing/2014/main" id="{37902992-EC90-4B83-9D2A-CF5A10CC18FB}"/>
              </a:ext>
            </a:extLst>
          </p:cNvPr>
          <p:cNvSpPr txBox="1"/>
          <p:nvPr/>
        </p:nvSpPr>
        <p:spPr>
          <a:xfrm>
            <a:off x="5181600" y="3218426"/>
            <a:ext cx="318379" cy="369332"/>
          </a:xfrm>
          <a:prstGeom prst="rect">
            <a:avLst/>
          </a:prstGeom>
          <a:noFill/>
        </p:spPr>
        <p:txBody>
          <a:bodyPr wrap="square">
            <a:spAutoFit/>
          </a:bodyPr>
          <a:lstStyle/>
          <a:p>
            <a:r>
              <a:rPr lang="en-GB" b="0" dirty="0">
                <a:solidFill>
                  <a:srgbClr val="FF0000"/>
                </a:solidFill>
              </a:rPr>
              <a:t>A</a:t>
            </a:r>
            <a:endParaRPr lang="en-US" b="0" dirty="0">
              <a:solidFill>
                <a:srgbClr val="FF0000"/>
              </a:solidFill>
            </a:endParaRPr>
          </a:p>
        </p:txBody>
      </p:sp>
      <p:sp>
        <p:nvSpPr>
          <p:cNvPr id="12" name="TextBox 11">
            <a:extLst>
              <a:ext uri="{FF2B5EF4-FFF2-40B4-BE49-F238E27FC236}">
                <a16:creationId xmlns:a16="http://schemas.microsoft.com/office/drawing/2014/main" id="{0231DE81-8841-4820-A505-8D78418CAB46}"/>
              </a:ext>
            </a:extLst>
          </p:cNvPr>
          <p:cNvSpPr txBox="1"/>
          <p:nvPr/>
        </p:nvSpPr>
        <p:spPr>
          <a:xfrm>
            <a:off x="5181599" y="4425434"/>
            <a:ext cx="318379" cy="369332"/>
          </a:xfrm>
          <a:prstGeom prst="rect">
            <a:avLst/>
          </a:prstGeom>
          <a:noFill/>
        </p:spPr>
        <p:txBody>
          <a:bodyPr wrap="square">
            <a:spAutoFit/>
          </a:bodyPr>
          <a:lstStyle/>
          <a:p>
            <a:r>
              <a:rPr lang="en-GB" b="0" dirty="0">
                <a:solidFill>
                  <a:srgbClr val="FF0000"/>
                </a:solidFill>
              </a:rPr>
              <a:t>B</a:t>
            </a:r>
            <a:endParaRPr lang="en-US" b="0" dirty="0">
              <a:solidFill>
                <a:srgbClr val="FF0000"/>
              </a:solidFill>
            </a:endParaRPr>
          </a:p>
        </p:txBody>
      </p:sp>
    </p:spTree>
    <p:extLst>
      <p:ext uri="{BB962C8B-B14F-4D97-AF65-F5344CB8AC3E}">
        <p14:creationId xmlns:p14="http://schemas.microsoft.com/office/powerpoint/2010/main" val="2789811176"/>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D9953-1A62-B922-7803-698ABF0942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0FB48-D19D-857E-93C0-FF1E73AD185E}"/>
              </a:ext>
            </a:extLst>
          </p:cNvPr>
          <p:cNvSpPr>
            <a:spLocks noGrp="1"/>
          </p:cNvSpPr>
          <p:nvPr>
            <p:ph type="title"/>
          </p:nvPr>
        </p:nvSpPr>
        <p:spPr/>
        <p:txBody>
          <a:bodyPr/>
          <a:lstStyle/>
          <a:p>
            <a:r>
              <a:rPr lang="en-GB" dirty="0"/>
              <a:t>Semaphore-based Solution I</a:t>
            </a:r>
            <a:endParaRPr lang="en-SE" dirty="0"/>
          </a:p>
        </p:txBody>
      </p:sp>
      <p:sp>
        <p:nvSpPr>
          <p:cNvPr id="3" name="Content Placeholder 2">
            <a:extLst>
              <a:ext uri="{FF2B5EF4-FFF2-40B4-BE49-F238E27FC236}">
                <a16:creationId xmlns:a16="http://schemas.microsoft.com/office/drawing/2014/main" id="{7E12E23E-2AD5-9F23-5665-975541B5BD36}"/>
              </a:ext>
            </a:extLst>
          </p:cNvPr>
          <p:cNvSpPr>
            <a:spLocks noGrp="1"/>
          </p:cNvSpPr>
          <p:nvPr>
            <p:ph idx="1"/>
          </p:nvPr>
        </p:nvSpPr>
        <p:spPr>
          <a:xfrm>
            <a:off x="0" y="838200"/>
            <a:ext cx="5638800" cy="6134100"/>
          </a:xfrm>
        </p:spPr>
        <p:txBody>
          <a:bodyPr>
            <a:normAutofit fontScale="70000" lnSpcReduction="20000"/>
          </a:bodyPr>
          <a:lstStyle/>
          <a:p>
            <a:r>
              <a:rPr lang="en-GB" dirty="0"/>
              <a:t>The solution is to let each philosopher pick up, </a:t>
            </a:r>
            <a:r>
              <a:rPr lang="en-GB" dirty="0">
                <a:solidFill>
                  <a:srgbClr val="FF0000"/>
                </a:solidFill>
              </a:rPr>
              <a:t>but not put down, </a:t>
            </a:r>
            <a:r>
              <a:rPr lang="en-GB" dirty="0"/>
              <a:t>both left and right forks atomically within a critical section, protected by the global semaphore </a:t>
            </a:r>
            <a:r>
              <a:rPr lang="en-GB" dirty="0" err="1"/>
              <a:t>pickup_mutex</a:t>
            </a:r>
            <a:r>
              <a:rPr lang="en-GB" dirty="0"/>
              <a:t>. </a:t>
            </a:r>
          </a:p>
          <a:p>
            <a:r>
              <a:rPr lang="en-GB" b="1" dirty="0"/>
              <a:t>No deadlock: </a:t>
            </a:r>
            <a:r>
              <a:rPr lang="en-GB" dirty="0"/>
              <a:t>If philosopher i is in the critical section protected by pickup_mutex, blocked in </a:t>
            </a:r>
            <a:r>
              <a:rPr lang="en-GB" dirty="0" err="1"/>
              <a:t>sem_wait</a:t>
            </a:r>
            <a:r>
              <a:rPr lang="en-GB" dirty="0"/>
              <a:t>() waiting for any fork (left or right), the </a:t>
            </a:r>
            <a:r>
              <a:rPr lang="en-GB" dirty="0" err="1"/>
              <a:t>neighbor</a:t>
            </a:r>
            <a:r>
              <a:rPr lang="en-GB" dirty="0"/>
              <a:t> who is holding the </a:t>
            </a:r>
            <a:r>
              <a:rPr lang="en-US" altLang="zh-CN" dirty="0"/>
              <a:t>requested</a:t>
            </a:r>
            <a:r>
              <a:rPr lang="en-GB" dirty="0"/>
              <a:t> fork and eating can freely put down both forks without blocking, thus allowing philosopher i to pick up both forks. </a:t>
            </a:r>
          </a:p>
          <a:p>
            <a:r>
              <a:rPr lang="en-GB" b="1" dirty="0"/>
              <a:t>Poor efficiency:</a:t>
            </a:r>
            <a:r>
              <a:rPr lang="en-GB" dirty="0"/>
              <a:t> If philosopher i is in the critical section protected by </a:t>
            </a:r>
            <a:r>
              <a:rPr lang="en-GB" dirty="0" err="1"/>
              <a:t>pickup_mutex</a:t>
            </a:r>
            <a:r>
              <a:rPr lang="en-GB" dirty="0"/>
              <a:t>, waiting for any fork (left or right), then no other philosopher can enter the critical section before some other philosopher finishes eating and puts down his forks to let philosopher i exit the critical section and start eating, even for a philosopher with both left and right forks free. This is unnecessary blocking that reduces concurrency.</a:t>
            </a:r>
          </a:p>
        </p:txBody>
      </p:sp>
      <p:sp>
        <p:nvSpPr>
          <p:cNvPr id="4" name="Plassholder for innhold 2">
            <a:extLst>
              <a:ext uri="{FF2B5EF4-FFF2-40B4-BE49-F238E27FC236}">
                <a16:creationId xmlns:a16="http://schemas.microsoft.com/office/drawing/2014/main" id="{BC5BD74B-313C-6735-81F6-4AFCD94DA034}"/>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a:t>
            </a:r>
            <a:r>
              <a:rPr lang="en-US" altLang="zh-CN" sz="1800" b="0" kern="0" dirty="0" err="1">
                <a:latin typeface="Courier New" panose="02070309020205020404" pitchFamily="49" charset="0"/>
                <a:cs typeface="Courier New" panose="02070309020205020404" pitchFamily="49" charset="0"/>
              </a:rPr>
              <a:t>pickup_mutex</a:t>
            </a:r>
            <a:r>
              <a:rPr lang="en-US" altLang="zh-CN" sz="1800" b="0" kern="0" dirty="0">
                <a:latin typeface="Courier New" panose="02070309020205020404" pitchFamily="49" charset="0"/>
                <a:cs typeface="Courier New" panose="02070309020205020404" pitchFamily="49" charset="0"/>
              </a:rPr>
              <a:t>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789E71F9-0E8D-4A52-8D6F-EFB18AD149A3}"/>
                  </a:ext>
                </a:extLst>
              </p14:cNvPr>
              <p14:cNvContentPartPr/>
              <p14:nvPr/>
            </p14:nvContentPartPr>
            <p14:xfrm>
              <a:off x="3919823" y="3394825"/>
              <a:ext cx="360" cy="360"/>
            </p14:xfrm>
          </p:contentPart>
        </mc:Choice>
        <mc:Fallback xmlns="">
          <p:pic>
            <p:nvPicPr>
              <p:cNvPr id="5" name="Ink 4">
                <a:extLst>
                  <a:ext uri="{FF2B5EF4-FFF2-40B4-BE49-F238E27FC236}">
                    <a16:creationId xmlns:a16="http://schemas.microsoft.com/office/drawing/2014/main" id="{789E71F9-0E8D-4A52-8D6F-EFB18AD149A3}"/>
                  </a:ext>
                </a:extLst>
              </p:cNvPr>
              <p:cNvPicPr/>
              <p:nvPr/>
            </p:nvPicPr>
            <p:blipFill>
              <a:blip r:embed="rId4"/>
              <a:stretch>
                <a:fillRect/>
              </a:stretch>
            </p:blipFill>
            <p:spPr>
              <a:xfrm>
                <a:off x="3911183" y="338618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E520687D-A346-48F1-8BD4-2ED35E5BDC9A}"/>
                  </a:ext>
                </a:extLst>
              </p14:cNvPr>
              <p14:cNvContentPartPr/>
              <p14:nvPr/>
            </p14:nvContentPartPr>
            <p14:xfrm>
              <a:off x="914183" y="1040785"/>
              <a:ext cx="360" cy="360"/>
            </p14:xfrm>
          </p:contentPart>
        </mc:Choice>
        <mc:Fallback xmlns="">
          <p:pic>
            <p:nvPicPr>
              <p:cNvPr id="6" name="Ink 5">
                <a:extLst>
                  <a:ext uri="{FF2B5EF4-FFF2-40B4-BE49-F238E27FC236}">
                    <a16:creationId xmlns:a16="http://schemas.microsoft.com/office/drawing/2014/main" id="{E520687D-A346-48F1-8BD4-2ED35E5BDC9A}"/>
                  </a:ext>
                </a:extLst>
              </p:cNvPr>
              <p:cNvPicPr/>
              <p:nvPr/>
            </p:nvPicPr>
            <p:blipFill>
              <a:blip r:embed="rId4"/>
              <a:stretch>
                <a:fillRect/>
              </a:stretch>
            </p:blipFill>
            <p:spPr>
              <a:xfrm>
                <a:off x="905543" y="1032145"/>
                <a:ext cx="18000" cy="18000"/>
              </a:xfrm>
              <a:prstGeom prst="rect">
                <a:avLst/>
              </a:prstGeom>
            </p:spPr>
          </p:pic>
        </mc:Fallback>
      </mc:AlternateContent>
    </p:spTree>
    <p:extLst>
      <p:ext uri="{BB962C8B-B14F-4D97-AF65-F5344CB8AC3E}">
        <p14:creationId xmlns:p14="http://schemas.microsoft.com/office/powerpoint/2010/main" val="4129161270"/>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251B-B5FA-3E86-8EEB-837997C2D6CA}"/>
              </a:ext>
            </a:extLst>
          </p:cNvPr>
          <p:cNvSpPr>
            <a:spLocks noGrp="1"/>
          </p:cNvSpPr>
          <p:nvPr>
            <p:ph type="title"/>
          </p:nvPr>
        </p:nvSpPr>
        <p:spPr/>
        <p:txBody>
          <a:bodyPr/>
          <a:lstStyle/>
          <a:p>
            <a:r>
              <a:rPr lang="en-GB" dirty="0"/>
              <a:t>Semaphore-based Solution II</a:t>
            </a:r>
            <a:endParaRPr lang="en-SE" dirty="0"/>
          </a:p>
        </p:txBody>
      </p:sp>
      <p:sp>
        <p:nvSpPr>
          <p:cNvPr id="3" name="Content Placeholder 2">
            <a:extLst>
              <a:ext uri="{FF2B5EF4-FFF2-40B4-BE49-F238E27FC236}">
                <a16:creationId xmlns:a16="http://schemas.microsoft.com/office/drawing/2014/main" id="{5E36E29F-A0E7-CB2D-14CF-3E88CBE98C04}"/>
              </a:ext>
            </a:extLst>
          </p:cNvPr>
          <p:cNvSpPr>
            <a:spLocks noGrp="1"/>
          </p:cNvSpPr>
          <p:nvPr>
            <p:ph idx="1"/>
          </p:nvPr>
        </p:nvSpPr>
        <p:spPr>
          <a:xfrm>
            <a:off x="228600" y="838200"/>
            <a:ext cx="5257801" cy="6134100"/>
          </a:xfrm>
        </p:spPr>
        <p:txBody>
          <a:bodyPr>
            <a:normAutofit/>
          </a:bodyPr>
          <a:lstStyle/>
          <a:p>
            <a:r>
              <a:rPr lang="en-GB" dirty="0"/>
              <a:t>Introduce an additional “room” semaphore that limits the number of philosophers permitted to compete for forks concurrently. For example, if there are N=5 philosophers, room is initialized to N-1=4. With 5 forks and at most 4 philosophers competing, at least one philosopher can always get both forks.</a:t>
            </a:r>
          </a:p>
        </p:txBody>
      </p:sp>
      <p:sp>
        <p:nvSpPr>
          <p:cNvPr id="4" name="Plassholder for innhold 2">
            <a:extLst>
              <a:ext uri="{FF2B5EF4-FFF2-40B4-BE49-F238E27FC236}">
                <a16:creationId xmlns:a16="http://schemas.microsoft.com/office/drawing/2014/main" id="{DD17AA06-F37F-830A-E863-B9CF3F0030B5}"/>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room = N-1;</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Limit number of philosophers simultaneously hungry to 4</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Leave the room</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6018EEF-C755-4A42-A8DA-C8F944D021AB}"/>
                  </a:ext>
                </a:extLst>
              </p14:cNvPr>
              <p14:cNvContentPartPr/>
              <p14:nvPr/>
            </p14:nvContentPartPr>
            <p14:xfrm>
              <a:off x="2209103" y="1050145"/>
              <a:ext cx="360" cy="360"/>
            </p14:xfrm>
          </p:contentPart>
        </mc:Choice>
        <mc:Fallback xmlns="">
          <p:pic>
            <p:nvPicPr>
              <p:cNvPr id="5" name="Ink 4">
                <a:extLst>
                  <a:ext uri="{FF2B5EF4-FFF2-40B4-BE49-F238E27FC236}">
                    <a16:creationId xmlns:a16="http://schemas.microsoft.com/office/drawing/2014/main" id="{36018EEF-C755-4A42-A8DA-C8F944D021AB}"/>
                  </a:ext>
                </a:extLst>
              </p:cNvPr>
              <p:cNvPicPr/>
              <p:nvPr/>
            </p:nvPicPr>
            <p:blipFill>
              <a:blip r:embed="rId4"/>
              <a:stretch>
                <a:fillRect/>
              </a:stretch>
            </p:blipFill>
            <p:spPr>
              <a:xfrm>
                <a:off x="2200103" y="104114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58F6223A-3628-4B3A-A7D5-434612051931}"/>
                  </a:ext>
                </a:extLst>
              </p14:cNvPr>
              <p14:cNvContentPartPr/>
              <p14:nvPr/>
            </p14:nvContentPartPr>
            <p14:xfrm>
              <a:off x="1394063" y="1837825"/>
              <a:ext cx="360" cy="360"/>
            </p14:xfrm>
          </p:contentPart>
        </mc:Choice>
        <mc:Fallback xmlns="">
          <p:pic>
            <p:nvPicPr>
              <p:cNvPr id="6" name="Ink 5">
                <a:extLst>
                  <a:ext uri="{FF2B5EF4-FFF2-40B4-BE49-F238E27FC236}">
                    <a16:creationId xmlns:a16="http://schemas.microsoft.com/office/drawing/2014/main" id="{58F6223A-3628-4B3A-A7D5-434612051931}"/>
                  </a:ext>
                </a:extLst>
              </p:cNvPr>
              <p:cNvPicPr/>
              <p:nvPr/>
            </p:nvPicPr>
            <p:blipFill>
              <a:blip r:embed="rId4"/>
              <a:stretch>
                <a:fillRect/>
              </a:stretch>
            </p:blipFill>
            <p:spPr>
              <a:xfrm>
                <a:off x="1385063" y="1828825"/>
                <a:ext cx="18000" cy="18000"/>
              </a:xfrm>
              <a:prstGeom prst="rect">
                <a:avLst/>
              </a:prstGeom>
            </p:spPr>
          </p:pic>
        </mc:Fallback>
      </mc:AlternateContent>
    </p:spTree>
    <p:extLst>
      <p:ext uri="{BB962C8B-B14F-4D97-AF65-F5344CB8AC3E}">
        <p14:creationId xmlns:p14="http://schemas.microsoft.com/office/powerpoint/2010/main" val="32163847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9FF84-E0CB-65F6-80B3-CC8CC7B97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D239C-E13A-5B66-FCAF-23EACDCCB2FD}"/>
              </a:ext>
            </a:extLst>
          </p:cNvPr>
          <p:cNvSpPr>
            <a:spLocks noGrp="1"/>
          </p:cNvSpPr>
          <p:nvPr>
            <p:ph type="title"/>
          </p:nvPr>
        </p:nvSpPr>
        <p:spPr>
          <a:xfrm>
            <a:off x="304800" y="152400"/>
            <a:ext cx="5334000" cy="533400"/>
          </a:xfrm>
        </p:spPr>
        <p:txBody>
          <a:bodyPr/>
          <a:lstStyle/>
          <a:p>
            <a:r>
              <a:rPr lang="en-GB" dirty="0"/>
              <a:t>Semaphore-based Solution III</a:t>
            </a:r>
            <a:endParaRPr lang="en-SE" dirty="0"/>
          </a:p>
        </p:txBody>
      </p:sp>
      <p:sp>
        <p:nvSpPr>
          <p:cNvPr id="3" name="Content Placeholder 2">
            <a:extLst>
              <a:ext uri="{FF2B5EF4-FFF2-40B4-BE49-F238E27FC236}">
                <a16:creationId xmlns:a16="http://schemas.microsoft.com/office/drawing/2014/main" id="{89FB5F88-1B21-FD52-9B87-2917E55D0FE6}"/>
              </a:ext>
            </a:extLst>
          </p:cNvPr>
          <p:cNvSpPr>
            <a:spLocks noGrp="1"/>
          </p:cNvSpPr>
          <p:nvPr>
            <p:ph idx="1"/>
          </p:nvPr>
        </p:nvSpPr>
        <p:spPr>
          <a:xfrm>
            <a:off x="152399" y="838200"/>
            <a:ext cx="5334002" cy="5715000"/>
          </a:xfrm>
        </p:spPr>
        <p:txBody>
          <a:bodyPr>
            <a:normAutofit fontScale="55000" lnSpcReduction="20000"/>
          </a:bodyPr>
          <a:lstStyle/>
          <a:p>
            <a:r>
              <a:rPr lang="en-GB" dirty="0"/>
              <a:t>Adjust the order in which resources are requested (for instance, having one philosopher, the (N-1)-</a:t>
            </a:r>
            <a:r>
              <a:rPr lang="en-GB" dirty="0" err="1"/>
              <a:t>th</a:t>
            </a:r>
            <a:r>
              <a:rPr lang="en-GB" dirty="0"/>
              <a:t> philosopher, pick up his right fork first while all the others pick up the left fork first), which disrupts the cycle that could lead to deadlock. </a:t>
            </a:r>
          </a:p>
          <a:p>
            <a:r>
              <a:rPr lang="en-GB" dirty="0"/>
              <a:t>This method forces each philosopher to pick up lower-numbered fork before higher-numbered fork, i.e., assign a total order to the resources, and establish the convention that all resources will be requested in the same order. Here the order of forks is 0, 1, 2, 3, 4, so each philosopher picks up the lower numbered fork before the higher-numbered fork.</a:t>
            </a:r>
          </a:p>
          <a:p>
            <a:r>
              <a:rPr lang="en-GB" dirty="0"/>
              <a:t>Philosopher 0 picks up left fork 0 before right fork 1; </a:t>
            </a:r>
          </a:p>
          <a:p>
            <a:r>
              <a:rPr lang="en-GB" dirty="0"/>
              <a:t>Philosopher 1 picks up left fork 1 before right fork 2; </a:t>
            </a:r>
          </a:p>
          <a:p>
            <a:r>
              <a:rPr lang="en-GB" dirty="0"/>
              <a:t>Philosopher 2 picks up left fork 2 before right fork 3; </a:t>
            </a:r>
          </a:p>
          <a:p>
            <a:r>
              <a:rPr lang="en-GB" dirty="0"/>
              <a:t>Philosopher 3 picks up left fork 3 before right fork 4; </a:t>
            </a:r>
          </a:p>
          <a:p>
            <a:r>
              <a:rPr lang="en-GB" dirty="0">
                <a:solidFill>
                  <a:srgbClr val="FF0000"/>
                </a:solidFill>
              </a:rPr>
              <a:t>Philosopher 4 picks up right fork 0 before left fork 4</a:t>
            </a:r>
            <a:r>
              <a:rPr lang="en-GB" dirty="0"/>
              <a:t>.</a:t>
            </a:r>
          </a:p>
          <a:p>
            <a:r>
              <a:rPr lang="en-GB" dirty="0"/>
              <a:t>A variant is to let even-numbered philosophers pick up right fork first.</a:t>
            </a:r>
          </a:p>
          <a:p>
            <a:r>
              <a:rPr lang="en-GB" dirty="0"/>
              <a:t>The order of acquiring resources (forks) must be controlled to prevent deadlock, but the release order doesn't matter. So this program can be simplified to let all philosophers put down left fork first.</a:t>
            </a:r>
            <a:endParaRPr lang="en-SE" dirty="0"/>
          </a:p>
        </p:txBody>
      </p:sp>
      <p:sp>
        <p:nvSpPr>
          <p:cNvPr id="4" name="Plassholder for innhold 2">
            <a:extLst>
              <a:ext uri="{FF2B5EF4-FFF2-40B4-BE49-F238E27FC236}">
                <a16:creationId xmlns:a16="http://schemas.microsoft.com/office/drawing/2014/main" id="{180501D3-6004-328D-4CC8-EEB1CC63978C}"/>
              </a:ext>
            </a:extLst>
          </p:cNvPr>
          <p:cNvSpPr txBox="1">
            <a:spLocks/>
          </p:cNvSpPr>
          <p:nvPr/>
        </p:nvSpPr>
        <p:spPr bwMode="auto">
          <a:xfrm>
            <a:off x="5638800" y="304800"/>
            <a:ext cx="6400801" cy="64008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if (i == N - 1) {//One of the philosophers</a:t>
            </a:r>
          </a:p>
          <a:p>
            <a:pPr marL="0" indent="0">
              <a:buFontTx/>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N]);}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if (i == N - 1) {</a:t>
            </a:r>
          </a:p>
          <a:p>
            <a:pPr marL="0" indent="0">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N]);} // Put down left fork</a:t>
            </a:r>
          </a:p>
          <a:p>
            <a:pPr marL="0" indent="0">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891265866"/>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EAAB-4D59-83B9-E4A5-DFDFE605FE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13680-214C-8DE0-94BB-8D1B6AF2E0D5}"/>
              </a:ext>
            </a:extLst>
          </p:cNvPr>
          <p:cNvSpPr>
            <a:spLocks noGrp="1"/>
          </p:cNvSpPr>
          <p:nvPr>
            <p:ph type="title"/>
          </p:nvPr>
        </p:nvSpPr>
        <p:spPr>
          <a:xfrm>
            <a:off x="533400" y="152400"/>
            <a:ext cx="5257800" cy="533400"/>
          </a:xfrm>
        </p:spPr>
        <p:txBody>
          <a:bodyPr/>
          <a:lstStyle/>
          <a:p>
            <a:r>
              <a:rPr lang="en-US" altLang="zh-CN" dirty="0"/>
              <a:t>Semaphore</a:t>
            </a:r>
            <a:r>
              <a:rPr lang="en-GB" dirty="0"/>
              <a:t>-based Solution IV</a:t>
            </a:r>
            <a:endParaRPr lang="en-SE" dirty="0"/>
          </a:p>
        </p:txBody>
      </p:sp>
      <p:sp>
        <p:nvSpPr>
          <p:cNvPr id="3" name="Content Placeholder 2">
            <a:extLst>
              <a:ext uri="{FF2B5EF4-FFF2-40B4-BE49-F238E27FC236}">
                <a16:creationId xmlns:a16="http://schemas.microsoft.com/office/drawing/2014/main" id="{FB08499D-F09F-E851-BB4B-D7295AEAE03E}"/>
              </a:ext>
            </a:extLst>
          </p:cNvPr>
          <p:cNvSpPr>
            <a:spLocks noGrp="1"/>
          </p:cNvSpPr>
          <p:nvPr>
            <p:ph idx="1"/>
          </p:nvPr>
        </p:nvSpPr>
        <p:spPr>
          <a:xfrm>
            <a:off x="0" y="762000"/>
            <a:ext cx="6324600" cy="5943600"/>
          </a:xfrm>
        </p:spPr>
        <p:txBody>
          <a:bodyPr>
            <a:normAutofit fontScale="85000" lnSpcReduction="10000"/>
          </a:bodyPr>
          <a:lstStyle/>
          <a:p>
            <a:r>
              <a:rPr lang="en-GB" sz="2400" dirty="0"/>
              <a:t>A semaphore self[i] is created for each philosopher i.</a:t>
            </a:r>
          </a:p>
          <a:p>
            <a:r>
              <a:rPr lang="en-GB" sz="2400" dirty="0"/>
              <a:t>Each philosopher can be in any one of three states (THINKING, HUNGRY, or EATING). All philosophers have initial state of THINKING.</a:t>
            </a:r>
          </a:p>
          <a:p>
            <a:r>
              <a:rPr lang="en-GB" sz="2400" dirty="0"/>
              <a:t>When philosopher i becomes hungry, he calls pickup(i), which sets their state to HUNGRY and calls test(i) to check if any of its two </a:t>
            </a:r>
            <a:r>
              <a:rPr lang="en-GB" sz="2400" dirty="0" err="1"/>
              <a:t>neighbors</a:t>
            </a:r>
            <a:r>
              <a:rPr lang="en-GB" sz="2400" dirty="0"/>
              <a:t> are eating.</a:t>
            </a:r>
          </a:p>
          <a:p>
            <a:r>
              <a:rPr lang="en-GB" sz="2400" dirty="0"/>
              <a:t>If both adjacent philosophers are not eating, philosopher i’s state is changed to EATING, and calls </a:t>
            </a:r>
            <a:r>
              <a:rPr lang="en-GB" sz="2400" dirty="0" err="1"/>
              <a:t>sem_post</a:t>
            </a:r>
            <a:r>
              <a:rPr lang="en-GB" sz="2400" dirty="0"/>
              <a:t>(&amp;self[i]) to increment self[i] by 1, and it next calls </a:t>
            </a:r>
            <a:r>
              <a:rPr lang="en-GB" sz="2400" dirty="0" err="1"/>
              <a:t>sem_wait</a:t>
            </a:r>
            <a:r>
              <a:rPr lang="en-GB" sz="2400" dirty="0"/>
              <a:t>(&amp;self[i]) to decrement self[i] by 1, and start eating. Otherwise, philosopher i’s state stays to be HUNGRY, and it is blocked  on </a:t>
            </a:r>
            <a:r>
              <a:rPr lang="en-GB" sz="2400" dirty="0" err="1"/>
              <a:t>sem_wait</a:t>
            </a:r>
            <a:r>
              <a:rPr lang="en-GB" sz="2400" dirty="0"/>
              <a:t>(&amp;self[i]).</a:t>
            </a:r>
          </a:p>
          <a:p>
            <a:r>
              <a:rPr lang="en-GB" sz="2400" dirty="0"/>
              <a:t>Upon finishing eating, philosopher i calls putdown(i), updates their state to THINKING, and then tests if adjacent philosophers can now eat by </a:t>
            </a:r>
            <a:r>
              <a:rPr lang="en-GB" sz="2400" dirty="0" err="1"/>
              <a:t>signaling</a:t>
            </a:r>
            <a:r>
              <a:rPr lang="en-GB" sz="2400" dirty="0"/>
              <a:t> their semaphore variables. This structure prevents the circular waiting condition that leads to deadlock.</a:t>
            </a:r>
          </a:p>
          <a:p>
            <a:r>
              <a:rPr lang="en-GB" sz="2400" dirty="0"/>
              <a:t>Since state is explicitly maintained in an array state[N], we need mutex protection in both pickup() and putdown() methods.</a:t>
            </a:r>
          </a:p>
        </p:txBody>
      </p:sp>
      <p:sp>
        <p:nvSpPr>
          <p:cNvPr id="4" name="Plassholder for innhold 2">
            <a:extLst>
              <a:ext uri="{FF2B5EF4-FFF2-40B4-BE49-F238E27FC236}">
                <a16:creationId xmlns:a16="http://schemas.microsoft.com/office/drawing/2014/main" id="{91377AB8-216E-899C-3D7C-938805EFC3F7}"/>
              </a:ext>
            </a:extLst>
          </p:cNvPr>
          <p:cNvSpPr txBox="1">
            <a:spLocks/>
          </p:cNvSpPr>
          <p:nvPr/>
        </p:nvSpPr>
        <p:spPr bwMode="auto">
          <a:xfrm>
            <a:off x="6477002" y="152400"/>
            <a:ext cx="5562599" cy="67056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B634635-D518-42BB-8436-3A1B83B43E2B}"/>
                  </a:ext>
                </a:extLst>
              </p14:cNvPr>
              <p14:cNvContentPartPr/>
              <p14:nvPr/>
            </p14:nvContentPartPr>
            <p14:xfrm>
              <a:off x="12022703" y="1901224"/>
              <a:ext cx="360" cy="360"/>
            </p14:xfrm>
          </p:contentPart>
        </mc:Choice>
        <mc:Fallback xmlns="">
          <p:pic>
            <p:nvPicPr>
              <p:cNvPr id="5" name="Ink 4">
                <a:extLst>
                  <a:ext uri="{FF2B5EF4-FFF2-40B4-BE49-F238E27FC236}">
                    <a16:creationId xmlns:a16="http://schemas.microsoft.com/office/drawing/2014/main" id="{9B634635-D518-42BB-8436-3A1B83B43E2B}"/>
                  </a:ext>
                </a:extLst>
              </p:cNvPr>
              <p:cNvPicPr/>
              <p:nvPr/>
            </p:nvPicPr>
            <p:blipFill>
              <a:blip r:embed="rId4"/>
              <a:stretch>
                <a:fillRect/>
              </a:stretch>
            </p:blipFill>
            <p:spPr>
              <a:xfrm>
                <a:off x="12013703" y="1892224"/>
                <a:ext cx="18000" cy="18000"/>
              </a:xfrm>
              <a:prstGeom prst="rect">
                <a:avLst/>
              </a:prstGeom>
            </p:spPr>
          </p:pic>
        </mc:Fallback>
      </mc:AlternateContent>
    </p:spTree>
    <p:extLst>
      <p:ext uri="{BB962C8B-B14F-4D97-AF65-F5344CB8AC3E}">
        <p14:creationId xmlns:p14="http://schemas.microsoft.com/office/powerpoint/2010/main" val="2384171083"/>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F9209-180F-DEBD-EAFE-48CF9BD83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8099D-2982-B1E0-8F68-20256B0BABFA}"/>
              </a:ext>
            </a:extLst>
          </p:cNvPr>
          <p:cNvSpPr>
            <a:spLocks noGrp="1"/>
          </p:cNvSpPr>
          <p:nvPr>
            <p:ph type="title"/>
          </p:nvPr>
        </p:nvSpPr>
        <p:spPr>
          <a:xfrm>
            <a:off x="1320800" y="152400"/>
            <a:ext cx="4470400" cy="533400"/>
          </a:xfrm>
        </p:spPr>
        <p:txBody>
          <a:bodyPr/>
          <a:lstStyle/>
          <a:p>
            <a:r>
              <a:rPr lang="en-US" altLang="zh-CN" dirty="0"/>
              <a:t>Monitor</a:t>
            </a:r>
            <a:r>
              <a:rPr lang="en-GB" dirty="0"/>
              <a:t>-based Solution</a:t>
            </a:r>
            <a:endParaRPr lang="en-SE" dirty="0"/>
          </a:p>
        </p:txBody>
      </p:sp>
      <p:sp>
        <p:nvSpPr>
          <p:cNvPr id="3" name="Content Placeholder 2">
            <a:extLst>
              <a:ext uri="{FF2B5EF4-FFF2-40B4-BE49-F238E27FC236}">
                <a16:creationId xmlns:a16="http://schemas.microsoft.com/office/drawing/2014/main" id="{3258AE6F-4595-5ED9-85E0-50BF6FEA7F70}"/>
              </a:ext>
            </a:extLst>
          </p:cNvPr>
          <p:cNvSpPr>
            <a:spLocks noGrp="1"/>
          </p:cNvSpPr>
          <p:nvPr>
            <p:ph idx="1"/>
          </p:nvPr>
        </p:nvSpPr>
        <p:spPr>
          <a:xfrm>
            <a:off x="0" y="762000"/>
            <a:ext cx="6400800" cy="6134100"/>
          </a:xfrm>
        </p:spPr>
        <p:txBody>
          <a:bodyPr>
            <a:normAutofit fontScale="70000" lnSpcReduction="20000"/>
          </a:bodyPr>
          <a:lstStyle/>
          <a:p>
            <a:r>
              <a:rPr lang="en-GB" dirty="0"/>
              <a:t>A condition variable self[i] is created for each philosopher i.</a:t>
            </a:r>
          </a:p>
          <a:p>
            <a:r>
              <a:rPr lang="en-GB" dirty="0"/>
              <a:t>Each philosopher can be in any one of three states (THINKING, HUNGRY, or EATING). All philosophers have initial state of THINKING.</a:t>
            </a:r>
          </a:p>
          <a:p>
            <a:r>
              <a:rPr lang="en-GB" dirty="0"/>
              <a:t>When philosopher i becomes hungry, he calls pickup(i) inside the monitor, which sets their state to HUNGRY and calls test(i) to check if any of its two </a:t>
            </a:r>
            <a:r>
              <a:rPr lang="en-GB" dirty="0" err="1"/>
              <a:t>neighbors</a:t>
            </a:r>
            <a:r>
              <a:rPr lang="en-GB" dirty="0"/>
              <a:t> are eating.</a:t>
            </a:r>
          </a:p>
          <a:p>
            <a:r>
              <a:rPr lang="en-GB" dirty="0"/>
              <a:t>If both adjacent philosophers are not eating, philosopher i’s state is changed to EATING (</a:t>
            </a:r>
            <a:r>
              <a:rPr lang="en-GB" dirty="0" err="1"/>
              <a:t>cond_signal</a:t>
            </a:r>
            <a:r>
              <a:rPr lang="en-GB" dirty="0"/>
              <a:t>(&amp;self[i]) has no effect and the signal is lost since no other philosopher is waiting on self[i]); otherwise, philosopher i waits on condition variable self[i].</a:t>
            </a:r>
          </a:p>
          <a:p>
            <a:r>
              <a:rPr lang="en-GB" dirty="0"/>
              <a:t>Upon finishing eating, philosopher i calls putdown(i), updates their state to THINKING, and then tests if adjacent philosophers can now eat by </a:t>
            </a:r>
            <a:r>
              <a:rPr lang="en-GB" dirty="0" err="1"/>
              <a:t>signaling</a:t>
            </a:r>
            <a:r>
              <a:rPr lang="en-GB" dirty="0"/>
              <a:t> their condition variables. </a:t>
            </a:r>
          </a:p>
          <a:p>
            <a:r>
              <a:rPr lang="en-GB" dirty="0"/>
              <a:t>Note that </a:t>
            </a:r>
            <a:r>
              <a:rPr lang="en-GB" dirty="0" err="1"/>
              <a:t>cond_signal</a:t>
            </a:r>
            <a:r>
              <a:rPr lang="en-GB" dirty="0"/>
              <a:t>(&amp;self[i]) in test(i) has no effect during pickup(), but it is used to wake up waiting hungry philosophers during putdown(i).</a:t>
            </a:r>
          </a:p>
        </p:txBody>
      </p:sp>
      <p:sp>
        <p:nvSpPr>
          <p:cNvPr id="4" name="Plassholder for innhold 2">
            <a:extLst>
              <a:ext uri="{FF2B5EF4-FFF2-40B4-BE49-F238E27FC236}">
                <a16:creationId xmlns:a16="http://schemas.microsoft.com/office/drawing/2014/main" id="{16043A50-FE0A-44C9-E0A8-F4F1D88FE3A3}"/>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31267072"/>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F8B6B-09C6-4B2E-B494-CC70B8446BB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CA92F5F-8D24-42BD-8343-E1EBDC19AC2B}"/>
              </a:ext>
            </a:extLst>
          </p:cNvPr>
          <p:cNvSpPr>
            <a:spLocks noGrp="1"/>
          </p:cNvSpPr>
          <p:nvPr>
            <p:ph idx="1"/>
          </p:nvPr>
        </p:nvSpPr>
        <p:spPr/>
        <p:txBody>
          <a:bodyPr/>
          <a:lstStyle/>
          <a:p>
            <a:endParaRPr lang="en-US"/>
          </a:p>
        </p:txBody>
      </p:sp>
      <p:sp>
        <p:nvSpPr>
          <p:cNvPr id="4" name="Plassholder for innhold 2">
            <a:extLst>
              <a:ext uri="{FF2B5EF4-FFF2-40B4-BE49-F238E27FC236}">
                <a16:creationId xmlns:a16="http://schemas.microsoft.com/office/drawing/2014/main" id="{380127AC-0DB2-4AED-AA1A-25113A77F15F}"/>
              </a:ext>
            </a:extLst>
          </p:cNvPr>
          <p:cNvSpPr txBox="1">
            <a:spLocks/>
          </p:cNvSpPr>
          <p:nvPr/>
        </p:nvSpPr>
        <p:spPr bwMode="auto">
          <a:xfrm>
            <a:off x="685800" y="76200"/>
            <a:ext cx="5562599" cy="67056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p:sp>
        <p:nvSpPr>
          <p:cNvPr id="5" name="Plassholder for innhold 2">
            <a:extLst>
              <a:ext uri="{FF2B5EF4-FFF2-40B4-BE49-F238E27FC236}">
                <a16:creationId xmlns:a16="http://schemas.microsoft.com/office/drawing/2014/main" id="{CB280062-9A51-4184-B09C-7BF01B969697}"/>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CD639053-B90A-438E-8931-B1BB3FF18AE4}"/>
              </a:ext>
            </a:extLst>
          </p:cNvPr>
          <p:cNvSpPr txBox="1"/>
          <p:nvPr/>
        </p:nvSpPr>
        <p:spPr>
          <a:xfrm>
            <a:off x="3239839" y="1752600"/>
            <a:ext cx="2833276"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Semaphore-based solution</a:t>
            </a:r>
          </a:p>
        </p:txBody>
      </p:sp>
      <p:sp>
        <p:nvSpPr>
          <p:cNvPr id="9" name="TextBox 8">
            <a:extLst>
              <a:ext uri="{FF2B5EF4-FFF2-40B4-BE49-F238E27FC236}">
                <a16:creationId xmlns:a16="http://schemas.microsoft.com/office/drawing/2014/main" id="{692A1FB2-3A01-46B4-80FE-EA3ABD995E4B}"/>
              </a:ext>
            </a:extLst>
          </p:cNvPr>
          <p:cNvSpPr txBox="1"/>
          <p:nvPr/>
        </p:nvSpPr>
        <p:spPr>
          <a:xfrm>
            <a:off x="9386259" y="1752600"/>
            <a:ext cx="2500941"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Monitor-based solution</a:t>
            </a:r>
          </a:p>
        </p:txBody>
      </p:sp>
    </p:spTree>
    <p:extLst>
      <p:ext uri="{BB962C8B-B14F-4D97-AF65-F5344CB8AC3E}">
        <p14:creationId xmlns:p14="http://schemas.microsoft.com/office/powerpoint/2010/main" val="606750623"/>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Recap: Semaphores vs. Monitors</a:t>
            </a:r>
          </a:p>
        </p:txBody>
      </p:sp>
      <p:sp>
        <p:nvSpPr>
          <p:cNvPr id="70659" name="Rectangle 3"/>
          <p:cNvSpPr>
            <a:spLocks noGrp="1" noChangeArrowheads="1"/>
          </p:cNvSpPr>
          <p:nvPr>
            <p:ph type="body" idx="1"/>
          </p:nvPr>
        </p:nvSpPr>
        <p:spPr>
          <a:xfrm>
            <a:off x="533400" y="762000"/>
            <a:ext cx="11049000" cy="5943600"/>
          </a:xfrm>
        </p:spPr>
        <p:txBody>
          <a:bodyPr>
            <a:normAutofit fontScale="92500" lnSpcReduction="10000"/>
          </a:bodyPr>
          <a:lstStyle/>
          <a:p>
            <a:pPr>
              <a:lnSpc>
                <a:spcPct val="100000"/>
              </a:lnSpc>
              <a:spcBef>
                <a:spcPct val="20000"/>
              </a:spcBef>
            </a:pPr>
            <a:r>
              <a:rPr lang="en-US" altLang="ko-KR" dirty="0">
                <a:solidFill>
                  <a:srgbClr val="FF0000"/>
                </a:solidFill>
                <a:ea typeface="굴림" panose="020B0600000101010101" pitchFamily="34" charset="-127"/>
              </a:rPr>
              <a:t>Semaphores</a:t>
            </a:r>
            <a:r>
              <a:rPr lang="en-US" altLang="ko-KR" dirty="0">
                <a:ea typeface="굴림" panose="020B0600000101010101" pitchFamily="34" charset="-127"/>
              </a:rPr>
              <a:t>: Like integers with restricted interface</a:t>
            </a:r>
          </a:p>
          <a:p>
            <a:pPr lvl="1">
              <a:lnSpc>
                <a:spcPct val="100000"/>
              </a:lnSpc>
              <a:spcBef>
                <a:spcPct val="20000"/>
              </a:spcBef>
            </a:pPr>
            <a:r>
              <a:rPr lang="en-GB" altLang="ko-KR" dirty="0">
                <a:ea typeface="굴림" panose="020B0600000101010101" pitchFamily="34" charset="-127"/>
              </a:rPr>
              <a:t>Initialize value to any non-negative value</a:t>
            </a:r>
          </a:p>
          <a:p>
            <a:pPr lvl="1">
              <a:lnSpc>
                <a:spcPct val="100000"/>
              </a:lnSpc>
              <a:spcBef>
                <a:spcPct val="20000"/>
              </a:spcBef>
            </a:pPr>
            <a:r>
              <a:rPr lang="en-US" altLang="ko-KR" dirty="0">
                <a:ea typeface="굴림" panose="020B0600000101010101" pitchFamily="34" charset="-127"/>
              </a:rPr>
              <a:t>Two operations:</a:t>
            </a:r>
          </a:p>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thread (if one exists)</a:t>
            </a:r>
          </a:p>
          <a:p>
            <a:pPr lvl="1">
              <a:lnSpc>
                <a:spcPct val="100000"/>
              </a:lnSpc>
              <a:spcBef>
                <a:spcPct val="20000"/>
              </a:spcBef>
            </a:pPr>
            <a:r>
              <a:rPr lang="en-US" altLang="ko-KR" dirty="0">
                <a:ea typeface="굴림" panose="020B0600000101010101" pitchFamily="34" charset="-127"/>
              </a:rPr>
              <a:t>Use a separate semaphore for each constraint</a:t>
            </a:r>
          </a:p>
          <a:p>
            <a:pPr>
              <a:lnSpc>
                <a:spcPct val="100000"/>
              </a:lnSpc>
              <a:spcBef>
                <a:spcPct val="20000"/>
              </a:spcBef>
            </a:pPr>
            <a:r>
              <a:rPr lang="en-US" altLang="ko-KR" dirty="0">
                <a:solidFill>
                  <a:srgbClr val="FF0000"/>
                </a:solidFill>
                <a:ea typeface="굴림" panose="020B0600000101010101" pitchFamily="34" charset="-127"/>
              </a:rPr>
              <a:t>Monitors</a:t>
            </a:r>
            <a:r>
              <a:rPr lang="en-US" altLang="ko-KR" dirty="0">
                <a:ea typeface="굴림" panose="020B0600000101010101" pitchFamily="34" charset="-127"/>
              </a:rPr>
              <a:t>: A mutex lock plus one or more condition variables</a:t>
            </a:r>
          </a:p>
          <a:p>
            <a:pPr lvl="1">
              <a:lnSpc>
                <a:spcPct val="100000"/>
              </a:lnSpc>
              <a:spcBef>
                <a:spcPct val="20000"/>
              </a:spcBef>
            </a:pPr>
            <a:r>
              <a:rPr lang="en-US" altLang="ko-KR" dirty="0">
                <a:ea typeface="굴림" panose="020B0600000101010101" pitchFamily="34" charset="-127"/>
              </a:rPr>
              <a:t>Always acquire mutex lock before accessing shared data</a:t>
            </a:r>
          </a:p>
          <a:p>
            <a:pPr lvl="1">
              <a:lnSpc>
                <a:spcPct val="100000"/>
              </a:lnSpc>
              <a:spcBef>
                <a:spcPct val="20000"/>
              </a:spcBef>
            </a:pPr>
            <a:r>
              <a:rPr lang="en-US" altLang="ko-KR" dirty="0">
                <a:ea typeface="굴림" panose="020B0600000101010101" pitchFamily="34" charset="-127"/>
              </a:rPr>
              <a:t>Use condition variables to wait inside critical section (mutex lock released)</a:t>
            </a:r>
          </a:p>
          <a:p>
            <a:pPr lvl="1">
              <a:lnSpc>
                <a:spcPct val="100000"/>
              </a:lnSpc>
              <a:spcBef>
                <a:spcPct val="20000"/>
              </a:spcBef>
            </a:pPr>
            <a:r>
              <a:rPr lang="en-US" altLang="ko-KR" dirty="0">
                <a:ea typeface="굴림" panose="020B0600000101010101" pitchFamily="34" charset="-127"/>
              </a:rPr>
              <a:t>Three operations: </a:t>
            </a:r>
            <a:r>
              <a:rPr lang="en-US" altLang="ko-KR" dirty="0">
                <a:solidFill>
                  <a:schemeClr val="hlink"/>
                </a:solidFill>
                <a:latin typeface="Consolas" charset="0"/>
                <a:ea typeface="굴림" panose="020B0600000101010101" pitchFamily="34" charset="-127"/>
              </a:rPr>
              <a:t>w</a:t>
            </a:r>
            <a:r>
              <a:rPr lang="en-US" altLang="ko-KR" dirty="0">
                <a:solidFill>
                  <a:schemeClr val="hlink"/>
                </a:solidFill>
                <a:latin typeface="Consolas" charset="0"/>
                <a:ea typeface="Consolas" charset="0"/>
                <a:cs typeface="Consolas" charset="0"/>
              </a:rPr>
              <a:t>ait()</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signal()</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ea typeface="굴림" panose="020B0600000101010101" pitchFamily="34" charset="-127"/>
              </a:rPr>
              <a:t>and</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broadcast()</a:t>
            </a:r>
          </a:p>
          <a:p>
            <a:pPr lvl="2">
              <a:lnSpc>
                <a:spcPct val="80000"/>
              </a:lnSpc>
            </a:pPr>
            <a:r>
              <a:rPr lang="en-US" altLang="ko-KR" dirty="0">
                <a:ea typeface="굴림" panose="020B0600000101010101" pitchFamily="34" charset="-127"/>
              </a:rPr>
              <a:t>Wait if necessary (inside a while loop to check a Boolean flag)</a:t>
            </a:r>
          </a:p>
          <a:p>
            <a:pPr lvl="2">
              <a:lnSpc>
                <a:spcPct val="80000"/>
              </a:lnSpc>
            </a:pPr>
            <a:r>
              <a:rPr lang="en-US" altLang="ko-KR" dirty="0">
                <a:ea typeface="굴림" panose="020B0600000101010101" pitchFamily="34" charset="-127"/>
              </a:rPr>
              <a:t>Signal (or broadcast) when something is changed to wake up one waiting thread (or all waiting threads)</a:t>
            </a:r>
            <a:endParaRPr lang="en-US" altLang="ko-KR" dirty="0">
              <a:solidFill>
                <a:schemeClr val="hlink"/>
              </a:solidFill>
              <a:latin typeface="Consolas" charset="0"/>
              <a:ea typeface="Consolas" charset="0"/>
              <a:cs typeface="Consolas" charset="0"/>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p:txBody>
      </p:sp>
    </p:spTree>
    <p:extLst>
      <p:ext uri="{BB962C8B-B14F-4D97-AF65-F5344CB8AC3E}">
        <p14:creationId xmlns:p14="http://schemas.microsoft.com/office/powerpoint/2010/main" val="3326917973"/>
      </p:ext>
    </p:extLst>
  </p:cSld>
  <p:clrMapOvr>
    <a:masterClrMapping/>
  </p:clrMapOvr>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Semaphore vs. Monitor: Key Differences</a:t>
            </a:r>
          </a:p>
        </p:txBody>
      </p:sp>
      <p:graphicFrame>
        <p:nvGraphicFramePr>
          <p:cNvPr id="3" name="Table 2"/>
          <p:cNvGraphicFramePr>
            <a:graphicFrameLocks noGrp="1"/>
          </p:cNvGraphicFramePr>
          <p:nvPr/>
        </p:nvGraphicFramePr>
        <p:xfrm>
          <a:off x="533400" y="800100"/>
          <a:ext cx="11125200" cy="5600000"/>
        </p:xfrm>
        <a:graphic>
          <a:graphicData uri="http://schemas.openxmlformats.org/drawingml/2006/table">
            <a:tbl>
              <a:tblPr firstRow="1" bandRow="0"/>
              <a:tblGrid>
                <a:gridCol w="2300000"/>
                <a:gridCol w="4412600"/>
                <a:gridCol w="4412600"/>
              </a:tblGrid>
              <a:tr h="700000">
                <a:tc>
                  <a:txBody>
                    <a:bodyPr wrap="square"/>
                    <a:lstStyle/>
                    <a:p>
                      <a:pPr algn="l"/>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wrap="square"/>
                    <a:lstStyle/>
                    <a:p>
                      <a:pPr algn="l"/>
                      <a:r>
                        <a:rPr sz="1600" b="1">
                          <a:solidFill>
                            <a:srgbClr val="000000"/>
                          </a:solidFill>
                          <a:latin typeface="Arial"/>
                        </a:rPr>
                        <a:t>Semaphore</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wrap="square"/>
                    <a:lstStyle/>
                    <a:p>
                      <a:pPr algn="l"/>
                      <a:r>
                        <a:rPr sz="1600" b="1">
                          <a:solidFill>
                            <a:srgbClr val="000000"/>
                          </a:solidFill>
                          <a:latin typeface="Arial"/>
                        </a:rPr>
                        <a:t>Monitor (mutex + condition variables)</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r>
              <a:tr h="700000">
                <a:tc>
                  <a:txBody>
                    <a:bodyPr wrap="square"/>
                    <a:lstStyle/>
                    <a:p>
                      <a:pPr algn="l"/>
                      <a:r>
                        <a:rPr sz="1600" b="1">
                          <a:solidFill>
                            <a:srgbClr val="000000"/>
                          </a:solidFill>
                          <a:latin typeface="Arial"/>
                        </a:rPr>
                        <a:t>Abstraction</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Low-level primitive: an integer counter plus a wait queue</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0">
                          <a:solidFill>
                            <a:srgbClr val="000000"/>
                          </a:solidFill>
                          <a:latin typeface="Arial"/>
                        </a:rPr>
                        <a:t>Higher-level construct: a mutex and condition variables that guard shared state</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00000">
                <a:tc>
                  <a:txBody>
                    <a:bodyPr wrap="square"/>
                    <a:lstStyle/>
                    <a:p>
                      <a:pPr algn="l"/>
                      <a:r>
                        <a:rPr sz="1600" b="1">
                          <a:solidFill>
                            <a:srgbClr val="000000"/>
                          </a:solidFill>
                          <a:latin typeface="Arial"/>
                        </a:rPr>
                        <a:t>Mutual exclusion</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Not built in: programmer builds it with a binary semaphore (init = 1)</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0">
                          <a:solidFill>
                            <a:srgbClr val="000000"/>
                          </a:solidFill>
                          <a:latin typeface="Arial"/>
                        </a:rPr>
                        <a:t>Built in: hold the monitor's mutex whenever shared data is accessed</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00000">
                <a:tc>
                  <a:txBody>
                    <a:bodyPr wrap="square"/>
                    <a:lstStyle/>
                    <a:p>
                      <a:pPr algn="l"/>
                      <a:r>
                        <a:rPr sz="1600" b="1">
                          <a:solidFill>
                            <a:srgbClr val="000000"/>
                          </a:solidFill>
                          <a:latin typeface="Arial"/>
                        </a:rPr>
                        <a:t>Waiting for a condition</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The counter value is the condition; sem_wait() blocks only if value == 0</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0">
                          <a:solidFill>
                            <a:srgbClr val="000000"/>
                          </a:solidFill>
                          <a:latin typeface="Arial"/>
                        </a:rPr>
                        <a:t>cond_wait() always blocks; programmer re-checks any Boolean predicate in a </a:t>
                      </a:r>
                      <a:r>
                        <a:rPr sz="1600" b="1">
                          <a:solidFill>
                            <a:srgbClr val="FF0000"/>
                          </a:solidFill>
                          <a:latin typeface="Arial"/>
                        </a:rPr>
                        <a:t>while</a:t>
                      </a:r>
                      <a:r>
                        <a:rPr sz="1600" b="0">
                          <a:solidFill>
                            <a:srgbClr val="000000"/>
                          </a:solidFill>
                          <a:latin typeface="Arial"/>
                        </a:rPr>
                        <a:t> loop</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00000">
                <a:tc>
                  <a:txBody>
                    <a:bodyPr wrap="square"/>
                    <a:lstStyle/>
                    <a:p>
                      <a:pPr algn="l"/>
                      <a:r>
                        <a:rPr sz="1600" b="1">
                          <a:solidFill>
                            <a:srgbClr val="000000"/>
                          </a:solidFill>
                          <a:latin typeface="Arial"/>
                        </a:rPr>
                        <a:t>Memory of signals</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1">
                          <a:solidFill>
                            <a:srgbClr val="FF0000"/>
                          </a:solidFill>
                          <a:latin typeface="Arial"/>
                        </a:rPr>
                        <a:t>Remembers</a:t>
                      </a:r>
                      <a:r>
                        <a:rPr sz="1600" b="0">
                          <a:solidFill>
                            <a:srgbClr val="000000"/>
                          </a:solidFill>
                          <a:latin typeface="Arial"/>
                        </a:rPr>
                        <a:t>: sem_post() with no waiter increments the value, so it is never lost</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1">
                          <a:solidFill>
                            <a:srgbClr val="FF0000"/>
                          </a:solidFill>
                          <a:latin typeface="Arial"/>
                        </a:rPr>
                        <a:t>No memory</a:t>
                      </a:r>
                      <a:r>
                        <a:rPr sz="1600" b="0">
                          <a:solidFill>
                            <a:srgbClr val="000000"/>
                          </a:solidFill>
                          <a:latin typeface="Arial"/>
                        </a:rPr>
                        <a:t>: cond_signal() with no waiter is lost, so a state flag is needed (e.g., done)</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00000">
                <a:tc>
                  <a:txBody>
                    <a:bodyPr wrap="square"/>
                    <a:lstStyle/>
                    <a:p>
                      <a:pPr algn="l"/>
                      <a:r>
                        <a:rPr sz="1600" b="1">
                          <a:solidFill>
                            <a:srgbClr val="000000"/>
                          </a:solidFill>
                          <a:latin typeface="Arial"/>
                        </a:rPr>
                        <a:t>Waiting inside a critical section</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Sleeping on a semaphore while holding a mutex can cause deadlock (P/C example)</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0">
                          <a:solidFill>
                            <a:srgbClr val="000000"/>
                          </a:solidFill>
                          <a:latin typeface="Arial"/>
                        </a:rPr>
                        <a:t>cond_wait() atomically releases the mutex and re-acquires it before returning</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00000">
                <a:tc>
                  <a:txBody>
                    <a:bodyPr wrap="square"/>
                    <a:lstStyle/>
                    <a:p>
                      <a:pPr algn="l"/>
                      <a:r>
                        <a:rPr sz="1600" b="1">
                          <a:solidFill>
                            <a:srgbClr val="000000"/>
                          </a:solidFill>
                          <a:latin typeface="Arial"/>
                        </a:rPr>
                        <a:t>Ownership</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No owner: any thread may call sem_post()</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0">
                          <a:solidFill>
                            <a:srgbClr val="000000"/>
                          </a:solidFill>
                          <a:latin typeface="Arial"/>
                        </a:rPr>
                        <a:t>Lock has an owner: only the thread that locked the mutex may unlock it</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00000">
                <a:tc>
                  <a:txBody>
                    <a:bodyPr wrap="square"/>
                    <a:lstStyle/>
                    <a:p>
                      <a:pPr algn="l"/>
                      <a:r>
                        <a:rPr sz="1600" b="1">
                          <a:solidFill>
                            <a:srgbClr val="000000"/>
                          </a:solidFill>
                          <a:latin typeface="Arial"/>
                        </a:rPr>
                        <a:t>Best suited for</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Counting resources and one-shot signals (thread join, buffer slots, "room")</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0">
                          <a:solidFill>
                            <a:srgbClr val="000000"/>
                          </a:solidFill>
                          <a:latin typeface="Arial"/>
                        </a:rPr>
                        <a:t>Arbitrary conditions on shared state (e.g., state[i] != EATING); broadcast to all waiters</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Semaphore vs. Monitor: Trade-offs</a:t>
            </a:r>
          </a:p>
        </p:txBody>
      </p:sp>
      <p:sp>
        <p:nvSpPr>
          <p:cNvPr id="3" name="TextBox 2"/>
          <p:cNvSpPr txBox="1"/>
          <p:nvPr/>
        </p:nvSpPr>
        <p:spPr>
          <a:xfrm>
            <a:off x="533400" y="800100"/>
            <a:ext cx="5600000" cy="3850000"/>
          </a:xfrm>
          <a:prstGeom prst="rect">
            <a:avLst/>
          </a:prstGeom>
          <a:noFill/>
          <a:ln w="12700">
            <a:solidFill>
              <a:srgbClr val="2F4BD6"/>
            </a:solidFill>
          </a:ln>
        </p:spPr>
        <p:txBody>
          <a:bodyPr wrap="square">
            <a:spAutoFit/>
          </a:bodyPr>
          <a:lstStyle/>
          <a:p>
            <a:r>
              <a:rPr sz="1600" b="1">
                <a:solidFill>
                  <a:srgbClr val="FF0000"/>
                </a:solidFill>
                <a:latin typeface="Arial"/>
              </a:rPr>
              <a:t>Semaphore = monitor + a counter</a:t>
            </a:r>
          </a:p>
          <a:p>
            <a:r>
              <a:rPr sz="1400">
                <a:solidFill>
                  <a:srgbClr val="000000"/>
                </a:solidFill>
                <a:latin typeface="Consolas"/>
              </a:rPr>
              <a:t>int value; mutex m; cond c;</a:t>
            </a:r>
          </a:p>
          <a:p>
            <a:r>
              <a:rPr sz="1400">
                <a:solidFill>
                  <a:srgbClr val="000000"/>
                </a:solidFill>
                <a:latin typeface="Consolas"/>
              </a:rPr>
              <a:t> </a:t>
            </a:r>
          </a:p>
          <a:p>
            <a:r>
              <a:rPr sz="1400">
                <a:solidFill>
                  <a:srgbClr val="000000"/>
                </a:solidFill>
                <a:latin typeface="Consolas"/>
              </a:rPr>
              <a:t>sem_wait() {</a:t>
            </a:r>
          </a:p>
          <a:p>
            <a:r>
              <a:rPr sz="1400">
                <a:solidFill>
                  <a:srgbClr val="000000"/>
                </a:solidFill>
                <a:latin typeface="Consolas"/>
              </a:rPr>
              <a:t>  lock(&amp;m);</a:t>
            </a:r>
          </a:p>
          <a:p>
            <a:r>
              <a:rPr sz="1400">
                <a:solidFill>
                  <a:srgbClr val="000000"/>
                </a:solidFill>
                <a:latin typeface="Consolas"/>
              </a:rPr>
              <a:t>  while (value == 0) cond_wait(&amp;c, &amp;m);</a:t>
            </a:r>
          </a:p>
          <a:p>
            <a:r>
              <a:rPr sz="1400">
                <a:solidFill>
                  <a:srgbClr val="000000"/>
                </a:solidFill>
                <a:latin typeface="Consolas"/>
              </a:rPr>
              <a:t>  value--;</a:t>
            </a:r>
          </a:p>
          <a:p>
            <a:r>
              <a:rPr sz="1400">
                <a:solidFill>
                  <a:srgbClr val="000000"/>
                </a:solidFill>
                <a:latin typeface="Consolas"/>
              </a:rPr>
              <a:t>  unlock(&amp;m);</a:t>
            </a:r>
          </a:p>
          <a:p>
            <a:r>
              <a:rPr sz="1400">
                <a:solidFill>
                  <a:srgbClr val="000000"/>
                </a:solidFill>
                <a:latin typeface="Consolas"/>
              </a:rPr>
              <a:t>}</a:t>
            </a:r>
          </a:p>
          <a:p>
            <a:r>
              <a:rPr sz="1400">
                <a:solidFill>
                  <a:srgbClr val="000000"/>
                </a:solidFill>
                <a:latin typeface="Consolas"/>
              </a:rPr>
              <a:t>sem_post() {</a:t>
            </a:r>
          </a:p>
          <a:p>
            <a:r>
              <a:rPr sz="1400">
                <a:solidFill>
                  <a:srgbClr val="000000"/>
                </a:solidFill>
                <a:latin typeface="Consolas"/>
              </a:rPr>
              <a:t>  lock(&amp;m);</a:t>
            </a:r>
          </a:p>
          <a:p>
            <a:r>
              <a:rPr sz="1400">
                <a:solidFill>
                  <a:srgbClr val="000000"/>
                </a:solidFill>
                <a:latin typeface="Consolas"/>
              </a:rPr>
              <a:t>  value++;  cond_signal(&amp;c);</a:t>
            </a:r>
          </a:p>
          <a:p>
            <a:r>
              <a:rPr sz="1400">
                <a:solidFill>
                  <a:srgbClr val="000000"/>
                </a:solidFill>
                <a:latin typeface="Consolas"/>
              </a:rPr>
              <a:t>  unlock(&amp;m);</a:t>
            </a:r>
          </a:p>
          <a:p>
            <a:r>
              <a:rPr sz="1400">
                <a:solidFill>
                  <a:srgbClr val="000000"/>
                </a:solidFill>
                <a:latin typeface="Consolas"/>
              </a:rPr>
              <a:t>}</a:t>
            </a:r>
          </a:p>
          <a:p>
            <a:pPr>
              <a:spcBef>
                <a:spcPts val="600"/>
              </a:spcBef>
            </a:pPr>
            <a:r>
              <a:rPr sz="1400" b="0">
                <a:solidFill>
                  <a:srgbClr val="000000"/>
                </a:solidFill>
                <a:latin typeface="Arial"/>
              </a:rPr>
              <a:t>The counter is exactly the </a:t>
            </a:r>
            <a:r>
              <a:rPr sz="1400" b="1">
                <a:solidFill>
                  <a:srgbClr val="FF0000"/>
                </a:solidFill>
                <a:latin typeface="Arial"/>
              </a:rPr>
              <a:t>state</a:t>
            </a:r>
            <a:r>
              <a:rPr sz="1400" b="0">
                <a:solidFill>
                  <a:srgbClr val="000000"/>
                </a:solidFill>
                <a:latin typeface="Arial"/>
              </a:rPr>
              <a:t> that a condition variable lacks. A monitor can implement a semaphore, and a semaphore can implement a monitor, so the two are equally expressive.</a:t>
            </a:r>
          </a:p>
        </p:txBody>
      </p:sp>
      <p:sp>
        <p:nvSpPr>
          <p:cNvPr id="4" name="Rectangle 3"/>
          <p:cNvSpPr/>
          <p:nvPr/>
        </p:nvSpPr>
        <p:spPr>
          <a:xfrm>
            <a:off x="6350000" y="800100"/>
            <a:ext cx="5308600" cy="1850000"/>
          </a:xfrm>
          <a:prstGeom prst="rect">
            <a:avLst/>
          </a:prstGeom>
          <a:solidFill>
            <a:srgbClr val="E2F0D9"/>
          </a:solidFill>
          <a:ln>
            <a:noFill/>
          </a:ln>
          <a:effectLst/>
        </p:spPr>
        <p:txBody>
          <a:bodyPr rtlCol="0" anchor="t" wrap="square"/>
          <a:lstStyle/>
          <a:p>
            <a:pPr algn="l"/>
            <a:r>
              <a:rPr sz="1600" b="1">
                <a:solidFill>
                  <a:srgbClr val="FF0000"/>
                </a:solidFill>
                <a:latin typeface="Arial"/>
              </a:rPr>
              <a:t>Semaphore</a:t>
            </a:r>
          </a:p>
          <a:p>
            <a:pPr algn="l">
              <a:spcBef>
                <a:spcPts val="400"/>
              </a:spcBef>
            </a:pPr>
            <a:r>
              <a:rPr sz="1400" b="1">
                <a:solidFill>
                  <a:srgbClr val="FF0000"/>
                </a:solidFill>
                <a:latin typeface="Arial"/>
              </a:rPr>
              <a:t>Prefer for:</a:t>
            </a:r>
            <a:r>
              <a:rPr sz="1400" b="0">
                <a:solidFill>
                  <a:srgbClr val="000000"/>
                </a:solidFill>
                <a:latin typeface="Arial"/>
              </a:rPr>
              <a:t> counting resources and signals that may arrive before the waiter</a:t>
            </a:r>
          </a:p>
          <a:p>
            <a:pPr algn="l">
              <a:spcBef>
                <a:spcPts val="400"/>
              </a:spcBef>
            </a:pPr>
            <a:r>
              <a:rPr sz="1400" b="1">
                <a:solidFill>
                  <a:srgbClr val="FF0000"/>
                </a:solidFill>
                <a:latin typeface="Arial"/>
              </a:rPr>
              <a:t>Watch out:</a:t>
            </a:r>
            <a:r>
              <a:rPr sz="1400" b="0">
                <a:solidFill>
                  <a:srgbClr val="000000"/>
                </a:solidFill>
                <a:latin typeface="Arial"/>
              </a:rPr>
              <a:t> mutex and scheduling mixed in one primitive; order of sem_wait() calls matters; hard to prove correct</a:t>
            </a:r>
          </a:p>
        </p:txBody>
      </p:sp>
      <p:sp>
        <p:nvSpPr>
          <p:cNvPr id="5" name="Rectangle 4"/>
          <p:cNvSpPr/>
          <p:nvPr/>
        </p:nvSpPr>
        <p:spPr>
          <a:xfrm>
            <a:off x="6350000" y="2800100"/>
            <a:ext cx="5308600" cy="1850000"/>
          </a:xfrm>
          <a:prstGeom prst="rect">
            <a:avLst/>
          </a:prstGeom>
          <a:solidFill>
            <a:srgbClr val="FFF2CC"/>
          </a:solidFill>
          <a:ln>
            <a:noFill/>
          </a:ln>
          <a:effectLst/>
        </p:spPr>
        <p:txBody>
          <a:bodyPr rtlCol="0" anchor="t" wrap="square"/>
          <a:lstStyle/>
          <a:p>
            <a:pPr algn="l"/>
            <a:r>
              <a:rPr sz="1600" b="1">
                <a:solidFill>
                  <a:srgbClr val="FF0000"/>
                </a:solidFill>
                <a:latin typeface="Arial"/>
              </a:rPr>
              <a:t>Monitor</a:t>
            </a:r>
          </a:p>
          <a:p>
            <a:pPr algn="l">
              <a:spcBef>
                <a:spcPts val="400"/>
              </a:spcBef>
            </a:pPr>
            <a:r>
              <a:rPr sz="1400" b="1">
                <a:solidFill>
                  <a:srgbClr val="FF0000"/>
                </a:solidFill>
                <a:latin typeface="Arial"/>
              </a:rPr>
              <a:t>Prefer for:</a:t>
            </a:r>
            <a:r>
              <a:rPr sz="1400" b="0">
                <a:solidFill>
                  <a:srgbClr val="000000"/>
                </a:solidFill>
                <a:latin typeface="Arial"/>
              </a:rPr>
              <a:t> conditions over shared state, with broadcast to wake all waiters</a:t>
            </a:r>
          </a:p>
          <a:p>
            <a:pPr algn="l">
              <a:spcBef>
                <a:spcPts val="400"/>
              </a:spcBef>
            </a:pPr>
            <a:r>
              <a:rPr sz="1400" b="1">
                <a:solidFill>
                  <a:srgbClr val="FF0000"/>
                </a:solidFill>
                <a:latin typeface="Arial"/>
              </a:rPr>
              <a:t>Watch out:</a:t>
            </a:r>
            <a:r>
              <a:rPr sz="1400" b="0">
                <a:solidFill>
                  <a:srgbClr val="000000"/>
                </a:solidFill>
                <a:latin typeface="Arial"/>
              </a:rPr>
              <a:t> must keep an explicit state flag; always re-check it in a while loop (Mesa semantics)</a:t>
            </a:r>
          </a:p>
        </p:txBody>
      </p:sp>
      <p:graphicFrame>
        <p:nvGraphicFramePr>
          <p:cNvPr id="6" name="Table 5"/>
          <p:cNvGraphicFramePr>
            <a:graphicFrameLocks noGrp="1"/>
          </p:cNvGraphicFramePr>
          <p:nvPr/>
        </p:nvGraphicFramePr>
        <p:xfrm>
          <a:off x="533400" y="4850000"/>
          <a:ext cx="11125200" cy="1800000"/>
        </p:xfrm>
        <a:graphic>
          <a:graphicData uri="http://schemas.openxmlformats.org/drawingml/2006/table">
            <a:tbl>
              <a:tblPr firstRow="1" bandRow="0"/>
              <a:tblGrid>
                <a:gridCol w="2300000"/>
                <a:gridCol w="4412600"/>
                <a:gridCol w="4412600"/>
              </a:tblGrid>
              <a:tr h="450000">
                <a:tc>
                  <a:txBody>
                    <a:bodyPr wrap="square"/>
                    <a:lstStyle/>
                    <a:p>
                      <a:pPr algn="l"/>
                      <a:r>
                        <a:rPr sz="1400" b="1">
                          <a:solidFill>
                            <a:srgbClr val="000000"/>
                          </a:solidFill>
                          <a:latin typeface="Arial"/>
                        </a:rPr>
                        <a:t>Same problem in this lecture</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wrap="square"/>
                    <a:lstStyle/>
                    <a:p>
                      <a:pPr algn="l"/>
                      <a:r>
                        <a:rPr sz="1400" b="1">
                          <a:solidFill>
                            <a:srgbClr val="000000"/>
                          </a:solidFill>
                          <a:latin typeface="Arial"/>
                        </a:rPr>
                        <a:t>Semaphore version</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wrap="square"/>
                    <a:lstStyle/>
                    <a:p>
                      <a:pPr algn="l"/>
                      <a:r>
                        <a:rPr sz="1400" b="1">
                          <a:solidFill>
                            <a:srgbClr val="000000"/>
                          </a:solidFill>
                          <a:latin typeface="Arial"/>
                        </a:rPr>
                        <a:t>Monitor version</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r>
              <a:tr h="450000">
                <a:tc>
                  <a:txBody>
                    <a:bodyPr wrap="square"/>
                    <a:lstStyle/>
                    <a:p>
                      <a:pPr algn="l"/>
                      <a:r>
                        <a:rPr sz="1400" b="1">
                          <a:solidFill>
                            <a:srgbClr val="000000"/>
                          </a:solidFill>
                          <a:latin typeface="Arial"/>
                        </a:rPr>
                        <a:t>Thread join</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400" b="0">
                          <a:solidFill>
                            <a:srgbClr val="000000"/>
                          </a:solidFill>
                          <a:latin typeface="Arial"/>
                        </a:rPr>
                        <a:t>sem = 0; post / wait, no flag needed</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400" b="0">
                          <a:solidFill>
                            <a:srgbClr val="000000"/>
                          </a:solidFill>
                          <a:latin typeface="Arial"/>
                        </a:rPr>
                        <a:t>mutex + CV + done flag; while (!done) cond_wait()</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450000">
                <a:tc>
                  <a:txBody>
                    <a:bodyPr wrap="square"/>
                    <a:lstStyle/>
                    <a:p>
                      <a:pPr algn="l"/>
                      <a:r>
                        <a:rPr sz="1400" b="1">
                          <a:solidFill>
                            <a:srgbClr val="000000"/>
                          </a:solidFill>
                          <a:latin typeface="Arial"/>
                        </a:rPr>
                        <a:t>Bounded buffer</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400" b="0">
                          <a:solidFill>
                            <a:srgbClr val="000000"/>
                          </a:solidFill>
                          <a:latin typeface="Arial"/>
                        </a:rPr>
                        <a:t>3 semaphores: mutex, fullSlots, emptySlots</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400" b="0">
                          <a:solidFill>
                            <a:srgbClr val="000000"/>
                          </a:solidFill>
                          <a:latin typeface="Arial"/>
                        </a:rPr>
                        <a:t>1 mutex + 2 CVs + full / empty flags</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450000">
                <a:tc>
                  <a:txBody>
                    <a:bodyPr wrap="square"/>
                    <a:lstStyle/>
                    <a:p>
                      <a:pPr algn="l"/>
                      <a:r>
                        <a:rPr sz="1400" b="1">
                          <a:solidFill>
                            <a:srgbClr val="000000"/>
                          </a:solidFill>
                          <a:latin typeface="Arial"/>
                        </a:rPr>
                        <a:t>Dining philosophers</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400" b="0">
                          <a:solidFill>
                            <a:srgbClr val="000000"/>
                          </a:solidFill>
                          <a:latin typeface="Arial"/>
                        </a:rPr>
                        <a:t>self[i] semaphores, initialized to 0</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400" b="0">
                          <a:solidFill>
                            <a:srgbClr val="000000"/>
                          </a:solidFill>
                          <a:latin typeface="Arial"/>
                        </a:rPr>
                        <a:t>self[i] condition variables; while (state[i] != EATING)</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95D33-F2BA-81AA-4458-7C5200FE0652}"/>
              </a:ext>
            </a:extLst>
          </p:cNvPr>
          <p:cNvSpPr>
            <a:spLocks noGrp="1"/>
          </p:cNvSpPr>
          <p:nvPr>
            <p:ph type="title"/>
          </p:nvPr>
        </p:nvSpPr>
        <p:spPr/>
        <p:txBody>
          <a:bodyPr/>
          <a:lstStyle/>
          <a:p>
            <a:r>
              <a:rPr lang="en-GB"/>
              <a:t>References</a:t>
            </a:r>
            <a:endParaRPr lang="en-SE"/>
          </a:p>
        </p:txBody>
      </p:sp>
      <p:sp>
        <p:nvSpPr>
          <p:cNvPr id="3" name="Content Placeholder 2">
            <a:extLst>
              <a:ext uri="{FF2B5EF4-FFF2-40B4-BE49-F238E27FC236}">
                <a16:creationId xmlns:a16="http://schemas.microsoft.com/office/drawing/2014/main" id="{5BFC9AB1-8F7F-BF78-5273-0433B485BE06}"/>
              </a:ext>
            </a:extLst>
          </p:cNvPr>
          <p:cNvSpPr>
            <a:spLocks noGrp="1"/>
          </p:cNvSpPr>
          <p:nvPr>
            <p:ph idx="1"/>
          </p:nvPr>
        </p:nvSpPr>
        <p:spPr/>
        <p:txBody>
          <a:bodyPr>
            <a:normAutofit fontScale="70000" lnSpcReduction="20000"/>
          </a:bodyPr>
          <a:lstStyle/>
          <a:p>
            <a:r>
              <a:rPr lang="en-GB" dirty="0"/>
              <a:t>Process Synchronisation Concepts in Operating System, </a:t>
            </a:r>
            <a:r>
              <a:rPr lang="en-GB" dirty="0" err="1"/>
              <a:t>HowTo</a:t>
            </a:r>
            <a:endParaRPr lang="en-GB" dirty="0"/>
          </a:p>
          <a:p>
            <a:pPr lvl="1"/>
            <a:r>
              <a:rPr lang="en-GB" dirty="0">
                <a:hlinkClick r:id="rId2"/>
              </a:rPr>
              <a:t>https://www.youtube.com/playlist?list=PLbu9W4c-C0iAGUc7dQlqXIsXkGnHMaTEz</a:t>
            </a:r>
            <a:r>
              <a:rPr lang="en-GB" dirty="0"/>
              <a:t> </a:t>
            </a:r>
          </a:p>
          <a:p>
            <a:r>
              <a:rPr lang="en-GB" dirty="0"/>
              <a:t>What is difference between Semaphore and Mutex, </a:t>
            </a:r>
            <a:r>
              <a:rPr lang="en-GB" dirty="0" err="1"/>
              <a:t>HowTo</a:t>
            </a:r>
            <a:endParaRPr lang="en-GB" dirty="0"/>
          </a:p>
          <a:p>
            <a:pPr lvl="1"/>
            <a:r>
              <a:rPr lang="en-GB" dirty="0">
                <a:hlinkClick r:id="rId3"/>
              </a:rPr>
              <a:t>https://www.youtube.com/watch?v=DvF3AsTglUU</a:t>
            </a:r>
            <a:r>
              <a:rPr lang="en-GB" dirty="0"/>
              <a:t> </a:t>
            </a:r>
            <a:endParaRPr lang="en-SE" dirty="0"/>
          </a:p>
          <a:p>
            <a:r>
              <a:rPr lang="en-GB" dirty="0"/>
              <a:t>Arpaci-Dusseau, R. and A.: Operating Systems: Three Easy Pieces (OSTEP), Part II: Concurrency (Ch. 26-31).</a:t>
            </a:r>
            <a:endParaRPr lang="en-GB" dirty="0"/>
          </a:p>
          <a:p>
            <a:pPr lvl="1"/>
            <a:r>
              <a:rPr lang="en-GB" dirty="0">
                <a:hlinkClick r:id="rId4"/>
              </a:rPr>
              <a:t>https://pages.cs.wisc.edu/~remzi/OSTEP/</a:t>
            </a:r>
            <a:endParaRPr lang="en-SE" dirty="0"/>
          </a:p>
          <a:p>
            <a:r>
              <a:rPr lang="en-GB" dirty="0"/>
              <a:t>UC Berkeley CS 162: Operating Systems and System Programming (lecture material on synchronization on which these slides are based)</a:t>
            </a:r>
            <a:endParaRPr lang="en-GB" dirty="0"/>
          </a:p>
          <a:p>
            <a:pPr lvl="1"/>
            <a:r>
              <a:rPr lang="en-GB" dirty="0">
                <a:hlinkClick r:id="rId5"/>
              </a:rPr>
              <a:t>https://cs162.org</a:t>
            </a:r>
            <a:endParaRPr lang="en-SE" dirty="0"/>
          </a:p>
        </p:txBody>
      </p:sp>
    </p:spTree>
    <p:extLst>
      <p:ext uri="{BB962C8B-B14F-4D97-AF65-F5344CB8AC3E}">
        <p14:creationId xmlns:p14="http://schemas.microsoft.com/office/powerpoint/2010/main" val="3342420605"/>
      </p:ext>
    </p:extLst>
  </p:cSld>
  <p:clrMapOvr>
    <a:masterClrMapping/>
  </p:clrMapOvr>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Hoare vs. Mesa Monitors: signal()</a:t>
            </a:r>
          </a:p>
        </p:txBody>
      </p:sp>
      <p:sp>
        <p:nvSpPr>
          <p:cNvPr id="3" name="Rectangle 2"/>
          <p:cNvSpPr/>
          <p:nvPr/>
        </p:nvSpPr>
        <p:spPr>
          <a:xfrm>
            <a:off x="533400" y="800100"/>
            <a:ext cx="5500000" cy="420000"/>
          </a:xfrm>
          <a:prstGeom prst="rect">
            <a:avLst/>
          </a:prstGeom>
          <a:solidFill>
            <a:srgbClr val="B4C7E7"/>
          </a:solidFill>
          <a:ln>
            <a:noFill/>
          </a:ln>
        </p:spPr>
        <p:txBody>
          <a:bodyPr rtlCol="0" anchor="ctr" wrap="square" lIns="60000" rIns="60000" tIns="30000" bIns="30000"/>
          <a:lstStyle/>
          <a:p>
            <a:pPr algn="ctr"/>
            <a:r>
              <a:rPr sz="1600" b="1">
                <a:solidFill>
                  <a:srgbClr val="000000"/>
                </a:solidFill>
                <a:latin typeface="Arial"/>
              </a:rPr>
              <a:t>Hoare style: signal-and-wait</a:t>
            </a:r>
          </a:p>
        </p:txBody>
      </p:sp>
      <p:sp>
        <p:nvSpPr>
          <p:cNvPr id="4" name="Rectangle 3"/>
          <p:cNvSpPr/>
          <p:nvPr/>
        </p:nvSpPr>
        <p:spPr>
          <a:xfrm>
            <a:off x="1373400" y="1270000"/>
            <a:ext cx="1526666" cy="300000"/>
          </a:xfrm>
          <a:prstGeom prst="rect">
            <a:avLst/>
          </a:prstGeom>
          <a:solidFill>
            <a:srgbClr val="FFFFFF"/>
          </a:solidFill>
          <a:ln>
            <a:noFill/>
          </a:ln>
        </p:spPr>
        <p:txBody>
          <a:bodyPr rtlCol="0" anchor="ctr" wrap="square" lIns="60000" rIns="60000" tIns="30000" bIns="30000"/>
          <a:lstStyle/>
          <a:p>
            <a:pPr algn="ctr"/>
            <a:r>
              <a:rPr sz="1200" b="0">
                <a:solidFill>
                  <a:srgbClr val="595959"/>
                </a:solidFill>
                <a:latin typeface="Arial"/>
              </a:rPr>
              <a:t>1. signal()</a:t>
            </a:r>
          </a:p>
        </p:txBody>
      </p:sp>
      <p:sp>
        <p:nvSpPr>
          <p:cNvPr id="5" name="Rectangle 4"/>
          <p:cNvSpPr/>
          <p:nvPr/>
        </p:nvSpPr>
        <p:spPr>
          <a:xfrm>
            <a:off x="2940066" y="1270000"/>
            <a:ext cx="1526666" cy="300000"/>
          </a:xfrm>
          <a:prstGeom prst="rect">
            <a:avLst/>
          </a:prstGeom>
          <a:solidFill>
            <a:srgbClr val="FFFFFF"/>
          </a:solidFill>
          <a:ln>
            <a:noFill/>
          </a:ln>
        </p:spPr>
        <p:txBody>
          <a:bodyPr rtlCol="0" anchor="ctr" wrap="square" lIns="60000" rIns="60000" tIns="30000" bIns="30000"/>
          <a:lstStyle/>
          <a:p>
            <a:pPr algn="ctr"/>
            <a:r>
              <a:rPr sz="1200" b="0">
                <a:solidFill>
                  <a:srgbClr val="595959"/>
                </a:solidFill>
                <a:latin typeface="Arial"/>
              </a:rPr>
              <a:t>2. right after</a:t>
            </a:r>
          </a:p>
        </p:txBody>
      </p:sp>
      <p:sp>
        <p:nvSpPr>
          <p:cNvPr id="6" name="Rectangle 5"/>
          <p:cNvSpPr/>
          <p:nvPr/>
        </p:nvSpPr>
        <p:spPr>
          <a:xfrm>
            <a:off x="4506732" y="1270000"/>
            <a:ext cx="1526666" cy="300000"/>
          </a:xfrm>
          <a:prstGeom prst="rect">
            <a:avLst/>
          </a:prstGeom>
          <a:solidFill>
            <a:srgbClr val="FFFFFF"/>
          </a:solidFill>
          <a:ln>
            <a:noFill/>
          </a:ln>
        </p:spPr>
        <p:txBody>
          <a:bodyPr rtlCol="0" anchor="ctr" wrap="square" lIns="60000" rIns="60000" tIns="30000" bIns="30000"/>
          <a:lstStyle/>
          <a:p>
            <a:pPr algn="ctr"/>
            <a:r>
              <a:rPr sz="1200" b="0">
                <a:solidFill>
                  <a:srgbClr val="595959"/>
                </a:solidFill>
                <a:latin typeface="Arial"/>
              </a:rPr>
              <a:t>3. later</a:t>
            </a:r>
          </a:p>
        </p:txBody>
      </p:sp>
      <p:sp>
        <p:nvSpPr>
          <p:cNvPr id="7" name="Rectangle 6"/>
          <p:cNvSpPr/>
          <p:nvPr/>
        </p:nvSpPr>
        <p:spPr>
          <a:xfrm>
            <a:off x="533400" y="1620000"/>
            <a:ext cx="800000" cy="620000"/>
          </a:xfrm>
          <a:prstGeom prst="rect">
            <a:avLst/>
          </a:prstGeom>
          <a:solidFill>
            <a:srgbClr val="DAE3F3"/>
          </a:solidFill>
          <a:ln>
            <a:noFill/>
          </a:ln>
        </p:spPr>
        <p:txBody>
          <a:bodyPr rtlCol="0" anchor="ctr" wrap="square" lIns="60000" rIns="60000" tIns="30000" bIns="30000"/>
          <a:lstStyle/>
          <a:p>
            <a:pPr algn="ctr"/>
            <a:r>
              <a:rPr sz="1200" b="1">
                <a:solidFill>
                  <a:srgbClr val="000000"/>
                </a:solidFill>
                <a:latin typeface="Arial"/>
              </a:rPr>
              <a:t>Signaler</a:t>
            </a:r>
          </a:p>
        </p:txBody>
      </p:sp>
      <p:sp>
        <p:nvSpPr>
          <p:cNvPr id="8" name="Rectangle 7"/>
          <p:cNvSpPr/>
          <p:nvPr/>
        </p:nvSpPr>
        <p:spPr>
          <a:xfrm>
            <a:off x="1373400" y="1620000"/>
            <a:ext cx="1526666" cy="620000"/>
          </a:xfrm>
          <a:prstGeom prst="rect">
            <a:avLst/>
          </a:prstGeom>
          <a:solidFill>
            <a:srgbClr val="B4C7E7"/>
          </a:solidFill>
          <a:ln>
            <a:noFill/>
          </a:ln>
        </p:spPr>
        <p:txBody>
          <a:bodyPr rtlCol="0" anchor="ctr" wrap="square" lIns="60000" rIns="60000" tIns="30000" bIns="30000"/>
          <a:lstStyle/>
          <a:p>
            <a:pPr algn="ctr"/>
            <a:r>
              <a:rPr sz="1200" b="0">
                <a:solidFill>
                  <a:srgbClr val="000000"/>
                </a:solidFill>
                <a:latin typeface="Arial"/>
              </a:rPr>
              <a:t>cond_signal()</a:t>
            </a:r>
          </a:p>
        </p:txBody>
      </p:sp>
      <p:sp>
        <p:nvSpPr>
          <p:cNvPr id="9" name="Rectangle 8"/>
          <p:cNvSpPr/>
          <p:nvPr/>
        </p:nvSpPr>
        <p:spPr>
          <a:xfrm>
            <a:off x="2940066" y="1620000"/>
            <a:ext cx="1526666" cy="620000"/>
          </a:xfrm>
          <a:prstGeom prst="rect">
            <a:avLst/>
          </a:prstGeom>
          <a:solidFill>
            <a:srgbClr val="D9D9D9"/>
          </a:solidFill>
          <a:ln>
            <a:noFill/>
          </a:ln>
        </p:spPr>
        <p:txBody>
          <a:bodyPr rtlCol="0" anchor="ctr" wrap="square" lIns="60000" rIns="60000" tIns="30000" bIns="30000"/>
          <a:lstStyle/>
          <a:p>
            <a:pPr algn="ctr"/>
            <a:r>
              <a:rPr sz="1200" b="0">
                <a:solidFill>
                  <a:srgbClr val="000000"/>
                </a:solidFill>
                <a:latin typeface="Arial"/>
              </a:rPr>
              <a:t>blocked (urgent queue)</a:t>
            </a:r>
          </a:p>
        </p:txBody>
      </p:sp>
      <p:sp>
        <p:nvSpPr>
          <p:cNvPr id="10" name="Rectangle 9"/>
          <p:cNvSpPr/>
          <p:nvPr/>
        </p:nvSpPr>
        <p:spPr>
          <a:xfrm>
            <a:off x="4506732" y="1620000"/>
            <a:ext cx="1526666" cy="620000"/>
          </a:xfrm>
          <a:prstGeom prst="rect">
            <a:avLst/>
          </a:prstGeom>
          <a:solidFill>
            <a:srgbClr val="B4C7E7"/>
          </a:solidFill>
          <a:ln>
            <a:noFill/>
          </a:ln>
        </p:spPr>
        <p:txBody>
          <a:bodyPr rtlCol="0" anchor="ctr" wrap="square" lIns="60000" rIns="60000" tIns="30000" bIns="30000"/>
          <a:lstStyle/>
          <a:p>
            <a:pPr algn="ctr"/>
            <a:r>
              <a:rPr sz="1200" b="0">
                <a:solidFill>
                  <a:srgbClr val="000000"/>
                </a:solidFill>
                <a:latin typeface="Arial"/>
              </a:rPr>
              <a:t>resumes, then unlock()</a:t>
            </a:r>
          </a:p>
        </p:txBody>
      </p:sp>
      <p:sp>
        <p:nvSpPr>
          <p:cNvPr id="11" name="Rectangle 10"/>
          <p:cNvSpPr/>
          <p:nvPr/>
        </p:nvSpPr>
        <p:spPr>
          <a:xfrm>
            <a:off x="533400" y="2280000"/>
            <a:ext cx="800000" cy="620000"/>
          </a:xfrm>
          <a:prstGeom prst="rect">
            <a:avLst/>
          </a:prstGeom>
          <a:solidFill>
            <a:srgbClr val="DAE3F3"/>
          </a:solidFill>
          <a:ln>
            <a:noFill/>
          </a:ln>
        </p:spPr>
        <p:txBody>
          <a:bodyPr rtlCol="0" anchor="ctr" wrap="square" lIns="60000" rIns="60000" tIns="30000" bIns="30000"/>
          <a:lstStyle/>
          <a:p>
            <a:pPr algn="ctr"/>
            <a:r>
              <a:rPr sz="1200" b="1">
                <a:solidFill>
                  <a:srgbClr val="000000"/>
                </a:solidFill>
                <a:latin typeface="Arial"/>
              </a:rPr>
              <a:t>Waiter</a:t>
            </a:r>
          </a:p>
        </p:txBody>
      </p:sp>
      <p:sp>
        <p:nvSpPr>
          <p:cNvPr id="12" name="Rectangle 11"/>
          <p:cNvSpPr/>
          <p:nvPr/>
        </p:nvSpPr>
        <p:spPr>
          <a:xfrm>
            <a:off x="1373400" y="2280000"/>
            <a:ext cx="1526666" cy="620000"/>
          </a:xfrm>
          <a:prstGeom prst="rect">
            <a:avLst/>
          </a:prstGeom>
          <a:solidFill>
            <a:srgbClr val="D9D9D9"/>
          </a:solidFill>
          <a:ln>
            <a:noFill/>
          </a:ln>
        </p:spPr>
        <p:txBody>
          <a:bodyPr rtlCol="0" anchor="ctr" wrap="square" lIns="60000" rIns="60000" tIns="30000" bIns="30000"/>
          <a:lstStyle/>
          <a:p>
            <a:pPr algn="ctr"/>
            <a:r>
              <a:rPr sz="1200" b="0">
                <a:solidFill>
                  <a:srgbClr val="000000"/>
                </a:solidFill>
                <a:latin typeface="Arial"/>
              </a:rPr>
              <a:t>asleep in CV queue</a:t>
            </a:r>
          </a:p>
        </p:txBody>
      </p:sp>
      <p:sp>
        <p:nvSpPr>
          <p:cNvPr id="13" name="Rectangle 12"/>
          <p:cNvSpPr/>
          <p:nvPr/>
        </p:nvSpPr>
        <p:spPr>
          <a:xfrm>
            <a:off x="2940066" y="2280000"/>
            <a:ext cx="1526666" cy="620000"/>
          </a:xfrm>
          <a:prstGeom prst="rect">
            <a:avLst/>
          </a:prstGeom>
          <a:solidFill>
            <a:srgbClr val="B4C7E7"/>
          </a:solidFill>
          <a:ln>
            <a:noFill/>
          </a:ln>
        </p:spPr>
        <p:txBody>
          <a:bodyPr rtlCol="0" anchor="ctr" wrap="square" lIns="60000" rIns="60000" tIns="30000" bIns="30000"/>
          <a:lstStyle/>
          <a:p>
            <a:pPr algn="ctr"/>
            <a:r>
              <a:rPr sz="1200" b="0">
                <a:solidFill>
                  <a:srgbClr val="000000"/>
                </a:solidFill>
                <a:latin typeface="Arial"/>
              </a:rPr>
              <a:t>runs at once, lock handed over</a:t>
            </a:r>
          </a:p>
        </p:txBody>
      </p:sp>
      <p:sp>
        <p:nvSpPr>
          <p:cNvPr id="14" name="Rectangle 13"/>
          <p:cNvSpPr/>
          <p:nvPr/>
        </p:nvSpPr>
        <p:spPr>
          <a:xfrm>
            <a:off x="4506732" y="2280000"/>
            <a:ext cx="1526666" cy="620000"/>
          </a:xfrm>
          <a:prstGeom prst="rect">
            <a:avLst/>
          </a:prstGeom>
          <a:solidFill>
            <a:srgbClr val="B4C7E7"/>
          </a:solidFill>
          <a:ln>
            <a:noFill/>
          </a:ln>
        </p:spPr>
        <p:txBody>
          <a:bodyPr rtlCol="0" anchor="ctr" wrap="square" lIns="60000" rIns="60000" tIns="30000" bIns="30000"/>
          <a:lstStyle/>
          <a:p>
            <a:pPr algn="ctr"/>
            <a:r>
              <a:rPr sz="1200" b="0">
                <a:solidFill>
                  <a:srgbClr val="000000"/>
                </a:solidFill>
                <a:latin typeface="Arial"/>
              </a:rPr>
              <a:t>leaves monitor</a:t>
            </a:r>
          </a:p>
        </p:txBody>
      </p:sp>
      <p:sp>
        <p:nvSpPr>
          <p:cNvPr id="15" name="Rectangle 14"/>
          <p:cNvSpPr/>
          <p:nvPr/>
        </p:nvSpPr>
        <p:spPr>
          <a:xfrm>
            <a:off x="533400" y="2940000"/>
            <a:ext cx="800000" cy="620000"/>
          </a:xfrm>
          <a:prstGeom prst="rect">
            <a:avLst/>
          </a:prstGeom>
          <a:solidFill>
            <a:srgbClr val="DAE3F3"/>
          </a:solidFill>
          <a:ln>
            <a:noFill/>
          </a:ln>
        </p:spPr>
        <p:txBody>
          <a:bodyPr rtlCol="0" anchor="ctr" wrap="square" lIns="60000" rIns="60000" tIns="30000" bIns="30000"/>
          <a:lstStyle/>
          <a:p>
            <a:pPr algn="ctr"/>
            <a:r>
              <a:rPr sz="1200" b="1">
                <a:solidFill>
                  <a:srgbClr val="000000"/>
                </a:solidFill>
                <a:latin typeface="Arial"/>
              </a:rPr>
              <a:t>Other</a:t>
            </a:r>
          </a:p>
        </p:txBody>
      </p:sp>
      <p:sp>
        <p:nvSpPr>
          <p:cNvPr id="16" name="Rectangle 15"/>
          <p:cNvSpPr/>
          <p:nvPr/>
        </p:nvSpPr>
        <p:spPr>
          <a:xfrm>
            <a:off x="1373400" y="2940000"/>
            <a:ext cx="1526666" cy="620000"/>
          </a:xfrm>
          <a:prstGeom prst="rect">
            <a:avLst/>
          </a:prstGeom>
          <a:solidFill>
            <a:srgbClr val="D9D9D9"/>
          </a:solidFill>
          <a:ln>
            <a:noFill/>
          </a:ln>
        </p:spPr>
        <p:txBody>
          <a:bodyPr rtlCol="0" anchor="ctr" wrap="square" lIns="60000" rIns="60000" tIns="30000" bIns="30000"/>
          <a:lstStyle/>
          <a:p>
            <a:pPr algn="ctr"/>
            <a:r>
              <a:rPr sz="1200" b="0">
                <a:solidFill>
                  <a:srgbClr val="000000"/>
                </a:solidFill>
                <a:latin typeface="Arial"/>
              </a:rPr>
              <a:t>blocked at entry queue</a:t>
            </a:r>
          </a:p>
        </p:txBody>
      </p:sp>
      <p:sp>
        <p:nvSpPr>
          <p:cNvPr id="17" name="Rectangle 16"/>
          <p:cNvSpPr/>
          <p:nvPr/>
        </p:nvSpPr>
        <p:spPr>
          <a:xfrm>
            <a:off x="2940066" y="2940000"/>
            <a:ext cx="1526666" cy="620000"/>
          </a:xfrm>
          <a:prstGeom prst="rect">
            <a:avLst/>
          </a:prstGeom>
          <a:solidFill>
            <a:srgbClr val="D9D9D9"/>
          </a:solidFill>
          <a:ln>
            <a:noFill/>
          </a:ln>
        </p:spPr>
        <p:txBody>
          <a:bodyPr rtlCol="0" anchor="ctr" wrap="square" lIns="60000" rIns="60000" tIns="30000" bIns="30000"/>
          <a:lstStyle/>
          <a:p>
            <a:pPr algn="ctr"/>
            <a:r>
              <a:rPr sz="1200" b="0">
                <a:solidFill>
                  <a:srgbClr val="000000"/>
                </a:solidFill>
                <a:latin typeface="Arial"/>
              </a:rPr>
              <a:t>still blocked</a:t>
            </a:r>
          </a:p>
        </p:txBody>
      </p:sp>
      <p:sp>
        <p:nvSpPr>
          <p:cNvPr id="18" name="Rectangle 17"/>
          <p:cNvSpPr/>
          <p:nvPr/>
        </p:nvSpPr>
        <p:spPr>
          <a:xfrm>
            <a:off x="4506732" y="2940000"/>
            <a:ext cx="1526666" cy="620000"/>
          </a:xfrm>
          <a:prstGeom prst="rect">
            <a:avLst/>
          </a:prstGeom>
          <a:solidFill>
            <a:srgbClr val="B4C7E7"/>
          </a:solidFill>
          <a:ln>
            <a:noFill/>
          </a:ln>
        </p:spPr>
        <p:txBody>
          <a:bodyPr rtlCol="0" anchor="ctr" wrap="square" lIns="60000" rIns="60000" tIns="30000" bIns="30000"/>
          <a:lstStyle/>
          <a:p>
            <a:pPr algn="ctr"/>
            <a:r>
              <a:rPr sz="1200" b="0">
                <a:solidFill>
                  <a:srgbClr val="000000"/>
                </a:solidFill>
                <a:latin typeface="Arial"/>
              </a:rPr>
              <a:t>may enter now</a:t>
            </a:r>
          </a:p>
        </p:txBody>
      </p:sp>
      <p:sp>
        <p:nvSpPr>
          <p:cNvPr id="19" name="Rectangle 18"/>
          <p:cNvSpPr/>
          <p:nvPr/>
        </p:nvSpPr>
        <p:spPr>
          <a:xfrm>
            <a:off x="533400" y="3680000"/>
            <a:ext cx="5500000" cy="720000"/>
          </a:xfrm>
          <a:prstGeom prst="rect">
            <a:avLst/>
          </a:prstGeom>
          <a:solidFill>
            <a:srgbClr val="FFFFFF"/>
          </a:solidFill>
          <a:ln w="12700">
            <a:solidFill>
              <a:srgbClr val="2F4BD6"/>
            </a:solidFill>
          </a:ln>
        </p:spPr>
        <p:txBody>
          <a:bodyPr rtlCol="0" anchor="ctr" wrap="square" lIns="60000" rIns="60000" tIns="30000" bIns="30000"/>
          <a:lstStyle/>
          <a:p>
            <a:pPr algn="l"/>
            <a:r>
              <a:rPr sz="1400" b="1">
                <a:solidFill>
                  <a:srgbClr val="FF0000"/>
                </a:solidFill>
                <a:latin typeface="Arial"/>
              </a:rPr>
              <a:t>signal() is a hand-off:</a:t>
            </a:r>
            <a:r>
              <a:rPr sz="1400" b="0">
                <a:solidFill>
                  <a:srgbClr val="000000"/>
                </a:solidFill>
                <a:latin typeface="Arial"/>
              </a:rPr>
              <a:t> waiter runs immediately,</a:t>
            </a:r>
          </a:p>
          <a:p>
            <a:pPr algn="l"/>
            <a:r>
              <a:rPr sz="1400" b="0">
                <a:solidFill>
                  <a:srgbClr val="000000"/>
                </a:solidFill>
                <a:latin typeface="Arial"/>
              </a:rPr>
              <a:t>so the condition is </a:t>
            </a:r>
            <a:r>
              <a:rPr sz="1400" b="1">
                <a:solidFill>
                  <a:srgbClr val="FF0000"/>
                </a:solidFill>
                <a:latin typeface="Arial"/>
              </a:rPr>
              <a:t>guaranteed true</a:t>
            </a:r>
            <a:r>
              <a:rPr sz="1400" b="0">
                <a:solidFill>
                  <a:srgbClr val="000000"/>
                </a:solidFill>
                <a:latin typeface="Arial"/>
              </a:rPr>
              <a:t>.</a:t>
            </a:r>
          </a:p>
        </p:txBody>
      </p:sp>
      <p:sp>
        <p:nvSpPr>
          <p:cNvPr id="20" name="Rectangle 19"/>
          <p:cNvSpPr/>
          <p:nvPr/>
        </p:nvSpPr>
        <p:spPr>
          <a:xfrm>
            <a:off x="533400" y="4520000"/>
            <a:ext cx="5500000" cy="1000000"/>
          </a:xfrm>
          <a:prstGeom prst="rect">
            <a:avLst/>
          </a:prstGeom>
          <a:solidFill>
            <a:srgbClr val="FFFFFF"/>
          </a:solidFill>
          <a:ln w="12700">
            <a:solidFill>
              <a:srgbClr val="7F7F7F"/>
            </a:solidFill>
          </a:ln>
        </p:spPr>
        <p:txBody>
          <a:bodyPr rtlCol="0" anchor="ctr" wrap="square" lIns="60000" rIns="60000" tIns="30000" bIns="30000"/>
          <a:lstStyle/>
          <a:p>
            <a:pPr algn="l"/>
            <a:r>
              <a:rPr sz="1400">
                <a:solidFill>
                  <a:srgbClr val="000000"/>
                </a:solidFill>
                <a:latin typeface="Consolas"/>
              </a:rPr>
              <a:t>if (!cond)</a:t>
            </a:r>
          </a:p>
          <a:p>
            <a:pPr algn="l"/>
            <a:r>
              <a:rPr sz="1400">
                <a:solidFill>
                  <a:srgbClr val="000000"/>
                </a:solidFill>
                <a:latin typeface="Consolas"/>
              </a:rPr>
              <a:t>    cond_wait(&amp;c, &amp;m);</a:t>
            </a:r>
          </a:p>
          <a:p>
            <a:pPr algn="l"/>
            <a:r>
              <a:rPr sz="1400">
                <a:solidFill>
                  <a:srgbClr val="000000"/>
                </a:solidFill>
                <a:latin typeface="Consolas"/>
              </a:rPr>
              <a:t>// no re-check needed</a:t>
            </a:r>
          </a:p>
        </p:txBody>
      </p:sp>
      <p:sp>
        <p:nvSpPr>
          <p:cNvPr id="21" name="Rectangle 20"/>
          <p:cNvSpPr/>
          <p:nvPr/>
        </p:nvSpPr>
        <p:spPr>
          <a:xfrm>
            <a:off x="6158600" y="800100"/>
            <a:ext cx="5500000" cy="420000"/>
          </a:xfrm>
          <a:prstGeom prst="rect">
            <a:avLst/>
          </a:prstGeom>
          <a:solidFill>
            <a:srgbClr val="B4C7E7"/>
          </a:solidFill>
          <a:ln>
            <a:noFill/>
          </a:ln>
        </p:spPr>
        <p:txBody>
          <a:bodyPr rtlCol="0" anchor="ctr" wrap="square" lIns="60000" rIns="60000" tIns="30000" bIns="30000"/>
          <a:lstStyle/>
          <a:p>
            <a:pPr algn="ctr"/>
            <a:r>
              <a:rPr sz="1600" b="1">
                <a:solidFill>
                  <a:srgbClr val="000000"/>
                </a:solidFill>
                <a:latin typeface="Arial"/>
              </a:rPr>
              <a:t>Mesa style: signal-and-continue</a:t>
            </a:r>
          </a:p>
        </p:txBody>
      </p:sp>
      <p:sp>
        <p:nvSpPr>
          <p:cNvPr id="22" name="Rectangle 21"/>
          <p:cNvSpPr/>
          <p:nvPr/>
        </p:nvSpPr>
        <p:spPr>
          <a:xfrm>
            <a:off x="6998600" y="1270000"/>
            <a:ext cx="1526666" cy="300000"/>
          </a:xfrm>
          <a:prstGeom prst="rect">
            <a:avLst/>
          </a:prstGeom>
          <a:solidFill>
            <a:srgbClr val="FFFFFF"/>
          </a:solidFill>
          <a:ln>
            <a:noFill/>
          </a:ln>
        </p:spPr>
        <p:txBody>
          <a:bodyPr rtlCol="0" anchor="ctr" wrap="square" lIns="60000" rIns="60000" tIns="30000" bIns="30000"/>
          <a:lstStyle/>
          <a:p>
            <a:pPr algn="ctr"/>
            <a:r>
              <a:rPr sz="1200" b="0">
                <a:solidFill>
                  <a:srgbClr val="595959"/>
                </a:solidFill>
                <a:latin typeface="Arial"/>
              </a:rPr>
              <a:t>1. signal()</a:t>
            </a:r>
          </a:p>
        </p:txBody>
      </p:sp>
      <p:sp>
        <p:nvSpPr>
          <p:cNvPr id="23" name="Rectangle 22"/>
          <p:cNvSpPr/>
          <p:nvPr/>
        </p:nvSpPr>
        <p:spPr>
          <a:xfrm>
            <a:off x="8565266" y="1270000"/>
            <a:ext cx="1526666" cy="300000"/>
          </a:xfrm>
          <a:prstGeom prst="rect">
            <a:avLst/>
          </a:prstGeom>
          <a:solidFill>
            <a:srgbClr val="FFFFFF"/>
          </a:solidFill>
          <a:ln>
            <a:noFill/>
          </a:ln>
        </p:spPr>
        <p:txBody>
          <a:bodyPr rtlCol="0" anchor="ctr" wrap="square" lIns="60000" rIns="60000" tIns="30000" bIns="30000"/>
          <a:lstStyle/>
          <a:p>
            <a:pPr algn="ctr"/>
            <a:r>
              <a:rPr sz="1200" b="0">
                <a:solidFill>
                  <a:srgbClr val="595959"/>
                </a:solidFill>
                <a:latin typeface="Arial"/>
              </a:rPr>
              <a:t>2. right after</a:t>
            </a:r>
          </a:p>
        </p:txBody>
      </p:sp>
      <p:sp>
        <p:nvSpPr>
          <p:cNvPr id="24" name="Rectangle 23"/>
          <p:cNvSpPr/>
          <p:nvPr/>
        </p:nvSpPr>
        <p:spPr>
          <a:xfrm>
            <a:off x="10131932" y="1270000"/>
            <a:ext cx="1526666" cy="300000"/>
          </a:xfrm>
          <a:prstGeom prst="rect">
            <a:avLst/>
          </a:prstGeom>
          <a:solidFill>
            <a:srgbClr val="FFFFFF"/>
          </a:solidFill>
          <a:ln>
            <a:noFill/>
          </a:ln>
        </p:spPr>
        <p:txBody>
          <a:bodyPr rtlCol="0" anchor="ctr" wrap="square" lIns="60000" rIns="60000" tIns="30000" bIns="30000"/>
          <a:lstStyle/>
          <a:p>
            <a:pPr algn="ctr"/>
            <a:r>
              <a:rPr sz="1200" b="0">
                <a:solidFill>
                  <a:srgbClr val="595959"/>
                </a:solidFill>
                <a:latin typeface="Arial"/>
              </a:rPr>
              <a:t>3. later</a:t>
            </a:r>
          </a:p>
        </p:txBody>
      </p:sp>
      <p:sp>
        <p:nvSpPr>
          <p:cNvPr id="25" name="Rectangle 24"/>
          <p:cNvSpPr/>
          <p:nvPr/>
        </p:nvSpPr>
        <p:spPr>
          <a:xfrm>
            <a:off x="6158600" y="1620000"/>
            <a:ext cx="800000" cy="620000"/>
          </a:xfrm>
          <a:prstGeom prst="rect">
            <a:avLst/>
          </a:prstGeom>
          <a:solidFill>
            <a:srgbClr val="DAE3F3"/>
          </a:solidFill>
          <a:ln>
            <a:noFill/>
          </a:ln>
        </p:spPr>
        <p:txBody>
          <a:bodyPr rtlCol="0" anchor="ctr" wrap="square" lIns="60000" rIns="60000" tIns="30000" bIns="30000"/>
          <a:lstStyle/>
          <a:p>
            <a:pPr algn="ctr"/>
            <a:r>
              <a:rPr sz="1200" b="1">
                <a:solidFill>
                  <a:srgbClr val="000000"/>
                </a:solidFill>
                <a:latin typeface="Arial"/>
              </a:rPr>
              <a:t>Signaler</a:t>
            </a:r>
          </a:p>
        </p:txBody>
      </p:sp>
      <p:sp>
        <p:nvSpPr>
          <p:cNvPr id="26" name="Rectangle 25"/>
          <p:cNvSpPr/>
          <p:nvPr/>
        </p:nvSpPr>
        <p:spPr>
          <a:xfrm>
            <a:off x="6998600" y="1620000"/>
            <a:ext cx="1526666" cy="620000"/>
          </a:xfrm>
          <a:prstGeom prst="rect">
            <a:avLst/>
          </a:prstGeom>
          <a:solidFill>
            <a:srgbClr val="B4C7E7"/>
          </a:solidFill>
          <a:ln>
            <a:noFill/>
          </a:ln>
        </p:spPr>
        <p:txBody>
          <a:bodyPr rtlCol="0" anchor="ctr" wrap="square" lIns="60000" rIns="60000" tIns="30000" bIns="30000"/>
          <a:lstStyle/>
          <a:p>
            <a:pPr algn="ctr"/>
            <a:r>
              <a:rPr sz="1200" b="0">
                <a:solidFill>
                  <a:srgbClr val="000000"/>
                </a:solidFill>
                <a:latin typeface="Arial"/>
              </a:rPr>
              <a:t>cond_signal()</a:t>
            </a:r>
          </a:p>
        </p:txBody>
      </p:sp>
      <p:sp>
        <p:nvSpPr>
          <p:cNvPr id="27" name="Rectangle 26"/>
          <p:cNvSpPr/>
          <p:nvPr/>
        </p:nvSpPr>
        <p:spPr>
          <a:xfrm>
            <a:off x="8565266" y="1620000"/>
            <a:ext cx="1526666" cy="620000"/>
          </a:xfrm>
          <a:prstGeom prst="rect">
            <a:avLst/>
          </a:prstGeom>
          <a:solidFill>
            <a:srgbClr val="B4C7E7"/>
          </a:solidFill>
          <a:ln>
            <a:noFill/>
          </a:ln>
        </p:spPr>
        <p:txBody>
          <a:bodyPr rtlCol="0" anchor="ctr" wrap="square" lIns="60000" rIns="60000" tIns="30000" bIns="30000"/>
          <a:lstStyle/>
          <a:p>
            <a:pPr algn="ctr"/>
            <a:r>
              <a:rPr sz="1200" b="0">
                <a:solidFill>
                  <a:srgbClr val="000000"/>
                </a:solidFill>
                <a:latin typeface="Arial"/>
              </a:rPr>
              <a:t>keeps lock, continues</a:t>
            </a:r>
          </a:p>
        </p:txBody>
      </p:sp>
      <p:sp>
        <p:nvSpPr>
          <p:cNvPr id="28" name="Rectangle 27"/>
          <p:cNvSpPr/>
          <p:nvPr/>
        </p:nvSpPr>
        <p:spPr>
          <a:xfrm>
            <a:off x="10131932" y="1620000"/>
            <a:ext cx="1526666" cy="620000"/>
          </a:xfrm>
          <a:prstGeom prst="rect">
            <a:avLst/>
          </a:prstGeom>
          <a:solidFill>
            <a:srgbClr val="B4C7E7"/>
          </a:solidFill>
          <a:ln>
            <a:noFill/>
          </a:ln>
        </p:spPr>
        <p:txBody>
          <a:bodyPr rtlCol="0" anchor="ctr" wrap="square" lIns="60000" rIns="60000" tIns="30000" bIns="30000"/>
          <a:lstStyle/>
          <a:p>
            <a:pPr algn="ctr"/>
            <a:r>
              <a:rPr sz="1200" b="0">
                <a:solidFill>
                  <a:srgbClr val="000000"/>
                </a:solidFill>
                <a:latin typeface="Arial"/>
              </a:rPr>
              <a:t>unlock()</a:t>
            </a:r>
          </a:p>
        </p:txBody>
      </p:sp>
      <p:sp>
        <p:nvSpPr>
          <p:cNvPr id="29" name="Rectangle 28"/>
          <p:cNvSpPr/>
          <p:nvPr/>
        </p:nvSpPr>
        <p:spPr>
          <a:xfrm>
            <a:off x="6158600" y="2280000"/>
            <a:ext cx="800000" cy="620000"/>
          </a:xfrm>
          <a:prstGeom prst="rect">
            <a:avLst/>
          </a:prstGeom>
          <a:solidFill>
            <a:srgbClr val="DAE3F3"/>
          </a:solidFill>
          <a:ln>
            <a:noFill/>
          </a:ln>
        </p:spPr>
        <p:txBody>
          <a:bodyPr rtlCol="0" anchor="ctr" wrap="square" lIns="60000" rIns="60000" tIns="30000" bIns="30000"/>
          <a:lstStyle/>
          <a:p>
            <a:pPr algn="ctr"/>
            <a:r>
              <a:rPr sz="1200" b="1">
                <a:solidFill>
                  <a:srgbClr val="000000"/>
                </a:solidFill>
                <a:latin typeface="Arial"/>
              </a:rPr>
              <a:t>Waiter</a:t>
            </a:r>
          </a:p>
        </p:txBody>
      </p:sp>
      <p:sp>
        <p:nvSpPr>
          <p:cNvPr id="30" name="Rectangle 29"/>
          <p:cNvSpPr/>
          <p:nvPr/>
        </p:nvSpPr>
        <p:spPr>
          <a:xfrm>
            <a:off x="6998600" y="2280000"/>
            <a:ext cx="1526666" cy="620000"/>
          </a:xfrm>
          <a:prstGeom prst="rect">
            <a:avLst/>
          </a:prstGeom>
          <a:solidFill>
            <a:srgbClr val="D9D9D9"/>
          </a:solidFill>
          <a:ln>
            <a:noFill/>
          </a:ln>
        </p:spPr>
        <p:txBody>
          <a:bodyPr rtlCol="0" anchor="ctr" wrap="square" lIns="60000" rIns="60000" tIns="30000" bIns="30000"/>
          <a:lstStyle/>
          <a:p>
            <a:pPr algn="ctr"/>
            <a:r>
              <a:rPr sz="1200" b="0">
                <a:solidFill>
                  <a:srgbClr val="000000"/>
                </a:solidFill>
                <a:latin typeface="Arial"/>
              </a:rPr>
              <a:t>asleep in CV queue</a:t>
            </a:r>
          </a:p>
        </p:txBody>
      </p:sp>
      <p:sp>
        <p:nvSpPr>
          <p:cNvPr id="31" name="Rectangle 30"/>
          <p:cNvSpPr/>
          <p:nvPr/>
        </p:nvSpPr>
        <p:spPr>
          <a:xfrm>
            <a:off x="8565266" y="2280000"/>
            <a:ext cx="1526666" cy="620000"/>
          </a:xfrm>
          <a:prstGeom prst="rect">
            <a:avLst/>
          </a:prstGeom>
          <a:solidFill>
            <a:srgbClr val="FFF2CC"/>
          </a:solidFill>
          <a:ln>
            <a:noFill/>
          </a:ln>
        </p:spPr>
        <p:txBody>
          <a:bodyPr rtlCol="0" anchor="ctr" wrap="square" lIns="60000" rIns="60000" tIns="30000" bIns="30000"/>
          <a:lstStyle/>
          <a:p>
            <a:pPr algn="ctr"/>
            <a:r>
              <a:rPr sz="1200" b="0">
                <a:solidFill>
                  <a:srgbClr val="000000"/>
                </a:solidFill>
                <a:latin typeface="Arial"/>
              </a:rPr>
              <a:t>ready queue, lock still busy</a:t>
            </a:r>
          </a:p>
        </p:txBody>
      </p:sp>
      <p:sp>
        <p:nvSpPr>
          <p:cNvPr id="32" name="Rectangle 31"/>
          <p:cNvSpPr/>
          <p:nvPr/>
        </p:nvSpPr>
        <p:spPr>
          <a:xfrm>
            <a:off x="10131932" y="2280000"/>
            <a:ext cx="1526666" cy="620000"/>
          </a:xfrm>
          <a:prstGeom prst="rect">
            <a:avLst/>
          </a:prstGeom>
          <a:solidFill>
            <a:srgbClr val="B4C7E7"/>
          </a:solidFill>
          <a:ln>
            <a:noFill/>
          </a:ln>
        </p:spPr>
        <p:txBody>
          <a:bodyPr rtlCol="0" anchor="ctr" wrap="square" lIns="60000" rIns="60000" tIns="30000" bIns="30000"/>
          <a:lstStyle/>
          <a:p>
            <a:pPr algn="ctr"/>
            <a:r>
              <a:rPr sz="1200" b="0">
                <a:solidFill>
                  <a:srgbClr val="000000"/>
                </a:solidFill>
                <a:latin typeface="Arial"/>
              </a:rPr>
              <a:t>re-acquires lock, re-checks</a:t>
            </a:r>
          </a:p>
        </p:txBody>
      </p:sp>
      <p:sp>
        <p:nvSpPr>
          <p:cNvPr id="33" name="Rectangle 32"/>
          <p:cNvSpPr/>
          <p:nvPr/>
        </p:nvSpPr>
        <p:spPr>
          <a:xfrm>
            <a:off x="6158600" y="2940000"/>
            <a:ext cx="800000" cy="620000"/>
          </a:xfrm>
          <a:prstGeom prst="rect">
            <a:avLst/>
          </a:prstGeom>
          <a:solidFill>
            <a:srgbClr val="DAE3F3"/>
          </a:solidFill>
          <a:ln>
            <a:noFill/>
          </a:ln>
        </p:spPr>
        <p:txBody>
          <a:bodyPr rtlCol="0" anchor="ctr" wrap="square" lIns="60000" rIns="60000" tIns="30000" bIns="30000"/>
          <a:lstStyle/>
          <a:p>
            <a:pPr algn="ctr"/>
            <a:r>
              <a:rPr sz="1200" b="1">
                <a:solidFill>
                  <a:srgbClr val="000000"/>
                </a:solidFill>
                <a:latin typeface="Arial"/>
              </a:rPr>
              <a:t>Other</a:t>
            </a:r>
          </a:p>
        </p:txBody>
      </p:sp>
      <p:sp>
        <p:nvSpPr>
          <p:cNvPr id="34" name="Rectangle 33"/>
          <p:cNvSpPr/>
          <p:nvPr/>
        </p:nvSpPr>
        <p:spPr>
          <a:xfrm>
            <a:off x="6998600" y="2940000"/>
            <a:ext cx="1526666" cy="620000"/>
          </a:xfrm>
          <a:prstGeom prst="rect">
            <a:avLst/>
          </a:prstGeom>
          <a:solidFill>
            <a:srgbClr val="D9D9D9"/>
          </a:solidFill>
          <a:ln>
            <a:noFill/>
          </a:ln>
        </p:spPr>
        <p:txBody>
          <a:bodyPr rtlCol="0" anchor="ctr" wrap="square" lIns="60000" rIns="60000" tIns="30000" bIns="30000"/>
          <a:lstStyle/>
          <a:p>
            <a:pPr algn="ctr"/>
            <a:r>
              <a:rPr sz="1200" b="0">
                <a:solidFill>
                  <a:srgbClr val="000000"/>
                </a:solidFill>
                <a:latin typeface="Arial"/>
              </a:rPr>
              <a:t>blocked at entry queue</a:t>
            </a:r>
          </a:p>
        </p:txBody>
      </p:sp>
      <p:sp>
        <p:nvSpPr>
          <p:cNvPr id="35" name="Rectangle 34"/>
          <p:cNvSpPr/>
          <p:nvPr/>
        </p:nvSpPr>
        <p:spPr>
          <a:xfrm>
            <a:off x="8565266" y="2940000"/>
            <a:ext cx="1526666" cy="620000"/>
          </a:xfrm>
          <a:prstGeom prst="rect">
            <a:avLst/>
          </a:prstGeom>
          <a:solidFill>
            <a:srgbClr val="F8CBAD"/>
          </a:solidFill>
          <a:ln>
            <a:noFill/>
          </a:ln>
        </p:spPr>
        <p:txBody>
          <a:bodyPr rtlCol="0" anchor="ctr" wrap="square" lIns="60000" rIns="60000" tIns="30000" bIns="30000"/>
          <a:lstStyle/>
          <a:p>
            <a:pPr algn="ctr"/>
            <a:r>
              <a:rPr sz="1200" b="0">
                <a:solidFill>
                  <a:srgbClr val="000000"/>
                </a:solidFill>
                <a:latin typeface="Arial"/>
              </a:rPr>
              <a:t>may grab lock first!</a:t>
            </a:r>
          </a:p>
        </p:txBody>
      </p:sp>
      <p:sp>
        <p:nvSpPr>
          <p:cNvPr id="36" name="Rectangle 35"/>
          <p:cNvSpPr/>
          <p:nvPr/>
        </p:nvSpPr>
        <p:spPr>
          <a:xfrm>
            <a:off x="10131932" y="2940000"/>
            <a:ext cx="1526666" cy="620000"/>
          </a:xfrm>
          <a:prstGeom prst="rect">
            <a:avLst/>
          </a:prstGeom>
          <a:solidFill>
            <a:srgbClr val="F8CBAD"/>
          </a:solidFill>
          <a:ln>
            <a:noFill/>
          </a:ln>
        </p:spPr>
        <p:txBody>
          <a:bodyPr rtlCol="0" anchor="ctr" wrap="square" lIns="60000" rIns="60000" tIns="30000" bIns="30000"/>
          <a:lstStyle/>
          <a:p>
            <a:pPr algn="ctr"/>
            <a:r>
              <a:rPr sz="1200" b="0">
                <a:solidFill>
                  <a:srgbClr val="000000"/>
                </a:solidFill>
                <a:latin typeface="Arial"/>
              </a:rPr>
              <a:t>state may have changed</a:t>
            </a:r>
          </a:p>
        </p:txBody>
      </p:sp>
      <p:sp>
        <p:nvSpPr>
          <p:cNvPr id="37" name="Rectangle 36"/>
          <p:cNvSpPr/>
          <p:nvPr/>
        </p:nvSpPr>
        <p:spPr>
          <a:xfrm>
            <a:off x="6158600" y="3680000"/>
            <a:ext cx="5500000" cy="720000"/>
          </a:xfrm>
          <a:prstGeom prst="rect">
            <a:avLst/>
          </a:prstGeom>
          <a:solidFill>
            <a:srgbClr val="FFFFFF"/>
          </a:solidFill>
          <a:ln w="12700">
            <a:solidFill>
              <a:srgbClr val="2F4BD6"/>
            </a:solidFill>
          </a:ln>
        </p:spPr>
        <p:txBody>
          <a:bodyPr rtlCol="0" anchor="ctr" wrap="square" lIns="60000" rIns="60000" tIns="30000" bIns="30000"/>
          <a:lstStyle/>
          <a:p>
            <a:pPr algn="l"/>
            <a:r>
              <a:rPr sz="1400" b="1">
                <a:solidFill>
                  <a:srgbClr val="FF0000"/>
                </a:solidFill>
                <a:latin typeface="Arial"/>
              </a:rPr>
              <a:t>signal() is only a hint:</a:t>
            </a:r>
            <a:r>
              <a:rPr sz="1400" b="0">
                <a:solidFill>
                  <a:srgbClr val="000000"/>
                </a:solidFill>
                <a:latin typeface="Arial"/>
              </a:rPr>
              <a:t> waiter runs later,</a:t>
            </a:r>
          </a:p>
          <a:p>
            <a:pPr algn="l"/>
            <a:r>
              <a:rPr sz="1400" b="0">
                <a:solidFill>
                  <a:srgbClr val="000000"/>
                </a:solidFill>
                <a:latin typeface="Arial"/>
              </a:rPr>
              <a:t>so the condition may be </a:t>
            </a:r>
            <a:r>
              <a:rPr sz="1400" b="1">
                <a:solidFill>
                  <a:srgbClr val="FF0000"/>
                </a:solidFill>
                <a:latin typeface="Arial"/>
              </a:rPr>
              <a:t>false again</a:t>
            </a:r>
            <a:r>
              <a:rPr sz="1400" b="0">
                <a:solidFill>
                  <a:srgbClr val="000000"/>
                </a:solidFill>
                <a:latin typeface="Arial"/>
              </a:rPr>
              <a:t>.</a:t>
            </a:r>
          </a:p>
        </p:txBody>
      </p:sp>
      <p:sp>
        <p:nvSpPr>
          <p:cNvPr id="38" name="Rectangle 37"/>
          <p:cNvSpPr/>
          <p:nvPr/>
        </p:nvSpPr>
        <p:spPr>
          <a:xfrm>
            <a:off x="6158600" y="4520000"/>
            <a:ext cx="5500000" cy="1000000"/>
          </a:xfrm>
          <a:prstGeom prst="rect">
            <a:avLst/>
          </a:prstGeom>
          <a:solidFill>
            <a:srgbClr val="FFFFFF"/>
          </a:solidFill>
          <a:ln w="12700">
            <a:solidFill>
              <a:srgbClr val="7F7F7F"/>
            </a:solidFill>
          </a:ln>
        </p:spPr>
        <p:txBody>
          <a:bodyPr rtlCol="0" anchor="ctr" wrap="square" lIns="60000" rIns="60000" tIns="30000" bIns="30000"/>
          <a:lstStyle/>
          <a:p>
            <a:pPr algn="l"/>
            <a:r>
              <a:rPr sz="1400">
                <a:solidFill>
                  <a:srgbClr val="000000"/>
                </a:solidFill>
                <a:latin typeface="Consolas"/>
              </a:rPr>
              <a:t>while (!cond)</a:t>
            </a:r>
          </a:p>
          <a:p>
            <a:pPr algn="l"/>
            <a:r>
              <a:rPr sz="1400">
                <a:solidFill>
                  <a:srgbClr val="000000"/>
                </a:solidFill>
                <a:latin typeface="Consolas"/>
              </a:rPr>
              <a:t>    cond_wait(&amp;c, &amp;m);</a:t>
            </a:r>
          </a:p>
          <a:p>
            <a:pPr algn="l"/>
            <a:r>
              <a:rPr sz="1400">
                <a:solidFill>
                  <a:srgbClr val="000000"/>
                </a:solidFill>
                <a:latin typeface="Consolas"/>
              </a:rPr>
              <a:t>// must re-check</a:t>
            </a:r>
          </a:p>
        </p:txBody>
      </p:sp>
      <p:sp>
        <p:nvSpPr>
          <p:cNvPr id="39" name="Rectangle 38"/>
          <p:cNvSpPr/>
          <p:nvPr/>
        </p:nvSpPr>
        <p:spPr>
          <a:xfrm>
            <a:off x="533400" y="5750000"/>
            <a:ext cx="220000" cy="220000"/>
          </a:xfrm>
          <a:prstGeom prst="rect">
            <a:avLst/>
          </a:prstGeom>
          <a:solidFill>
            <a:srgbClr val="B4C7E7"/>
          </a:solidFill>
          <a:ln w="12700">
            <a:solidFill>
              <a:srgbClr val="7F7F7F"/>
            </a:solidFill>
          </a:ln>
        </p:spPr>
        <p:txBody>
          <a:bodyPr rtlCol="0" anchor="ctr" wrap="square" lIns="60000" rIns="60000" tIns="30000" bIns="30000"/>
          <a:lstStyle/>
          <a:p>
            <a:pPr algn="ctr"/>
          </a:p>
        </p:txBody>
      </p:sp>
      <p:sp>
        <p:nvSpPr>
          <p:cNvPr id="40" name="Rectangle 39"/>
          <p:cNvSpPr/>
          <p:nvPr/>
        </p:nvSpPr>
        <p:spPr>
          <a:xfrm>
            <a:off x="793400" y="5710000"/>
            <a:ext cx="2600000" cy="300000"/>
          </a:xfrm>
          <a:prstGeom prst="rect">
            <a:avLst/>
          </a:prstGeom>
          <a:solidFill>
            <a:srgbClr val="FFFFFF"/>
          </a:solidFill>
          <a:ln>
            <a:noFill/>
          </a:ln>
        </p:spPr>
        <p:txBody>
          <a:bodyPr rtlCol="0" anchor="ctr" wrap="square" lIns="60000" rIns="60000" tIns="30000" bIns="30000"/>
          <a:lstStyle/>
          <a:p>
            <a:pPr algn="l"/>
            <a:r>
              <a:rPr sz="1200" b="0">
                <a:solidFill>
                  <a:srgbClr val="404040"/>
                </a:solidFill>
                <a:latin typeface="Arial"/>
              </a:rPr>
              <a:t>running / allowed to run</a:t>
            </a:r>
          </a:p>
        </p:txBody>
      </p:sp>
      <p:sp>
        <p:nvSpPr>
          <p:cNvPr id="41" name="Rectangle 40"/>
          <p:cNvSpPr/>
          <p:nvPr/>
        </p:nvSpPr>
        <p:spPr>
          <a:xfrm>
            <a:off x="3433400" y="5750000"/>
            <a:ext cx="220000" cy="220000"/>
          </a:xfrm>
          <a:prstGeom prst="rect">
            <a:avLst/>
          </a:prstGeom>
          <a:solidFill>
            <a:srgbClr val="D9D9D9"/>
          </a:solidFill>
          <a:ln w="12700">
            <a:solidFill>
              <a:srgbClr val="7F7F7F"/>
            </a:solidFill>
          </a:ln>
        </p:spPr>
        <p:txBody>
          <a:bodyPr rtlCol="0" anchor="ctr" wrap="square" lIns="60000" rIns="60000" tIns="30000" bIns="30000"/>
          <a:lstStyle/>
          <a:p>
            <a:pPr algn="ctr"/>
          </a:p>
        </p:txBody>
      </p:sp>
      <p:sp>
        <p:nvSpPr>
          <p:cNvPr id="42" name="Rectangle 41"/>
          <p:cNvSpPr/>
          <p:nvPr/>
        </p:nvSpPr>
        <p:spPr>
          <a:xfrm>
            <a:off x="3693400" y="5710000"/>
            <a:ext cx="2600000" cy="300000"/>
          </a:xfrm>
          <a:prstGeom prst="rect">
            <a:avLst/>
          </a:prstGeom>
          <a:solidFill>
            <a:srgbClr val="FFFFFF"/>
          </a:solidFill>
          <a:ln>
            <a:noFill/>
          </a:ln>
        </p:spPr>
        <p:txBody>
          <a:bodyPr rtlCol="0" anchor="ctr" wrap="square" lIns="60000" rIns="60000" tIns="30000" bIns="30000"/>
          <a:lstStyle/>
          <a:p>
            <a:pPr algn="l"/>
            <a:r>
              <a:rPr sz="1200" b="0">
                <a:solidFill>
                  <a:srgbClr val="404040"/>
                </a:solidFill>
                <a:latin typeface="Arial"/>
              </a:rPr>
              <a:t>blocked or asleep</a:t>
            </a:r>
          </a:p>
        </p:txBody>
      </p:sp>
      <p:sp>
        <p:nvSpPr>
          <p:cNvPr id="43" name="Rectangle 42"/>
          <p:cNvSpPr/>
          <p:nvPr/>
        </p:nvSpPr>
        <p:spPr>
          <a:xfrm>
            <a:off x="6333400" y="5750000"/>
            <a:ext cx="220000" cy="220000"/>
          </a:xfrm>
          <a:prstGeom prst="rect">
            <a:avLst/>
          </a:prstGeom>
          <a:solidFill>
            <a:srgbClr val="FFF2CC"/>
          </a:solidFill>
          <a:ln w="12700">
            <a:solidFill>
              <a:srgbClr val="7F7F7F"/>
            </a:solidFill>
          </a:ln>
        </p:spPr>
        <p:txBody>
          <a:bodyPr rtlCol="0" anchor="ctr" wrap="square" lIns="60000" rIns="60000" tIns="30000" bIns="30000"/>
          <a:lstStyle/>
          <a:p>
            <a:pPr algn="ctr"/>
          </a:p>
        </p:txBody>
      </p:sp>
      <p:sp>
        <p:nvSpPr>
          <p:cNvPr id="44" name="Rectangle 43"/>
          <p:cNvSpPr/>
          <p:nvPr/>
        </p:nvSpPr>
        <p:spPr>
          <a:xfrm>
            <a:off x="6593400" y="5710000"/>
            <a:ext cx="2600000" cy="300000"/>
          </a:xfrm>
          <a:prstGeom prst="rect">
            <a:avLst/>
          </a:prstGeom>
          <a:solidFill>
            <a:srgbClr val="FFFFFF"/>
          </a:solidFill>
          <a:ln>
            <a:noFill/>
          </a:ln>
        </p:spPr>
        <p:txBody>
          <a:bodyPr rtlCol="0" anchor="ctr" wrap="square" lIns="60000" rIns="60000" tIns="30000" bIns="30000"/>
          <a:lstStyle/>
          <a:p>
            <a:pPr algn="l"/>
            <a:r>
              <a:rPr sz="1200" b="0">
                <a:solidFill>
                  <a:srgbClr val="404040"/>
                </a:solidFill>
                <a:latin typeface="Arial"/>
              </a:rPr>
              <a:t>ready, waiting for the lock</a:t>
            </a:r>
          </a:p>
        </p:txBody>
      </p:sp>
      <p:sp>
        <p:nvSpPr>
          <p:cNvPr id="45" name="Rectangle 44"/>
          <p:cNvSpPr/>
          <p:nvPr/>
        </p:nvSpPr>
        <p:spPr>
          <a:xfrm>
            <a:off x="9233400" y="5750000"/>
            <a:ext cx="220000" cy="220000"/>
          </a:xfrm>
          <a:prstGeom prst="rect">
            <a:avLst/>
          </a:prstGeom>
          <a:solidFill>
            <a:srgbClr val="F8CBAD"/>
          </a:solidFill>
          <a:ln w="12700">
            <a:solidFill>
              <a:srgbClr val="7F7F7F"/>
            </a:solidFill>
          </a:ln>
        </p:spPr>
        <p:txBody>
          <a:bodyPr rtlCol="0" anchor="ctr" wrap="square" lIns="60000" rIns="60000" tIns="30000" bIns="30000"/>
          <a:lstStyle/>
          <a:p>
            <a:pPr algn="ctr"/>
          </a:p>
        </p:txBody>
      </p:sp>
      <p:sp>
        <p:nvSpPr>
          <p:cNvPr id="46" name="Rectangle 45"/>
          <p:cNvSpPr/>
          <p:nvPr/>
        </p:nvSpPr>
        <p:spPr>
          <a:xfrm>
            <a:off x="9493400" y="5710000"/>
            <a:ext cx="2600000" cy="300000"/>
          </a:xfrm>
          <a:prstGeom prst="rect">
            <a:avLst/>
          </a:prstGeom>
          <a:solidFill>
            <a:srgbClr val="FFFFFF"/>
          </a:solidFill>
          <a:ln>
            <a:noFill/>
          </a:ln>
        </p:spPr>
        <p:txBody>
          <a:bodyPr rtlCol="0" anchor="ctr" wrap="square" lIns="60000" rIns="60000" tIns="30000" bIns="30000"/>
          <a:lstStyle/>
          <a:p>
            <a:pPr algn="l"/>
            <a:r>
              <a:rPr sz="1200" b="0">
                <a:solidFill>
                  <a:srgbClr val="404040"/>
                </a:solidFill>
                <a:latin typeface="Arial"/>
              </a:rPr>
              <a:t>risk: state can change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Hoare vs. Mesa Monitors: Comparison</a:t>
            </a:r>
          </a:p>
        </p:txBody>
      </p:sp>
      <p:graphicFrame>
        <p:nvGraphicFramePr>
          <p:cNvPr id="3" name="Table 2"/>
          <p:cNvGraphicFramePr>
            <a:graphicFrameLocks noGrp="1"/>
          </p:cNvGraphicFramePr>
          <p:nvPr/>
        </p:nvGraphicFramePr>
        <p:xfrm>
          <a:off x="533400" y="800100"/>
          <a:ext cx="11125200" cy="5160000"/>
        </p:xfrm>
        <a:graphic>
          <a:graphicData uri="http://schemas.openxmlformats.org/drawingml/2006/table">
            <a:tbl>
              <a:tblPr firstRow="1" bandRow="0"/>
              <a:tblGrid>
                <a:gridCol w="2300000"/>
                <a:gridCol w="4412600"/>
                <a:gridCol w="4412600"/>
              </a:tblGrid>
              <a:tr h="480000">
                <a:tc>
                  <a:txBody>
                    <a:bodyPr wrap="square"/>
                    <a:lstStyle/>
                    <a:p>
                      <a:pPr algn="l"/>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wrap="square"/>
                    <a:lstStyle/>
                    <a:p>
                      <a:pPr algn="l"/>
                      <a:r>
                        <a:rPr sz="1600" b="1">
                          <a:solidFill>
                            <a:srgbClr val="000000"/>
                          </a:solidFill>
                          <a:latin typeface="Arial"/>
                        </a:rPr>
                        <a:t>Hoare monitor</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c>
                  <a:txBody>
                    <a:bodyPr wrap="square"/>
                    <a:lstStyle/>
                    <a:p>
                      <a:pPr algn="l"/>
                      <a:r>
                        <a:rPr sz="1600" b="1">
                          <a:solidFill>
                            <a:srgbClr val="000000"/>
                          </a:solidFill>
                          <a:latin typeface="Arial"/>
                        </a:rPr>
                        <a:t>Mesa monitor</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B4C7E7"/>
                    </a:solidFill>
                  </a:tcPr>
                </a:tc>
              </a:tr>
              <a:tr h="780000">
                <a:tc>
                  <a:txBody>
                    <a:bodyPr wrap="square"/>
                    <a:lstStyle/>
                    <a:p>
                      <a:pPr algn="l"/>
                      <a:r>
                        <a:rPr sz="1600" b="1">
                          <a:solidFill>
                            <a:srgbClr val="000000"/>
                          </a:solidFill>
                          <a:latin typeface="Arial"/>
                        </a:rPr>
                        <a:t>Meaning of signal()</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Signal-and-wait: lock and CPU go to the waiter at once; the signaler is suspended</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0">
                          <a:solidFill>
                            <a:srgbClr val="000000"/>
                          </a:solidFill>
                          <a:latin typeface="Arial"/>
                        </a:rPr>
                        <a:t>Signal-and-continue: signaler keeps the lock; waiter is only moved to the ready queue</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80000">
                <a:tc>
                  <a:txBody>
                    <a:bodyPr wrap="square"/>
                    <a:lstStyle/>
                    <a:p>
                      <a:pPr algn="l"/>
                      <a:r>
                        <a:rPr sz="1600" b="1">
                          <a:solidFill>
                            <a:srgbClr val="000000"/>
                          </a:solidFill>
                          <a:latin typeface="Arial"/>
                        </a:rPr>
                        <a:t>Condition when waiter resumes</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1">
                          <a:solidFill>
                            <a:srgbClr val="FF0000"/>
                          </a:solidFill>
                          <a:latin typeface="Arial"/>
                        </a:rPr>
                        <a:t>Guaranteed true</a:t>
                      </a:r>
                      <a:r>
                        <a:rPr sz="1600" b="0">
                          <a:solidFill>
                            <a:srgbClr val="000000"/>
                          </a:solidFill>
                          <a:latin typeface="Arial"/>
                        </a:rPr>
                        <a:t>: no other thread ran in between</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1">
                          <a:solidFill>
                            <a:srgbClr val="FF0000"/>
                          </a:solidFill>
                          <a:latin typeface="Arial"/>
                        </a:rPr>
                        <a:t>Not guaranteed</a:t>
                      </a:r>
                      <a:r>
                        <a:rPr sz="1600" b="0">
                          <a:solidFill>
                            <a:srgbClr val="000000"/>
                          </a:solidFill>
                          <a:latin typeface="Arial"/>
                        </a:rPr>
                        <a:t>: another thread may change the state first</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80000">
                <a:tc>
                  <a:txBody>
                    <a:bodyPr wrap="square"/>
                    <a:lstStyle/>
                    <a:p>
                      <a:pPr algn="l"/>
                      <a:r>
                        <a:rPr sz="1600" b="1">
                          <a:solidFill>
                            <a:srgbClr val="000000"/>
                          </a:solidFill>
                          <a:latin typeface="Arial"/>
                        </a:rPr>
                        <a:t>Waiting code</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if (!cond) cond_wait(&amp;c, &amp;m);  is enough</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1">
                          <a:solidFill>
                            <a:srgbClr val="FF0000"/>
                          </a:solidFill>
                          <a:latin typeface="Arial"/>
                        </a:rPr>
                        <a:t>while</a:t>
                      </a:r>
                      <a:r>
                        <a:rPr sz="1600" b="0">
                          <a:solidFill>
                            <a:srgbClr val="000000"/>
                          </a:solidFill>
                          <a:latin typeface="Arial"/>
                        </a:rPr>
                        <a:t> (!cond) cond_wait(&amp;c, &amp;m);  is required</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80000">
                <a:tc>
                  <a:txBody>
                    <a:bodyPr wrap="square"/>
                    <a:lstStyle/>
                    <a:p>
                      <a:pPr algn="l"/>
                      <a:r>
                        <a:rPr sz="1600" b="1">
                          <a:solidFill>
                            <a:srgbClr val="000000"/>
                          </a:solidFill>
                          <a:latin typeface="Arial"/>
                        </a:rPr>
                        <a:t>Cost</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Extra context switches: signaler to the urgent queue and back</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0">
                          <a:solidFill>
                            <a:srgbClr val="000000"/>
                          </a:solidFill>
                          <a:latin typeface="Arial"/>
                        </a:rPr>
                        <a:t>Cheaper: signal() causes no forced switch</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80000">
                <a:tc>
                  <a:txBody>
                    <a:bodyPr wrap="square"/>
                    <a:lstStyle/>
                    <a:p>
                      <a:pPr algn="l"/>
                      <a:r>
                        <a:rPr sz="1600" b="1">
                          <a:solidFill>
                            <a:srgbClr val="000000"/>
                          </a:solidFill>
                          <a:latin typeface="Arial"/>
                        </a:rPr>
                        <a:t>Signaler's duty</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Leave shared state consistent before signal(); Brinch Hansen's variant requires signal() to be the last statement</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0">
                          <a:solidFill>
                            <a:srgbClr val="000000"/>
                          </a:solidFill>
                          <a:latin typeface="Arial"/>
                        </a:rPr>
                        <a:t>No special duty; broadcast() is natural (everyone wakes and re-checks)</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r h="780000">
                <a:tc>
                  <a:txBody>
                    <a:bodyPr wrap="square"/>
                    <a:lstStyle/>
                    <a:p>
                      <a:pPr algn="l"/>
                      <a:r>
                        <a:rPr sz="1600" b="1">
                          <a:solidFill>
                            <a:srgbClr val="000000"/>
                          </a:solidFill>
                          <a:latin typeface="Arial"/>
                        </a:rPr>
                        <a:t>Where used</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DAE3F3"/>
                    </a:solidFill>
                  </a:tcPr>
                </a:tc>
                <a:tc>
                  <a:txBody>
                    <a:bodyPr wrap="square"/>
                    <a:lstStyle/>
                    <a:p>
                      <a:pPr algn="l"/>
                      <a:r>
                        <a:rPr sz="1600" b="0">
                          <a:solidFill>
                            <a:srgbClr val="000000"/>
                          </a:solidFill>
                          <a:latin typeface="Arial"/>
                        </a:rPr>
                        <a:t>Textbooks and theory (Hoare, 1974); hard to implement efficiently</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E2F0D9"/>
                    </a:solidFill>
                  </a:tcPr>
                </a:tc>
                <a:tc>
                  <a:txBody>
                    <a:bodyPr wrap="square"/>
                    <a:lstStyle/>
                    <a:p>
                      <a:pPr algn="l"/>
                      <a:r>
                        <a:rPr sz="1600" b="0">
                          <a:solidFill>
                            <a:srgbClr val="000000"/>
                          </a:solidFill>
                          <a:latin typeface="Arial"/>
                        </a:rPr>
                        <a:t>Practice: Mesa (Lampson &amp; Redell, 1980), pthreads, Java; spurious wakeups are harmless</a:t>
                      </a:r>
                    </a:p>
                  </a:txBody>
                  <a:tcPr marL="91440" marR="91440" marT="45720" marB="45720" anchor="ctr">
                    <a:lnL w="12700" cap="flat" cmpd="sng" algn="ctr">
                      <a:solidFill>
                        <a:srgbClr val="FFFFFF"/>
                      </a:solidFill>
                    </a:lnL>
                    <a:lnR w="12700" cap="flat" cmpd="sng" algn="ctr">
                      <a:solidFill>
                        <a:srgbClr val="FFFFFF"/>
                      </a:solidFill>
                    </a:lnR>
                    <a:lnT w="12700" cap="flat" cmpd="sng" algn="ctr">
                      <a:solidFill>
                        <a:srgbClr val="FFFFFF"/>
                      </a:solidFill>
                    </a:lnT>
                    <a:lnB w="12700" cap="flat" cmpd="sng" algn="ctr">
                      <a:solidFill>
                        <a:srgbClr val="FFFFFF"/>
                      </a:solidFill>
                    </a:lnB>
                    <a:solidFill>
                      <a:srgbClr val="FFF2CC"/>
                    </a:solidFill>
                  </a:tcPr>
                </a:tc>
              </a:tr>
            </a:tbl>
          </a:graphicData>
        </a:graphic>
      </p:graphicFrame>
    </p:spTree>
  </p:cSld>
  <p:clrMapOvr>
    <a:masterClrMapping/>
  </p:clrMapOvr>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96462</TotalTime>
  <Pages>60</Pages>
  <Words>13879</Words>
  <Application>Microsoft Office PowerPoint</Application>
  <PresentationFormat>Widescreen</PresentationFormat>
  <Paragraphs>1477</Paragraphs>
  <Slides>53</Slides>
  <Notes>42</Notes>
  <HiddenSlides>0</HiddenSlides>
  <MMClips>0</MMClips>
  <ScaleCrop>false</ScaleCrop>
  <HeadingPairs>
    <vt:vector size="6" baseType="variant">
      <vt:variant>
        <vt:lpstr>Fonts Used</vt:lpstr>
      </vt:variant>
      <vt:variant>
        <vt:i4>14</vt:i4>
      </vt:variant>
      <vt:variant>
        <vt:lpstr>Theme</vt:lpstr>
      </vt:variant>
      <vt:variant>
        <vt:i4>2</vt:i4>
      </vt:variant>
      <vt:variant>
        <vt:lpstr>Slide Titles</vt:lpstr>
      </vt:variant>
      <vt:variant>
        <vt:i4>53</vt:i4>
      </vt:variant>
    </vt:vector>
  </HeadingPairs>
  <TitlesOfParts>
    <vt:vector size="69" baseType="lpstr">
      <vt:lpstr>Arial</vt:lpstr>
      <vt:lpstr>Calibri</vt:lpstr>
      <vt:lpstr>Comic Sans MS</vt:lpstr>
      <vt:lpstr>Consolas</vt:lpstr>
      <vt:lpstr>Courier New</vt:lpstr>
      <vt:lpstr>gg sans</vt:lpstr>
      <vt:lpstr>Gill Sans</vt:lpstr>
      <vt:lpstr>Gill Sans Light</vt:lpstr>
      <vt:lpstr>Google Sans</vt:lpstr>
      <vt:lpstr>Helvetica</vt:lpstr>
      <vt:lpstr>inherit</vt:lpstr>
      <vt:lpstr>Menlo</vt:lpstr>
      <vt:lpstr>Times New Roman</vt:lpstr>
      <vt:lpstr>Wingdings</vt:lpstr>
      <vt:lpstr>Office</vt:lpstr>
      <vt:lpstr>1_Office</vt:lpstr>
      <vt:lpstr>CSC 112: Computer Operating Systems Lecture 3  Synchronization</vt:lpstr>
      <vt:lpstr>Outline</vt:lpstr>
      <vt:lpstr>Different Types of Concurrencies</vt:lpstr>
      <vt:lpstr>Concurrency</vt:lpstr>
      <vt:lpstr>Race Condition</vt:lpstr>
      <vt:lpstr>Race Condition &amp; Critical Section </vt:lpstr>
      <vt:lpstr>Lock to Protect a Critical Section</vt:lpstr>
      <vt:lpstr>Locks</vt:lpstr>
      <vt:lpstr>Locks: Disable Interrupts</vt:lpstr>
      <vt:lpstr>Locks: Loads/Stores</vt:lpstr>
      <vt:lpstr>Locks: Test-and-Set</vt:lpstr>
      <vt:lpstr>Locks: Compare-and-Swap</vt:lpstr>
      <vt:lpstr>Locks: Busy Waiting</vt:lpstr>
      <vt:lpstr>Ticket Lock</vt:lpstr>
      <vt:lpstr>Ticket Lock</vt:lpstr>
      <vt:lpstr>Ticket Lock</vt:lpstr>
      <vt:lpstr>Ticket Lock</vt:lpstr>
      <vt:lpstr>Ticket Lock</vt:lpstr>
      <vt:lpstr>Recap</vt:lpstr>
      <vt:lpstr>Semaphores</vt:lpstr>
      <vt:lpstr>POSIX pthreads API</vt:lpstr>
      <vt:lpstr>Semaphores Like Integers Except…</vt:lpstr>
      <vt:lpstr>Implementing Semaphores with TestAndSet</vt:lpstr>
      <vt:lpstr>Two Uses of Semaphores</vt:lpstr>
      <vt:lpstr>Using Semaphores for Scheduling</vt:lpstr>
      <vt:lpstr>Producer/Consumer Problem</vt:lpstr>
      <vt:lpstr>Producer/Consumer Problem</vt:lpstr>
      <vt:lpstr>Full Solution to Bounded Buffer (coke machine)</vt:lpstr>
      <vt:lpstr>Discussions</vt:lpstr>
      <vt:lpstr>Deadlock</vt:lpstr>
      <vt:lpstr>Monitors</vt:lpstr>
      <vt:lpstr> Monitor with Condition Variables (CV)</vt:lpstr>
      <vt:lpstr> Monitor with Condition Variables (CV)</vt:lpstr>
      <vt:lpstr>CV Common Usage Pattern</vt:lpstr>
      <vt:lpstr>P/C Problem with Condition Variable</vt:lpstr>
      <vt:lpstr>While vs. if for Checking Boolean flag</vt:lpstr>
      <vt:lpstr>Mesa monitors</vt:lpstr>
      <vt:lpstr>The Thread Join Problem</vt:lpstr>
      <vt:lpstr>Thread Join with Semaphore</vt:lpstr>
      <vt:lpstr>Thread Join with Condition Variable</vt:lpstr>
      <vt:lpstr>Thread Join with Condition Variables: Incorrect</vt:lpstr>
      <vt:lpstr>Dinning Philosophers</vt:lpstr>
      <vt:lpstr>Semaphore-based Solution: Deadlock</vt:lpstr>
      <vt:lpstr>Semaphore-based Solution 0: Global Lock</vt:lpstr>
      <vt:lpstr>Semaphore-based Solution: Deadlock</vt:lpstr>
      <vt:lpstr>Semaphore-based Solution I</vt:lpstr>
      <vt:lpstr>Semaphore-based Solution II</vt:lpstr>
      <vt:lpstr>Semaphore-based Solution III</vt:lpstr>
      <vt:lpstr>Semaphore-based Solution IV</vt:lpstr>
      <vt:lpstr>Monitor-based Solution</vt:lpstr>
      <vt:lpstr>PowerPoint Presentation</vt:lpstr>
      <vt:lpstr>Semaphores vs. Monitors</vt:lpstr>
      <vt:lpstr>References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1410</cp:revision>
  <cp:lastPrinted>2022-03-10T08:20:00Z</cp:lastPrinted>
  <dcterms:created xsi:type="dcterms:W3CDTF">1995-08-12T11:37:26Z</dcterms:created>
  <dcterms:modified xsi:type="dcterms:W3CDTF">2026-09-30T20:59:40Z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