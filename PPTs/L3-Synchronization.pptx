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ink/ink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3.xml" ContentType="application/inkml+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ink/ink4.xml" ContentType="application/inkml+xml"/>
  <Override PartName="/ppt/ink/ink5.xml" ContentType="application/inkml+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ink/ink6.xml" ContentType="application/inkml+xml"/>
  <Override PartName="/ppt/notesSlides/notesSlide36.xml" ContentType="application/vnd.openxmlformats-officedocument.presentationml.notesSlide+xml"/>
  <Override PartName="/ppt/ink/ink7.xml" ContentType="application/inkml+xml"/>
  <Override PartName="/ppt/ink/ink8.xml" ContentType="application/inkml+xml"/>
  <Override PartName="/ppt/notesSlides/notesSlide37.xml" ContentType="application/vnd.openxmlformats-officedocument.presentationml.notesSlide+xml"/>
  <Override PartName="/ppt/ink/ink9.xml" ContentType="application/inkml+xml"/>
  <Override PartName="/ppt/ink/ink10.xml" ContentType="application/inkml+xml"/>
  <Override PartName="/ppt/notesSlides/notesSlide38.xml" ContentType="application/vnd.openxmlformats-officedocument.presentationml.notesSlide+xml"/>
  <Override PartName="/ppt/ink/ink11.xml" ContentType="application/inkml+xml"/>
  <Override PartName="/ppt/ink/ink12.xml" ContentType="application/inkml+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ink/ink13.xml" ContentType="application/inkml+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56"/>
  </p:notesMasterIdLst>
  <p:handoutMasterIdLst>
    <p:handoutMasterId r:id="rId57"/>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371" r:id="rId40"/>
    <p:sldId id="1396" r:id="rId41"/>
    <p:sldId id="396" r:id="rId42"/>
    <p:sldId id="1397" r:id="rId43"/>
    <p:sldId id="1381" r:id="rId44"/>
    <p:sldId id="1388" r:id="rId45"/>
    <p:sldId id="1392" r:id="rId46"/>
    <p:sldId id="1390" r:id="rId47"/>
    <p:sldId id="1391" r:id="rId48"/>
    <p:sldId id="1385" r:id="rId49"/>
    <p:sldId id="1395" r:id="rId50"/>
    <p:sldId id="1386" r:id="rId51"/>
    <p:sldId id="1394" r:id="rId52"/>
    <p:sldId id="1407" r:id="rId53"/>
    <p:sldId id="1356" r:id="rId54"/>
    <p:sldId id="1406" r:id="rId55"/>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25" autoAdjust="0"/>
  </p:normalViewPr>
  <p:slideViewPr>
    <p:cSldViewPr>
      <p:cViewPr varScale="1">
        <p:scale>
          <a:sx n="106" d="100"/>
          <a:sy n="106" d="100"/>
        </p:scale>
        <p:origin x="792" y="114"/>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handoutMaster" Target="handoutMasters/handout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469"/>
    </inkml:context>
    <inkml:brush xml:id="br0">
      <inkml:brushProperty name="width" value="0.05" units="cm"/>
      <inkml:brushProperty name="height" value="0.05" units="cm"/>
      <inkml:brushProperty name="ignorePressure" value="1"/>
    </inkml:brush>
  </inkml:definitions>
  <inkml:trace contextRef="#ctx0" brushRef="#br0">11 11,'-5'-4,"-1"-2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86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36:35.84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1.596"/>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2.179"/>
    </inkml:context>
    <inkml:brush xml:id="br0">
      <inkml:brushProperty name="width" value="0.05" units="cm"/>
      <inkml:brushProperty name="height" value="0.05" units="cm"/>
      <inkml:brushProperty name="ignorePressure" value="1"/>
    </inkml:brush>
  </inkml:definitions>
  <inkml:trace contextRef="#ctx0" brushRef="#br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1:24:45.9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135"/>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468"/>
    </inkml:context>
    <inkml:brush xml:id="br0">
      <inkml:brushProperty name="width" value="0.05" units="cm"/>
      <inkml:brushProperty name="height" value="0.05" units="cm"/>
      <inkml:brushProperty name="ignorePressure" value="1"/>
    </inkml:brush>
  </inkml:definitions>
  <inkml:trace contextRef="#ctx0" brushRef="#br0">0 0</inkml:trace>
  <inkml:trace contextRef="#ctx0" brushRef="#br0" timeOffset="1">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2.143"/>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5.13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2.92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5.04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26:46.443"/>
    </inkml:context>
    <inkml:brush xml:id="br0">
      <inkml:brushProperty name="width" value="0.05" units="cm"/>
      <inkml:brushProperty name="height" value="0.05" units="cm"/>
      <inkml:brushProperty name="ignorePressure" value="1"/>
    </inkml:brush>
  </inkml:definitions>
  <inkml:trace contextRef="#ctx0" brushRef="#br0">0 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mutual </a:t>
            </a:r>
            <a:r>
              <a:rPr lang="en-US" altLang="zh-CN" b="0" i="0" dirty="0" err="1">
                <a:solidFill>
                  <a:srgbClr val="202124"/>
                </a:solidFill>
                <a:effectLst/>
                <a:latin typeface="Google Sans"/>
              </a:rPr>
              <a:t>exclusion</a:t>
            </a:r>
            <a:r>
              <a:rPr lang="en-US" altLang="zh-CN" dirty="0" err="1"/>
              <a:t>A</a:t>
            </a:r>
            <a:r>
              <a:rPr lang="zh-CN" altLang="en-US" dirty="0"/>
              <a:t> </a:t>
            </a:r>
            <a:r>
              <a:rPr lang="en-US" altLang="zh-CN" dirty="0">
                <a:solidFill>
                  <a:srgbClr val="0070C0"/>
                </a:solidFill>
              </a:rPr>
              <a:t>good</a:t>
            </a:r>
            <a:r>
              <a:rPr lang="zh-CN" altLang="en-US" dirty="0">
                <a:solidFill>
                  <a:srgbClr val="0070C0"/>
                </a:solidFill>
              </a:rPr>
              <a:t> </a:t>
            </a:r>
            <a:r>
              <a:rPr lang="en-US" altLang="zh-CN" dirty="0">
                <a:solidFill>
                  <a:srgbClr val="0070C0"/>
                </a:solidFill>
              </a:rPr>
              <a:t>lock</a:t>
            </a:r>
            <a:r>
              <a:rPr lang="en-US" altLang="zh-CN" dirty="0"/>
              <a:t>:</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tickets = 0: No threads have requested the lock yet.</a:t>
            </a:r>
          </a:p>
          <a:p>
            <a:pPr>
              <a:buFont typeface="Arial" panose="020B0604020202020204" pitchFamily="34" charset="0"/>
              <a:buChar char="•"/>
            </a:pPr>
            <a:r>
              <a:rPr lang="en-GB" dirty="0"/>
              <a:t>turn = 0: No threads are currently holding the lock.</a:t>
            </a:r>
          </a:p>
          <a:p>
            <a:r>
              <a:rPr lang="en-GB" b="1" dirty="0"/>
              <a:t>Step-by-Step Execution:</a:t>
            </a:r>
          </a:p>
          <a:p>
            <a:pPr>
              <a:buFont typeface="+mj-lt"/>
              <a:buAutoNum type="arabicPeriod"/>
            </a:pPr>
            <a:r>
              <a:rPr lang="en-GB" b="1" dirty="0"/>
              <a:t>Thread A Calls lock()</a:t>
            </a:r>
            <a:r>
              <a:rPr lang="en-GB" dirty="0"/>
              <a:t>: Thread A increments tickets to 1.</a:t>
            </a:r>
          </a:p>
          <a:p>
            <a:pPr>
              <a:buFont typeface="+mj-lt"/>
              <a:buAutoNum type="arabicPeriod"/>
            </a:pPr>
            <a:r>
              <a:rPr lang="en-GB" dirty="0"/>
              <a:t>Thread A's ticket number is 0 (the value of tickets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tickets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tickets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no threads are currently waiting for the lock.</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(tickets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a:t>text</a:t>
            </a:r>
          </a:p>
          <a:p>
            <a:r>
              <a:rPr lang="en-GB" dirty="0" err="1">
                <a:solidFill>
                  <a:srgbClr val="C5C8C6"/>
                </a:solidFill>
                <a:effectLst/>
                <a:latin typeface="inherit"/>
              </a:rPr>
              <a:t>semaphorerywait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a:t>text</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This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No </a:t>
            </a:r>
            <a:r>
              <a:rPr lang="en-US" altLang="ko-KR" dirty="0" err="1">
                <a:ea typeface="굴림" panose="020B0600000101010101" pitchFamily="34" charset="-127"/>
              </a:rPr>
              <a:t>otjhTechnically</a:t>
            </a:r>
            <a:r>
              <a:rPr lang="en-US" altLang="ko-KR" dirty="0">
                <a:ea typeface="굴림" panose="020B0600000101010101" pitchFamily="34" charset="-127"/>
              </a:rPr>
              <a:t> examining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pthread_wait</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sleep() and release the lock (set guard=0) must be atomic. Similar to the case on slide “Interrupt re-enable in going to sleep”. (can do this in software without hardware support).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logician Tony Hoare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incremente1d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and is blocked;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1;when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t>
            </a:r>
            <a:r>
              <a:rPr lang="en-GB" sz="1200" b="0" kern="0" dirty="0" err="1"/>
              <a:t>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2479287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35355186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(1) before left fork (5).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2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customXml" Target="../ink/ink5.xml"/><Relationship Id="rId5" Type="http://schemas.openxmlformats.org/officeDocument/2006/relationships/image" Target="../media/image23.png"/><Relationship Id="rId4" Type="http://schemas.openxmlformats.org/officeDocument/2006/relationships/customXml" Target="../ink/ink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customXml" Target="../ink/ink8.xml"/><Relationship Id="rId5" Type="http://schemas.openxmlformats.org/officeDocument/2006/relationships/image" Target="../media/image23.png"/><Relationship Id="rId4" Type="http://schemas.openxmlformats.org/officeDocument/2006/relationships/customXml" Target="../ink/ink7.xml"/></Relationships>
</file>

<file path=ppt/slides/_rels/slide46.xml.rels><?xml version="1.0" encoding="UTF-8" standalone="yes"?>
<Relationships xmlns="http://schemas.openxmlformats.org/package/2006/relationships"><Relationship Id="rId3" Type="http://schemas.openxmlformats.org/officeDocument/2006/relationships/customXml" Target="../ink/ink9.xml"/><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customXml" Target="../ink/ink10.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customXml" Target="../ink/ink11.xm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customXml" Target="../ink/ink1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customXml" Target="../ink/ink13.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www.youtube.com/watch?v=DvF3AsTglUU" TargetMode="External"/><Relationship Id="rId2" Type="http://schemas.openxmlformats.org/officeDocument/2006/relationships/hyperlink" Target="https://www.youtube.com/playlist?list=PLbu9W4c-C0iAGUc7dQlqXIsXkGnHMaTEz"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Monitors</a:t>
            </a:r>
            <a:endParaRPr lang="nb-NO" altLang="zh-CN" dirty="0"/>
          </a:p>
          <a:p>
            <a:endParaRPr lang="en-US" dirty="0"/>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Concurrencies</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irresponsive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while(flag) spin-wait loop, it is preempted/interrupted by Thread 2, which also reads flag==0 and exits the while(flag</a:t>
            </a:r>
            <a:r>
              <a:rPr lang="en-US" altLang="zh-CN"/>
              <a:t>) spin-wait </a:t>
            </a:r>
            <a:r>
              <a:rPr lang="en-US" altLang="zh-CN" dirty="0"/>
              <a:t>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1"/>
            <a:ext cx="5776961" cy="3513992"/>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5776961" y="3335779"/>
            <a:ext cx="6186506" cy="2686051"/>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
        <p:nvSpPr>
          <p:cNvPr id="9" name="TextBox 8">
            <a:extLst>
              <a:ext uri="{FF2B5EF4-FFF2-40B4-BE49-F238E27FC236}">
                <a16:creationId xmlns:a16="http://schemas.microsoft.com/office/drawing/2014/main" id="{8436BA8F-FB9B-44B3-B855-08E43B6D2417}"/>
              </a:ext>
            </a:extLst>
          </p:cNvPr>
          <p:cNvSpPr txBox="1"/>
          <p:nvPr/>
        </p:nvSpPr>
        <p:spPr>
          <a:xfrm>
            <a:off x="7492126" y="4229827"/>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013C4B83-14BD-4F88-8114-350674B3E77C}"/>
              </a:ext>
            </a:extLst>
          </p:cNvPr>
          <p:cNvSpPr txBox="1"/>
          <p:nvPr/>
        </p:nvSpPr>
        <p:spPr>
          <a:xfrm>
            <a:off x="10506547" y="4931118"/>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 variable old,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spin-waits in the while loop and does not enter critical section</a:t>
            </a:r>
          </a:p>
          <a:p>
            <a:r>
              <a:rPr lang="en-US" dirty="0"/>
              <a:t>If multiple threads call TAS when </a:t>
            </a:r>
            <a:r>
              <a:rPr lang="en-US" altLang="zh-CN" dirty="0"/>
              <a:t>lock-flag==0, only one thread will see lock-flag==0 , set it to 1 and enter the critical section, and all the other threads will see  lock-flag==1 and spin-wait.</a:t>
            </a:r>
            <a:endParaRPr lang="en-US" dirty="0"/>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89286" cy="5708373"/>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lock-flag into variable original, compares original with expected (0), and if they are equal (lock-flag==0), sets lock-&gt;flag to 1, then return variable original,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9200" y="2057400"/>
            <a:ext cx="7086601" cy="308301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tickets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tickets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9" name="Straight Arrow Connector 8">
            <a:extLst>
              <a:ext uri="{FF2B5EF4-FFF2-40B4-BE49-F238E27FC236}">
                <a16:creationId xmlns:a16="http://schemas.microsoft.com/office/drawing/2014/main" id="{758B046D-E732-48EF-893B-524395BB082A}"/>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 name="Straight Arrow Connector 9">
            <a:extLst>
              <a:ext uri="{FF2B5EF4-FFF2-40B4-BE49-F238E27FC236}">
                <a16:creationId xmlns:a16="http://schemas.microsoft.com/office/drawing/2014/main" id="{E2276F8C-BE11-40E7-B643-E30B8744471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11" name="Straight Arrow Connector 10">
            <a:extLst>
              <a:ext uri="{FF2B5EF4-FFF2-40B4-BE49-F238E27FC236}">
                <a16:creationId xmlns:a16="http://schemas.microsoft.com/office/drawing/2014/main" id="{09A1D685-8BDD-4E65-A1E5-10FB9B5EE889}"/>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65A72CF2-FF1D-4E41-BACA-22699180F3AA}"/>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3" name="Straight Arrow Connector 12">
            <a:extLst>
              <a:ext uri="{FF2B5EF4-FFF2-40B4-BE49-F238E27FC236}">
                <a16:creationId xmlns:a16="http://schemas.microsoft.com/office/drawing/2014/main" id="{3A842226-537B-47C7-A90C-86CA12E2E126}"/>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extLst>
              <p:ext uri="{D42A27DB-BD31-4B8C-83A1-F6EECF244321}">
                <p14:modId xmlns:p14="http://schemas.microsoft.com/office/powerpoint/2010/main" val="3676873206"/>
              </p:ext>
            </p:extLst>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cxnSp>
        <p:nvCxnSpPr>
          <p:cNvPr id="10" name="Straight Arrow Connector 9">
            <a:extLst>
              <a:ext uri="{FF2B5EF4-FFF2-40B4-BE49-F238E27FC236}">
                <a16:creationId xmlns:a16="http://schemas.microsoft.com/office/drawing/2014/main" id="{C1B11F61-DE5D-47FF-A96C-797D179A69E6}"/>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5B0D38DB-11C1-4B78-8B78-7F6B29C518D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A042888B-B6F2-4D70-896A-612358930AB0}"/>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execution </a:t>
            </a:r>
          </a:p>
          <a:p>
            <a:pPr lvl="1"/>
            <a:r>
              <a:rPr lang="en-US" dirty="0"/>
              <a:t>Only one thread must execute critical section</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atomical</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execution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late 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pthreads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
        <p:nvSpPr>
          <p:cNvPr id="512008" name="Rectangle 8"/>
          <p:cNvSpPr>
            <a:spLocks noGrp="1" noChangeArrowheads="1"/>
          </p:cNvSpPr>
          <p:nvPr>
            <p:ph type="body" idx="1"/>
          </p:nvPr>
        </p:nvSpPr>
        <p:spPr>
          <a:xfrm>
            <a:off x="457200" y="762000"/>
            <a:ext cx="11353800" cy="4114800"/>
          </a:xfrm>
        </p:spPr>
        <p:txBody>
          <a:bodyPr>
            <a:normAutofit fontScale="85000" lnSpcReduction="1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 (not a Critical Section, since two trains can enter the </a:t>
            </a:r>
            <a:r>
              <a:rPr lang="en-US" altLang="ko-KR">
                <a:ea typeface="굴림" panose="020B0600000101010101" pitchFamily="34" charset="-127"/>
              </a:rPr>
              <a:t>middle tracks)</a:t>
            </a:r>
            <a:endParaRPr lang="ko-KR" altLang="en-US" dirty="0">
              <a:ea typeface="굴림" panose="020B0600000101010101" pitchFamily="34" charset="-127"/>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609600" y="685800"/>
            <a:ext cx="10667999" cy="1191219"/>
          </a:xfrm>
        </p:spPr>
        <p:txBody>
          <a:bodyPr>
            <a:normAutofit fontScale="85000" lnSpcReduction="20000"/>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 Compared to previous method of using </a:t>
            </a:r>
            <a:r>
              <a:rPr lang="en-US" dirty="0" err="1"/>
              <a:t>SpinLock</a:t>
            </a:r>
            <a:r>
              <a:rPr lang="en-US" dirty="0"/>
              <a:t> to protect critical sections, here we use </a:t>
            </a:r>
            <a:r>
              <a:rPr lang="en-US" dirty="0" err="1"/>
              <a:t>SpinLock</a:t>
            </a:r>
            <a:r>
              <a:rPr lang="en-US" dirty="0"/>
              <a:t> not to protect critical sections, but to protect </a:t>
            </a:r>
            <a:r>
              <a:rPr lang="en-US" dirty="0" err="1"/>
              <a:t>sem_wait</a:t>
            </a:r>
            <a:r>
              <a:rPr lang="en-US" dirty="0"/>
              <a:t>() and </a:t>
            </a:r>
            <a:r>
              <a:rPr lang="en-US" dirty="0" err="1"/>
              <a:t>sem_post</a:t>
            </a:r>
            <a:r>
              <a:rPr lang="en-US" dirty="0"/>
              <a:t>(), which are very short code segments.</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676400"/>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
        <p:nvSpPr>
          <p:cNvPr id="8" name="TextBox 7">
            <a:extLst>
              <a:ext uri="{FF2B5EF4-FFF2-40B4-BE49-F238E27FC236}">
                <a16:creationId xmlns:a16="http://schemas.microsoft.com/office/drawing/2014/main" id="{8AE40AC0-8E5F-4BA5-B37E-4DB68DDD2CCB}"/>
              </a:ext>
            </a:extLst>
          </p:cNvPr>
          <p:cNvSpPr txBox="1"/>
          <p:nvPr/>
        </p:nvSpPr>
        <p:spPr>
          <a:xfrm>
            <a:off x="381000" y="3198167"/>
            <a:ext cx="1415772" cy="461665"/>
          </a:xfrm>
          <a:prstGeom prst="rect">
            <a:avLst/>
          </a:prstGeom>
          <a:noFill/>
        </p:spPr>
        <p:txBody>
          <a:bodyPr wrap="none" rtlCol="0">
            <a:spAutoFit/>
          </a:bodyPr>
          <a:lstStyle/>
          <a:p>
            <a:r>
              <a:rPr lang="en-US" sz="2400" dirty="0">
                <a:latin typeface="Gill Sans Light"/>
              </a:rPr>
              <a:t>Lock() </a:t>
            </a:r>
            <a:r>
              <a:rPr lang="en-US" sz="2400" dirty="0">
                <a:latin typeface="Gill Sans Light"/>
                <a:sym typeface="Wingdings" panose="05000000000000000000" pitchFamily="2" charset="2"/>
              </a:rPr>
              <a:t> </a:t>
            </a:r>
            <a:endParaRPr lang="en-US" sz="2400" dirty="0">
              <a:latin typeface="Gill Sans Light"/>
            </a:endParaRPr>
          </a:p>
        </p:txBody>
      </p:sp>
      <p:sp>
        <p:nvSpPr>
          <p:cNvPr id="9" name="TextBox 8">
            <a:extLst>
              <a:ext uri="{FF2B5EF4-FFF2-40B4-BE49-F238E27FC236}">
                <a16:creationId xmlns:a16="http://schemas.microsoft.com/office/drawing/2014/main" id="{5C2E1874-0D50-4449-ABB9-81B658EA0E13}"/>
              </a:ext>
            </a:extLst>
          </p:cNvPr>
          <p:cNvSpPr txBox="1"/>
          <p:nvPr/>
        </p:nvSpPr>
        <p:spPr>
          <a:xfrm>
            <a:off x="106886" y="4088962"/>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2" name="TextBox 11">
            <a:extLst>
              <a:ext uri="{FF2B5EF4-FFF2-40B4-BE49-F238E27FC236}">
                <a16:creationId xmlns:a16="http://schemas.microsoft.com/office/drawing/2014/main" id="{5A589A94-BDD0-41B1-9607-E1B944D3E9ED}"/>
              </a:ext>
            </a:extLst>
          </p:cNvPr>
          <p:cNvSpPr txBox="1"/>
          <p:nvPr/>
        </p:nvSpPr>
        <p:spPr>
          <a:xfrm>
            <a:off x="106886" y="5341336"/>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3" name="TextBox 12">
            <a:extLst>
              <a:ext uri="{FF2B5EF4-FFF2-40B4-BE49-F238E27FC236}">
                <a16:creationId xmlns:a16="http://schemas.microsoft.com/office/drawing/2014/main" id="{97C2A9BE-F51C-4BF0-BA0E-5155841B6C3A}"/>
              </a:ext>
            </a:extLst>
          </p:cNvPr>
          <p:cNvSpPr txBox="1"/>
          <p:nvPr/>
        </p:nvSpPr>
        <p:spPr>
          <a:xfrm>
            <a:off x="10923570" y="3038475"/>
            <a:ext cx="1029449" cy="461665"/>
          </a:xfrm>
          <a:prstGeom prst="rect">
            <a:avLst/>
          </a:prstGeom>
          <a:noFill/>
        </p:spPr>
        <p:txBody>
          <a:bodyPr wrap="none" rtlCol="0">
            <a:spAutoFit/>
          </a:bodyPr>
          <a:lstStyle/>
          <a:p>
            <a:r>
              <a:rPr lang="en-US" sz="2400" dirty="0">
                <a:latin typeface="Gill Sans Light"/>
              </a:rPr>
              <a:t>Lock()</a:t>
            </a:r>
            <a:r>
              <a:rPr lang="en-US" sz="2400" dirty="0">
                <a:latin typeface="Gill Sans Light"/>
                <a:sym typeface="Wingdings" panose="05000000000000000000" pitchFamily="2" charset="2"/>
              </a:rPr>
              <a:t> </a:t>
            </a:r>
            <a:endParaRPr lang="en-US" sz="2400" dirty="0">
              <a:latin typeface="Gill Sans Light"/>
            </a:endParaRPr>
          </a:p>
        </p:txBody>
      </p:sp>
      <p:sp>
        <p:nvSpPr>
          <p:cNvPr id="14" name="TextBox 13">
            <a:extLst>
              <a:ext uri="{FF2B5EF4-FFF2-40B4-BE49-F238E27FC236}">
                <a16:creationId xmlns:a16="http://schemas.microsoft.com/office/drawing/2014/main" id="{96265CCB-3F01-4DC8-9543-FEBC44F166E5}"/>
              </a:ext>
            </a:extLst>
          </p:cNvPr>
          <p:cNvSpPr txBox="1"/>
          <p:nvPr/>
        </p:nvSpPr>
        <p:spPr>
          <a:xfrm>
            <a:off x="10990245" y="4870146"/>
            <a:ext cx="1303562" cy="461665"/>
          </a:xfrm>
          <a:prstGeom prst="rect">
            <a:avLst/>
          </a:prstGeom>
          <a:noFill/>
        </p:spPr>
        <p:txBody>
          <a:bodyPr wrap="none" rtlCol="0">
            <a:spAutoFit/>
          </a:bodyPr>
          <a:lstStyle/>
          <a:p>
            <a:r>
              <a:rPr lang="en-US" sz="2400" dirty="0">
                <a:latin typeface="Gill Sans Light"/>
              </a:rPr>
              <a:t>Unlock()</a:t>
            </a:r>
            <a:r>
              <a:rPr lang="en-US" sz="2400" dirty="0">
                <a:latin typeface="Gill Sans Light"/>
                <a:sym typeface="Wingdings" panose="05000000000000000000" pitchFamily="2" charset="2"/>
              </a:rPr>
              <a:t> </a:t>
            </a:r>
            <a:endParaRPr lang="en-US" sz="2400" dirty="0">
              <a:latin typeface="Gill Sans Light"/>
            </a:endParaRPr>
          </a:p>
        </p:txBody>
      </p:sp>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E9296729-4F67-468C-8DAF-3EB9C680EEBC}"/>
                  </a:ext>
                </a:extLst>
              </p14:cNvPr>
              <p14:cNvContentPartPr/>
              <p14:nvPr/>
            </p14:nvContentPartPr>
            <p14:xfrm>
              <a:off x="4158495" y="1300785"/>
              <a:ext cx="3960" cy="3960"/>
            </p14:xfrm>
          </p:contentPart>
        </mc:Choice>
        <mc:Fallback xmlns="">
          <p:pic>
            <p:nvPicPr>
              <p:cNvPr id="15" name="Ink 14">
                <a:extLst>
                  <a:ext uri="{FF2B5EF4-FFF2-40B4-BE49-F238E27FC236}">
                    <a16:creationId xmlns:a16="http://schemas.microsoft.com/office/drawing/2014/main" id="{E9296729-4F67-468C-8DAF-3EB9C680EEBC}"/>
                  </a:ext>
                </a:extLst>
              </p:cNvPr>
              <p:cNvPicPr/>
              <p:nvPr/>
            </p:nvPicPr>
            <p:blipFill>
              <a:blip r:embed="rId4"/>
              <a:stretch>
                <a:fillRect/>
              </a:stretch>
            </p:blipFill>
            <p:spPr>
              <a:xfrm>
                <a:off x="4149495" y="1292145"/>
                <a:ext cx="216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8EDFFC6D-99AA-4E94-8148-664D55E49904}"/>
                  </a:ext>
                </a:extLst>
              </p14:cNvPr>
              <p14:cNvContentPartPr/>
              <p14:nvPr/>
            </p14:nvContentPartPr>
            <p14:xfrm>
              <a:off x="2580975" y="1295385"/>
              <a:ext cx="360" cy="360"/>
            </p14:xfrm>
          </p:contentPart>
        </mc:Choice>
        <mc:Fallback xmlns="">
          <p:pic>
            <p:nvPicPr>
              <p:cNvPr id="16" name="Ink 15">
                <a:extLst>
                  <a:ext uri="{FF2B5EF4-FFF2-40B4-BE49-F238E27FC236}">
                    <a16:creationId xmlns:a16="http://schemas.microsoft.com/office/drawing/2014/main" id="{8EDFFC6D-99AA-4E94-8148-664D55E49904}"/>
                  </a:ext>
                </a:extLst>
              </p:cNvPr>
              <p:cNvPicPr/>
              <p:nvPr/>
            </p:nvPicPr>
            <p:blipFill>
              <a:blip r:embed="rId4"/>
              <a:stretch>
                <a:fillRect/>
              </a:stretch>
            </p:blipFill>
            <p:spPr>
              <a:xfrm>
                <a:off x="2572335" y="1286385"/>
                <a:ext cx="18000" cy="18000"/>
              </a:xfrm>
              <a:prstGeom prst="rect">
                <a:avLst/>
              </a:prstGeom>
            </p:spPr>
          </p:pic>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or “mutex”. Can be used for mutual exclusion as a lock</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Equivalently,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Initialize mutex to 1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picks</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Producer and Consumer can enqueue/dequeue items. concurrently (within critical section protected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 uri="{FAA26D3D-D897-4be2-8F04-BA451C77F1D7}">
              <ma14:placeholderFlag xmlns:ma14="http://schemas.microsoft.com/office/mac/drawingml/2011/main" xmlns=""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Producer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is blocked waiting for Consumer to put items into the queue (since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 0)</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Consumer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Producer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Consumer!</a:t>
            </a:r>
          </a:p>
          <a:p>
            <a:r>
              <a:rPr lang="en-US" altLang="ko-KR" sz="2000" kern="0" dirty="0">
                <a:latin typeface="Gill Sans" panose="020B0502020104020203"/>
                <a:ea typeface="굴림" panose="020B0600000101010101" pitchFamily="34" charset="-127"/>
              </a:rPr>
              <a:t>Similar deadlock situation when the queue is full,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Producer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 </a:t>
            </a:r>
            <a:r>
              <a:rPr lang="en-US" altLang="ko-KR" dirty="0">
                <a:ea typeface="굴림" panose="020B0600000101010101" pitchFamily="34" charset="-127"/>
              </a:rPr>
              <a:t>Monitor with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leads to a deadlock since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Consolas" charset="0"/>
                <a:cs typeface="Consolas" charset="0"/>
              </a:rPr>
              <a:t>Broadcast()</a:t>
            </a:r>
            <a:r>
              <a:rPr lang="en-US" altLang="ko-KR" dirty="0">
                <a:ea typeface="굴림" panose="020B0600000101010101" pitchFamily="34" charset="-127"/>
              </a:rPr>
              <a:t>: Wake up all waiters (if no waiter thread, then the signal is lost/has no effect)</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7F42EF05-BDB6-4DC9-B157-B2951B9E0B40}"/>
                  </a:ext>
                </a:extLst>
              </p14:cNvPr>
              <p14:cNvContentPartPr/>
              <p14:nvPr/>
            </p14:nvContentPartPr>
            <p14:xfrm>
              <a:off x="6171975" y="3695505"/>
              <a:ext cx="360" cy="360"/>
            </p14:xfrm>
          </p:contentPart>
        </mc:Choice>
        <mc:Fallback xmlns="">
          <p:pic>
            <p:nvPicPr>
              <p:cNvPr id="2" name="Ink 1">
                <a:extLst>
                  <a:ext uri="{FF2B5EF4-FFF2-40B4-BE49-F238E27FC236}">
                    <a16:creationId xmlns:a16="http://schemas.microsoft.com/office/drawing/2014/main" id="{7F42EF05-BDB6-4DC9-B157-B2951B9E0B40}"/>
                  </a:ext>
                </a:extLst>
              </p:cNvPr>
              <p:cNvPicPr/>
              <p:nvPr/>
            </p:nvPicPr>
            <p:blipFill>
              <a:blip r:embed="rId4"/>
              <a:stretch>
                <a:fillRect/>
              </a:stretch>
            </p:blipFill>
            <p:spPr>
              <a:xfrm>
                <a:off x="6163335" y="3686505"/>
                <a:ext cx="18000" cy="18000"/>
              </a:xfrm>
              <a:prstGeom prst="rect">
                <a:avLst/>
              </a:prstGeom>
            </p:spPr>
          </p:pic>
        </mc:Fallback>
      </mc:AlternateContent>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 Monitor with Condition Variables (CV)</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Set flag = true</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Must be used in combination with </a:t>
            </a:r>
            <a:r>
              <a:rPr lang="en-US" altLang="zh-CN" sz="1800" b="0" kern="0" dirty="0" err="1">
                <a:solidFill>
                  <a:srgbClr val="FF0000"/>
                </a:solidFill>
                <a:latin typeface="Courier New" panose="02070309020205020404" pitchFamily="49" charset="0"/>
                <a:cs typeface="Courier New" panose="02070309020205020404" pitchFamily="49" charset="0"/>
              </a:rPr>
              <a:t>update_flag</a:t>
            </a:r>
            <a:r>
              <a:rPr lang="en-US" altLang="zh-CN" sz="1800" b="0" kern="0">
                <a:solidFill>
                  <a:srgbClr val="FF0000"/>
                </a:solidFill>
                <a:latin typeface="Courier New" panose="02070309020205020404" pitchFamily="49" charset="0"/>
                <a:cs typeface="Courier New" panose="02070309020205020404" pitchFamily="49" charset="0"/>
              </a:rPr>
              <a:t>()</a:t>
            </a:r>
            <a:endParaRPr lang="en-US" altLang="zh-CN" sz="1800" b="0" kern="0" dirty="0">
              <a:solidFill>
                <a:srgbClr val="FF0000"/>
              </a:solidFill>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a:t>
            </a:r>
            <a:r>
              <a:rPr lang="en-GB" altLang="zh-CN" sz="1800" b="0" kern="0" dirty="0">
                <a:solidFill>
                  <a:srgbClr val="FF0000"/>
                </a:solidFill>
                <a:latin typeface="Courier New" panose="02070309020205020404" pitchFamily="49" charset="0"/>
                <a:cs typeface="Courier New" panose="02070309020205020404" pitchFamily="49" charset="0"/>
              </a:rPr>
              <a:t>Thread goes to sleep during waiting; </a:t>
            </a:r>
            <a:r>
              <a:rPr lang="en-US" altLang="zh-CN" sz="1800" b="0" kern="0" dirty="0">
                <a:solidFill>
                  <a:srgbClr val="FF0000"/>
                </a:solidFill>
                <a:latin typeface="Courier New" panose="02070309020205020404" pitchFamily="49" charset="0"/>
                <a:cs typeface="Courier New" panose="02070309020205020404" pitchFamily="49" charset="0"/>
              </a:rPr>
              <a:t>the mutex lock is released (implicitly) when it goes to sleep</a:t>
            </a: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//When the waiting/sleeping thread is signaled, it re-acquires the lock before resuming execution. Now flag = true, so it will exit the while(!flag) loop and go to next line</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 if(FULL)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 false; 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dequeue(); if(EMPTY)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false;</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pthread_cond_signal(&amp;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(if(FULL) and if(EMPTY) are pseudocode for updating buffer status based on queue condition)</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673C8901-57C4-4018-A925-E5BC715024B2}"/>
                  </a:ext>
                </a:extLst>
              </p14:cNvPr>
              <p14:cNvContentPartPr/>
              <p14:nvPr/>
            </p14:nvContentPartPr>
            <p14:xfrm>
              <a:off x="1892303" y="5241664"/>
              <a:ext cx="360" cy="360"/>
            </p14:xfrm>
          </p:contentPart>
        </mc:Choice>
        <mc:Fallback xmlns="">
          <p:pic>
            <p:nvPicPr>
              <p:cNvPr id="10" name="Ink 9">
                <a:extLst>
                  <a:ext uri="{FF2B5EF4-FFF2-40B4-BE49-F238E27FC236}">
                    <a16:creationId xmlns:a16="http://schemas.microsoft.com/office/drawing/2014/main" id="{673C8901-57C4-4018-A925-E5BC715024B2}"/>
                  </a:ext>
                </a:extLst>
              </p:cNvPr>
              <p:cNvPicPr/>
              <p:nvPr/>
            </p:nvPicPr>
            <p:blipFill>
              <a:blip r:embed="rId5"/>
              <a:stretch>
                <a:fillRect/>
              </a:stretch>
            </p:blipFill>
            <p:spPr>
              <a:xfrm>
                <a:off x="1883303" y="523302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1B396B42-7952-4653-91C2-22FC359BA2D4}"/>
                  </a:ext>
                </a:extLst>
              </p14:cNvPr>
              <p14:cNvContentPartPr/>
              <p14:nvPr/>
            </p14:nvContentPartPr>
            <p14:xfrm>
              <a:off x="2045663" y="5269024"/>
              <a:ext cx="360" cy="360"/>
            </p14:xfrm>
          </p:contentPart>
        </mc:Choice>
        <mc:Fallback xmlns="">
          <p:pic>
            <p:nvPicPr>
              <p:cNvPr id="11" name="Ink 10">
                <a:extLst>
                  <a:ext uri="{FF2B5EF4-FFF2-40B4-BE49-F238E27FC236}">
                    <a16:creationId xmlns:a16="http://schemas.microsoft.com/office/drawing/2014/main" id="{1B396B42-7952-4653-91C2-22FC359BA2D4}"/>
                  </a:ext>
                </a:extLst>
              </p:cNvPr>
              <p:cNvPicPr/>
              <p:nvPr/>
            </p:nvPicPr>
            <p:blipFill>
              <a:blip r:embed="rId5"/>
              <a:stretch>
                <a:fillRect/>
              </a:stretch>
            </p:blipFill>
            <p:spPr>
              <a:xfrm>
                <a:off x="2037023" y="5260024"/>
                <a:ext cx="18000" cy="18000"/>
              </a:xfrm>
              <a:prstGeom prst="rect">
                <a:avLst/>
              </a:prstGeom>
            </p:spPr>
          </p:pic>
        </mc:Fallback>
      </mc:AlternateContent>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Xerox-Park Mesa Operating System), where the waiter thread when signaled, joins a ready queue, </a:t>
            </a:r>
            <a:r>
              <a:rPr lang="en-US" altLang="ko-KR">
                <a:latin typeface="Helvetica" charset="0"/>
                <a:ea typeface="굴림" charset="0"/>
                <a:cs typeface="굴림" charset="0"/>
              </a:rPr>
              <a:t>and may </a:t>
            </a:r>
            <a:r>
              <a:rPr lang="en-US" altLang="ko-KR" dirty="0">
                <a:latin typeface="Helvetica" charset="0"/>
                <a:ea typeface="굴림" charset="0"/>
                <a:cs typeface="굴림" charset="0"/>
              </a:rPr>
              <a:t>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buffer empty flag may be true again, and </a:t>
            </a:r>
            <a:r>
              <a:rPr lang="en-US" altLang="ko-KR" dirty="0">
                <a:ea typeface="굴림" charset="0"/>
                <a:cs typeface="굴림" charset="0"/>
              </a:rPr>
              <a:t>condition may be false again (called “spurious wakeups”).</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unlock(&amp;mutex);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 xmlns:a14="http://schemas.microsoft.com/office/drawing/2010/main">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2200" b="0" kern="0" dirty="0"/>
              <a:t>Condition variables do not maintain state like semaphores do, so we need a shared </a:t>
            </a:r>
            <a:r>
              <a:rPr lang="en-GB" sz="2200" b="0" kern="0" dirty="0" err="1"/>
              <a:t>boolean</a:t>
            </a:r>
            <a:r>
              <a:rPr lang="en-GB" sz="2200" b="0" kern="0" dirty="0"/>
              <a:t> flag “done” to track whether the child thread has completed. (Similar to Boolean flags “buffer full” and “buffer empty” in P/C problem.)</a:t>
            </a:r>
          </a:p>
          <a:p>
            <a:r>
              <a:rPr lang="en-GB" sz="2200" b="0" kern="0" dirty="0"/>
              <a:t>If parent waits first: parent calls </a:t>
            </a:r>
            <a:r>
              <a:rPr lang="en-GB" sz="2200" b="0" kern="0" dirty="0" err="1"/>
              <a:t>thr_join</a:t>
            </a:r>
            <a:r>
              <a:rPr lang="en-GB" sz="2200" b="0" kern="0" dirty="0"/>
              <a:t>() and </a:t>
            </a:r>
            <a:r>
              <a:rPr lang="en-GB" sz="2200" b="0" kern="0" dirty="0" err="1"/>
              <a:t>cond_wait</a:t>
            </a:r>
            <a:r>
              <a:rPr lang="en-GB" sz="2200" b="0" kern="0" dirty="0"/>
              <a:t> (&amp;c) before child calls </a:t>
            </a:r>
            <a:r>
              <a:rPr lang="en-GB" sz="2200" b="0" kern="0" dirty="0" err="1"/>
              <a:t>thr_exit</a:t>
            </a:r>
            <a:r>
              <a:rPr lang="en-GB" sz="2200" b="0" kern="0" dirty="0"/>
              <a:t>() and </a:t>
            </a:r>
            <a:r>
              <a:rPr lang="en-GB" sz="2200" b="0" kern="0" dirty="0" err="1"/>
              <a:t>cond_signal</a:t>
            </a:r>
            <a:r>
              <a:rPr lang="en-GB" sz="2200" b="0" kern="0" dirty="0"/>
              <a:t>(&amp;c). The signal on condition variable c will wake up parent.</a:t>
            </a:r>
          </a:p>
          <a:p>
            <a:r>
              <a:rPr lang="en-GB" sz="2200" b="0" kern="0" dirty="0"/>
              <a:t>If child finishes first: child calls </a:t>
            </a:r>
            <a:r>
              <a:rPr lang="en-GB" sz="2200" b="0" kern="0" dirty="0" err="1"/>
              <a:t>thr_exit</a:t>
            </a:r>
            <a:r>
              <a:rPr lang="en-GB" sz="2200" b="0" kern="0" dirty="0"/>
              <a:t>() and </a:t>
            </a:r>
            <a:r>
              <a:rPr lang="en-GB" sz="2200" b="0" kern="0" dirty="0" err="1"/>
              <a:t>cond_signal</a:t>
            </a:r>
            <a:r>
              <a:rPr lang="en-GB" sz="2200" b="0" kern="0" dirty="0"/>
              <a:t>(&amp;c) before parent calls </a:t>
            </a:r>
            <a:r>
              <a:rPr lang="en-GB" sz="2200" b="0" kern="0" dirty="0" err="1"/>
              <a:t>thr_join</a:t>
            </a:r>
            <a:r>
              <a:rPr lang="en-GB" sz="2200" b="0" kern="0" dirty="0"/>
              <a:t>(). </a:t>
            </a:r>
            <a:r>
              <a:rPr lang="en-GB" sz="2200" b="0" kern="0" dirty="0">
                <a:solidFill>
                  <a:srgbClr val="FF0000"/>
                </a:solidFill>
              </a:rPr>
              <a:t>Parent will detect that “done” is already set so it will not call </a:t>
            </a:r>
            <a:r>
              <a:rPr lang="en-GB" sz="2200" b="0" kern="0" dirty="0" err="1">
                <a:solidFill>
                  <a:srgbClr val="FF0000"/>
                </a:solidFill>
              </a:rPr>
              <a:t>cond_wait</a:t>
            </a:r>
            <a:r>
              <a:rPr lang="en-GB" sz="2200" b="0" kern="0" dirty="0">
                <a:solidFill>
                  <a:srgbClr val="FF0000"/>
                </a:solidFill>
              </a:rPr>
              <a:t>() and will not block. </a:t>
            </a:r>
            <a:r>
              <a:rPr lang="en-GB" sz="2200" b="0" kern="0" dirty="0"/>
              <a:t>(While loop around </a:t>
            </a:r>
            <a:r>
              <a:rPr lang="en-GB" sz="2200" b="0" kern="0" dirty="0" err="1"/>
              <a:t>cond_wait</a:t>
            </a:r>
            <a:r>
              <a:rPr lang="en-GB" sz="2200" b="0" kern="0" dirty="0"/>
              <a:t>(&amp;c) ensures correctness in case of spurious wakeups.)</a:t>
            </a:r>
          </a:p>
          <a:p>
            <a:r>
              <a:rPr lang="en-GB" sz="2200" b="0" kern="0" dirty="0"/>
              <a:t>Special case of Producer-Consumer problem with buffer size 1.</a:t>
            </a:r>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dirty="0">
                <a:solidFill>
                  <a:srgbClr val="FF0000"/>
                </a:solidFill>
              </a:rPr>
              <a:t>Child’s signal on condition variable c will be lost, and parent will wait forever in </a:t>
            </a:r>
            <a:r>
              <a:rPr lang="en-GB" b="0" kern="0" dirty="0" err="1">
                <a:solidFill>
                  <a:srgbClr val="FF0000"/>
                </a:solidFill>
              </a:rPr>
              <a:t>cond_wait</a:t>
            </a:r>
            <a:r>
              <a:rPr lang="en-GB" b="0" kern="0" dirty="0">
                <a:solidFill>
                  <a:srgbClr val="FF0000"/>
                </a:solidFill>
              </a:rPr>
              <a:t>().</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philosophers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1-5, and 5 forks numbered 1-5;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5CC2EA9-18F3-428C-992D-BD8E42EC523C}"/>
                  </a:ext>
                </a:extLst>
              </p14:cNvPr>
              <p14:cNvContentPartPr/>
              <p14:nvPr/>
            </p14:nvContentPartPr>
            <p14:xfrm>
              <a:off x="5619375" y="1457385"/>
              <a:ext cx="360" cy="360"/>
            </p14:xfrm>
          </p:contentPart>
        </mc:Choice>
        <mc:Fallback xmlns="">
          <p:pic>
            <p:nvPicPr>
              <p:cNvPr id="5" name="Ink 4">
                <a:extLst>
                  <a:ext uri="{FF2B5EF4-FFF2-40B4-BE49-F238E27FC236}">
                    <a16:creationId xmlns:a16="http://schemas.microsoft.com/office/drawing/2014/main" id="{35CC2EA9-18F3-428C-992D-BD8E42EC523C}"/>
                  </a:ext>
                </a:extLst>
              </p:cNvPr>
              <p:cNvPicPr/>
              <p:nvPr/>
            </p:nvPicPr>
            <p:blipFill>
              <a:blip r:embed="rId4"/>
              <a:stretch>
                <a:fillRect/>
              </a:stretch>
            </p:blipFill>
            <p:spPr>
              <a:xfrm>
                <a:off x="5610735" y="1448385"/>
                <a:ext cx="18000" cy="18000"/>
              </a:xfrm>
              <a:prstGeom prst="rect">
                <a:avLst/>
              </a:prstGeom>
            </p:spPr>
          </p:pic>
        </mc:Fallback>
      </mc:AlternateContent>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forks atomically within a critical section, protected by the global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grpSp>
        <p:nvGrpSpPr>
          <p:cNvPr id="9" name="Group 8">
            <a:extLst>
              <a:ext uri="{FF2B5EF4-FFF2-40B4-BE49-F238E27FC236}">
                <a16:creationId xmlns:a16="http://schemas.microsoft.com/office/drawing/2014/main" id="{1CC935AB-ED3A-4874-9C0E-A6E0DF8722DB}"/>
              </a:ext>
            </a:extLst>
          </p:cNvPr>
          <p:cNvGrpSpPr/>
          <p:nvPr/>
        </p:nvGrpSpPr>
        <p:grpSpPr>
          <a:xfrm>
            <a:off x="3720743" y="1674784"/>
            <a:ext cx="360" cy="360"/>
            <a:chOff x="3720743" y="1674784"/>
            <a:chExt cx="360" cy="36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B3F0EE0D-B6A1-4CB6-BAC5-ACBC442B8F99}"/>
                    </a:ext>
                  </a:extLst>
                </p14:cNvPr>
                <p14:cNvContentPartPr/>
                <p14:nvPr/>
              </p14:nvContentPartPr>
              <p14:xfrm>
                <a:off x="3720743" y="1674784"/>
                <a:ext cx="360" cy="360"/>
              </p14:xfrm>
            </p:contentPart>
          </mc:Choice>
          <mc:Fallback xmlns="">
            <p:pic>
              <p:nvPicPr>
                <p:cNvPr id="7" name="Ink 6">
                  <a:extLst>
                    <a:ext uri="{FF2B5EF4-FFF2-40B4-BE49-F238E27FC236}">
                      <a16:creationId xmlns:a16="http://schemas.microsoft.com/office/drawing/2014/main" id="{B3F0EE0D-B6A1-4CB6-BAC5-ACBC442B8F99}"/>
                    </a:ext>
                  </a:extLst>
                </p:cNvPr>
                <p:cNvPicPr/>
                <p:nvPr/>
              </p:nvPicPr>
              <p:blipFill>
                <a:blip r:embed="rId5"/>
                <a:stretch>
                  <a:fillRect/>
                </a:stretch>
              </p:blipFill>
              <p:spPr>
                <a:xfrm>
                  <a:off x="3711743" y="166578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81135772-15AE-44AA-B079-97641CF41D1E}"/>
                    </a:ext>
                  </a:extLst>
                </p14:cNvPr>
                <p14:cNvContentPartPr/>
                <p14:nvPr/>
              </p14:nvContentPartPr>
              <p14:xfrm>
                <a:off x="3720743" y="1674784"/>
                <a:ext cx="360" cy="360"/>
              </p14:xfrm>
            </p:contentPart>
          </mc:Choice>
          <mc:Fallback xmlns="">
            <p:pic>
              <p:nvPicPr>
                <p:cNvPr id="8" name="Ink 7">
                  <a:extLst>
                    <a:ext uri="{FF2B5EF4-FFF2-40B4-BE49-F238E27FC236}">
                      <a16:creationId xmlns:a16="http://schemas.microsoft.com/office/drawing/2014/main" id="{81135772-15AE-44AA-B079-97641CF41D1E}"/>
                    </a:ext>
                  </a:extLst>
                </p:cNvPr>
                <p:cNvPicPr/>
                <p:nvPr/>
              </p:nvPicPr>
              <p:blipFill>
                <a:blip r:embed="rId5"/>
                <a:stretch>
                  <a:fillRect/>
                </a:stretch>
              </p:blipFill>
              <p:spPr>
                <a:xfrm>
                  <a:off x="3711743" y="1665784"/>
                  <a:ext cx="18000" cy="18000"/>
                </a:xfrm>
                <a:prstGeom prst="rect">
                  <a:avLst/>
                </a:prstGeom>
              </p:spPr>
            </p:pic>
          </mc:Fallback>
        </mc:AlternateContent>
      </p:grpSp>
      <p:sp>
        <p:nvSpPr>
          <p:cNvPr id="11" name="TextBox 10">
            <a:extLst>
              <a:ext uri="{FF2B5EF4-FFF2-40B4-BE49-F238E27FC236}">
                <a16:creationId xmlns:a16="http://schemas.microsoft.com/office/drawing/2014/main" id="{37902992-EC90-4B83-9D2A-CF5A10CC18FB}"/>
              </a:ext>
            </a:extLst>
          </p:cNvPr>
          <p:cNvSpPr txBox="1"/>
          <p:nvPr/>
        </p:nvSpPr>
        <p:spPr>
          <a:xfrm>
            <a:off x="5181600" y="3218426"/>
            <a:ext cx="318379" cy="369332"/>
          </a:xfrm>
          <a:prstGeom prst="rect">
            <a:avLst/>
          </a:prstGeom>
          <a:noFill/>
        </p:spPr>
        <p:txBody>
          <a:bodyPr wrap="square">
            <a:spAutoFit/>
          </a:bodyPr>
          <a:lstStyle/>
          <a:p>
            <a:r>
              <a:rPr lang="en-GB" b="0" dirty="0">
                <a:solidFill>
                  <a:srgbClr val="FF0000"/>
                </a:solidFill>
              </a:rPr>
              <a:t>A</a:t>
            </a:r>
            <a:endParaRPr lang="en-US" b="0" dirty="0">
              <a:solidFill>
                <a:srgbClr val="FF0000"/>
              </a:solidFill>
            </a:endParaRPr>
          </a:p>
        </p:txBody>
      </p:sp>
      <p:sp>
        <p:nvSpPr>
          <p:cNvPr id="12" name="TextBox 11">
            <a:extLst>
              <a:ext uri="{FF2B5EF4-FFF2-40B4-BE49-F238E27FC236}">
                <a16:creationId xmlns:a16="http://schemas.microsoft.com/office/drawing/2014/main" id="{0231DE81-8841-4820-A505-8D78418CAB46}"/>
              </a:ext>
            </a:extLst>
          </p:cNvPr>
          <p:cNvSpPr txBox="1"/>
          <p:nvPr/>
        </p:nvSpPr>
        <p:spPr>
          <a:xfrm>
            <a:off x="5181599" y="4425434"/>
            <a:ext cx="318379" cy="369332"/>
          </a:xfrm>
          <a:prstGeom prst="rect">
            <a:avLst/>
          </a:prstGeom>
          <a:noFill/>
        </p:spPr>
        <p:txBody>
          <a:bodyPr wrap="square">
            <a:spAutoFit/>
          </a:bodyPr>
          <a:lstStyle/>
          <a:p>
            <a:r>
              <a:rPr lang="en-GB" b="0" dirty="0">
                <a:solidFill>
                  <a:srgbClr val="FF0000"/>
                </a:solidFill>
              </a:rPr>
              <a:t>B</a:t>
            </a:r>
            <a:endParaRPr lang="en-US" b="0" dirty="0">
              <a:solidFill>
                <a:srgbClr val="FF0000"/>
              </a:solidFill>
            </a:endParaRPr>
          </a:p>
        </p:txBody>
      </p:sp>
    </p:spTree>
    <p:extLst>
      <p:ext uri="{BB962C8B-B14F-4D97-AF65-F5344CB8AC3E}">
        <p14:creationId xmlns:p14="http://schemas.microsoft.com/office/powerpoint/2010/main" val="2789811176"/>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789E71F9-0E8D-4A52-8D6F-EFB18AD149A3}"/>
                  </a:ext>
                </a:extLst>
              </p14:cNvPr>
              <p14:cNvContentPartPr/>
              <p14:nvPr/>
            </p14:nvContentPartPr>
            <p14:xfrm>
              <a:off x="3919823" y="3394825"/>
              <a:ext cx="360" cy="360"/>
            </p14:xfrm>
          </p:contentPart>
        </mc:Choice>
        <mc:Fallback xmlns="">
          <p:pic>
            <p:nvPicPr>
              <p:cNvPr id="5" name="Ink 4">
                <a:extLst>
                  <a:ext uri="{FF2B5EF4-FFF2-40B4-BE49-F238E27FC236}">
                    <a16:creationId xmlns:a16="http://schemas.microsoft.com/office/drawing/2014/main" id="{789E71F9-0E8D-4A52-8D6F-EFB18AD149A3}"/>
                  </a:ext>
                </a:extLst>
              </p:cNvPr>
              <p:cNvPicPr/>
              <p:nvPr/>
            </p:nvPicPr>
            <p:blipFill>
              <a:blip r:embed="rId4"/>
              <a:stretch>
                <a:fillRect/>
              </a:stretch>
            </p:blipFill>
            <p:spPr>
              <a:xfrm>
                <a:off x="3911183" y="338618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E520687D-A346-48F1-8BD4-2ED35E5BDC9A}"/>
                  </a:ext>
                </a:extLst>
              </p14:cNvPr>
              <p14:cNvContentPartPr/>
              <p14:nvPr/>
            </p14:nvContentPartPr>
            <p14:xfrm>
              <a:off x="914183" y="1040785"/>
              <a:ext cx="360" cy="360"/>
            </p14:xfrm>
          </p:contentPart>
        </mc:Choice>
        <mc:Fallback xmlns="">
          <p:pic>
            <p:nvPicPr>
              <p:cNvPr id="6" name="Ink 5">
                <a:extLst>
                  <a:ext uri="{FF2B5EF4-FFF2-40B4-BE49-F238E27FC236}">
                    <a16:creationId xmlns:a16="http://schemas.microsoft.com/office/drawing/2014/main" id="{E520687D-A346-48F1-8BD4-2ED35E5BDC9A}"/>
                  </a:ext>
                </a:extLst>
              </p:cNvPr>
              <p:cNvPicPr/>
              <p:nvPr/>
            </p:nvPicPr>
            <p:blipFill>
              <a:blip r:embed="rId4"/>
              <a:stretch>
                <a:fillRect/>
              </a:stretch>
            </p:blipFill>
            <p:spPr>
              <a:xfrm>
                <a:off x="905543" y="1032145"/>
                <a:ext cx="18000" cy="18000"/>
              </a:xfrm>
              <a:prstGeom prst="rect">
                <a:avLst/>
              </a:prstGeom>
            </p:spPr>
          </p:pic>
        </mc:Fallback>
      </mc:AlternateContent>
    </p:spTree>
    <p:extLst>
      <p:ext uri="{BB962C8B-B14F-4D97-AF65-F5344CB8AC3E}">
        <p14:creationId xmlns:p14="http://schemas.microsoft.com/office/powerpoint/2010/main" val="4129161270"/>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start eating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6018EEF-C755-4A42-A8DA-C8F944D021AB}"/>
                  </a:ext>
                </a:extLst>
              </p14:cNvPr>
              <p14:cNvContentPartPr/>
              <p14:nvPr/>
            </p14:nvContentPartPr>
            <p14:xfrm>
              <a:off x="2209103" y="1050145"/>
              <a:ext cx="360" cy="360"/>
            </p14:xfrm>
          </p:contentPart>
        </mc:Choice>
        <mc:Fallback xmlns="">
          <p:pic>
            <p:nvPicPr>
              <p:cNvPr id="5" name="Ink 4">
                <a:extLst>
                  <a:ext uri="{FF2B5EF4-FFF2-40B4-BE49-F238E27FC236}">
                    <a16:creationId xmlns:a16="http://schemas.microsoft.com/office/drawing/2014/main" id="{36018EEF-C755-4A42-A8DA-C8F944D021AB}"/>
                  </a:ext>
                </a:extLst>
              </p:cNvPr>
              <p:cNvPicPr/>
              <p:nvPr/>
            </p:nvPicPr>
            <p:blipFill>
              <a:blip r:embed="rId4"/>
              <a:stretch>
                <a:fillRect/>
              </a:stretch>
            </p:blipFill>
            <p:spPr>
              <a:xfrm>
                <a:off x="2200103" y="104114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58F6223A-3628-4B3A-A7D5-434612051931}"/>
                  </a:ext>
                </a:extLst>
              </p14:cNvPr>
              <p14:cNvContentPartPr/>
              <p14:nvPr/>
            </p14:nvContentPartPr>
            <p14:xfrm>
              <a:off x="1394063" y="1837825"/>
              <a:ext cx="360" cy="360"/>
            </p14:xfrm>
          </p:contentPart>
        </mc:Choice>
        <mc:Fallback xmlns="">
          <p:pic>
            <p:nvPicPr>
              <p:cNvPr id="6" name="Ink 5">
                <a:extLst>
                  <a:ext uri="{FF2B5EF4-FFF2-40B4-BE49-F238E27FC236}">
                    <a16:creationId xmlns:a16="http://schemas.microsoft.com/office/drawing/2014/main" id="{58F6223A-3628-4B3A-A7D5-434612051931}"/>
                  </a:ext>
                </a:extLst>
              </p:cNvPr>
              <p:cNvPicPr/>
              <p:nvPr/>
            </p:nvPicPr>
            <p:blipFill>
              <a:blip r:embed="rId4"/>
              <a:stretch>
                <a:fillRect/>
              </a:stretch>
            </p:blipFill>
            <p:spPr>
              <a:xfrm>
                <a:off x="1385063" y="1828825"/>
                <a:ext cx="18000" cy="18000"/>
              </a:xfrm>
              <a:prstGeom prst="rect">
                <a:avLst/>
              </a:prstGeom>
            </p:spPr>
          </p:pic>
        </mc:Fallback>
      </mc:AlternateContent>
    </p:spTree>
    <p:extLst>
      <p:ext uri="{BB962C8B-B14F-4D97-AF65-F5344CB8AC3E}">
        <p14:creationId xmlns:p14="http://schemas.microsoft.com/office/powerpoint/2010/main" val="32163847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(id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(&amp;fork[i+1]);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(id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(&amp;fork[i+1]);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B634635-D518-42BB-8436-3A1B83B43E2B}"/>
                  </a:ext>
                </a:extLst>
              </p14:cNvPr>
              <p14:cNvContentPartPr/>
              <p14:nvPr/>
            </p14:nvContentPartPr>
            <p14:xfrm>
              <a:off x="12022703" y="1901224"/>
              <a:ext cx="360" cy="360"/>
            </p14:xfrm>
          </p:contentPart>
        </mc:Choice>
        <mc:Fallback xmlns="">
          <p:pic>
            <p:nvPicPr>
              <p:cNvPr id="5" name="Ink 4">
                <a:extLst>
                  <a:ext uri="{FF2B5EF4-FFF2-40B4-BE49-F238E27FC236}">
                    <a16:creationId xmlns:a16="http://schemas.microsoft.com/office/drawing/2014/main" id="{9B634635-D518-42BB-8436-3A1B83B43E2B}"/>
                  </a:ext>
                </a:extLst>
              </p:cNvPr>
              <p:cNvPicPr/>
              <p:nvPr/>
            </p:nvPicPr>
            <p:blipFill>
              <a:blip r:embed="rId4"/>
              <a:stretch>
                <a:fillRect/>
              </a:stretch>
            </p:blipFill>
            <p:spPr>
              <a:xfrm>
                <a:off x="12013703" y="1892224"/>
                <a:ext cx="18000" cy="18000"/>
              </a:xfrm>
              <a:prstGeom prst="rect">
                <a:avLst/>
              </a:prstGeom>
            </p:spPr>
          </p:pic>
        </mc:Fallback>
      </mc:AlternateContent>
    </p:spTree>
    <p:extLst>
      <p:ext uri="{BB962C8B-B14F-4D97-AF65-F5344CB8AC3E}">
        <p14:creationId xmlns:p14="http://schemas.microsoft.com/office/powerpoint/2010/main" val="2384171083"/>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monitor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F8B6B-09C6-4B2E-B494-CC70B8446BB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CA92F5F-8D24-42BD-8343-E1EBDC19AC2B}"/>
              </a:ext>
            </a:extLst>
          </p:cNvPr>
          <p:cNvSpPr>
            <a:spLocks noGrp="1"/>
          </p:cNvSpPr>
          <p:nvPr>
            <p:ph idx="1"/>
          </p:nvPr>
        </p:nvSpPr>
        <p:spPr/>
        <p:txBody>
          <a:bodyPr/>
          <a:lstStyle/>
          <a:p>
            <a:endParaRPr lang="en-US"/>
          </a:p>
        </p:txBody>
      </p:sp>
      <p:sp>
        <p:nvSpPr>
          <p:cNvPr id="4" name="Plassholder for innhold 2">
            <a:extLst>
              <a:ext uri="{FF2B5EF4-FFF2-40B4-BE49-F238E27FC236}">
                <a16:creationId xmlns:a16="http://schemas.microsoft.com/office/drawing/2014/main" id="{380127AC-0DB2-4AED-AA1A-25113A77F15F}"/>
              </a:ext>
            </a:extLst>
          </p:cNvPr>
          <p:cNvSpPr txBox="1">
            <a:spLocks/>
          </p:cNvSpPr>
          <p:nvPr/>
        </p:nvSpPr>
        <p:spPr bwMode="auto">
          <a:xfrm>
            <a:off x="685800" y="762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
        <p:nvSpPr>
          <p:cNvPr id="5" name="Plassholder for innhold 2">
            <a:extLst>
              <a:ext uri="{FF2B5EF4-FFF2-40B4-BE49-F238E27FC236}">
                <a16:creationId xmlns:a16="http://schemas.microsoft.com/office/drawing/2014/main" id="{CB280062-9A51-4184-B09C-7BF01B969697}"/>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CD639053-B90A-438E-8931-B1BB3FF18AE4}"/>
              </a:ext>
            </a:extLst>
          </p:cNvPr>
          <p:cNvSpPr txBox="1"/>
          <p:nvPr/>
        </p:nvSpPr>
        <p:spPr>
          <a:xfrm>
            <a:off x="3239839" y="1752600"/>
            <a:ext cx="2833276"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Semaphore-based solution</a:t>
            </a:r>
          </a:p>
        </p:txBody>
      </p:sp>
      <p:sp>
        <p:nvSpPr>
          <p:cNvPr id="9" name="TextBox 8">
            <a:extLst>
              <a:ext uri="{FF2B5EF4-FFF2-40B4-BE49-F238E27FC236}">
                <a16:creationId xmlns:a16="http://schemas.microsoft.com/office/drawing/2014/main" id="{692A1FB2-3A01-46B4-80FE-EA3ABD995E4B}"/>
              </a:ext>
            </a:extLst>
          </p:cNvPr>
          <p:cNvSpPr txBox="1"/>
          <p:nvPr/>
        </p:nvSpPr>
        <p:spPr>
          <a:xfrm>
            <a:off x="9386259" y="1752600"/>
            <a:ext cx="2500941"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Monitor-based solution</a:t>
            </a:r>
          </a:p>
        </p:txBody>
      </p:sp>
    </p:spTree>
    <p:extLst>
      <p:ext uri="{BB962C8B-B14F-4D97-AF65-F5344CB8AC3E}">
        <p14:creationId xmlns:p14="http://schemas.microsoft.com/office/powerpoint/2010/main" val="60675062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mutex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 (mutex lock released)</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96462</TotalTime>
  <Pages>60</Pages>
  <Words>13879</Words>
  <Application>Microsoft Office PowerPoint</Application>
  <PresentationFormat>Widescreen</PresentationFormat>
  <Paragraphs>1477</Paragraphs>
  <Slides>53</Slides>
  <Notes>42</Notes>
  <HiddenSlides>0</HiddenSlides>
  <MMClips>0</MMClips>
  <ScaleCrop>false</ScaleCrop>
  <HeadingPairs>
    <vt:vector size="6" baseType="variant">
      <vt:variant>
        <vt:lpstr>Fonts Used</vt:lpstr>
      </vt:variant>
      <vt:variant>
        <vt:i4>14</vt:i4>
      </vt:variant>
      <vt:variant>
        <vt:lpstr>Theme</vt:lpstr>
      </vt:variant>
      <vt:variant>
        <vt:i4>2</vt:i4>
      </vt:variant>
      <vt:variant>
        <vt:lpstr>Slide Titles</vt:lpstr>
      </vt:variant>
      <vt:variant>
        <vt:i4>53</vt:i4>
      </vt:variant>
    </vt:vector>
  </HeadingPairs>
  <TitlesOfParts>
    <vt:vector size="69" baseType="lpstr">
      <vt:lpstr>Arial</vt:lpstr>
      <vt:lpstr>Calibri</vt:lpstr>
      <vt:lpstr>Comic Sans MS</vt:lpstr>
      <vt:lpstr>Consolas</vt:lpstr>
      <vt:lpstr>Courier New</vt:lpstr>
      <vt:lpstr>gg sans</vt:lpstr>
      <vt:lpstr>Gill Sans</vt:lpstr>
      <vt:lpstr>Gill Sans Light</vt:lpstr>
      <vt:lpstr>Google Sans</vt:lpstr>
      <vt:lpstr>Helvetica</vt:lpstr>
      <vt:lpstr>inherit</vt:lpstr>
      <vt:lpstr>Menlo</vt:lpstr>
      <vt:lpstr>Times New Roman</vt:lpstr>
      <vt:lpstr>Wingdings</vt:lpstr>
      <vt:lpstr>Office</vt:lpstr>
      <vt:lpstr>1_Office</vt:lpstr>
      <vt:lpstr>CSC 112: Computer Operating Systems Lecture 3  Synchronization</vt:lpstr>
      <vt:lpstr>Outline</vt:lpstr>
      <vt:lpstr>Different Types of Concurrencies</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pthreads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 Monitor with Condition Variables (CV)</vt:lpstr>
      <vt:lpstr> Monitor with Condition Variables (CV)</vt:lpstr>
      <vt:lpstr>CV Common Usage Pattern</vt:lpstr>
      <vt:lpstr>P/C Problem with Condition Variable</vt:lpstr>
      <vt:lpstr>While vs. if for Checking Boolean flag</vt:lpstr>
      <vt:lpstr>Mesa monitors</vt:lpstr>
      <vt:lpstr>The Thread Join Problem</vt:lpstr>
      <vt:lpstr>Thread Join with Semaphore</vt:lpstr>
      <vt:lpstr>Thread Join with Condition Variable</vt:lpstr>
      <vt:lpstr>Thread Join with Condition Variables: Incorrect</vt:lpstr>
      <vt:lpstr>Dinning Philosophers</vt:lpstr>
      <vt:lpstr>Semaphore-based Solution: Deadlock</vt:lpstr>
      <vt:lpstr>Semaphore-based Solution 0: Global Lock</vt:lpstr>
      <vt:lpstr>Semaphore-based Solution: Deadlock</vt:lpstr>
      <vt:lpstr>Semaphore-based Solution I</vt:lpstr>
      <vt:lpstr>Semaphore-based Solution II</vt:lpstr>
      <vt:lpstr>Semaphore-based Solution III</vt:lpstr>
      <vt:lpstr>Semaphore-based Solution IV</vt:lpstr>
      <vt:lpstr>Monitor-based Solution</vt:lpstr>
      <vt:lpstr>PowerPoint Presentation</vt:lpstr>
      <vt:lpstr>Semaphores vs. Monitors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1410</cp:revision>
  <cp:lastPrinted>2022-03-10T08:20:00Z</cp:lastPrinted>
  <dcterms:created xsi:type="dcterms:W3CDTF">1995-08-12T11:37:26Z</dcterms:created>
  <dcterms:modified xsi:type="dcterms:W3CDTF">2026-09-30T20:59:40Z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