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ink/ink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3.xml" ContentType="application/inkml+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ink/ink4.xml" ContentType="application/inkml+xml"/>
  <Override PartName="/ppt/ink/ink5.xml" ContentType="application/inkml+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ink/ink6.xml" ContentType="application/inkml+xml"/>
  <Override PartName="/ppt/notesSlides/notesSlide38.xml" ContentType="application/vnd.openxmlformats-officedocument.presentationml.notesSlide+xml"/>
  <Override PartName="/ppt/ink/ink7.xml" ContentType="application/inkml+xml"/>
  <Override PartName="/ppt/ink/ink8.xml" ContentType="application/inkml+xml"/>
  <Override PartName="/ppt/notesSlides/notesSlide39.xml" ContentType="application/vnd.openxmlformats-officedocument.presentationml.notesSlide+xml"/>
  <Override PartName="/ppt/ink/ink9.xml" ContentType="application/inkml+xml"/>
  <Override PartName="/ppt/ink/ink10.xml" ContentType="application/inkml+xml"/>
  <Override PartName="/ppt/notesSlides/notesSlide40.xml" ContentType="application/vnd.openxmlformats-officedocument.presentationml.notesSlide+xml"/>
  <Override PartName="/ppt/ink/ink11.xml" ContentType="application/inkml+xml"/>
  <Override PartName="/ppt/ink/ink12.xml" ContentType="application/inkml+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ink/ink13.xml" ContentType="application/inkml+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60"/>
  </p:notesMasterIdLst>
  <p:handoutMasterIdLst>
    <p:handoutMasterId r:id="rId61"/>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1410" r:id="rId40"/>
    <p:sldId id="1411" r:id="rId41"/>
    <p:sldId id="371" r:id="rId42"/>
    <p:sldId id="1396" r:id="rId43"/>
    <p:sldId id="396" r:id="rId44"/>
    <p:sldId id="1397" r:id="rId45"/>
    <p:sldId id="1381" r:id="rId46"/>
    <p:sldId id="1388" r:id="rId47"/>
    <p:sldId id="1392" r:id="rId48"/>
    <p:sldId id="1390" r:id="rId49"/>
    <p:sldId id="1391" r:id="rId50"/>
    <p:sldId id="1385" r:id="rId51"/>
    <p:sldId id="1395" r:id="rId52"/>
    <p:sldId id="1386" r:id="rId53"/>
    <p:sldId id="1394" r:id="rId54"/>
    <p:sldId id="1407" r:id="rId55"/>
    <p:sldId id="1356" r:id="rId56"/>
    <p:sldId id="1408" r:id="rId57"/>
    <p:sldId id="1409" r:id="rId58"/>
    <p:sldId id="1406" r:id="rId59"/>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25" autoAdjust="0"/>
  </p:normalViewPr>
  <p:slideViewPr>
    <p:cSldViewPr>
      <p:cViewPr varScale="1">
        <p:scale>
          <a:sx n="101" d="100"/>
          <a:sy n="101" d="100"/>
        </p:scale>
        <p:origin x="210" y="78"/>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microsoft.com/office/2016/11/relationships/changesInfo" Target="changesInfos/changesInfo1.xml"/><Relationship Id="rId5" Type="http://schemas.openxmlformats.org/officeDocument/2006/relationships/slide" Target="slides/slide3.xml"/><Relationship Id="rId61" Type="http://schemas.openxmlformats.org/officeDocument/2006/relationships/handoutMaster" Target="handoutMasters/handoutMaster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microsoft.com/office/2015/10/relationships/revisionInfo" Target="revisionInfo.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469"/>
    </inkml:context>
    <inkml:brush xml:id="br0">
      <inkml:brushProperty name="width" value="0.05" units="cm"/>
      <inkml:brushProperty name="height" value="0.05" units="cm"/>
      <inkml:brushProperty name="ignorePressure" value="1"/>
    </inkml:brush>
  </inkml:definitions>
  <inkml:trace contextRef="#ctx0" brushRef="#br0">11 11,'-5'-4,"-1"-2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86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36:35.84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1.596"/>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2.179"/>
    </inkml:context>
    <inkml:brush xml:id="br0">
      <inkml:brushProperty name="width" value="0.05" units="cm"/>
      <inkml:brushProperty name="height" value="0.05" units="cm"/>
      <inkml:brushProperty name="ignorePressure" value="1"/>
    </inkml:brush>
  </inkml:definitions>
  <inkml:trace contextRef="#ctx0" brushRef="#br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1:24:45.9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135"/>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468"/>
    </inkml:context>
    <inkml:brush xml:id="br0">
      <inkml:brushProperty name="width" value="0.05" units="cm"/>
      <inkml:brushProperty name="height" value="0.05" units="cm"/>
      <inkml:brushProperty name="ignorePressure" value="1"/>
    </inkml:brush>
  </inkml:definitions>
  <inkml:trace contextRef="#ctx0" brushRef="#br0">0 0</inkml:trace>
  <inkml:trace contextRef="#ctx0" brushRef="#br0" timeOffset="1">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2.143"/>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5.13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2.92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5.04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26:46.443"/>
    </inkml:context>
    <inkml:brush xml:id="br0">
      <inkml:brushProperty name="width" value="0.05" units="cm"/>
      <inkml:brushProperty name="height" value="0.05" units="cm"/>
      <inkml:brushProperty name="ignorePressure" value="1"/>
    </inkml:brush>
  </inkml:definitions>
  <inkml:trace contextRef="#ctx0" brushRef="#br0">0 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A good lock:</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 = 0: No threads have requested the lock yet.</a:t>
            </a:r>
          </a:p>
          <a:p>
            <a:pPr>
              <a:buFont typeface="Arial" panose="020B0604020202020204" pitchFamily="34" charset="0"/>
              <a:buChar char="•"/>
            </a:pPr>
            <a:r>
              <a:rPr lang="en-GB" dirty="0"/>
              <a:t>turn = 0: ticket 0 is being served (the thread holding ticket 0 may enter the critical section).</a:t>
            </a:r>
          </a:p>
          <a:p>
            <a:r>
              <a:rPr lang="en-GB" b="1" dirty="0"/>
              <a:t>Step-by-Step Execution:</a:t>
            </a:r>
          </a:p>
          <a:p>
            <a:pPr>
              <a:buFont typeface="+mj-lt"/>
              <a:buAutoNum type="arabicPeriod"/>
            </a:pPr>
            <a:r>
              <a:rPr lang="en-GB" b="1" dirty="0"/>
              <a:t>Thread A Calls lock()</a:t>
            </a:r>
            <a:r>
              <a:rPr lang="en-GB" dirty="0"/>
              <a:t>: Thread A increments ticket to 1.</a:t>
            </a:r>
          </a:p>
          <a:p>
            <a:pPr>
              <a:buFont typeface="+mj-lt"/>
              <a:buAutoNum type="arabicPeriod"/>
            </a:pPr>
            <a:r>
              <a:rPr lang="en-GB" dirty="0"/>
              <a:t>Thread A's ticket number is 0 (the value of ticket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A Calls lock() again</a:t>
            </a:r>
            <a:r>
              <a:rPr lang="en-GB" dirty="0"/>
              <a:t>: Thread A increments ticket to 4; its new ticket number is 3. Since turn = 1, Thread A spins, waiting for its turn.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dirty="0"/>
              <a:t>Thread A stops spinning (turn = 3 matches its ticket number 3)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it's now the turn of ticket 3 (Thread A's second lock() request, see the table).</a:t>
            </a:r>
          </a:p>
          <a:p>
            <a:pPr>
              <a:buFont typeface="+mj-lt"/>
              <a:buAutoNum type="arabicPeriod"/>
            </a:pPr>
            <a:r>
              <a:rPr lang="en-GB" b="1" dirty="0"/>
              <a:t>Thread A Calls unlock()</a:t>
            </a:r>
            <a:r>
              <a:rPr lang="en-GB" dirty="0"/>
              <a:t>: Thread A increments turn to 4; no thread is waiting any more.</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err="1">
                <a:solidFill>
                  <a:srgbClr val="C5C8C6"/>
                </a:solidFill>
                <a:effectLst/>
                <a:latin typeface="inherit"/>
              </a:rPr>
              <a:t>sem_trywait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Think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Technically, examining the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pthread_cond_signal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pthread_join</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setting guard = 0 and sleep() must happen atomically (the OS does this inside the kernel). Otherwise, if sem_post() runs between guard = 0 and sleep(), it would move the thread from the wait queue to the ready queue before the thread has actually gone to sleep, and the wakeup would be lost.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computer scientist Tony Hoare; signal() immediately hands the lock (and the CPU) to the waiter, so the waited-for condition is still true when it resumes and a plain if would suffice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signal() only moves the waiter to the ready queue; the signaler keeps the lock and keeps running, so the waiter must re-check its condition when it wakes up (use while, not if).</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 (Separately, POSIX also allows spurious wakeups: cond_wait() may return without any signal, which is another reason to use while.)</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question, two answers: when thread S calls cond_signal() and thread W is waiting, who runs next?</a:t>
            </a:r>
          </a:p>
          <a:p>
            <a:r>
              <a:t>Hoare (1974): signal-and-wait. S hands the monitor lock and the CPU to W immediately and S waits on an urgent queue. When W runs, the condition S just established is still true, so 'if' is enough.</a:t>
            </a:r>
          </a:p>
          <a:p>
            <a:r>
              <a:t>Mesa (Lampson &amp; Redell, Xerox PARC, 1980): signal-and-continue. S keeps the lock and W is only moved to the ready queue. Before W re-acquires the lock, another thread may enter the monitor and change the state, so W must re-check in a while loop.</a:t>
            </a:r>
          </a:p>
          <a:p>
            <a:r>
              <a:t>Walk the 'Other' lane: in Mesa a third thread can sneak in between signal() and W's wakeup; in Hoare it cannot.</a:t>
            </a:r>
          </a:p>
          <a:p>
            <a:r>
              <a:t>Real systems (pthreads, Java) are Mesa-style, which is why every example in this lecture uses while.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trade-off: Hoare gives a stronger guarantee but costs extra context switches and is hard to implement; Mesa is cheaper and simpler, at the price of pushing the re-check onto the programmer (while loop).</a:t>
            </a:r>
          </a:p>
          <a:p>
            <a:r>
              <a:t>Brinch Hansen's variant (signal-and-exit): signal() must be the last statement of the monitor procedure, so the signaler leaves right away.</a:t>
            </a:r>
          </a:p>
          <a:p>
            <a:r>
              <a:t>A Mesa-style while loop also makes spurious wakeups and broadcast() harmless; this is why pthreads allows spurious wakeups.</a:t>
            </a:r>
          </a:p>
          <a:p>
            <a:r>
              <a:t>Tie back to 'While vs. If' and 'Mesa Monitors' slides.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 and is blocked</a:t>
            </a:r>
            <a:r>
              <a:rPr lang="en-GB" sz="1200" b="0" kern="0" dirty="0"/>
              <a:t>;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 when parent thread calls </a:t>
            </a:r>
            <a:r>
              <a:rPr lang="en-GB" sz="1200" b="0" kern="0" dirty="0" err="1"/>
              <a:t>sem_wait</a:t>
            </a:r>
            <a:r>
              <a:rPr lang="en-GB" sz="1200" b="0" kern="0" dirty="0"/>
              <a:t>() in </a:t>
            </a:r>
            <a:r>
              <a:rPr lang="en-GB" sz="1200" b="0" kern="0" dirty="0" err="1"/>
              <a:t>thr_join(), 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p:txBody>
      </p:sp>
    </p:spTree>
    <p:extLst>
      <p:ext uri="{BB962C8B-B14F-4D97-AF65-F5344CB8AC3E}">
        <p14:creationId xmlns:p14="http://schemas.microsoft.com/office/powerpoint/2010/main" val="24792870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p:txBody>
      </p:sp>
    </p:spTree>
    <p:extLst>
      <p:ext uri="{BB962C8B-B14F-4D97-AF65-F5344CB8AC3E}">
        <p14:creationId xmlns:p14="http://schemas.microsoft.com/office/powerpoint/2010/main" val="35355186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(0) before left fork (4).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1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Note that sem_wait(&amp;self[i]) is called after releasing the mutex: if a philosopher slept while holding the mutex, no neighbor could run putdown() to wake it up (deadlock). The sem_post() done in test() is remembered by the semaphore even if philosopher i has not reached sem_wait(&amp;self[i]) yet.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this solution is deadlock-free, a philosopher may still starve if its two neighbors keep taking turns eating.</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 message: a semaphore is a counter with a wait queue (state + scheduling in one primitive); a monitor separates the two jobs: mutex for mutual exclusion, condition variables for waiting.</a:t>
            </a:r>
          </a:p>
          <a:p>
            <a:r>
              <a:t>Key difference to stress: memory. sem_post() before sem_wait() is remembered (value goes 0 -&gt; 1), cond_signal() before cond_wait() is lost, which is why the thread-join example needs the done flag.</a:t>
            </a:r>
          </a:p>
          <a:p>
            <a:r>
              <a:t>Ownership: a binary semaphore is not the same as a mutex. Any thread may post a semaphore, but only the owner may unlock a mutex (see 'Two Uses of Semaphores').</a:t>
            </a:r>
          </a:p>
          <a:p>
            <a:r>
              <a:t>Tie back: P/C with semaphores (mutex outside emptySlots -&gt; deadlock) vs. cond_wait releasing the mutex.</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are equally expressive. Left: a semaphore built from one mutex, one condition variable and a counter (the while loop handles Mesa semantics). Building a monitor out of semaphores is possible but clumsier.</a:t>
            </a:r>
          </a:p>
          <a:p>
            <a:r>
              <a:t>Rule of thumb: counting / signaling -&gt; semaphore; waiting on a predicate over shared state -&gt; monitor.</a:t>
            </a:r>
          </a:p>
          <a:p>
            <a:r>
              <a:t>The table maps the three examples already covered: thread join, bounded buffer, dining philosophers.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customXml" Target="../ink/ink5.xml"/><Relationship Id="rId5" Type="http://schemas.openxmlformats.org/officeDocument/2006/relationships/image" Target="../media/image23.png"/><Relationship Id="rId4" Type="http://schemas.openxmlformats.org/officeDocument/2006/relationships/customXml" Target="../ink/ink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7.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customXml" Target="../ink/ink8.xml"/><Relationship Id="rId5" Type="http://schemas.openxmlformats.org/officeDocument/2006/relationships/image" Target="../media/image23.png"/><Relationship Id="rId4" Type="http://schemas.openxmlformats.org/officeDocument/2006/relationships/customXml" Target="../ink/ink7.xml"/></Relationships>
</file>

<file path=ppt/slides/_rels/slide48.xml.rels><?xml version="1.0" encoding="UTF-8" standalone="yes"?>
<Relationships xmlns="http://schemas.openxmlformats.org/package/2006/relationships"><Relationship Id="rId3" Type="http://schemas.openxmlformats.org/officeDocument/2006/relationships/customXml" Target="../ink/ink9.xml"/><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customXml" Target="../ink/ink10.xml"/><Relationship Id="rId4" Type="http://schemas.openxmlformats.org/officeDocument/2006/relationships/image" Target="../media/image23.png"/></Relationships>
</file>

<file path=ppt/slides/_rels/slide49.xml.rels><?xml version="1.0" encoding="UTF-8" standalone="yes"?>
<Relationships xmlns="http://schemas.openxmlformats.org/package/2006/relationships"><Relationship Id="rId3" Type="http://schemas.openxmlformats.org/officeDocument/2006/relationships/customXml" Target="../ink/ink11.xml"/><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customXml" Target="../ink/ink12.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customXml" Target="../ink/ink13.xml"/><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www.youtube.com/watch?v=DvF3AsTglUU" TargetMode="External"/><Relationship Id="rId2" Type="http://schemas.openxmlformats.org/officeDocument/2006/relationships/hyperlink" Target="https://www.youtube.com/playlist?list=PLbu9W4c-C0iAGUc7dQlqXIsXkGnHMaTEz" TargetMode="External"/><Relationship Id="rId1" Type="http://schemas.openxmlformats.org/officeDocument/2006/relationships/slideLayout" Target="../slideLayouts/slideLayout2.xml"/><Relationship Id="rId5" Type="http://schemas.openxmlformats.org/officeDocument/2006/relationships/hyperlink" Target="https://cs162.org" TargetMode="External"/><Relationship Id="rId4" Type="http://schemas.openxmlformats.org/officeDocument/2006/relationships/hyperlink" Target="https://pages.cs.wisc.edu/~remzi/OSTE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Producer/Consumer Problem</a:t>
            </a:r>
            <a:endParaRPr lang="nb-NO" altLang="zh-CN" dirty="0"/>
          </a:p>
          <a:p>
            <a:r>
              <a:rPr lang="en-US" altLang="zh-CN" dirty="0"/>
              <a:t>Deadlock</a:t>
            </a:r>
          </a:p>
          <a:p>
            <a:r>
              <a:rPr lang="en-US" altLang="zh-CN" dirty="0"/>
              <a:t>Monitors</a:t>
            </a:r>
          </a:p>
          <a:p>
            <a:r>
              <a:rPr lang="en-US" altLang="zh-CN" dirty="0"/>
              <a:t>Thread Join Problem</a:t>
            </a:r>
          </a:p>
          <a:p>
            <a:r>
              <a:rPr lang="en-US" altLang="zh-CN" dirty="0"/>
              <a:t>Dining Philosophers</a:t>
            </a:r>
          </a:p>
          <a:p>
            <a:r>
              <a:rPr lang="en-US" altLang="zh-CN" dirty="0"/>
              <a:t>Semaphores vs. Monitors</a:t>
            </a:r>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Concurrency</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ldr</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str</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str</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unresponsive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while(flag) spin-wait loop, it is preempted/interrupted by Thread 2, which also reads flag==0 and exits the while(flag</a:t>
            </a:r>
            <a:r>
              <a:rPr lang="en-US" altLang="zh-CN"/>
              <a:t>) spin-wait </a:t>
            </a:r>
            <a:r>
              <a:rPr lang="en-US" altLang="zh-CN" dirty="0"/>
              <a:t>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1"/>
            <a:ext cx="5776961" cy="3513992"/>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5776961" y="3335779"/>
            <a:ext cx="6186506" cy="2686051"/>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
        <p:nvSpPr>
          <p:cNvPr id="9" name="TextBox 8">
            <a:extLst>
              <a:ext uri="{FF2B5EF4-FFF2-40B4-BE49-F238E27FC236}">
                <a16:creationId xmlns:a16="http://schemas.microsoft.com/office/drawing/2014/main" id="{8436BA8F-FB9B-44B3-B855-08E43B6D2417}"/>
              </a:ext>
            </a:extLst>
          </p:cNvPr>
          <p:cNvSpPr txBox="1"/>
          <p:nvPr/>
        </p:nvSpPr>
        <p:spPr>
          <a:xfrm>
            <a:off x="7492126" y="4229827"/>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013C4B83-14BD-4F88-8114-350674B3E77C}"/>
              </a:ext>
            </a:extLst>
          </p:cNvPr>
          <p:cNvSpPr txBox="1"/>
          <p:nvPr/>
        </p:nvSpPr>
        <p:spPr>
          <a:xfrm>
            <a:off x="10506547" y="4931118"/>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returns variable old, all in one atomic operation</a:t>
            </a:r>
          </a:p>
          <a:p>
            <a:pPr lvl="1"/>
            <a:r>
              <a:rPr lang="en-US" dirty="0"/>
              <a:t>If </a:t>
            </a:r>
            <a:r>
              <a:rPr lang="en-US" altLang="zh-CN" dirty="0"/>
              <a:t>lock-&gt;flag==0, then TestAndSet() sets it to 1 and returns old==0, so the thread exits the while loop and enters critical section</a:t>
            </a:r>
          </a:p>
          <a:p>
            <a:pPr lvl="1"/>
            <a:r>
              <a:rPr lang="en-US" dirty="0"/>
              <a:t>If </a:t>
            </a:r>
            <a:r>
              <a:rPr lang="en-US" altLang="zh-CN" dirty="0"/>
              <a:t>lock-&gt;flag==1, then TestAndSet() returns old==1, so the thread spin-waits in the while loop and does not enter critical section</a:t>
            </a:r>
          </a:p>
          <a:p>
            <a:r>
              <a:rPr lang="en-US" dirty="0"/>
              <a:t>If multiple threads call TAS when lock-&gt;flag==0, only one thread will see lock-&gt;flag==0, set it to 1 and enter the critical section, and all the other threads will see lock-&gt;flag==1 and spin-wait.</a:t>
            </a:r>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26895" cy="6104027"/>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lock-&gt;flag into variable old, compares old with expected (0), and if they are equal (lock-&gt;flag==0), sets lock-&gt;flag to 1, then returns variable old, all in one atomic operation</a:t>
            </a:r>
          </a:p>
          <a:p>
            <a:pPr lvl="1"/>
            <a:r>
              <a:rPr lang="en-US" dirty="0"/>
              <a:t>If </a:t>
            </a:r>
            <a:r>
              <a:rPr lang="en-US" altLang="zh-CN" dirty="0"/>
              <a:t>lock-&gt;flag==0, then CompareAndSwap() sets it to 1 and returns old==0, so the thread exits the while loop and enters critical section</a:t>
            </a:r>
          </a:p>
          <a:p>
            <a:pPr lvl="1"/>
            <a:r>
              <a:rPr lang="en-US" dirty="0"/>
              <a:t>If </a:t>
            </a:r>
            <a:r>
              <a:rPr lang="en-US" altLang="zh-CN" dirty="0"/>
              <a:t>lock-&gt;flag==1, then CompareAndSwap()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5672" y="807595"/>
            <a:ext cx="7067551" cy="3002405"/>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5" name="Table 4">
            <a:extLst>
              <a:ext uri="{FF2B5EF4-FFF2-40B4-BE49-F238E27FC236}">
                <a16:creationId xmlns:a16="http://schemas.microsoft.com/office/drawing/2014/main" id="{33BEAD6B-A370-59FC-9BBD-6EABA603B5A2}"/>
              </a:ext>
            </a:extLst>
          </p:cNvPr>
          <p:cNvGraphicFramePr>
            <a:graphicFrameLocks noGrp="1"/>
          </p:cNvGraphicFramePr>
          <p:nvPr>
            <p:extLst>
              <p:ext uri="{D42A27DB-BD31-4B8C-83A1-F6EECF244321}">
                <p14:modId xmlns:p14="http://schemas.microsoft.com/office/powerpoint/2010/main" val="1936979510"/>
              </p:ext>
            </p:extLst>
          </p:nvPr>
        </p:nvGraphicFramePr>
        <p:xfrm>
          <a:off x="5715000" y="3887697"/>
          <a:ext cx="5921023" cy="2286000"/>
        </p:xfrm>
        <a:graphic>
          <a:graphicData uri="http://schemas.openxmlformats.org/drawingml/2006/table">
            <a:tbl>
              <a:tblPr>
                <a:tableStyleId>{5940675A-B579-460E-94D1-54222C63F5DA}</a:tableStyleId>
              </a:tblPr>
              <a:tblGrid>
                <a:gridCol w="1143001">
                  <a:extLst>
                    <a:ext uri="{9D8B030D-6E8A-4147-A177-3AD203B41FA5}">
                      <a16:colId xmlns:a16="http://schemas.microsoft.com/office/drawing/2014/main" val="604406778"/>
                    </a:ext>
                  </a:extLst>
                </a:gridCol>
                <a:gridCol w="2133599">
                  <a:extLst>
                    <a:ext uri="{9D8B030D-6E8A-4147-A177-3AD203B41FA5}">
                      <a16:colId xmlns:a16="http://schemas.microsoft.com/office/drawing/2014/main" val="129188437"/>
                    </a:ext>
                  </a:extLst>
                </a:gridCol>
                <a:gridCol w="2644423">
                  <a:extLst>
                    <a:ext uri="{9D8B030D-6E8A-4147-A177-3AD203B41FA5}">
                      <a16:colId xmlns:a16="http://schemas.microsoft.com/office/drawing/2014/main" val="3490511012"/>
                    </a:ext>
                  </a:extLst>
                </a:gridCol>
              </a:tblGrid>
              <a:tr h="0">
                <a:tc>
                  <a:txBody>
                    <a:bodyPr/>
                    <a:lstStyle/>
                    <a:p>
                      <a:pPr>
                        <a:buNone/>
                      </a:pPr>
                      <a:endParaRPr lang="zh-CN" altLang="en-US" sz="1800" b="1">
                        <a:solidFill>
                          <a:schemeClr val="tx1"/>
                        </a:solidFill>
                        <a:latin typeface="Gill Sans" charset="0"/>
                        <a:ea typeface="ＭＳ Ｐゴシック" charset="0"/>
                      </a:endParaRPr>
                    </a:p>
                  </a:txBody>
                  <a:tcPr anchor="ctr">
                    <a:solidFill>
                      <a:schemeClr val="bg1">
                        <a:lumMod val="85000"/>
                      </a:schemeClr>
                    </a:solidFill>
                  </a:tcPr>
                </a:tc>
                <a:tc>
                  <a:txBody>
                    <a:bodyPr/>
                    <a:lstStyle/>
                    <a:p>
                      <a:pPr>
                        <a:buNone/>
                      </a:pPr>
                      <a:r>
                        <a:rPr lang="en-US" altLang="zh-CN" sz="1800" b="1" dirty="0">
                          <a:solidFill>
                            <a:schemeClr val="tx1"/>
                          </a:solidFill>
                          <a:latin typeface="Gill Sans" charset="0"/>
                          <a:ea typeface="ＭＳ Ｐゴシック" charset="0"/>
                        </a:rPr>
                        <a:t>Test-and-set</a:t>
                      </a:r>
                    </a:p>
                  </a:txBody>
                  <a:tcPr anchor="ctr">
                    <a:solidFill>
                      <a:schemeClr val="bg1">
                        <a:lumMod val="85000"/>
                      </a:schemeClr>
                    </a:solidFill>
                  </a:tcPr>
                </a:tc>
                <a:tc>
                  <a:txBody>
                    <a:bodyPr/>
                    <a:lstStyle/>
                    <a:p>
                      <a:pPr>
                        <a:buNone/>
                      </a:pPr>
                      <a:r>
                        <a:rPr lang="en-US" altLang="zh-CN" sz="1800" b="1" dirty="0">
                          <a:solidFill>
                            <a:schemeClr val="tx1"/>
                          </a:solidFill>
                          <a:latin typeface="Gill Sans" charset="0"/>
                          <a:ea typeface="ＭＳ Ｐゴシック" charset="0"/>
                        </a:rPr>
                        <a:t>Compare-and-swap</a:t>
                      </a:r>
                    </a:p>
                  </a:txBody>
                  <a:tcPr anchor="ctr">
                    <a:solidFill>
                      <a:schemeClr val="bg1">
                        <a:lumMod val="85000"/>
                      </a:schemeClr>
                    </a:solidFill>
                  </a:tcPr>
                </a:tc>
                <a:extLst>
                  <a:ext uri="{0D108BD9-81ED-4DB2-BD59-A6C34878D82A}">
                    <a16:rowId xmlns:a16="http://schemas.microsoft.com/office/drawing/2014/main" val="1967937715"/>
                  </a:ext>
                </a:extLst>
              </a:tr>
              <a:tr h="0">
                <a:tc>
                  <a:txBody>
                    <a:bodyPr/>
                    <a:lstStyle/>
                    <a:p>
                      <a:pPr>
                        <a:buNone/>
                      </a:pPr>
                      <a:r>
                        <a:rPr lang="en-US" altLang="zh-CN" sz="1800">
                          <a:solidFill>
                            <a:schemeClr val="tx1"/>
                          </a:solidFill>
                          <a:latin typeface="Gill Sans" charset="0"/>
                          <a:ea typeface="ＭＳ Ｐゴシック" charset="0"/>
                        </a:rPr>
                        <a:t>Write</a:t>
                      </a:r>
                    </a:p>
                  </a:txBody>
                  <a:tcPr anchor="ctr"/>
                </a:tc>
                <a:tc>
                  <a:txBody>
                    <a:bodyPr/>
                    <a:lstStyle/>
                    <a:p>
                      <a:pPr>
                        <a:buNone/>
                      </a:pPr>
                      <a:r>
                        <a:rPr lang="en-US" altLang="zh-CN" sz="1800" dirty="0">
                          <a:solidFill>
                            <a:schemeClr val="tx1"/>
                          </a:solidFill>
                          <a:latin typeface="Gill Sans" charset="0"/>
                          <a:ea typeface="ＭＳ Ｐゴシック" charset="0"/>
                        </a:rPr>
                        <a:t>Always writes a fixed value (1)</a:t>
                      </a:r>
                    </a:p>
                  </a:txBody>
                  <a:tcPr anchor="ctr"/>
                </a:tc>
                <a:tc>
                  <a:txBody>
                    <a:bodyPr/>
                    <a:lstStyle/>
                    <a:p>
                      <a:pPr>
                        <a:buNone/>
                      </a:pPr>
                      <a:r>
                        <a:rPr lang="en-US" altLang="zh-CN" sz="1800">
                          <a:solidFill>
                            <a:schemeClr val="tx1"/>
                          </a:solidFill>
                          <a:latin typeface="Gill Sans" charset="0"/>
                          <a:ea typeface="ＭＳ Ｐゴシック" charset="0"/>
                        </a:rPr>
                        <a:t>Writes only if the value matches expected</a:t>
                      </a:r>
                    </a:p>
                  </a:txBody>
                  <a:tcPr anchor="ctr"/>
                </a:tc>
                <a:extLst>
                  <a:ext uri="{0D108BD9-81ED-4DB2-BD59-A6C34878D82A}">
                    <a16:rowId xmlns:a16="http://schemas.microsoft.com/office/drawing/2014/main" val="3446226912"/>
                  </a:ext>
                </a:extLst>
              </a:tr>
              <a:tr h="0">
                <a:tc>
                  <a:txBody>
                    <a:bodyPr/>
                    <a:lstStyle/>
                    <a:p>
                      <a:pPr>
                        <a:buNone/>
                      </a:pPr>
                      <a:r>
                        <a:rPr lang="en-US" altLang="zh-CN" sz="1800" dirty="0">
                          <a:solidFill>
                            <a:schemeClr val="tx1"/>
                          </a:solidFill>
                          <a:latin typeface="Gill Sans" charset="0"/>
                          <a:ea typeface="ＭＳ Ｐゴシック" charset="0"/>
                        </a:rPr>
                        <a:t>Operands</a:t>
                      </a:r>
                    </a:p>
                  </a:txBody>
                  <a:tcPr anchor="ctr"/>
                </a:tc>
                <a:tc>
                  <a:txBody>
                    <a:bodyPr/>
                    <a:lstStyle/>
                    <a:p>
                      <a:pPr>
                        <a:buNone/>
                      </a:pPr>
                      <a:r>
                        <a:rPr lang="en-US" altLang="zh-CN" sz="1800" dirty="0">
                          <a:solidFill>
                            <a:schemeClr val="tx1"/>
                          </a:solidFill>
                          <a:latin typeface="Gill Sans" charset="0"/>
                          <a:ea typeface="ＭＳ Ｐゴシック" charset="0"/>
                        </a:rPr>
                        <a:t>1 (the address)</a:t>
                      </a:r>
                    </a:p>
                  </a:txBody>
                  <a:tcPr anchor="ctr"/>
                </a:tc>
                <a:tc>
                  <a:txBody>
                    <a:bodyPr/>
                    <a:lstStyle/>
                    <a:p>
                      <a:pPr>
                        <a:buNone/>
                      </a:pPr>
                      <a:r>
                        <a:rPr lang="en-US" altLang="zh-CN" sz="1800" dirty="0">
                          <a:solidFill>
                            <a:schemeClr val="tx1"/>
                          </a:solidFill>
                          <a:latin typeface="Gill Sans" charset="0"/>
                          <a:ea typeface="ＭＳ Ｐゴシック" charset="0"/>
                        </a:rPr>
                        <a:t>3 (address, expected, new)</a:t>
                      </a:r>
                    </a:p>
                  </a:txBody>
                  <a:tcPr anchor="ctr"/>
                </a:tc>
                <a:extLst>
                  <a:ext uri="{0D108BD9-81ED-4DB2-BD59-A6C34878D82A}">
                    <a16:rowId xmlns:a16="http://schemas.microsoft.com/office/drawing/2014/main" val="999500498"/>
                  </a:ext>
                </a:extLst>
              </a:tr>
              <a:tr h="0">
                <a:tc>
                  <a:txBody>
                    <a:bodyPr/>
                    <a:lstStyle/>
                    <a:p>
                      <a:pPr>
                        <a:buNone/>
                      </a:pPr>
                      <a:r>
                        <a:rPr lang="en-US" altLang="zh-CN" sz="1800">
                          <a:solidFill>
                            <a:schemeClr val="tx1"/>
                          </a:solidFill>
                          <a:latin typeface="Gill Sans" charset="0"/>
                          <a:ea typeface="ＭＳ Ｐゴシック" charset="0"/>
                        </a:rPr>
                        <a:t>Typical use</a:t>
                      </a:r>
                    </a:p>
                  </a:txBody>
                  <a:tcPr anchor="ctr"/>
                </a:tc>
                <a:tc>
                  <a:txBody>
                    <a:bodyPr/>
                    <a:lstStyle/>
                    <a:p>
                      <a:pPr>
                        <a:buNone/>
                      </a:pPr>
                      <a:r>
                        <a:rPr lang="en-US" altLang="zh-CN" sz="1800">
                          <a:solidFill>
                            <a:schemeClr val="tx1"/>
                          </a:solidFill>
                          <a:latin typeface="Gill Sans" charset="0"/>
                          <a:ea typeface="ＭＳ Ｐゴシック" charset="0"/>
                        </a:rPr>
                        <a:t>Spinlocks</a:t>
                      </a:r>
                    </a:p>
                  </a:txBody>
                  <a:tcPr anchor="ctr"/>
                </a:tc>
                <a:tc>
                  <a:txBody>
                    <a:bodyPr/>
                    <a:lstStyle/>
                    <a:p>
                      <a:pPr>
                        <a:buNone/>
                      </a:pPr>
                      <a:r>
                        <a:rPr lang="en-US" altLang="zh-CN" sz="1800" dirty="0">
                          <a:solidFill>
                            <a:schemeClr val="tx1"/>
                          </a:solidFill>
                          <a:latin typeface="Gill Sans" charset="0"/>
                          <a:ea typeface="ＭＳ Ｐゴシック" charset="0"/>
                        </a:rPr>
                        <a:t>Spinlocks, lock-free stacks and queues, atomic counters</a:t>
                      </a:r>
                    </a:p>
                  </a:txBody>
                  <a:tcPr anchor="ctr"/>
                </a:tc>
                <a:extLst>
                  <a:ext uri="{0D108BD9-81ED-4DB2-BD59-A6C34878D82A}">
                    <a16:rowId xmlns:a16="http://schemas.microsoft.com/office/drawing/2014/main" val="3751134847"/>
                  </a:ext>
                </a:extLst>
              </a:tr>
            </a:tbl>
          </a:graphicData>
        </a:graphic>
      </p:graphicFrame>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off x="0" y="0"/>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9" name="Straight Arrow Connector 8">
            <a:extLst>
              <a:ext uri="{FF2B5EF4-FFF2-40B4-BE49-F238E27FC236}">
                <a16:creationId xmlns:a16="http://schemas.microsoft.com/office/drawing/2014/main" id="{758B046D-E732-48EF-893B-524395BB082A}"/>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 name="Straight Arrow Connector 9">
            <a:extLst>
              <a:ext uri="{FF2B5EF4-FFF2-40B4-BE49-F238E27FC236}">
                <a16:creationId xmlns:a16="http://schemas.microsoft.com/office/drawing/2014/main" id="{E2276F8C-BE11-40E7-B643-E30B8744471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off x="0" y="0"/>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11" name="Straight Arrow Connector 10">
            <a:extLst>
              <a:ext uri="{FF2B5EF4-FFF2-40B4-BE49-F238E27FC236}">
                <a16:creationId xmlns:a16="http://schemas.microsoft.com/office/drawing/2014/main" id="{09A1D685-8BDD-4E65-A1E5-10FB9B5EE889}"/>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65A72CF2-FF1D-4E41-BACA-22699180F3AA}"/>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3" name="Straight Arrow Connector 12">
            <a:extLst>
              <a:ext uri="{FF2B5EF4-FFF2-40B4-BE49-F238E27FC236}">
                <a16:creationId xmlns:a16="http://schemas.microsoft.com/office/drawing/2014/main" id="{3A842226-537B-47C7-A90C-86CA12E2E126}"/>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off x="0" y="0"/>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extLst>
              <p:ext uri="{D42A27DB-BD31-4B8C-83A1-F6EECF244321}">
                <p14:modId xmlns:p14="http://schemas.microsoft.com/office/powerpoint/2010/main" val="3676873206"/>
              </p:ext>
            </p:extLst>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cxnSp>
        <p:nvCxnSpPr>
          <p:cNvPr id="10" name="Straight Arrow Connector 9">
            <a:extLst>
              <a:ext uri="{FF2B5EF4-FFF2-40B4-BE49-F238E27FC236}">
                <a16:creationId xmlns:a16="http://schemas.microsoft.com/office/drawing/2014/main" id="{C1B11F61-DE5D-47FF-A96C-797D179A69E6}"/>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5B0D38DB-11C1-4B78-8B78-7F6B29C518D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A042888B-B6F2-4D70-896A-612358930AB0}"/>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exclusion </a:t>
            </a:r>
          </a:p>
          <a:p>
            <a:pPr lvl="1"/>
            <a:r>
              <a:rPr lang="en-US" dirty="0"/>
              <a:t>Only one thread may execute the critical section at a time</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exclusion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the 1960s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Threads &amp; Semaphores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
        <p:nvSpPr>
          <p:cNvPr id="512008" name="Rectangle 8"/>
          <p:cNvSpPr>
            <a:spLocks noGrp="1" noChangeArrowheads="1"/>
          </p:cNvSpPr>
          <p:nvPr>
            <p:ph type="body" idx="1"/>
          </p:nvPr>
        </p:nvSpPr>
        <p:spPr>
          <a:xfrm>
            <a:off x="457200" y="762000"/>
            <a:ext cx="11353800" cy="4114800"/>
          </a:xfrm>
        </p:spPr>
        <p:txBody>
          <a:bodyPr>
            <a:normAutofit fontScale="85000" lnSpcReduction="1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 (not a Critical Section, since two trains can enter the </a:t>
            </a:r>
            <a:r>
              <a:rPr lang="en-US" altLang="ko-KR">
                <a:ea typeface="굴림" panose="020B0600000101010101" pitchFamily="34" charset="-127"/>
              </a:rPr>
              <a:t>middle tracks)</a:t>
            </a:r>
            <a:endParaRPr lang="ko-KR" altLang="en-US" dirty="0">
              <a:ea typeface="굴림" panose="020B0600000101010101" pitchFamily="34" charset="-127"/>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609600" y="685800"/>
            <a:ext cx="10667999" cy="1191219"/>
          </a:xfrm>
        </p:spPr>
        <p:txBody>
          <a:bodyPr>
            <a:normAutofit fontScale="85000" lnSpcReduction="20000"/>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 Compared to previous method of using </a:t>
            </a:r>
            <a:r>
              <a:rPr lang="en-US" dirty="0" err="1"/>
              <a:t>SpinLock</a:t>
            </a:r>
            <a:r>
              <a:rPr lang="en-US" dirty="0"/>
              <a:t> to protect critical sections, here we use </a:t>
            </a:r>
            <a:r>
              <a:rPr lang="en-US" dirty="0" err="1"/>
              <a:t>SpinLock</a:t>
            </a:r>
            <a:r>
              <a:rPr lang="en-US" dirty="0"/>
              <a:t> not to protect critical sections, but to protect </a:t>
            </a:r>
            <a:r>
              <a:rPr lang="en-US" dirty="0" err="1"/>
              <a:t>sem_wait</a:t>
            </a:r>
            <a:r>
              <a:rPr lang="en-US" dirty="0"/>
              <a:t>() and </a:t>
            </a:r>
            <a:r>
              <a:rPr lang="en-US" dirty="0" err="1"/>
              <a:t>sem_post</a:t>
            </a:r>
            <a:r>
              <a:rPr lang="en-US" dirty="0"/>
              <a:t>(), which are very short code segments.</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TestAndSet(&amp;guard, 1));</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TestAndSet(&amp;guard, 1));</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676400"/>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
        <p:nvSpPr>
          <p:cNvPr id="8" name="TextBox 7">
            <a:extLst>
              <a:ext uri="{FF2B5EF4-FFF2-40B4-BE49-F238E27FC236}">
                <a16:creationId xmlns:a16="http://schemas.microsoft.com/office/drawing/2014/main" id="{8AE40AC0-8E5F-4BA5-B37E-4DB68DDD2CCB}"/>
              </a:ext>
            </a:extLst>
          </p:cNvPr>
          <p:cNvSpPr txBox="1"/>
          <p:nvPr/>
        </p:nvSpPr>
        <p:spPr>
          <a:xfrm>
            <a:off x="381000" y="3198167"/>
            <a:ext cx="1415772" cy="461665"/>
          </a:xfrm>
          <a:prstGeom prst="rect">
            <a:avLst/>
          </a:prstGeom>
          <a:noFill/>
        </p:spPr>
        <p:txBody>
          <a:bodyPr wrap="none" rtlCol="0">
            <a:spAutoFit/>
          </a:bodyPr>
          <a:lstStyle/>
          <a:p>
            <a:r>
              <a:rPr lang="en-US" sz="2400" dirty="0">
                <a:latin typeface="Gill Sans Light"/>
              </a:rPr>
              <a:t>Lock() </a:t>
            </a:r>
            <a:r>
              <a:rPr lang="en-US" sz="2400" dirty="0">
                <a:latin typeface="Gill Sans Light"/>
                <a:sym typeface="Wingdings" panose="05000000000000000000" pitchFamily="2" charset="2"/>
              </a:rPr>
              <a:t> </a:t>
            </a:r>
            <a:endParaRPr lang="en-US" sz="2400" dirty="0">
              <a:latin typeface="Gill Sans Light"/>
            </a:endParaRPr>
          </a:p>
        </p:txBody>
      </p:sp>
      <p:sp>
        <p:nvSpPr>
          <p:cNvPr id="9" name="TextBox 8">
            <a:extLst>
              <a:ext uri="{FF2B5EF4-FFF2-40B4-BE49-F238E27FC236}">
                <a16:creationId xmlns:a16="http://schemas.microsoft.com/office/drawing/2014/main" id="{5C2E1874-0D50-4449-ABB9-81B658EA0E13}"/>
              </a:ext>
            </a:extLst>
          </p:cNvPr>
          <p:cNvSpPr txBox="1"/>
          <p:nvPr/>
        </p:nvSpPr>
        <p:spPr>
          <a:xfrm>
            <a:off x="106886" y="4088962"/>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2" name="TextBox 11">
            <a:extLst>
              <a:ext uri="{FF2B5EF4-FFF2-40B4-BE49-F238E27FC236}">
                <a16:creationId xmlns:a16="http://schemas.microsoft.com/office/drawing/2014/main" id="{5A589A94-BDD0-41B1-9607-E1B944D3E9ED}"/>
              </a:ext>
            </a:extLst>
          </p:cNvPr>
          <p:cNvSpPr txBox="1"/>
          <p:nvPr/>
        </p:nvSpPr>
        <p:spPr>
          <a:xfrm>
            <a:off x="106886" y="5341336"/>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3" name="TextBox 12">
            <a:extLst>
              <a:ext uri="{FF2B5EF4-FFF2-40B4-BE49-F238E27FC236}">
                <a16:creationId xmlns:a16="http://schemas.microsoft.com/office/drawing/2014/main" id="{97C2A9BE-F51C-4BF0-BA0E-5155841B6C3A}"/>
              </a:ext>
            </a:extLst>
          </p:cNvPr>
          <p:cNvSpPr txBox="1"/>
          <p:nvPr/>
        </p:nvSpPr>
        <p:spPr>
          <a:xfrm>
            <a:off x="10923570" y="3038475"/>
            <a:ext cx="1029449" cy="461665"/>
          </a:xfrm>
          <a:prstGeom prst="rect">
            <a:avLst/>
          </a:prstGeom>
          <a:noFill/>
        </p:spPr>
        <p:txBody>
          <a:bodyPr wrap="none" rtlCol="0">
            <a:spAutoFit/>
          </a:bodyPr>
          <a:lstStyle/>
          <a:p>
            <a:r>
              <a:rPr lang="en-US" sz="2400" dirty="0">
                <a:latin typeface="Gill Sans Light"/>
              </a:rPr>
              <a:t>Lock()</a:t>
            </a:r>
            <a:r>
              <a:rPr lang="en-US" sz="2400" dirty="0">
                <a:latin typeface="Gill Sans Light"/>
                <a:sym typeface="Wingdings" panose="05000000000000000000" pitchFamily="2" charset="2"/>
              </a:rPr>
              <a:t> </a:t>
            </a:r>
            <a:endParaRPr lang="en-US" sz="2400" dirty="0">
              <a:latin typeface="Gill Sans Light"/>
            </a:endParaRPr>
          </a:p>
        </p:txBody>
      </p:sp>
      <p:sp>
        <p:nvSpPr>
          <p:cNvPr id="14" name="TextBox 13">
            <a:extLst>
              <a:ext uri="{FF2B5EF4-FFF2-40B4-BE49-F238E27FC236}">
                <a16:creationId xmlns:a16="http://schemas.microsoft.com/office/drawing/2014/main" id="{96265CCB-3F01-4DC8-9543-FEBC44F166E5}"/>
              </a:ext>
            </a:extLst>
          </p:cNvPr>
          <p:cNvSpPr txBox="1"/>
          <p:nvPr/>
        </p:nvSpPr>
        <p:spPr>
          <a:xfrm>
            <a:off x="10990245" y="4870146"/>
            <a:ext cx="1303562" cy="461665"/>
          </a:xfrm>
          <a:prstGeom prst="rect">
            <a:avLst/>
          </a:prstGeom>
          <a:noFill/>
        </p:spPr>
        <p:txBody>
          <a:bodyPr wrap="none" rtlCol="0">
            <a:spAutoFit/>
          </a:bodyPr>
          <a:lstStyle/>
          <a:p>
            <a:r>
              <a:rPr lang="en-US" sz="2400" dirty="0">
                <a:latin typeface="Gill Sans Light"/>
              </a:rPr>
              <a:t>Unlock()</a:t>
            </a:r>
            <a:r>
              <a:rPr lang="en-US" sz="2400" dirty="0">
                <a:latin typeface="Gill Sans Light"/>
                <a:sym typeface="Wingdings" panose="05000000000000000000" pitchFamily="2" charset="2"/>
              </a:rPr>
              <a:t> </a:t>
            </a:r>
            <a:endParaRPr lang="en-US" sz="2400" dirty="0">
              <a:latin typeface="Gill Sans Light"/>
            </a:endParaRPr>
          </a:p>
        </p:txBody>
      </p:sp>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E9296729-4F67-468C-8DAF-3EB9C680EEBC}"/>
                  </a:ext>
                </a:extLst>
              </p14:cNvPr>
              <p14:cNvContentPartPr/>
              <p14:nvPr/>
            </p14:nvContentPartPr>
            <p14:xfrm>
              <a:off x="4158495" y="1300785"/>
              <a:ext cx="3960" cy="3960"/>
            </p14:xfrm>
          </p:contentPart>
        </mc:Choice>
        <mc:Fallback xmlns="">
          <p:pic>
            <p:nvPicPr>
              <p:cNvPr id="15" name="Ink 14">
                <a:extLst>
                  <a:ext uri="{FF2B5EF4-FFF2-40B4-BE49-F238E27FC236}">
                    <a16:creationId xmlns:a16="http://schemas.microsoft.com/office/drawing/2014/main" id="{E9296729-4F67-468C-8DAF-3EB9C680EEBC}"/>
                  </a:ext>
                </a:extLst>
              </p:cNvPr>
              <p:cNvPicPr/>
              <p:nvPr/>
            </p:nvPicPr>
            <p:blipFill>
              <a:blip r:embed="rId4"/>
              <a:stretch>
                <a:fillRect/>
              </a:stretch>
            </p:blipFill>
            <p:spPr>
              <a:xfrm>
                <a:off x="4149495" y="1292145"/>
                <a:ext cx="216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8EDFFC6D-99AA-4E94-8148-664D55E49904}"/>
                  </a:ext>
                </a:extLst>
              </p14:cNvPr>
              <p14:cNvContentPartPr/>
              <p14:nvPr/>
            </p14:nvContentPartPr>
            <p14:xfrm>
              <a:off x="2580975" y="1295385"/>
              <a:ext cx="360" cy="360"/>
            </p14:xfrm>
          </p:contentPart>
        </mc:Choice>
        <mc:Fallback xmlns="">
          <p:pic>
            <p:nvPicPr>
              <p:cNvPr id="16" name="Ink 15">
                <a:extLst>
                  <a:ext uri="{FF2B5EF4-FFF2-40B4-BE49-F238E27FC236}">
                    <a16:creationId xmlns:a16="http://schemas.microsoft.com/office/drawing/2014/main" id="{8EDFFC6D-99AA-4E94-8148-664D55E49904}"/>
                  </a:ext>
                </a:extLst>
              </p:cNvPr>
              <p:cNvPicPr/>
              <p:nvPr/>
            </p:nvPicPr>
            <p:blipFill>
              <a:blip r:embed="rId4"/>
              <a:stretch>
                <a:fillRect/>
              </a:stretch>
            </p:blipFill>
            <p:spPr>
              <a:xfrm>
                <a:off x="2572335" y="1286385"/>
                <a:ext cx="18000" cy="18000"/>
              </a:xfrm>
              <a:prstGeom prst="rect">
                <a:avLst/>
              </a:prstGeom>
            </p:spPr>
          </p:pic>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Can be used for mutual exclusion as a lock (mutex-like, but without ownership)</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In contrast,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Statically initialized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neither Producer nor Consumer blocks on a slot semaphore, but enqueue/dequeue are still serialized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 uri="{FAA26D3D-D897-4be2-8F04-BA451C77F1D7}">
              <ma14:placeholderFlag xmlns:ma14="http://schemas.microsoft.com/office/mac/drawingml/2011/main" xmlns=""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item = dequeue();</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Consumer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is blocked waiting for Producer to put items into the queue (since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 0)</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Producer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Consumer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Producer!</a:t>
            </a:r>
          </a:p>
          <a:p>
            <a:r>
              <a:rPr lang="en-US" altLang="ko-KR" sz="2000" kern="0" dirty="0">
                <a:latin typeface="Gill Sans" panose="020B0502020104020203"/>
                <a:ea typeface="굴림" panose="020B0600000101010101" pitchFamily="34" charset="-127"/>
              </a:rPr>
              <a:t>Similar deadlock situation when the queue is full (emptySlots = 0): Producer holds mutex and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Monitor with</a:t>
            </a:r>
            <a:r>
              <a:rPr lang="en-US" altLang="ko-KR" dirty="0">
                <a:ea typeface="굴림" panose="020B0600000101010101" pitchFamily="34" charset="-127"/>
              </a:rPr>
              <a:t>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pthread_mutex_t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can lead to a deadlock since the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Wake up all waiters</a:t>
            </a:r>
            <a:r>
              <a:rPr lang="en-US" altLang="ko-KR" dirty="0">
                <a:ea typeface="굴림" panose="020B0600000101010101" pitchFamily="34" charset="-127"/>
              </a:rPr>
              <a:t> (if no waiter thread, then the signal is lost/has no effect)</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7F42EF05-BDB6-4DC9-B157-B2951B9E0B40}"/>
                  </a:ext>
                </a:extLst>
              </p14:cNvPr>
              <p14:cNvContentPartPr/>
              <p14:nvPr/>
            </p14:nvContentPartPr>
            <p14:xfrm>
              <a:off x="6171975" y="3695505"/>
              <a:ext cx="360" cy="360"/>
            </p14:xfrm>
          </p:contentPart>
        </mc:Choice>
        <mc:Fallback xmlns="">
          <p:pic>
            <p:nvPicPr>
              <p:cNvPr id="2" name="Ink 1">
                <a:extLst>
                  <a:ext uri="{FF2B5EF4-FFF2-40B4-BE49-F238E27FC236}">
                    <a16:creationId xmlns:a16="http://schemas.microsoft.com/office/drawing/2014/main" id="{7F42EF05-BDB6-4DC9-B157-B2951B9E0B40}"/>
                  </a:ext>
                </a:extLst>
              </p:cNvPr>
              <p:cNvPicPr/>
              <p:nvPr/>
            </p:nvPicPr>
            <p:blipFill>
              <a:blip r:embed="rId4"/>
              <a:stretch>
                <a:fillRect/>
              </a:stretch>
            </p:blipFill>
            <p:spPr>
              <a:xfrm>
                <a:off x="6163335" y="3686505"/>
                <a:ext cx="18000" cy="18000"/>
              </a:xfrm>
              <a:prstGeom prst="rect">
                <a:avLst/>
              </a:prstGeom>
            </p:spPr>
          </p:pic>
        </mc:Fallback>
      </mc:AlternateContent>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Monitor Structure</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Set flag = true</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Must be used in combination with </a:t>
            </a:r>
            <a:r>
              <a:rPr lang="en-US" altLang="zh-CN" sz="1800" b="0" kern="0" dirty="0" err="1">
                <a:solidFill>
                  <a:srgbClr val="FF0000"/>
                </a:solidFill>
                <a:latin typeface="Courier New" panose="02070309020205020404" pitchFamily="49" charset="0"/>
                <a:cs typeface="Courier New" panose="02070309020205020404" pitchFamily="49" charset="0"/>
              </a:rPr>
              <a:t>update_flag</a:t>
            </a:r>
            <a:r>
              <a:rPr lang="en-US" altLang="zh-CN" sz="1800" b="0" kern="0">
                <a:solidFill>
                  <a:srgbClr val="FF0000"/>
                </a:solidFill>
                <a:latin typeface="Courier New" panose="02070309020205020404" pitchFamily="49" charset="0"/>
                <a:cs typeface="Courier New" panose="02070309020205020404" pitchFamily="49" charset="0"/>
              </a:rPr>
              <a:t>()</a:t>
            </a:r>
            <a:endParaRPr lang="en-US" altLang="zh-CN" sz="1800" b="0" kern="0" dirty="0">
              <a:solidFill>
                <a:srgbClr val="FF0000"/>
              </a:solidFill>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a:t>
            </a:r>
            <a:r>
              <a:rPr lang="en-GB" altLang="zh-CN" sz="1800" b="0" kern="0" dirty="0">
                <a:solidFill>
                  <a:srgbClr val="FF0000"/>
                </a:solidFill>
                <a:latin typeface="Courier New" panose="02070309020205020404" pitchFamily="49" charset="0"/>
                <a:cs typeface="Courier New" panose="02070309020205020404" pitchFamily="49" charset="0"/>
              </a:rPr>
              <a:t>Thread goes to sleep during waiting; </a:t>
            </a:r>
            <a:r>
              <a:rPr lang="en-US" altLang="zh-CN" sz="1800" b="0" kern="0" dirty="0">
                <a:solidFill>
                  <a:srgbClr val="FF0000"/>
                </a:solidFill>
                <a:latin typeface="Courier New" panose="02070309020205020404" pitchFamily="49" charset="0"/>
                <a:cs typeface="Courier New" panose="02070309020205020404" pitchFamily="49" charset="0"/>
              </a:rPr>
              <a:t>the mutex lock is released (implicitly) when it goes to sleep</a:t>
            </a: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//When the waiting/sleeping thread is signaled, it re-acquires the lock before resuming execution. Now flag = true, so it will exit the while(!flag) loop and go to next line</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 if(FULL)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 false; 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dequeue(); if(EMPTY)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false;</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pthread_cond_signal(&amp;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(if(FULL) and if(EMPTY) are pseudocode for updating buffer status based on queue condition)</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673C8901-57C4-4018-A925-E5BC715024B2}"/>
                  </a:ext>
                </a:extLst>
              </p14:cNvPr>
              <p14:cNvContentPartPr/>
              <p14:nvPr/>
            </p14:nvContentPartPr>
            <p14:xfrm>
              <a:off x="1892303" y="5241664"/>
              <a:ext cx="360" cy="360"/>
            </p14:xfrm>
          </p:contentPart>
        </mc:Choice>
        <mc:Fallback xmlns="">
          <p:pic>
            <p:nvPicPr>
              <p:cNvPr id="10" name="Ink 9">
                <a:extLst>
                  <a:ext uri="{FF2B5EF4-FFF2-40B4-BE49-F238E27FC236}">
                    <a16:creationId xmlns:a16="http://schemas.microsoft.com/office/drawing/2014/main" id="{673C8901-57C4-4018-A925-E5BC715024B2}"/>
                  </a:ext>
                </a:extLst>
              </p:cNvPr>
              <p:cNvPicPr/>
              <p:nvPr/>
            </p:nvPicPr>
            <p:blipFill>
              <a:blip r:embed="rId5"/>
              <a:stretch>
                <a:fillRect/>
              </a:stretch>
            </p:blipFill>
            <p:spPr>
              <a:xfrm>
                <a:off x="1883303" y="523302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1B396B42-7952-4653-91C2-22FC359BA2D4}"/>
                  </a:ext>
                </a:extLst>
              </p14:cNvPr>
              <p14:cNvContentPartPr/>
              <p14:nvPr/>
            </p14:nvContentPartPr>
            <p14:xfrm>
              <a:off x="2045663" y="5269024"/>
              <a:ext cx="360" cy="360"/>
            </p14:xfrm>
          </p:contentPart>
        </mc:Choice>
        <mc:Fallback xmlns="">
          <p:pic>
            <p:nvPicPr>
              <p:cNvPr id="11" name="Ink 10">
                <a:extLst>
                  <a:ext uri="{FF2B5EF4-FFF2-40B4-BE49-F238E27FC236}">
                    <a16:creationId xmlns:a16="http://schemas.microsoft.com/office/drawing/2014/main" id="{1B396B42-7952-4653-91C2-22FC359BA2D4}"/>
                  </a:ext>
                </a:extLst>
              </p:cNvPr>
              <p:cNvPicPr/>
              <p:nvPr/>
            </p:nvPicPr>
            <p:blipFill>
              <a:blip r:embed="rId5"/>
              <a:stretch>
                <a:fillRect/>
              </a:stretch>
            </p:blipFill>
            <p:spPr>
              <a:xfrm>
                <a:off x="2037023" y="5260024"/>
                <a:ext cx="18000" cy="18000"/>
              </a:xfrm>
              <a:prstGeom prst="rect">
                <a:avLst/>
              </a:prstGeom>
            </p:spPr>
          </p:pic>
        </mc:Fallback>
      </mc:AlternateContent>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a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 PARC’s Mesa system), where the waiter thread when signaled, joins a ready queue, and may 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buffer empty flag may be true again, and </a:t>
            </a:r>
            <a:r>
              <a:rPr lang="en-US" altLang="ko-KR" dirty="0">
                <a:ea typeface="굴림" charset="0"/>
                <a:cs typeface="굴림" charset="0"/>
              </a:rPr>
              <a:t>condition may be false again (Mesa semantics: a signal is only a hint).</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 xmlns:a14="http://schemas.microsoft.com/office/drawing/2010/main">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Hoare vs. Mesa Monitors: signal()</a:t>
            </a:r>
          </a:p>
        </p:txBody>
      </p:sp>
      <p:sp>
        <p:nvSpPr>
          <p:cNvPr id="3" name="Rectangle 2"/>
          <p:cNvSpPr/>
          <p:nvPr/>
        </p:nvSpPr>
        <p:spPr>
          <a:xfrm>
            <a:off x="533400" y="800100"/>
            <a:ext cx="5500000" cy="420000"/>
          </a:xfrm>
          <a:prstGeom prst="rect">
            <a:avLst/>
          </a:prstGeom>
          <a:solidFill>
            <a:srgbClr val="B4C7E7"/>
          </a:solidFill>
          <a:ln>
            <a:noFill/>
          </a:ln>
        </p:spPr>
        <p:txBody>
          <a:bodyPr wrap="square" lIns="60000" tIns="30000" rIns="60000" bIns="30000" rtlCol="0" anchor="ctr"/>
          <a:lstStyle/>
          <a:p>
            <a:pPr algn="ctr"/>
            <a:r>
              <a:rPr sz="1600" b="1">
                <a:solidFill>
                  <a:srgbClr val="000000"/>
                </a:solidFill>
                <a:latin typeface="Arial"/>
              </a:rPr>
              <a:t>Hoare style: signal-and-wait</a:t>
            </a:r>
          </a:p>
        </p:txBody>
      </p:sp>
      <p:sp>
        <p:nvSpPr>
          <p:cNvPr id="4" name="Rectangle 3"/>
          <p:cNvSpPr/>
          <p:nvPr/>
        </p:nvSpPr>
        <p:spPr>
          <a:xfrm>
            <a:off x="1373400"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1. signal()</a:t>
            </a:r>
          </a:p>
        </p:txBody>
      </p:sp>
      <p:sp>
        <p:nvSpPr>
          <p:cNvPr id="5" name="Rectangle 4"/>
          <p:cNvSpPr/>
          <p:nvPr/>
        </p:nvSpPr>
        <p:spPr>
          <a:xfrm>
            <a:off x="2940066"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2. right after</a:t>
            </a:r>
          </a:p>
        </p:txBody>
      </p:sp>
      <p:sp>
        <p:nvSpPr>
          <p:cNvPr id="6" name="Rectangle 5"/>
          <p:cNvSpPr/>
          <p:nvPr/>
        </p:nvSpPr>
        <p:spPr>
          <a:xfrm>
            <a:off x="4506732"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3. later</a:t>
            </a:r>
          </a:p>
        </p:txBody>
      </p:sp>
      <p:sp>
        <p:nvSpPr>
          <p:cNvPr id="7" name="Rectangle 6"/>
          <p:cNvSpPr/>
          <p:nvPr/>
        </p:nvSpPr>
        <p:spPr>
          <a:xfrm>
            <a:off x="533400" y="162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Signaler</a:t>
            </a:r>
          </a:p>
        </p:txBody>
      </p:sp>
      <p:sp>
        <p:nvSpPr>
          <p:cNvPr id="8" name="Rectangle 7"/>
          <p:cNvSpPr/>
          <p:nvPr/>
        </p:nvSpPr>
        <p:spPr>
          <a:xfrm>
            <a:off x="1373400"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cond_signal()</a:t>
            </a:r>
          </a:p>
        </p:txBody>
      </p:sp>
      <p:sp>
        <p:nvSpPr>
          <p:cNvPr id="9" name="Rectangle 8"/>
          <p:cNvSpPr/>
          <p:nvPr/>
        </p:nvSpPr>
        <p:spPr>
          <a:xfrm>
            <a:off x="2940066" y="162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blocked (urgent queue)</a:t>
            </a:r>
          </a:p>
        </p:txBody>
      </p:sp>
      <p:sp>
        <p:nvSpPr>
          <p:cNvPr id="10" name="Rectangle 9"/>
          <p:cNvSpPr/>
          <p:nvPr/>
        </p:nvSpPr>
        <p:spPr>
          <a:xfrm>
            <a:off x="4506732"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resumes, then unlock()</a:t>
            </a:r>
          </a:p>
        </p:txBody>
      </p:sp>
      <p:sp>
        <p:nvSpPr>
          <p:cNvPr id="11" name="Rectangle 10"/>
          <p:cNvSpPr/>
          <p:nvPr/>
        </p:nvSpPr>
        <p:spPr>
          <a:xfrm>
            <a:off x="533400" y="228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Waiter</a:t>
            </a:r>
          </a:p>
        </p:txBody>
      </p:sp>
      <p:sp>
        <p:nvSpPr>
          <p:cNvPr id="12" name="Rectangle 11"/>
          <p:cNvSpPr/>
          <p:nvPr/>
        </p:nvSpPr>
        <p:spPr>
          <a:xfrm>
            <a:off x="1373400" y="228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asleep in CV queue</a:t>
            </a:r>
          </a:p>
        </p:txBody>
      </p:sp>
      <p:sp>
        <p:nvSpPr>
          <p:cNvPr id="13" name="Rectangle 12"/>
          <p:cNvSpPr/>
          <p:nvPr/>
        </p:nvSpPr>
        <p:spPr>
          <a:xfrm>
            <a:off x="2940066" y="228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runs at once, lock handed over</a:t>
            </a:r>
          </a:p>
        </p:txBody>
      </p:sp>
      <p:sp>
        <p:nvSpPr>
          <p:cNvPr id="14" name="Rectangle 13"/>
          <p:cNvSpPr/>
          <p:nvPr/>
        </p:nvSpPr>
        <p:spPr>
          <a:xfrm>
            <a:off x="4506732" y="228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leaves monitor</a:t>
            </a:r>
          </a:p>
        </p:txBody>
      </p:sp>
      <p:sp>
        <p:nvSpPr>
          <p:cNvPr id="15" name="Rectangle 14"/>
          <p:cNvSpPr/>
          <p:nvPr/>
        </p:nvSpPr>
        <p:spPr>
          <a:xfrm>
            <a:off x="533400" y="294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Other</a:t>
            </a:r>
          </a:p>
        </p:txBody>
      </p:sp>
      <p:sp>
        <p:nvSpPr>
          <p:cNvPr id="16" name="Rectangle 15"/>
          <p:cNvSpPr/>
          <p:nvPr/>
        </p:nvSpPr>
        <p:spPr>
          <a:xfrm>
            <a:off x="1373400" y="294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blocked at entry queue</a:t>
            </a:r>
          </a:p>
        </p:txBody>
      </p:sp>
      <p:sp>
        <p:nvSpPr>
          <p:cNvPr id="17" name="Rectangle 16"/>
          <p:cNvSpPr/>
          <p:nvPr/>
        </p:nvSpPr>
        <p:spPr>
          <a:xfrm>
            <a:off x="2940066" y="294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still blocked</a:t>
            </a:r>
          </a:p>
        </p:txBody>
      </p:sp>
      <p:sp>
        <p:nvSpPr>
          <p:cNvPr id="18" name="Rectangle 17"/>
          <p:cNvSpPr/>
          <p:nvPr/>
        </p:nvSpPr>
        <p:spPr>
          <a:xfrm>
            <a:off x="4506732" y="294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may enter now</a:t>
            </a:r>
          </a:p>
        </p:txBody>
      </p:sp>
      <p:sp>
        <p:nvSpPr>
          <p:cNvPr id="19" name="Rectangle 18"/>
          <p:cNvSpPr/>
          <p:nvPr/>
        </p:nvSpPr>
        <p:spPr>
          <a:xfrm>
            <a:off x="533400" y="3680000"/>
            <a:ext cx="5500000" cy="720000"/>
          </a:xfrm>
          <a:prstGeom prst="rect">
            <a:avLst/>
          </a:prstGeom>
          <a:solidFill>
            <a:srgbClr val="FFFFFF"/>
          </a:solidFill>
          <a:ln w="12700">
            <a:solidFill>
              <a:srgbClr val="2F4BD6"/>
            </a:solidFill>
          </a:ln>
        </p:spPr>
        <p:txBody>
          <a:bodyPr wrap="square" lIns="60000" tIns="30000" rIns="60000" bIns="30000" rtlCol="0" anchor="ctr"/>
          <a:lstStyle/>
          <a:p>
            <a:pPr algn="l"/>
            <a:r>
              <a:rPr sz="1400" b="1">
                <a:solidFill>
                  <a:srgbClr val="FF0000"/>
                </a:solidFill>
                <a:latin typeface="Arial"/>
              </a:rPr>
              <a:t>signal() is a hand-off:</a:t>
            </a:r>
            <a:r>
              <a:rPr sz="1400" b="0">
                <a:solidFill>
                  <a:srgbClr val="000000"/>
                </a:solidFill>
                <a:latin typeface="Arial"/>
              </a:rPr>
              <a:t> waiter runs immediately,</a:t>
            </a:r>
          </a:p>
          <a:p>
            <a:pPr algn="l"/>
            <a:r>
              <a:rPr sz="1400" b="0">
                <a:solidFill>
                  <a:srgbClr val="000000"/>
                </a:solidFill>
                <a:latin typeface="Arial"/>
              </a:rPr>
              <a:t>so the condition is </a:t>
            </a:r>
            <a:r>
              <a:rPr sz="1400" b="1">
                <a:solidFill>
                  <a:srgbClr val="FF0000"/>
                </a:solidFill>
                <a:latin typeface="Arial"/>
              </a:rPr>
              <a:t>guaranteed true</a:t>
            </a:r>
            <a:r>
              <a:rPr sz="1400" b="0">
                <a:solidFill>
                  <a:srgbClr val="000000"/>
                </a:solidFill>
                <a:latin typeface="Arial"/>
              </a:rPr>
              <a:t>.</a:t>
            </a:r>
          </a:p>
        </p:txBody>
      </p:sp>
      <p:sp>
        <p:nvSpPr>
          <p:cNvPr id="20" name="Rectangle 19"/>
          <p:cNvSpPr/>
          <p:nvPr/>
        </p:nvSpPr>
        <p:spPr>
          <a:xfrm>
            <a:off x="533400" y="4520000"/>
            <a:ext cx="5500000" cy="1000000"/>
          </a:xfrm>
          <a:prstGeom prst="rect">
            <a:avLst/>
          </a:prstGeom>
          <a:solidFill>
            <a:srgbClr val="FFFFFF"/>
          </a:solidFill>
          <a:ln w="12700">
            <a:solidFill>
              <a:srgbClr val="7F7F7F"/>
            </a:solidFill>
          </a:ln>
        </p:spPr>
        <p:txBody>
          <a:bodyPr wrap="square" lIns="60000" tIns="30000" rIns="60000" bIns="30000" rtlCol="0" anchor="ctr"/>
          <a:lstStyle/>
          <a:p>
            <a:pPr algn="l"/>
            <a:r>
              <a:rPr sz="1400">
                <a:solidFill>
                  <a:srgbClr val="000000"/>
                </a:solidFill>
                <a:latin typeface="Consolas"/>
              </a:rPr>
              <a:t>if (!cond)</a:t>
            </a:r>
          </a:p>
          <a:p>
            <a:pPr algn="l"/>
            <a:r>
              <a:rPr sz="1400">
                <a:solidFill>
                  <a:srgbClr val="000000"/>
                </a:solidFill>
                <a:latin typeface="Consolas"/>
              </a:rPr>
              <a:t>    cond_wait(&amp;c, &amp;m);</a:t>
            </a:r>
          </a:p>
          <a:p>
            <a:pPr algn="l"/>
            <a:r>
              <a:rPr sz="1400">
                <a:solidFill>
                  <a:srgbClr val="000000"/>
                </a:solidFill>
                <a:latin typeface="Consolas"/>
              </a:rPr>
              <a:t>// no re-check needed</a:t>
            </a:r>
          </a:p>
        </p:txBody>
      </p:sp>
      <p:sp>
        <p:nvSpPr>
          <p:cNvPr id="21" name="Rectangle 20"/>
          <p:cNvSpPr/>
          <p:nvPr/>
        </p:nvSpPr>
        <p:spPr>
          <a:xfrm>
            <a:off x="6158600" y="800100"/>
            <a:ext cx="5500000" cy="420000"/>
          </a:xfrm>
          <a:prstGeom prst="rect">
            <a:avLst/>
          </a:prstGeom>
          <a:solidFill>
            <a:srgbClr val="B4C7E7"/>
          </a:solidFill>
          <a:ln>
            <a:noFill/>
          </a:ln>
        </p:spPr>
        <p:txBody>
          <a:bodyPr wrap="square" lIns="60000" tIns="30000" rIns="60000" bIns="30000" rtlCol="0" anchor="ctr"/>
          <a:lstStyle/>
          <a:p>
            <a:pPr algn="ctr"/>
            <a:r>
              <a:rPr sz="1600" b="1">
                <a:solidFill>
                  <a:srgbClr val="000000"/>
                </a:solidFill>
                <a:latin typeface="Arial"/>
              </a:rPr>
              <a:t>Mesa style: signal-and-continue</a:t>
            </a:r>
          </a:p>
        </p:txBody>
      </p:sp>
      <p:sp>
        <p:nvSpPr>
          <p:cNvPr id="22" name="Rectangle 21"/>
          <p:cNvSpPr/>
          <p:nvPr/>
        </p:nvSpPr>
        <p:spPr>
          <a:xfrm>
            <a:off x="6998600"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1. signal()</a:t>
            </a:r>
          </a:p>
        </p:txBody>
      </p:sp>
      <p:sp>
        <p:nvSpPr>
          <p:cNvPr id="23" name="Rectangle 22"/>
          <p:cNvSpPr/>
          <p:nvPr/>
        </p:nvSpPr>
        <p:spPr>
          <a:xfrm>
            <a:off x="8565266"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2. right after</a:t>
            </a:r>
          </a:p>
        </p:txBody>
      </p:sp>
      <p:sp>
        <p:nvSpPr>
          <p:cNvPr id="24" name="Rectangle 23"/>
          <p:cNvSpPr/>
          <p:nvPr/>
        </p:nvSpPr>
        <p:spPr>
          <a:xfrm>
            <a:off x="10131932"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3. later</a:t>
            </a:r>
          </a:p>
        </p:txBody>
      </p:sp>
      <p:sp>
        <p:nvSpPr>
          <p:cNvPr id="25" name="Rectangle 24"/>
          <p:cNvSpPr/>
          <p:nvPr/>
        </p:nvSpPr>
        <p:spPr>
          <a:xfrm>
            <a:off x="6158600" y="162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Signaler</a:t>
            </a:r>
          </a:p>
        </p:txBody>
      </p:sp>
      <p:sp>
        <p:nvSpPr>
          <p:cNvPr id="26" name="Rectangle 25"/>
          <p:cNvSpPr/>
          <p:nvPr/>
        </p:nvSpPr>
        <p:spPr>
          <a:xfrm>
            <a:off x="6998600"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cond_signal()</a:t>
            </a:r>
          </a:p>
        </p:txBody>
      </p:sp>
      <p:sp>
        <p:nvSpPr>
          <p:cNvPr id="27" name="Rectangle 26"/>
          <p:cNvSpPr/>
          <p:nvPr/>
        </p:nvSpPr>
        <p:spPr>
          <a:xfrm>
            <a:off x="8565266"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keeps lock, continues</a:t>
            </a:r>
          </a:p>
        </p:txBody>
      </p:sp>
      <p:sp>
        <p:nvSpPr>
          <p:cNvPr id="28" name="Rectangle 27"/>
          <p:cNvSpPr/>
          <p:nvPr/>
        </p:nvSpPr>
        <p:spPr>
          <a:xfrm>
            <a:off x="10131932"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unlock()</a:t>
            </a:r>
          </a:p>
        </p:txBody>
      </p:sp>
      <p:sp>
        <p:nvSpPr>
          <p:cNvPr id="29" name="Rectangle 28"/>
          <p:cNvSpPr/>
          <p:nvPr/>
        </p:nvSpPr>
        <p:spPr>
          <a:xfrm>
            <a:off x="6158600" y="228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Waiter</a:t>
            </a:r>
          </a:p>
        </p:txBody>
      </p:sp>
      <p:sp>
        <p:nvSpPr>
          <p:cNvPr id="30" name="Rectangle 29"/>
          <p:cNvSpPr/>
          <p:nvPr/>
        </p:nvSpPr>
        <p:spPr>
          <a:xfrm>
            <a:off x="6998600" y="228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asleep in CV queue</a:t>
            </a:r>
          </a:p>
        </p:txBody>
      </p:sp>
      <p:sp>
        <p:nvSpPr>
          <p:cNvPr id="31" name="Rectangle 30"/>
          <p:cNvSpPr/>
          <p:nvPr/>
        </p:nvSpPr>
        <p:spPr>
          <a:xfrm>
            <a:off x="8565266" y="2280000"/>
            <a:ext cx="1526666" cy="620000"/>
          </a:xfrm>
          <a:prstGeom prst="rect">
            <a:avLst/>
          </a:prstGeom>
          <a:solidFill>
            <a:srgbClr val="FFF2CC"/>
          </a:solidFill>
          <a:ln>
            <a:noFill/>
          </a:ln>
        </p:spPr>
        <p:txBody>
          <a:bodyPr wrap="square" lIns="60000" tIns="30000" rIns="60000" bIns="30000" rtlCol="0" anchor="ctr"/>
          <a:lstStyle/>
          <a:p>
            <a:pPr algn="ctr"/>
            <a:r>
              <a:rPr sz="1200" b="0">
                <a:solidFill>
                  <a:srgbClr val="000000"/>
                </a:solidFill>
                <a:latin typeface="Arial"/>
              </a:rPr>
              <a:t>ready queue, lock still busy</a:t>
            </a:r>
          </a:p>
        </p:txBody>
      </p:sp>
      <p:sp>
        <p:nvSpPr>
          <p:cNvPr id="32" name="Rectangle 31"/>
          <p:cNvSpPr/>
          <p:nvPr/>
        </p:nvSpPr>
        <p:spPr>
          <a:xfrm>
            <a:off x="10131932" y="228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re-acquires lock, re-checks</a:t>
            </a:r>
          </a:p>
        </p:txBody>
      </p:sp>
      <p:sp>
        <p:nvSpPr>
          <p:cNvPr id="33" name="Rectangle 32"/>
          <p:cNvSpPr/>
          <p:nvPr/>
        </p:nvSpPr>
        <p:spPr>
          <a:xfrm>
            <a:off x="6158600" y="294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Other</a:t>
            </a:r>
          </a:p>
        </p:txBody>
      </p:sp>
      <p:sp>
        <p:nvSpPr>
          <p:cNvPr id="34" name="Rectangle 33"/>
          <p:cNvSpPr/>
          <p:nvPr/>
        </p:nvSpPr>
        <p:spPr>
          <a:xfrm>
            <a:off x="6998600" y="294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blocked at entry queue</a:t>
            </a:r>
          </a:p>
        </p:txBody>
      </p:sp>
      <p:sp>
        <p:nvSpPr>
          <p:cNvPr id="35" name="Rectangle 34"/>
          <p:cNvSpPr/>
          <p:nvPr/>
        </p:nvSpPr>
        <p:spPr>
          <a:xfrm>
            <a:off x="8565266" y="2940000"/>
            <a:ext cx="1526666" cy="620000"/>
          </a:xfrm>
          <a:prstGeom prst="rect">
            <a:avLst/>
          </a:prstGeom>
          <a:solidFill>
            <a:srgbClr val="F8CBAD"/>
          </a:solidFill>
          <a:ln>
            <a:noFill/>
          </a:ln>
        </p:spPr>
        <p:txBody>
          <a:bodyPr wrap="square" lIns="60000" tIns="30000" rIns="60000" bIns="30000" rtlCol="0" anchor="ctr"/>
          <a:lstStyle/>
          <a:p>
            <a:pPr algn="ctr"/>
            <a:r>
              <a:rPr sz="1200" b="0">
                <a:solidFill>
                  <a:srgbClr val="000000"/>
                </a:solidFill>
                <a:latin typeface="Arial"/>
              </a:rPr>
              <a:t>may grab lock first!</a:t>
            </a:r>
          </a:p>
        </p:txBody>
      </p:sp>
      <p:sp>
        <p:nvSpPr>
          <p:cNvPr id="36" name="Rectangle 35"/>
          <p:cNvSpPr/>
          <p:nvPr/>
        </p:nvSpPr>
        <p:spPr>
          <a:xfrm>
            <a:off x="10131932" y="2940000"/>
            <a:ext cx="1526666" cy="620000"/>
          </a:xfrm>
          <a:prstGeom prst="rect">
            <a:avLst/>
          </a:prstGeom>
          <a:solidFill>
            <a:srgbClr val="F8CBAD"/>
          </a:solidFill>
          <a:ln>
            <a:noFill/>
          </a:ln>
        </p:spPr>
        <p:txBody>
          <a:bodyPr wrap="square" lIns="60000" tIns="30000" rIns="60000" bIns="30000" rtlCol="0" anchor="ctr"/>
          <a:lstStyle/>
          <a:p>
            <a:pPr algn="ctr"/>
            <a:r>
              <a:rPr sz="1200" b="0">
                <a:solidFill>
                  <a:srgbClr val="000000"/>
                </a:solidFill>
                <a:latin typeface="Arial"/>
              </a:rPr>
              <a:t>state may have changed</a:t>
            </a:r>
          </a:p>
        </p:txBody>
      </p:sp>
      <p:sp>
        <p:nvSpPr>
          <p:cNvPr id="37" name="Rectangle 36"/>
          <p:cNvSpPr/>
          <p:nvPr/>
        </p:nvSpPr>
        <p:spPr>
          <a:xfrm>
            <a:off x="6158600" y="3680000"/>
            <a:ext cx="5500000" cy="720000"/>
          </a:xfrm>
          <a:prstGeom prst="rect">
            <a:avLst/>
          </a:prstGeom>
          <a:solidFill>
            <a:srgbClr val="FFFFFF"/>
          </a:solidFill>
          <a:ln w="12700">
            <a:solidFill>
              <a:srgbClr val="2F4BD6"/>
            </a:solidFill>
          </a:ln>
        </p:spPr>
        <p:txBody>
          <a:bodyPr wrap="square" lIns="60000" tIns="30000" rIns="60000" bIns="30000" rtlCol="0" anchor="ctr"/>
          <a:lstStyle/>
          <a:p>
            <a:pPr algn="l"/>
            <a:r>
              <a:rPr sz="1400" b="1">
                <a:solidFill>
                  <a:srgbClr val="FF0000"/>
                </a:solidFill>
                <a:latin typeface="Arial"/>
              </a:rPr>
              <a:t>signal() is only a hint:</a:t>
            </a:r>
            <a:r>
              <a:rPr sz="1400" b="0">
                <a:solidFill>
                  <a:srgbClr val="000000"/>
                </a:solidFill>
                <a:latin typeface="Arial"/>
              </a:rPr>
              <a:t> waiter runs later,</a:t>
            </a:r>
          </a:p>
          <a:p>
            <a:pPr algn="l"/>
            <a:r>
              <a:rPr sz="1400" b="0">
                <a:solidFill>
                  <a:srgbClr val="000000"/>
                </a:solidFill>
                <a:latin typeface="Arial"/>
              </a:rPr>
              <a:t>so the condition may be </a:t>
            </a:r>
            <a:r>
              <a:rPr sz="1400" b="1">
                <a:solidFill>
                  <a:srgbClr val="FF0000"/>
                </a:solidFill>
                <a:latin typeface="Arial"/>
              </a:rPr>
              <a:t>false again</a:t>
            </a:r>
            <a:r>
              <a:rPr sz="1400" b="0">
                <a:solidFill>
                  <a:srgbClr val="000000"/>
                </a:solidFill>
                <a:latin typeface="Arial"/>
              </a:rPr>
              <a:t>.</a:t>
            </a:r>
          </a:p>
        </p:txBody>
      </p:sp>
      <p:sp>
        <p:nvSpPr>
          <p:cNvPr id="38" name="Rectangle 37"/>
          <p:cNvSpPr/>
          <p:nvPr/>
        </p:nvSpPr>
        <p:spPr>
          <a:xfrm>
            <a:off x="6158600" y="4520000"/>
            <a:ext cx="5500000" cy="1000000"/>
          </a:xfrm>
          <a:prstGeom prst="rect">
            <a:avLst/>
          </a:prstGeom>
          <a:solidFill>
            <a:srgbClr val="FFFFFF"/>
          </a:solidFill>
          <a:ln w="12700">
            <a:solidFill>
              <a:srgbClr val="7F7F7F"/>
            </a:solidFill>
          </a:ln>
        </p:spPr>
        <p:txBody>
          <a:bodyPr wrap="square" lIns="60000" tIns="30000" rIns="60000" bIns="30000" rtlCol="0" anchor="ctr"/>
          <a:lstStyle/>
          <a:p>
            <a:pPr algn="l"/>
            <a:r>
              <a:rPr sz="1400">
                <a:solidFill>
                  <a:srgbClr val="000000"/>
                </a:solidFill>
                <a:latin typeface="Consolas"/>
              </a:rPr>
              <a:t>while (!cond)</a:t>
            </a:r>
          </a:p>
          <a:p>
            <a:pPr algn="l"/>
            <a:r>
              <a:rPr sz="1400">
                <a:solidFill>
                  <a:srgbClr val="000000"/>
                </a:solidFill>
                <a:latin typeface="Consolas"/>
              </a:rPr>
              <a:t>    cond_wait(&amp;c, &amp;m);</a:t>
            </a:r>
          </a:p>
          <a:p>
            <a:pPr algn="l"/>
            <a:r>
              <a:rPr sz="1400">
                <a:solidFill>
                  <a:srgbClr val="000000"/>
                </a:solidFill>
                <a:latin typeface="Consolas"/>
              </a:rPr>
              <a:t>// must re-check</a:t>
            </a:r>
          </a:p>
        </p:txBody>
      </p:sp>
      <p:sp>
        <p:nvSpPr>
          <p:cNvPr id="39" name="Rectangle 38"/>
          <p:cNvSpPr/>
          <p:nvPr/>
        </p:nvSpPr>
        <p:spPr>
          <a:xfrm>
            <a:off x="533400" y="5750000"/>
            <a:ext cx="220000" cy="220000"/>
          </a:xfrm>
          <a:prstGeom prst="rect">
            <a:avLst/>
          </a:prstGeom>
          <a:solidFill>
            <a:srgbClr val="B4C7E7"/>
          </a:solidFill>
          <a:ln w="12700">
            <a:solidFill>
              <a:srgbClr val="7F7F7F"/>
            </a:solidFill>
          </a:ln>
        </p:spPr>
        <p:txBody>
          <a:bodyPr wrap="square" lIns="60000" tIns="30000" rIns="60000" bIns="30000" rtlCol="0" anchor="ctr"/>
          <a:lstStyle/>
          <a:p>
            <a:pPr algn="ctr"/>
            <a:endParaRPr/>
          </a:p>
        </p:txBody>
      </p:sp>
      <p:sp>
        <p:nvSpPr>
          <p:cNvPr id="40" name="Rectangle 39"/>
          <p:cNvSpPr/>
          <p:nvPr/>
        </p:nvSpPr>
        <p:spPr>
          <a:xfrm>
            <a:off x="793400" y="5710000"/>
            <a:ext cx="2600000" cy="300000"/>
          </a:xfrm>
          <a:prstGeom prst="rect">
            <a:avLst/>
          </a:prstGeom>
          <a:solidFill>
            <a:srgbClr val="FFFFFF"/>
          </a:solidFill>
          <a:ln>
            <a:noFill/>
          </a:ln>
        </p:spPr>
        <p:txBody>
          <a:bodyPr wrap="square" lIns="60000" tIns="30000" rIns="60000" bIns="30000" rtlCol="0" anchor="ctr"/>
          <a:lstStyle/>
          <a:p>
            <a:pPr algn="l"/>
            <a:r>
              <a:rPr sz="1200" b="0">
                <a:solidFill>
                  <a:srgbClr val="404040"/>
                </a:solidFill>
                <a:latin typeface="Arial"/>
              </a:rPr>
              <a:t>running / allowed to run</a:t>
            </a:r>
          </a:p>
        </p:txBody>
      </p:sp>
      <p:sp>
        <p:nvSpPr>
          <p:cNvPr id="41" name="Rectangle 40"/>
          <p:cNvSpPr/>
          <p:nvPr/>
        </p:nvSpPr>
        <p:spPr>
          <a:xfrm>
            <a:off x="3433400" y="5750000"/>
            <a:ext cx="220000" cy="220000"/>
          </a:xfrm>
          <a:prstGeom prst="rect">
            <a:avLst/>
          </a:prstGeom>
          <a:solidFill>
            <a:srgbClr val="D9D9D9"/>
          </a:solidFill>
          <a:ln w="12700">
            <a:solidFill>
              <a:srgbClr val="7F7F7F"/>
            </a:solidFill>
          </a:ln>
        </p:spPr>
        <p:txBody>
          <a:bodyPr wrap="square" lIns="60000" tIns="30000" rIns="60000" bIns="30000" rtlCol="0" anchor="ctr"/>
          <a:lstStyle/>
          <a:p>
            <a:pPr algn="ctr"/>
            <a:endParaRPr/>
          </a:p>
        </p:txBody>
      </p:sp>
      <p:sp>
        <p:nvSpPr>
          <p:cNvPr id="42" name="Rectangle 41"/>
          <p:cNvSpPr/>
          <p:nvPr/>
        </p:nvSpPr>
        <p:spPr>
          <a:xfrm>
            <a:off x="3693400" y="5710000"/>
            <a:ext cx="2600000" cy="300000"/>
          </a:xfrm>
          <a:prstGeom prst="rect">
            <a:avLst/>
          </a:prstGeom>
          <a:solidFill>
            <a:srgbClr val="FFFFFF"/>
          </a:solidFill>
          <a:ln>
            <a:noFill/>
          </a:ln>
        </p:spPr>
        <p:txBody>
          <a:bodyPr wrap="square" lIns="60000" tIns="30000" rIns="60000" bIns="30000" rtlCol="0" anchor="ctr"/>
          <a:lstStyle/>
          <a:p>
            <a:pPr algn="l"/>
            <a:r>
              <a:rPr sz="1200" b="0">
                <a:solidFill>
                  <a:srgbClr val="404040"/>
                </a:solidFill>
                <a:latin typeface="Arial"/>
              </a:rPr>
              <a:t>blocked or asleep</a:t>
            </a:r>
          </a:p>
        </p:txBody>
      </p:sp>
      <p:sp>
        <p:nvSpPr>
          <p:cNvPr id="43" name="Rectangle 42"/>
          <p:cNvSpPr/>
          <p:nvPr/>
        </p:nvSpPr>
        <p:spPr>
          <a:xfrm>
            <a:off x="6333400" y="5750000"/>
            <a:ext cx="220000" cy="220000"/>
          </a:xfrm>
          <a:prstGeom prst="rect">
            <a:avLst/>
          </a:prstGeom>
          <a:solidFill>
            <a:srgbClr val="FFF2CC"/>
          </a:solidFill>
          <a:ln w="12700">
            <a:solidFill>
              <a:srgbClr val="7F7F7F"/>
            </a:solidFill>
          </a:ln>
        </p:spPr>
        <p:txBody>
          <a:bodyPr wrap="square" lIns="60000" tIns="30000" rIns="60000" bIns="30000" rtlCol="0" anchor="ctr"/>
          <a:lstStyle/>
          <a:p>
            <a:pPr algn="ctr"/>
            <a:endParaRPr/>
          </a:p>
        </p:txBody>
      </p:sp>
      <p:sp>
        <p:nvSpPr>
          <p:cNvPr id="44" name="Rectangle 43"/>
          <p:cNvSpPr/>
          <p:nvPr/>
        </p:nvSpPr>
        <p:spPr>
          <a:xfrm>
            <a:off x="6593400" y="5710000"/>
            <a:ext cx="2600000" cy="300000"/>
          </a:xfrm>
          <a:prstGeom prst="rect">
            <a:avLst/>
          </a:prstGeom>
          <a:solidFill>
            <a:srgbClr val="FFFFFF"/>
          </a:solidFill>
          <a:ln>
            <a:noFill/>
          </a:ln>
        </p:spPr>
        <p:txBody>
          <a:bodyPr wrap="square" lIns="60000" tIns="30000" rIns="60000" bIns="30000" rtlCol="0" anchor="ctr"/>
          <a:lstStyle/>
          <a:p>
            <a:pPr algn="l"/>
            <a:r>
              <a:rPr sz="1200" b="0">
                <a:solidFill>
                  <a:srgbClr val="404040"/>
                </a:solidFill>
                <a:latin typeface="Arial"/>
              </a:rPr>
              <a:t>ready, waiting for the lock</a:t>
            </a:r>
          </a:p>
        </p:txBody>
      </p:sp>
      <p:sp>
        <p:nvSpPr>
          <p:cNvPr id="45" name="Rectangle 44"/>
          <p:cNvSpPr/>
          <p:nvPr/>
        </p:nvSpPr>
        <p:spPr>
          <a:xfrm>
            <a:off x="9233400" y="5750000"/>
            <a:ext cx="220000" cy="220000"/>
          </a:xfrm>
          <a:prstGeom prst="rect">
            <a:avLst/>
          </a:prstGeom>
          <a:solidFill>
            <a:srgbClr val="F8CBAD"/>
          </a:solidFill>
          <a:ln w="12700">
            <a:solidFill>
              <a:srgbClr val="7F7F7F"/>
            </a:solidFill>
          </a:ln>
        </p:spPr>
        <p:txBody>
          <a:bodyPr wrap="square" lIns="60000" tIns="30000" rIns="60000" bIns="30000" rtlCol="0" anchor="ctr"/>
          <a:lstStyle/>
          <a:p>
            <a:pPr algn="ctr"/>
            <a:endParaRPr/>
          </a:p>
        </p:txBody>
      </p:sp>
      <p:sp>
        <p:nvSpPr>
          <p:cNvPr id="46" name="Rectangle 45"/>
          <p:cNvSpPr/>
          <p:nvPr/>
        </p:nvSpPr>
        <p:spPr>
          <a:xfrm>
            <a:off x="9493400" y="5710000"/>
            <a:ext cx="2600000" cy="300000"/>
          </a:xfrm>
          <a:prstGeom prst="rect">
            <a:avLst/>
          </a:prstGeom>
          <a:solidFill>
            <a:srgbClr val="FFFFFF"/>
          </a:solidFill>
          <a:ln>
            <a:noFill/>
          </a:ln>
        </p:spPr>
        <p:txBody>
          <a:bodyPr wrap="square" lIns="60000" tIns="30000" rIns="60000" bIns="30000" rtlCol="0" anchor="ctr"/>
          <a:lstStyle/>
          <a:p>
            <a:pPr algn="l"/>
            <a:r>
              <a:rPr sz="1200" b="0">
                <a:solidFill>
                  <a:srgbClr val="404040"/>
                </a:solidFill>
                <a:latin typeface="Arial"/>
              </a:rPr>
              <a:t>risk: state can change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Hoare vs. Mesa Monitors: Comparison</a:t>
            </a:r>
          </a:p>
        </p:txBody>
      </p:sp>
      <p:graphicFrame>
        <p:nvGraphicFramePr>
          <p:cNvPr id="3" name="Table 2"/>
          <p:cNvGraphicFramePr>
            <a:graphicFrameLocks noGrp="1"/>
          </p:cNvGraphicFramePr>
          <p:nvPr>
            <p:extLst>
              <p:ext uri="{D42A27DB-BD31-4B8C-83A1-F6EECF244321}">
                <p14:modId xmlns:p14="http://schemas.microsoft.com/office/powerpoint/2010/main" val="2631505371"/>
              </p:ext>
            </p:extLst>
          </p:nvPr>
        </p:nvGraphicFramePr>
        <p:xfrm>
          <a:off x="533400" y="800100"/>
          <a:ext cx="11125200" cy="553272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4412600">
                  <a:extLst>
                    <a:ext uri="{9D8B030D-6E8A-4147-A177-3AD203B41FA5}">
                      <a16:colId xmlns:a16="http://schemas.microsoft.com/office/drawing/2014/main" val="20001"/>
                    </a:ext>
                  </a:extLst>
                </a:gridCol>
                <a:gridCol w="4412600">
                  <a:extLst>
                    <a:ext uri="{9D8B030D-6E8A-4147-A177-3AD203B41FA5}">
                      <a16:colId xmlns:a16="http://schemas.microsoft.com/office/drawing/2014/main" val="20002"/>
                    </a:ext>
                  </a:extLst>
                </a:gridCol>
              </a:tblGrid>
              <a:tr h="480000">
                <a:tc>
                  <a:txBody>
                    <a:bodyPr/>
                    <a:lstStyle/>
                    <a:p>
                      <a:pPr algn="l"/>
                      <a:endParaRP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600" b="1">
                          <a:solidFill>
                            <a:srgbClr val="000000"/>
                          </a:solidFill>
                          <a:latin typeface="Arial"/>
                        </a:rPr>
                        <a:t>Hoare monitor</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600" b="1">
                          <a:solidFill>
                            <a:srgbClr val="000000"/>
                          </a:solidFill>
                          <a:latin typeface="Arial"/>
                        </a:rPr>
                        <a:t>Mesa monitor</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extLst>
                  <a:ext uri="{0D108BD9-81ED-4DB2-BD59-A6C34878D82A}">
                    <a16:rowId xmlns:a16="http://schemas.microsoft.com/office/drawing/2014/main" val="10000"/>
                  </a:ext>
                </a:extLst>
              </a:tr>
              <a:tr h="780000">
                <a:tc>
                  <a:txBody>
                    <a:bodyPr/>
                    <a:lstStyle/>
                    <a:p>
                      <a:pPr algn="l"/>
                      <a:r>
                        <a:rPr sz="1600" b="1">
                          <a:solidFill>
                            <a:srgbClr val="000000"/>
                          </a:solidFill>
                          <a:latin typeface="Arial"/>
                        </a:rPr>
                        <a:t>Meaning of signal()</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dirty="0">
                          <a:solidFill>
                            <a:srgbClr val="000000"/>
                          </a:solidFill>
                          <a:latin typeface="Arial"/>
                        </a:rPr>
                        <a:t>Signal-and-wait: </a:t>
                      </a:r>
                      <a:r>
                        <a:rPr lang="en-US" sz="1600" b="0" dirty="0">
                          <a:solidFill>
                            <a:srgbClr val="000000"/>
                          </a:solidFill>
                          <a:latin typeface="Arial"/>
                        </a:rPr>
                        <a:t>signaler hands the lock directly to the woken thread, so the condition is guaranteed true on wakeup, and if would suffice.</a:t>
                      </a:r>
                      <a:endParaRPr sz="1600" b="0" dirty="0">
                        <a:solidFill>
                          <a:srgbClr val="000000"/>
                        </a:solidFill>
                        <a:latin typeface="Arial"/>
                      </a:endParaRP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dirty="0">
                          <a:solidFill>
                            <a:srgbClr val="000000"/>
                          </a:solidFill>
                          <a:latin typeface="Arial"/>
                        </a:rPr>
                        <a:t>Signal-and-continue:</a:t>
                      </a:r>
                      <a:r>
                        <a:rPr lang="en-US" sz="1600" b="0" dirty="0">
                          <a:solidFill>
                            <a:srgbClr val="000000"/>
                          </a:solidFill>
                          <a:latin typeface="Arial"/>
                        </a:rPr>
                        <a:t> signaler keeps the lock; The woken thread only becomes runnable and must compete for the lock, so the condition must be rechecked with a while loop. </a:t>
                      </a:r>
                      <a:endParaRPr sz="1600" b="0" dirty="0">
                        <a:solidFill>
                          <a:srgbClr val="000000"/>
                        </a:solidFill>
                        <a:latin typeface="Arial"/>
                      </a:endParaRP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1"/>
                  </a:ext>
                </a:extLst>
              </a:tr>
              <a:tr h="780000">
                <a:tc>
                  <a:txBody>
                    <a:bodyPr/>
                    <a:lstStyle/>
                    <a:p>
                      <a:pPr algn="l"/>
                      <a:r>
                        <a:rPr sz="1600" b="1">
                          <a:solidFill>
                            <a:srgbClr val="000000"/>
                          </a:solidFill>
                          <a:latin typeface="Arial"/>
                        </a:rPr>
                        <a:t>Condition when waiter resumes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1">
                          <a:solidFill>
                            <a:srgbClr val="FF0000"/>
                          </a:solidFill>
                          <a:latin typeface="Arial"/>
                        </a:rPr>
                        <a:t>Guaranteed true</a:t>
                      </a:r>
                      <a:r>
                        <a:rPr sz="1600" b="0">
                          <a:solidFill>
                            <a:srgbClr val="000000"/>
                          </a:solidFill>
                          <a:latin typeface="Arial"/>
                        </a:rPr>
                        <a:t>: no other thread ran in between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1">
                          <a:solidFill>
                            <a:srgbClr val="FF0000"/>
                          </a:solidFill>
                          <a:latin typeface="Arial"/>
                        </a:rPr>
                        <a:t>Not guaranteed</a:t>
                      </a:r>
                      <a:r>
                        <a:rPr sz="1600" b="0">
                          <a:solidFill>
                            <a:srgbClr val="000000"/>
                          </a:solidFill>
                          <a:latin typeface="Arial"/>
                        </a:rPr>
                        <a:t>: another thread may change the state first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2"/>
                  </a:ext>
                </a:extLst>
              </a:tr>
              <a:tr h="780000">
                <a:tc>
                  <a:txBody>
                    <a:bodyPr/>
                    <a:lstStyle/>
                    <a:p>
                      <a:pPr algn="l"/>
                      <a:r>
                        <a:rPr sz="1600" b="1">
                          <a:solidFill>
                            <a:srgbClr val="000000"/>
                          </a:solidFill>
                          <a:latin typeface="Arial"/>
                        </a:rPr>
                        <a:t>Waiting code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if (!cond) cond_wait(&amp;c, &amp;m);  is enough</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1">
                          <a:solidFill>
                            <a:srgbClr val="FF0000"/>
                          </a:solidFill>
                          <a:latin typeface="Arial"/>
                        </a:rPr>
                        <a:t>while</a:t>
                      </a:r>
                      <a:r>
                        <a:rPr sz="1600" b="0">
                          <a:solidFill>
                            <a:srgbClr val="000000"/>
                          </a:solidFill>
                          <a:latin typeface="Arial"/>
                        </a:rPr>
                        <a:t> (!cond) cond_wait(&amp;c, &amp;m);  is required</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3"/>
                  </a:ext>
                </a:extLst>
              </a:tr>
              <a:tr h="780000">
                <a:tc>
                  <a:txBody>
                    <a:bodyPr/>
                    <a:lstStyle/>
                    <a:p>
                      <a:pPr algn="l"/>
                      <a:r>
                        <a:rPr sz="1600" b="1">
                          <a:solidFill>
                            <a:srgbClr val="000000"/>
                          </a:solidFill>
                          <a:latin typeface="Arial"/>
                        </a:rPr>
                        <a:t>Cost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Extra context switches: signaler to the urgent queue and back</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Cheaper: signal() causes no forced switch</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4"/>
                  </a:ext>
                </a:extLst>
              </a:tr>
              <a:tr h="780000">
                <a:tc>
                  <a:txBody>
                    <a:bodyPr/>
                    <a:lstStyle/>
                    <a:p>
                      <a:pPr algn="l"/>
                      <a:r>
                        <a:rPr sz="1600" b="1">
                          <a:solidFill>
                            <a:srgbClr val="000000"/>
                          </a:solidFill>
                          <a:latin typeface="Arial"/>
                        </a:rPr>
                        <a:t>Signaler's duty</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Leave shared state consistent before signal(); Brinch Hansen's variant requires signal() to be the last statement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No special duty; broadcast() is natural (everyone wakes and re-checks)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5"/>
                  </a:ext>
                </a:extLst>
              </a:tr>
              <a:tr h="780000">
                <a:tc>
                  <a:txBody>
                    <a:bodyPr/>
                    <a:lstStyle/>
                    <a:p>
                      <a:pPr algn="l"/>
                      <a:r>
                        <a:rPr sz="1600" b="1">
                          <a:solidFill>
                            <a:srgbClr val="000000"/>
                          </a:solidFill>
                          <a:latin typeface="Arial"/>
                        </a:rPr>
                        <a:t>Where used</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Textbooks and theory (Hoare, 1974); hard to implement efficiently</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dirty="0">
                          <a:solidFill>
                            <a:srgbClr val="000000"/>
                          </a:solidFill>
                          <a:latin typeface="Arial"/>
                        </a:rPr>
                        <a:t>Practice: Mesa (Lampson &amp; Redell, 1980), </a:t>
                      </a:r>
                      <a:r>
                        <a:rPr sz="1600" b="0" dirty="0" err="1">
                          <a:solidFill>
                            <a:srgbClr val="000000"/>
                          </a:solidFill>
                          <a:latin typeface="Arial"/>
                        </a:rPr>
                        <a:t>pthreads</a:t>
                      </a:r>
                      <a:r>
                        <a:rPr sz="1600" b="0" dirty="0">
                          <a:solidFill>
                            <a:srgbClr val="000000"/>
                          </a:solidFill>
                          <a:latin typeface="Arial"/>
                        </a:rPr>
                        <a:t>, Java; spurious wakeups are harmless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2200" b="0" kern="0" dirty="0"/>
              <a:t>Condition variables do not maintain state like semaphores do, so we need a shared </a:t>
            </a:r>
            <a:r>
              <a:rPr lang="en-GB" sz="2200" b="0" kern="0" dirty="0" err="1"/>
              <a:t>boolean</a:t>
            </a:r>
            <a:r>
              <a:rPr lang="en-GB" sz="2200" b="0" kern="0" dirty="0"/>
              <a:t> flag “done” to track whether the child thread has completed. (Similar to Boolean flags “buffer full” and “buffer empty” in P/C problem.)</a:t>
            </a:r>
          </a:p>
          <a:p>
            <a:r>
              <a:rPr lang="en-GB" sz="2200" b="0" kern="0" dirty="0"/>
              <a:t>If parent waits first: parent calls </a:t>
            </a:r>
            <a:r>
              <a:rPr lang="en-GB" sz="2200" b="0" kern="0" dirty="0" err="1"/>
              <a:t>thr_join</a:t>
            </a:r>
            <a:r>
              <a:rPr lang="en-GB" sz="2200" b="0" kern="0" dirty="0"/>
              <a:t>() and </a:t>
            </a:r>
            <a:r>
              <a:rPr lang="en-GB" sz="2200" b="0" kern="0" dirty="0" err="1"/>
              <a:t>cond_wait</a:t>
            </a:r>
            <a:r>
              <a:rPr lang="en-GB" sz="2200" b="0" kern="0" dirty="0"/>
              <a:t>(&amp;c, &amp;m) before child calls </a:t>
            </a:r>
            <a:r>
              <a:rPr lang="en-GB" sz="2200" b="0" kern="0" dirty="0" err="1"/>
              <a:t>thr_exit</a:t>
            </a:r>
            <a:r>
              <a:rPr lang="en-GB" sz="2200" b="0" kern="0" dirty="0"/>
              <a:t>() and </a:t>
            </a:r>
            <a:r>
              <a:rPr lang="en-GB" sz="2200" b="0" kern="0" dirty="0" err="1"/>
              <a:t>cond_signal</a:t>
            </a:r>
            <a:r>
              <a:rPr lang="en-GB" sz="2200" b="0" kern="0" dirty="0"/>
              <a:t>(&amp;c). The signal on condition variable c will wake up parent.</a:t>
            </a:r>
          </a:p>
          <a:p>
            <a:r>
              <a:rPr lang="en-GB" sz="2200" b="0" kern="0" dirty="0"/>
              <a:t>If child finishes first: child calls </a:t>
            </a:r>
            <a:r>
              <a:rPr lang="en-GB" sz="2200" b="0" kern="0" dirty="0" err="1"/>
              <a:t>thr_exit</a:t>
            </a:r>
            <a:r>
              <a:rPr lang="en-GB" sz="2200" b="0" kern="0" dirty="0"/>
              <a:t>() and </a:t>
            </a:r>
            <a:r>
              <a:rPr lang="en-GB" sz="2200" b="0" kern="0" dirty="0" err="1"/>
              <a:t>cond_signal</a:t>
            </a:r>
            <a:r>
              <a:rPr lang="en-GB" sz="2200" b="0" kern="0" dirty="0"/>
              <a:t>(&amp;c) before parent calls </a:t>
            </a:r>
            <a:r>
              <a:rPr lang="en-GB" sz="2200" b="0" kern="0" dirty="0" err="1"/>
              <a:t>thr_join</a:t>
            </a:r>
            <a:r>
              <a:rPr lang="en-GB" sz="2200" b="0" kern="0" dirty="0"/>
              <a:t>(). </a:t>
            </a:r>
            <a:r>
              <a:rPr lang="en-GB" sz="2200" b="0" kern="0" dirty="0">
                <a:solidFill>
                  <a:srgbClr val="FF0000"/>
                </a:solidFill>
              </a:rPr>
              <a:t>Parent will detect that “done” is already set so it will not call </a:t>
            </a:r>
            <a:r>
              <a:rPr lang="en-GB" sz="2200" b="0" kern="0" dirty="0" err="1">
                <a:solidFill>
                  <a:srgbClr val="FF0000"/>
                </a:solidFill>
              </a:rPr>
              <a:t>cond_wait</a:t>
            </a:r>
            <a:r>
              <a:rPr lang="en-GB" sz="2200" b="0" kern="0" dirty="0">
                <a:solidFill>
                  <a:srgbClr val="FF0000"/>
                </a:solidFill>
              </a:rPr>
              <a:t>() and will not block. </a:t>
            </a:r>
            <a:r>
              <a:rPr lang="en-GB" sz="2200" b="0" kern="0" dirty="0"/>
              <a:t>(While loop around </a:t>
            </a:r>
            <a:r>
              <a:rPr lang="en-GB" sz="2200" b="0" kern="0" dirty="0" err="1"/>
              <a:t>cond_wait</a:t>
            </a:r>
            <a:r>
              <a:rPr lang="en-GB" sz="2200" b="0" kern="0" dirty="0"/>
              <a:t>(&amp;c) ensures correctness in case of spurious wakeups.)</a:t>
            </a:r>
          </a:p>
          <a:p>
            <a:r>
              <a:rPr lang="en-GB" sz="2200" b="0" kern="0" dirty="0"/>
              <a:t>Special case of Producer-Consumer problem with buffer size 1.</a:t>
            </a:r>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dirty="0">
                <a:solidFill>
                  <a:srgbClr val="FF0000"/>
                </a:solidFill>
              </a:rPr>
              <a:t>Child’s signal on condition variable c will be lost, and parent will wait forever in </a:t>
            </a:r>
            <a:r>
              <a:rPr lang="en-GB" b="0" kern="0" dirty="0" err="1">
                <a:solidFill>
                  <a:srgbClr val="FF0000"/>
                </a:solidFill>
              </a:rPr>
              <a:t>cond_wait</a:t>
            </a:r>
            <a:r>
              <a:rPr lang="en-GB" b="0" kern="0" dirty="0">
                <a:solidFill>
                  <a:srgbClr val="FF0000"/>
                </a:solidFill>
              </a:rPr>
              <a:t>().</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0-4, and 5 forks numbered 0-4;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5CC2EA9-18F3-428C-992D-BD8E42EC523C}"/>
                  </a:ext>
                </a:extLst>
              </p14:cNvPr>
              <p14:cNvContentPartPr/>
              <p14:nvPr/>
            </p14:nvContentPartPr>
            <p14:xfrm>
              <a:off x="5619375" y="1457385"/>
              <a:ext cx="360" cy="360"/>
            </p14:xfrm>
          </p:contentPart>
        </mc:Choice>
        <mc:Fallback xmlns="">
          <p:pic>
            <p:nvPicPr>
              <p:cNvPr id="5" name="Ink 4">
                <a:extLst>
                  <a:ext uri="{FF2B5EF4-FFF2-40B4-BE49-F238E27FC236}">
                    <a16:creationId xmlns:a16="http://schemas.microsoft.com/office/drawing/2014/main" id="{35CC2EA9-18F3-428C-992D-BD8E42EC523C}"/>
                  </a:ext>
                </a:extLst>
              </p:cNvPr>
              <p:cNvPicPr/>
              <p:nvPr/>
            </p:nvPicPr>
            <p:blipFill>
              <a:blip r:embed="rId4"/>
              <a:stretch>
                <a:fillRect/>
              </a:stretch>
            </p:blipFill>
            <p:spPr>
              <a:xfrm>
                <a:off x="5610735" y="1448385"/>
                <a:ext cx="18000" cy="18000"/>
              </a:xfrm>
              <a:prstGeom prst="rect">
                <a:avLst/>
              </a:prstGeom>
            </p:spPr>
          </p:pic>
        </mc:Fallback>
      </mc:AlternateContent>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Solution 0 (Variant):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forks atomically within a critical section, protected by the global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grpSp>
        <p:nvGrpSpPr>
          <p:cNvPr id="9" name="Group 8">
            <a:extLst>
              <a:ext uri="{FF2B5EF4-FFF2-40B4-BE49-F238E27FC236}">
                <a16:creationId xmlns:a16="http://schemas.microsoft.com/office/drawing/2014/main" id="{1CC935AB-ED3A-4874-9C0E-A6E0DF8722DB}"/>
              </a:ext>
            </a:extLst>
          </p:cNvPr>
          <p:cNvGrpSpPr/>
          <p:nvPr/>
        </p:nvGrpSpPr>
        <p:grpSpPr>
          <a:xfrm>
            <a:off x="3720743" y="1674784"/>
            <a:ext cx="360" cy="360"/>
            <a:chOff x="3720743" y="1674784"/>
            <a:chExt cx="360" cy="36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B3F0EE0D-B6A1-4CB6-BAC5-ACBC442B8F99}"/>
                    </a:ext>
                  </a:extLst>
                </p14:cNvPr>
                <p14:cNvContentPartPr/>
                <p14:nvPr/>
              </p14:nvContentPartPr>
              <p14:xfrm>
                <a:off x="3720743" y="1674784"/>
                <a:ext cx="360" cy="360"/>
              </p14:xfrm>
            </p:contentPart>
          </mc:Choice>
          <mc:Fallback xmlns="">
            <p:pic>
              <p:nvPicPr>
                <p:cNvPr id="7" name="Ink 6">
                  <a:extLst>
                    <a:ext uri="{FF2B5EF4-FFF2-40B4-BE49-F238E27FC236}">
                      <a16:creationId xmlns:a16="http://schemas.microsoft.com/office/drawing/2014/main" id="{B3F0EE0D-B6A1-4CB6-BAC5-ACBC442B8F99}"/>
                    </a:ext>
                  </a:extLst>
                </p:cNvPr>
                <p:cNvPicPr/>
                <p:nvPr/>
              </p:nvPicPr>
              <p:blipFill>
                <a:blip r:embed="rId5"/>
                <a:stretch>
                  <a:fillRect/>
                </a:stretch>
              </p:blipFill>
              <p:spPr>
                <a:xfrm>
                  <a:off x="3711743" y="166578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81135772-15AE-44AA-B079-97641CF41D1E}"/>
                    </a:ext>
                  </a:extLst>
                </p14:cNvPr>
                <p14:cNvContentPartPr/>
                <p14:nvPr/>
              </p14:nvContentPartPr>
              <p14:xfrm>
                <a:off x="3720743" y="1674784"/>
                <a:ext cx="360" cy="360"/>
              </p14:xfrm>
            </p:contentPart>
          </mc:Choice>
          <mc:Fallback xmlns="">
            <p:pic>
              <p:nvPicPr>
                <p:cNvPr id="8" name="Ink 7">
                  <a:extLst>
                    <a:ext uri="{FF2B5EF4-FFF2-40B4-BE49-F238E27FC236}">
                      <a16:creationId xmlns:a16="http://schemas.microsoft.com/office/drawing/2014/main" id="{81135772-15AE-44AA-B079-97641CF41D1E}"/>
                    </a:ext>
                  </a:extLst>
                </p:cNvPr>
                <p:cNvPicPr/>
                <p:nvPr/>
              </p:nvPicPr>
              <p:blipFill>
                <a:blip r:embed="rId5"/>
                <a:stretch>
                  <a:fillRect/>
                </a:stretch>
              </p:blipFill>
              <p:spPr>
                <a:xfrm>
                  <a:off x="3711743" y="1665784"/>
                  <a:ext cx="18000" cy="18000"/>
                </a:xfrm>
                <a:prstGeom prst="rect">
                  <a:avLst/>
                </a:prstGeom>
              </p:spPr>
            </p:pic>
          </mc:Fallback>
        </mc:AlternateContent>
      </p:grpSp>
      <p:sp>
        <p:nvSpPr>
          <p:cNvPr id="11" name="TextBox 10">
            <a:extLst>
              <a:ext uri="{FF2B5EF4-FFF2-40B4-BE49-F238E27FC236}">
                <a16:creationId xmlns:a16="http://schemas.microsoft.com/office/drawing/2014/main" id="{37902992-EC90-4B83-9D2A-CF5A10CC18FB}"/>
              </a:ext>
            </a:extLst>
          </p:cNvPr>
          <p:cNvSpPr txBox="1"/>
          <p:nvPr/>
        </p:nvSpPr>
        <p:spPr>
          <a:xfrm>
            <a:off x="5181600" y="3218426"/>
            <a:ext cx="318379" cy="369332"/>
          </a:xfrm>
          <a:prstGeom prst="rect">
            <a:avLst/>
          </a:prstGeom>
          <a:noFill/>
        </p:spPr>
        <p:txBody>
          <a:bodyPr wrap="square">
            <a:spAutoFit/>
          </a:bodyPr>
          <a:lstStyle/>
          <a:p>
            <a:r>
              <a:rPr lang="en-GB" b="0" dirty="0">
                <a:solidFill>
                  <a:srgbClr val="FF0000"/>
                </a:solidFill>
              </a:rPr>
              <a:t>A</a:t>
            </a:r>
            <a:endParaRPr lang="en-US" b="0" dirty="0">
              <a:solidFill>
                <a:srgbClr val="FF0000"/>
              </a:solidFill>
            </a:endParaRPr>
          </a:p>
        </p:txBody>
      </p:sp>
      <p:sp>
        <p:nvSpPr>
          <p:cNvPr id="12" name="TextBox 11">
            <a:extLst>
              <a:ext uri="{FF2B5EF4-FFF2-40B4-BE49-F238E27FC236}">
                <a16:creationId xmlns:a16="http://schemas.microsoft.com/office/drawing/2014/main" id="{0231DE81-8841-4820-A505-8D78418CAB46}"/>
              </a:ext>
            </a:extLst>
          </p:cNvPr>
          <p:cNvSpPr txBox="1"/>
          <p:nvPr/>
        </p:nvSpPr>
        <p:spPr>
          <a:xfrm>
            <a:off x="5181599" y="4425434"/>
            <a:ext cx="318379" cy="369332"/>
          </a:xfrm>
          <a:prstGeom prst="rect">
            <a:avLst/>
          </a:prstGeom>
          <a:noFill/>
        </p:spPr>
        <p:txBody>
          <a:bodyPr wrap="square">
            <a:spAutoFit/>
          </a:bodyPr>
          <a:lstStyle/>
          <a:p>
            <a:r>
              <a:rPr lang="en-GB" b="0" dirty="0">
                <a:solidFill>
                  <a:srgbClr val="FF0000"/>
                </a:solidFill>
              </a:rPr>
              <a:t>B</a:t>
            </a:r>
            <a:endParaRPr lang="en-US" b="0" dirty="0">
              <a:solidFill>
                <a:srgbClr val="FF0000"/>
              </a:solidFill>
            </a:endParaRPr>
          </a:p>
        </p:txBody>
      </p:sp>
    </p:spTree>
    <p:extLst>
      <p:ext uri="{BB962C8B-B14F-4D97-AF65-F5344CB8AC3E}">
        <p14:creationId xmlns:p14="http://schemas.microsoft.com/office/powerpoint/2010/main" val="2789811176"/>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pickup_mutex,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789E71F9-0E8D-4A52-8D6F-EFB18AD149A3}"/>
                  </a:ext>
                </a:extLst>
              </p14:cNvPr>
              <p14:cNvContentPartPr/>
              <p14:nvPr/>
            </p14:nvContentPartPr>
            <p14:xfrm>
              <a:off x="3919823" y="3394825"/>
              <a:ext cx="360" cy="360"/>
            </p14:xfrm>
          </p:contentPart>
        </mc:Choice>
        <mc:Fallback xmlns="">
          <p:pic>
            <p:nvPicPr>
              <p:cNvPr id="5" name="Ink 4">
                <a:extLst>
                  <a:ext uri="{FF2B5EF4-FFF2-40B4-BE49-F238E27FC236}">
                    <a16:creationId xmlns:a16="http://schemas.microsoft.com/office/drawing/2014/main" id="{789E71F9-0E8D-4A52-8D6F-EFB18AD149A3}"/>
                  </a:ext>
                </a:extLst>
              </p:cNvPr>
              <p:cNvPicPr/>
              <p:nvPr/>
            </p:nvPicPr>
            <p:blipFill>
              <a:blip r:embed="rId4"/>
              <a:stretch>
                <a:fillRect/>
              </a:stretch>
            </p:blipFill>
            <p:spPr>
              <a:xfrm>
                <a:off x="3911183" y="338618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E520687D-A346-48F1-8BD4-2ED35E5BDC9A}"/>
                  </a:ext>
                </a:extLst>
              </p14:cNvPr>
              <p14:cNvContentPartPr/>
              <p14:nvPr/>
            </p14:nvContentPartPr>
            <p14:xfrm>
              <a:off x="914183" y="1040785"/>
              <a:ext cx="360" cy="360"/>
            </p14:xfrm>
          </p:contentPart>
        </mc:Choice>
        <mc:Fallback xmlns="">
          <p:pic>
            <p:nvPicPr>
              <p:cNvPr id="6" name="Ink 5">
                <a:extLst>
                  <a:ext uri="{FF2B5EF4-FFF2-40B4-BE49-F238E27FC236}">
                    <a16:creationId xmlns:a16="http://schemas.microsoft.com/office/drawing/2014/main" id="{E520687D-A346-48F1-8BD4-2ED35E5BDC9A}"/>
                  </a:ext>
                </a:extLst>
              </p:cNvPr>
              <p:cNvPicPr/>
              <p:nvPr/>
            </p:nvPicPr>
            <p:blipFill>
              <a:blip r:embed="rId4"/>
              <a:stretch>
                <a:fillRect/>
              </a:stretch>
            </p:blipFill>
            <p:spPr>
              <a:xfrm>
                <a:off x="905543" y="1032145"/>
                <a:ext cx="18000" cy="18000"/>
              </a:xfrm>
              <a:prstGeom prst="rect">
                <a:avLst/>
              </a:prstGeom>
            </p:spPr>
          </p:pic>
        </mc:Fallback>
      </mc:AlternateContent>
    </p:spTree>
    <p:extLst>
      <p:ext uri="{BB962C8B-B14F-4D97-AF65-F5344CB8AC3E}">
        <p14:creationId xmlns:p14="http://schemas.microsoft.com/office/powerpoint/2010/main" val="412916127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compete for forks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6018EEF-C755-4A42-A8DA-C8F944D021AB}"/>
                  </a:ext>
                </a:extLst>
              </p14:cNvPr>
              <p14:cNvContentPartPr/>
              <p14:nvPr/>
            </p14:nvContentPartPr>
            <p14:xfrm>
              <a:off x="2209103" y="1050145"/>
              <a:ext cx="360" cy="360"/>
            </p14:xfrm>
          </p:contentPart>
        </mc:Choice>
        <mc:Fallback xmlns="">
          <p:pic>
            <p:nvPicPr>
              <p:cNvPr id="5" name="Ink 4">
                <a:extLst>
                  <a:ext uri="{FF2B5EF4-FFF2-40B4-BE49-F238E27FC236}">
                    <a16:creationId xmlns:a16="http://schemas.microsoft.com/office/drawing/2014/main" id="{36018EEF-C755-4A42-A8DA-C8F944D021AB}"/>
                  </a:ext>
                </a:extLst>
              </p:cNvPr>
              <p:cNvPicPr/>
              <p:nvPr/>
            </p:nvPicPr>
            <p:blipFill>
              <a:blip r:embed="rId4"/>
              <a:stretch>
                <a:fillRect/>
              </a:stretch>
            </p:blipFill>
            <p:spPr>
              <a:xfrm>
                <a:off x="2200103" y="104114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58F6223A-3628-4B3A-A7D5-434612051931}"/>
                  </a:ext>
                </a:extLst>
              </p14:cNvPr>
              <p14:cNvContentPartPr/>
              <p14:nvPr/>
            </p14:nvContentPartPr>
            <p14:xfrm>
              <a:off x="1394063" y="1837825"/>
              <a:ext cx="360" cy="360"/>
            </p14:xfrm>
          </p:contentPart>
        </mc:Choice>
        <mc:Fallback xmlns="">
          <p:pic>
            <p:nvPicPr>
              <p:cNvPr id="6" name="Ink 5">
                <a:extLst>
                  <a:ext uri="{FF2B5EF4-FFF2-40B4-BE49-F238E27FC236}">
                    <a16:creationId xmlns:a16="http://schemas.microsoft.com/office/drawing/2014/main" id="{58F6223A-3628-4B3A-A7D5-434612051931}"/>
                  </a:ext>
                </a:extLst>
              </p:cNvPr>
              <p:cNvPicPr/>
              <p:nvPr/>
            </p:nvPicPr>
            <p:blipFill>
              <a:blip r:embed="rId4"/>
              <a:stretch>
                <a:fillRect/>
              </a:stretch>
            </p:blipFill>
            <p:spPr>
              <a:xfrm>
                <a:off x="1385063" y="1828825"/>
                <a:ext cx="18000" cy="18000"/>
              </a:xfrm>
              <a:prstGeom prst="rect">
                <a:avLst/>
              </a:prstGeom>
            </p:spPr>
          </p:pic>
        </mc:Fallback>
      </mc:AlternateContent>
    </p:spTree>
    <p:extLst>
      <p:ext uri="{BB962C8B-B14F-4D97-AF65-F5344CB8AC3E}">
        <p14:creationId xmlns:p14="http://schemas.microsoft.com/office/powerpoint/2010/main" val="321638475"/>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B634635-D518-42BB-8436-3A1B83B43E2B}"/>
                  </a:ext>
                </a:extLst>
              </p14:cNvPr>
              <p14:cNvContentPartPr/>
              <p14:nvPr/>
            </p14:nvContentPartPr>
            <p14:xfrm>
              <a:off x="12022703" y="1901224"/>
              <a:ext cx="360" cy="360"/>
            </p14:xfrm>
          </p:contentPart>
        </mc:Choice>
        <mc:Fallback xmlns="">
          <p:pic>
            <p:nvPicPr>
              <p:cNvPr id="5" name="Ink 4">
                <a:extLst>
                  <a:ext uri="{FF2B5EF4-FFF2-40B4-BE49-F238E27FC236}">
                    <a16:creationId xmlns:a16="http://schemas.microsoft.com/office/drawing/2014/main" id="{9B634635-D518-42BB-8436-3A1B83B43E2B}"/>
                  </a:ext>
                </a:extLst>
              </p:cNvPr>
              <p:cNvPicPr/>
              <p:nvPr/>
            </p:nvPicPr>
            <p:blipFill>
              <a:blip r:embed="rId4"/>
              <a:stretch>
                <a:fillRect/>
              </a:stretch>
            </p:blipFill>
            <p:spPr>
              <a:xfrm>
                <a:off x="12013703" y="1892224"/>
                <a:ext cx="18000" cy="18000"/>
              </a:xfrm>
              <a:prstGeom prst="rect">
                <a:avLst/>
              </a:prstGeom>
            </p:spPr>
          </p:pic>
        </mc:Fallback>
      </mc:AlternateContent>
    </p:spTree>
    <p:extLst>
      <p:ext uri="{BB962C8B-B14F-4D97-AF65-F5344CB8AC3E}">
        <p14:creationId xmlns:p14="http://schemas.microsoft.com/office/powerpoint/2010/main" val="238417108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condition variable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F8B6B-09C6-4B2E-B494-CC70B8446BB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CA92F5F-8D24-42BD-8343-E1EBDC19AC2B}"/>
              </a:ext>
            </a:extLst>
          </p:cNvPr>
          <p:cNvSpPr>
            <a:spLocks noGrp="1"/>
          </p:cNvSpPr>
          <p:nvPr>
            <p:ph idx="1"/>
          </p:nvPr>
        </p:nvSpPr>
        <p:spPr/>
        <p:txBody>
          <a:bodyPr/>
          <a:lstStyle/>
          <a:p>
            <a:endParaRPr lang="en-US"/>
          </a:p>
        </p:txBody>
      </p:sp>
      <p:sp>
        <p:nvSpPr>
          <p:cNvPr id="4" name="Plassholder for innhold 2">
            <a:extLst>
              <a:ext uri="{FF2B5EF4-FFF2-40B4-BE49-F238E27FC236}">
                <a16:creationId xmlns:a16="http://schemas.microsoft.com/office/drawing/2014/main" id="{380127AC-0DB2-4AED-AA1A-25113A77F15F}"/>
              </a:ext>
            </a:extLst>
          </p:cNvPr>
          <p:cNvSpPr txBox="1">
            <a:spLocks/>
          </p:cNvSpPr>
          <p:nvPr/>
        </p:nvSpPr>
        <p:spPr bwMode="auto">
          <a:xfrm>
            <a:off x="685800" y="762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
        <p:nvSpPr>
          <p:cNvPr id="5" name="Plassholder for innhold 2">
            <a:extLst>
              <a:ext uri="{FF2B5EF4-FFF2-40B4-BE49-F238E27FC236}">
                <a16:creationId xmlns:a16="http://schemas.microsoft.com/office/drawing/2014/main" id="{CB280062-9A51-4184-B09C-7BF01B969697}"/>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CD639053-B90A-438E-8931-B1BB3FF18AE4}"/>
              </a:ext>
            </a:extLst>
          </p:cNvPr>
          <p:cNvSpPr txBox="1"/>
          <p:nvPr/>
        </p:nvSpPr>
        <p:spPr>
          <a:xfrm>
            <a:off x="3239839" y="1752600"/>
            <a:ext cx="2833276"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Semaphore-based solution</a:t>
            </a:r>
          </a:p>
        </p:txBody>
      </p:sp>
      <p:sp>
        <p:nvSpPr>
          <p:cNvPr id="9" name="TextBox 8">
            <a:extLst>
              <a:ext uri="{FF2B5EF4-FFF2-40B4-BE49-F238E27FC236}">
                <a16:creationId xmlns:a16="http://schemas.microsoft.com/office/drawing/2014/main" id="{692A1FB2-3A01-46B4-80FE-EA3ABD995E4B}"/>
              </a:ext>
            </a:extLst>
          </p:cNvPr>
          <p:cNvSpPr txBox="1"/>
          <p:nvPr/>
        </p:nvSpPr>
        <p:spPr>
          <a:xfrm>
            <a:off x="9386259" y="1752600"/>
            <a:ext cx="2500941"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Monitor-based solution</a:t>
            </a:r>
          </a:p>
        </p:txBody>
      </p:sp>
    </p:spTree>
    <p:extLst>
      <p:ext uri="{BB962C8B-B14F-4D97-AF65-F5344CB8AC3E}">
        <p14:creationId xmlns:p14="http://schemas.microsoft.com/office/powerpoint/2010/main" val="606750623"/>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Recap: 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mutex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 (mutex lock released)</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Semaphore vs. Monitor: Key Differences</a:t>
            </a:r>
          </a:p>
        </p:txBody>
      </p:sp>
      <p:graphicFrame>
        <p:nvGraphicFramePr>
          <p:cNvPr id="3" name="Table 2"/>
          <p:cNvGraphicFramePr>
            <a:graphicFrameLocks noGrp="1"/>
          </p:cNvGraphicFramePr>
          <p:nvPr/>
        </p:nvGraphicFramePr>
        <p:xfrm>
          <a:off x="533400" y="800100"/>
          <a:ext cx="11125200" cy="560000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4412600">
                  <a:extLst>
                    <a:ext uri="{9D8B030D-6E8A-4147-A177-3AD203B41FA5}">
                      <a16:colId xmlns:a16="http://schemas.microsoft.com/office/drawing/2014/main" val="20001"/>
                    </a:ext>
                  </a:extLst>
                </a:gridCol>
                <a:gridCol w="4412600">
                  <a:extLst>
                    <a:ext uri="{9D8B030D-6E8A-4147-A177-3AD203B41FA5}">
                      <a16:colId xmlns:a16="http://schemas.microsoft.com/office/drawing/2014/main" val="20002"/>
                    </a:ext>
                  </a:extLst>
                </a:gridCol>
              </a:tblGrid>
              <a:tr h="700000">
                <a:tc>
                  <a:txBody>
                    <a:bodyPr/>
                    <a:lstStyle/>
                    <a:p>
                      <a:pPr algn="l"/>
                      <a:endParaRP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600" b="1">
                          <a:solidFill>
                            <a:srgbClr val="000000"/>
                          </a:solidFill>
                          <a:latin typeface="Arial"/>
                        </a:rPr>
                        <a:t>Semaphore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600" b="1">
                          <a:solidFill>
                            <a:srgbClr val="000000"/>
                          </a:solidFill>
                          <a:latin typeface="Arial"/>
                        </a:rPr>
                        <a:t>Monitor (mutex + condition variables)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extLst>
                  <a:ext uri="{0D108BD9-81ED-4DB2-BD59-A6C34878D82A}">
                    <a16:rowId xmlns:a16="http://schemas.microsoft.com/office/drawing/2014/main" val="10000"/>
                  </a:ext>
                </a:extLst>
              </a:tr>
              <a:tr h="700000">
                <a:tc>
                  <a:txBody>
                    <a:bodyPr/>
                    <a:lstStyle/>
                    <a:p>
                      <a:pPr algn="l"/>
                      <a:r>
                        <a:rPr sz="1600" b="1">
                          <a:solidFill>
                            <a:srgbClr val="000000"/>
                          </a:solidFill>
                          <a:latin typeface="Arial"/>
                        </a:rPr>
                        <a:t>Abstraction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Low-level primitive: an integer counter plus a wait queue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Higher-level construct: a mutex and condition variables that guard shared state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1"/>
                  </a:ext>
                </a:extLst>
              </a:tr>
              <a:tr h="700000">
                <a:tc>
                  <a:txBody>
                    <a:bodyPr/>
                    <a:lstStyle/>
                    <a:p>
                      <a:pPr algn="l"/>
                      <a:r>
                        <a:rPr sz="1600" b="1">
                          <a:solidFill>
                            <a:srgbClr val="000000"/>
                          </a:solidFill>
                          <a:latin typeface="Arial"/>
                        </a:rPr>
                        <a:t>Mutual exclusion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Not built in: programmer builds it with a binary semaphore (init = 1)</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Built in: hold the monitor's mutex whenever shared data is accessed</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2"/>
                  </a:ext>
                </a:extLst>
              </a:tr>
              <a:tr h="700000">
                <a:tc>
                  <a:txBody>
                    <a:bodyPr/>
                    <a:lstStyle/>
                    <a:p>
                      <a:pPr algn="l"/>
                      <a:r>
                        <a:rPr sz="1600" b="1">
                          <a:solidFill>
                            <a:srgbClr val="000000"/>
                          </a:solidFill>
                          <a:latin typeface="Arial"/>
                        </a:rPr>
                        <a:t>Waiting for a condition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The counter value is the condition; sem_wait() blocks only if value == 0</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cond_wait() always blocks; programmer re-checks any Boolean predicate in a </a:t>
                      </a:r>
                      <a:r>
                        <a:rPr sz="1600" b="1">
                          <a:solidFill>
                            <a:srgbClr val="FF0000"/>
                          </a:solidFill>
                          <a:latin typeface="Arial"/>
                        </a:rPr>
                        <a:t>while</a:t>
                      </a:r>
                      <a:r>
                        <a:rPr sz="1600" b="0">
                          <a:solidFill>
                            <a:srgbClr val="000000"/>
                          </a:solidFill>
                          <a:latin typeface="Arial"/>
                        </a:rPr>
                        <a:t> loop</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3"/>
                  </a:ext>
                </a:extLst>
              </a:tr>
              <a:tr h="700000">
                <a:tc>
                  <a:txBody>
                    <a:bodyPr/>
                    <a:lstStyle/>
                    <a:p>
                      <a:pPr algn="l"/>
                      <a:r>
                        <a:rPr sz="1600" b="1">
                          <a:solidFill>
                            <a:srgbClr val="000000"/>
                          </a:solidFill>
                          <a:latin typeface="Arial"/>
                        </a:rPr>
                        <a:t>Memory of signals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1">
                          <a:solidFill>
                            <a:srgbClr val="FF0000"/>
                          </a:solidFill>
                          <a:latin typeface="Arial"/>
                        </a:rPr>
                        <a:t>Remembers</a:t>
                      </a:r>
                      <a:r>
                        <a:rPr sz="1600" b="0">
                          <a:solidFill>
                            <a:srgbClr val="000000"/>
                          </a:solidFill>
                          <a:latin typeface="Arial"/>
                        </a:rPr>
                        <a:t>: sem_post() with no waiter increments the value, so it is never lost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1">
                          <a:solidFill>
                            <a:srgbClr val="FF0000"/>
                          </a:solidFill>
                          <a:latin typeface="Arial"/>
                        </a:rPr>
                        <a:t>No memory</a:t>
                      </a:r>
                      <a:r>
                        <a:rPr sz="1600" b="0">
                          <a:solidFill>
                            <a:srgbClr val="000000"/>
                          </a:solidFill>
                          <a:latin typeface="Arial"/>
                        </a:rPr>
                        <a:t>: cond_signal() with no waiter is lost, so a state flag is needed (e.g., done)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4"/>
                  </a:ext>
                </a:extLst>
              </a:tr>
              <a:tr h="700000">
                <a:tc>
                  <a:txBody>
                    <a:bodyPr/>
                    <a:lstStyle/>
                    <a:p>
                      <a:pPr algn="l"/>
                      <a:r>
                        <a:rPr sz="1600" b="1">
                          <a:solidFill>
                            <a:srgbClr val="000000"/>
                          </a:solidFill>
                          <a:latin typeface="Arial"/>
                        </a:rPr>
                        <a:t>Waiting inside a critical section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Sleeping on a semaphore while holding a mutex can cause deadlock (P/C example)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cond_wait() atomically releases the mutex and re-acquires it before returning</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5"/>
                  </a:ext>
                </a:extLst>
              </a:tr>
              <a:tr h="700000">
                <a:tc>
                  <a:txBody>
                    <a:bodyPr/>
                    <a:lstStyle/>
                    <a:p>
                      <a:pPr algn="l"/>
                      <a:r>
                        <a:rPr sz="1600" b="1">
                          <a:solidFill>
                            <a:srgbClr val="000000"/>
                          </a:solidFill>
                          <a:latin typeface="Arial"/>
                        </a:rPr>
                        <a:t>Ownership</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No owner: any thread may call sem_post()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Lock has an owner: only the thread that locked the mutex may unlock it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6"/>
                  </a:ext>
                </a:extLst>
              </a:tr>
              <a:tr h="700000">
                <a:tc>
                  <a:txBody>
                    <a:bodyPr/>
                    <a:lstStyle/>
                    <a:p>
                      <a:pPr algn="l"/>
                      <a:r>
                        <a:rPr sz="1600" b="1">
                          <a:solidFill>
                            <a:srgbClr val="000000"/>
                          </a:solidFill>
                          <a:latin typeface="Arial"/>
                        </a:rPr>
                        <a:t>Best suited for</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Counting resources and one-shot signals (thread join, buffer slots, "room")</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Arbitrary conditions on shared state (e.g., state[i] != EATING); broadcast to all waiters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Semaphore vs. Monitor: Trade-offs</a:t>
            </a:r>
          </a:p>
        </p:txBody>
      </p:sp>
      <p:sp>
        <p:nvSpPr>
          <p:cNvPr id="3" name="TextBox 2"/>
          <p:cNvSpPr txBox="1"/>
          <p:nvPr/>
        </p:nvSpPr>
        <p:spPr>
          <a:xfrm>
            <a:off x="533400" y="800100"/>
            <a:ext cx="5600000" cy="3850000"/>
          </a:xfrm>
          <a:prstGeom prst="rect">
            <a:avLst/>
          </a:prstGeom>
          <a:noFill/>
          <a:ln w="12700">
            <a:solidFill>
              <a:srgbClr val="2F4BD6"/>
            </a:solidFill>
          </a:ln>
        </p:spPr>
        <p:txBody>
          <a:bodyPr wrap="square">
            <a:spAutoFit/>
          </a:bodyPr>
          <a:lstStyle/>
          <a:p>
            <a:r>
              <a:rPr sz="1600" b="1">
                <a:solidFill>
                  <a:srgbClr val="FF0000"/>
                </a:solidFill>
                <a:latin typeface="Arial"/>
              </a:rPr>
              <a:t>Semaphore = monitor + a counter</a:t>
            </a:r>
          </a:p>
          <a:p>
            <a:r>
              <a:rPr sz="1400">
                <a:solidFill>
                  <a:srgbClr val="000000"/>
                </a:solidFill>
                <a:latin typeface="Consolas"/>
              </a:rPr>
              <a:t>int value; mutex m; cond c;</a:t>
            </a:r>
          </a:p>
          <a:p>
            <a:r>
              <a:rPr sz="1400">
                <a:solidFill>
                  <a:srgbClr val="000000"/>
                </a:solidFill>
                <a:latin typeface="Consolas"/>
              </a:rPr>
              <a:t> </a:t>
            </a:r>
          </a:p>
          <a:p>
            <a:r>
              <a:rPr sz="1400">
                <a:solidFill>
                  <a:srgbClr val="000000"/>
                </a:solidFill>
                <a:latin typeface="Consolas"/>
              </a:rPr>
              <a:t>sem_wait() {</a:t>
            </a:r>
          </a:p>
          <a:p>
            <a:r>
              <a:rPr sz="1400">
                <a:solidFill>
                  <a:srgbClr val="000000"/>
                </a:solidFill>
                <a:latin typeface="Consolas"/>
              </a:rPr>
              <a:t>  lock(&amp;m);</a:t>
            </a:r>
          </a:p>
          <a:p>
            <a:r>
              <a:rPr sz="1400">
                <a:solidFill>
                  <a:srgbClr val="000000"/>
                </a:solidFill>
                <a:latin typeface="Consolas"/>
              </a:rPr>
              <a:t>  while (value == 0) cond_wait(&amp;c, &amp;m);</a:t>
            </a:r>
          </a:p>
          <a:p>
            <a:r>
              <a:rPr sz="1400">
                <a:solidFill>
                  <a:srgbClr val="000000"/>
                </a:solidFill>
                <a:latin typeface="Consolas"/>
              </a:rPr>
              <a:t>  value--;</a:t>
            </a:r>
          </a:p>
          <a:p>
            <a:r>
              <a:rPr sz="1400">
                <a:solidFill>
                  <a:srgbClr val="000000"/>
                </a:solidFill>
                <a:latin typeface="Consolas"/>
              </a:rPr>
              <a:t>  unlock(&amp;m);</a:t>
            </a:r>
          </a:p>
          <a:p>
            <a:r>
              <a:rPr sz="1400">
                <a:solidFill>
                  <a:srgbClr val="000000"/>
                </a:solidFill>
                <a:latin typeface="Consolas"/>
              </a:rPr>
              <a:t>}</a:t>
            </a:r>
          </a:p>
          <a:p>
            <a:r>
              <a:rPr sz="1400">
                <a:solidFill>
                  <a:srgbClr val="000000"/>
                </a:solidFill>
                <a:latin typeface="Consolas"/>
              </a:rPr>
              <a:t>sem_post() {</a:t>
            </a:r>
          </a:p>
          <a:p>
            <a:r>
              <a:rPr sz="1400">
                <a:solidFill>
                  <a:srgbClr val="000000"/>
                </a:solidFill>
                <a:latin typeface="Consolas"/>
              </a:rPr>
              <a:t>  lock(&amp;m);</a:t>
            </a:r>
          </a:p>
          <a:p>
            <a:r>
              <a:rPr sz="1400">
                <a:solidFill>
                  <a:srgbClr val="000000"/>
                </a:solidFill>
                <a:latin typeface="Consolas"/>
              </a:rPr>
              <a:t>  value++;  cond_signal(&amp;c);</a:t>
            </a:r>
          </a:p>
          <a:p>
            <a:r>
              <a:rPr sz="1400">
                <a:solidFill>
                  <a:srgbClr val="000000"/>
                </a:solidFill>
                <a:latin typeface="Consolas"/>
              </a:rPr>
              <a:t>  unlock(&amp;m);</a:t>
            </a:r>
          </a:p>
          <a:p>
            <a:r>
              <a:rPr sz="1400">
                <a:solidFill>
                  <a:srgbClr val="000000"/>
                </a:solidFill>
                <a:latin typeface="Consolas"/>
              </a:rPr>
              <a:t>}</a:t>
            </a:r>
          </a:p>
          <a:p>
            <a:pPr>
              <a:spcBef>
                <a:spcPts val="600"/>
              </a:spcBef>
            </a:pPr>
            <a:r>
              <a:rPr sz="1400" b="0">
                <a:solidFill>
                  <a:srgbClr val="000000"/>
                </a:solidFill>
                <a:latin typeface="Arial"/>
              </a:rPr>
              <a:t>The counter is exactly the </a:t>
            </a:r>
            <a:r>
              <a:rPr sz="1400" b="1">
                <a:solidFill>
                  <a:srgbClr val="FF0000"/>
                </a:solidFill>
                <a:latin typeface="Arial"/>
              </a:rPr>
              <a:t>state</a:t>
            </a:r>
            <a:r>
              <a:rPr sz="1400" b="0">
                <a:solidFill>
                  <a:srgbClr val="000000"/>
                </a:solidFill>
                <a:latin typeface="Arial"/>
              </a:rPr>
              <a:t> that a condition variable lacks. A monitor can implement a semaphore, and a semaphore can implement a monitor, so the two are equally expressive.</a:t>
            </a:r>
          </a:p>
        </p:txBody>
      </p:sp>
      <p:sp>
        <p:nvSpPr>
          <p:cNvPr id="4" name="Rectangle 3"/>
          <p:cNvSpPr/>
          <p:nvPr/>
        </p:nvSpPr>
        <p:spPr>
          <a:xfrm>
            <a:off x="6350000" y="800100"/>
            <a:ext cx="5308600" cy="1850000"/>
          </a:xfrm>
          <a:prstGeom prst="rect">
            <a:avLst/>
          </a:prstGeom>
          <a:solidFill>
            <a:srgbClr val="E2F0D9"/>
          </a:solidFill>
          <a:ln>
            <a:noFill/>
          </a:ln>
          <a:effectLst/>
        </p:spPr>
        <p:txBody>
          <a:bodyPr wrap="square" rtlCol="0" anchor="t"/>
          <a:lstStyle/>
          <a:p>
            <a:pPr algn="l"/>
            <a:r>
              <a:rPr sz="1600" b="1">
                <a:solidFill>
                  <a:srgbClr val="FF0000"/>
                </a:solidFill>
                <a:latin typeface="Arial"/>
              </a:rPr>
              <a:t>Semaphore</a:t>
            </a:r>
          </a:p>
          <a:p>
            <a:pPr algn="l">
              <a:spcBef>
                <a:spcPts val="400"/>
              </a:spcBef>
            </a:pPr>
            <a:r>
              <a:rPr sz="1400" b="1">
                <a:solidFill>
                  <a:srgbClr val="FF0000"/>
                </a:solidFill>
                <a:latin typeface="Arial"/>
              </a:rPr>
              <a:t>Prefer for:</a:t>
            </a:r>
            <a:r>
              <a:rPr sz="1400" b="0">
                <a:solidFill>
                  <a:srgbClr val="000000"/>
                </a:solidFill>
                <a:latin typeface="Arial"/>
              </a:rPr>
              <a:t> counting resources and signals that may arrive before the waiter</a:t>
            </a:r>
          </a:p>
          <a:p>
            <a:pPr algn="l">
              <a:spcBef>
                <a:spcPts val="400"/>
              </a:spcBef>
            </a:pPr>
            <a:r>
              <a:rPr sz="1400" b="1">
                <a:solidFill>
                  <a:srgbClr val="FF0000"/>
                </a:solidFill>
                <a:latin typeface="Arial"/>
              </a:rPr>
              <a:t>Watch out:</a:t>
            </a:r>
            <a:r>
              <a:rPr sz="1400" b="0">
                <a:solidFill>
                  <a:srgbClr val="000000"/>
                </a:solidFill>
                <a:latin typeface="Arial"/>
              </a:rPr>
              <a:t> mutex and scheduling mixed in one primitive; order of sem_wait() calls matters; hard to prove correct</a:t>
            </a:r>
          </a:p>
        </p:txBody>
      </p:sp>
      <p:sp>
        <p:nvSpPr>
          <p:cNvPr id="5" name="Rectangle 4"/>
          <p:cNvSpPr/>
          <p:nvPr/>
        </p:nvSpPr>
        <p:spPr>
          <a:xfrm>
            <a:off x="6350000" y="2800100"/>
            <a:ext cx="5308600" cy="1850000"/>
          </a:xfrm>
          <a:prstGeom prst="rect">
            <a:avLst/>
          </a:prstGeom>
          <a:solidFill>
            <a:srgbClr val="FFF2CC"/>
          </a:solidFill>
          <a:ln>
            <a:noFill/>
          </a:ln>
          <a:effectLst/>
        </p:spPr>
        <p:txBody>
          <a:bodyPr wrap="square" rtlCol="0" anchor="t"/>
          <a:lstStyle/>
          <a:p>
            <a:pPr algn="l"/>
            <a:r>
              <a:rPr sz="1600" b="1">
                <a:solidFill>
                  <a:srgbClr val="FF0000"/>
                </a:solidFill>
                <a:latin typeface="Arial"/>
              </a:rPr>
              <a:t>Monitor</a:t>
            </a:r>
          </a:p>
          <a:p>
            <a:pPr algn="l">
              <a:spcBef>
                <a:spcPts val="400"/>
              </a:spcBef>
            </a:pPr>
            <a:r>
              <a:rPr sz="1400" b="1">
                <a:solidFill>
                  <a:srgbClr val="FF0000"/>
                </a:solidFill>
                <a:latin typeface="Arial"/>
              </a:rPr>
              <a:t>Prefer for:</a:t>
            </a:r>
            <a:r>
              <a:rPr sz="1400" b="0">
                <a:solidFill>
                  <a:srgbClr val="000000"/>
                </a:solidFill>
                <a:latin typeface="Arial"/>
              </a:rPr>
              <a:t> conditions over shared state, with broadcast to wake all waiters</a:t>
            </a:r>
          </a:p>
          <a:p>
            <a:pPr algn="l">
              <a:spcBef>
                <a:spcPts val="400"/>
              </a:spcBef>
            </a:pPr>
            <a:r>
              <a:rPr sz="1400" b="1">
                <a:solidFill>
                  <a:srgbClr val="FF0000"/>
                </a:solidFill>
                <a:latin typeface="Arial"/>
              </a:rPr>
              <a:t>Watch out:</a:t>
            </a:r>
            <a:r>
              <a:rPr sz="1400" b="0">
                <a:solidFill>
                  <a:srgbClr val="000000"/>
                </a:solidFill>
                <a:latin typeface="Arial"/>
              </a:rPr>
              <a:t> must keep an explicit state flag; always re-check it in a while loop (Mesa semantics)</a:t>
            </a:r>
          </a:p>
        </p:txBody>
      </p:sp>
      <p:graphicFrame>
        <p:nvGraphicFramePr>
          <p:cNvPr id="6" name="Table 5"/>
          <p:cNvGraphicFramePr>
            <a:graphicFrameLocks noGrp="1"/>
          </p:cNvGraphicFramePr>
          <p:nvPr/>
        </p:nvGraphicFramePr>
        <p:xfrm>
          <a:off x="533400" y="4850000"/>
          <a:ext cx="11125200" cy="180000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4412600">
                  <a:extLst>
                    <a:ext uri="{9D8B030D-6E8A-4147-A177-3AD203B41FA5}">
                      <a16:colId xmlns:a16="http://schemas.microsoft.com/office/drawing/2014/main" val="20001"/>
                    </a:ext>
                  </a:extLst>
                </a:gridCol>
                <a:gridCol w="4412600">
                  <a:extLst>
                    <a:ext uri="{9D8B030D-6E8A-4147-A177-3AD203B41FA5}">
                      <a16:colId xmlns:a16="http://schemas.microsoft.com/office/drawing/2014/main" val="20002"/>
                    </a:ext>
                  </a:extLst>
                </a:gridCol>
              </a:tblGrid>
              <a:tr h="450000">
                <a:tc>
                  <a:txBody>
                    <a:bodyPr/>
                    <a:lstStyle/>
                    <a:p>
                      <a:pPr algn="l"/>
                      <a:r>
                        <a:rPr sz="1400" b="1">
                          <a:solidFill>
                            <a:srgbClr val="000000"/>
                          </a:solidFill>
                          <a:latin typeface="Arial"/>
                        </a:rPr>
                        <a:t>Same problem in this lecture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400" b="1">
                          <a:solidFill>
                            <a:srgbClr val="000000"/>
                          </a:solidFill>
                          <a:latin typeface="Arial"/>
                        </a:rPr>
                        <a:t>Semaphore version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400" b="1">
                          <a:solidFill>
                            <a:srgbClr val="000000"/>
                          </a:solidFill>
                          <a:latin typeface="Arial"/>
                        </a:rPr>
                        <a:t>Monitor version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extLst>
                  <a:ext uri="{0D108BD9-81ED-4DB2-BD59-A6C34878D82A}">
                    <a16:rowId xmlns:a16="http://schemas.microsoft.com/office/drawing/2014/main" val="10000"/>
                  </a:ext>
                </a:extLst>
              </a:tr>
              <a:tr h="450000">
                <a:tc>
                  <a:txBody>
                    <a:bodyPr/>
                    <a:lstStyle/>
                    <a:p>
                      <a:pPr algn="l"/>
                      <a:r>
                        <a:rPr sz="1400" b="1">
                          <a:solidFill>
                            <a:srgbClr val="000000"/>
                          </a:solidFill>
                          <a:latin typeface="Arial"/>
                        </a:rPr>
                        <a:t>Thread join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400" b="0">
                          <a:solidFill>
                            <a:srgbClr val="000000"/>
                          </a:solidFill>
                          <a:latin typeface="Arial"/>
                        </a:rPr>
                        <a:t>sem = 0; post / wait, no flag needed</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400" b="0">
                          <a:solidFill>
                            <a:srgbClr val="000000"/>
                          </a:solidFill>
                          <a:latin typeface="Arial"/>
                        </a:rPr>
                        <a:t>mutex + CV + done flag; while (!done) cond_wait()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1"/>
                  </a:ext>
                </a:extLst>
              </a:tr>
              <a:tr h="450000">
                <a:tc>
                  <a:txBody>
                    <a:bodyPr/>
                    <a:lstStyle/>
                    <a:p>
                      <a:pPr algn="l"/>
                      <a:r>
                        <a:rPr sz="1400" b="1">
                          <a:solidFill>
                            <a:srgbClr val="000000"/>
                          </a:solidFill>
                          <a:latin typeface="Arial"/>
                        </a:rPr>
                        <a:t>Bounded buffer</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400" b="0">
                          <a:solidFill>
                            <a:srgbClr val="000000"/>
                          </a:solidFill>
                          <a:latin typeface="Arial"/>
                        </a:rPr>
                        <a:t>3 semaphores: mutex, fullSlots, emptySlots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400" b="0">
                          <a:solidFill>
                            <a:srgbClr val="000000"/>
                          </a:solidFill>
                          <a:latin typeface="Arial"/>
                        </a:rPr>
                        <a:t>1 mutex + 2 CVs + full / empty flags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2"/>
                  </a:ext>
                </a:extLst>
              </a:tr>
              <a:tr h="450000">
                <a:tc>
                  <a:txBody>
                    <a:bodyPr/>
                    <a:lstStyle/>
                    <a:p>
                      <a:pPr algn="l"/>
                      <a:r>
                        <a:rPr sz="1400" b="1">
                          <a:solidFill>
                            <a:srgbClr val="000000"/>
                          </a:solidFill>
                          <a:latin typeface="Arial"/>
                        </a:rPr>
                        <a:t>Dining philosophers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400" b="0">
                          <a:solidFill>
                            <a:srgbClr val="000000"/>
                          </a:solidFill>
                          <a:latin typeface="Arial"/>
                        </a:rPr>
                        <a:t>self[i] semaphores, initialized to 0</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400" b="0">
                          <a:solidFill>
                            <a:srgbClr val="000000"/>
                          </a:solidFill>
                          <a:latin typeface="Arial"/>
                        </a:rPr>
                        <a:t>self[i] condition variables; while (state[i] != EATING)</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normAutofit fontScale="92500" lnSpcReduction="20000"/>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a:p>
            <a:r>
              <a:rPr lang="en-GB" dirty="0"/>
              <a:t>Arpaci-Dusseau, R. and A.: Operating Systems: Three Easy Pieces (OSTEP), Part II: Concurrency (Ch. 26-31).</a:t>
            </a:r>
          </a:p>
          <a:p>
            <a:pPr lvl="1"/>
            <a:r>
              <a:rPr lang="en-GB" dirty="0">
                <a:hlinkClick r:id="rId4"/>
              </a:rPr>
              <a:t>https://pages.cs.wisc.edu/~remzi/OSTEP/</a:t>
            </a:r>
            <a:endParaRPr lang="en-SE" dirty="0"/>
          </a:p>
          <a:p>
            <a:r>
              <a:rPr lang="en-GB" dirty="0"/>
              <a:t>UC Berkeley CS 162: Operating Systems and System Programming (lecture material on synchronization on which these slides are based)</a:t>
            </a:r>
          </a:p>
          <a:p>
            <a:pPr lvl="1"/>
            <a:r>
              <a:rPr lang="en-GB" dirty="0">
                <a:hlinkClick r:id="rId5"/>
              </a:rPr>
              <a:t>https://cs162.org</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96470</TotalTime>
  <Pages>60</Pages>
  <Words>15693</Words>
  <Application>Microsoft Office PowerPoint</Application>
  <PresentationFormat>Widescreen</PresentationFormat>
  <Paragraphs>1636</Paragraphs>
  <Slides>57</Slides>
  <Notes>46</Notes>
  <HiddenSlides>0</HiddenSlides>
  <MMClips>0</MMClips>
  <ScaleCrop>false</ScaleCrop>
  <HeadingPairs>
    <vt:vector size="6" baseType="variant">
      <vt:variant>
        <vt:lpstr>Fonts Used</vt:lpstr>
      </vt:variant>
      <vt:variant>
        <vt:i4>18</vt:i4>
      </vt:variant>
      <vt:variant>
        <vt:lpstr>Theme</vt:lpstr>
      </vt:variant>
      <vt:variant>
        <vt:i4>2</vt:i4>
      </vt:variant>
      <vt:variant>
        <vt:lpstr>Slide Titles</vt:lpstr>
      </vt:variant>
      <vt:variant>
        <vt:i4>57</vt:i4>
      </vt:variant>
    </vt:vector>
  </HeadingPairs>
  <TitlesOfParts>
    <vt:vector size="77" baseType="lpstr">
      <vt:lpstr>gg sans</vt:lpstr>
      <vt:lpstr>Gill Sans</vt:lpstr>
      <vt:lpstr>Gill Sans Light</vt:lpstr>
      <vt:lpstr>Google Sans</vt:lpstr>
      <vt:lpstr>Gulim</vt:lpstr>
      <vt:lpstr>Gulim</vt:lpstr>
      <vt:lpstr>inherit</vt:lpstr>
      <vt:lpstr>Menlo</vt:lpstr>
      <vt:lpstr>ＭＳ Ｐゴシック</vt:lpstr>
      <vt:lpstr>宋体</vt:lpstr>
      <vt:lpstr>Arial</vt:lpstr>
      <vt:lpstr>Calibri</vt:lpstr>
      <vt:lpstr>Comic Sans MS</vt:lpstr>
      <vt:lpstr>Consolas</vt:lpstr>
      <vt:lpstr>Courier New</vt:lpstr>
      <vt:lpstr>Helvetica</vt:lpstr>
      <vt:lpstr>Times New Roman</vt:lpstr>
      <vt:lpstr>Wingdings</vt:lpstr>
      <vt:lpstr>Office</vt:lpstr>
      <vt:lpstr>1_Office</vt:lpstr>
      <vt:lpstr>CSC 112: Computer Operating Systems Lecture 3  Synchronization</vt:lpstr>
      <vt:lpstr>Outline</vt:lpstr>
      <vt:lpstr>Different Types of Concurrency</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Threads &amp; Semaphores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Monitor with Condition Variables (CV)</vt:lpstr>
      <vt:lpstr>Monitor Structure</vt:lpstr>
      <vt:lpstr>CV Common Usage Pattern</vt:lpstr>
      <vt:lpstr>P/C Problem with Condition Variable</vt:lpstr>
      <vt:lpstr>While vs. If for Checking a Boolean Flag</vt:lpstr>
      <vt:lpstr>Mesa Monitors</vt:lpstr>
      <vt:lpstr>Hoare vs. Mesa Monitors: signal()</vt:lpstr>
      <vt:lpstr>Hoare vs. Mesa Monitors: Comparison</vt:lpstr>
      <vt:lpstr>The Thread Join Problem</vt:lpstr>
      <vt:lpstr>Thread Join with Semaphore</vt:lpstr>
      <vt:lpstr>Thread Join with Condition Variable</vt:lpstr>
      <vt:lpstr>Thread Join with Condition Variables: Incorrect</vt:lpstr>
      <vt:lpstr>Dining Philosophers</vt:lpstr>
      <vt:lpstr>Semaphore-based Solution: Deadlock</vt:lpstr>
      <vt:lpstr>Semaphore-based Solution 0: Global Lock</vt:lpstr>
      <vt:lpstr>Solution 0 (Variant): Deadlock</vt:lpstr>
      <vt:lpstr>Semaphore-based Solution I</vt:lpstr>
      <vt:lpstr>Semaphore-based Solution II</vt:lpstr>
      <vt:lpstr>Semaphore-based Solution III</vt:lpstr>
      <vt:lpstr>Semaphore-based Solution IV</vt:lpstr>
      <vt:lpstr>Monitor-based Solution</vt:lpstr>
      <vt:lpstr>PowerPoint Presentation</vt:lpstr>
      <vt:lpstr>Recap: Semaphores vs. Monitors</vt:lpstr>
      <vt:lpstr>Semaphore vs. Monitor: Key Differences</vt:lpstr>
      <vt:lpstr>Semaphore vs. Monitor: Trade-offs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1414</cp:revision>
  <cp:lastPrinted>2022-03-10T08:20:00Z</cp:lastPrinted>
  <dcterms:created xsi:type="dcterms:W3CDTF">1995-08-12T11:37:26Z</dcterms:created>
  <dcterms:modified xsi:type="dcterms:W3CDTF">2026-10-29T00:15:30Z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