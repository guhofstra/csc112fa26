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1383" r:id="rId3"/>
    <p:sldId id="381" r:id="rId4"/>
    <p:sldId id="1393" r:id="rId5"/>
    <p:sldId id="369" r:id="rId6"/>
    <p:sldId id="1392" r:id="rId7"/>
    <p:sldId id="414" r:id="rId8"/>
    <p:sldId id="420" r:id="rId9"/>
    <p:sldId id="1384" r:id="rId10"/>
    <p:sldId id="1386" r:id="rId11"/>
    <p:sldId id="1388" r:id="rId12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391" autoAdjust="0"/>
    <p:restoredTop sz="82745" autoAdjust="0"/>
  </p:normalViewPr>
  <p:slideViewPr>
    <p:cSldViewPr>
      <p:cViewPr varScale="1">
        <p:scale>
          <a:sx n="68" d="100"/>
          <a:sy n="68" d="100"/>
        </p:scale>
        <p:origin x="1109" y="14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3115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7688"/>
            <a:ext cx="4876800" cy="27447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Comic Sans MS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https://people.eecs.berkeley.edu/~kubitron/courses/cs162-F07/exams/fa07mt1-solutions.pdf</a:t>
            </a:r>
          </a:p>
          <a:p>
            <a:r>
              <a:rPr lang="en-GB" dirty="0"/>
              <a:t>The lawyers are so busy talking that they can only grab one chopstick at a time. Design a deadlock-free algorithm using monitors and Banker’s algorithm.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09372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Assume there are at least 2 chopsticks, so at least one lawyer can eat.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39956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0755725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3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4.wmf"/><Relationship Id="rId10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oleObject" Target="../embeddings/oleObject5.bin"/><Relationship Id="rId3" Type="http://schemas.openxmlformats.org/officeDocument/2006/relationships/image" Target="../media/image1.wmf"/><Relationship Id="rId4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6" Type="http://schemas.openxmlformats.org/officeDocument/2006/relationships/oleObject" Target="../embeddings/oleObject7.bin"/><Relationship Id="rId7" Type="http://schemas.openxmlformats.org/officeDocument/2006/relationships/image" Target="../media/image7.wmf"/><Relationship Id="rId8" Type="http://schemas.openxmlformats.org/officeDocument/2006/relationships/oleObject" Target="../embeddings/oleObject8.bin"/><Relationship Id="rId9" Type="http://schemas.openxmlformats.org/officeDocument/2006/relationships/image" Target="../media/image8.wmf"/><Relationship Id="rId10" Type="http://schemas.openxmlformats.org/officeDocument/2006/relationships/oleObject" Target="../embeddings/oleObject4.bin"/><Relationship Id="rId11" Type="http://schemas.openxmlformats.org/officeDocument/2006/relationships/image" Target="../media/image4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pPr>
              <a:defRPr/>
            </a:pPr>
            <a:r>
              <a:rPr lang="en-US" sz="3000" dirty="0"/>
              <a:t>CSC 112: Computer Operating Systems</a:t>
            </a:r>
            <a:br>
              <a:rPr lang="en-US" sz="3000" dirty="0"/>
            </a:br>
            <a:r>
              <a:rPr lang="en-US" sz="3000" dirty="0"/>
              <a:t>Lecture 4</a:t>
            </a: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r>
              <a:rPr lang="en-US" sz="3000" dirty="0"/>
              <a:t>Deadlocks Exercises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>
              <a:defRPr/>
            </a:pPr>
            <a:r>
              <a:rPr lang="en-GB" altLang="en-US" dirty="0">
                <a:ea typeface="Gill Sans" charset="0"/>
              </a:rPr>
              <a:t>Department of Computer Science, </a:t>
            </a:r>
          </a:p>
          <a:p>
            <a:pPr marL="285750" indent="-285750">
              <a:defRPr/>
            </a:pPr>
            <a:r>
              <a:rPr lang="en-GB" altLang="en-US" dirty="0">
                <a:ea typeface="Gill Sans" charset="0"/>
              </a:rPr>
              <a:t>Hofstra University</a:t>
            </a:r>
            <a:endParaRPr lang="en-US" altLang="en-US" dirty="0">
              <a:ea typeface="Gill Sans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7E4A3-9D39-57A8-5B40-7A2E574F4F28}"/>
              </a:ext>
            </a:extLst>
          </p:cNvPr>
          <p:cNvSpPr txBox="1"/>
          <p:nvPr/>
        </p:nvSpPr>
        <p:spPr>
          <a:xfrm>
            <a:off x="2713676" y="6477000"/>
            <a:ext cx="6840847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Gill Sans Light"/>
              </a:rPr>
              <a:t>Acknowledgement: Lecture slides based on UC Berkeley </a:t>
            </a:r>
            <a:r>
              <a:rPr lang="en-GB" altLang="zh-CN" sz="1200" dirty="0">
                <a:latin typeface="Gill Sans Light"/>
              </a:rPr>
              <a:t>CS 162: Operating Systems and System Programming</a:t>
            </a:r>
            <a:r>
              <a:rPr lang="en-US" altLang="zh-CN" sz="1200" dirty="0">
                <a:latin typeface="Gill Sans Light"/>
              </a:rPr>
              <a:t> </a:t>
            </a:r>
            <a:endParaRPr lang="en-SE" sz="1200" dirty="0">
              <a:latin typeface="Gill Sans Ligh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D3F3-6935-47F2-C47D-DA6888C12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rPr lang="en-GB" dirty="0"/>
              <a:t>Quiz: Deadlocks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229F-2CFC-9FAC-679A-B3EF4E2F8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487" y="914400"/>
            <a:ext cx="5994114" cy="5105400"/>
          </a:xfrm>
        </p:spPr>
        <p:txBody>
          <a:bodyPr>
            <a:normAutofit/>
          </a:bodyPr>
          <a:lstStyle/>
          <a:p>
            <a:r>
              <a:rPr lang="en-GB" dirty="0"/>
              <a:t>Is there a possible deadlock?</a:t>
            </a:r>
          </a:p>
          <a:p>
            <a:endParaRPr lang="en-GB" dirty="0"/>
          </a:p>
          <a:p>
            <a:endParaRPr lang="en-SE" dirty="0"/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6AC16764-0F2D-B238-9D81-900B4D251691}"/>
              </a:ext>
            </a:extLst>
          </p:cNvPr>
          <p:cNvSpPr txBox="1"/>
          <p:nvPr/>
        </p:nvSpPr>
        <p:spPr>
          <a:xfrm>
            <a:off x="6387676" y="846004"/>
            <a:ext cx="5632900" cy="5049458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3350" eaLnBrk="1" fontAlgn="auto" hangingPunct="1">
              <a:spcBef>
                <a:spcPts val="434"/>
              </a:spcBef>
              <a:spcAft>
                <a:spcPts val="0"/>
              </a:spcAft>
              <a:tabLst>
                <a:tab pos="532765" algn="l"/>
              </a:tabLst>
            </a:pPr>
            <a:r>
              <a:rPr sz="1200" b="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1</a:t>
            </a:r>
            <a:r>
              <a:rPr sz="1200" b="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	</a:t>
            </a:r>
            <a:r>
              <a:rPr sz="1400" b="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Semaphore</a:t>
            </a:r>
            <a:r>
              <a:rPr sz="1400" b="0" kern="0" spc="-5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b="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L1=1,</a:t>
            </a:r>
            <a:r>
              <a:rPr sz="1400" b="0" kern="0" spc="-4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b="0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L2=1,</a:t>
            </a:r>
            <a:r>
              <a:rPr sz="1400" b="0" kern="0" spc="-40" dirty="0">
                <a:solidFill>
                  <a:sysClr val="windowText" lastClr="000000"/>
                </a:solidFill>
                <a:latin typeface="Courier New"/>
                <a:cs typeface="Courier New"/>
              </a:rPr>
              <a:t> 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L3=1;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33350" eaLnBrk="1" fontAlgn="auto" hangingPunct="1">
              <a:spcBef>
                <a:spcPts val="295"/>
              </a:spcBef>
              <a:spcAft>
                <a:spcPts val="0"/>
              </a:spcAft>
            </a:pPr>
            <a:r>
              <a:rPr sz="1200" b="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2</a:t>
            </a:r>
            <a:endParaRPr sz="1200" b="0" kern="0" dirty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511175" indent="-377825" eaLnBrk="1" fontAlgn="auto" hangingPunct="1">
              <a:spcBef>
                <a:spcPts val="130"/>
              </a:spcBef>
              <a:spcAft>
                <a:spcPts val="0"/>
              </a:spcAft>
              <a:buSzPct val="90476"/>
              <a:buFont typeface="Arial MT"/>
              <a:buAutoNum type="arabicPlain" startAt="3"/>
              <a:tabLst>
                <a:tab pos="511175" algn="l"/>
              </a:tabLst>
            </a:pPr>
            <a:r>
              <a:rPr sz="1400" b="0" i="1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// Thread </a:t>
            </a:r>
            <a:r>
              <a:rPr sz="1400" b="0" i="1" kern="0" spc="-25" dirty="0">
                <a:solidFill>
                  <a:sysClr val="windowText" lastClr="000000"/>
                </a:solidFill>
                <a:latin typeface="Courier New"/>
                <a:cs typeface="Courier New"/>
              </a:rPr>
              <a:t>1: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0225" indent="-39687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3"/>
              <a:tabLst>
                <a:tab pos="53022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L1.wait()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0225" indent="-39687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3"/>
              <a:tabLst>
                <a:tab pos="53022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L2.wait()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1175" indent="-377825" eaLnBrk="1" fontAlgn="auto" hangingPunct="1">
              <a:spcBef>
                <a:spcPts val="90"/>
              </a:spcBef>
              <a:spcAft>
                <a:spcPts val="0"/>
              </a:spcAft>
              <a:buSzPct val="90476"/>
              <a:buFont typeface="Arial MT"/>
              <a:buAutoNum type="arabicPlain" startAt="3"/>
              <a:tabLst>
                <a:tab pos="511175" algn="l"/>
              </a:tabLst>
            </a:pPr>
            <a:r>
              <a:rPr sz="1400" b="0" i="1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// critical section requiring L1 and L2 </a:t>
            </a:r>
            <a:r>
              <a:rPr sz="1400" b="0" i="1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locked.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1495" indent="-39814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3"/>
              <a:tabLst>
                <a:tab pos="53149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L2.post()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1495" indent="-39814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3"/>
              <a:tabLst>
                <a:tab pos="53149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L1.post()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133350" eaLnBrk="1" fontAlgn="auto" hangingPunct="1">
              <a:spcBef>
                <a:spcPts val="290"/>
              </a:spcBef>
              <a:spcAft>
                <a:spcPts val="0"/>
              </a:spcAft>
            </a:pPr>
            <a:r>
              <a:rPr sz="1200" b="0"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9</a:t>
            </a:r>
            <a:endParaRPr sz="1200" b="0" kern="0" dirty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511175" indent="-511175" eaLnBrk="1" fontAlgn="auto" hangingPunct="1">
              <a:spcBef>
                <a:spcPts val="135"/>
              </a:spcBef>
              <a:spcAft>
                <a:spcPts val="0"/>
              </a:spcAft>
              <a:buSzPct val="90476"/>
              <a:buFont typeface="Arial MT"/>
              <a:buAutoNum type="arabicPlain" startAt="10"/>
              <a:tabLst>
                <a:tab pos="511175" algn="l"/>
              </a:tabLst>
            </a:pPr>
            <a:r>
              <a:rPr sz="1400" b="0" i="1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// Thread </a:t>
            </a:r>
            <a:r>
              <a:rPr sz="1400" b="0" i="1" kern="0" spc="-25" dirty="0">
                <a:solidFill>
                  <a:sysClr val="windowText" lastClr="000000"/>
                </a:solidFill>
                <a:latin typeface="Courier New"/>
                <a:cs typeface="Courier New"/>
              </a:rPr>
              <a:t>2: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0225" indent="-53022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10"/>
              <a:tabLst>
                <a:tab pos="53022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L3.wait()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0225" indent="-530225" eaLnBrk="1" fontAlgn="auto" hangingPunct="1">
              <a:spcBef>
                <a:spcPts val="90"/>
              </a:spcBef>
              <a:spcAft>
                <a:spcPts val="0"/>
              </a:spcAft>
              <a:buSzPct val="90476"/>
              <a:buFont typeface="Arial MT"/>
              <a:buAutoNum type="arabicPlain" startAt="10"/>
              <a:tabLst>
                <a:tab pos="53022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L1.wait()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1175" indent="-51117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10"/>
              <a:tabLst>
                <a:tab pos="511175" algn="l"/>
              </a:tabLst>
            </a:pPr>
            <a:r>
              <a:rPr sz="1400" b="0" i="1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// critical section requiring L3 and L1 </a:t>
            </a:r>
            <a:r>
              <a:rPr sz="1400" b="0" i="1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locked.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1495" indent="-53149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10"/>
              <a:tabLst>
                <a:tab pos="53149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L1.post()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1495" indent="-531495" eaLnBrk="1" fontAlgn="auto" hangingPunct="1">
              <a:spcBef>
                <a:spcPts val="90"/>
              </a:spcBef>
              <a:spcAft>
                <a:spcPts val="0"/>
              </a:spcAft>
              <a:buSzPct val="90476"/>
              <a:buFont typeface="Arial MT"/>
              <a:buAutoNum type="arabicPlain" startAt="10"/>
              <a:tabLst>
                <a:tab pos="53149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L3.post()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eaLnBrk="1" fontAlgn="auto" hangingPunct="1">
              <a:spcBef>
                <a:spcPts val="295"/>
              </a:spcBef>
              <a:spcAft>
                <a:spcPts val="0"/>
              </a:spcAft>
            </a:pPr>
            <a:r>
              <a:rPr sz="1200" b="0" kern="0" spc="-25" dirty="0">
                <a:solidFill>
                  <a:sysClr val="windowText" lastClr="000000"/>
                </a:solidFill>
                <a:latin typeface="Arial MT"/>
                <a:cs typeface="Arial MT"/>
              </a:rPr>
              <a:t>16</a:t>
            </a:r>
            <a:endParaRPr sz="1200" b="0" kern="0" dirty="0">
              <a:solidFill>
                <a:sysClr val="windowText" lastClr="000000"/>
              </a:solidFill>
              <a:latin typeface="Arial MT"/>
              <a:cs typeface="Arial MT"/>
            </a:endParaRPr>
          </a:p>
          <a:p>
            <a:pPr marL="511175" indent="-511175" eaLnBrk="1" fontAlgn="auto" hangingPunct="1">
              <a:spcBef>
                <a:spcPts val="135"/>
              </a:spcBef>
              <a:spcAft>
                <a:spcPts val="0"/>
              </a:spcAft>
              <a:buSzPct val="90476"/>
              <a:buFont typeface="Arial MT"/>
              <a:buAutoNum type="arabicPlain" startAt="17"/>
              <a:tabLst>
                <a:tab pos="511175" algn="l"/>
              </a:tabLst>
            </a:pPr>
            <a:r>
              <a:rPr sz="1400" b="0" i="1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// Thread </a:t>
            </a:r>
            <a:r>
              <a:rPr sz="1400" b="0" i="1" kern="0" spc="-25" dirty="0">
                <a:solidFill>
                  <a:sysClr val="windowText" lastClr="000000"/>
                </a:solidFill>
                <a:latin typeface="Courier New"/>
                <a:cs typeface="Courier New"/>
              </a:rPr>
              <a:t>3: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0225" indent="-530225" eaLnBrk="1" fontAlgn="auto" hangingPunct="1">
              <a:spcBef>
                <a:spcPts val="90"/>
              </a:spcBef>
              <a:spcAft>
                <a:spcPts val="0"/>
              </a:spcAft>
              <a:buSzPct val="90476"/>
              <a:buFont typeface="Arial MT"/>
              <a:buAutoNum type="arabicPlain" startAt="17"/>
              <a:tabLst>
                <a:tab pos="53022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L2.wait()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0225" indent="-53022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17"/>
              <a:tabLst>
                <a:tab pos="53022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L3.wait()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11175" indent="-51117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17"/>
              <a:tabLst>
                <a:tab pos="511175" algn="l"/>
              </a:tabLst>
            </a:pPr>
            <a:r>
              <a:rPr sz="1400" b="0" i="1" kern="0" dirty="0">
                <a:solidFill>
                  <a:sysClr val="windowText" lastClr="000000"/>
                </a:solidFill>
                <a:latin typeface="Courier New"/>
                <a:cs typeface="Courier New"/>
              </a:rPr>
              <a:t>// critical section requiring L2 and L3 </a:t>
            </a:r>
            <a:r>
              <a:rPr sz="1400" b="0" i="1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locked.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1495" indent="-531495" eaLnBrk="1" fontAlgn="auto" hangingPunct="1">
              <a:spcBef>
                <a:spcPts val="95"/>
              </a:spcBef>
              <a:spcAft>
                <a:spcPts val="0"/>
              </a:spcAft>
              <a:buSzPct val="90476"/>
              <a:buFont typeface="Arial MT"/>
              <a:buAutoNum type="arabicPlain" startAt="17"/>
              <a:tabLst>
                <a:tab pos="53149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L3.post()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  <a:p>
            <a:pPr marL="531495" indent="-531495" eaLnBrk="1" fontAlgn="auto" hangingPunct="1">
              <a:spcBef>
                <a:spcPts val="90"/>
              </a:spcBef>
              <a:spcAft>
                <a:spcPts val="0"/>
              </a:spcAft>
              <a:buSzPct val="90476"/>
              <a:buFont typeface="Arial MT"/>
              <a:buAutoNum type="arabicPlain" startAt="17"/>
              <a:tabLst>
                <a:tab pos="531495" algn="l"/>
              </a:tabLst>
            </a:pPr>
            <a:r>
              <a:rPr lang="en-GB"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L2.post()</a:t>
            </a:r>
            <a:r>
              <a:rPr sz="1400" b="0" kern="0" spc="-10" dirty="0">
                <a:solidFill>
                  <a:sysClr val="windowText" lastClr="000000"/>
                </a:solidFill>
                <a:latin typeface="Courier New"/>
                <a:cs typeface="Courier New"/>
              </a:rPr>
              <a:t>;</a:t>
            </a:r>
            <a:endParaRPr sz="1400" b="0" kern="0" dirty="0">
              <a:solidFill>
                <a:sysClr val="windowText" lastClr="000000"/>
              </a:solidFill>
              <a:latin typeface="Courier New"/>
              <a:cs typeface="Courier New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B7867E32-F4AD-9B90-BF25-CCA021803154}"/>
              </a:ext>
            </a:extLst>
          </p:cNvPr>
          <p:cNvSpPr/>
          <p:nvPr/>
        </p:nvSpPr>
        <p:spPr>
          <a:xfrm>
            <a:off x="6350001" y="829563"/>
            <a:ext cx="5715000" cy="5190237"/>
          </a:xfrm>
          <a:custGeom>
            <a:avLst/>
            <a:gdLst/>
            <a:ahLst/>
            <a:cxnLst/>
            <a:rect l="l" t="t" r="r" b="b"/>
            <a:pathLst>
              <a:path w="8177530" h="7403465">
                <a:moveTo>
                  <a:pt x="0" y="0"/>
                </a:moveTo>
                <a:lnTo>
                  <a:pt x="8177267" y="0"/>
                </a:lnTo>
                <a:lnTo>
                  <a:pt x="8177267" y="7402992"/>
                </a:lnTo>
                <a:lnTo>
                  <a:pt x="0" y="7402992"/>
                </a:lnTo>
                <a:lnTo>
                  <a:pt x="0" y="0"/>
                </a:lnTo>
                <a:close/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8964802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C7A1E-92F2-8D72-D28F-25A8DA3D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Banker’s algorithm 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BFFEFB49-0AA8-B6B6-3070-8CE7F63F52DD}"/>
                  </a:ext>
                </a:extLst>
              </p:cNvPr>
              <p:cNvSpPr txBox="1"/>
              <p:nvPr/>
            </p:nvSpPr>
            <p:spPr bwMode="auto">
              <a:xfrm>
                <a:off x="5414782" y="1111310"/>
                <a:ext cx="2506222" cy="243020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E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SE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E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BFFEFB49-0AA8-B6B6-3070-8CE7F63F5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4782" y="1111310"/>
                <a:ext cx="2506222" cy="2430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3">
            <a:extLst>
              <a:ext uri="{FF2B5EF4-FFF2-40B4-BE49-F238E27FC236}">
                <a16:creationId xmlns:a16="http://schemas.microsoft.com/office/drawing/2014/main" id="{E6AF71B3-F5D1-B2DE-B835-5C8208F44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11200"/>
            <a:ext cx="5409959" cy="614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]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S"/>
              <a:defRPr sz="2800">
                <a:solidFill>
                  <a:schemeClr val="tx1"/>
                </a:solidFill>
                <a:latin typeface="+mn-lt"/>
              </a:defRPr>
            </a:lvl2pPr>
            <a:lvl3pPr marL="1377950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827213" indent="-4381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2971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27543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32115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36687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41259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GB" altLang="zh-CN" sz="2800" b="0" kern="0" dirty="0">
                <a:latin typeface="Gill Sans" panose="020B0502020104020203"/>
                <a:ea typeface="宋体" charset="-122"/>
              </a:rPr>
              <a:t>5 processes P1 through P5; 3 resource types R1, R2, R3 with 7, 3, 6 instances each.</a:t>
            </a:r>
          </a:p>
          <a:p>
            <a:pPr>
              <a:lnSpc>
                <a:spcPct val="90000"/>
              </a:lnSpc>
            </a:pPr>
            <a:r>
              <a:rPr lang="en-GB" altLang="zh-CN" sz="2800" b="0" kern="0" dirty="0">
                <a:latin typeface="Gill Sans" panose="020B0502020104020203"/>
                <a:ea typeface="宋体" charset="-122"/>
              </a:rPr>
              <a:t>Run Banker’s algorithm to check if the current state is safe. If yes, give a safe sequence of process completions and fill in the table with the sequence of process completions without deadlock, and available resources after the completion of each process. </a:t>
            </a:r>
          </a:p>
          <a:p>
            <a:pPr>
              <a:lnSpc>
                <a:spcPct val="90000"/>
              </a:lnSpc>
            </a:pPr>
            <a:r>
              <a:rPr lang="en-GB" altLang="zh-CN" sz="2800" b="0" kern="0" dirty="0">
                <a:latin typeface="Gill Sans" panose="020B0502020104020203"/>
                <a:ea typeface="宋体" charset="-122"/>
              </a:rPr>
              <a:t>(You will be graded on “Need matrix”, and “Available resources after completion of each process”.)</a:t>
            </a:r>
          </a:p>
          <a:p>
            <a:pPr>
              <a:lnSpc>
                <a:spcPct val="90000"/>
              </a:lnSpc>
            </a:pPr>
            <a:endParaRPr lang="en-US" altLang="zh-CN" sz="2400" b="0" kern="0" dirty="0">
              <a:latin typeface="Gill Sans" panose="020B0502020104020203"/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4">
                <a:extLst>
                  <a:ext uri="{FF2B5EF4-FFF2-40B4-BE49-F238E27FC236}">
                    <a16:creationId xmlns:a16="http://schemas.microsoft.com/office/drawing/2014/main" id="{376BA3C3-16D1-1577-C8A1-E66E0B609483}"/>
                  </a:ext>
                </a:extLst>
              </p:cNvPr>
              <p:cNvSpPr txBox="1"/>
              <p:nvPr/>
            </p:nvSpPr>
            <p:spPr bwMode="auto">
              <a:xfrm>
                <a:off x="8839200" y="1070667"/>
                <a:ext cx="2506222" cy="243020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E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E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E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35" name="Object 4">
                <a:extLst>
                  <a:ext uri="{FF2B5EF4-FFF2-40B4-BE49-F238E27FC236}">
                    <a16:creationId xmlns:a16="http://schemas.microsoft.com/office/drawing/2014/main" id="{376BA3C3-16D1-1577-C8A1-E66E0B609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39200" y="1070667"/>
                <a:ext cx="2506222" cy="24302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D5F76B2-BEDF-C8B9-87B6-041FA03BECF8}"/>
              </a:ext>
            </a:extLst>
          </p:cNvPr>
          <p:cNvSpPr txBox="1"/>
          <p:nvPr/>
        </p:nvSpPr>
        <p:spPr>
          <a:xfrm>
            <a:off x="6325850" y="711200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8AE84D-4AB2-7599-CFFF-56C948A18EA1}"/>
              </a:ext>
            </a:extLst>
          </p:cNvPr>
          <p:cNvSpPr txBox="1"/>
          <p:nvPr/>
        </p:nvSpPr>
        <p:spPr>
          <a:xfrm>
            <a:off x="9462080" y="711200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Allocation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691D54-1C06-B2D6-EAA8-E71A928FC5F5}"/>
              </a:ext>
            </a:extLst>
          </p:cNvPr>
          <p:cNvSpPr txBox="1"/>
          <p:nvPr/>
        </p:nvSpPr>
        <p:spPr>
          <a:xfrm>
            <a:off x="6358730" y="3173127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Total</a:t>
            </a: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7D5EB56B-6F10-01A7-35F2-6D76249129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8937547"/>
              </p:ext>
            </p:extLst>
          </p:nvPr>
        </p:nvGraphicFramePr>
        <p:xfrm>
          <a:off x="8839200" y="3860341"/>
          <a:ext cx="2603684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921">
                  <a:extLst>
                    <a:ext uri="{9D8B030D-6E8A-4147-A177-3AD203B41FA5}">
                      <a16:colId xmlns:a16="http://schemas.microsoft.com/office/drawing/2014/main" val="1619986141"/>
                    </a:ext>
                  </a:extLst>
                </a:gridCol>
                <a:gridCol w="650921">
                  <a:extLst>
                    <a:ext uri="{9D8B030D-6E8A-4147-A177-3AD203B41FA5}">
                      <a16:colId xmlns:a16="http://schemas.microsoft.com/office/drawing/2014/main" val="3558990718"/>
                    </a:ext>
                  </a:extLst>
                </a:gridCol>
                <a:gridCol w="650921">
                  <a:extLst>
                    <a:ext uri="{9D8B030D-6E8A-4147-A177-3AD203B41FA5}">
                      <a16:colId xmlns:a16="http://schemas.microsoft.com/office/drawing/2014/main" val="2817522056"/>
                    </a:ext>
                  </a:extLst>
                </a:gridCol>
                <a:gridCol w="650921">
                  <a:extLst>
                    <a:ext uri="{9D8B030D-6E8A-4147-A177-3AD203B41FA5}">
                      <a16:colId xmlns:a16="http://schemas.microsoft.com/office/drawing/2014/main" val="27933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R1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R2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R3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3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Init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24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64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72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48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59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5981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24D3D70-7FE5-6B08-F66E-BF00FC19447F}"/>
              </a:ext>
            </a:extLst>
          </p:cNvPr>
          <p:cNvSpPr txBox="1"/>
          <p:nvPr/>
        </p:nvSpPr>
        <p:spPr>
          <a:xfrm>
            <a:off x="8415070" y="3151498"/>
            <a:ext cx="3466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Available resources after completion of each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72913A9F-063E-EE33-E6EA-FD97BDFC4E2E}"/>
                  </a:ext>
                </a:extLst>
              </p:cNvPr>
              <p:cNvSpPr txBox="1"/>
              <p:nvPr/>
            </p:nvSpPr>
            <p:spPr bwMode="auto">
              <a:xfrm>
                <a:off x="5610690" y="3562963"/>
                <a:ext cx="2310314" cy="4492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E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E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E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400" b="0" dirty="0"/>
              </a:p>
            </p:txBody>
          </p:sp>
        </mc:Choice>
        <mc:Fallback xmlns=""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72913A9F-063E-EE33-E6EA-FD97BDFC4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690" y="3562963"/>
                <a:ext cx="2310314" cy="449263"/>
              </a:xfrm>
              <a:prstGeom prst="rect">
                <a:avLst/>
              </a:prstGeom>
              <a:blipFill>
                <a:blip r:embed="rId4"/>
                <a:stretch>
                  <a:fillRect l="-52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840212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C59AE-EA0D-7D49-7B1F-88F31D5FF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4F4A-F7E0-CB6A-A433-EDF6B764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Banker’s algorithm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9A3DEC09-D6BC-E84D-F9C5-E957D4467EA1}"/>
                  </a:ext>
                </a:extLst>
              </p:cNvPr>
              <p:cNvSpPr txBox="1"/>
              <p:nvPr/>
            </p:nvSpPr>
            <p:spPr bwMode="auto">
              <a:xfrm>
                <a:off x="5963904" y="1120320"/>
                <a:ext cx="1603886" cy="1165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E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9A3DEC09-D6BC-E84D-F9C5-E957D4467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3904" y="1120320"/>
                <a:ext cx="1603886" cy="11654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3">
            <a:extLst>
              <a:ext uri="{FF2B5EF4-FFF2-40B4-BE49-F238E27FC236}">
                <a16:creationId xmlns:a16="http://schemas.microsoft.com/office/drawing/2014/main" id="{5ECC5533-E893-A100-E49C-FE6EC3608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711200"/>
            <a:ext cx="5409959" cy="629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Wingdings" pitchFamily="2" charset="2"/>
              <a:buChar char="]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S"/>
              <a:defRPr sz="2800">
                <a:solidFill>
                  <a:schemeClr val="tx1"/>
                </a:solidFill>
                <a:latin typeface="+mn-lt"/>
              </a:defRPr>
            </a:lvl2pPr>
            <a:lvl3pPr marL="1377950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l"/>
              <a:defRPr sz="2400">
                <a:solidFill>
                  <a:schemeClr val="tx1"/>
                </a:solidFill>
                <a:latin typeface="+mn-lt"/>
              </a:defRPr>
            </a:lvl3pPr>
            <a:lvl4pPr marL="1827213" indent="-4381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2971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5pPr>
            <a:lvl6pPr marL="27543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6pPr>
            <a:lvl7pPr marL="32115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7pPr>
            <a:lvl8pPr marL="36687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8pPr>
            <a:lvl9pPr marL="4125913" indent="-4683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o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en-GB" altLang="zh-CN" sz="2400" b="0" kern="0" dirty="0">
                <a:latin typeface="Gill Sans" panose="020B0502020104020203"/>
                <a:ea typeface="宋体" charset="-122"/>
              </a:rPr>
              <a:t>3 processes P1, P2, P3; 3 resource types R1, R2, R3 with 8, 6, 4 instances each.</a:t>
            </a:r>
          </a:p>
          <a:p>
            <a:pPr>
              <a:lnSpc>
                <a:spcPct val="90000"/>
              </a:lnSpc>
            </a:pPr>
            <a:r>
              <a:rPr lang="en-GB" altLang="zh-CN" sz="2400" b="0" kern="0" dirty="0">
                <a:latin typeface="Gill Sans" panose="020B0502020104020203"/>
                <a:ea typeface="宋体" charset="-122"/>
              </a:rPr>
              <a:t>1) Run Banker’s algorithm to check if the current state is safe. If yes, give a safe sequence of process completions and fill in the table with the sequence of process completions without deadlock, and available resources after the completion of each process. </a:t>
            </a:r>
          </a:p>
          <a:p>
            <a:pPr>
              <a:lnSpc>
                <a:spcPct val="90000"/>
              </a:lnSpc>
            </a:pPr>
            <a:r>
              <a:rPr lang="en-GB" altLang="zh-CN" sz="2400" b="0" kern="0" dirty="0">
                <a:latin typeface="Gill Sans" panose="020B0502020104020203"/>
                <a:ea typeface="宋体" charset="-122"/>
              </a:rPr>
              <a:t>2) Starting from the initial state, if P1 makes request for 2 more instances of resource 3, should we grant it?</a:t>
            </a:r>
          </a:p>
          <a:p>
            <a:pPr>
              <a:lnSpc>
                <a:spcPct val="90000"/>
              </a:lnSpc>
            </a:pPr>
            <a:r>
              <a:rPr lang="en-GB" altLang="zh-CN" sz="2400" b="0" kern="0" dirty="0">
                <a:latin typeface="Gill Sans" panose="020B0502020104020203"/>
                <a:ea typeface="宋体" charset="-122"/>
              </a:rPr>
              <a:t>3) Starting from the initial state, if P2 makes request for 2 more instances of resource 1, should we grant 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24183-831A-68FF-E9DE-EC9ADD4A2567}"/>
              </a:ext>
            </a:extLst>
          </p:cNvPr>
          <p:cNvSpPr txBox="1"/>
          <p:nvPr/>
        </p:nvSpPr>
        <p:spPr>
          <a:xfrm>
            <a:off x="6325850" y="711200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445BA-C3F2-6BAD-4AA9-EC009521B738}"/>
              </a:ext>
            </a:extLst>
          </p:cNvPr>
          <p:cNvSpPr txBox="1"/>
          <p:nvPr/>
        </p:nvSpPr>
        <p:spPr>
          <a:xfrm>
            <a:off x="8048357" y="720210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Allocation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07C95-5190-3B41-4EB5-36518CC96F8D}"/>
              </a:ext>
            </a:extLst>
          </p:cNvPr>
          <p:cNvSpPr txBox="1"/>
          <p:nvPr/>
        </p:nvSpPr>
        <p:spPr>
          <a:xfrm>
            <a:off x="6334886" y="2278024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Total</a:t>
            </a:r>
          </a:p>
        </p:txBody>
      </p:sp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A4E1DC9B-71E6-9958-F686-AC688BB6182D}"/>
              </a:ext>
            </a:extLst>
          </p:cNvPr>
          <p:cNvGraphicFramePr>
            <a:graphicFrameLocks/>
          </p:cNvGraphicFramePr>
          <p:nvPr/>
        </p:nvGraphicFramePr>
        <p:xfrm>
          <a:off x="8839200" y="3860341"/>
          <a:ext cx="2603684" cy="1981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921">
                  <a:extLst>
                    <a:ext uri="{9D8B030D-6E8A-4147-A177-3AD203B41FA5}">
                      <a16:colId xmlns:a16="http://schemas.microsoft.com/office/drawing/2014/main" val="1619986141"/>
                    </a:ext>
                  </a:extLst>
                </a:gridCol>
                <a:gridCol w="650921">
                  <a:extLst>
                    <a:ext uri="{9D8B030D-6E8A-4147-A177-3AD203B41FA5}">
                      <a16:colId xmlns:a16="http://schemas.microsoft.com/office/drawing/2014/main" val="3558990718"/>
                    </a:ext>
                  </a:extLst>
                </a:gridCol>
                <a:gridCol w="650921">
                  <a:extLst>
                    <a:ext uri="{9D8B030D-6E8A-4147-A177-3AD203B41FA5}">
                      <a16:colId xmlns:a16="http://schemas.microsoft.com/office/drawing/2014/main" val="2817522056"/>
                    </a:ext>
                  </a:extLst>
                </a:gridCol>
                <a:gridCol w="650921">
                  <a:extLst>
                    <a:ext uri="{9D8B030D-6E8A-4147-A177-3AD203B41FA5}">
                      <a16:colId xmlns:a16="http://schemas.microsoft.com/office/drawing/2014/main" val="27933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R1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R2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R3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3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Init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24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64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72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4847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D4A79E8-7362-DF03-ECE8-AAA6A9AB3A41}"/>
              </a:ext>
            </a:extLst>
          </p:cNvPr>
          <p:cNvSpPr txBox="1"/>
          <p:nvPr/>
        </p:nvSpPr>
        <p:spPr>
          <a:xfrm>
            <a:off x="8415070" y="3151498"/>
            <a:ext cx="3466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Available resources after completion of each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0F58D521-2FD6-506C-8AE9-BEA409F8958E}"/>
                  </a:ext>
                </a:extLst>
              </p:cNvPr>
              <p:cNvSpPr txBox="1"/>
              <p:nvPr/>
            </p:nvSpPr>
            <p:spPr bwMode="auto">
              <a:xfrm>
                <a:off x="5586846" y="2667860"/>
                <a:ext cx="2310314" cy="4492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E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E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SE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E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400" b="0" dirty="0"/>
              </a:p>
            </p:txBody>
          </p:sp>
        </mc:Choice>
        <mc:Fallback xmlns=""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0F58D521-2FD6-506C-8AE9-BEA409F89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6846" y="2667860"/>
                <a:ext cx="2310314" cy="449263"/>
              </a:xfrm>
              <a:prstGeom prst="rect">
                <a:avLst/>
              </a:prstGeom>
              <a:blipFill>
                <a:blip r:embed="rId3"/>
                <a:stretch>
                  <a:fillRect l="-528" b="-137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E1A35B87-63F0-BA64-83B9-053580FAC480}"/>
                  </a:ext>
                </a:extLst>
              </p:cNvPr>
              <p:cNvSpPr txBox="1"/>
              <p:nvPr/>
            </p:nvSpPr>
            <p:spPr bwMode="auto">
              <a:xfrm>
                <a:off x="7932660" y="1111310"/>
                <a:ext cx="1603886" cy="11654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E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SE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sz="2400" b="0" i="0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000" dirty="0"/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E1A35B87-63F0-BA64-83B9-053580FAC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2660" y="1111310"/>
                <a:ext cx="1603886" cy="1165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863346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14400" y="-11430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Banker’s algorithm: 4 philosophers each holding his left fork</a:t>
            </a:r>
          </a:p>
        </p:txBody>
      </p:sp>
      <p:graphicFrame>
        <p:nvGraphicFramePr>
          <p:cNvPr id="1028" name="Object 8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965973773"/>
              </p:ext>
            </p:extLst>
          </p:nvPr>
        </p:nvGraphicFramePr>
        <p:xfrm>
          <a:off x="351725" y="3994116"/>
          <a:ext cx="2955925" cy="503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15640" progId="Equation.3">
                  <p:embed/>
                </p:oleObj>
              </mc:Choice>
              <mc:Fallback>
                <p:oleObj name="Equation" r:id="rId2" imgW="1269720" imgH="215640" progId="Equation.3">
                  <p:embed/>
                  <p:pic>
                    <p:nvPicPr>
                      <p:cNvPr id="10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725" y="3994116"/>
                        <a:ext cx="2955925" cy="5031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167537"/>
              </p:ext>
            </p:extLst>
          </p:nvPr>
        </p:nvGraphicFramePr>
        <p:xfrm>
          <a:off x="3802951" y="3994116"/>
          <a:ext cx="31924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215640" progId="Equation.3">
                  <p:embed/>
                </p:oleObj>
              </mc:Choice>
              <mc:Fallback>
                <p:oleObj name="Equation" r:id="rId4" imgW="1371600" imgH="215640" progId="Equation.3">
                  <p:embed/>
                  <p:pic>
                    <p:nvPicPr>
                      <p:cNvPr id="12800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951" y="3994116"/>
                        <a:ext cx="3192463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36889" y="4572491"/>
            <a:ext cx="7498644" cy="2305490"/>
          </a:xfrm>
        </p:spPr>
        <p:txBody>
          <a:bodyPr>
            <a:normAutofit fontScale="92500" lnSpcReduction="20000"/>
          </a:bodyPr>
          <a:lstStyle/>
          <a:p>
            <a:pPr marL="0" lvl="1" indent="0">
              <a:buClr>
                <a:schemeClr val="bg2"/>
              </a:buClr>
              <a:buSzPct val="90000"/>
              <a:buNone/>
            </a:pPr>
            <a:r>
              <a:rPr lang="en-GB" sz="2400" dirty="0">
                <a:solidFill>
                  <a:schemeClr val="dk1"/>
                </a:solidFill>
                <a:latin typeface="Gill Sans" panose="020B0502020104020203"/>
                <a:ea typeface="+mn-ea"/>
                <a:cs typeface="+mn-cs"/>
              </a:rPr>
              <a:t>Suppose we have 5 philosophers P1-P5, and 5 forks R1-R5; philosopher Pi has left fork Ri, and right fork R(i%5+1). </a:t>
            </a:r>
            <a:r>
              <a:rPr lang="en-US" sz="2400" dirty="0">
                <a:solidFill>
                  <a:schemeClr val="dk1"/>
                </a:solidFill>
                <a:latin typeface="Gill Sans" panose="020B0502020104020203"/>
                <a:ea typeface="+mn-ea"/>
                <a:cs typeface="+mn-cs"/>
              </a:rPr>
              <a:t>Philosophers P1-P4 each is holding his left fork. </a:t>
            </a:r>
          </a:p>
          <a:p>
            <a:pPr marL="0" lvl="1" indent="0">
              <a:buClr>
                <a:schemeClr val="bg2"/>
              </a:buClr>
              <a:buSzPct val="90000"/>
              <a:buNone/>
            </a:pPr>
            <a:r>
              <a:rPr lang="en-US" altLang="zh-CN" sz="2400" b="0" dirty="0">
                <a:solidFill>
                  <a:schemeClr val="dk1"/>
                </a:solidFill>
                <a:latin typeface="Gill Sans" panose="020B0502020104020203"/>
                <a:ea typeface="+mn-ea"/>
                <a:cs typeface="+mn-cs"/>
              </a:rPr>
              <a:t>Run Banker’s algorithm to check if the current state is safe. If yes, give a safe sequence of process completions and fill in the table with </a:t>
            </a:r>
            <a:r>
              <a:rPr lang="en-GB" altLang="zh-CN" sz="2400" b="0" dirty="0">
                <a:solidFill>
                  <a:schemeClr val="dk1"/>
                </a:solidFill>
                <a:latin typeface="Gill Sans" panose="020B0502020104020203"/>
                <a:ea typeface="+mn-ea"/>
                <a:cs typeface="+mn-cs"/>
              </a:rPr>
              <a:t>the sequence of process completions without deadlock, and available resources after the completion of each process. </a:t>
            </a:r>
            <a:endParaRPr lang="en-GB" sz="2400" b="0" dirty="0">
              <a:solidFill>
                <a:schemeClr val="dk1"/>
              </a:solidFill>
              <a:latin typeface="Gill Sans" panose="020B0502020104020203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85F48E-4D2B-DAF1-28CE-BA931F96745F}"/>
              </a:ext>
            </a:extLst>
          </p:cNvPr>
          <p:cNvSpPr txBox="1"/>
          <p:nvPr/>
        </p:nvSpPr>
        <p:spPr>
          <a:xfrm>
            <a:off x="1468526" y="3610647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Total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D9D62-8211-1F1E-F49C-EBA3C58E3070}"/>
              </a:ext>
            </a:extLst>
          </p:cNvPr>
          <p:cNvSpPr txBox="1"/>
          <p:nvPr/>
        </p:nvSpPr>
        <p:spPr>
          <a:xfrm>
            <a:off x="4595244" y="3610647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Available</a:t>
            </a:r>
          </a:p>
        </p:txBody>
      </p:sp>
      <p:graphicFrame>
        <p:nvGraphicFramePr>
          <p:cNvPr id="12800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4450384"/>
              </p:ext>
            </p:extLst>
          </p:nvPr>
        </p:nvGraphicFramePr>
        <p:xfrm>
          <a:off x="1003299" y="1163636"/>
          <a:ext cx="2982912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1117440" progId="Equation.3">
                  <p:embed/>
                </p:oleObj>
              </mc:Choice>
              <mc:Fallback>
                <p:oleObj name="Equation" r:id="rId6" imgW="1396800" imgH="1117440" progId="Equation.3">
                  <p:embed/>
                  <p:pic>
                    <p:nvPicPr>
                      <p:cNvPr id="12800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299" y="1163636"/>
                        <a:ext cx="2982912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425810"/>
              </p:ext>
            </p:extLst>
          </p:nvPr>
        </p:nvGraphicFramePr>
        <p:xfrm>
          <a:off x="4179887" y="1163637"/>
          <a:ext cx="2982913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1346040" progId="Equation.3">
                  <p:embed/>
                </p:oleObj>
              </mc:Choice>
              <mc:Fallback>
                <p:oleObj name="Equation" r:id="rId8" imgW="1396800" imgH="1346040" progId="Equation.3">
                  <p:embed/>
                  <p:pic>
                    <p:nvPicPr>
                      <p:cNvPr id="1280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9887" y="1163637"/>
                        <a:ext cx="2982913" cy="287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2DBE40B-C37E-C8D3-9D0B-8C48393558F5}"/>
              </a:ext>
            </a:extLst>
          </p:cNvPr>
          <p:cNvSpPr txBox="1"/>
          <p:nvPr/>
        </p:nvSpPr>
        <p:spPr>
          <a:xfrm>
            <a:off x="2385678" y="693586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63CBFE-61EF-B700-4D81-5BDE32A5AFDE}"/>
              </a:ext>
            </a:extLst>
          </p:cNvPr>
          <p:cNvSpPr txBox="1"/>
          <p:nvPr/>
        </p:nvSpPr>
        <p:spPr>
          <a:xfrm>
            <a:off x="5094287" y="693586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Allocation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648F32-7105-F523-4EAE-5327C48CD8D2}"/>
              </a:ext>
            </a:extLst>
          </p:cNvPr>
          <p:cNvSpPr txBox="1"/>
          <p:nvPr/>
        </p:nvSpPr>
        <p:spPr>
          <a:xfrm>
            <a:off x="9085949" y="665304"/>
            <a:ext cx="822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Need</a:t>
            </a:r>
            <a:endParaRPr lang="en-GB" sz="2000" b="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3" name="Object 3">
            <a:extLst>
              <a:ext uri="{FF2B5EF4-FFF2-40B4-BE49-F238E27FC236}">
                <a16:creationId xmlns:a16="http://schemas.microsoft.com/office/drawing/2014/main" id="{06E861FC-D68E-CD7A-71ED-F7EE3565A0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66474"/>
              </p:ext>
            </p:extLst>
          </p:nvPr>
        </p:nvGraphicFramePr>
        <p:xfrm>
          <a:off x="7804943" y="1067093"/>
          <a:ext cx="2982913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1346040" progId="Equation.3">
                  <p:embed/>
                </p:oleObj>
              </mc:Choice>
              <mc:Fallback>
                <p:oleObj name="Equation" r:id="rId8" imgW="1396800" imgH="1346040" progId="Equation.3">
                  <p:embed/>
                  <p:pic>
                    <p:nvPicPr>
                      <p:cNvPr id="2" name="Object 3">
                        <a:extLst>
                          <a:ext uri="{FF2B5EF4-FFF2-40B4-BE49-F238E27FC236}">
                            <a16:creationId xmlns:a16="http://schemas.microsoft.com/office/drawing/2014/main" id="{06E861FC-D68E-CD7A-71ED-F7EE3565A0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4943" y="1067093"/>
                        <a:ext cx="2982913" cy="287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C3B234D-8EEF-69B8-F734-88CCB6B9D4FA}"/>
              </a:ext>
            </a:extLst>
          </p:cNvPr>
          <p:cNvSpPr txBox="1"/>
          <p:nvPr/>
        </p:nvSpPr>
        <p:spPr>
          <a:xfrm>
            <a:off x="8453623" y="1050011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E01D1F-5A27-8335-31EE-5669FD06E7E6}"/>
              </a:ext>
            </a:extLst>
          </p:cNvPr>
          <p:cNvSpPr txBox="1"/>
          <p:nvPr/>
        </p:nvSpPr>
        <p:spPr>
          <a:xfrm>
            <a:off x="8942884" y="1050011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8E8214-3FB5-91B2-80F8-17484AD63877}"/>
              </a:ext>
            </a:extLst>
          </p:cNvPr>
          <p:cNvSpPr txBox="1"/>
          <p:nvPr/>
        </p:nvSpPr>
        <p:spPr>
          <a:xfrm>
            <a:off x="8915400" y="1527065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F4D9F6-2C29-49FE-7478-9A969ED09A4D}"/>
              </a:ext>
            </a:extLst>
          </p:cNvPr>
          <p:cNvSpPr txBox="1"/>
          <p:nvPr/>
        </p:nvSpPr>
        <p:spPr>
          <a:xfrm>
            <a:off x="9404661" y="1527065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8F3498-9404-66C7-7A8C-A363B3A1D1C4}"/>
              </a:ext>
            </a:extLst>
          </p:cNvPr>
          <p:cNvSpPr txBox="1"/>
          <p:nvPr/>
        </p:nvSpPr>
        <p:spPr>
          <a:xfrm>
            <a:off x="9395178" y="2030813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164E4-6F67-B54A-0C81-6B60DEA49553}"/>
              </a:ext>
            </a:extLst>
          </p:cNvPr>
          <p:cNvSpPr txBox="1"/>
          <p:nvPr/>
        </p:nvSpPr>
        <p:spPr>
          <a:xfrm>
            <a:off x="9884439" y="2030813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D58D34-74BD-42DF-3A70-43B8633A4CD7}"/>
              </a:ext>
            </a:extLst>
          </p:cNvPr>
          <p:cNvSpPr txBox="1"/>
          <p:nvPr/>
        </p:nvSpPr>
        <p:spPr>
          <a:xfrm>
            <a:off x="9909973" y="2498338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492909-AC0F-0BD3-E533-A97C8A3E879C}"/>
              </a:ext>
            </a:extLst>
          </p:cNvPr>
          <p:cNvSpPr txBox="1"/>
          <p:nvPr/>
        </p:nvSpPr>
        <p:spPr>
          <a:xfrm>
            <a:off x="10309578" y="2498338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C8CC8B-4443-B8A2-86A7-4BFFCC5566BD}"/>
              </a:ext>
            </a:extLst>
          </p:cNvPr>
          <p:cNvSpPr txBox="1"/>
          <p:nvPr/>
        </p:nvSpPr>
        <p:spPr>
          <a:xfrm>
            <a:off x="8456829" y="2990781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D4E9EC-CABB-0565-2361-B3660D3C53F7}"/>
                  </a:ext>
                </a:extLst>
              </p:cNvPr>
              <p:cNvSpPr txBox="1"/>
              <p:nvPr/>
            </p:nvSpPr>
            <p:spPr>
              <a:xfrm>
                <a:off x="6955947" y="2013210"/>
                <a:ext cx="1181606" cy="52322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28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80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SE" sz="2800" dirty="0">
                  <a:latin typeface="Gill Sans Light"/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5D4E9EC-CABB-0565-2361-B3660D3C5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947" y="2013210"/>
                <a:ext cx="118160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07A88EC0-AFB4-5912-5848-75A0D718DF59}"/>
              </a:ext>
            </a:extLst>
          </p:cNvPr>
          <p:cNvSpPr txBox="1"/>
          <p:nvPr/>
        </p:nvSpPr>
        <p:spPr>
          <a:xfrm>
            <a:off x="10318503" y="2990781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graphicFrame>
        <p:nvGraphicFramePr>
          <p:cNvPr id="35" name="Content Placeholder 5">
            <a:extLst>
              <a:ext uri="{FF2B5EF4-FFF2-40B4-BE49-F238E27FC236}">
                <a16:creationId xmlns:a16="http://schemas.microsoft.com/office/drawing/2014/main" id="{AA265A89-5866-B501-86D7-8D41859F04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646417"/>
              </p:ext>
            </p:extLst>
          </p:nvPr>
        </p:nvGraphicFramePr>
        <p:xfrm>
          <a:off x="8091273" y="3990000"/>
          <a:ext cx="3310566" cy="277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761">
                  <a:extLst>
                    <a:ext uri="{9D8B030D-6E8A-4147-A177-3AD203B41FA5}">
                      <a16:colId xmlns:a16="http://schemas.microsoft.com/office/drawing/2014/main" val="1619986141"/>
                    </a:ext>
                  </a:extLst>
                </a:gridCol>
                <a:gridCol w="551761">
                  <a:extLst>
                    <a:ext uri="{9D8B030D-6E8A-4147-A177-3AD203B41FA5}">
                      <a16:colId xmlns:a16="http://schemas.microsoft.com/office/drawing/2014/main" val="3558990718"/>
                    </a:ext>
                  </a:extLst>
                </a:gridCol>
                <a:gridCol w="551761">
                  <a:extLst>
                    <a:ext uri="{9D8B030D-6E8A-4147-A177-3AD203B41FA5}">
                      <a16:colId xmlns:a16="http://schemas.microsoft.com/office/drawing/2014/main" val="2817522056"/>
                    </a:ext>
                  </a:extLst>
                </a:gridCol>
                <a:gridCol w="551761">
                  <a:extLst>
                    <a:ext uri="{9D8B030D-6E8A-4147-A177-3AD203B41FA5}">
                      <a16:colId xmlns:a16="http://schemas.microsoft.com/office/drawing/2014/main" val="27933147"/>
                    </a:ext>
                  </a:extLst>
                </a:gridCol>
                <a:gridCol w="551761">
                  <a:extLst>
                    <a:ext uri="{9D8B030D-6E8A-4147-A177-3AD203B41FA5}">
                      <a16:colId xmlns:a16="http://schemas.microsoft.com/office/drawing/2014/main" val="2599289334"/>
                    </a:ext>
                  </a:extLst>
                </a:gridCol>
                <a:gridCol w="551761">
                  <a:extLst>
                    <a:ext uri="{9D8B030D-6E8A-4147-A177-3AD203B41FA5}">
                      <a16:colId xmlns:a16="http://schemas.microsoft.com/office/drawing/2014/main" val="3771836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R1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R2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R3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R4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R5</a:t>
                      </a:r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3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</a:t>
                      </a:r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</a:t>
                      </a:r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</a:t>
                      </a:r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0</a:t>
                      </a:r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dirty="0"/>
                        <a:t>1</a:t>
                      </a:r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243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64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728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484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599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827769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17F2632B-010E-7595-9FB6-99BB3A75B80A}"/>
              </a:ext>
            </a:extLst>
          </p:cNvPr>
          <p:cNvSpPr txBox="1"/>
          <p:nvPr/>
        </p:nvSpPr>
        <p:spPr>
          <a:xfrm>
            <a:off x="8231879" y="3406455"/>
            <a:ext cx="316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Available resources after completion of each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914400" y="-114300"/>
            <a:ext cx="10363200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Banker’s algorithm: 5 philosophers each holding his left fork</a:t>
            </a:r>
          </a:p>
        </p:txBody>
      </p:sp>
      <p:graphicFrame>
        <p:nvGraphicFramePr>
          <p:cNvPr id="1028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03475" y="4715357"/>
          <a:ext cx="2955925" cy="503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15640" progId="Equation.3">
                  <p:embed/>
                </p:oleObj>
              </mc:Choice>
              <mc:Fallback>
                <p:oleObj name="Equation" r:id="rId2" imgW="1269720" imgH="215640" progId="Equation.3">
                  <p:embed/>
                  <p:pic>
                    <p:nvPicPr>
                      <p:cNvPr id="10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4715357"/>
                        <a:ext cx="2955925" cy="50313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6" name="Object 3"/>
          <p:cNvGraphicFramePr>
            <a:graphicFrameLocks noChangeAspect="1"/>
          </p:cNvGraphicFramePr>
          <p:nvPr/>
        </p:nvGraphicFramePr>
        <p:xfrm>
          <a:off x="1371600" y="1544636"/>
          <a:ext cx="2982912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0" imgH="1117440" progId="Equation.3">
                  <p:embed/>
                </p:oleObj>
              </mc:Choice>
              <mc:Fallback>
                <p:oleObj name="Equation" r:id="rId4" imgW="1396800" imgH="1117440" progId="Equation.3">
                  <p:embed/>
                  <p:pic>
                    <p:nvPicPr>
                      <p:cNvPr id="12800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44636"/>
                        <a:ext cx="2982912" cy="238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7" name="Object 3"/>
          <p:cNvGraphicFramePr>
            <a:graphicFrameLocks noChangeAspect="1"/>
          </p:cNvGraphicFramePr>
          <p:nvPr/>
        </p:nvGraphicFramePr>
        <p:xfrm>
          <a:off x="4548188" y="1544637"/>
          <a:ext cx="2982913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1346040" progId="Equation.3">
                  <p:embed/>
                </p:oleObj>
              </mc:Choice>
              <mc:Fallback>
                <p:oleObj name="Equation" r:id="rId6" imgW="1396800" imgH="1346040" progId="Equation.3">
                  <p:embed/>
                  <p:pic>
                    <p:nvPicPr>
                      <p:cNvPr id="1280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1544637"/>
                        <a:ext cx="2982913" cy="287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9" name="Object 8"/>
          <p:cNvGraphicFramePr>
            <a:graphicFrameLocks noChangeAspect="1"/>
          </p:cNvGraphicFramePr>
          <p:nvPr/>
        </p:nvGraphicFramePr>
        <p:xfrm>
          <a:off x="5838824" y="4715357"/>
          <a:ext cx="3251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96800" imgH="215640" progId="Equation.3">
                  <p:embed/>
                </p:oleObj>
              </mc:Choice>
              <mc:Fallback>
                <p:oleObj name="Equation" r:id="rId8" imgW="1396800" imgH="215640" progId="Equation.3">
                  <p:embed/>
                  <p:pic>
                    <p:nvPicPr>
                      <p:cNvPr id="12800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824" y="4715357"/>
                        <a:ext cx="3251200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321909" y="5376029"/>
            <a:ext cx="10457932" cy="1224442"/>
          </a:xfrm>
        </p:spPr>
        <p:txBody>
          <a:bodyPr>
            <a:normAutofit/>
          </a:bodyPr>
          <a:lstStyle/>
          <a:p>
            <a:pPr marL="0" lvl="1" indent="0">
              <a:buClr>
                <a:schemeClr val="bg2"/>
              </a:buClr>
              <a:buSzPct val="90000"/>
              <a:buNone/>
            </a:pPr>
            <a:r>
              <a:rPr lang="en-US" altLang="zh-CN" sz="2400" b="0" dirty="0">
                <a:solidFill>
                  <a:schemeClr val="dk1"/>
                </a:solidFill>
                <a:latin typeface="Gill Sans" panose="020B0502020104020203"/>
                <a:ea typeface="+mn-ea"/>
                <a:cs typeface="+mn-cs"/>
              </a:rPr>
              <a:t>Run Banker’s algorithm to check if the current state is safe.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05C012-CA7E-C9A9-AA64-C1E2CDD589FB}"/>
              </a:ext>
            </a:extLst>
          </p:cNvPr>
          <p:cNvSpPr txBox="1"/>
          <p:nvPr/>
        </p:nvSpPr>
        <p:spPr>
          <a:xfrm>
            <a:off x="2726479" y="1144526"/>
            <a:ext cx="692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Max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9FF2F-7FCC-5B71-EFA1-B57C67FD154C}"/>
              </a:ext>
            </a:extLst>
          </p:cNvPr>
          <p:cNvSpPr txBox="1"/>
          <p:nvPr/>
        </p:nvSpPr>
        <p:spPr>
          <a:xfrm>
            <a:off x="5459413" y="1144526"/>
            <a:ext cx="13724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Allocation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289A1-022A-BA62-1AB2-C125E6162875}"/>
              </a:ext>
            </a:extLst>
          </p:cNvPr>
          <p:cNvSpPr txBox="1"/>
          <p:nvPr/>
        </p:nvSpPr>
        <p:spPr>
          <a:xfrm>
            <a:off x="3682351" y="4311007"/>
            <a:ext cx="816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Total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95F85-3B1D-7B29-5F54-F7F70385A7D7}"/>
              </a:ext>
            </a:extLst>
          </p:cNvPr>
          <p:cNvSpPr txBox="1"/>
          <p:nvPr/>
        </p:nvSpPr>
        <p:spPr>
          <a:xfrm>
            <a:off x="6958951" y="4311007"/>
            <a:ext cx="1266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Available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0DB13F-1C88-A101-E8AB-F7FD26D325C5}"/>
              </a:ext>
            </a:extLst>
          </p:cNvPr>
          <p:cNvSpPr txBox="1"/>
          <p:nvPr/>
        </p:nvSpPr>
        <p:spPr>
          <a:xfrm>
            <a:off x="8812107" y="1142847"/>
            <a:ext cx="822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Need</a:t>
            </a:r>
            <a:endParaRPr lang="en-GB" sz="2000" b="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5" name="Object 3">
            <a:extLst>
              <a:ext uri="{FF2B5EF4-FFF2-40B4-BE49-F238E27FC236}">
                <a16:creationId xmlns:a16="http://schemas.microsoft.com/office/drawing/2014/main" id="{83675655-3214-DED5-CA62-51470C1B8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1101" y="1544636"/>
          <a:ext cx="2982913" cy="287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0" imgH="1346040" progId="Equation.3">
                  <p:embed/>
                </p:oleObj>
              </mc:Choice>
              <mc:Fallback>
                <p:oleObj name="Equation" r:id="rId10" imgW="1396800" imgH="1346040" progId="Equation.3">
                  <p:embed/>
                  <p:pic>
                    <p:nvPicPr>
                      <p:cNvPr id="45" name="Object 3">
                        <a:extLst>
                          <a:ext uri="{FF2B5EF4-FFF2-40B4-BE49-F238E27FC236}">
                            <a16:creationId xmlns:a16="http://schemas.microsoft.com/office/drawing/2014/main" id="{83675655-3214-DED5-CA62-51470C1B8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1101" y="1544636"/>
                        <a:ext cx="2982913" cy="2874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ED042D38-CEC2-3FFF-AEB5-185DD78ED7B2}"/>
              </a:ext>
            </a:extLst>
          </p:cNvPr>
          <p:cNvSpPr txBox="1"/>
          <p:nvPr/>
        </p:nvSpPr>
        <p:spPr>
          <a:xfrm>
            <a:off x="8179781" y="1527554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D0EF05-2D9B-B66D-8B81-C0870858FC78}"/>
              </a:ext>
            </a:extLst>
          </p:cNvPr>
          <p:cNvSpPr txBox="1"/>
          <p:nvPr/>
        </p:nvSpPr>
        <p:spPr>
          <a:xfrm>
            <a:off x="8669042" y="1527554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689739-BF0F-AF81-94DA-D651DAA8C6B0}"/>
              </a:ext>
            </a:extLst>
          </p:cNvPr>
          <p:cNvSpPr txBox="1"/>
          <p:nvPr/>
        </p:nvSpPr>
        <p:spPr>
          <a:xfrm>
            <a:off x="8641558" y="2004608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149D23-3959-6F94-4EE1-6D37D9CE281D}"/>
              </a:ext>
            </a:extLst>
          </p:cNvPr>
          <p:cNvSpPr txBox="1"/>
          <p:nvPr/>
        </p:nvSpPr>
        <p:spPr>
          <a:xfrm>
            <a:off x="9130819" y="2004608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7EDF96-712C-D718-A559-5F666762BC8A}"/>
              </a:ext>
            </a:extLst>
          </p:cNvPr>
          <p:cNvSpPr txBox="1"/>
          <p:nvPr/>
        </p:nvSpPr>
        <p:spPr>
          <a:xfrm>
            <a:off x="9121336" y="2508356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7973D0-B53A-CC89-C65C-7B174201910A}"/>
              </a:ext>
            </a:extLst>
          </p:cNvPr>
          <p:cNvSpPr txBox="1"/>
          <p:nvPr/>
        </p:nvSpPr>
        <p:spPr>
          <a:xfrm>
            <a:off x="9610597" y="2508356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52F51E-92AF-9DF7-E84B-4CD0A73FBB5C}"/>
              </a:ext>
            </a:extLst>
          </p:cNvPr>
          <p:cNvSpPr txBox="1"/>
          <p:nvPr/>
        </p:nvSpPr>
        <p:spPr>
          <a:xfrm>
            <a:off x="9636131" y="2975881"/>
            <a:ext cx="351378" cy="49244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0</a:t>
            </a:r>
            <a:endParaRPr lang="en-SE" sz="2500" dirty="0">
              <a:latin typeface="Gill Sans Ligh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40971D-2C7A-37B9-DA9B-8A90B1CEDCFF}"/>
              </a:ext>
            </a:extLst>
          </p:cNvPr>
          <p:cNvSpPr txBox="1"/>
          <p:nvPr/>
        </p:nvSpPr>
        <p:spPr>
          <a:xfrm>
            <a:off x="10035736" y="2975881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78EE78-1672-0FE6-2F33-01752630DC17}"/>
              </a:ext>
            </a:extLst>
          </p:cNvPr>
          <p:cNvSpPr txBox="1"/>
          <p:nvPr/>
        </p:nvSpPr>
        <p:spPr>
          <a:xfrm>
            <a:off x="8182987" y="3468324"/>
            <a:ext cx="344966" cy="4770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500" dirty="0">
                <a:latin typeface="Gill Sans Light"/>
              </a:rPr>
              <a:t>1</a:t>
            </a:r>
            <a:endParaRPr lang="en-SE" sz="2500" dirty="0">
              <a:latin typeface="Gill Sans Ligh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87204D-5150-548B-F280-C100B957FD26}"/>
              </a:ext>
            </a:extLst>
          </p:cNvPr>
          <p:cNvSpPr/>
          <p:nvPr/>
        </p:nvSpPr>
        <p:spPr bwMode="auto">
          <a:xfrm>
            <a:off x="7051575" y="3546977"/>
            <a:ext cx="348291" cy="3048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7176-6D53-DD91-2D8E-422B727B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Multi-Armed Lawyers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4D6A1-3E13-A94F-063A-2C32586C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914400"/>
            <a:ext cx="10566400" cy="5562600"/>
          </a:xfrm>
        </p:spPr>
        <p:txBody>
          <a:bodyPr>
            <a:normAutofit/>
          </a:bodyPr>
          <a:lstStyle/>
          <a:p>
            <a:r>
              <a:rPr lang="en-GB" dirty="0"/>
              <a:t>Consider a large table with identical multi-armed alien lawyers. There is a pile of chopsticks at the </a:t>
            </a:r>
            <a:r>
              <a:rPr lang="en-GB" dirty="0" err="1"/>
              <a:t>center</a:t>
            </a:r>
            <a:r>
              <a:rPr lang="en-GB" dirty="0"/>
              <a:t> of the table. In order to eat, a lawyer must have one chopstick in each hand. Assume total number of chopsticks ≥ number of hands of each lawyer, so at least one lawyer can eat.</a:t>
            </a:r>
          </a:p>
          <a:p>
            <a:r>
              <a:rPr lang="en-GB" dirty="0"/>
              <a:t>It is not a generalization of the 2-armed Dining Philosophers problem. Since the chopsticks are in a pile at </a:t>
            </a:r>
            <a:r>
              <a:rPr lang="en-GB" dirty="0" err="1"/>
              <a:t>center</a:t>
            </a:r>
            <a:r>
              <a:rPr lang="en-GB" dirty="0"/>
              <a:t> of the table, we should model them as a single resource with multiple instances, instead of multiple resources for the Dining Philosophers, where each fork (chopstick) has a fixed position in-between two philosophers. Hence the R and C matrices have a single column.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8E381C-BBBB-E844-A692-437444C89492}"/>
              </a:ext>
            </a:extLst>
          </p:cNvPr>
          <p:cNvSpPr/>
          <p:nvPr/>
        </p:nvSpPr>
        <p:spPr bwMode="auto">
          <a:xfrm>
            <a:off x="3296000" y="6477000"/>
            <a:ext cx="5600000" cy="30480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GB" sz="1400" b="0" dirty="0">
                <a:latin typeface="Gill Sans" panose="020B0502020104020203"/>
              </a:rPr>
              <a:t>Ack: this example is taken from UC Berkeley CS 162 course.</a:t>
            </a:r>
            <a:endParaRPr kumimoji="0" lang="en-SE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" panose="020B05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391253455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3AE9-0C56-1BC7-737D-9D60B38A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Dining Lawyers I</a:t>
            </a:r>
            <a:endParaRPr lang="en-S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E5981-C58E-1D2C-A988-FFF28496C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914400"/>
            <a:ext cx="10566400" cy="5105400"/>
          </a:xfrm>
        </p:spPr>
        <p:txBody>
          <a:bodyPr>
            <a:normAutofit/>
          </a:bodyPr>
          <a:lstStyle/>
          <a:p>
            <a:r>
              <a:rPr lang="en-GB" dirty="0"/>
              <a:t>There are 5 lawyers, each lawyer has 2 arms, and there is a pile of 5 chopsticks at the </a:t>
            </a:r>
            <a:r>
              <a:rPr lang="en-GB" dirty="0" err="1"/>
              <a:t>center</a:t>
            </a:r>
            <a:r>
              <a:rPr lang="en-GB" dirty="0"/>
              <a:t> of the table. Each lawyer follows the following steps:</a:t>
            </a:r>
          </a:p>
          <a:p>
            <a:pPr lvl="1"/>
            <a:r>
              <a:rPr lang="en-GB" dirty="0"/>
              <a:t>(1) Pick up a chopstick </a:t>
            </a:r>
          </a:p>
          <a:p>
            <a:pPr lvl="1"/>
            <a:r>
              <a:rPr lang="en-GB" dirty="0"/>
              <a:t>(2) Pick up another chopstick </a:t>
            </a:r>
          </a:p>
          <a:p>
            <a:pPr lvl="1"/>
            <a:r>
              <a:rPr lang="en-GB" dirty="0"/>
              <a:t>(3) Eat</a:t>
            </a:r>
          </a:p>
          <a:p>
            <a:pPr lvl="1"/>
            <a:r>
              <a:rPr lang="en-GB" dirty="0"/>
              <a:t>(4) Return both chopsticks to the pile </a:t>
            </a:r>
          </a:p>
          <a:p>
            <a:r>
              <a:rPr lang="en-GB" dirty="0"/>
              <a:t>Q0: Can the system be deadlocked?</a:t>
            </a:r>
          </a:p>
          <a:p>
            <a:r>
              <a:rPr lang="en-GB" dirty="0"/>
              <a:t>Q1: Two lawyers each grab two chopsticks and start eating. One lawyer grabs one chopstick. Is the current state safe? Check it using Banker’s algorithm.</a:t>
            </a:r>
          </a:p>
          <a:p>
            <a:r>
              <a:rPr lang="en-GB" dirty="0"/>
              <a:t>Q2: Each lawyer grabs 1 chopstick. Is the current state safe? Check it using Banker’s algorithm.</a:t>
            </a:r>
          </a:p>
          <a:p>
            <a:endParaRPr lang="en-GB" dirty="0"/>
          </a:p>
          <a:p>
            <a:endParaRPr lang="en-GB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82380109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010E-0DE6-664D-E651-1315BFD2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Dining Lawyers II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E106-EFF2-89A6-A94C-94BA0CA7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There are N ≥ 2 lawyers, each lawyer has 2 arms, and there is a pile of knives and forks at </a:t>
            </a:r>
            <a:r>
              <a:rPr lang="en-GB" dirty="0" err="1"/>
              <a:t>center</a:t>
            </a:r>
            <a:r>
              <a:rPr lang="en-GB" dirty="0"/>
              <a:t> of the table. Assume there are at least 1 knife and 1 fork, so at least one lawyer can eat. Each lawyer follows the following steps:</a:t>
            </a:r>
          </a:p>
          <a:p>
            <a:pPr lvl="1"/>
            <a:r>
              <a:rPr lang="en-GB" dirty="0"/>
              <a:t>(1) Pick up a knife </a:t>
            </a:r>
          </a:p>
          <a:p>
            <a:pPr lvl="1"/>
            <a:r>
              <a:rPr lang="en-GB" dirty="0"/>
              <a:t>(2) Pick up a fork </a:t>
            </a:r>
          </a:p>
          <a:p>
            <a:pPr lvl="1"/>
            <a:r>
              <a:rPr lang="en-GB" dirty="0"/>
              <a:t>(3) Eat</a:t>
            </a:r>
          </a:p>
          <a:p>
            <a:pPr lvl="1"/>
            <a:r>
              <a:rPr lang="en-GB" dirty="0"/>
              <a:t>(4) Return the knife and fork to the pile </a:t>
            </a:r>
          </a:p>
          <a:p>
            <a:r>
              <a:rPr lang="en-GB" dirty="0"/>
              <a:t>Q: Can the system be deadlocked?</a:t>
            </a:r>
          </a:p>
          <a:p>
            <a:endParaRPr lang="en-GB" dirty="0"/>
          </a:p>
          <a:p>
            <a:endParaRPr lang="en-GB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93732988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CE1A-5EE0-BB49-216D-B4B1AF277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Dining Lawyers III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90D62-C0BE-DA6D-366C-8F725FB1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N ≥ 2 lawyers, each lawyer has 4 arms, and there is a pile of knives and forks at </a:t>
            </a:r>
            <a:r>
              <a:rPr lang="en-GB" dirty="0" err="1"/>
              <a:t>center</a:t>
            </a:r>
            <a:r>
              <a:rPr lang="en-GB" dirty="0"/>
              <a:t> of the table. Assume there are at least 2 knives and 2 forks, so at least one lawyer can eat. Each lawyer follows the following steps:</a:t>
            </a:r>
          </a:p>
          <a:p>
            <a:pPr lvl="1"/>
            <a:r>
              <a:rPr lang="en-GB" dirty="0"/>
              <a:t>(1) Pick up 2 knives atomically</a:t>
            </a:r>
          </a:p>
          <a:p>
            <a:pPr lvl="1"/>
            <a:r>
              <a:rPr lang="en-GB" dirty="0"/>
              <a:t>(2) Pick up 2 forks atomically</a:t>
            </a:r>
          </a:p>
          <a:p>
            <a:pPr lvl="1"/>
            <a:r>
              <a:rPr lang="en-GB" dirty="0"/>
              <a:t>(3) Eat</a:t>
            </a:r>
          </a:p>
          <a:p>
            <a:pPr lvl="1"/>
            <a:r>
              <a:rPr lang="en-GB" dirty="0"/>
              <a:t>(4) Return the knives and forks to the pile </a:t>
            </a:r>
          </a:p>
          <a:p>
            <a:r>
              <a:rPr lang="en-GB" dirty="0"/>
              <a:t>Q: Can the system be deadlocked?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001167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2A10-41A5-9895-0B16-ACEA70293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Quiz: Dining Lawyers IV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04C07-65AC-81BF-04CE-B8BAC4C03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There are N ≥ 2 lawyers, each lawyer has 4 arms, and there is a pile of knives and forks at </a:t>
            </a:r>
            <a:r>
              <a:rPr lang="en-GB" dirty="0" err="1"/>
              <a:t>center</a:t>
            </a:r>
            <a:r>
              <a:rPr lang="en-GB" dirty="0"/>
              <a:t> of the table. Assume there are at least 2 knives and 2 forks, so at least one lawyer can eat. Each lawyer follows the following steps:</a:t>
            </a:r>
          </a:p>
          <a:p>
            <a:pPr lvl="1"/>
            <a:r>
              <a:rPr lang="en-GB" dirty="0"/>
              <a:t>(1) Pick up a knife </a:t>
            </a:r>
          </a:p>
          <a:p>
            <a:pPr lvl="1"/>
            <a:r>
              <a:rPr lang="en-GB" dirty="0"/>
              <a:t>(2) Pick up another knife</a:t>
            </a:r>
          </a:p>
          <a:p>
            <a:pPr lvl="1"/>
            <a:r>
              <a:rPr lang="en-GB" dirty="0"/>
              <a:t>(3) Pick up a fork </a:t>
            </a:r>
          </a:p>
          <a:p>
            <a:pPr lvl="1"/>
            <a:r>
              <a:rPr lang="en-GB" dirty="0"/>
              <a:t>(4) Pick up another fork</a:t>
            </a:r>
          </a:p>
          <a:p>
            <a:pPr lvl="1"/>
            <a:r>
              <a:rPr lang="en-GB" dirty="0"/>
              <a:t>(5) Eat</a:t>
            </a:r>
          </a:p>
          <a:p>
            <a:pPr lvl="1"/>
            <a:r>
              <a:rPr lang="en-GB" dirty="0"/>
              <a:t>(6) Return the knife and fork to the pile </a:t>
            </a:r>
          </a:p>
          <a:p>
            <a:r>
              <a:rPr lang="en-GB" dirty="0"/>
              <a:t>Q1: Can the system be deadlocked?</a:t>
            </a:r>
          </a:p>
          <a:p>
            <a:r>
              <a:rPr lang="en-GB" dirty="0"/>
              <a:t>Q2: What if each lawyer may have a different number of arms, and may request a different ratio of knives vs. forks?</a:t>
            </a:r>
          </a:p>
        </p:txBody>
      </p:sp>
    </p:spTree>
    <p:extLst>
      <p:ext uri="{BB962C8B-B14F-4D97-AF65-F5344CB8AC3E}">
        <p14:creationId xmlns:p14="http://schemas.microsoft.com/office/powerpoint/2010/main" val="29969133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98757</TotalTime>
  <Pages>60</Pages>
  <Words>1226</Words>
  <Application>Microsoft Office PowerPoint</Application>
  <PresentationFormat>Widescreen</PresentationFormat>
  <Paragraphs>150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 MT</vt:lpstr>
      <vt:lpstr>Gill Sans</vt:lpstr>
      <vt:lpstr>Gill Sans Light</vt:lpstr>
      <vt:lpstr>宋体</vt:lpstr>
      <vt:lpstr>Arial</vt:lpstr>
      <vt:lpstr>Cambria Math</vt:lpstr>
      <vt:lpstr>Comic Sans MS</vt:lpstr>
      <vt:lpstr>Courier New</vt:lpstr>
      <vt:lpstr>Office</vt:lpstr>
      <vt:lpstr>Equation</vt:lpstr>
      <vt:lpstr>CSC 112: Computer Operating Systems Lecture 4   Deadlocks Exercises</vt:lpstr>
      <vt:lpstr>Quiz: Deadlocks </vt:lpstr>
      <vt:lpstr>Quiz: Banker’s Algorithm I</vt:lpstr>
      <vt:lpstr>Quiz: Banker’s algorithm II</vt:lpstr>
      <vt:lpstr>Banker’s Algorithm: 4 philosophers each holding his left fork</vt:lpstr>
      <vt:lpstr>Banker’s Algorithm: 5 philosophers each holding his left fork</vt:lpstr>
      <vt:lpstr>Multi-Armed Lawyers</vt:lpstr>
      <vt:lpstr>Quiz: Dining Lawyers I</vt:lpstr>
      <vt:lpstr>Quiz: Dining Lawyers II </vt:lpstr>
      <vt:lpstr>Quiz: Dining Lawyers III</vt:lpstr>
      <vt:lpstr>Quiz: Dining Lawyers IV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1058</cp:revision>
  <cp:lastPrinted>2022-03-15T20:14:46Z</cp:lastPrinted>
  <dcterms:created xsi:type="dcterms:W3CDTF">1995-08-12T11:37:26Z</dcterms:created>
  <dcterms:modified xsi:type="dcterms:W3CDTF">2025-03-05T21:13:37Z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