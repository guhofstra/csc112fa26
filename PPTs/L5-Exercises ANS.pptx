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17"/>
  </p:notesMasterIdLst>
  <p:handoutMasterIdLst>
    <p:handoutMasterId r:id="rId18"/>
  </p:handoutMasterIdLst>
  <p:sldIdLst>
    <p:sldId id="256" r:id="rId2"/>
    <p:sldId id="1500" r:id="rId3"/>
    <p:sldId id="1501" r:id="rId4"/>
    <p:sldId id="1493" r:id="rId5"/>
    <p:sldId id="1488" r:id="rId6"/>
    <p:sldId id="1494" r:id="rId7"/>
    <p:sldId id="1497" r:id="rId8"/>
    <p:sldId id="1499" r:id="rId9"/>
    <p:sldId id="1508" r:id="rId10"/>
    <p:sldId id="1507" r:id="rId11"/>
    <p:sldId id="1506" r:id="rId12"/>
    <p:sldId id="1502" r:id="rId13"/>
    <p:sldId id="1505" r:id="rId14"/>
    <p:sldId id="1504" r:id="rId15"/>
    <p:sldId id="1503" r:id="rId16"/>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0945E83-6F55-4A9C-A9C1-CD1F7089783B}" v="7" dt="2025-10-03T00:44:00.89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878" autoAdjust="0"/>
    <p:restoredTop sz="78431" autoAdjust="0"/>
  </p:normalViewPr>
  <p:slideViewPr>
    <p:cSldViewPr>
      <p:cViewPr varScale="1">
        <p:scale>
          <a:sx n="64" d="100"/>
          <a:sy n="64" d="100"/>
        </p:scale>
        <p:origin x="1152" y="8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1315"/>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modSld">
      <pc:chgData name="Zonghua Gu" userId="9a7e1853e1951ef5" providerId="LiveId" clId="{CF1FAA12-072C-4ED5-BA76-0FFFAEFDB88A}" dt="2025-10-03T00:44:10.102" v="278" actId="20577"/>
      <pc:docMkLst>
        <pc:docMk/>
      </pc:docMkLst>
      <pc:sldChg chg="addSp modSp mod">
        <pc:chgData name="Zonghua Gu" userId="9a7e1853e1951ef5" providerId="LiveId" clId="{CF1FAA12-072C-4ED5-BA76-0FFFAEFDB88A}" dt="2025-10-03T00:44:10.102" v="278" actId="20577"/>
        <pc:sldMkLst>
          <pc:docMk/>
          <pc:sldMk cId="4004612482" sldId="1505"/>
        </pc:sldMkLst>
        <pc:spChg chg="mod">
          <ac:chgData name="Zonghua Gu" userId="9a7e1853e1951ef5" providerId="LiveId" clId="{CF1FAA12-072C-4ED5-BA76-0FFFAEFDB88A}" dt="2025-10-03T00:42:24.075" v="218" actId="1076"/>
          <ac:spMkLst>
            <pc:docMk/>
            <pc:sldMk cId="4004612482" sldId="1505"/>
            <ac:spMk id="2" creationId="{F6CA6576-C415-5FE8-27A3-075448AAE703}"/>
          </ac:spMkLst>
        </pc:spChg>
        <pc:spChg chg="add mod">
          <ac:chgData name="Zonghua Gu" userId="9a7e1853e1951ef5" providerId="LiveId" clId="{CF1FAA12-072C-4ED5-BA76-0FFFAEFDB88A}" dt="2025-10-03T00:44:10.102" v="278" actId="20577"/>
          <ac:spMkLst>
            <pc:docMk/>
            <pc:sldMk cId="4004612482" sldId="1505"/>
            <ac:spMk id="3" creationId="{F13E486A-E64F-A8E0-CD86-0195293CF369}"/>
          </ac:spMkLst>
        </pc:spChg>
        <pc:spChg chg="mod">
          <ac:chgData name="Zonghua Gu" userId="9a7e1853e1951ef5" providerId="LiveId" clId="{CF1FAA12-072C-4ED5-BA76-0FFFAEFDB88A}" dt="2025-10-03T00:36:19.490" v="10" actId="1035"/>
          <ac:spMkLst>
            <pc:docMk/>
            <pc:sldMk cId="4004612482" sldId="1505"/>
            <ac:spMk id="9" creationId="{53D9FB4D-71DC-9670-0457-FF52A713A203}"/>
          </ac:spMkLst>
        </pc:spChg>
        <pc:spChg chg="mod">
          <ac:chgData name="Zonghua Gu" userId="9a7e1853e1951ef5" providerId="LiveId" clId="{CF1FAA12-072C-4ED5-BA76-0FFFAEFDB88A}" dt="2025-10-03T00:36:19.490" v="10" actId="1035"/>
          <ac:spMkLst>
            <pc:docMk/>
            <pc:sldMk cId="4004612482" sldId="1505"/>
            <ac:spMk id="10" creationId="{F3171692-EFA5-CFE4-4CF5-CF2C4418DF45}"/>
          </ac:spMkLst>
        </pc:spChg>
        <pc:spChg chg="mod">
          <ac:chgData name="Zonghua Gu" userId="9a7e1853e1951ef5" providerId="LiveId" clId="{CF1FAA12-072C-4ED5-BA76-0FFFAEFDB88A}" dt="2025-10-03T00:36:19.490" v="10" actId="1035"/>
          <ac:spMkLst>
            <pc:docMk/>
            <pc:sldMk cId="4004612482" sldId="1505"/>
            <ac:spMk id="11" creationId="{76DE50C5-903D-4D23-21EF-EBB55CE240B5}"/>
          </ac:spMkLst>
        </pc:spChg>
        <pc:spChg chg="mod">
          <ac:chgData name="Zonghua Gu" userId="9a7e1853e1951ef5" providerId="LiveId" clId="{CF1FAA12-072C-4ED5-BA76-0FFFAEFDB88A}" dt="2025-10-03T00:36:19.490" v="10" actId="1035"/>
          <ac:spMkLst>
            <pc:docMk/>
            <pc:sldMk cId="4004612482" sldId="1505"/>
            <ac:spMk id="12" creationId="{7608CC1D-A3E7-BE0E-CAF3-96BEBCB4E3E8}"/>
          </ac:spMkLst>
        </pc:spChg>
        <pc:spChg chg="mod">
          <ac:chgData name="Zonghua Gu" userId="9a7e1853e1951ef5" providerId="LiveId" clId="{CF1FAA12-072C-4ED5-BA76-0FFFAEFDB88A}" dt="2025-10-03T00:36:19.490" v="10" actId="1035"/>
          <ac:spMkLst>
            <pc:docMk/>
            <pc:sldMk cId="4004612482" sldId="1505"/>
            <ac:spMk id="13" creationId="{0845DE8D-CC0E-117A-8D00-6CF38CD9A132}"/>
          </ac:spMkLst>
        </pc:spChg>
        <pc:spChg chg="mod">
          <ac:chgData name="Zonghua Gu" userId="9a7e1853e1951ef5" providerId="LiveId" clId="{CF1FAA12-072C-4ED5-BA76-0FFFAEFDB88A}" dt="2025-10-03T00:36:19.490" v="10" actId="1035"/>
          <ac:spMkLst>
            <pc:docMk/>
            <pc:sldMk cId="4004612482" sldId="1505"/>
            <ac:spMk id="14" creationId="{41536FF2-CA6F-0D44-E8FF-57BF3E908801}"/>
          </ac:spMkLst>
        </pc:spChg>
        <pc:spChg chg="mod">
          <ac:chgData name="Zonghua Gu" userId="9a7e1853e1951ef5" providerId="LiveId" clId="{CF1FAA12-072C-4ED5-BA76-0FFFAEFDB88A}" dt="2025-10-03T00:36:19.490" v="10" actId="1035"/>
          <ac:spMkLst>
            <pc:docMk/>
            <pc:sldMk cId="4004612482" sldId="1505"/>
            <ac:spMk id="18" creationId="{5002EA4D-95EF-7455-DE42-02F716EBEBB1}"/>
          </ac:spMkLst>
        </pc:spChg>
        <pc:graphicFrameChg chg="mod">
          <ac:chgData name="Zonghua Gu" userId="9a7e1853e1951ef5" providerId="LiveId" clId="{CF1FAA12-072C-4ED5-BA76-0FFFAEFDB88A}" dt="2025-10-03T00:36:05.799" v="0" actId="1076"/>
          <ac:graphicFrameMkLst>
            <pc:docMk/>
            <pc:sldMk cId="4004612482" sldId="1505"/>
            <ac:graphicFrameMk id="8" creationId="{645EE26D-01F6-37BB-34ED-7BFA54544EA8}"/>
          </ac:graphicFrameMkLst>
        </pc:graphicFrameChg>
        <pc:picChg chg="mod">
          <ac:chgData name="Zonghua Gu" userId="9a7e1853e1951ef5" providerId="LiveId" clId="{CF1FAA12-072C-4ED5-BA76-0FFFAEFDB88A}" dt="2025-10-03T00:36:19.490" v="10" actId="1035"/>
          <ac:picMkLst>
            <pc:docMk/>
            <pc:sldMk cId="4004612482" sldId="1505"/>
            <ac:picMk id="7" creationId="{7B211E08-18A4-0B53-A853-D44C622D5577}"/>
          </ac:picMkLst>
        </pc:picChg>
        <pc:cxnChg chg="mod">
          <ac:chgData name="Zonghua Gu" userId="9a7e1853e1951ef5" providerId="LiveId" clId="{CF1FAA12-072C-4ED5-BA76-0FFFAEFDB88A}" dt="2025-10-03T00:36:19.490" v="10" actId="1035"/>
          <ac:cxnSpMkLst>
            <pc:docMk/>
            <pc:sldMk cId="4004612482" sldId="1505"/>
            <ac:cxnSpMk id="17" creationId="{2FF0BD6F-0234-4008-71A8-EF8636D9A871}"/>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Tree>
    <p:extLst>
      <p:ext uri="{BB962C8B-B14F-4D97-AF65-F5344CB8AC3E}">
        <p14:creationId xmlns:p14="http://schemas.microsoft.com/office/powerpoint/2010/main" val="9006879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A8C160-40DD-F6BF-A956-D5A195FCB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B8ED0F-38C7-C548-9D73-3C69D85AAB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14CFB0-ED51-C926-662D-81D547C60941}"/>
              </a:ext>
            </a:extLst>
          </p:cNvPr>
          <p:cNvSpPr>
            <a:spLocks noGrp="1"/>
          </p:cNvSpPr>
          <p:nvPr>
            <p:ph type="body" idx="1"/>
          </p:nvPr>
        </p:nvSpPr>
        <p:spPr/>
        <p:txBody>
          <a:bodyPr/>
          <a:lstStyle/>
          <a:p/>
        </p:txBody>
      </p:sp>
    </p:spTree>
    <p:extLst>
      <p:ext uri="{BB962C8B-B14F-4D97-AF65-F5344CB8AC3E}">
        <p14:creationId xmlns:p14="http://schemas.microsoft.com/office/powerpoint/2010/main" val="24971378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BD56A-182F-D88E-0234-D71A91B8F1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ABCA10-BF0C-940C-9041-BD6F749CB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8B8278-3395-5B05-3ADC-3909FE407DDF}"/>
              </a:ext>
            </a:extLst>
          </p:cNvPr>
          <p:cNvSpPr>
            <a:spLocks noGrp="1"/>
          </p:cNvSpPr>
          <p:nvPr>
            <p:ph type="body" idx="1"/>
          </p:nvPr>
        </p:nvSpPr>
        <p:spPr/>
        <p:txBody>
          <a:bodyPr/>
          <a:lstStyle/>
          <a:p/>
        </p:txBody>
      </p:sp>
    </p:spTree>
    <p:extLst>
      <p:ext uri="{BB962C8B-B14F-4D97-AF65-F5344CB8AC3E}">
        <p14:creationId xmlns:p14="http://schemas.microsoft.com/office/powerpoint/2010/main" val="28856614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4D5F9-BD45-03CC-B159-031F0DE2E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AD611-C0F7-C90A-4E41-3CF30E6A1F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96E9EF-A53D-7846-B44B-A635BB899328}"/>
              </a:ext>
            </a:extLst>
          </p:cNvPr>
          <p:cNvSpPr>
            <a:spLocks noGrp="1"/>
          </p:cNvSpPr>
          <p:nvPr>
            <p:ph type="body" idx="1"/>
          </p:nvPr>
        </p:nvSpPr>
        <p:spPr/>
        <p:txBody>
          <a:bodyPr/>
          <a:lstStyle/>
          <a:p/>
        </p:txBody>
      </p:sp>
    </p:spTree>
    <p:extLst>
      <p:ext uri="{BB962C8B-B14F-4D97-AF65-F5344CB8AC3E}">
        <p14:creationId xmlns:p14="http://schemas.microsoft.com/office/powerpoint/2010/main" val="14474931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35218-8966-C389-E7BB-A4FEF9082B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BC890-B3F9-D1AB-1E9F-EAA5FD6490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2A7B3E-48D6-CFC3-7F4E-CEA3EA6BB883}"/>
              </a:ext>
            </a:extLst>
          </p:cNvPr>
          <p:cNvSpPr>
            <a:spLocks noGrp="1"/>
          </p:cNvSpPr>
          <p:nvPr>
            <p:ph type="body" idx="1"/>
          </p:nvPr>
        </p:nvSpPr>
        <p:spPr/>
        <p:txBody>
          <a:bodyPr/>
          <a:lstStyle/>
          <a:p/>
        </p:txBody>
      </p:sp>
    </p:spTree>
    <p:extLst>
      <p:ext uri="{BB962C8B-B14F-4D97-AF65-F5344CB8AC3E}">
        <p14:creationId xmlns:p14="http://schemas.microsoft.com/office/powerpoint/2010/main" val="36289536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3533C-E2AD-25EA-00B7-41D9FE77D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25607D-E3B8-CC56-56AC-ACC137B070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D66BF-E316-F722-68A1-DF1EF21FA9F2}"/>
              </a:ext>
            </a:extLst>
          </p:cNvPr>
          <p:cNvSpPr>
            <a:spLocks noGrp="1"/>
          </p:cNvSpPr>
          <p:nvPr>
            <p:ph type="body" idx="1"/>
          </p:nvPr>
        </p:nvSpPr>
        <p:spPr/>
        <p:txBody>
          <a:bodyPr/>
          <a:lstStyle/>
          <a:p/>
        </p:txBody>
      </p:sp>
    </p:spTree>
    <p:extLst>
      <p:ext uri="{BB962C8B-B14F-4D97-AF65-F5344CB8AC3E}">
        <p14:creationId xmlns:p14="http://schemas.microsoft.com/office/powerpoint/2010/main" val="15861703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855054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a:t>
            </a:r>
            <a:r>
              <a:rPr lang="en-US" altLang="zh-CN" sz="3000" dirty="0"/>
              <a:t>5</a:t>
            </a:r>
            <a:br>
              <a:rPr lang="en-US" sz="3000" dirty="0"/>
            </a:br>
            <a:br>
              <a:rPr lang="en-US" sz="3000" dirty="0"/>
            </a:br>
            <a:br>
              <a:rPr lang="en-US" sz="3000"/>
            </a:br>
            <a:r>
              <a:rPr lang="en-US" sz="3000"/>
              <a:t>Scheduling</a:t>
            </a:r>
            <a:br>
              <a:rPr lang="en-US" sz="3000"/>
            </a:br>
            <a:r>
              <a:rPr lang="en-US" sz="3000"/>
              <a:t>Exercises </a:t>
            </a:r>
            <a:r>
              <a:rPr lang="en-US" sz="3000" dirty="0"/>
              <a:t>Solution</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2713676" y="6477000"/>
            <a:ext cx="6840847"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8165B-77B3-A766-647F-94728AAE698E}"/>
              </a:ext>
            </a:extLst>
          </p:cNvPr>
          <p:cNvSpPr>
            <a:spLocks noGrp="1"/>
          </p:cNvSpPr>
          <p:nvPr>
            <p:ph type="title"/>
          </p:nvPr>
        </p:nvSpPr>
        <p:spPr/>
        <p:txBody>
          <a:bodyPr/>
          <a:lstStyle/>
          <a:p>
            <a:r>
              <a:rPr lang="en-GB" dirty="0"/>
              <a:t>Predicting Burst Time</a:t>
            </a:r>
            <a:endParaRPr lang="en-SE" dirty="0"/>
          </a:p>
        </p:txBody>
      </p:sp>
      <p:sp>
        <p:nvSpPr>
          <p:cNvPr id="3" name="Content Placeholder 2">
            <a:extLst>
              <a:ext uri="{FF2B5EF4-FFF2-40B4-BE49-F238E27FC236}">
                <a16:creationId xmlns:a16="http://schemas.microsoft.com/office/drawing/2014/main" id="{A568D32D-8A26-D01F-B9B1-DC028CCAB513}"/>
              </a:ext>
            </a:extLst>
          </p:cNvPr>
          <p:cNvSpPr>
            <a:spLocks noGrp="1"/>
          </p:cNvSpPr>
          <p:nvPr>
            <p:ph idx="1"/>
          </p:nvPr>
        </p:nvSpPr>
        <p:spPr/>
        <p:txBody>
          <a:bodyPr>
            <a:normAutofit/>
          </a:bodyPr>
          <a:lstStyle/>
          <a:p>
            <a:r>
              <a:rPr lang="en-US" altLang="ko-KR" dirty="0"/>
              <a:t>Use </a:t>
            </a:r>
            <a:r>
              <a:rPr lang="en-US" altLang="ko-KR" sz="2800" dirty="0"/>
              <a:t>exponential averaging  </a:t>
            </a:r>
            <a:r>
              <a:rPr lang="en-US" altLang="ko-KR" sz="2800" dirty="0">
                <a:sym typeface="Symbol" panose="05050102010706020507" pitchFamily="18" charset="2"/>
              </a:rPr>
              <a:t></a:t>
            </a:r>
            <a:r>
              <a:rPr lang="en-US" altLang="ko-KR" sz="2800" baseline="-25000" dirty="0">
                <a:sym typeface="Symbol" panose="05050102010706020507" pitchFamily="18" charset="2"/>
              </a:rPr>
              <a:t>n</a:t>
            </a:r>
            <a:r>
              <a:rPr lang="en-US" altLang="ko-KR" sz="2800" dirty="0">
                <a:sym typeface="Symbol" panose="05050102010706020507" pitchFamily="18" charset="2"/>
              </a:rPr>
              <a:t> = t</a:t>
            </a:r>
            <a:r>
              <a:rPr lang="en-US" altLang="ko-KR" sz="2800" baseline="-25000" dirty="0">
                <a:sym typeface="Symbol" panose="05050102010706020507" pitchFamily="18" charset="2"/>
              </a:rPr>
              <a:t>n-1</a:t>
            </a:r>
            <a:r>
              <a:rPr lang="en-US" altLang="ko-KR" sz="2800" dirty="0">
                <a:sym typeface="Symbol" panose="05050102010706020507" pitchFamily="18" charset="2"/>
              </a:rPr>
              <a:t>+(1-)</a:t>
            </a:r>
            <a:r>
              <a:rPr lang="en-US" altLang="ko-KR" sz="2800" baseline="-25000" dirty="0">
                <a:sym typeface="Symbol" panose="05050102010706020507" pitchFamily="18" charset="2"/>
              </a:rPr>
              <a:t>n-1</a:t>
            </a:r>
            <a:r>
              <a:rPr lang="en-US" altLang="ko-KR" sz="2800" dirty="0">
                <a:sym typeface="Symbol" panose="05050102010706020507" pitchFamily="18" charset="2"/>
              </a:rPr>
              <a:t> to predict the next burst time. Assume initial estimate </a:t>
            </a:r>
            <a:r>
              <a:rPr lang="en-US" altLang="ko-KR" sz="2800" baseline="-25000" dirty="0">
                <a:sym typeface="Symbol" panose="05050102010706020507" pitchFamily="18" charset="2"/>
              </a:rPr>
              <a:t>0</a:t>
            </a:r>
            <a:r>
              <a:rPr lang="en-US" altLang="ko-KR" sz="2800" dirty="0">
                <a:sym typeface="Symbol" panose="05050102010706020507" pitchFamily="18" charset="2"/>
              </a:rPr>
              <a:t> = 10, and the </a:t>
            </a:r>
            <a:r>
              <a:rPr lang="en-GB" dirty="0"/>
              <a:t>actual burst times of the first four processes </a:t>
            </a:r>
            <a:r>
              <a:rPr lang="en-US" altLang="ko-KR" sz="2800" dirty="0">
                <a:sym typeface="Symbol" panose="05050102010706020507" pitchFamily="18" charset="2"/>
              </a:rPr>
              <a:t>t</a:t>
            </a:r>
            <a:r>
              <a:rPr lang="en-US" altLang="ko-KR" sz="2800" baseline="-25000" dirty="0">
                <a:sym typeface="Symbol" panose="05050102010706020507" pitchFamily="18" charset="2"/>
              </a:rPr>
              <a:t>0</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1</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2</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3</a:t>
            </a:r>
            <a:r>
              <a:rPr lang="en-GB" dirty="0"/>
              <a:t> are 4, 8, 6 and 7, respectively. Given α = 0.5. Compute the predicted burst times </a:t>
            </a:r>
            <a:r>
              <a:rPr lang="en-US" altLang="ko-KR" sz="2800" dirty="0">
                <a:sym typeface="Symbol" panose="05050102010706020507" pitchFamily="18" charset="2"/>
              </a:rPr>
              <a:t></a:t>
            </a:r>
            <a:r>
              <a:rPr lang="en-US" altLang="ko-KR" sz="2800" baseline="-25000" dirty="0">
                <a:sym typeface="Symbol" panose="05050102010706020507" pitchFamily="18" charset="2"/>
              </a:rPr>
              <a:t>1</a:t>
            </a:r>
            <a:r>
              <a:rPr lang="en-US" altLang="ko-KR" sz="2800" dirty="0">
                <a:sym typeface="Symbol" panose="05050102010706020507" pitchFamily="18" charset="2"/>
              </a:rPr>
              <a:t>, </a:t>
            </a:r>
            <a:r>
              <a:rPr lang="en-US" altLang="ko-KR" sz="2800" baseline="-25000" dirty="0">
                <a:sym typeface="Symbol" panose="05050102010706020507" pitchFamily="18" charset="2"/>
              </a:rPr>
              <a:t>2</a:t>
            </a:r>
            <a:r>
              <a:rPr lang="en-US" altLang="ko-KR" sz="2800" dirty="0">
                <a:sym typeface="Symbol" panose="05050102010706020507" pitchFamily="18" charset="2"/>
              </a:rPr>
              <a:t>, </a:t>
            </a:r>
            <a:r>
              <a:rPr lang="en-US" altLang="ko-KR" sz="2800" baseline="-25000" dirty="0">
                <a:sym typeface="Symbol" panose="05050102010706020507" pitchFamily="18" charset="2"/>
              </a:rPr>
              <a:t>3</a:t>
            </a:r>
            <a:r>
              <a:rPr lang="en-US" altLang="ko-KR" sz="2800" dirty="0">
                <a:sym typeface="Symbol" panose="05050102010706020507" pitchFamily="18" charset="2"/>
              </a:rPr>
              <a:t>, </a:t>
            </a:r>
            <a:r>
              <a:rPr lang="en-US" altLang="ko-KR" sz="2800" baseline="-25000" dirty="0">
                <a:sym typeface="Symbol" panose="05050102010706020507" pitchFamily="18" charset="2"/>
              </a:rPr>
              <a:t>4. </a:t>
            </a:r>
            <a:endParaRPr lang="en-GB" dirty="0"/>
          </a:p>
        </p:txBody>
      </p:sp>
    </p:spTree>
    <p:extLst>
      <p:ext uri="{BB962C8B-B14F-4D97-AF65-F5344CB8AC3E}">
        <p14:creationId xmlns:p14="http://schemas.microsoft.com/office/powerpoint/2010/main" val="183060587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1AD51-C722-ED23-27FF-56338D8A07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47E7B-32F3-3735-987C-876AF2264A2B}"/>
              </a:ext>
            </a:extLst>
          </p:cNvPr>
          <p:cNvSpPr>
            <a:spLocks noGrp="1"/>
          </p:cNvSpPr>
          <p:nvPr>
            <p:ph type="title"/>
          </p:nvPr>
        </p:nvSpPr>
        <p:spPr/>
        <p:txBody>
          <a:bodyPr/>
          <a:lstStyle/>
          <a:p>
            <a:r>
              <a:rPr lang="en-GB" dirty="0"/>
              <a:t>Predicting Burst Time ANS</a:t>
            </a:r>
            <a:endParaRPr lang="en-SE" dirty="0"/>
          </a:p>
        </p:txBody>
      </p:sp>
      <p:sp>
        <p:nvSpPr>
          <p:cNvPr id="3" name="Content Placeholder 2">
            <a:extLst>
              <a:ext uri="{FF2B5EF4-FFF2-40B4-BE49-F238E27FC236}">
                <a16:creationId xmlns:a16="http://schemas.microsoft.com/office/drawing/2014/main" id="{C96E4FFE-F627-F544-AB84-D0B202D11C76}"/>
              </a:ext>
            </a:extLst>
          </p:cNvPr>
          <p:cNvSpPr>
            <a:spLocks noGrp="1"/>
          </p:cNvSpPr>
          <p:nvPr>
            <p:ph idx="1"/>
          </p:nvPr>
        </p:nvSpPr>
        <p:spPr/>
        <p:txBody>
          <a:bodyPr>
            <a:normAutofit/>
          </a:bodyPr>
          <a:lstStyle/>
          <a:p>
            <a:r>
              <a:rPr lang="en-US" altLang="ko-KR" dirty="0"/>
              <a:t>Use </a:t>
            </a:r>
            <a:r>
              <a:rPr lang="en-US" altLang="ko-KR" sz="2800" dirty="0"/>
              <a:t>exponential averaging  </a:t>
            </a:r>
            <a:r>
              <a:rPr lang="en-US" altLang="ko-KR" sz="2800" dirty="0">
                <a:sym typeface="Symbol" panose="05050102010706020507" pitchFamily="18" charset="2"/>
              </a:rPr>
              <a:t></a:t>
            </a:r>
            <a:r>
              <a:rPr lang="en-US" altLang="ko-KR" sz="2800" baseline="-25000" dirty="0">
                <a:sym typeface="Symbol" panose="05050102010706020507" pitchFamily="18" charset="2"/>
              </a:rPr>
              <a:t>n</a:t>
            </a:r>
            <a:r>
              <a:rPr lang="en-US" altLang="ko-KR" sz="2800" dirty="0">
                <a:sym typeface="Symbol" panose="05050102010706020507" pitchFamily="18" charset="2"/>
              </a:rPr>
              <a:t> = t</a:t>
            </a:r>
            <a:r>
              <a:rPr lang="en-US" altLang="ko-KR" sz="2800" baseline="-25000" dirty="0">
                <a:sym typeface="Symbol" panose="05050102010706020507" pitchFamily="18" charset="2"/>
              </a:rPr>
              <a:t>n-1</a:t>
            </a:r>
            <a:r>
              <a:rPr lang="en-US" altLang="ko-KR" sz="2800" dirty="0">
                <a:sym typeface="Symbol" panose="05050102010706020507" pitchFamily="18" charset="2"/>
              </a:rPr>
              <a:t>+(1-)</a:t>
            </a:r>
            <a:r>
              <a:rPr lang="en-US" altLang="ko-KR" sz="2800" baseline="-25000" dirty="0">
                <a:sym typeface="Symbol" panose="05050102010706020507" pitchFamily="18" charset="2"/>
              </a:rPr>
              <a:t>n-1</a:t>
            </a:r>
            <a:r>
              <a:rPr lang="en-US" altLang="ko-KR" sz="2800" dirty="0">
                <a:sym typeface="Symbol" panose="05050102010706020507" pitchFamily="18" charset="2"/>
              </a:rPr>
              <a:t> to predict the next burst time. Assume initial estimate </a:t>
            </a:r>
            <a:r>
              <a:rPr lang="en-US" altLang="ko-KR" sz="2800" baseline="-25000" dirty="0">
                <a:sym typeface="Symbol" panose="05050102010706020507" pitchFamily="18" charset="2"/>
              </a:rPr>
              <a:t>0</a:t>
            </a:r>
            <a:r>
              <a:rPr lang="en-US" altLang="ko-KR" sz="2800" dirty="0">
                <a:sym typeface="Symbol" panose="05050102010706020507" pitchFamily="18" charset="2"/>
              </a:rPr>
              <a:t> = 10, and the </a:t>
            </a:r>
            <a:r>
              <a:rPr lang="en-GB" dirty="0"/>
              <a:t>actual burst times of the first four processes </a:t>
            </a:r>
            <a:r>
              <a:rPr lang="en-US" altLang="ko-KR" sz="2800" dirty="0">
                <a:sym typeface="Symbol" panose="05050102010706020507" pitchFamily="18" charset="2"/>
              </a:rPr>
              <a:t>t</a:t>
            </a:r>
            <a:r>
              <a:rPr lang="en-US" altLang="ko-KR" sz="2800" baseline="-25000" dirty="0">
                <a:sym typeface="Symbol" panose="05050102010706020507" pitchFamily="18" charset="2"/>
              </a:rPr>
              <a:t>0</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1</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2</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3</a:t>
            </a:r>
            <a:r>
              <a:rPr lang="en-GB" dirty="0"/>
              <a:t> are 4, 8, 6 and 7, respectively. Given α = 0.5. Compute the predicted burst times </a:t>
            </a:r>
            <a:r>
              <a:rPr lang="en-US" altLang="ko-KR" sz="2800" dirty="0">
                <a:sym typeface="Symbol" panose="05050102010706020507" pitchFamily="18" charset="2"/>
              </a:rPr>
              <a:t></a:t>
            </a:r>
            <a:r>
              <a:rPr lang="en-US" altLang="ko-KR" sz="2800" baseline="-25000" dirty="0">
                <a:sym typeface="Symbol" panose="05050102010706020507" pitchFamily="18" charset="2"/>
              </a:rPr>
              <a:t>1</a:t>
            </a:r>
            <a:r>
              <a:rPr lang="en-US" altLang="ko-KR" sz="2800" dirty="0">
                <a:sym typeface="Symbol" panose="05050102010706020507" pitchFamily="18" charset="2"/>
              </a:rPr>
              <a:t>, </a:t>
            </a:r>
            <a:r>
              <a:rPr lang="en-US" altLang="ko-KR" sz="2800" baseline="-25000" dirty="0">
                <a:sym typeface="Symbol" panose="05050102010706020507" pitchFamily="18" charset="2"/>
              </a:rPr>
              <a:t>2</a:t>
            </a:r>
            <a:r>
              <a:rPr lang="en-US" altLang="ko-KR" sz="2800" dirty="0">
                <a:sym typeface="Symbol" panose="05050102010706020507" pitchFamily="18" charset="2"/>
              </a:rPr>
              <a:t>, </a:t>
            </a:r>
            <a:r>
              <a:rPr lang="en-US" altLang="ko-KR" sz="2800" baseline="-25000" dirty="0">
                <a:sym typeface="Symbol" panose="05050102010706020507" pitchFamily="18" charset="2"/>
              </a:rPr>
              <a:t>3</a:t>
            </a:r>
            <a:r>
              <a:rPr lang="en-US" altLang="ko-KR" sz="2800" dirty="0">
                <a:sym typeface="Symbol" panose="05050102010706020507" pitchFamily="18" charset="2"/>
              </a:rPr>
              <a:t>, </a:t>
            </a:r>
            <a:r>
              <a:rPr lang="en-US" altLang="ko-KR" sz="2800" baseline="-25000" dirty="0">
                <a:sym typeface="Symbol" panose="05050102010706020507" pitchFamily="18" charset="2"/>
              </a:rPr>
              <a:t>4. </a:t>
            </a:r>
            <a:r>
              <a:rPr lang="en-US" altLang="ko-KR" sz="2800" dirty="0">
                <a:sym typeface="Symbol" panose="05050102010706020507" pitchFamily="18" charset="2"/>
              </a:rPr>
              <a:t>(It is best if you can bring a calculator. But if you do not have one, just writing out the following formulas is OK.)</a:t>
            </a:r>
            <a:endParaRPr lang="en-US" altLang="ko-KR" sz="2800" baseline="-25000" dirty="0">
              <a:sym typeface="Symbol" panose="05050102010706020507" pitchFamily="18" charset="2"/>
            </a:endParaRPr>
          </a:p>
          <a:p>
            <a:pPr marL="0" indent="0">
              <a:buNone/>
            </a:pPr>
            <a:endParaRPr lang="en-US" altLang="ko-KR" sz="2800" baseline="-25000" dirty="0">
              <a:sym typeface="Symbol" panose="05050102010706020507" pitchFamily="18" charset="2"/>
            </a:endParaRPr>
          </a:p>
          <a:p>
            <a:r>
              <a:rPr lang="en-US" altLang="ko-KR" sz="2800" dirty="0">
                <a:sym typeface="Symbol" panose="05050102010706020507" pitchFamily="18" charset="2"/>
              </a:rPr>
              <a:t></a:t>
            </a:r>
            <a:r>
              <a:rPr lang="en-US" altLang="ko-KR" sz="2800" baseline="-25000" dirty="0">
                <a:sym typeface="Symbol" panose="05050102010706020507" pitchFamily="18" charset="2"/>
              </a:rPr>
              <a:t>1  </a:t>
            </a:r>
            <a:r>
              <a:rPr lang="en-GB" dirty="0"/>
              <a:t>= 0.5 x 4 + 0.5 x 10 = 7</a:t>
            </a:r>
          </a:p>
          <a:p>
            <a:r>
              <a:rPr lang="en-US" altLang="ko-KR" sz="2800" dirty="0">
                <a:sym typeface="Symbol" panose="05050102010706020507" pitchFamily="18" charset="2"/>
              </a:rPr>
              <a:t></a:t>
            </a:r>
            <a:r>
              <a:rPr lang="en-US" altLang="ko-KR" sz="2800" baseline="-25000" dirty="0">
                <a:sym typeface="Symbol" panose="05050102010706020507" pitchFamily="18" charset="2"/>
              </a:rPr>
              <a:t>2  </a:t>
            </a:r>
            <a:r>
              <a:rPr lang="en-GB" dirty="0"/>
              <a:t>= 0.5 x 8 + 0.5 x 7 = 7.5</a:t>
            </a:r>
          </a:p>
          <a:p>
            <a:r>
              <a:rPr lang="en-US" altLang="ko-KR" sz="2800" dirty="0">
                <a:sym typeface="Symbol" panose="05050102010706020507" pitchFamily="18" charset="2"/>
              </a:rPr>
              <a:t></a:t>
            </a:r>
            <a:r>
              <a:rPr lang="en-US" altLang="ko-KR" sz="2800" baseline="-25000" dirty="0">
                <a:sym typeface="Symbol" panose="05050102010706020507" pitchFamily="18" charset="2"/>
              </a:rPr>
              <a:t>3  </a:t>
            </a:r>
            <a:r>
              <a:rPr lang="en-GB" dirty="0"/>
              <a:t>= 0.5 x 6 + 0.5 x 7.5 = 6.75</a:t>
            </a:r>
          </a:p>
          <a:p>
            <a:r>
              <a:rPr lang="en-US" altLang="ko-KR" sz="2800" dirty="0">
                <a:sym typeface="Symbol" panose="05050102010706020507" pitchFamily="18" charset="2"/>
              </a:rPr>
              <a:t></a:t>
            </a:r>
            <a:r>
              <a:rPr lang="en-US" altLang="ko-KR" sz="2800" baseline="-25000" dirty="0">
                <a:sym typeface="Symbol" panose="05050102010706020507" pitchFamily="18" charset="2"/>
              </a:rPr>
              <a:t>4  </a:t>
            </a:r>
            <a:r>
              <a:rPr lang="en-GB" dirty="0"/>
              <a:t>= 0.5 x 7 + 0.5 x 6.75 = 6.875</a:t>
            </a:r>
          </a:p>
        </p:txBody>
      </p:sp>
    </p:spTree>
    <p:extLst>
      <p:ext uri="{BB962C8B-B14F-4D97-AF65-F5344CB8AC3E}">
        <p14:creationId xmlns:p14="http://schemas.microsoft.com/office/powerpoint/2010/main" val="2766716578"/>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8BE6B-0C65-5110-8483-EE9E77544F77}"/>
              </a:ext>
            </a:extLst>
          </p:cNvPr>
          <p:cNvSpPr>
            <a:spLocks noGrp="1"/>
          </p:cNvSpPr>
          <p:nvPr>
            <p:ph type="title"/>
          </p:nvPr>
        </p:nvSpPr>
        <p:spPr/>
        <p:txBody>
          <a:bodyPr/>
          <a:lstStyle/>
          <a:p>
            <a:r>
              <a:rPr lang="en-US" dirty="0"/>
              <a:t>Scheduling</a:t>
            </a:r>
            <a:endParaRPr lang="en-SE" dirty="0"/>
          </a:p>
        </p:txBody>
      </p:sp>
      <p:sp>
        <p:nvSpPr>
          <p:cNvPr id="3" name="Content Placeholder 2">
            <a:extLst>
              <a:ext uri="{FF2B5EF4-FFF2-40B4-BE49-F238E27FC236}">
                <a16:creationId xmlns:a16="http://schemas.microsoft.com/office/drawing/2014/main" id="{EB56F1D9-966C-5F42-C49B-BBC015FF1F6D}"/>
              </a:ext>
            </a:extLst>
          </p:cNvPr>
          <p:cNvSpPr>
            <a:spLocks noGrp="1"/>
          </p:cNvSpPr>
          <p:nvPr>
            <p:ph idx="1"/>
          </p:nvPr>
        </p:nvSpPr>
        <p:spPr/>
        <p:txBody>
          <a:bodyPr>
            <a:normAutofit/>
          </a:bodyPr>
          <a:lstStyle/>
          <a:p>
            <a:r>
              <a:rPr lang="en-GB" dirty="0"/>
              <a:t>Here is a table of processes and their arrival and execution times.</a:t>
            </a:r>
          </a:p>
          <a:p>
            <a:r>
              <a:rPr lang="en-GB" dirty="0"/>
              <a:t>1) </a:t>
            </a:r>
            <a:r>
              <a:rPr lang="en-US" altLang="zh-CN" dirty="0"/>
              <a:t>Draw the Gantt chart </a:t>
            </a:r>
            <a:r>
              <a:rPr lang="en-GB" dirty="0"/>
              <a:t>under 4 policies: First Come First Serve (FCFS), Shortest Job First (SJF), Shortest-Remaining-Time-First (SRTF), Round-Robin (RR) with time quantum = 1. Assume that context switch overhead is 0. For RR, assume that an arriving process is scheduled to run at the beginning of its arrival time, i.e., it is added to the head of the queue upon arrival. </a:t>
            </a:r>
          </a:p>
          <a:p>
            <a:r>
              <a:rPr lang="en-GB" dirty="0"/>
              <a:t>2) Compute the finish times and response times for all processes, and the average response time. (If the division is hard, write a fraction like 28/5 instead of 5.6)</a:t>
            </a:r>
          </a:p>
        </p:txBody>
      </p:sp>
    </p:spTree>
    <p:extLst>
      <p:ext uri="{BB962C8B-B14F-4D97-AF65-F5344CB8AC3E}">
        <p14:creationId xmlns:p14="http://schemas.microsoft.com/office/powerpoint/2010/main" val="105798708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E8027-5F46-AE07-1A33-4FEF2B5E971C}"/>
              </a:ext>
            </a:extLst>
          </p:cNvPr>
          <p:cNvSpPr>
            <a:spLocks noGrp="1"/>
          </p:cNvSpPr>
          <p:nvPr>
            <p:ph type="title"/>
          </p:nvPr>
        </p:nvSpPr>
        <p:spPr/>
        <p:txBody>
          <a:bodyPr/>
          <a:lstStyle/>
          <a:p>
            <a:r>
              <a:rPr lang="en-US" dirty="0"/>
              <a:t>Scheduling I</a:t>
            </a:r>
            <a:endParaRPr lang="en-SE" dirty="0"/>
          </a:p>
        </p:txBody>
      </p:sp>
      <p:graphicFrame>
        <p:nvGraphicFramePr>
          <p:cNvPr id="6" name="表格 6">
            <a:extLst>
              <a:ext uri="{FF2B5EF4-FFF2-40B4-BE49-F238E27FC236}">
                <a16:creationId xmlns:a16="http://schemas.microsoft.com/office/drawing/2014/main" id="{F56D55BF-D2CA-CC53-ED25-ACF1ECCD8AEA}"/>
              </a:ext>
            </a:extLst>
          </p:cNvPr>
          <p:cNvGraphicFramePr>
            <a:graphicFrameLocks noGrp="1"/>
          </p:cNvGraphicFramePr>
          <p:nvPr>
            <p:extLst>
              <p:ext uri="{D42A27DB-BD31-4B8C-83A1-F6EECF244321}">
                <p14:modId xmlns:p14="http://schemas.microsoft.com/office/powerpoint/2010/main" val="3612067224"/>
              </p:ext>
            </p:extLst>
          </p:nvPr>
        </p:nvGraphicFramePr>
        <p:xfrm>
          <a:off x="571185" y="1240518"/>
          <a:ext cx="10769917" cy="265176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gridCol w="922097">
                  <a:extLst>
                    <a:ext uri="{9D8B030D-6E8A-4147-A177-3AD203B41FA5}">
                      <a16:colId xmlns:a16="http://schemas.microsoft.com/office/drawing/2014/main" val="2248621"/>
                    </a:ext>
                  </a:extLst>
                </a:gridCol>
                <a:gridCol w="1222097">
                  <a:extLst>
                    <a:ext uri="{9D8B030D-6E8A-4147-A177-3AD203B41FA5}">
                      <a16:colId xmlns:a16="http://schemas.microsoft.com/office/drawing/2014/main" val="2712044097"/>
                    </a:ext>
                  </a:extLst>
                </a:gridCol>
                <a:gridCol w="922097">
                  <a:extLst>
                    <a:ext uri="{9D8B030D-6E8A-4147-A177-3AD203B41FA5}">
                      <a16:colId xmlns:a16="http://schemas.microsoft.com/office/drawing/2014/main" val="4072710305"/>
                    </a:ext>
                  </a:extLst>
                </a:gridCol>
                <a:gridCol w="1222097">
                  <a:extLst>
                    <a:ext uri="{9D8B030D-6E8A-4147-A177-3AD203B41FA5}">
                      <a16:colId xmlns:a16="http://schemas.microsoft.com/office/drawing/2014/main" val="3685768401"/>
                    </a:ext>
                  </a:extLst>
                </a:gridCol>
                <a:gridCol w="922097">
                  <a:extLst>
                    <a:ext uri="{9D8B030D-6E8A-4147-A177-3AD203B41FA5}">
                      <a16:colId xmlns:a16="http://schemas.microsoft.com/office/drawing/2014/main" val="3601507115"/>
                    </a:ext>
                  </a:extLst>
                </a:gridCol>
                <a:gridCol w="1222097">
                  <a:extLst>
                    <a:ext uri="{9D8B030D-6E8A-4147-A177-3AD203B41FA5}">
                      <a16:colId xmlns:a16="http://schemas.microsoft.com/office/drawing/2014/main" val="2233393087"/>
                    </a:ext>
                  </a:extLst>
                </a:gridCol>
              </a:tblGrid>
              <a:tr h="7314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Response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Response Time</a:t>
                      </a:r>
                    </a:p>
                  </a:txBody>
                  <a:tcPr/>
                </a:tc>
                <a:tc>
                  <a:txBody>
                    <a:bodyPr/>
                    <a:lstStyle/>
                    <a:p>
                      <a:pPr algn="r"/>
                      <a:r>
                        <a:rPr lang="en-US" b="0" dirty="0">
                          <a:solidFill>
                            <a:schemeClr val="tx1"/>
                          </a:solidFill>
                        </a:rPr>
                        <a:t>RR</a:t>
                      </a:r>
                    </a:p>
                    <a:p>
                      <a:pPr algn="r"/>
                      <a:r>
                        <a:rPr lang="en-US" b="0" dirty="0">
                          <a:solidFill>
                            <a:schemeClr val="tx1"/>
                          </a:solidFill>
                        </a:rPr>
                        <a:t>Finish Time</a:t>
                      </a:r>
                    </a:p>
                  </a:txBody>
                  <a:tcPr/>
                </a:tc>
                <a:tc>
                  <a:txBody>
                    <a:bodyPr/>
                    <a:lstStyle/>
                    <a:p>
                      <a:pPr algn="r"/>
                      <a:r>
                        <a:rPr lang="en-US" b="0" dirty="0">
                          <a:solidFill>
                            <a:schemeClr val="tx1"/>
                          </a:solidFill>
                        </a:rPr>
                        <a:t>RR</a:t>
                      </a:r>
                    </a:p>
                    <a:p>
                      <a:pPr algn="r"/>
                      <a:r>
                        <a:rPr lang="en-US" b="0" dirty="0">
                          <a:solidFill>
                            <a:schemeClr val="tx1"/>
                          </a:solidFill>
                        </a:rPr>
                        <a:t>Response Time</a:t>
                      </a:r>
                    </a:p>
                  </a:txBody>
                  <a:tcPr/>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4</a:t>
                      </a:r>
                      <a:endParaRPr lang="en-US" baseline="30000" dirty="0">
                        <a:solidFill>
                          <a:schemeClr val="tx1"/>
                        </a:solidFill>
                      </a:endParaRP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extLst>
                  <a:ext uri="{0D108BD9-81ED-4DB2-BD59-A6C34878D82A}">
                    <a16:rowId xmlns:a16="http://schemas.microsoft.com/office/drawing/2014/main" val="2879113726"/>
                  </a:ext>
                </a:extLst>
              </a:tr>
            </a:tbl>
          </a:graphicData>
        </a:graphic>
      </p:graphicFrame>
      <p:graphicFrame>
        <p:nvGraphicFramePr>
          <p:cNvPr id="32" name="Table 31">
            <a:extLst>
              <a:ext uri="{FF2B5EF4-FFF2-40B4-BE49-F238E27FC236}">
                <a16:creationId xmlns:a16="http://schemas.microsoft.com/office/drawing/2014/main" id="{57975AA6-80FA-7BF1-4E89-648A2FFB6619}"/>
              </a:ext>
            </a:extLst>
          </p:cNvPr>
          <p:cNvGraphicFramePr>
            <a:graphicFrameLocks noGrp="1"/>
          </p:cNvGraphicFramePr>
          <p:nvPr>
            <p:extLst>
              <p:ext uri="{D42A27DB-BD31-4B8C-83A1-F6EECF244321}">
                <p14:modId xmlns:p14="http://schemas.microsoft.com/office/powerpoint/2010/main" val="3731690118"/>
              </p:ext>
            </p:extLst>
          </p:nvPr>
        </p:nvGraphicFramePr>
        <p:xfrm>
          <a:off x="3276600" y="4038600"/>
          <a:ext cx="5939140" cy="148336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tblGrid>
              <a:tr h="370840">
                <a:tc>
                  <a:txBody>
                    <a:bodyPr/>
                    <a:lstStyle/>
                    <a:p>
                      <a:r>
                        <a:rPr lang="en-GB" dirty="0"/>
                        <a:t>FCFS</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62492301"/>
                  </a:ext>
                </a:extLst>
              </a:tr>
            </a:tbl>
          </a:graphicData>
        </a:graphic>
      </p:graphicFrame>
      <p:graphicFrame>
        <p:nvGraphicFramePr>
          <p:cNvPr id="33" name="Table 32">
            <a:extLst>
              <a:ext uri="{FF2B5EF4-FFF2-40B4-BE49-F238E27FC236}">
                <a16:creationId xmlns:a16="http://schemas.microsoft.com/office/drawing/2014/main" id="{8A8433EE-5FDA-45B0-C06A-8C9691339AAA}"/>
              </a:ext>
            </a:extLst>
          </p:cNvPr>
          <p:cNvGraphicFramePr>
            <a:graphicFrameLocks noGrp="1"/>
          </p:cNvGraphicFramePr>
          <p:nvPr>
            <p:extLst>
              <p:ext uri="{D42A27DB-BD31-4B8C-83A1-F6EECF244321}">
                <p14:modId xmlns:p14="http://schemas.microsoft.com/office/powerpoint/2010/main" val="1732515516"/>
              </p:ext>
            </p:extLst>
          </p:nvPr>
        </p:nvGraphicFramePr>
        <p:xfrm>
          <a:off x="3037242" y="5521960"/>
          <a:ext cx="6459539"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510909">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extLst>
                  <a:ext uri="{0D108BD9-81ED-4DB2-BD59-A6C34878D82A}">
                    <a16:rowId xmlns:a16="http://schemas.microsoft.com/office/drawing/2014/main" val="1169300345"/>
                  </a:ext>
                </a:extLst>
              </a:tr>
            </a:tbl>
          </a:graphicData>
        </a:graphic>
      </p:graphicFrame>
      <p:sp>
        <p:nvSpPr>
          <p:cNvPr id="36" name="Content Placeholder 2">
            <a:extLst>
              <a:ext uri="{FF2B5EF4-FFF2-40B4-BE49-F238E27FC236}">
                <a16:creationId xmlns:a16="http://schemas.microsoft.com/office/drawing/2014/main" id="{5DDDDC17-1B53-D0C6-AC2C-40B2632F153E}"/>
              </a:ext>
            </a:extLst>
          </p:cNvPr>
          <p:cNvSpPr>
            <a:spLocks noGrp="1"/>
          </p:cNvSpPr>
          <p:nvPr>
            <p:ph idx="1"/>
          </p:nvPr>
        </p:nvSpPr>
        <p:spPr>
          <a:xfrm>
            <a:off x="5490212" y="5892800"/>
            <a:ext cx="1676400" cy="395575"/>
          </a:xfrm>
        </p:spPr>
        <p:txBody>
          <a:bodyPr>
            <a:normAutofit lnSpcReduction="10000"/>
          </a:bodyPr>
          <a:lstStyle/>
          <a:p>
            <a:pPr marL="0" indent="0">
              <a:buNone/>
            </a:pPr>
            <a:r>
              <a:rPr lang="en-GB" sz="2400" dirty="0"/>
              <a:t>Gantt Chart</a:t>
            </a:r>
            <a:endParaRPr lang="en-SE" sz="2400" dirty="0"/>
          </a:p>
        </p:txBody>
      </p:sp>
    </p:spTree>
    <p:extLst>
      <p:ext uri="{BB962C8B-B14F-4D97-AF65-F5344CB8AC3E}">
        <p14:creationId xmlns:p14="http://schemas.microsoft.com/office/powerpoint/2010/main" val="8207681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C1DC6-65FD-902D-179B-2081EE4B53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418E9A-71B3-4EE2-668D-B117E5DAAF73}"/>
              </a:ext>
            </a:extLst>
          </p:cNvPr>
          <p:cNvSpPr>
            <a:spLocks noGrp="1"/>
          </p:cNvSpPr>
          <p:nvPr>
            <p:ph type="title"/>
          </p:nvPr>
        </p:nvSpPr>
        <p:spPr/>
        <p:txBody>
          <a:bodyPr/>
          <a:lstStyle/>
          <a:p>
            <a:r>
              <a:rPr lang="en-US" dirty="0"/>
              <a:t>Scheduling I ANS</a:t>
            </a:r>
            <a:endParaRPr lang="en-SE" dirty="0"/>
          </a:p>
        </p:txBody>
      </p:sp>
      <p:graphicFrame>
        <p:nvGraphicFramePr>
          <p:cNvPr id="6" name="表格 6">
            <a:extLst>
              <a:ext uri="{FF2B5EF4-FFF2-40B4-BE49-F238E27FC236}">
                <a16:creationId xmlns:a16="http://schemas.microsoft.com/office/drawing/2014/main" id="{554771CD-BFB6-6462-29E4-2DE6E213704D}"/>
              </a:ext>
            </a:extLst>
          </p:cNvPr>
          <p:cNvGraphicFramePr>
            <a:graphicFrameLocks noGrp="1"/>
          </p:cNvGraphicFramePr>
          <p:nvPr>
            <p:extLst>
              <p:ext uri="{D42A27DB-BD31-4B8C-83A1-F6EECF244321}">
                <p14:modId xmlns:p14="http://schemas.microsoft.com/office/powerpoint/2010/main" val="473350421"/>
              </p:ext>
            </p:extLst>
          </p:nvPr>
        </p:nvGraphicFramePr>
        <p:xfrm>
          <a:off x="571185" y="1240518"/>
          <a:ext cx="10769917" cy="265176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gridCol w="922097">
                  <a:extLst>
                    <a:ext uri="{9D8B030D-6E8A-4147-A177-3AD203B41FA5}">
                      <a16:colId xmlns:a16="http://schemas.microsoft.com/office/drawing/2014/main" val="2248621"/>
                    </a:ext>
                  </a:extLst>
                </a:gridCol>
                <a:gridCol w="1222097">
                  <a:extLst>
                    <a:ext uri="{9D8B030D-6E8A-4147-A177-3AD203B41FA5}">
                      <a16:colId xmlns:a16="http://schemas.microsoft.com/office/drawing/2014/main" val="2712044097"/>
                    </a:ext>
                  </a:extLst>
                </a:gridCol>
                <a:gridCol w="922097">
                  <a:extLst>
                    <a:ext uri="{9D8B030D-6E8A-4147-A177-3AD203B41FA5}">
                      <a16:colId xmlns:a16="http://schemas.microsoft.com/office/drawing/2014/main" val="4072710305"/>
                    </a:ext>
                  </a:extLst>
                </a:gridCol>
                <a:gridCol w="1222097">
                  <a:extLst>
                    <a:ext uri="{9D8B030D-6E8A-4147-A177-3AD203B41FA5}">
                      <a16:colId xmlns:a16="http://schemas.microsoft.com/office/drawing/2014/main" val="3685768401"/>
                    </a:ext>
                  </a:extLst>
                </a:gridCol>
                <a:gridCol w="922097">
                  <a:extLst>
                    <a:ext uri="{9D8B030D-6E8A-4147-A177-3AD203B41FA5}">
                      <a16:colId xmlns:a16="http://schemas.microsoft.com/office/drawing/2014/main" val="3601507115"/>
                    </a:ext>
                  </a:extLst>
                </a:gridCol>
                <a:gridCol w="1222097">
                  <a:extLst>
                    <a:ext uri="{9D8B030D-6E8A-4147-A177-3AD203B41FA5}">
                      <a16:colId xmlns:a16="http://schemas.microsoft.com/office/drawing/2014/main" val="2233393087"/>
                    </a:ext>
                  </a:extLst>
                </a:gridCol>
              </a:tblGrid>
              <a:tr h="7314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Response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Response Time</a:t>
                      </a:r>
                    </a:p>
                  </a:txBody>
                  <a:tcPr/>
                </a:tc>
                <a:tc>
                  <a:txBody>
                    <a:bodyPr/>
                    <a:lstStyle/>
                    <a:p>
                      <a:pPr algn="r"/>
                      <a:r>
                        <a:rPr lang="en-US" b="0" dirty="0">
                          <a:solidFill>
                            <a:schemeClr val="tx1"/>
                          </a:solidFill>
                        </a:rPr>
                        <a:t>RR</a:t>
                      </a:r>
                    </a:p>
                    <a:p>
                      <a:pPr algn="r"/>
                      <a:r>
                        <a:rPr lang="en-US" b="0" dirty="0">
                          <a:solidFill>
                            <a:schemeClr val="tx1"/>
                          </a:solidFill>
                        </a:rPr>
                        <a:t>Finish Time</a:t>
                      </a:r>
                    </a:p>
                  </a:txBody>
                  <a:tcPr/>
                </a:tc>
                <a:tc>
                  <a:txBody>
                    <a:bodyPr/>
                    <a:lstStyle/>
                    <a:p>
                      <a:pPr algn="r"/>
                      <a:r>
                        <a:rPr lang="en-US" b="0" dirty="0">
                          <a:solidFill>
                            <a:schemeClr val="tx1"/>
                          </a:solidFill>
                        </a:rPr>
                        <a:t>RR</a:t>
                      </a:r>
                    </a:p>
                    <a:p>
                      <a:pPr algn="r"/>
                      <a:r>
                        <a:rPr lang="en-US" b="0" dirty="0">
                          <a:solidFill>
                            <a:schemeClr val="tx1"/>
                          </a:solidFill>
                        </a:rPr>
                        <a:t>Response Time</a:t>
                      </a:r>
                    </a:p>
                  </a:txBody>
                  <a:tcPr/>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3</a:t>
                      </a: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r>
                        <a:rPr lang="en-US" altLang="zh-CN" dirty="0">
                          <a:solidFill>
                            <a:schemeClr val="tx1"/>
                          </a:solidFill>
                        </a:rPr>
                        <a:t>8</a:t>
                      </a:r>
                      <a:endParaRPr lang="en-US" dirty="0">
                        <a:solidFill>
                          <a:schemeClr val="tx1"/>
                        </a:solidFill>
                      </a:endParaRPr>
                    </a:p>
                  </a:txBody>
                  <a:tcPr/>
                </a:tc>
                <a:tc>
                  <a:txBody>
                    <a:bodyPr/>
                    <a:lstStyle/>
                    <a:p>
                      <a:pPr algn="r"/>
                      <a:r>
                        <a:rPr lang="en-US" dirty="0">
                          <a:solidFill>
                            <a:schemeClr val="tx1"/>
                          </a:solidFill>
                        </a:rPr>
                        <a:t>7</a:t>
                      </a:r>
                    </a:p>
                  </a:txBody>
                  <a:tcPr/>
                </a:tc>
                <a:tc>
                  <a:txBody>
                    <a:bodyPr/>
                    <a:lstStyle/>
                    <a:p>
                      <a:pPr algn="r"/>
                      <a:r>
                        <a:rPr lang="en-US" altLang="zh-CN" dirty="0">
                          <a:solidFill>
                            <a:schemeClr val="tx1"/>
                          </a:solidFill>
                        </a:rPr>
                        <a:t>8</a:t>
                      </a:r>
                      <a:endParaRPr lang="en-US" dirty="0">
                        <a:solidFill>
                          <a:schemeClr val="tx1"/>
                        </a:solidFill>
                      </a:endParaRPr>
                    </a:p>
                  </a:txBody>
                  <a:tcPr/>
                </a:tc>
                <a:tc>
                  <a:txBody>
                    <a:bodyPr/>
                    <a:lstStyle/>
                    <a:p>
                      <a:pPr algn="r"/>
                      <a:r>
                        <a:rPr lang="en-US" dirty="0">
                          <a:solidFill>
                            <a:schemeClr val="tx1"/>
                          </a:solidFill>
                        </a:rPr>
                        <a:t>7</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9</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9</a:t>
                      </a: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4</a:t>
                      </a:r>
                      <a:endParaRPr lang="en-US" baseline="30000" dirty="0">
                        <a:solidFill>
                          <a:schemeClr val="tx1"/>
                        </a:solidFill>
                      </a:endParaRP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dirty="0">
                          <a:solidFill>
                            <a:schemeClr val="tx1"/>
                          </a:solidFill>
                        </a:rPr>
                        <a:t>6</a:t>
                      </a: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dirty="0">
                          <a:solidFill>
                            <a:schemeClr val="tx1"/>
                          </a:solidFill>
                        </a:rPr>
                        <a:t>6</a:t>
                      </a:r>
                    </a:p>
                  </a:txBody>
                  <a:tcPr/>
                </a:tc>
                <a:tc>
                  <a:txBody>
                    <a:bodyPr/>
                    <a:lstStyle/>
                    <a:p>
                      <a:pPr algn="r"/>
                      <a:r>
                        <a:rPr lang="en-US" dirty="0">
                          <a:solidFill>
                            <a:schemeClr val="tx1"/>
                          </a:solidFill>
                        </a:rPr>
                        <a:t>6</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7</a:t>
                      </a:r>
                    </a:p>
                  </a:txBody>
                  <a:tcPr/>
                </a:tc>
                <a:tc>
                  <a:txBody>
                    <a:bodyPr/>
                    <a:lstStyle/>
                    <a:p>
                      <a:pPr algn="r"/>
                      <a:r>
                        <a:rPr lang="en-US" dirty="0">
                          <a:solidFill>
                            <a:schemeClr val="tx1"/>
                          </a:solidFill>
                        </a:rPr>
                        <a:t>3</a:t>
                      </a: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5</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a:t>
                      </a:r>
                      <a:r>
                        <a:rPr lang="en-US">
                          <a:solidFill>
                            <a:schemeClr val="tx1"/>
                          </a:solidFill>
                        </a:rPr>
                        <a:t>RT 5</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4.3</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5</a:t>
                      </a:r>
                    </a:p>
                  </a:txBody>
                  <a:tcPr/>
                </a:tc>
                <a:extLst>
                  <a:ext uri="{0D108BD9-81ED-4DB2-BD59-A6C34878D82A}">
                    <a16:rowId xmlns:a16="http://schemas.microsoft.com/office/drawing/2014/main" val="2879113726"/>
                  </a:ext>
                </a:extLst>
              </a:tr>
            </a:tbl>
          </a:graphicData>
        </a:graphic>
      </p:graphicFrame>
      <p:graphicFrame>
        <p:nvGraphicFramePr>
          <p:cNvPr id="32" name="Table 31">
            <a:extLst>
              <a:ext uri="{FF2B5EF4-FFF2-40B4-BE49-F238E27FC236}">
                <a16:creationId xmlns:a16="http://schemas.microsoft.com/office/drawing/2014/main" id="{00EAADDA-ADD5-1E2E-0833-84BA339292D7}"/>
              </a:ext>
            </a:extLst>
          </p:cNvPr>
          <p:cNvGraphicFramePr>
            <a:graphicFrameLocks noGrp="1"/>
          </p:cNvGraphicFramePr>
          <p:nvPr/>
        </p:nvGraphicFramePr>
        <p:xfrm>
          <a:off x="3276600" y="4038600"/>
          <a:ext cx="5939140" cy="148336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extLst>
                  <a:ext uri="{0D108BD9-81ED-4DB2-BD59-A6C34878D82A}">
                    <a16:rowId xmlns:a16="http://schemas.microsoft.com/office/drawing/2014/main" val="362492301"/>
                  </a:ext>
                </a:extLst>
              </a:tr>
            </a:tbl>
          </a:graphicData>
        </a:graphic>
      </p:graphicFrame>
      <p:graphicFrame>
        <p:nvGraphicFramePr>
          <p:cNvPr id="33" name="Table 32">
            <a:extLst>
              <a:ext uri="{FF2B5EF4-FFF2-40B4-BE49-F238E27FC236}">
                <a16:creationId xmlns:a16="http://schemas.microsoft.com/office/drawing/2014/main" id="{F0D2A11F-4806-F819-4EEB-729763B52ADF}"/>
              </a:ext>
            </a:extLst>
          </p:cNvPr>
          <p:cNvGraphicFramePr>
            <a:graphicFrameLocks noGrp="1"/>
          </p:cNvGraphicFramePr>
          <p:nvPr/>
        </p:nvGraphicFramePr>
        <p:xfrm>
          <a:off x="3037242" y="5521960"/>
          <a:ext cx="6459539"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510909">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extLst>
                  <a:ext uri="{0D108BD9-81ED-4DB2-BD59-A6C34878D82A}">
                    <a16:rowId xmlns:a16="http://schemas.microsoft.com/office/drawing/2014/main" val="1169300345"/>
                  </a:ext>
                </a:extLst>
              </a:tr>
            </a:tbl>
          </a:graphicData>
        </a:graphic>
      </p:graphicFrame>
      <p:sp>
        <p:nvSpPr>
          <p:cNvPr id="36" name="Content Placeholder 2">
            <a:extLst>
              <a:ext uri="{FF2B5EF4-FFF2-40B4-BE49-F238E27FC236}">
                <a16:creationId xmlns:a16="http://schemas.microsoft.com/office/drawing/2014/main" id="{BEEF5EE8-C76E-AA34-5994-C3A4EB7F41C8}"/>
              </a:ext>
            </a:extLst>
          </p:cNvPr>
          <p:cNvSpPr>
            <a:spLocks noGrp="1"/>
          </p:cNvSpPr>
          <p:nvPr>
            <p:ph idx="1"/>
          </p:nvPr>
        </p:nvSpPr>
        <p:spPr>
          <a:xfrm>
            <a:off x="7317541" y="5796883"/>
            <a:ext cx="1676400" cy="395575"/>
          </a:xfrm>
        </p:spPr>
        <p:txBody>
          <a:bodyPr>
            <a:normAutofit lnSpcReduction="10000"/>
          </a:bodyPr>
          <a:lstStyle/>
          <a:p>
            <a:pPr marL="0" indent="0">
              <a:buNone/>
            </a:pPr>
            <a:r>
              <a:rPr lang="en-GB" sz="2400" dirty="0"/>
              <a:t>Gantt Chart</a:t>
            </a:r>
            <a:endParaRPr lang="en-SE" sz="2400" dirty="0"/>
          </a:p>
        </p:txBody>
      </p:sp>
      <p:cxnSp>
        <p:nvCxnSpPr>
          <p:cNvPr id="3" name="Straight Arrow Connector 2">
            <a:extLst>
              <a:ext uri="{FF2B5EF4-FFF2-40B4-BE49-F238E27FC236}">
                <a16:creationId xmlns:a16="http://schemas.microsoft.com/office/drawing/2014/main" id="{41F14D9E-E168-7744-EA27-8404019A8882}"/>
              </a:ext>
            </a:extLst>
          </p:cNvPr>
          <p:cNvCxnSpPr>
            <a:cxnSpLocks/>
          </p:cNvCxnSpPr>
          <p:nvPr/>
        </p:nvCxnSpPr>
        <p:spPr bwMode="auto">
          <a:xfrm flipV="1">
            <a:off x="4118809" y="5856532"/>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4" name="TextBox 3">
            <a:extLst>
              <a:ext uri="{FF2B5EF4-FFF2-40B4-BE49-F238E27FC236}">
                <a16:creationId xmlns:a16="http://schemas.microsoft.com/office/drawing/2014/main" id="{85948B47-53BC-0BB0-6EF8-0BF47B631131}"/>
              </a:ext>
            </a:extLst>
          </p:cNvPr>
          <p:cNvSpPr txBox="1"/>
          <p:nvPr/>
        </p:nvSpPr>
        <p:spPr>
          <a:xfrm>
            <a:off x="3581400" y="6288375"/>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5" name="Straight Arrow Connector 4">
            <a:extLst>
              <a:ext uri="{FF2B5EF4-FFF2-40B4-BE49-F238E27FC236}">
                <a16:creationId xmlns:a16="http://schemas.microsoft.com/office/drawing/2014/main" id="{C1266E1A-B691-83B0-19BE-5310A9B6B11D}"/>
              </a:ext>
            </a:extLst>
          </p:cNvPr>
          <p:cNvCxnSpPr>
            <a:cxnSpLocks/>
          </p:cNvCxnSpPr>
          <p:nvPr/>
        </p:nvCxnSpPr>
        <p:spPr bwMode="auto">
          <a:xfrm flipV="1">
            <a:off x="4636165" y="5879197"/>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7" name="TextBox 6">
            <a:extLst>
              <a:ext uri="{FF2B5EF4-FFF2-40B4-BE49-F238E27FC236}">
                <a16:creationId xmlns:a16="http://schemas.microsoft.com/office/drawing/2014/main" id="{22EB69F8-9E00-3584-8C2B-5ECB456610EA}"/>
              </a:ext>
            </a:extLst>
          </p:cNvPr>
          <p:cNvSpPr txBox="1"/>
          <p:nvPr/>
        </p:nvSpPr>
        <p:spPr>
          <a:xfrm>
            <a:off x="4118809" y="6042706"/>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cxnSp>
        <p:nvCxnSpPr>
          <p:cNvPr id="10" name="Straight Arrow Connector 9">
            <a:extLst>
              <a:ext uri="{FF2B5EF4-FFF2-40B4-BE49-F238E27FC236}">
                <a16:creationId xmlns:a16="http://schemas.microsoft.com/office/drawing/2014/main" id="{2DCB0EB2-C85B-55BA-BC34-8DE06AB9249B}"/>
              </a:ext>
            </a:extLst>
          </p:cNvPr>
          <p:cNvCxnSpPr>
            <a:cxnSpLocks/>
          </p:cNvCxnSpPr>
          <p:nvPr/>
        </p:nvCxnSpPr>
        <p:spPr bwMode="auto">
          <a:xfrm flipV="1">
            <a:off x="6152942" y="5864752"/>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2" name="TextBox 11">
            <a:extLst>
              <a:ext uri="{FF2B5EF4-FFF2-40B4-BE49-F238E27FC236}">
                <a16:creationId xmlns:a16="http://schemas.microsoft.com/office/drawing/2014/main" id="{EAC50148-17AB-2B4C-A8AB-9C2A8969E968}"/>
              </a:ext>
            </a:extLst>
          </p:cNvPr>
          <p:cNvSpPr txBox="1"/>
          <p:nvPr/>
        </p:nvSpPr>
        <p:spPr>
          <a:xfrm>
            <a:off x="5615533" y="6296595"/>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P3 arrival</a:t>
            </a:r>
            <a:endParaRPr lang="en-SE" dirty="0">
              <a:solidFill>
                <a:schemeClr val="accent1">
                  <a:lumMod val="75000"/>
                </a:schemeClr>
              </a:solidFill>
              <a:latin typeface="Gill Sans Light"/>
            </a:endParaRPr>
          </a:p>
        </p:txBody>
      </p:sp>
    </p:spTree>
    <p:extLst>
      <p:ext uri="{BB962C8B-B14F-4D97-AF65-F5344CB8AC3E}">
        <p14:creationId xmlns:p14="http://schemas.microsoft.com/office/powerpoint/2010/main" val="339674002"/>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7EFE7-1570-81CA-8C67-68E86B556B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76ABFB-C171-2319-5443-055F7FA74FE1}"/>
              </a:ext>
            </a:extLst>
          </p:cNvPr>
          <p:cNvSpPr>
            <a:spLocks noGrp="1"/>
          </p:cNvSpPr>
          <p:nvPr>
            <p:ph type="title"/>
          </p:nvPr>
        </p:nvSpPr>
        <p:spPr/>
        <p:txBody>
          <a:bodyPr/>
          <a:lstStyle/>
          <a:p>
            <a:r>
              <a:rPr lang="en-US" dirty="0"/>
              <a:t>Scheduling II</a:t>
            </a:r>
            <a:endParaRPr lang="en-SE" dirty="0"/>
          </a:p>
        </p:txBody>
      </p:sp>
      <p:graphicFrame>
        <p:nvGraphicFramePr>
          <p:cNvPr id="6" name="表格 6">
            <a:extLst>
              <a:ext uri="{FF2B5EF4-FFF2-40B4-BE49-F238E27FC236}">
                <a16:creationId xmlns:a16="http://schemas.microsoft.com/office/drawing/2014/main" id="{9E59607C-9FBA-0525-178B-8C1B758047D8}"/>
              </a:ext>
            </a:extLst>
          </p:cNvPr>
          <p:cNvGraphicFramePr>
            <a:graphicFrameLocks noGrp="1"/>
          </p:cNvGraphicFramePr>
          <p:nvPr/>
        </p:nvGraphicFramePr>
        <p:xfrm>
          <a:off x="251086" y="889000"/>
          <a:ext cx="10769917" cy="274320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gridCol w="922097">
                  <a:extLst>
                    <a:ext uri="{9D8B030D-6E8A-4147-A177-3AD203B41FA5}">
                      <a16:colId xmlns:a16="http://schemas.microsoft.com/office/drawing/2014/main" val="2248621"/>
                    </a:ext>
                  </a:extLst>
                </a:gridCol>
                <a:gridCol w="1222097">
                  <a:extLst>
                    <a:ext uri="{9D8B030D-6E8A-4147-A177-3AD203B41FA5}">
                      <a16:colId xmlns:a16="http://schemas.microsoft.com/office/drawing/2014/main" val="2712044097"/>
                    </a:ext>
                  </a:extLst>
                </a:gridCol>
                <a:gridCol w="922097">
                  <a:extLst>
                    <a:ext uri="{9D8B030D-6E8A-4147-A177-3AD203B41FA5}">
                      <a16:colId xmlns:a16="http://schemas.microsoft.com/office/drawing/2014/main" val="4072710305"/>
                    </a:ext>
                  </a:extLst>
                </a:gridCol>
                <a:gridCol w="1222097">
                  <a:extLst>
                    <a:ext uri="{9D8B030D-6E8A-4147-A177-3AD203B41FA5}">
                      <a16:colId xmlns:a16="http://schemas.microsoft.com/office/drawing/2014/main" val="3685768401"/>
                    </a:ext>
                  </a:extLst>
                </a:gridCol>
                <a:gridCol w="922097">
                  <a:extLst>
                    <a:ext uri="{9D8B030D-6E8A-4147-A177-3AD203B41FA5}">
                      <a16:colId xmlns:a16="http://schemas.microsoft.com/office/drawing/2014/main" val="3601507115"/>
                    </a:ext>
                  </a:extLst>
                </a:gridCol>
                <a:gridCol w="1222097">
                  <a:extLst>
                    <a:ext uri="{9D8B030D-6E8A-4147-A177-3AD203B41FA5}">
                      <a16:colId xmlns:a16="http://schemas.microsoft.com/office/drawing/2014/main" val="2233393087"/>
                    </a:ext>
                  </a:extLst>
                </a:gridCol>
              </a:tblGrid>
              <a:tr h="875830">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Response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Response Time</a:t>
                      </a:r>
                    </a:p>
                  </a:txBody>
                  <a:tcPr/>
                </a:tc>
                <a:tc>
                  <a:txBody>
                    <a:bodyPr/>
                    <a:lstStyle/>
                    <a:p>
                      <a:pPr algn="r"/>
                      <a:r>
                        <a:rPr lang="en-US" b="0" dirty="0">
                          <a:solidFill>
                            <a:schemeClr val="tx1"/>
                          </a:solidFill>
                        </a:rPr>
                        <a:t>RR</a:t>
                      </a:r>
                    </a:p>
                    <a:p>
                      <a:pPr algn="r"/>
                      <a:r>
                        <a:rPr lang="en-US" b="0" dirty="0">
                          <a:solidFill>
                            <a:schemeClr val="tx1"/>
                          </a:solidFill>
                        </a:rPr>
                        <a:t>Finish Time</a:t>
                      </a:r>
                    </a:p>
                  </a:txBody>
                  <a:tcPr/>
                </a:tc>
                <a:tc>
                  <a:txBody>
                    <a:bodyPr/>
                    <a:lstStyle/>
                    <a:p>
                      <a:pPr algn="r"/>
                      <a:r>
                        <a:rPr lang="en-US" b="0" dirty="0">
                          <a:solidFill>
                            <a:schemeClr val="tx1"/>
                          </a:solidFill>
                        </a:rPr>
                        <a:t>RR</a:t>
                      </a:r>
                    </a:p>
                    <a:p>
                      <a:pPr algn="r"/>
                      <a:r>
                        <a:rPr lang="en-US" b="0" dirty="0">
                          <a:solidFill>
                            <a:schemeClr val="tx1"/>
                          </a:solidFill>
                        </a:rPr>
                        <a:t>Response Time</a:t>
                      </a:r>
                    </a:p>
                  </a:txBody>
                  <a:tcPr/>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5</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3</a:t>
                      </a:r>
                      <a:endParaRPr lang="en-US" baseline="30000" dirty="0">
                        <a:solidFill>
                          <a:schemeClr val="tx1"/>
                        </a:solidFill>
                      </a:endParaRP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4</a:t>
                      </a:r>
                    </a:p>
                  </a:txBody>
                  <a:tcPr/>
                </a:tc>
                <a:tc>
                  <a:txBody>
                    <a:bodyPr/>
                    <a:lstStyle/>
                    <a:p>
                      <a:pPr algn="r"/>
                      <a:r>
                        <a:rPr lang="en-US" baseline="0" dirty="0">
                          <a:solidFill>
                            <a:schemeClr val="tx1"/>
                          </a:solidFill>
                        </a:rPr>
                        <a:t>9</a:t>
                      </a:r>
                    </a:p>
                  </a:txBody>
                  <a:tcPr/>
                </a:tc>
                <a:tc>
                  <a:txBody>
                    <a:bodyPr/>
                    <a:lstStyle/>
                    <a:p>
                      <a:pPr algn="r"/>
                      <a:r>
                        <a:rPr lang="en-US" dirty="0">
                          <a:solidFill>
                            <a:schemeClr val="tx1"/>
                          </a:solidFill>
                        </a:rPr>
                        <a:t>2</a:t>
                      </a: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2284253600"/>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a:t>
                      </a:r>
                    </a:p>
                  </a:txBody>
                  <a:tcPr/>
                </a:tc>
                <a:extLst>
                  <a:ext uri="{0D108BD9-81ED-4DB2-BD59-A6C34878D82A}">
                    <a16:rowId xmlns:a16="http://schemas.microsoft.com/office/drawing/2014/main" val="2879113726"/>
                  </a:ext>
                </a:extLst>
              </a:tr>
            </a:tbl>
          </a:graphicData>
        </a:graphic>
      </p:graphicFrame>
      <p:graphicFrame>
        <p:nvGraphicFramePr>
          <p:cNvPr id="32" name="Table 31">
            <a:extLst>
              <a:ext uri="{FF2B5EF4-FFF2-40B4-BE49-F238E27FC236}">
                <a16:creationId xmlns:a16="http://schemas.microsoft.com/office/drawing/2014/main" id="{B8F9F04B-E9FD-D7AF-3C0F-6872766CB875}"/>
              </a:ext>
            </a:extLst>
          </p:cNvPr>
          <p:cNvGraphicFramePr>
            <a:graphicFrameLocks noGrp="1"/>
          </p:cNvGraphicFramePr>
          <p:nvPr>
            <p:extLst>
              <p:ext uri="{D42A27DB-BD31-4B8C-83A1-F6EECF244321}">
                <p14:modId xmlns:p14="http://schemas.microsoft.com/office/powerpoint/2010/main" val="2366394037"/>
              </p:ext>
            </p:extLst>
          </p:nvPr>
        </p:nvGraphicFramePr>
        <p:xfrm>
          <a:off x="2895600" y="4038600"/>
          <a:ext cx="6959328" cy="148336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62492301"/>
                  </a:ext>
                </a:extLst>
              </a:tr>
            </a:tbl>
          </a:graphicData>
        </a:graphic>
      </p:graphicFrame>
      <p:graphicFrame>
        <p:nvGraphicFramePr>
          <p:cNvPr id="33" name="Table 32">
            <a:extLst>
              <a:ext uri="{FF2B5EF4-FFF2-40B4-BE49-F238E27FC236}">
                <a16:creationId xmlns:a16="http://schemas.microsoft.com/office/drawing/2014/main" id="{8477DA40-32A4-696E-A951-47FE7E32C149}"/>
              </a:ext>
            </a:extLst>
          </p:cNvPr>
          <p:cNvGraphicFramePr>
            <a:graphicFrameLocks noGrp="1"/>
          </p:cNvGraphicFramePr>
          <p:nvPr>
            <p:extLst>
              <p:ext uri="{D42A27DB-BD31-4B8C-83A1-F6EECF244321}">
                <p14:modId xmlns:p14="http://schemas.microsoft.com/office/powerpoint/2010/main" val="1963474267"/>
              </p:ext>
            </p:extLst>
          </p:nvPr>
        </p:nvGraphicFramePr>
        <p:xfrm>
          <a:off x="2656242" y="5521960"/>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36" name="Content Placeholder 2">
            <a:extLst>
              <a:ext uri="{FF2B5EF4-FFF2-40B4-BE49-F238E27FC236}">
                <a16:creationId xmlns:a16="http://schemas.microsoft.com/office/drawing/2014/main" id="{A3E78703-1E7E-8610-9A1F-E93CA60B988D}"/>
              </a:ext>
            </a:extLst>
          </p:cNvPr>
          <p:cNvSpPr>
            <a:spLocks noGrp="1"/>
          </p:cNvSpPr>
          <p:nvPr>
            <p:ph idx="1"/>
          </p:nvPr>
        </p:nvSpPr>
        <p:spPr>
          <a:xfrm>
            <a:off x="5537064" y="5959172"/>
            <a:ext cx="1676400" cy="395575"/>
          </a:xfrm>
        </p:spPr>
        <p:txBody>
          <a:bodyPr>
            <a:normAutofit lnSpcReduction="10000"/>
          </a:bodyPr>
          <a:lstStyle/>
          <a:p>
            <a:pPr marL="0" indent="0">
              <a:buNone/>
            </a:pPr>
            <a:r>
              <a:rPr lang="en-GB" sz="2400" dirty="0"/>
              <a:t>Gantt Chart</a:t>
            </a:r>
            <a:endParaRPr lang="en-SE" sz="2400" dirty="0"/>
          </a:p>
        </p:txBody>
      </p:sp>
    </p:spTree>
    <p:extLst>
      <p:ext uri="{BB962C8B-B14F-4D97-AF65-F5344CB8AC3E}">
        <p14:creationId xmlns:p14="http://schemas.microsoft.com/office/powerpoint/2010/main" val="3408101800"/>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E224D-CE2B-C9BC-14EB-B815184D8C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2315A7-63E7-58ED-769B-C1B9FBE22BC2}"/>
              </a:ext>
            </a:extLst>
          </p:cNvPr>
          <p:cNvSpPr>
            <a:spLocks noGrp="1"/>
          </p:cNvSpPr>
          <p:nvPr>
            <p:ph type="title"/>
          </p:nvPr>
        </p:nvSpPr>
        <p:spPr/>
        <p:txBody>
          <a:bodyPr/>
          <a:lstStyle/>
          <a:p>
            <a:r>
              <a:rPr lang="en-US"/>
              <a:t>Scheduling II ANS</a:t>
            </a:r>
            <a:endParaRPr lang="en-SE" dirty="0"/>
          </a:p>
        </p:txBody>
      </p:sp>
      <p:graphicFrame>
        <p:nvGraphicFramePr>
          <p:cNvPr id="6" name="表格 6">
            <a:extLst>
              <a:ext uri="{FF2B5EF4-FFF2-40B4-BE49-F238E27FC236}">
                <a16:creationId xmlns:a16="http://schemas.microsoft.com/office/drawing/2014/main" id="{0C5C220C-57BB-4A26-90EF-1B4C9D9A49FD}"/>
              </a:ext>
            </a:extLst>
          </p:cNvPr>
          <p:cNvGraphicFramePr>
            <a:graphicFrameLocks noGrp="1"/>
          </p:cNvGraphicFramePr>
          <p:nvPr>
            <p:extLst>
              <p:ext uri="{D42A27DB-BD31-4B8C-83A1-F6EECF244321}">
                <p14:modId xmlns:p14="http://schemas.microsoft.com/office/powerpoint/2010/main" val="969077823"/>
              </p:ext>
            </p:extLst>
          </p:nvPr>
        </p:nvGraphicFramePr>
        <p:xfrm>
          <a:off x="710887" y="854105"/>
          <a:ext cx="10769917" cy="301752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gridCol w="922097">
                  <a:extLst>
                    <a:ext uri="{9D8B030D-6E8A-4147-A177-3AD203B41FA5}">
                      <a16:colId xmlns:a16="http://schemas.microsoft.com/office/drawing/2014/main" val="2248621"/>
                    </a:ext>
                  </a:extLst>
                </a:gridCol>
                <a:gridCol w="1222097">
                  <a:extLst>
                    <a:ext uri="{9D8B030D-6E8A-4147-A177-3AD203B41FA5}">
                      <a16:colId xmlns:a16="http://schemas.microsoft.com/office/drawing/2014/main" val="2712044097"/>
                    </a:ext>
                  </a:extLst>
                </a:gridCol>
                <a:gridCol w="922097">
                  <a:extLst>
                    <a:ext uri="{9D8B030D-6E8A-4147-A177-3AD203B41FA5}">
                      <a16:colId xmlns:a16="http://schemas.microsoft.com/office/drawing/2014/main" val="4072710305"/>
                    </a:ext>
                  </a:extLst>
                </a:gridCol>
                <a:gridCol w="1222097">
                  <a:extLst>
                    <a:ext uri="{9D8B030D-6E8A-4147-A177-3AD203B41FA5}">
                      <a16:colId xmlns:a16="http://schemas.microsoft.com/office/drawing/2014/main" val="3685768401"/>
                    </a:ext>
                  </a:extLst>
                </a:gridCol>
                <a:gridCol w="922097">
                  <a:extLst>
                    <a:ext uri="{9D8B030D-6E8A-4147-A177-3AD203B41FA5}">
                      <a16:colId xmlns:a16="http://schemas.microsoft.com/office/drawing/2014/main" val="3601507115"/>
                    </a:ext>
                  </a:extLst>
                </a:gridCol>
                <a:gridCol w="1222097">
                  <a:extLst>
                    <a:ext uri="{9D8B030D-6E8A-4147-A177-3AD203B41FA5}">
                      <a16:colId xmlns:a16="http://schemas.microsoft.com/office/drawing/2014/main" val="2233393087"/>
                    </a:ext>
                  </a:extLst>
                </a:gridCol>
              </a:tblGrid>
              <a:tr h="875830">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Response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Response Time</a:t>
                      </a:r>
                    </a:p>
                  </a:txBody>
                  <a:tcPr/>
                </a:tc>
                <a:tc>
                  <a:txBody>
                    <a:bodyPr/>
                    <a:lstStyle/>
                    <a:p>
                      <a:pPr algn="r"/>
                      <a:r>
                        <a:rPr lang="en-US" b="0" dirty="0">
                          <a:solidFill>
                            <a:schemeClr val="tx1"/>
                          </a:solidFill>
                        </a:rPr>
                        <a:t>RR</a:t>
                      </a:r>
                    </a:p>
                    <a:p>
                      <a:pPr algn="r"/>
                      <a:r>
                        <a:rPr lang="en-US" b="0" dirty="0">
                          <a:solidFill>
                            <a:schemeClr val="tx1"/>
                          </a:solidFill>
                        </a:rPr>
                        <a:t>Finish Time</a:t>
                      </a:r>
                    </a:p>
                  </a:txBody>
                  <a:tcPr/>
                </a:tc>
                <a:tc>
                  <a:txBody>
                    <a:bodyPr/>
                    <a:lstStyle/>
                    <a:p>
                      <a:pPr algn="r"/>
                      <a:r>
                        <a:rPr lang="en-US" b="0" dirty="0">
                          <a:solidFill>
                            <a:schemeClr val="tx1"/>
                          </a:solidFill>
                        </a:rPr>
                        <a:t>RR</a:t>
                      </a:r>
                    </a:p>
                    <a:p>
                      <a:pPr algn="r"/>
                      <a:r>
                        <a:rPr lang="en-US" b="0" dirty="0">
                          <a:solidFill>
                            <a:schemeClr val="tx1"/>
                          </a:solidFill>
                        </a:rPr>
                        <a:t>Response Time</a:t>
                      </a:r>
                    </a:p>
                  </a:txBody>
                  <a:tcPr/>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altLang="zh-CN" dirty="0">
                          <a:solidFill>
                            <a:schemeClr val="tx1"/>
                          </a:solidFill>
                        </a:rPr>
                        <a:t>3</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6</a:t>
                      </a:r>
                    </a:p>
                  </a:txBody>
                  <a:tcPr/>
                </a:tc>
                <a:tc>
                  <a:txBody>
                    <a:bodyPr/>
                    <a:lstStyle/>
                    <a:p>
                      <a:pPr algn="r"/>
                      <a:r>
                        <a:rPr lang="en-US" dirty="0">
                          <a:solidFill>
                            <a:schemeClr val="tx1"/>
                          </a:solidFill>
                        </a:rPr>
                        <a:t>6</a:t>
                      </a: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5</a:t>
                      </a:r>
                      <a:endParaRPr lang="en-US" dirty="0">
                        <a:solidFill>
                          <a:schemeClr val="tx1"/>
                        </a:solidFill>
                      </a:endParaRPr>
                    </a:p>
                  </a:txBody>
                  <a:tcPr/>
                </a:tc>
                <a:tc>
                  <a:txBody>
                    <a:bodyPr/>
                    <a:lstStyle/>
                    <a:p>
                      <a:pPr algn="r"/>
                      <a:r>
                        <a:rPr lang="en-US" altLang="zh-CN" dirty="0">
                          <a:solidFill>
                            <a:schemeClr val="tx1"/>
                          </a:solidFill>
                        </a:rPr>
                        <a:t>8</a:t>
                      </a:r>
                      <a:endParaRPr lang="en-US" dirty="0">
                        <a:solidFill>
                          <a:schemeClr val="tx1"/>
                        </a:solidFill>
                      </a:endParaRPr>
                    </a:p>
                  </a:txBody>
                  <a:tcPr/>
                </a:tc>
                <a:tc>
                  <a:txBody>
                    <a:bodyPr/>
                    <a:lstStyle/>
                    <a:p>
                      <a:pPr algn="r"/>
                      <a:r>
                        <a:rPr lang="en-US" dirty="0">
                          <a:solidFill>
                            <a:schemeClr val="tx1"/>
                          </a:solidFill>
                        </a:rPr>
                        <a:t>7</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9</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9</a:t>
                      </a:r>
                    </a:p>
                  </a:txBody>
                  <a:tcPr/>
                </a:tc>
                <a:tc>
                  <a:txBody>
                    <a:bodyPr/>
                    <a:lstStyle/>
                    <a:p>
                      <a:pPr algn="r"/>
                      <a:r>
                        <a:rPr lang="en-US" dirty="0">
                          <a:solidFill>
                            <a:schemeClr val="tx1"/>
                          </a:solidFill>
                        </a:rPr>
                        <a:t>11</a:t>
                      </a: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3</a:t>
                      </a:r>
                      <a:endParaRPr lang="en-US" baseline="30000" dirty="0">
                        <a:solidFill>
                          <a:schemeClr val="tx1"/>
                        </a:solidFill>
                      </a:endParaRP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dirty="0">
                          <a:solidFill>
                            <a:schemeClr val="tx1"/>
                          </a:solidFill>
                        </a:rPr>
                        <a:t>7</a:t>
                      </a:r>
                    </a:p>
                  </a:txBody>
                  <a:tcPr/>
                </a:tc>
                <a:tc>
                  <a:txBody>
                    <a:bodyPr/>
                    <a:lstStyle/>
                    <a:p>
                      <a:pPr algn="r"/>
                      <a:r>
                        <a:rPr lang="en-US" dirty="0">
                          <a:solidFill>
                            <a:schemeClr val="tx1"/>
                          </a:solidFill>
                        </a:rPr>
                        <a:t>5</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5</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7</a:t>
                      </a:r>
                    </a:p>
                  </a:txBody>
                  <a:tcPr/>
                </a:tc>
                <a:tc>
                  <a:txBody>
                    <a:bodyPr/>
                    <a:lstStyle/>
                    <a:p>
                      <a:pPr algn="r"/>
                      <a:r>
                        <a:rPr lang="en-US" dirty="0">
                          <a:solidFill>
                            <a:schemeClr val="tx1"/>
                          </a:solidFill>
                        </a:rPr>
                        <a:t>4</a:t>
                      </a:r>
                    </a:p>
                  </a:txBody>
                  <a:tcPr/>
                </a:tc>
                <a:extLst>
                  <a:ext uri="{0D108BD9-81ED-4DB2-BD59-A6C34878D82A}">
                    <a16:rowId xmlns:a16="http://schemas.microsoft.com/office/drawing/2014/main" val="123394570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4</a:t>
                      </a:r>
                    </a:p>
                  </a:txBody>
                  <a:tcPr/>
                </a:tc>
                <a:tc>
                  <a:txBody>
                    <a:bodyPr/>
                    <a:lstStyle/>
                    <a:p>
                      <a:pPr algn="r"/>
                      <a:r>
                        <a:rPr lang="en-US" baseline="0" dirty="0">
                          <a:solidFill>
                            <a:schemeClr val="tx1"/>
                          </a:solidFill>
                        </a:rPr>
                        <a:t>9</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12</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12</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12</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12</a:t>
                      </a:r>
                    </a:p>
                  </a:txBody>
                  <a:tcPr/>
                </a:tc>
                <a:tc>
                  <a:txBody>
                    <a:bodyPr/>
                    <a:lstStyle/>
                    <a:p>
                      <a:pPr algn="r"/>
                      <a:r>
                        <a:rPr lang="en-US" dirty="0">
                          <a:solidFill>
                            <a:schemeClr val="tx1"/>
                          </a:solidFill>
                        </a:rPr>
                        <a:t>3</a:t>
                      </a:r>
                    </a:p>
                  </a:txBody>
                  <a:tcPr/>
                </a:tc>
                <a:extLst>
                  <a:ext uri="{0D108BD9-81ED-4DB2-BD59-A6C34878D82A}">
                    <a16:rowId xmlns:a16="http://schemas.microsoft.com/office/drawing/2014/main" val="2284253600"/>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5</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4.25</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4.25</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5.75</a:t>
                      </a:r>
                    </a:p>
                  </a:txBody>
                  <a:tcPr/>
                </a:tc>
                <a:extLst>
                  <a:ext uri="{0D108BD9-81ED-4DB2-BD59-A6C34878D82A}">
                    <a16:rowId xmlns:a16="http://schemas.microsoft.com/office/drawing/2014/main" val="2879113726"/>
                  </a:ext>
                </a:extLst>
              </a:tr>
            </a:tbl>
          </a:graphicData>
        </a:graphic>
      </p:graphicFrame>
      <p:graphicFrame>
        <p:nvGraphicFramePr>
          <p:cNvPr id="32" name="Table 31">
            <a:extLst>
              <a:ext uri="{FF2B5EF4-FFF2-40B4-BE49-F238E27FC236}">
                <a16:creationId xmlns:a16="http://schemas.microsoft.com/office/drawing/2014/main" id="{AB5AE1BC-0B4D-8B67-7214-84933EF44092}"/>
              </a:ext>
            </a:extLst>
          </p:cNvPr>
          <p:cNvGraphicFramePr>
            <a:graphicFrameLocks noGrp="1"/>
          </p:cNvGraphicFramePr>
          <p:nvPr>
            <p:extLst>
              <p:ext uri="{D42A27DB-BD31-4B8C-83A1-F6EECF244321}">
                <p14:modId xmlns:p14="http://schemas.microsoft.com/office/powerpoint/2010/main" val="2250945967"/>
              </p:ext>
            </p:extLst>
          </p:nvPr>
        </p:nvGraphicFramePr>
        <p:xfrm>
          <a:off x="2971800" y="4003774"/>
          <a:ext cx="6959328" cy="148336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362492301"/>
                  </a:ext>
                </a:extLst>
              </a:tr>
            </a:tbl>
          </a:graphicData>
        </a:graphic>
      </p:graphicFrame>
      <p:graphicFrame>
        <p:nvGraphicFramePr>
          <p:cNvPr id="33" name="Table 32">
            <a:extLst>
              <a:ext uri="{FF2B5EF4-FFF2-40B4-BE49-F238E27FC236}">
                <a16:creationId xmlns:a16="http://schemas.microsoft.com/office/drawing/2014/main" id="{62412147-C408-2D0D-0D2F-A1AE959E9821}"/>
              </a:ext>
            </a:extLst>
          </p:cNvPr>
          <p:cNvGraphicFramePr>
            <a:graphicFrameLocks noGrp="1"/>
          </p:cNvGraphicFramePr>
          <p:nvPr>
            <p:extLst>
              <p:ext uri="{D42A27DB-BD31-4B8C-83A1-F6EECF244321}">
                <p14:modId xmlns:p14="http://schemas.microsoft.com/office/powerpoint/2010/main" val="1768773012"/>
              </p:ext>
            </p:extLst>
          </p:nvPr>
        </p:nvGraphicFramePr>
        <p:xfrm>
          <a:off x="2732442" y="5487134"/>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36" name="Content Placeholder 2">
            <a:extLst>
              <a:ext uri="{FF2B5EF4-FFF2-40B4-BE49-F238E27FC236}">
                <a16:creationId xmlns:a16="http://schemas.microsoft.com/office/drawing/2014/main" id="{A35A2B42-7B3B-159C-1D86-853A7CA206BD}"/>
              </a:ext>
            </a:extLst>
          </p:cNvPr>
          <p:cNvSpPr>
            <a:spLocks noGrp="1"/>
          </p:cNvSpPr>
          <p:nvPr>
            <p:ph idx="1"/>
          </p:nvPr>
        </p:nvSpPr>
        <p:spPr>
          <a:xfrm>
            <a:off x="5775901" y="5857974"/>
            <a:ext cx="1676400" cy="395575"/>
          </a:xfrm>
        </p:spPr>
        <p:txBody>
          <a:bodyPr>
            <a:normAutofit lnSpcReduction="10000"/>
          </a:bodyPr>
          <a:lstStyle/>
          <a:p>
            <a:pPr marL="0" indent="0">
              <a:buNone/>
            </a:pPr>
            <a:r>
              <a:rPr lang="en-GB" sz="2400" dirty="0"/>
              <a:t>Gantt Chart</a:t>
            </a:r>
            <a:endParaRPr lang="en-SE" sz="2400" dirty="0"/>
          </a:p>
        </p:txBody>
      </p:sp>
      <p:cxnSp>
        <p:nvCxnSpPr>
          <p:cNvPr id="5" name="Straight Arrow Connector 4">
            <a:extLst>
              <a:ext uri="{FF2B5EF4-FFF2-40B4-BE49-F238E27FC236}">
                <a16:creationId xmlns:a16="http://schemas.microsoft.com/office/drawing/2014/main" id="{C8870995-F7A8-C01B-1596-BC0B66D4CDD1}"/>
              </a:ext>
            </a:extLst>
          </p:cNvPr>
          <p:cNvCxnSpPr>
            <a:cxnSpLocks/>
          </p:cNvCxnSpPr>
          <p:nvPr/>
        </p:nvCxnSpPr>
        <p:spPr bwMode="auto">
          <a:xfrm flipV="1">
            <a:off x="3870743" y="582000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7" name="TextBox 6">
            <a:extLst>
              <a:ext uri="{FF2B5EF4-FFF2-40B4-BE49-F238E27FC236}">
                <a16:creationId xmlns:a16="http://schemas.microsoft.com/office/drawing/2014/main" id="{A667137C-7349-8A34-7BF2-AEB6ED8B8D2E}"/>
              </a:ext>
            </a:extLst>
          </p:cNvPr>
          <p:cNvSpPr txBox="1"/>
          <p:nvPr/>
        </p:nvSpPr>
        <p:spPr>
          <a:xfrm>
            <a:off x="3333334" y="625184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8" name="Straight Arrow Connector 7">
            <a:extLst>
              <a:ext uri="{FF2B5EF4-FFF2-40B4-BE49-F238E27FC236}">
                <a16:creationId xmlns:a16="http://schemas.microsoft.com/office/drawing/2014/main" id="{E0BFB9E7-5955-2874-9393-F6C891D0B13C}"/>
              </a:ext>
            </a:extLst>
          </p:cNvPr>
          <p:cNvCxnSpPr>
            <a:cxnSpLocks/>
          </p:cNvCxnSpPr>
          <p:nvPr/>
        </p:nvCxnSpPr>
        <p:spPr bwMode="auto">
          <a:xfrm flipV="1">
            <a:off x="4343400" y="5842670"/>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9" name="TextBox 8">
            <a:extLst>
              <a:ext uri="{FF2B5EF4-FFF2-40B4-BE49-F238E27FC236}">
                <a16:creationId xmlns:a16="http://schemas.microsoft.com/office/drawing/2014/main" id="{C77E63C6-6C86-9AE0-4674-53D0C1F6984B}"/>
              </a:ext>
            </a:extLst>
          </p:cNvPr>
          <p:cNvSpPr txBox="1"/>
          <p:nvPr/>
        </p:nvSpPr>
        <p:spPr>
          <a:xfrm>
            <a:off x="3870743" y="600617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cxnSp>
        <p:nvCxnSpPr>
          <p:cNvPr id="10" name="Straight Arrow Connector 9">
            <a:extLst>
              <a:ext uri="{FF2B5EF4-FFF2-40B4-BE49-F238E27FC236}">
                <a16:creationId xmlns:a16="http://schemas.microsoft.com/office/drawing/2014/main" id="{E2665EC6-C41E-2EF8-36FA-A215AA17D27B}"/>
              </a:ext>
            </a:extLst>
          </p:cNvPr>
          <p:cNvCxnSpPr>
            <a:cxnSpLocks/>
          </p:cNvCxnSpPr>
          <p:nvPr/>
        </p:nvCxnSpPr>
        <p:spPr bwMode="auto">
          <a:xfrm flipV="1">
            <a:off x="5338009" y="582822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2" name="TextBox 11">
            <a:extLst>
              <a:ext uri="{FF2B5EF4-FFF2-40B4-BE49-F238E27FC236}">
                <a16:creationId xmlns:a16="http://schemas.microsoft.com/office/drawing/2014/main" id="{8589FFEE-21B4-1C30-2E04-034233F9A4A2}"/>
              </a:ext>
            </a:extLst>
          </p:cNvPr>
          <p:cNvSpPr txBox="1"/>
          <p:nvPr/>
        </p:nvSpPr>
        <p:spPr>
          <a:xfrm>
            <a:off x="4800600" y="626006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P3 arrival</a:t>
            </a:r>
            <a:endParaRPr lang="en-SE" dirty="0">
              <a:solidFill>
                <a:schemeClr val="accent1">
                  <a:lumMod val="75000"/>
                </a:schemeClr>
              </a:solidFill>
              <a:latin typeface="Gill Sans Light"/>
            </a:endParaRPr>
          </a:p>
        </p:txBody>
      </p:sp>
      <p:cxnSp>
        <p:nvCxnSpPr>
          <p:cNvPr id="13" name="Straight Arrow Connector 12">
            <a:extLst>
              <a:ext uri="{FF2B5EF4-FFF2-40B4-BE49-F238E27FC236}">
                <a16:creationId xmlns:a16="http://schemas.microsoft.com/office/drawing/2014/main" id="{0B07A6AE-D075-FB93-9B9E-61DF9D7E3F08}"/>
              </a:ext>
            </a:extLst>
          </p:cNvPr>
          <p:cNvCxnSpPr>
            <a:cxnSpLocks/>
          </p:cNvCxnSpPr>
          <p:nvPr/>
        </p:nvCxnSpPr>
        <p:spPr bwMode="auto">
          <a:xfrm flipV="1">
            <a:off x="8303273" y="580358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286778EA-F1D7-4F3A-503B-8C0EE3507BDB}"/>
              </a:ext>
            </a:extLst>
          </p:cNvPr>
          <p:cNvSpPr txBox="1"/>
          <p:nvPr/>
        </p:nvSpPr>
        <p:spPr>
          <a:xfrm>
            <a:off x="7765864" y="623542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P4 arrival</a:t>
            </a:r>
            <a:endParaRPr lang="en-SE" dirty="0">
              <a:solidFill>
                <a:schemeClr val="accent1">
                  <a:lumMod val="75000"/>
                </a:schemeClr>
              </a:solidFill>
              <a:latin typeface="Gill Sans Light"/>
            </a:endParaRPr>
          </a:p>
        </p:txBody>
      </p:sp>
    </p:spTree>
    <p:extLst>
      <p:ext uri="{BB962C8B-B14F-4D97-AF65-F5344CB8AC3E}">
        <p14:creationId xmlns:p14="http://schemas.microsoft.com/office/powerpoint/2010/main" val="475183518"/>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D8D75-B2AC-0019-5970-9FF407CA01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9366F2-F658-A244-554A-9781322B4924}"/>
              </a:ext>
            </a:extLst>
          </p:cNvPr>
          <p:cNvSpPr>
            <a:spLocks noGrp="1"/>
          </p:cNvSpPr>
          <p:nvPr>
            <p:ph type="title"/>
          </p:nvPr>
        </p:nvSpPr>
        <p:spPr/>
        <p:txBody>
          <a:bodyPr/>
          <a:lstStyle/>
          <a:p>
            <a:r>
              <a:rPr lang="en-US" dirty="0"/>
              <a:t>Scheduling II ANS (RR Explanation)</a:t>
            </a:r>
            <a:endParaRPr lang="en-SE" dirty="0"/>
          </a:p>
        </p:txBody>
      </p:sp>
      <p:graphicFrame>
        <p:nvGraphicFramePr>
          <p:cNvPr id="32" name="Table 31">
            <a:extLst>
              <a:ext uri="{FF2B5EF4-FFF2-40B4-BE49-F238E27FC236}">
                <a16:creationId xmlns:a16="http://schemas.microsoft.com/office/drawing/2014/main" id="{E12C85D6-2400-DD02-2691-0AFFA92D0ABC}"/>
              </a:ext>
            </a:extLst>
          </p:cNvPr>
          <p:cNvGraphicFramePr>
            <a:graphicFrameLocks noGrp="1"/>
          </p:cNvGraphicFramePr>
          <p:nvPr>
            <p:extLst>
              <p:ext uri="{D42A27DB-BD31-4B8C-83A1-F6EECF244321}">
                <p14:modId xmlns:p14="http://schemas.microsoft.com/office/powerpoint/2010/main" val="1393741682"/>
              </p:ext>
            </p:extLst>
          </p:nvPr>
        </p:nvGraphicFramePr>
        <p:xfrm>
          <a:off x="2971800" y="4224353"/>
          <a:ext cx="6959328" cy="148336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362492301"/>
                  </a:ext>
                </a:extLst>
              </a:tr>
            </a:tbl>
          </a:graphicData>
        </a:graphic>
      </p:graphicFrame>
      <p:graphicFrame>
        <p:nvGraphicFramePr>
          <p:cNvPr id="33" name="Table 32">
            <a:extLst>
              <a:ext uri="{FF2B5EF4-FFF2-40B4-BE49-F238E27FC236}">
                <a16:creationId xmlns:a16="http://schemas.microsoft.com/office/drawing/2014/main" id="{E02BD8CA-642F-25CA-59C7-9D29B5074C1B}"/>
              </a:ext>
            </a:extLst>
          </p:cNvPr>
          <p:cNvGraphicFramePr>
            <a:graphicFrameLocks noGrp="1"/>
          </p:cNvGraphicFramePr>
          <p:nvPr>
            <p:extLst>
              <p:ext uri="{D42A27DB-BD31-4B8C-83A1-F6EECF244321}">
                <p14:modId xmlns:p14="http://schemas.microsoft.com/office/powerpoint/2010/main" val="2896416752"/>
              </p:ext>
            </p:extLst>
          </p:nvPr>
        </p:nvGraphicFramePr>
        <p:xfrm>
          <a:off x="2732442" y="5707713"/>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36" name="Content Placeholder 2">
            <a:extLst>
              <a:ext uri="{FF2B5EF4-FFF2-40B4-BE49-F238E27FC236}">
                <a16:creationId xmlns:a16="http://schemas.microsoft.com/office/drawing/2014/main" id="{85FBEF5D-A600-7D50-0F56-04D432A43B5D}"/>
              </a:ext>
            </a:extLst>
          </p:cNvPr>
          <p:cNvSpPr>
            <a:spLocks noGrp="1"/>
          </p:cNvSpPr>
          <p:nvPr>
            <p:ph idx="1"/>
          </p:nvPr>
        </p:nvSpPr>
        <p:spPr>
          <a:xfrm>
            <a:off x="5775901" y="6078553"/>
            <a:ext cx="1676400" cy="395575"/>
          </a:xfrm>
        </p:spPr>
        <p:txBody>
          <a:bodyPr>
            <a:normAutofit lnSpcReduction="10000"/>
          </a:bodyPr>
          <a:lstStyle/>
          <a:p>
            <a:pPr marL="0" indent="0">
              <a:buNone/>
            </a:pPr>
            <a:r>
              <a:rPr lang="en-GB" sz="2400" dirty="0"/>
              <a:t>Gantt Chart</a:t>
            </a:r>
            <a:endParaRPr lang="en-SE" sz="2400" dirty="0"/>
          </a:p>
        </p:txBody>
      </p:sp>
      <p:cxnSp>
        <p:nvCxnSpPr>
          <p:cNvPr id="5" name="Straight Arrow Connector 4">
            <a:extLst>
              <a:ext uri="{FF2B5EF4-FFF2-40B4-BE49-F238E27FC236}">
                <a16:creationId xmlns:a16="http://schemas.microsoft.com/office/drawing/2014/main" id="{0451F4A4-B9A4-D33B-2081-F8E050D8405B}"/>
              </a:ext>
            </a:extLst>
          </p:cNvPr>
          <p:cNvCxnSpPr>
            <a:cxnSpLocks/>
          </p:cNvCxnSpPr>
          <p:nvPr/>
        </p:nvCxnSpPr>
        <p:spPr bwMode="auto">
          <a:xfrm flipV="1">
            <a:off x="3870743" y="6040584"/>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7" name="TextBox 6">
            <a:extLst>
              <a:ext uri="{FF2B5EF4-FFF2-40B4-BE49-F238E27FC236}">
                <a16:creationId xmlns:a16="http://schemas.microsoft.com/office/drawing/2014/main" id="{432EADD6-069B-C544-7F12-3B451ED099F0}"/>
              </a:ext>
            </a:extLst>
          </p:cNvPr>
          <p:cNvSpPr txBox="1"/>
          <p:nvPr/>
        </p:nvSpPr>
        <p:spPr>
          <a:xfrm>
            <a:off x="3333334" y="6472427"/>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8" name="Straight Arrow Connector 7">
            <a:extLst>
              <a:ext uri="{FF2B5EF4-FFF2-40B4-BE49-F238E27FC236}">
                <a16:creationId xmlns:a16="http://schemas.microsoft.com/office/drawing/2014/main" id="{CE88742C-C130-5BD7-B9C0-F7BDFD735479}"/>
              </a:ext>
            </a:extLst>
          </p:cNvPr>
          <p:cNvCxnSpPr>
            <a:cxnSpLocks/>
          </p:cNvCxnSpPr>
          <p:nvPr/>
        </p:nvCxnSpPr>
        <p:spPr bwMode="auto">
          <a:xfrm flipV="1">
            <a:off x="4343400" y="6063249"/>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9" name="TextBox 8">
            <a:extLst>
              <a:ext uri="{FF2B5EF4-FFF2-40B4-BE49-F238E27FC236}">
                <a16:creationId xmlns:a16="http://schemas.microsoft.com/office/drawing/2014/main" id="{049969F4-BC77-D8CD-4B27-0FF9F6E0C573}"/>
              </a:ext>
            </a:extLst>
          </p:cNvPr>
          <p:cNvSpPr txBox="1"/>
          <p:nvPr/>
        </p:nvSpPr>
        <p:spPr>
          <a:xfrm>
            <a:off x="3870743" y="622675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cxnSp>
        <p:nvCxnSpPr>
          <p:cNvPr id="10" name="Straight Arrow Connector 9">
            <a:extLst>
              <a:ext uri="{FF2B5EF4-FFF2-40B4-BE49-F238E27FC236}">
                <a16:creationId xmlns:a16="http://schemas.microsoft.com/office/drawing/2014/main" id="{4E5C1E7A-0617-B9D6-4C6A-DC8D288DF8F6}"/>
              </a:ext>
            </a:extLst>
          </p:cNvPr>
          <p:cNvCxnSpPr>
            <a:cxnSpLocks/>
          </p:cNvCxnSpPr>
          <p:nvPr/>
        </p:nvCxnSpPr>
        <p:spPr bwMode="auto">
          <a:xfrm flipV="1">
            <a:off x="5338009" y="6048804"/>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2" name="TextBox 11">
            <a:extLst>
              <a:ext uri="{FF2B5EF4-FFF2-40B4-BE49-F238E27FC236}">
                <a16:creationId xmlns:a16="http://schemas.microsoft.com/office/drawing/2014/main" id="{80B94E16-7F1B-7556-B628-455EBCDF5FB9}"/>
              </a:ext>
            </a:extLst>
          </p:cNvPr>
          <p:cNvSpPr txBox="1"/>
          <p:nvPr/>
        </p:nvSpPr>
        <p:spPr>
          <a:xfrm>
            <a:off x="4800600" y="6480647"/>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P3 arrival</a:t>
            </a:r>
            <a:endParaRPr lang="en-SE" dirty="0">
              <a:solidFill>
                <a:schemeClr val="accent1">
                  <a:lumMod val="75000"/>
                </a:schemeClr>
              </a:solidFill>
              <a:latin typeface="Gill Sans Light"/>
            </a:endParaRPr>
          </a:p>
        </p:txBody>
      </p:sp>
      <p:cxnSp>
        <p:nvCxnSpPr>
          <p:cNvPr id="13" name="Straight Arrow Connector 12">
            <a:extLst>
              <a:ext uri="{FF2B5EF4-FFF2-40B4-BE49-F238E27FC236}">
                <a16:creationId xmlns:a16="http://schemas.microsoft.com/office/drawing/2014/main" id="{76D78D6D-4B87-D892-04B9-CEE2F68AE7FA}"/>
              </a:ext>
            </a:extLst>
          </p:cNvPr>
          <p:cNvCxnSpPr>
            <a:cxnSpLocks/>
          </p:cNvCxnSpPr>
          <p:nvPr/>
        </p:nvCxnSpPr>
        <p:spPr bwMode="auto">
          <a:xfrm flipV="1">
            <a:off x="8438942" y="6024164"/>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D63D04D4-BA47-C616-1B5D-BA26CA5631CB}"/>
              </a:ext>
            </a:extLst>
          </p:cNvPr>
          <p:cNvSpPr txBox="1"/>
          <p:nvPr/>
        </p:nvSpPr>
        <p:spPr>
          <a:xfrm>
            <a:off x="7901533" y="6456007"/>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P4 arrival</a:t>
            </a:r>
            <a:endParaRPr lang="en-SE" dirty="0">
              <a:solidFill>
                <a:schemeClr val="accent1">
                  <a:lumMod val="75000"/>
                </a:schemeClr>
              </a:solidFill>
              <a:latin typeface="Gill Sans Light"/>
            </a:endParaRPr>
          </a:p>
        </p:txBody>
      </p:sp>
      <p:sp>
        <p:nvSpPr>
          <p:cNvPr id="3" name="Content Placeholder 2">
            <a:extLst>
              <a:ext uri="{FF2B5EF4-FFF2-40B4-BE49-F238E27FC236}">
                <a16:creationId xmlns:a16="http://schemas.microsoft.com/office/drawing/2014/main" id="{E2C0AC57-872C-69A0-5B15-B3A330E5308D}"/>
              </a:ext>
            </a:extLst>
          </p:cNvPr>
          <p:cNvSpPr txBox="1">
            <a:spLocks/>
          </p:cNvSpPr>
          <p:nvPr/>
        </p:nvSpPr>
        <p:spPr bwMode="auto">
          <a:xfrm>
            <a:off x="812800" y="692320"/>
            <a:ext cx="10566400" cy="353203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kern="0" dirty="0"/>
              <a:t>RR scheduling explanations: </a:t>
            </a:r>
          </a:p>
          <a:p>
            <a:r>
              <a:rPr lang="en-GB" kern="0" dirty="0"/>
              <a:t>Time 1: P2 arrives, and it runs immediately based on our assumption that an arriving process </a:t>
            </a:r>
            <a:r>
              <a:rPr lang="en-GB" dirty="0"/>
              <a:t>is added to the head of the queue upon arrival.</a:t>
            </a:r>
          </a:p>
          <a:p>
            <a:r>
              <a:rPr lang="en-GB" kern="0" dirty="0"/>
              <a:t>Time 3: P3 arrives, and it runs immediately.</a:t>
            </a:r>
          </a:p>
          <a:p>
            <a:r>
              <a:rPr lang="en-GB" kern="0" dirty="0"/>
              <a:t>Time 4: P2 runs since it is next in ready queue based on the cyclic pattern of  “12, 12”.</a:t>
            </a:r>
          </a:p>
          <a:p>
            <a:r>
              <a:rPr lang="en-GB" kern="0" dirty="0"/>
              <a:t>Time 6: P3 runs based on the cyclic pattern of “321, 321”.</a:t>
            </a:r>
          </a:p>
          <a:p>
            <a:r>
              <a:rPr lang="en-GB" kern="0" dirty="0"/>
              <a:t>Time 9: P4 arrives, and it runs immediately.</a:t>
            </a:r>
            <a:endParaRPr lang="en-SE" kern="0" dirty="0"/>
          </a:p>
          <a:p>
            <a:endParaRPr lang="en-SE" kern="0" dirty="0"/>
          </a:p>
        </p:txBody>
      </p:sp>
    </p:spTree>
    <p:extLst>
      <p:ext uri="{BB962C8B-B14F-4D97-AF65-F5344CB8AC3E}">
        <p14:creationId xmlns:p14="http://schemas.microsoft.com/office/powerpoint/2010/main" val="3793240590"/>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18C39-8001-A5C8-A334-B92A4C4C6AC3}"/>
              </a:ext>
            </a:extLst>
          </p:cNvPr>
          <p:cNvSpPr>
            <a:spLocks noGrp="1"/>
          </p:cNvSpPr>
          <p:nvPr>
            <p:ph type="title"/>
          </p:nvPr>
        </p:nvSpPr>
        <p:spPr/>
        <p:txBody>
          <a:bodyPr/>
          <a:lstStyle/>
          <a:p>
            <a:r>
              <a:rPr lang="en-US" dirty="0"/>
              <a:t>Scheduling III</a:t>
            </a:r>
            <a:endParaRPr lang="en-SE" dirty="0"/>
          </a:p>
        </p:txBody>
      </p:sp>
      <p:sp>
        <p:nvSpPr>
          <p:cNvPr id="4" name="Content Placeholder 2">
            <a:extLst>
              <a:ext uri="{FF2B5EF4-FFF2-40B4-BE49-F238E27FC236}">
                <a16:creationId xmlns:a16="http://schemas.microsoft.com/office/drawing/2014/main" id="{0FEE6DBB-E87F-2753-724E-EFAE1A33AED2}"/>
              </a:ext>
            </a:extLst>
          </p:cNvPr>
          <p:cNvSpPr>
            <a:spLocks noGrp="1"/>
          </p:cNvSpPr>
          <p:nvPr>
            <p:ph idx="1"/>
          </p:nvPr>
        </p:nvSpPr>
        <p:spPr>
          <a:xfrm>
            <a:off x="812800" y="914400"/>
            <a:ext cx="10566400" cy="5105400"/>
          </a:xfrm>
        </p:spPr>
        <p:txBody>
          <a:bodyPr/>
          <a:lstStyle/>
          <a:p>
            <a:r>
              <a:rPr lang="en-GB" dirty="0"/>
              <a:t>Consider the set of 3 processes whose arrival time and CPU burst times are given below. If the CPU scheduling policy is </a:t>
            </a:r>
            <a:r>
              <a:rPr lang="en-GB" b="1" dirty="0"/>
              <a:t>FCFS</a:t>
            </a:r>
            <a:r>
              <a:rPr lang="en-GB" dirty="0"/>
              <a:t>, draw the Gantt chart and calculate the average response time. </a:t>
            </a:r>
            <a:endParaRPr lang="en-SE" dirty="0"/>
          </a:p>
        </p:txBody>
      </p:sp>
      <p:graphicFrame>
        <p:nvGraphicFramePr>
          <p:cNvPr id="5" name="表格 6">
            <a:extLst>
              <a:ext uri="{FF2B5EF4-FFF2-40B4-BE49-F238E27FC236}">
                <a16:creationId xmlns:a16="http://schemas.microsoft.com/office/drawing/2014/main" id="{AC95CE60-07E0-6F78-BBA8-98CD8A3140D2}"/>
              </a:ext>
            </a:extLst>
          </p:cNvPr>
          <p:cNvGraphicFramePr>
            <a:graphicFrameLocks noGrp="1"/>
          </p:cNvGraphicFramePr>
          <p:nvPr/>
        </p:nvGraphicFramePr>
        <p:xfrm>
          <a:off x="3911287" y="2362200"/>
          <a:ext cx="4337335" cy="237744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tblGrid>
              <a:tr h="875830">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3</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5</a:t>
                      </a:r>
                      <a:endParaRPr lang="en-US" baseline="3000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3597490601"/>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3E50E-F9BD-83CE-AE30-089D7101D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3A0D3E-606B-0FFA-AA6F-11621DA7F6AB}"/>
              </a:ext>
            </a:extLst>
          </p:cNvPr>
          <p:cNvSpPr>
            <a:spLocks noGrp="1"/>
          </p:cNvSpPr>
          <p:nvPr>
            <p:ph type="title"/>
          </p:nvPr>
        </p:nvSpPr>
        <p:spPr/>
        <p:txBody>
          <a:bodyPr/>
          <a:lstStyle/>
          <a:p>
            <a:r>
              <a:rPr lang="en-US"/>
              <a:t>Scheduling III ANS</a:t>
            </a:r>
            <a:endParaRPr lang="en-SE" dirty="0"/>
          </a:p>
        </p:txBody>
      </p:sp>
      <p:graphicFrame>
        <p:nvGraphicFramePr>
          <p:cNvPr id="6" name="表格 6">
            <a:extLst>
              <a:ext uri="{FF2B5EF4-FFF2-40B4-BE49-F238E27FC236}">
                <a16:creationId xmlns:a16="http://schemas.microsoft.com/office/drawing/2014/main" id="{7EA41273-D802-3241-E78F-2C25FB07640B}"/>
              </a:ext>
            </a:extLst>
          </p:cNvPr>
          <p:cNvGraphicFramePr>
            <a:graphicFrameLocks noGrp="1"/>
          </p:cNvGraphicFramePr>
          <p:nvPr>
            <p:extLst>
              <p:ext uri="{D42A27DB-BD31-4B8C-83A1-F6EECF244321}">
                <p14:modId xmlns:p14="http://schemas.microsoft.com/office/powerpoint/2010/main" val="3327710084"/>
              </p:ext>
            </p:extLst>
          </p:nvPr>
        </p:nvGraphicFramePr>
        <p:xfrm>
          <a:off x="3989609" y="872701"/>
          <a:ext cx="4337335" cy="265176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tblGrid>
              <a:tr h="875830">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2</a:t>
                      </a: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3</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4</a:t>
                      </a:r>
                      <a:endParaRPr lang="en-US" dirty="0">
                        <a:solidFill>
                          <a:schemeClr val="tx1"/>
                        </a:solidFill>
                      </a:endParaRPr>
                    </a:p>
                  </a:txBody>
                  <a:tcPr/>
                </a:tc>
                <a:tc>
                  <a:txBody>
                    <a:bodyPr/>
                    <a:lstStyle/>
                    <a:p>
                      <a:pPr algn="r"/>
                      <a:r>
                        <a:rPr lang="en-US" dirty="0">
                          <a:solidFill>
                            <a:schemeClr val="tx1"/>
                          </a:solidFill>
                        </a:rPr>
                        <a:t>1</a:t>
                      </a: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5</a:t>
                      </a:r>
                      <a:endParaRPr lang="en-US" baseline="3000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r>
                        <a:rPr lang="en-US" altLang="zh-CN" dirty="0">
                          <a:solidFill>
                            <a:schemeClr val="tx1"/>
                          </a:solidFill>
                        </a:rPr>
                        <a:t>11</a:t>
                      </a:r>
                      <a:endParaRPr lang="en-US" dirty="0">
                        <a:solidFill>
                          <a:schemeClr val="tx1"/>
                        </a:solidFill>
                      </a:endParaRPr>
                    </a:p>
                  </a:txBody>
                  <a:tcPr/>
                </a:tc>
                <a:tc>
                  <a:txBody>
                    <a:bodyPr/>
                    <a:lstStyle/>
                    <a:p>
                      <a:pPr algn="r"/>
                      <a:r>
                        <a:rPr lang="en-US" dirty="0">
                          <a:solidFill>
                            <a:schemeClr val="tx1"/>
                          </a:solidFill>
                        </a:rPr>
                        <a:t>6</a:t>
                      </a: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3</a:t>
                      </a:r>
                    </a:p>
                  </a:txBody>
                  <a:tcPr/>
                </a:tc>
                <a:extLst>
                  <a:ext uri="{0D108BD9-81ED-4DB2-BD59-A6C34878D82A}">
                    <a16:rowId xmlns:a16="http://schemas.microsoft.com/office/drawing/2014/main" val="2879113726"/>
                  </a:ext>
                </a:extLst>
              </a:tr>
            </a:tbl>
          </a:graphicData>
        </a:graphic>
      </p:graphicFrame>
      <p:sp>
        <p:nvSpPr>
          <p:cNvPr id="36" name="Content Placeholder 2">
            <a:extLst>
              <a:ext uri="{FF2B5EF4-FFF2-40B4-BE49-F238E27FC236}">
                <a16:creationId xmlns:a16="http://schemas.microsoft.com/office/drawing/2014/main" id="{55A98081-1BEB-15A2-FE3F-D8B9D548D58A}"/>
              </a:ext>
            </a:extLst>
          </p:cNvPr>
          <p:cNvSpPr>
            <a:spLocks noGrp="1"/>
          </p:cNvSpPr>
          <p:nvPr>
            <p:ph idx="1"/>
          </p:nvPr>
        </p:nvSpPr>
        <p:spPr>
          <a:xfrm>
            <a:off x="5775901" y="6121400"/>
            <a:ext cx="1676400" cy="395575"/>
          </a:xfrm>
        </p:spPr>
        <p:txBody>
          <a:bodyPr>
            <a:normAutofit lnSpcReduction="10000"/>
          </a:bodyPr>
          <a:lstStyle/>
          <a:p>
            <a:pPr marL="0" indent="0">
              <a:buNone/>
            </a:pPr>
            <a:r>
              <a:rPr lang="en-GB" sz="2400" dirty="0"/>
              <a:t>Gantt Chart</a:t>
            </a:r>
            <a:endParaRPr lang="en-SE" sz="2400" dirty="0"/>
          </a:p>
        </p:txBody>
      </p:sp>
      <p:pic>
        <p:nvPicPr>
          <p:cNvPr id="16" name="Picture 15">
            <a:extLst>
              <a:ext uri="{FF2B5EF4-FFF2-40B4-BE49-F238E27FC236}">
                <a16:creationId xmlns:a16="http://schemas.microsoft.com/office/drawing/2014/main" id="{36A896CB-5DD2-C680-B1C7-78CD59673291}"/>
              </a:ext>
            </a:extLst>
          </p:cNvPr>
          <p:cNvPicPr>
            <a:picLocks noChangeAspect="1"/>
          </p:cNvPicPr>
          <p:nvPr/>
        </p:nvPicPr>
        <p:blipFill>
          <a:blip r:embed="rId3"/>
          <a:stretch>
            <a:fillRect/>
          </a:stretch>
        </p:blipFill>
        <p:spPr>
          <a:xfrm>
            <a:off x="3292365" y="4001901"/>
            <a:ext cx="6260626" cy="1873830"/>
          </a:xfrm>
          <a:prstGeom prst="rect">
            <a:avLst/>
          </a:prstGeom>
        </p:spPr>
      </p:pic>
      <p:cxnSp>
        <p:nvCxnSpPr>
          <p:cNvPr id="5" name="Straight Arrow Connector 4">
            <a:extLst>
              <a:ext uri="{FF2B5EF4-FFF2-40B4-BE49-F238E27FC236}">
                <a16:creationId xmlns:a16="http://schemas.microsoft.com/office/drawing/2014/main" id="{296B1FF5-8908-C1F1-3825-E3A11BB75B14}"/>
              </a:ext>
            </a:extLst>
          </p:cNvPr>
          <p:cNvCxnSpPr>
            <a:cxnSpLocks/>
          </p:cNvCxnSpPr>
          <p:nvPr/>
        </p:nvCxnSpPr>
        <p:spPr bwMode="auto">
          <a:xfrm flipV="1">
            <a:off x="3433009" y="5170196"/>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7" name="TextBox 6">
            <a:extLst>
              <a:ext uri="{FF2B5EF4-FFF2-40B4-BE49-F238E27FC236}">
                <a16:creationId xmlns:a16="http://schemas.microsoft.com/office/drawing/2014/main" id="{2BF7F21A-509E-A1A1-7A8E-B5E8CD570EF3}"/>
              </a:ext>
            </a:extLst>
          </p:cNvPr>
          <p:cNvSpPr txBox="1"/>
          <p:nvPr/>
        </p:nvSpPr>
        <p:spPr>
          <a:xfrm>
            <a:off x="2895600" y="555421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10" name="Straight Arrow Connector 9">
            <a:extLst>
              <a:ext uri="{FF2B5EF4-FFF2-40B4-BE49-F238E27FC236}">
                <a16:creationId xmlns:a16="http://schemas.microsoft.com/office/drawing/2014/main" id="{41CB4D02-B01F-3309-23BB-DB6A1412A332}"/>
              </a:ext>
            </a:extLst>
          </p:cNvPr>
          <p:cNvCxnSpPr>
            <a:cxnSpLocks/>
          </p:cNvCxnSpPr>
          <p:nvPr/>
        </p:nvCxnSpPr>
        <p:spPr bwMode="auto">
          <a:xfrm flipV="1">
            <a:off x="5791200" y="5116584"/>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2" name="TextBox 11">
            <a:extLst>
              <a:ext uri="{FF2B5EF4-FFF2-40B4-BE49-F238E27FC236}">
                <a16:creationId xmlns:a16="http://schemas.microsoft.com/office/drawing/2014/main" id="{83CD8C37-AF18-7991-3FD0-EC4CD78F30B3}"/>
              </a:ext>
            </a:extLst>
          </p:cNvPr>
          <p:cNvSpPr txBox="1"/>
          <p:nvPr/>
        </p:nvSpPr>
        <p:spPr>
          <a:xfrm>
            <a:off x="5284266" y="5256617"/>
            <a:ext cx="1013867" cy="369332"/>
          </a:xfrm>
          <a:prstGeom prst="rect">
            <a:avLst/>
          </a:prstGeom>
          <a:solidFill>
            <a:schemeClr val="bg1"/>
          </a:solid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cxnSp>
        <p:nvCxnSpPr>
          <p:cNvPr id="13" name="Straight Arrow Connector 12">
            <a:extLst>
              <a:ext uri="{FF2B5EF4-FFF2-40B4-BE49-F238E27FC236}">
                <a16:creationId xmlns:a16="http://schemas.microsoft.com/office/drawing/2014/main" id="{9EC07BAB-CA65-8856-7B45-64FC250AB29B}"/>
              </a:ext>
            </a:extLst>
          </p:cNvPr>
          <p:cNvCxnSpPr>
            <a:cxnSpLocks/>
          </p:cNvCxnSpPr>
          <p:nvPr/>
        </p:nvCxnSpPr>
        <p:spPr bwMode="auto">
          <a:xfrm flipV="1">
            <a:off x="8081209" y="5122376"/>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993DD6CA-202E-9A30-4606-90B46344B976}"/>
              </a:ext>
            </a:extLst>
          </p:cNvPr>
          <p:cNvSpPr txBox="1"/>
          <p:nvPr/>
        </p:nvSpPr>
        <p:spPr>
          <a:xfrm>
            <a:off x="7543800" y="555421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P3 arrival</a:t>
            </a:r>
            <a:endParaRPr lang="en-SE" dirty="0">
              <a:solidFill>
                <a:schemeClr val="accent1">
                  <a:lumMod val="75000"/>
                </a:schemeClr>
              </a:solidFill>
              <a:latin typeface="Gill Sans Light"/>
            </a:endParaRPr>
          </a:p>
        </p:txBody>
      </p:sp>
    </p:spTree>
    <p:extLst>
      <p:ext uri="{BB962C8B-B14F-4D97-AF65-F5344CB8AC3E}">
        <p14:creationId xmlns:p14="http://schemas.microsoft.com/office/powerpoint/2010/main" val="3792104184"/>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56AF0-7370-4F9A-34DD-3972859D43C7}"/>
              </a:ext>
            </a:extLst>
          </p:cNvPr>
          <p:cNvSpPr>
            <a:spLocks noGrp="1"/>
          </p:cNvSpPr>
          <p:nvPr>
            <p:ph type="title"/>
          </p:nvPr>
        </p:nvSpPr>
        <p:spPr/>
        <p:txBody>
          <a:bodyPr/>
          <a:lstStyle/>
          <a:p>
            <a:r>
              <a:rPr lang="en-GB" dirty="0"/>
              <a:t>Scheduling with Bursts I</a:t>
            </a:r>
            <a:endParaRPr lang="en-SE" dirty="0"/>
          </a:p>
        </p:txBody>
      </p:sp>
      <p:sp>
        <p:nvSpPr>
          <p:cNvPr id="3" name="Content Placeholder 2">
            <a:extLst>
              <a:ext uri="{FF2B5EF4-FFF2-40B4-BE49-F238E27FC236}">
                <a16:creationId xmlns:a16="http://schemas.microsoft.com/office/drawing/2014/main" id="{3AADDD39-2EEB-BA36-450E-0A833D923877}"/>
              </a:ext>
            </a:extLst>
          </p:cNvPr>
          <p:cNvSpPr>
            <a:spLocks noGrp="1"/>
          </p:cNvSpPr>
          <p:nvPr>
            <p:ph idx="1"/>
          </p:nvPr>
        </p:nvSpPr>
        <p:spPr/>
        <p:txBody>
          <a:bodyPr/>
          <a:lstStyle/>
          <a:p>
            <a:r>
              <a:rPr lang="en-GB" dirty="0"/>
              <a:t>Consider the set of 3 processes whose arrival time and CPU/IO burst times are given below. If the CPU scheduling policy is </a:t>
            </a:r>
            <a:r>
              <a:rPr lang="en-GB" b="1" dirty="0"/>
              <a:t>Shortest Remaining Time First (SRTF)</a:t>
            </a:r>
            <a:r>
              <a:rPr lang="en-GB" dirty="0"/>
              <a:t>, draw the Gantt chart and calculate the average response time. (Note: consider the overlap of computation and IO bursts of different processes)</a:t>
            </a:r>
            <a:endParaRPr lang="en-SE" dirty="0"/>
          </a:p>
        </p:txBody>
      </p:sp>
      <p:graphicFrame>
        <p:nvGraphicFramePr>
          <p:cNvPr id="8" name="表格 6">
            <a:extLst>
              <a:ext uri="{FF2B5EF4-FFF2-40B4-BE49-F238E27FC236}">
                <a16:creationId xmlns:a16="http://schemas.microsoft.com/office/drawing/2014/main" id="{C5347911-4750-2155-2129-F0DAED0F0058}"/>
              </a:ext>
            </a:extLst>
          </p:cNvPr>
          <p:cNvGraphicFramePr>
            <a:graphicFrameLocks noGrp="1"/>
          </p:cNvGraphicFramePr>
          <p:nvPr>
            <p:extLst>
              <p:ext uri="{D42A27DB-BD31-4B8C-83A1-F6EECF244321}">
                <p14:modId xmlns:p14="http://schemas.microsoft.com/office/powerpoint/2010/main" val="2054541497"/>
              </p:ext>
            </p:extLst>
          </p:nvPr>
        </p:nvGraphicFramePr>
        <p:xfrm>
          <a:off x="3640843" y="3276600"/>
          <a:ext cx="4630600" cy="237744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1072097">
                  <a:extLst>
                    <a:ext uri="{9D8B030D-6E8A-4147-A177-3AD203B41FA5}">
                      <a16:colId xmlns:a16="http://schemas.microsoft.com/office/drawing/2014/main" val="3517187588"/>
                    </a:ext>
                  </a:extLst>
                </a:gridCol>
                <a:gridCol w="1072097">
                  <a:extLst>
                    <a:ext uri="{9D8B030D-6E8A-4147-A177-3AD203B41FA5}">
                      <a16:colId xmlns:a16="http://schemas.microsoft.com/office/drawing/2014/main" val="2248621"/>
                    </a:ext>
                  </a:extLst>
                </a:gridCol>
                <a:gridCol w="1072097">
                  <a:extLst>
                    <a:ext uri="{9D8B030D-6E8A-4147-A177-3AD203B41FA5}">
                      <a16:colId xmlns:a16="http://schemas.microsoft.com/office/drawing/2014/main" val="2712044097"/>
                    </a:ext>
                  </a:extLst>
                </a:gridCol>
              </a:tblGrid>
              <a:tr h="7695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CPU Burst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r>
                        <a:rPr lang="en-US" dirty="0">
                          <a:solidFill>
                            <a:schemeClr val="tx1"/>
                          </a:solidFill>
                        </a:rPr>
                        <a:t>7</a:t>
                      </a:r>
                    </a:p>
                  </a:txBody>
                  <a:tcPr/>
                </a:tc>
                <a:tc>
                  <a:txBody>
                    <a:bodyPr/>
                    <a:lstStyle/>
                    <a:p>
                      <a:pPr algn="r"/>
                      <a:r>
                        <a:rPr lang="en-US" altLang="zh-CN" strike="noStrike" dirty="0">
                          <a:solidFill>
                            <a:schemeClr val="tx1"/>
                          </a:solidFill>
                        </a:rPr>
                        <a:t>1</a:t>
                      </a:r>
                      <a:endParaRPr lang="en-US" strike="noStrike"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0</a:t>
                      </a:r>
                      <a:endParaRPr lang="en-US" baseline="0" dirty="0">
                        <a:solidFill>
                          <a:schemeClr val="tx1"/>
                        </a:solidFill>
                      </a:endParaRPr>
                    </a:p>
                  </a:txBody>
                  <a:tcPr/>
                </a:tc>
                <a:tc>
                  <a:txBody>
                    <a:bodyPr/>
                    <a:lstStyle/>
                    <a:p>
                      <a:pPr algn="r"/>
                      <a:r>
                        <a:rPr lang="en-US" altLang="zh-CN" dirty="0">
                          <a:solidFill>
                            <a:schemeClr val="tx1"/>
                          </a:solidFill>
                        </a:rPr>
                        <a:t>4</a:t>
                      </a:r>
                      <a:endParaRPr lang="en-US" dirty="0">
                        <a:solidFill>
                          <a:schemeClr val="tx1"/>
                        </a:solidFill>
                      </a:endParaRPr>
                    </a:p>
                  </a:txBody>
                  <a:tcPr/>
                </a:tc>
                <a:tc>
                  <a:txBody>
                    <a:bodyPr/>
                    <a:lstStyle/>
                    <a:p>
                      <a:pPr algn="r"/>
                      <a:r>
                        <a:rPr lang="en-US" dirty="0">
                          <a:solidFill>
                            <a:schemeClr val="tx1"/>
                          </a:solidFill>
                        </a:rPr>
                        <a:t>14</a:t>
                      </a:r>
                    </a:p>
                  </a:txBody>
                  <a:tcPr/>
                </a:tc>
                <a:tc>
                  <a:txBody>
                    <a:bodyPr/>
                    <a:lstStyle/>
                    <a:p>
                      <a:pPr algn="r"/>
                      <a:r>
                        <a:rPr lang="en-US" altLang="zh-CN" dirty="0">
                          <a:solidFill>
                            <a:schemeClr val="tx1"/>
                          </a:solidFill>
                        </a:rPr>
                        <a:t>2</a:t>
                      </a: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0</a:t>
                      </a:r>
                      <a:endParaRPr lang="en-US" baseline="3000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r>
                        <a:rPr lang="en-US" dirty="0">
                          <a:solidFill>
                            <a:schemeClr val="tx1"/>
                          </a:solidFill>
                        </a:rPr>
                        <a:t>21</a:t>
                      </a:r>
                    </a:p>
                  </a:txBody>
                  <a:tcPr/>
                </a:tc>
                <a:tc>
                  <a:txBody>
                    <a:bodyPr/>
                    <a:lstStyle/>
                    <a:p>
                      <a:pPr algn="r"/>
                      <a:r>
                        <a:rPr lang="en-US" altLang="zh-CN" dirty="0">
                          <a:solidFill>
                            <a:schemeClr val="tx1"/>
                          </a:solidFill>
                        </a:rPr>
                        <a:t>3</a:t>
                      </a: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2087608417"/>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5CC07-F3B6-04E8-B4EB-9CF9F48DC5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CA6576-C415-5FE8-27A3-075448AAE703}"/>
              </a:ext>
            </a:extLst>
          </p:cNvPr>
          <p:cNvSpPr>
            <a:spLocks noGrp="1"/>
          </p:cNvSpPr>
          <p:nvPr>
            <p:ph type="title"/>
          </p:nvPr>
        </p:nvSpPr>
        <p:spPr>
          <a:xfrm>
            <a:off x="-902050" y="144549"/>
            <a:ext cx="9550400" cy="533400"/>
          </a:xfrm>
        </p:spPr>
        <p:txBody>
          <a:bodyPr/>
          <a:lstStyle/>
          <a:p>
            <a:r>
              <a:rPr lang="en-GB" dirty="0"/>
              <a:t>Scheduling with Bursts I ANS</a:t>
            </a:r>
            <a:endParaRPr lang="en-SE" dirty="0"/>
          </a:p>
        </p:txBody>
      </p:sp>
      <p:graphicFrame>
        <p:nvGraphicFramePr>
          <p:cNvPr id="8" name="表格 6">
            <a:extLst>
              <a:ext uri="{FF2B5EF4-FFF2-40B4-BE49-F238E27FC236}">
                <a16:creationId xmlns:a16="http://schemas.microsoft.com/office/drawing/2014/main" id="{645EE26D-01F6-37BB-34ED-7BFA54544EA8}"/>
              </a:ext>
            </a:extLst>
          </p:cNvPr>
          <p:cNvGraphicFramePr>
            <a:graphicFrameLocks noGrp="1"/>
          </p:cNvGraphicFramePr>
          <p:nvPr>
            <p:extLst>
              <p:ext uri="{D42A27DB-BD31-4B8C-83A1-F6EECF244321}">
                <p14:modId xmlns:p14="http://schemas.microsoft.com/office/powerpoint/2010/main" val="192379867"/>
              </p:ext>
            </p:extLst>
          </p:nvPr>
        </p:nvGraphicFramePr>
        <p:xfrm>
          <a:off x="95422" y="866901"/>
          <a:ext cx="5791203" cy="2377440"/>
        </p:xfrm>
        <a:graphic>
          <a:graphicData uri="http://schemas.openxmlformats.org/drawingml/2006/table">
            <a:tbl>
              <a:tblPr firstRow="1" bandRow="1">
                <a:tableStyleId>{5C22544A-7EE6-4342-B048-85BDC9FD1C3A}</a:tableStyleId>
              </a:tblPr>
              <a:tblGrid>
                <a:gridCol w="560000">
                  <a:extLst>
                    <a:ext uri="{9D8B030D-6E8A-4147-A177-3AD203B41FA5}">
                      <a16:colId xmlns:a16="http://schemas.microsoft.com/office/drawing/2014/main" val="3897766631"/>
                    </a:ext>
                  </a:extLst>
                </a:gridCol>
                <a:gridCol w="726061">
                  <a:extLst>
                    <a:ext uri="{9D8B030D-6E8A-4147-A177-3AD203B41FA5}">
                      <a16:colId xmlns:a16="http://schemas.microsoft.com/office/drawing/2014/main" val="3850674632"/>
                    </a:ext>
                  </a:extLst>
                </a:gridCol>
                <a:gridCol w="864438">
                  <a:extLst>
                    <a:ext uri="{9D8B030D-6E8A-4147-A177-3AD203B41FA5}">
                      <a16:colId xmlns:a16="http://schemas.microsoft.com/office/drawing/2014/main" val="3517187588"/>
                    </a:ext>
                  </a:extLst>
                </a:gridCol>
                <a:gridCol w="864438">
                  <a:extLst>
                    <a:ext uri="{9D8B030D-6E8A-4147-A177-3AD203B41FA5}">
                      <a16:colId xmlns:a16="http://schemas.microsoft.com/office/drawing/2014/main" val="2248621"/>
                    </a:ext>
                  </a:extLst>
                </a:gridCol>
                <a:gridCol w="864440">
                  <a:extLst>
                    <a:ext uri="{9D8B030D-6E8A-4147-A177-3AD203B41FA5}">
                      <a16:colId xmlns:a16="http://schemas.microsoft.com/office/drawing/2014/main" val="2712044097"/>
                    </a:ext>
                  </a:extLst>
                </a:gridCol>
                <a:gridCol w="955913">
                  <a:extLst>
                    <a:ext uri="{9D8B030D-6E8A-4147-A177-3AD203B41FA5}">
                      <a16:colId xmlns:a16="http://schemas.microsoft.com/office/drawing/2014/main" val="2350337837"/>
                    </a:ext>
                  </a:extLst>
                </a:gridCol>
                <a:gridCol w="955913">
                  <a:extLst>
                    <a:ext uri="{9D8B030D-6E8A-4147-A177-3AD203B41FA5}">
                      <a16:colId xmlns:a16="http://schemas.microsoft.com/office/drawing/2014/main" val="2014823287"/>
                    </a:ext>
                  </a:extLst>
                </a:gridCol>
              </a:tblGrid>
              <a:tr h="7695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CPU Burst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Finish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Resp.  Time</a:t>
                      </a:r>
                      <a:endParaRPr lang="en-US" b="0" dirty="0">
                        <a:solidFill>
                          <a:schemeClr val="tx1"/>
                        </a:solidFill>
                      </a:endParaRP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r>
                        <a:rPr lang="en-US" dirty="0">
                          <a:solidFill>
                            <a:schemeClr val="tx1"/>
                          </a:solidFill>
                        </a:rPr>
                        <a:t>7</a:t>
                      </a:r>
                    </a:p>
                  </a:txBody>
                  <a:tcPr/>
                </a:tc>
                <a:tc>
                  <a:txBody>
                    <a:bodyPr/>
                    <a:lstStyle/>
                    <a:p>
                      <a:pPr algn="r"/>
                      <a:r>
                        <a:rPr lang="en-US" altLang="zh-CN" strike="noStrike" dirty="0">
                          <a:solidFill>
                            <a:schemeClr val="tx1"/>
                          </a:solidFill>
                        </a:rPr>
                        <a:t>1</a:t>
                      </a:r>
                      <a:endParaRPr lang="en-US" strike="noStrike" dirty="0">
                        <a:solidFill>
                          <a:schemeClr val="tx1"/>
                        </a:solidFill>
                      </a:endParaRP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10</a:t>
                      </a: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0</a:t>
                      </a:r>
                      <a:endParaRPr lang="en-US" baseline="0" dirty="0">
                        <a:solidFill>
                          <a:schemeClr val="tx1"/>
                        </a:solidFill>
                      </a:endParaRPr>
                    </a:p>
                  </a:txBody>
                  <a:tcPr/>
                </a:tc>
                <a:tc>
                  <a:txBody>
                    <a:bodyPr/>
                    <a:lstStyle/>
                    <a:p>
                      <a:pPr algn="r"/>
                      <a:r>
                        <a:rPr lang="en-US" altLang="zh-CN" dirty="0">
                          <a:solidFill>
                            <a:schemeClr val="tx1"/>
                          </a:solidFill>
                        </a:rPr>
                        <a:t>4</a:t>
                      </a:r>
                      <a:endParaRPr lang="en-US" dirty="0">
                        <a:solidFill>
                          <a:schemeClr val="tx1"/>
                        </a:solidFill>
                      </a:endParaRPr>
                    </a:p>
                  </a:txBody>
                  <a:tcPr/>
                </a:tc>
                <a:tc>
                  <a:txBody>
                    <a:bodyPr/>
                    <a:lstStyle/>
                    <a:p>
                      <a:pPr algn="r"/>
                      <a:r>
                        <a:rPr lang="en-US" dirty="0">
                          <a:solidFill>
                            <a:schemeClr val="tx1"/>
                          </a:solidFill>
                        </a:rPr>
                        <a:t>14</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25</a:t>
                      </a:r>
                    </a:p>
                  </a:txBody>
                  <a:tcPr/>
                </a:tc>
                <a:tc>
                  <a:txBody>
                    <a:bodyPr/>
                    <a:lstStyle/>
                    <a:p>
                      <a:pPr algn="r"/>
                      <a:r>
                        <a:rPr lang="en-US" dirty="0">
                          <a:solidFill>
                            <a:schemeClr val="tx1"/>
                          </a:solidFill>
                        </a:rPr>
                        <a:t>25</a:t>
                      </a: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0</a:t>
                      </a:r>
                      <a:endParaRPr lang="en-US" baseline="3000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r>
                        <a:rPr lang="en-US" dirty="0">
                          <a:solidFill>
                            <a:schemeClr val="tx1"/>
                          </a:solidFill>
                        </a:rPr>
                        <a:t>21</a:t>
                      </a:r>
                    </a:p>
                  </a:txBody>
                  <a:tcPr/>
                </a:tc>
                <a:tc>
                  <a:txBody>
                    <a:bodyPr/>
                    <a:lstStyle/>
                    <a:p>
                      <a:pPr algn="r"/>
                      <a:r>
                        <a:rPr lang="en-US" altLang="zh-CN" dirty="0">
                          <a:solidFill>
                            <a:schemeClr val="tx1"/>
                          </a:solidFill>
                        </a:rPr>
                        <a:t>3</a:t>
                      </a:r>
                      <a:endParaRPr lang="en-US" dirty="0">
                        <a:solidFill>
                          <a:schemeClr val="tx1"/>
                        </a:solidFill>
                      </a:endParaRPr>
                    </a:p>
                  </a:txBody>
                  <a:tcPr/>
                </a:tc>
                <a:tc>
                  <a:txBody>
                    <a:bodyPr/>
                    <a:lstStyle/>
                    <a:p>
                      <a:pPr algn="r"/>
                      <a:r>
                        <a:rPr lang="en-US" dirty="0">
                          <a:solidFill>
                            <a:schemeClr val="tx1"/>
                          </a:solidFill>
                        </a:rPr>
                        <a:t>47</a:t>
                      </a:r>
                    </a:p>
                  </a:txBody>
                  <a:tcPr/>
                </a:tc>
                <a:tc>
                  <a:txBody>
                    <a:bodyPr/>
                    <a:lstStyle/>
                    <a:p>
                      <a:pPr algn="r"/>
                      <a:r>
                        <a:rPr lang="en-US" dirty="0">
                          <a:solidFill>
                            <a:schemeClr val="tx1"/>
                          </a:solidFill>
                        </a:rPr>
                        <a:t>47</a:t>
                      </a: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algn="r"/>
                      <a:r>
                        <a:rPr lang="en-US" dirty="0">
                          <a:solidFill>
                            <a:schemeClr val="tx1"/>
                          </a:solidFill>
                        </a:rPr>
                        <a:t>27.3</a:t>
                      </a:r>
                    </a:p>
                  </a:txBody>
                  <a:tcPr/>
                </a:tc>
                <a:extLst>
                  <a:ext uri="{0D108BD9-81ED-4DB2-BD59-A6C34878D82A}">
                    <a16:rowId xmlns:a16="http://schemas.microsoft.com/office/drawing/2014/main" val="2879113726"/>
                  </a:ext>
                </a:extLst>
              </a:tr>
            </a:tbl>
          </a:graphicData>
        </a:graphic>
      </p:graphicFrame>
      <p:pic>
        <p:nvPicPr>
          <p:cNvPr id="7" name="Picture 6">
            <a:extLst>
              <a:ext uri="{FF2B5EF4-FFF2-40B4-BE49-F238E27FC236}">
                <a16:creationId xmlns:a16="http://schemas.microsoft.com/office/drawing/2014/main" id="{7B211E08-18A4-0B53-A853-D44C622D5577}"/>
              </a:ext>
            </a:extLst>
          </p:cNvPr>
          <p:cNvPicPr>
            <a:picLocks noChangeAspect="1"/>
          </p:cNvPicPr>
          <p:nvPr/>
        </p:nvPicPr>
        <p:blipFill>
          <a:blip r:embed="rId2"/>
          <a:stretch>
            <a:fillRect/>
          </a:stretch>
        </p:blipFill>
        <p:spPr>
          <a:xfrm>
            <a:off x="1308768" y="3505200"/>
            <a:ext cx="9821955" cy="3256547"/>
          </a:xfrm>
          <a:prstGeom prst="rect">
            <a:avLst/>
          </a:prstGeom>
        </p:spPr>
      </p:pic>
      <p:sp>
        <p:nvSpPr>
          <p:cNvPr id="9" name="TextBox 8">
            <a:extLst>
              <a:ext uri="{FF2B5EF4-FFF2-40B4-BE49-F238E27FC236}">
                <a16:creationId xmlns:a16="http://schemas.microsoft.com/office/drawing/2014/main" id="{53D9FB4D-71DC-9670-0457-FF52A713A203}"/>
              </a:ext>
            </a:extLst>
          </p:cNvPr>
          <p:cNvSpPr txBox="1"/>
          <p:nvPr/>
        </p:nvSpPr>
        <p:spPr>
          <a:xfrm>
            <a:off x="2133600" y="4815489"/>
            <a:ext cx="495649" cy="558615"/>
          </a:xfrm>
          <a:prstGeom prst="rect">
            <a:avLst/>
          </a:prstGeom>
          <a:noFill/>
        </p:spPr>
        <p:txBody>
          <a:bodyPr wrap="none" rtlCol="0">
            <a:spAutoFit/>
          </a:bodyPr>
          <a:lstStyle/>
          <a:p>
            <a:r>
              <a:rPr lang="en-GB" sz="2400" dirty="0">
                <a:solidFill>
                  <a:srgbClr val="C00000"/>
                </a:solidFill>
                <a:latin typeface="Gill Sans Light"/>
              </a:rPr>
              <a:t>IO</a:t>
            </a:r>
            <a:endParaRPr lang="en-SE" sz="2400" dirty="0">
              <a:solidFill>
                <a:srgbClr val="C00000"/>
              </a:solidFill>
              <a:latin typeface="Gill Sans Light"/>
            </a:endParaRPr>
          </a:p>
        </p:txBody>
      </p:sp>
      <p:sp>
        <p:nvSpPr>
          <p:cNvPr id="10" name="TextBox 9">
            <a:extLst>
              <a:ext uri="{FF2B5EF4-FFF2-40B4-BE49-F238E27FC236}">
                <a16:creationId xmlns:a16="http://schemas.microsoft.com/office/drawing/2014/main" id="{F3171692-EFA5-CFE4-4CF5-CF2C4418DF45}"/>
              </a:ext>
            </a:extLst>
          </p:cNvPr>
          <p:cNvSpPr txBox="1"/>
          <p:nvPr/>
        </p:nvSpPr>
        <p:spPr>
          <a:xfrm>
            <a:off x="6286151" y="4815489"/>
            <a:ext cx="495649" cy="558615"/>
          </a:xfrm>
          <a:prstGeom prst="rect">
            <a:avLst/>
          </a:prstGeom>
          <a:noFill/>
        </p:spPr>
        <p:txBody>
          <a:bodyPr wrap="none" rtlCol="0">
            <a:spAutoFit/>
          </a:bodyPr>
          <a:lstStyle/>
          <a:p>
            <a:r>
              <a:rPr lang="en-GB" sz="2400" dirty="0">
                <a:solidFill>
                  <a:srgbClr val="C00000"/>
                </a:solidFill>
                <a:latin typeface="Gill Sans Light"/>
              </a:rPr>
              <a:t>IO</a:t>
            </a:r>
            <a:endParaRPr lang="en-SE" sz="2400" dirty="0">
              <a:solidFill>
                <a:srgbClr val="C00000"/>
              </a:solidFill>
              <a:latin typeface="Gill Sans Light"/>
            </a:endParaRPr>
          </a:p>
        </p:txBody>
      </p:sp>
      <p:sp>
        <p:nvSpPr>
          <p:cNvPr id="11" name="TextBox 10">
            <a:extLst>
              <a:ext uri="{FF2B5EF4-FFF2-40B4-BE49-F238E27FC236}">
                <a16:creationId xmlns:a16="http://schemas.microsoft.com/office/drawing/2014/main" id="{76DE50C5-903D-4D23-21EF-EBB55CE240B5}"/>
              </a:ext>
            </a:extLst>
          </p:cNvPr>
          <p:cNvSpPr txBox="1"/>
          <p:nvPr/>
        </p:nvSpPr>
        <p:spPr>
          <a:xfrm>
            <a:off x="8419751" y="4815489"/>
            <a:ext cx="495649" cy="558615"/>
          </a:xfrm>
          <a:prstGeom prst="rect">
            <a:avLst/>
          </a:prstGeom>
          <a:noFill/>
        </p:spPr>
        <p:txBody>
          <a:bodyPr wrap="none" rtlCol="0">
            <a:spAutoFit/>
          </a:bodyPr>
          <a:lstStyle/>
          <a:p>
            <a:r>
              <a:rPr lang="en-GB" sz="2400" dirty="0">
                <a:solidFill>
                  <a:srgbClr val="C00000"/>
                </a:solidFill>
                <a:latin typeface="Gill Sans Light"/>
              </a:rPr>
              <a:t>IO</a:t>
            </a:r>
            <a:endParaRPr lang="en-SE" sz="2400" dirty="0">
              <a:solidFill>
                <a:srgbClr val="C00000"/>
              </a:solidFill>
              <a:latin typeface="Gill Sans Light"/>
            </a:endParaRPr>
          </a:p>
        </p:txBody>
      </p:sp>
      <p:sp>
        <p:nvSpPr>
          <p:cNvPr id="12" name="TextBox 11">
            <a:extLst>
              <a:ext uri="{FF2B5EF4-FFF2-40B4-BE49-F238E27FC236}">
                <a16:creationId xmlns:a16="http://schemas.microsoft.com/office/drawing/2014/main" id="{7608CC1D-A3E7-BE0E-CAF3-96BEBCB4E3E8}"/>
              </a:ext>
            </a:extLst>
          </p:cNvPr>
          <p:cNvSpPr txBox="1"/>
          <p:nvPr/>
        </p:nvSpPr>
        <p:spPr>
          <a:xfrm>
            <a:off x="10521267" y="4724400"/>
            <a:ext cx="495649" cy="558615"/>
          </a:xfrm>
          <a:prstGeom prst="rect">
            <a:avLst/>
          </a:prstGeom>
          <a:noFill/>
        </p:spPr>
        <p:txBody>
          <a:bodyPr wrap="none" rtlCol="0">
            <a:spAutoFit/>
          </a:bodyPr>
          <a:lstStyle/>
          <a:p>
            <a:r>
              <a:rPr lang="en-GB" sz="2400" dirty="0">
                <a:solidFill>
                  <a:srgbClr val="C00000"/>
                </a:solidFill>
                <a:latin typeface="Gill Sans Light"/>
              </a:rPr>
              <a:t>IO</a:t>
            </a:r>
            <a:endParaRPr lang="en-SE" sz="2400" dirty="0">
              <a:solidFill>
                <a:srgbClr val="C00000"/>
              </a:solidFill>
              <a:latin typeface="Gill Sans Light"/>
            </a:endParaRPr>
          </a:p>
        </p:txBody>
      </p:sp>
      <p:sp>
        <p:nvSpPr>
          <p:cNvPr id="13" name="TextBox 12">
            <a:extLst>
              <a:ext uri="{FF2B5EF4-FFF2-40B4-BE49-F238E27FC236}">
                <a16:creationId xmlns:a16="http://schemas.microsoft.com/office/drawing/2014/main" id="{0845DE8D-CC0E-117A-8D00-6CF38CD9A132}"/>
              </a:ext>
            </a:extLst>
          </p:cNvPr>
          <p:cNvSpPr txBox="1"/>
          <p:nvPr/>
        </p:nvSpPr>
        <p:spPr>
          <a:xfrm>
            <a:off x="2743200" y="5513321"/>
            <a:ext cx="495649" cy="558615"/>
          </a:xfrm>
          <a:prstGeom prst="rect">
            <a:avLst/>
          </a:prstGeom>
          <a:noFill/>
        </p:spPr>
        <p:txBody>
          <a:bodyPr wrap="none" rtlCol="0">
            <a:spAutoFit/>
          </a:bodyPr>
          <a:lstStyle/>
          <a:p>
            <a:r>
              <a:rPr lang="en-GB" sz="2400" dirty="0">
                <a:solidFill>
                  <a:srgbClr val="C00000"/>
                </a:solidFill>
                <a:latin typeface="Gill Sans Light"/>
              </a:rPr>
              <a:t>IO</a:t>
            </a:r>
            <a:endParaRPr lang="en-SE" sz="2400" dirty="0">
              <a:solidFill>
                <a:srgbClr val="C00000"/>
              </a:solidFill>
              <a:latin typeface="Gill Sans Light"/>
            </a:endParaRPr>
          </a:p>
        </p:txBody>
      </p:sp>
      <p:sp>
        <p:nvSpPr>
          <p:cNvPr id="14" name="TextBox 13">
            <a:extLst>
              <a:ext uri="{FF2B5EF4-FFF2-40B4-BE49-F238E27FC236}">
                <a16:creationId xmlns:a16="http://schemas.microsoft.com/office/drawing/2014/main" id="{41536FF2-CA6F-0D44-E8FF-57BF3E908801}"/>
              </a:ext>
            </a:extLst>
          </p:cNvPr>
          <p:cNvSpPr txBox="1"/>
          <p:nvPr/>
        </p:nvSpPr>
        <p:spPr>
          <a:xfrm>
            <a:off x="3124200" y="6172200"/>
            <a:ext cx="495649" cy="558615"/>
          </a:xfrm>
          <a:prstGeom prst="rect">
            <a:avLst/>
          </a:prstGeom>
          <a:noFill/>
        </p:spPr>
        <p:txBody>
          <a:bodyPr wrap="none" rtlCol="0">
            <a:spAutoFit/>
          </a:bodyPr>
          <a:lstStyle/>
          <a:p>
            <a:r>
              <a:rPr lang="en-GB" sz="2400" dirty="0">
                <a:solidFill>
                  <a:srgbClr val="C00000"/>
                </a:solidFill>
                <a:latin typeface="Gill Sans Light"/>
              </a:rPr>
              <a:t>IO</a:t>
            </a:r>
            <a:endParaRPr lang="en-SE" sz="2400" dirty="0">
              <a:solidFill>
                <a:srgbClr val="C00000"/>
              </a:solidFill>
              <a:latin typeface="Gill Sans Light"/>
            </a:endParaRPr>
          </a:p>
        </p:txBody>
      </p:sp>
      <p:cxnSp>
        <p:nvCxnSpPr>
          <p:cNvPr id="17" name="Straight Arrow Connector 16">
            <a:extLst>
              <a:ext uri="{FF2B5EF4-FFF2-40B4-BE49-F238E27FC236}">
                <a16:creationId xmlns:a16="http://schemas.microsoft.com/office/drawing/2014/main" id="{2FF0BD6F-0234-4008-71A8-EF8636D9A871}"/>
              </a:ext>
            </a:extLst>
          </p:cNvPr>
          <p:cNvCxnSpPr>
            <a:cxnSpLocks/>
          </p:cNvCxnSpPr>
          <p:nvPr/>
        </p:nvCxnSpPr>
        <p:spPr bwMode="auto">
          <a:xfrm flipV="1">
            <a:off x="1467135" y="4572929"/>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8" name="TextBox 17">
            <a:extLst>
              <a:ext uri="{FF2B5EF4-FFF2-40B4-BE49-F238E27FC236}">
                <a16:creationId xmlns:a16="http://schemas.microsoft.com/office/drawing/2014/main" id="{5002EA4D-95EF-7455-DE42-02F716EBEBB1}"/>
              </a:ext>
            </a:extLst>
          </p:cNvPr>
          <p:cNvSpPr txBox="1"/>
          <p:nvPr/>
        </p:nvSpPr>
        <p:spPr>
          <a:xfrm>
            <a:off x="335870" y="5064975"/>
            <a:ext cx="1683923" cy="369332"/>
          </a:xfrm>
          <a:prstGeom prst="rect">
            <a:avLst/>
          </a:prstGeom>
          <a:noFill/>
        </p:spPr>
        <p:txBody>
          <a:bodyPr wrap="none" rtlCol="0">
            <a:spAutoFit/>
          </a:bodyPr>
          <a:lstStyle/>
          <a:p>
            <a:r>
              <a:rPr lang="en-GB" dirty="0">
                <a:solidFill>
                  <a:schemeClr val="accent1">
                    <a:lumMod val="75000"/>
                  </a:schemeClr>
                </a:solidFill>
                <a:latin typeface="Gill Sans Light"/>
              </a:rPr>
              <a:t>P1, P2, P3 arrival</a:t>
            </a:r>
            <a:endParaRPr lang="en-SE" dirty="0">
              <a:solidFill>
                <a:schemeClr val="accent1">
                  <a:lumMod val="75000"/>
                </a:schemeClr>
              </a:solidFill>
              <a:latin typeface="Gill Sans Light"/>
            </a:endParaRPr>
          </a:p>
        </p:txBody>
      </p:sp>
      <p:sp>
        <p:nvSpPr>
          <p:cNvPr id="3" name="TextBox 2">
            <a:extLst>
              <a:ext uri="{FF2B5EF4-FFF2-40B4-BE49-F238E27FC236}">
                <a16:creationId xmlns:a16="http://schemas.microsoft.com/office/drawing/2014/main" id="{F13E486A-E64F-A8E0-CD86-0195293CF369}"/>
              </a:ext>
            </a:extLst>
          </p:cNvPr>
          <p:cNvSpPr txBox="1"/>
          <p:nvPr/>
        </p:nvSpPr>
        <p:spPr>
          <a:xfrm>
            <a:off x="6317409" y="28244"/>
            <a:ext cx="5791203" cy="3477875"/>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2000" dirty="0">
                <a:latin typeface="Gill Sans Light"/>
              </a:rPr>
              <a:t>Time 2: active tasks’ remaining times: P1: 7</a:t>
            </a:r>
          </a:p>
          <a:p>
            <a:r>
              <a:rPr lang="en-US" sz="2000" dirty="0">
                <a:latin typeface="Gill Sans Light"/>
              </a:rPr>
              <a:t>Time 4: active tasks’ remaining times: P1: 5, P2: 14, so P1 continues to run</a:t>
            </a:r>
          </a:p>
          <a:p>
            <a:r>
              <a:rPr lang="en-US" sz="2000" dirty="0">
                <a:latin typeface="Gill Sans Light"/>
              </a:rPr>
              <a:t>Time 6: active tasks’ remaining times: P1: 3, P2: 14, P3: 21, so P1 continues to run</a:t>
            </a:r>
          </a:p>
          <a:p>
            <a:r>
              <a:rPr lang="en-US" sz="2000" dirty="0">
                <a:latin typeface="Gill Sans Light"/>
              </a:rPr>
              <a:t>Time 9: active tasks’ remaining times: P2: 14, P3: 21, so P2 starts to run (P1 is blocked for IO)</a:t>
            </a:r>
          </a:p>
          <a:p>
            <a:r>
              <a:rPr lang="en-US" sz="2000" dirty="0">
                <a:latin typeface="Gill Sans Light"/>
              </a:rPr>
              <a:t>Time 10: active tasks’ remaining times: P2: 13, P3: 21, so P2 continues to run (P1 </a:t>
            </a:r>
            <a:r>
              <a:rPr lang="en-US" sz="2000">
                <a:latin typeface="Gill Sans Light"/>
              </a:rPr>
              <a:t>is finished)</a:t>
            </a:r>
            <a:endParaRPr lang="en-US" sz="2000" dirty="0">
              <a:latin typeface="Gill Sans Light"/>
            </a:endParaRPr>
          </a:p>
          <a:p>
            <a:r>
              <a:rPr lang="en-US" sz="2000" dirty="0">
                <a:latin typeface="Gill Sans Light"/>
              </a:rPr>
              <a:t>Time 23: active tasks’ remaining times: P3: 21, so P3 starts to run (P2 is blocked for IO)</a:t>
            </a:r>
          </a:p>
        </p:txBody>
      </p:sp>
    </p:spTree>
    <p:extLst>
      <p:ext uri="{BB962C8B-B14F-4D97-AF65-F5344CB8AC3E}">
        <p14:creationId xmlns:p14="http://schemas.microsoft.com/office/powerpoint/2010/main" val="4004612482"/>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D07C2-AF29-B03A-E6A6-9CAE5F5E03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22C23E-586F-DDDF-60F8-BAB18B89FB33}"/>
              </a:ext>
            </a:extLst>
          </p:cNvPr>
          <p:cNvSpPr>
            <a:spLocks noGrp="1"/>
          </p:cNvSpPr>
          <p:nvPr>
            <p:ph type="title"/>
          </p:nvPr>
        </p:nvSpPr>
        <p:spPr/>
        <p:txBody>
          <a:bodyPr/>
          <a:lstStyle/>
          <a:p>
            <a:r>
              <a:rPr lang="en-GB" dirty="0"/>
              <a:t>Scheduling with Bursts II</a:t>
            </a:r>
            <a:endParaRPr lang="en-SE" dirty="0"/>
          </a:p>
        </p:txBody>
      </p:sp>
      <p:sp>
        <p:nvSpPr>
          <p:cNvPr id="3" name="Content Placeholder 2">
            <a:extLst>
              <a:ext uri="{FF2B5EF4-FFF2-40B4-BE49-F238E27FC236}">
                <a16:creationId xmlns:a16="http://schemas.microsoft.com/office/drawing/2014/main" id="{A8E39957-29B2-6ADC-3302-9BAC7F0D973A}"/>
              </a:ext>
            </a:extLst>
          </p:cNvPr>
          <p:cNvSpPr>
            <a:spLocks noGrp="1"/>
          </p:cNvSpPr>
          <p:nvPr>
            <p:ph idx="1"/>
          </p:nvPr>
        </p:nvSpPr>
        <p:spPr/>
        <p:txBody>
          <a:bodyPr/>
          <a:lstStyle/>
          <a:p>
            <a:r>
              <a:rPr lang="en-GB" dirty="0"/>
              <a:t>Consider the set of 3 processes whose arrival time and CPU/IO burst times are given below. If the CPU scheduling policy is </a:t>
            </a:r>
            <a:r>
              <a:rPr lang="en-GB" b="1" dirty="0"/>
              <a:t>Fixed-Priority Scheduling</a:t>
            </a:r>
            <a:r>
              <a:rPr lang="en-GB" dirty="0"/>
              <a:t> (larger number denotes higher priority), draw the Gantt chart and calculate the average response time. </a:t>
            </a:r>
            <a:endParaRPr lang="en-SE" dirty="0"/>
          </a:p>
        </p:txBody>
      </p:sp>
      <p:graphicFrame>
        <p:nvGraphicFramePr>
          <p:cNvPr id="8" name="表格 6">
            <a:extLst>
              <a:ext uri="{FF2B5EF4-FFF2-40B4-BE49-F238E27FC236}">
                <a16:creationId xmlns:a16="http://schemas.microsoft.com/office/drawing/2014/main" id="{E9333747-37E8-1778-C12B-BF88C5D4145D}"/>
              </a:ext>
            </a:extLst>
          </p:cNvPr>
          <p:cNvGraphicFramePr>
            <a:graphicFrameLocks noGrp="1"/>
          </p:cNvGraphicFramePr>
          <p:nvPr/>
        </p:nvGraphicFramePr>
        <p:xfrm>
          <a:off x="3104795" y="2667000"/>
          <a:ext cx="5702697" cy="237744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gridCol w="1072097">
                  <a:extLst>
                    <a:ext uri="{9D8B030D-6E8A-4147-A177-3AD203B41FA5}">
                      <a16:colId xmlns:a16="http://schemas.microsoft.com/office/drawing/2014/main" val="2248621"/>
                    </a:ext>
                  </a:extLst>
                </a:gridCol>
                <a:gridCol w="1072097">
                  <a:extLst>
                    <a:ext uri="{9D8B030D-6E8A-4147-A177-3AD203B41FA5}">
                      <a16:colId xmlns:a16="http://schemas.microsoft.com/office/drawing/2014/main" val="2712044097"/>
                    </a:ext>
                  </a:extLst>
                </a:gridCol>
              </a:tblGrid>
              <a:tr h="7695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Priority</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1</a:t>
                      </a:r>
                      <a:endParaRPr lang="en-US" strike="noStrike" dirty="0">
                        <a:solidFill>
                          <a:schemeClr val="tx1"/>
                        </a:solidFill>
                      </a:endParaRPr>
                    </a:p>
                  </a:txBody>
                  <a:tcPr/>
                </a:tc>
                <a:tc>
                  <a:txBody>
                    <a:bodyPr/>
                    <a:lstStyle/>
                    <a:p>
                      <a:pPr algn="r"/>
                      <a:r>
                        <a:rPr lang="en-US" dirty="0">
                          <a:solidFill>
                            <a:schemeClr val="tx1"/>
                          </a:solidFill>
                        </a:rPr>
                        <a:t>5</a:t>
                      </a: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2</a:t>
                      </a:r>
                      <a:endParaRPr lang="en-US" baseline="0" dirty="0">
                        <a:solidFill>
                          <a:schemeClr val="tx1"/>
                        </a:solidFill>
                      </a:endParaRPr>
                    </a:p>
                  </a:txBody>
                  <a:tcPr/>
                </a:tc>
                <a:tc>
                  <a:txBody>
                    <a:bodyPr/>
                    <a:lstStyle/>
                    <a:p>
                      <a:pPr algn="r"/>
                      <a:r>
                        <a:rPr lang="en-US" dirty="0">
                          <a:solidFill>
                            <a:schemeClr val="tx1"/>
                          </a:solidFill>
                        </a:rPr>
                        <a:t>1</a:t>
                      </a:r>
                    </a:p>
                  </a:txBody>
                  <a:tcPr/>
                </a:tc>
                <a:tc>
                  <a:txBody>
                    <a:bodyPr/>
                    <a:lstStyle/>
                    <a:p>
                      <a:pPr algn="r"/>
                      <a:r>
                        <a:rPr lang="en-US" altLang="zh-CN" dirty="0">
                          <a:solidFill>
                            <a:schemeClr val="tx1"/>
                          </a:solidFill>
                        </a:rPr>
                        <a:t>3</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1</a:t>
                      </a: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3</a:t>
                      </a:r>
                      <a:endParaRPr lang="en-US" baseline="30000"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1</a:t>
                      </a: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3399895290"/>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F1B59-79DC-106C-228B-EBE81B0F2B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0F62E-1AB9-3B3E-5F25-073059F42A49}"/>
              </a:ext>
            </a:extLst>
          </p:cNvPr>
          <p:cNvSpPr>
            <a:spLocks noGrp="1"/>
          </p:cNvSpPr>
          <p:nvPr>
            <p:ph type="title"/>
          </p:nvPr>
        </p:nvSpPr>
        <p:spPr/>
        <p:txBody>
          <a:bodyPr/>
          <a:lstStyle/>
          <a:p>
            <a:r>
              <a:rPr lang="en-GB" dirty="0"/>
              <a:t>Scheduling with Bursts II ANS</a:t>
            </a:r>
            <a:endParaRPr lang="en-SE" dirty="0"/>
          </a:p>
        </p:txBody>
      </p:sp>
      <p:graphicFrame>
        <p:nvGraphicFramePr>
          <p:cNvPr id="8" name="表格 6">
            <a:extLst>
              <a:ext uri="{FF2B5EF4-FFF2-40B4-BE49-F238E27FC236}">
                <a16:creationId xmlns:a16="http://schemas.microsoft.com/office/drawing/2014/main" id="{968E9BB6-E529-9B2B-2A75-0498D438F58D}"/>
              </a:ext>
            </a:extLst>
          </p:cNvPr>
          <p:cNvGraphicFramePr>
            <a:graphicFrameLocks noGrp="1"/>
          </p:cNvGraphicFramePr>
          <p:nvPr>
            <p:extLst>
              <p:ext uri="{D42A27DB-BD31-4B8C-83A1-F6EECF244321}">
                <p14:modId xmlns:p14="http://schemas.microsoft.com/office/powerpoint/2010/main" val="693476059"/>
              </p:ext>
            </p:extLst>
          </p:nvPr>
        </p:nvGraphicFramePr>
        <p:xfrm>
          <a:off x="2893897" y="729069"/>
          <a:ext cx="7240701" cy="237744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746193">
                  <a:extLst>
                    <a:ext uri="{9D8B030D-6E8A-4147-A177-3AD203B41FA5}">
                      <a16:colId xmlns:a16="http://schemas.microsoft.com/office/drawing/2014/main" val="3850674632"/>
                    </a:ext>
                  </a:extLst>
                </a:gridCol>
                <a:gridCol w="982418">
                  <a:extLst>
                    <a:ext uri="{9D8B030D-6E8A-4147-A177-3AD203B41FA5}">
                      <a16:colId xmlns:a16="http://schemas.microsoft.com/office/drawing/2014/main" val="3306942541"/>
                    </a:ext>
                  </a:extLst>
                </a:gridCol>
                <a:gridCol w="982418">
                  <a:extLst>
                    <a:ext uri="{9D8B030D-6E8A-4147-A177-3AD203B41FA5}">
                      <a16:colId xmlns:a16="http://schemas.microsoft.com/office/drawing/2014/main" val="3517187588"/>
                    </a:ext>
                  </a:extLst>
                </a:gridCol>
                <a:gridCol w="982418">
                  <a:extLst>
                    <a:ext uri="{9D8B030D-6E8A-4147-A177-3AD203B41FA5}">
                      <a16:colId xmlns:a16="http://schemas.microsoft.com/office/drawing/2014/main" val="2248621"/>
                    </a:ext>
                  </a:extLst>
                </a:gridCol>
                <a:gridCol w="982418">
                  <a:extLst>
                    <a:ext uri="{9D8B030D-6E8A-4147-A177-3AD203B41FA5}">
                      <a16:colId xmlns:a16="http://schemas.microsoft.com/office/drawing/2014/main" val="2712044097"/>
                    </a:ext>
                  </a:extLst>
                </a:gridCol>
                <a:gridCol w="982418">
                  <a:extLst>
                    <a:ext uri="{9D8B030D-6E8A-4147-A177-3AD203B41FA5}">
                      <a16:colId xmlns:a16="http://schemas.microsoft.com/office/drawing/2014/main" val="3323698870"/>
                    </a:ext>
                  </a:extLst>
                </a:gridCol>
                <a:gridCol w="982418">
                  <a:extLst>
                    <a:ext uri="{9D8B030D-6E8A-4147-A177-3AD203B41FA5}">
                      <a16:colId xmlns:a16="http://schemas.microsoft.com/office/drawing/2014/main" val="3121262138"/>
                    </a:ext>
                  </a:extLst>
                </a:gridCol>
              </a:tblGrid>
              <a:tr h="7695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Priority</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Finish Time</a:t>
                      </a:r>
                      <a:endParaRPr lang="en-US" b="0" dirty="0">
                        <a:solidFill>
                          <a:schemeClr val="tx1"/>
                        </a:solidFill>
                      </a:endParaRPr>
                    </a:p>
                    <a:p>
                      <a:pPr algn="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Resp.  Time</a:t>
                      </a:r>
                      <a:endParaRPr lang="en-US" b="0" dirty="0">
                        <a:solidFill>
                          <a:schemeClr val="tx1"/>
                        </a:solidFill>
                      </a:endParaRPr>
                    </a:p>
                    <a:p>
                      <a:pPr algn="r"/>
                      <a:endParaRPr lang="en-US" b="0" dirty="0">
                        <a:solidFill>
                          <a:schemeClr val="tx1"/>
                        </a:solidFill>
                      </a:endParaRP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1</a:t>
                      </a:r>
                      <a:endParaRPr lang="en-US" strike="noStrike" dirty="0">
                        <a:solidFill>
                          <a:schemeClr val="tx1"/>
                        </a:solidFill>
                      </a:endParaRPr>
                    </a:p>
                  </a:txBody>
                  <a:tcPr/>
                </a:tc>
                <a:tc>
                  <a:txBody>
                    <a:bodyPr/>
                    <a:lstStyle/>
                    <a:p>
                      <a:pPr algn="r"/>
                      <a:r>
                        <a:rPr lang="en-US" dirty="0">
                          <a:solidFill>
                            <a:schemeClr val="tx1"/>
                          </a:solidFill>
                        </a:rPr>
                        <a:t>5</a:t>
                      </a: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10</a:t>
                      </a: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2</a:t>
                      </a:r>
                      <a:endParaRPr lang="en-US" baseline="0" dirty="0">
                        <a:solidFill>
                          <a:schemeClr val="tx1"/>
                        </a:solidFill>
                      </a:endParaRPr>
                    </a:p>
                  </a:txBody>
                  <a:tcPr/>
                </a:tc>
                <a:tc>
                  <a:txBody>
                    <a:bodyPr/>
                    <a:lstStyle/>
                    <a:p>
                      <a:pPr algn="r"/>
                      <a:r>
                        <a:rPr lang="en-US" dirty="0">
                          <a:solidFill>
                            <a:schemeClr val="tx1"/>
                          </a:solidFill>
                        </a:rPr>
                        <a:t>1</a:t>
                      </a:r>
                    </a:p>
                  </a:txBody>
                  <a:tcPr/>
                </a:tc>
                <a:tc>
                  <a:txBody>
                    <a:bodyPr/>
                    <a:lstStyle/>
                    <a:p>
                      <a:pPr algn="r"/>
                      <a:r>
                        <a:rPr lang="en-US" altLang="zh-CN" dirty="0">
                          <a:solidFill>
                            <a:schemeClr val="tx1"/>
                          </a:solidFill>
                        </a:rPr>
                        <a:t>3</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15</a:t>
                      </a:r>
                    </a:p>
                  </a:txBody>
                  <a:tcPr/>
                </a:tc>
                <a:tc>
                  <a:txBody>
                    <a:bodyPr/>
                    <a:lstStyle/>
                    <a:p>
                      <a:pPr algn="r"/>
                      <a:r>
                        <a:rPr lang="en-US" dirty="0">
                          <a:solidFill>
                            <a:schemeClr val="tx1"/>
                          </a:solidFill>
                        </a:rPr>
                        <a:t>13</a:t>
                      </a: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3</a:t>
                      </a:r>
                      <a:endParaRPr lang="en-US" baseline="30000"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9</a:t>
                      </a:r>
                    </a:p>
                  </a:txBody>
                  <a:tcPr/>
                </a:tc>
                <a:tc>
                  <a:txBody>
                    <a:bodyPr/>
                    <a:lstStyle/>
                    <a:p>
                      <a:pPr algn="r"/>
                      <a:r>
                        <a:rPr lang="en-US" dirty="0">
                          <a:solidFill>
                            <a:schemeClr val="tx1"/>
                          </a:solidFill>
                        </a:rPr>
                        <a:t>6</a:t>
                      </a: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algn="r"/>
                      <a:r>
                        <a:rPr lang="en-US" dirty="0">
                          <a:solidFill>
                            <a:schemeClr val="tx1"/>
                          </a:solidFill>
                        </a:rPr>
                        <a:t>9.67</a:t>
                      </a:r>
                    </a:p>
                  </a:txBody>
                  <a:tcPr/>
                </a:tc>
                <a:extLst>
                  <a:ext uri="{0D108BD9-81ED-4DB2-BD59-A6C34878D82A}">
                    <a16:rowId xmlns:a16="http://schemas.microsoft.com/office/drawing/2014/main" val="2879113726"/>
                  </a:ext>
                </a:extLst>
              </a:tr>
            </a:tbl>
          </a:graphicData>
        </a:graphic>
      </p:graphicFrame>
      <p:pic>
        <p:nvPicPr>
          <p:cNvPr id="5" name="Picture 4">
            <a:extLst>
              <a:ext uri="{FF2B5EF4-FFF2-40B4-BE49-F238E27FC236}">
                <a16:creationId xmlns:a16="http://schemas.microsoft.com/office/drawing/2014/main" id="{5292D9CA-3F46-7480-1917-67323BB07F35}"/>
              </a:ext>
            </a:extLst>
          </p:cNvPr>
          <p:cNvPicPr>
            <a:picLocks noChangeAspect="1"/>
          </p:cNvPicPr>
          <p:nvPr/>
        </p:nvPicPr>
        <p:blipFill>
          <a:blip r:embed="rId3"/>
          <a:stretch>
            <a:fillRect/>
          </a:stretch>
        </p:blipFill>
        <p:spPr>
          <a:xfrm>
            <a:off x="368967" y="3106509"/>
            <a:ext cx="7757310" cy="3708222"/>
          </a:xfrm>
          <a:prstGeom prst="rect">
            <a:avLst/>
          </a:prstGeom>
        </p:spPr>
      </p:pic>
      <p:sp>
        <p:nvSpPr>
          <p:cNvPr id="9" name="TextBox 8">
            <a:extLst>
              <a:ext uri="{FF2B5EF4-FFF2-40B4-BE49-F238E27FC236}">
                <a16:creationId xmlns:a16="http://schemas.microsoft.com/office/drawing/2014/main" id="{79B54355-4DCE-7321-DDD8-CADA9D68D457}"/>
              </a:ext>
            </a:extLst>
          </p:cNvPr>
          <p:cNvSpPr txBox="1"/>
          <p:nvPr/>
        </p:nvSpPr>
        <p:spPr>
          <a:xfrm>
            <a:off x="3493167" y="4087472"/>
            <a:ext cx="417102" cy="369332"/>
          </a:xfrm>
          <a:prstGeom prst="rect">
            <a:avLst/>
          </a:prstGeom>
          <a:noFill/>
        </p:spPr>
        <p:txBody>
          <a:bodyPr wrap="none" rtlCol="0">
            <a:spAutoFit/>
          </a:bodyPr>
          <a:lstStyle/>
          <a:p>
            <a:r>
              <a:rPr lang="en-GB" dirty="0">
                <a:solidFill>
                  <a:srgbClr val="C00000"/>
                </a:solidFill>
                <a:latin typeface="Gill Sans Light"/>
              </a:rPr>
              <a:t>IO</a:t>
            </a:r>
            <a:endParaRPr lang="en-SE" dirty="0">
              <a:solidFill>
                <a:srgbClr val="C00000"/>
              </a:solidFill>
              <a:latin typeface="Gill Sans Light"/>
            </a:endParaRPr>
          </a:p>
        </p:txBody>
      </p:sp>
      <p:sp>
        <p:nvSpPr>
          <p:cNvPr id="10" name="TextBox 9">
            <a:extLst>
              <a:ext uri="{FF2B5EF4-FFF2-40B4-BE49-F238E27FC236}">
                <a16:creationId xmlns:a16="http://schemas.microsoft.com/office/drawing/2014/main" id="{4877B267-5D1C-BD8A-C029-3FCF0B267CA2}"/>
              </a:ext>
            </a:extLst>
          </p:cNvPr>
          <p:cNvSpPr txBox="1"/>
          <p:nvPr/>
        </p:nvSpPr>
        <p:spPr>
          <a:xfrm>
            <a:off x="5967663" y="4403192"/>
            <a:ext cx="417102" cy="369332"/>
          </a:xfrm>
          <a:prstGeom prst="rect">
            <a:avLst/>
          </a:prstGeom>
          <a:noFill/>
        </p:spPr>
        <p:txBody>
          <a:bodyPr wrap="none" rtlCol="0">
            <a:spAutoFit/>
          </a:bodyPr>
          <a:lstStyle/>
          <a:p>
            <a:r>
              <a:rPr lang="en-GB" dirty="0">
                <a:solidFill>
                  <a:srgbClr val="C00000"/>
                </a:solidFill>
                <a:latin typeface="Gill Sans Light"/>
              </a:rPr>
              <a:t>IO</a:t>
            </a:r>
            <a:endParaRPr lang="en-SE" dirty="0">
              <a:solidFill>
                <a:srgbClr val="C00000"/>
              </a:solidFill>
              <a:latin typeface="Gill Sans Light"/>
            </a:endParaRPr>
          </a:p>
        </p:txBody>
      </p:sp>
      <p:sp>
        <p:nvSpPr>
          <p:cNvPr id="13" name="TextBox 12">
            <a:extLst>
              <a:ext uri="{FF2B5EF4-FFF2-40B4-BE49-F238E27FC236}">
                <a16:creationId xmlns:a16="http://schemas.microsoft.com/office/drawing/2014/main" id="{B48045AB-DEC0-D726-91DD-6210B113E1A5}"/>
              </a:ext>
            </a:extLst>
          </p:cNvPr>
          <p:cNvSpPr txBox="1"/>
          <p:nvPr/>
        </p:nvSpPr>
        <p:spPr>
          <a:xfrm>
            <a:off x="4852735" y="6039852"/>
            <a:ext cx="417102" cy="369332"/>
          </a:xfrm>
          <a:prstGeom prst="rect">
            <a:avLst/>
          </a:prstGeom>
          <a:noFill/>
        </p:spPr>
        <p:txBody>
          <a:bodyPr wrap="none" rtlCol="0">
            <a:spAutoFit/>
          </a:bodyPr>
          <a:lstStyle/>
          <a:p>
            <a:r>
              <a:rPr lang="en-GB" dirty="0">
                <a:solidFill>
                  <a:srgbClr val="C00000"/>
                </a:solidFill>
                <a:latin typeface="Gill Sans Light"/>
              </a:rPr>
              <a:t>IO</a:t>
            </a:r>
            <a:endParaRPr lang="en-SE" dirty="0">
              <a:solidFill>
                <a:srgbClr val="C00000"/>
              </a:solidFill>
              <a:latin typeface="Gill Sans Light"/>
            </a:endParaRPr>
          </a:p>
        </p:txBody>
      </p:sp>
      <p:cxnSp>
        <p:nvCxnSpPr>
          <p:cNvPr id="15" name="Straight Arrow Connector 14">
            <a:extLst>
              <a:ext uri="{FF2B5EF4-FFF2-40B4-BE49-F238E27FC236}">
                <a16:creationId xmlns:a16="http://schemas.microsoft.com/office/drawing/2014/main" id="{1C7317A9-87F8-388A-FE67-6BBBF47F8873}"/>
              </a:ext>
            </a:extLst>
          </p:cNvPr>
          <p:cNvCxnSpPr>
            <a:cxnSpLocks/>
          </p:cNvCxnSpPr>
          <p:nvPr/>
        </p:nvCxnSpPr>
        <p:spPr bwMode="auto">
          <a:xfrm flipV="1">
            <a:off x="521367" y="3971349"/>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21" name="TextBox 20">
            <a:extLst>
              <a:ext uri="{FF2B5EF4-FFF2-40B4-BE49-F238E27FC236}">
                <a16:creationId xmlns:a16="http://schemas.microsoft.com/office/drawing/2014/main" id="{4ACC4C2C-A5C5-6247-F70A-B4ABB7CBC6D7}"/>
              </a:ext>
            </a:extLst>
          </p:cNvPr>
          <p:cNvSpPr txBox="1"/>
          <p:nvPr/>
        </p:nvSpPr>
        <p:spPr>
          <a:xfrm>
            <a:off x="-16042" y="4403192"/>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22" name="Straight Arrow Connector 21">
            <a:extLst>
              <a:ext uri="{FF2B5EF4-FFF2-40B4-BE49-F238E27FC236}">
                <a16:creationId xmlns:a16="http://schemas.microsoft.com/office/drawing/2014/main" id="{E4C6931C-1B28-18B1-6CDE-25362E697EE4}"/>
              </a:ext>
            </a:extLst>
          </p:cNvPr>
          <p:cNvCxnSpPr>
            <a:cxnSpLocks/>
          </p:cNvCxnSpPr>
          <p:nvPr/>
        </p:nvCxnSpPr>
        <p:spPr bwMode="auto">
          <a:xfrm flipV="1">
            <a:off x="2221072" y="3960681"/>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23" name="TextBox 22">
            <a:extLst>
              <a:ext uri="{FF2B5EF4-FFF2-40B4-BE49-F238E27FC236}">
                <a16:creationId xmlns:a16="http://schemas.microsoft.com/office/drawing/2014/main" id="{EB06616C-E11C-8C5E-807D-F38530638942}"/>
              </a:ext>
            </a:extLst>
          </p:cNvPr>
          <p:cNvSpPr txBox="1"/>
          <p:nvPr/>
        </p:nvSpPr>
        <p:spPr>
          <a:xfrm>
            <a:off x="1683663" y="4392524"/>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cxnSp>
        <p:nvCxnSpPr>
          <p:cNvPr id="24" name="Straight Arrow Connector 23">
            <a:extLst>
              <a:ext uri="{FF2B5EF4-FFF2-40B4-BE49-F238E27FC236}">
                <a16:creationId xmlns:a16="http://schemas.microsoft.com/office/drawing/2014/main" id="{FF7722BC-D0CB-EFCA-8C92-822654AA12C6}"/>
              </a:ext>
            </a:extLst>
          </p:cNvPr>
          <p:cNvCxnSpPr>
            <a:cxnSpLocks/>
          </p:cNvCxnSpPr>
          <p:nvPr/>
        </p:nvCxnSpPr>
        <p:spPr bwMode="auto">
          <a:xfrm flipV="1">
            <a:off x="3030729" y="4029970"/>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25" name="TextBox 24">
            <a:extLst>
              <a:ext uri="{FF2B5EF4-FFF2-40B4-BE49-F238E27FC236}">
                <a16:creationId xmlns:a16="http://schemas.microsoft.com/office/drawing/2014/main" id="{BE718C5C-8DCF-62FE-2355-FFE78D3E3A9F}"/>
              </a:ext>
            </a:extLst>
          </p:cNvPr>
          <p:cNvSpPr txBox="1"/>
          <p:nvPr/>
        </p:nvSpPr>
        <p:spPr>
          <a:xfrm>
            <a:off x="2473811" y="459529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P3 arrival</a:t>
            </a:r>
            <a:endParaRPr lang="en-SE" dirty="0">
              <a:solidFill>
                <a:schemeClr val="accent1">
                  <a:lumMod val="75000"/>
                </a:schemeClr>
              </a:solidFill>
              <a:latin typeface="Gill Sans Light"/>
            </a:endParaRPr>
          </a:p>
        </p:txBody>
      </p:sp>
      <p:sp>
        <p:nvSpPr>
          <p:cNvPr id="3" name="Content Placeholder 2">
            <a:extLst>
              <a:ext uri="{FF2B5EF4-FFF2-40B4-BE49-F238E27FC236}">
                <a16:creationId xmlns:a16="http://schemas.microsoft.com/office/drawing/2014/main" id="{2E0BCE77-CEF0-E37B-CD3F-9F0F08413A90}"/>
              </a:ext>
            </a:extLst>
          </p:cNvPr>
          <p:cNvSpPr>
            <a:spLocks noGrp="1"/>
          </p:cNvSpPr>
          <p:nvPr>
            <p:ph idx="1"/>
          </p:nvPr>
        </p:nvSpPr>
        <p:spPr>
          <a:xfrm>
            <a:off x="8394038" y="3306775"/>
            <a:ext cx="3654568" cy="3322625"/>
          </a:xfrm>
        </p:spPr>
        <p:style>
          <a:lnRef idx="1">
            <a:schemeClr val="dk1"/>
          </a:lnRef>
          <a:fillRef idx="2">
            <a:schemeClr val="dk1"/>
          </a:fillRef>
          <a:effectRef idx="1">
            <a:schemeClr val="dk1"/>
          </a:effectRef>
          <a:fontRef idx="minor">
            <a:schemeClr val="dk1"/>
          </a:fontRef>
        </p:style>
        <p:txBody>
          <a:bodyPr>
            <a:normAutofit lnSpcReduction="10000"/>
          </a:bodyPr>
          <a:lstStyle/>
          <a:p>
            <a:pPr marL="0" indent="0">
              <a:buNone/>
            </a:pPr>
            <a:r>
              <a:rPr lang="en-GB" sz="2400" dirty="0"/>
              <a:t>For fixed-priority scheduling, draw the Gantt chart starting from highest priority process and go down to the lowest priority (first P3, then P1, then P2). Schedule CPU bursts of lower priority processes in the remaining time slots that are left over by higher priority processes.</a:t>
            </a:r>
            <a:endParaRPr lang="en-SE" sz="2400" dirty="0"/>
          </a:p>
        </p:txBody>
      </p:sp>
    </p:spTree>
    <p:extLst>
      <p:ext uri="{BB962C8B-B14F-4D97-AF65-F5344CB8AC3E}">
        <p14:creationId xmlns:p14="http://schemas.microsoft.com/office/powerpoint/2010/main" val="570477452"/>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98747</TotalTime>
  <Pages>60</Pages>
  <Words>2039</Words>
  <Application>Microsoft Office PowerPoint</Application>
  <PresentationFormat>Widescreen</PresentationFormat>
  <Paragraphs>648</Paragraphs>
  <Slides>15</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fkGroteskNeue</vt:lpstr>
      <vt:lpstr>Gill Sans</vt:lpstr>
      <vt:lpstr>Gill Sans Light</vt:lpstr>
      <vt:lpstr>Comic Sans MS</vt:lpstr>
      <vt:lpstr>Symbol</vt:lpstr>
      <vt:lpstr>Office</vt:lpstr>
      <vt:lpstr>CSC 112: Computer Operating Systems Lecture 5   Scheduling Exercises Solution</vt:lpstr>
      <vt:lpstr>Predicting Burst Time</vt:lpstr>
      <vt:lpstr>Predicting Burst Time ANS</vt:lpstr>
      <vt:lpstr>Scheduling</vt:lpstr>
      <vt:lpstr>Scheduling I</vt:lpstr>
      <vt:lpstr>Scheduling I ANS</vt:lpstr>
      <vt:lpstr>Scheduling II</vt:lpstr>
      <vt:lpstr>Scheduling II ANS</vt:lpstr>
      <vt:lpstr>Scheduling II ANS</vt:lpstr>
      <vt:lpstr>Scheduling III</vt:lpstr>
      <vt:lpstr>Scheduling III ANS</vt:lpstr>
      <vt:lpstr>Scheduling with Bursts I</vt:lpstr>
      <vt:lpstr>Scheduling with Bursts I ANS</vt:lpstr>
      <vt:lpstr>Scheduling with Bursts II</vt:lpstr>
      <vt:lpstr>Scheduling with Bursts ANS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1111</cp:revision>
  <cp:lastPrinted>2022-03-15T20:14:46Z</cp:lastPrinted>
  <dcterms:created xsi:type="dcterms:W3CDTF">1995-08-12T11:37:26Z</dcterms:created>
  <dcterms:modified xsi:type="dcterms:W3CDTF">2025-10-03T00:44:13Z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