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p:sldMasterIdLst>
    <p:sldMasterId id="2147483648" r:id="rId1"/>
  </p:sldMasterIdLst>
  <p:notesMasterIdLst>
    <p:notesMasterId r:id="rId17"/>
  </p:notesMasterIdLst>
  <p:handoutMasterIdLst>
    <p:handoutMasterId r:id="rId18"/>
  </p:handoutMasterIdLst>
  <p:sldIdLst>
    <p:sldId id="256" r:id="rId2"/>
    <p:sldId id="1509" r:id="rId3"/>
    <p:sldId id="1501" r:id="rId4"/>
    <p:sldId id="1493" r:id="rId5"/>
    <p:sldId id="1488" r:id="rId6"/>
    <p:sldId id="1494" r:id="rId7"/>
    <p:sldId id="1497" r:id="rId8"/>
    <p:sldId id="1499" r:id="rId9"/>
    <p:sldId id="1508" r:id="rId10"/>
    <p:sldId id="1507" r:id="rId11"/>
    <p:sldId id="1506" r:id="rId12"/>
    <p:sldId id="1502" r:id="rId13"/>
    <p:sldId id="1505" r:id="rId14"/>
    <p:sldId id="1504" r:id="rId15"/>
    <p:sldId id="1503" r:id="rId16"/>
  </p:sldIdLst>
  <p:sldSz cx="12192000" cy="6858000"/>
  <p:notesSz cx="9601200" cy="7315200"/>
  <p:kinsoku lang="ja-JP" invalStChars="、。，．・：；？！゛゜ヽヾゝゞ々ー’”）〕］｝〉》」』】°‰′″℃￠％ぁぃぅぇぉっゃゅょゎァィゥェォッャュョヮヵヶ!%),.:;?]}｡｣､･ｧｨｩｪｫｬｭｮｯｰﾞﾟ" invalEndChars="‘“（〔［｛〈《「『【￥＄$([\{｢￡"/>
  <p:defaultTextStyle>
    <a:defPPr>
      <a:defRPr lang="en-US"/>
    </a:defPPr>
    <a:lvl1pPr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1pPr>
    <a:lvl2pPr marL="4572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2pPr>
    <a:lvl3pPr marL="9144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3pPr>
    <a:lvl4pPr marL="13716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4pPr>
    <a:lvl5pPr marL="1828800" algn="l" rtl="0" eaLnBrk="0" fontAlgn="base" hangingPunct="0">
      <a:spcBef>
        <a:spcPct val="0"/>
      </a:spcBef>
      <a:spcAft>
        <a:spcPct val="0"/>
      </a:spcAft>
      <a:defRPr b="1" kern="1200">
        <a:solidFill>
          <a:schemeClr val="tx1"/>
        </a:solidFill>
        <a:latin typeface="Comic Sans MS" charset="0"/>
        <a:ea typeface="ＭＳ Ｐゴシック" charset="0"/>
        <a:cs typeface="ＭＳ Ｐゴシック" charset="0"/>
      </a:defRPr>
    </a:lvl5pPr>
    <a:lvl6pPr marL="2286000" algn="l" defTabSz="457200" rtl="0" eaLnBrk="1" latinLnBrk="0" hangingPunct="1">
      <a:defRPr b="1" kern="1200">
        <a:solidFill>
          <a:schemeClr val="tx1"/>
        </a:solidFill>
        <a:latin typeface="Comic Sans MS" charset="0"/>
        <a:ea typeface="ＭＳ Ｐゴシック" charset="0"/>
        <a:cs typeface="ＭＳ Ｐゴシック" charset="0"/>
      </a:defRPr>
    </a:lvl6pPr>
    <a:lvl7pPr marL="2743200" algn="l" defTabSz="457200" rtl="0" eaLnBrk="1" latinLnBrk="0" hangingPunct="1">
      <a:defRPr b="1" kern="1200">
        <a:solidFill>
          <a:schemeClr val="tx1"/>
        </a:solidFill>
        <a:latin typeface="Comic Sans MS" charset="0"/>
        <a:ea typeface="ＭＳ Ｐゴシック" charset="0"/>
        <a:cs typeface="ＭＳ Ｐゴシック" charset="0"/>
      </a:defRPr>
    </a:lvl7pPr>
    <a:lvl8pPr marL="3200400" algn="l" defTabSz="457200" rtl="0" eaLnBrk="1" latinLnBrk="0" hangingPunct="1">
      <a:defRPr b="1" kern="1200">
        <a:solidFill>
          <a:schemeClr val="tx1"/>
        </a:solidFill>
        <a:latin typeface="Comic Sans MS" charset="0"/>
        <a:ea typeface="ＭＳ Ｐゴシック" charset="0"/>
        <a:cs typeface="ＭＳ Ｐゴシック" charset="0"/>
      </a:defRPr>
    </a:lvl8pPr>
    <a:lvl9pPr marL="3657600" algn="l" defTabSz="457200" rtl="0" eaLnBrk="1" latinLnBrk="0" hangingPunct="1">
      <a:defRPr b="1" kern="1200">
        <a:solidFill>
          <a:schemeClr val="tx1"/>
        </a:solidFill>
        <a:latin typeface="Comic Sans MS"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hiddenSlides="1"/>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BCFFBC"/>
    <a:srgbClr val="FFFFAA"/>
    <a:srgbClr val="FF0000"/>
    <a:srgbClr val="2A40E2"/>
    <a:srgbClr val="F430AB"/>
    <a:srgbClr val="A18623"/>
    <a:srgbClr val="9E7800"/>
    <a:srgbClr val="C49500"/>
    <a:srgbClr val="E6E703"/>
    <a:srgbClr val="72AAA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0945E83-6F55-4A9C-A9C1-CD1F7089783B}" v="7" dt="2025-10-03T00:44:00.89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878" autoAdjust="0"/>
    <p:restoredTop sz="78431" autoAdjust="0"/>
  </p:normalViewPr>
  <p:slideViewPr>
    <p:cSldViewPr>
      <p:cViewPr varScale="1">
        <p:scale>
          <a:sx n="83" d="100"/>
          <a:sy n="83" d="100"/>
        </p:scale>
        <p:origin x="1254" y="90"/>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1315"/>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custSel modSld">
      <pc:chgData name="Zonghua Gu" userId="9a7e1853e1951ef5" providerId="LiveId" clId="{CF1FAA12-072C-4ED5-BA76-0FFFAEFDB88A}" dt="2025-10-03T00:44:10.102" v="278" actId="20577"/>
      <pc:docMkLst>
        <pc:docMk/>
      </pc:docMkLst>
      <pc:sldChg chg="addSp modSp mod">
        <pc:chgData name="Zonghua Gu" userId="9a7e1853e1951ef5" providerId="LiveId" clId="{CF1FAA12-072C-4ED5-BA76-0FFFAEFDB88A}" dt="2025-10-03T00:44:10.102" v="278" actId="20577"/>
        <pc:sldMkLst>
          <pc:docMk/>
          <pc:sldMk cId="4004612482" sldId="1505"/>
        </pc:sldMkLst>
        <pc:spChg chg="mod">
          <ac:chgData name="Zonghua Gu" userId="9a7e1853e1951ef5" providerId="LiveId" clId="{CF1FAA12-072C-4ED5-BA76-0FFFAEFDB88A}" dt="2025-10-03T00:42:24.075" v="218" actId="1076"/>
          <ac:spMkLst>
            <pc:docMk/>
            <pc:sldMk cId="4004612482" sldId="1505"/>
            <ac:spMk id="2" creationId="{F6CA6576-C415-5FE8-27A3-075448AAE703}"/>
          </ac:spMkLst>
        </pc:spChg>
        <pc:spChg chg="add mod">
          <ac:chgData name="Zonghua Gu" userId="9a7e1853e1951ef5" providerId="LiveId" clId="{CF1FAA12-072C-4ED5-BA76-0FFFAEFDB88A}" dt="2025-10-03T00:44:10.102" v="278" actId="20577"/>
          <ac:spMkLst>
            <pc:docMk/>
            <pc:sldMk cId="4004612482" sldId="1505"/>
            <ac:spMk id="3" creationId="{F13E486A-E64F-A8E0-CD86-0195293CF369}"/>
          </ac:spMkLst>
        </pc:spChg>
        <pc:spChg chg="mod">
          <ac:chgData name="Zonghua Gu" userId="9a7e1853e1951ef5" providerId="LiveId" clId="{CF1FAA12-072C-4ED5-BA76-0FFFAEFDB88A}" dt="2025-10-03T00:36:19.490" v="10" actId="1035"/>
          <ac:spMkLst>
            <pc:docMk/>
            <pc:sldMk cId="4004612482" sldId="1505"/>
            <ac:spMk id="9" creationId="{53D9FB4D-71DC-9670-0457-FF52A713A203}"/>
          </ac:spMkLst>
        </pc:spChg>
        <pc:spChg chg="mod">
          <ac:chgData name="Zonghua Gu" userId="9a7e1853e1951ef5" providerId="LiveId" clId="{CF1FAA12-072C-4ED5-BA76-0FFFAEFDB88A}" dt="2025-10-03T00:36:19.490" v="10" actId="1035"/>
          <ac:spMkLst>
            <pc:docMk/>
            <pc:sldMk cId="4004612482" sldId="1505"/>
            <ac:spMk id="10" creationId="{F3171692-EFA5-CFE4-4CF5-CF2C4418DF45}"/>
          </ac:spMkLst>
        </pc:spChg>
        <pc:spChg chg="mod">
          <ac:chgData name="Zonghua Gu" userId="9a7e1853e1951ef5" providerId="LiveId" clId="{CF1FAA12-072C-4ED5-BA76-0FFFAEFDB88A}" dt="2025-10-03T00:36:19.490" v="10" actId="1035"/>
          <ac:spMkLst>
            <pc:docMk/>
            <pc:sldMk cId="4004612482" sldId="1505"/>
            <ac:spMk id="11" creationId="{76DE50C5-903D-4D23-21EF-EBB55CE240B5}"/>
          </ac:spMkLst>
        </pc:spChg>
        <pc:spChg chg="mod">
          <ac:chgData name="Zonghua Gu" userId="9a7e1853e1951ef5" providerId="LiveId" clId="{CF1FAA12-072C-4ED5-BA76-0FFFAEFDB88A}" dt="2025-10-03T00:36:19.490" v="10" actId="1035"/>
          <ac:spMkLst>
            <pc:docMk/>
            <pc:sldMk cId="4004612482" sldId="1505"/>
            <ac:spMk id="12" creationId="{7608CC1D-A3E7-BE0E-CAF3-96BEBCB4E3E8}"/>
          </ac:spMkLst>
        </pc:spChg>
        <pc:spChg chg="mod">
          <ac:chgData name="Zonghua Gu" userId="9a7e1853e1951ef5" providerId="LiveId" clId="{CF1FAA12-072C-4ED5-BA76-0FFFAEFDB88A}" dt="2025-10-03T00:36:19.490" v="10" actId="1035"/>
          <ac:spMkLst>
            <pc:docMk/>
            <pc:sldMk cId="4004612482" sldId="1505"/>
            <ac:spMk id="13" creationId="{0845DE8D-CC0E-117A-8D00-6CF38CD9A132}"/>
          </ac:spMkLst>
        </pc:spChg>
        <pc:spChg chg="mod">
          <ac:chgData name="Zonghua Gu" userId="9a7e1853e1951ef5" providerId="LiveId" clId="{CF1FAA12-072C-4ED5-BA76-0FFFAEFDB88A}" dt="2025-10-03T00:36:19.490" v="10" actId="1035"/>
          <ac:spMkLst>
            <pc:docMk/>
            <pc:sldMk cId="4004612482" sldId="1505"/>
            <ac:spMk id="14" creationId="{41536FF2-CA6F-0D44-E8FF-57BF3E908801}"/>
          </ac:spMkLst>
        </pc:spChg>
        <pc:spChg chg="mod">
          <ac:chgData name="Zonghua Gu" userId="9a7e1853e1951ef5" providerId="LiveId" clId="{CF1FAA12-072C-4ED5-BA76-0FFFAEFDB88A}" dt="2025-10-03T00:36:19.490" v="10" actId="1035"/>
          <ac:spMkLst>
            <pc:docMk/>
            <pc:sldMk cId="4004612482" sldId="1505"/>
            <ac:spMk id="18" creationId="{5002EA4D-95EF-7455-DE42-02F716EBEBB1}"/>
          </ac:spMkLst>
        </pc:spChg>
        <pc:graphicFrameChg chg="mod">
          <ac:chgData name="Zonghua Gu" userId="9a7e1853e1951ef5" providerId="LiveId" clId="{CF1FAA12-072C-4ED5-BA76-0FFFAEFDB88A}" dt="2025-10-03T00:36:05.799" v="0" actId="1076"/>
          <ac:graphicFrameMkLst>
            <pc:docMk/>
            <pc:sldMk cId="4004612482" sldId="1505"/>
            <ac:graphicFrameMk id="8" creationId="{645EE26D-01F6-37BB-34ED-7BFA54544EA8}"/>
          </ac:graphicFrameMkLst>
        </pc:graphicFrameChg>
        <pc:picChg chg="mod">
          <ac:chgData name="Zonghua Gu" userId="9a7e1853e1951ef5" providerId="LiveId" clId="{CF1FAA12-072C-4ED5-BA76-0FFFAEFDB88A}" dt="2025-10-03T00:36:19.490" v="10" actId="1035"/>
          <ac:picMkLst>
            <pc:docMk/>
            <pc:sldMk cId="4004612482" sldId="1505"/>
            <ac:picMk id="7" creationId="{7B211E08-18A4-0B53-A853-D44C622D5577}"/>
          </ac:picMkLst>
        </pc:picChg>
        <pc:cxnChg chg="mod">
          <ac:chgData name="Zonghua Gu" userId="9a7e1853e1951ef5" providerId="LiveId" clId="{CF1FAA12-072C-4ED5-BA76-0FFFAEFDB88A}" dt="2025-10-03T00:36:19.490" v="10" actId="1035"/>
          <ac:cxnSpMkLst>
            <pc:docMk/>
            <pc:sldMk cId="4004612482" sldId="1505"/>
            <ac:cxnSpMk id="17" creationId="{2FF0BD6F-0234-4008-71A8-EF8636D9A871}"/>
          </ac:cxnSpMkLst>
        </pc:cxn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ChangeArrowheads="1"/>
          </p:cNvSpPr>
          <p:nvPr/>
        </p:nvSpPr>
        <p:spPr bwMode="auto">
          <a:xfrm>
            <a:off x="4387622" y="6956427"/>
            <a:ext cx="827553" cy="274923"/>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latin typeface="Gill Sans Light" charset="0"/>
                <a:cs typeface="Gill Sans Light" charset="0"/>
              </a:rPr>
              <a:t>Page </a:t>
            </a:r>
            <a:fld id="{073744B8-EF17-EB47-B355-93F8159194C2}" type="slidenum">
              <a:rPr lang="en-US" sz="1300" b="0">
                <a:latin typeface="Gill Sans Light" charset="0"/>
                <a:cs typeface="Gill Sans Light" charset="0"/>
              </a:rPr>
              <a:pPr algn="ctr" defTabSz="917113">
                <a:lnSpc>
                  <a:spcPct val="90000"/>
                </a:lnSpc>
              </a:pPr>
              <a:t>‹#›</a:t>
            </a:fld>
            <a:endParaRPr lang="en-US" sz="1300" b="0">
              <a:latin typeface="Gill Sans Light" charset="0"/>
              <a:cs typeface="Gill Sans Light" charset="0"/>
            </a:endParaRPr>
          </a:p>
        </p:txBody>
      </p:sp>
    </p:spTree>
    <p:extLst>
      <p:ext uri="{BB962C8B-B14F-4D97-AF65-F5344CB8AC3E}">
        <p14:creationId xmlns:p14="http://schemas.microsoft.com/office/powerpoint/2010/main" val="71744498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ChangeArrowheads="1"/>
          </p:cNvSpPr>
          <p:nvPr/>
        </p:nvSpPr>
        <p:spPr bwMode="auto">
          <a:xfrm>
            <a:off x="4373194" y="6956427"/>
            <a:ext cx="856407" cy="274923"/>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2268" tIns="46975" rIns="92268" bIns="46975">
            <a:spAutoFit/>
          </a:bodyPr>
          <a:lstStyle/>
          <a:p>
            <a:pPr algn="ctr" defTabSz="917113">
              <a:lnSpc>
                <a:spcPct val="90000"/>
              </a:lnSpc>
            </a:pPr>
            <a:r>
              <a:rPr lang="en-US" sz="1300" b="0"/>
              <a:t>Page </a:t>
            </a:r>
            <a:fld id="{6D259941-7246-4245-A40C-55C6F952DF9E}" type="slidenum">
              <a:rPr lang="en-US" sz="1300" b="0"/>
              <a:pPr algn="ctr" defTabSz="917113">
                <a:lnSpc>
                  <a:spcPct val="90000"/>
                </a:lnSpc>
              </a:pPr>
              <a:t>‹#›</a:t>
            </a:fld>
            <a:endParaRPr lang="en-US" sz="1300" b="0"/>
          </a:p>
        </p:txBody>
      </p:sp>
      <p:sp>
        <p:nvSpPr>
          <p:cNvPr id="65539" name="Rectangle 3"/>
          <p:cNvSpPr>
            <a:spLocks noGrp="1" noRot="1" noChangeAspect="1" noChangeArrowheads="1" noTextEdit="1"/>
          </p:cNvSpPr>
          <p:nvPr>
            <p:ph type="sldImg" idx="2"/>
          </p:nvPr>
        </p:nvSpPr>
        <p:spPr bwMode="auto">
          <a:xfrm>
            <a:off x="2362200" y="547688"/>
            <a:ext cx="4876800" cy="2744787"/>
          </a:xfrm>
          <a:prstGeom prst="rect">
            <a:avLst/>
          </a:prstGeom>
          <a:noFill/>
          <a:ln w="12700">
            <a:solidFill>
              <a:schemeClr val="tx1"/>
            </a:solidFill>
            <a:miter lim="800000"/>
            <a:headEnd/>
            <a:tailEnd/>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rgbClr val="FFFFFF"/>
                </a:solidFill>
              </a14:hiddenFill>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 uri="{53640926-AAD7-44d8-BBD7-CCE9431645EC}">
              <a14:shadowObscured xmlns:a14="http://schemas.microsoft.com/office/drawing/2010/main" xmlns="" val="1"/>
            </a:ext>
          </a:extLst>
        </p:spPr>
      </p:sp>
      <p:sp>
        <p:nvSpPr>
          <p:cNvPr id="2052" name="Rectangle 4"/>
          <p:cNvSpPr>
            <a:spLocks noGrp="1" noChangeArrowheads="1"/>
          </p:cNvSpPr>
          <p:nvPr>
            <p:ph type="body" sz="quarter" idx="3"/>
          </p:nvPr>
        </p:nvSpPr>
        <p:spPr bwMode="auto">
          <a:xfrm>
            <a:off x="1281115" y="3475043"/>
            <a:ext cx="7038975" cy="329247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square" lIns="95622" tIns="46975" rIns="95622" bIns="46975" numCol="1" anchor="t" anchorCtr="0" compatLnSpc="1">
            <a:prstTxWarp prst="textNoShape">
              <a:avLst/>
            </a:prstTxWarp>
          </a:bodyPr>
          <a:lstStyle/>
          <a:p>
            <a:pPr lvl="0"/>
            <a:r>
              <a:rPr lang="en-US" noProof="0"/>
              <a:t>Body Text</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3885107729"/>
      </p:ext>
    </p:extLst>
  </p:cSld>
  <p:clrMap bg1="lt1" tx1="dk1" bg2="lt2" tx2="dk2" accent1="accent1" accent2="accent2" accent3="accent3" accent4="accent4" accent5="accent5" accent6="accent6" hlink="hlink" folHlink="folHlink"/>
  <p:notesStyle>
    <a:lvl1pPr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ＭＳ Ｐゴシック" charset="0"/>
      </a:defRPr>
    </a:lvl1pPr>
    <a:lvl2pPr marL="4572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2pPr>
    <a:lvl3pPr marL="9144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3pPr>
    <a:lvl4pPr marL="13716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4pPr>
    <a:lvl5pPr marL="1828800" algn="l" rtl="0" eaLnBrk="0" fontAlgn="base" hangingPunct="0">
      <a:lnSpc>
        <a:spcPct val="90000"/>
      </a:lnSpc>
      <a:spcBef>
        <a:spcPct val="40000"/>
      </a:spcBef>
      <a:spcAft>
        <a:spcPct val="0"/>
      </a:spcAft>
      <a:defRPr sz="1200" kern="1200">
        <a:solidFill>
          <a:schemeClr val="tx1"/>
        </a:solidFill>
        <a:latin typeface="Comic Sans MS" pitchFamily="66" charset="0"/>
        <a:ea typeface="ＭＳ Ｐゴシック" charset="0"/>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Rectangle 2"/>
          <p:cNvSpPr>
            <a:spLocks noGrp="1" noRot="1" noChangeAspect="1" noChangeArrowheads="1" noTextEdit="1"/>
          </p:cNvSpPr>
          <p:nvPr>
            <p:ph type="sldImg"/>
          </p:nvPr>
        </p:nvSpPr>
        <p:spPr>
          <a:xfrm>
            <a:off x="2362200" y="547688"/>
            <a:ext cx="4876800" cy="2744787"/>
          </a:xfrm>
          <a:ln/>
        </p:spPr>
      </p:sp>
      <p:sp>
        <p:nvSpPr>
          <p:cNvPr id="66563" name="Rectangle 3"/>
          <p:cNvSpPr>
            <a:spLocks noGrp="1" noChangeArrowheads="1"/>
          </p:cNvSpPr>
          <p:nvPr>
            <p:ph type="body" idx="1"/>
          </p:nvPr>
        </p:nvSpPr>
        <p:spPr>
          <a:extLst>
            <a:ext uri="{FAA26D3D-D897-4be2-8F04-BA451C77F1D7}">
              <ma14:placeholderFlag xmlns:ma14="http://schemas.microsoft.com/office/mac/drawingml/2011/main" xmlns="" val="1"/>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a:defRPr/>
            </a:pPr>
            <a:endParaRPr lang="en-US" dirty="0">
              <a:latin typeface="Comic Sans MS" charset="0"/>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Tree>
    <p:extLst>
      <p:ext uri="{BB962C8B-B14F-4D97-AF65-F5344CB8AC3E}">
        <p14:creationId xmlns:p14="http://schemas.microsoft.com/office/powerpoint/2010/main" val="9006879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A8C160-40DD-F6BF-A956-D5A195FCB2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B8ED0F-38C7-C548-9D73-3C69D85AAB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14CFB0-ED51-C926-662D-81D547C60941}"/>
              </a:ext>
            </a:extLst>
          </p:cNvPr>
          <p:cNvSpPr>
            <a:spLocks noGrp="1"/>
          </p:cNvSpPr>
          <p:nvPr>
            <p:ph type="body" idx="1"/>
          </p:nvPr>
        </p:nvSpPr>
        <p:spPr/>
        <p:txBody>
          <a:bodyPr/>
          <a:lstStyle/>
          <a:p>
            <a:endParaRPr/>
          </a:p>
        </p:txBody>
      </p:sp>
    </p:spTree>
    <p:extLst>
      <p:ext uri="{BB962C8B-B14F-4D97-AF65-F5344CB8AC3E}">
        <p14:creationId xmlns:p14="http://schemas.microsoft.com/office/powerpoint/2010/main" val="24971378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3BD56A-182F-D88E-0234-D71A91B8F1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ABCA10-BF0C-940C-9041-BD6F749CB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8B8278-3395-5B05-3ADC-3909FE407DDF}"/>
              </a:ext>
            </a:extLst>
          </p:cNvPr>
          <p:cNvSpPr>
            <a:spLocks noGrp="1"/>
          </p:cNvSpPr>
          <p:nvPr>
            <p:ph type="body" idx="1"/>
          </p:nvPr>
        </p:nvSpPr>
        <p:spPr/>
        <p:txBody>
          <a:bodyPr/>
          <a:lstStyle/>
          <a:p>
            <a:endParaRPr/>
          </a:p>
        </p:txBody>
      </p:sp>
    </p:spTree>
    <p:extLst>
      <p:ext uri="{BB962C8B-B14F-4D97-AF65-F5344CB8AC3E}">
        <p14:creationId xmlns:p14="http://schemas.microsoft.com/office/powerpoint/2010/main" val="28856614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34D5F9-BD45-03CC-B159-031F0DE2EF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6AD611-C0F7-C90A-4E41-3CF30E6A1F6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96E9EF-A53D-7846-B44B-A635BB899328}"/>
              </a:ext>
            </a:extLst>
          </p:cNvPr>
          <p:cNvSpPr>
            <a:spLocks noGrp="1"/>
          </p:cNvSpPr>
          <p:nvPr>
            <p:ph type="body" idx="1"/>
          </p:nvPr>
        </p:nvSpPr>
        <p:spPr/>
        <p:txBody>
          <a:bodyPr/>
          <a:lstStyle/>
          <a:p>
            <a:endParaRPr/>
          </a:p>
        </p:txBody>
      </p:sp>
    </p:spTree>
    <p:extLst>
      <p:ext uri="{BB962C8B-B14F-4D97-AF65-F5344CB8AC3E}">
        <p14:creationId xmlns:p14="http://schemas.microsoft.com/office/powerpoint/2010/main" val="14474931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A35218-8966-C389-E7BB-A4FEF9082B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6BC890-B3F9-D1AB-1E9F-EAA5FD6490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2A7B3E-48D6-CFC3-7F4E-CEA3EA6BB883}"/>
              </a:ext>
            </a:extLst>
          </p:cNvPr>
          <p:cNvSpPr>
            <a:spLocks noGrp="1"/>
          </p:cNvSpPr>
          <p:nvPr>
            <p:ph type="body" idx="1"/>
          </p:nvPr>
        </p:nvSpPr>
        <p:spPr/>
        <p:txBody>
          <a:bodyPr/>
          <a:lstStyle/>
          <a:p>
            <a:endParaRPr/>
          </a:p>
        </p:txBody>
      </p:sp>
    </p:spTree>
    <p:extLst>
      <p:ext uri="{BB962C8B-B14F-4D97-AF65-F5344CB8AC3E}">
        <p14:creationId xmlns:p14="http://schemas.microsoft.com/office/powerpoint/2010/main" val="362895364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3533C-E2AD-25EA-00B7-41D9FE77D9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25607D-E3B8-CC56-56AC-ACC137B070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D66BF-E316-F722-68A1-DF1EF21FA9F2}"/>
              </a:ext>
            </a:extLst>
          </p:cNvPr>
          <p:cNvSpPr>
            <a:spLocks noGrp="1"/>
          </p:cNvSpPr>
          <p:nvPr>
            <p:ph type="body" idx="1"/>
          </p:nvPr>
        </p:nvSpPr>
        <p:spPr/>
        <p:txBody>
          <a:bodyPr/>
          <a:lstStyle/>
          <a:p>
            <a:endParaRPr/>
          </a:p>
        </p:txBody>
      </p:sp>
    </p:spTree>
    <p:extLst>
      <p:ext uri="{BB962C8B-B14F-4D97-AF65-F5344CB8AC3E}">
        <p14:creationId xmlns:p14="http://schemas.microsoft.com/office/powerpoint/2010/main" val="158617035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E" dirty="0"/>
          </a:p>
        </p:txBody>
      </p:sp>
    </p:spTree>
    <p:extLst>
      <p:ext uri="{BB962C8B-B14F-4D97-AF65-F5344CB8AC3E}">
        <p14:creationId xmlns:p14="http://schemas.microsoft.com/office/powerpoint/2010/main" val="38550542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showMasterPhAnim="0" type="title" preserve="1">
  <p:cSld name="Title Slide">
    <p:spTree>
      <p:nvGrpSpPr>
        <p:cNvPr id="1" name=""/>
        <p:cNvGrpSpPr/>
        <p:nvPr/>
      </p:nvGrpSpPr>
      <p:grpSpPr>
        <a:xfrm>
          <a:off x="0" y="0"/>
          <a:ext cx="0" cy="0"/>
          <a:chOff x="0" y="0"/>
          <a:chExt cx="0" cy="0"/>
        </a:xfrm>
      </p:grpSpPr>
      <p:sp>
        <p:nvSpPr>
          <p:cNvPr id="128002" name="Rectangle 2"/>
          <p:cNvSpPr>
            <a:spLocks noGrp="1" noChangeArrowheads="1"/>
          </p:cNvSpPr>
          <p:nvPr>
            <p:ph type="ctrTitle"/>
          </p:nvPr>
        </p:nvSpPr>
        <p:spPr>
          <a:xfrm>
            <a:off x="914400" y="2130426"/>
            <a:ext cx="10363200" cy="1470025"/>
          </a:xfrm>
        </p:spPr>
        <p:txBody>
          <a:bodyPr/>
          <a:lstStyle>
            <a:lvl1pPr>
              <a:defRPr sz="3600"/>
            </a:lvl1pPr>
          </a:lstStyle>
          <a:p>
            <a:pPr lvl="0"/>
            <a:r>
              <a:rPr lang="en-US" noProof="0"/>
              <a:t>Click to edit Master title style</a:t>
            </a:r>
          </a:p>
        </p:txBody>
      </p:sp>
      <p:sp>
        <p:nvSpPr>
          <p:cNvPr id="128003" name="Rectangle 3"/>
          <p:cNvSpPr>
            <a:spLocks noGrp="1" noChangeArrowheads="1"/>
          </p:cNvSpPr>
          <p:nvPr>
            <p:ph type="subTitle" idx="1"/>
          </p:nvPr>
        </p:nvSpPr>
        <p:spPr>
          <a:xfrm>
            <a:off x="1828800" y="3886200"/>
            <a:ext cx="8534400" cy="1752600"/>
          </a:xfrm>
        </p:spPr>
        <p:txBody>
          <a:bodyPr/>
          <a:lstStyle>
            <a:lvl1pPr marL="0" indent="0" algn="ctr">
              <a:buFontTx/>
              <a:buNone/>
              <a:defRPr/>
            </a:lvl1pPr>
          </a:lstStyle>
          <a:p>
            <a:pPr lvl="0"/>
            <a:r>
              <a:rPr lang="en-US" noProof="0"/>
              <a:t>Click to edit Master subtitle style</a:t>
            </a:r>
          </a:p>
        </p:txBody>
      </p:sp>
    </p:spTree>
    <p:extLst>
      <p:ext uri="{BB962C8B-B14F-4D97-AF65-F5344CB8AC3E}">
        <p14:creationId xmlns:p14="http://schemas.microsoft.com/office/powerpoint/2010/main" val="1030069191"/>
      </p:ext>
    </p:extLst>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0" i="0">
                <a:latin typeface="Gill Sans" charset="0"/>
                <a:ea typeface="Gill Sans" charset="0"/>
                <a:cs typeface="Gill Sans" charset="0"/>
              </a:defRPr>
            </a:lvl1pPr>
          </a:lstStyle>
          <a:p>
            <a:r>
              <a:rPr lang="en-US" dirty="0"/>
              <a:t>Click to edit Master title style</a:t>
            </a:r>
          </a:p>
        </p:txBody>
      </p:sp>
      <p:sp>
        <p:nvSpPr>
          <p:cNvPr id="3" name="Content Placeholder 2"/>
          <p:cNvSpPr>
            <a:spLocks noGrp="1"/>
          </p:cNvSpPr>
          <p:nvPr>
            <p:ph idx="1"/>
          </p:nvPr>
        </p:nvSpPr>
        <p:spPr/>
        <p:txBody>
          <a:bodyPr>
            <a:normAutofit/>
          </a:bodyPr>
          <a:lstStyle>
            <a:lvl1pPr>
              <a:defRPr sz="2800" b="0" i="0">
                <a:latin typeface="Gill Sans" panose="020B0502020104020203"/>
                <a:ea typeface="Gill Sans" panose="020B0502020104020203"/>
                <a:cs typeface="Gill Sans" panose="020B0502020104020203"/>
              </a:defRPr>
            </a:lvl1pPr>
            <a:lvl2pPr>
              <a:defRPr sz="2400" b="0" i="0">
                <a:latin typeface="Gill Sans" panose="020B0502020104020203"/>
                <a:ea typeface="Gill Sans" panose="020B0502020104020203"/>
                <a:cs typeface="Gill Sans" panose="020B0502020104020203"/>
              </a:defRPr>
            </a:lvl2pPr>
            <a:lvl3pPr>
              <a:defRPr sz="2400" b="0" i="0">
                <a:latin typeface="Gill Sans" panose="020B0502020104020203"/>
                <a:ea typeface="Gill Sans" panose="020B0502020104020203"/>
                <a:cs typeface="Gill Sans" panose="020B0502020104020203"/>
              </a:defRPr>
            </a:lvl3pPr>
            <a:lvl4pPr>
              <a:defRPr sz="2400" b="0" i="0">
                <a:latin typeface="Gill Sans" panose="020B0502020104020203"/>
                <a:ea typeface="Gill Sans" panose="020B0502020104020203"/>
                <a:cs typeface="Gill Sans" panose="020B0502020104020203"/>
              </a:defRPr>
            </a:lvl4pPr>
            <a:lvl5pPr>
              <a:defRPr sz="2400" b="0" i="0">
                <a:latin typeface="Gill Sans" panose="020B0502020104020203"/>
                <a:ea typeface="Gill Sans" panose="020B0502020104020203"/>
                <a:cs typeface="Gill Sans" panose="020B0502020104020203"/>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92189684"/>
      </p:ext>
    </p:extLst>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Tree>
    <p:extLst>
      <p:ext uri="{BB962C8B-B14F-4D97-AF65-F5344CB8AC3E}">
        <p14:creationId xmlns:p14="http://schemas.microsoft.com/office/powerpoint/2010/main" val="145458815"/>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128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2368577"/>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normAutofit/>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13048753"/>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63878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7646209"/>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normAutofit/>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3294631323"/>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2950095112"/>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21120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37600" y="152400"/>
            <a:ext cx="2641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12800" y="152400"/>
            <a:ext cx="7721600" cy="5867400"/>
          </a:xfrm>
        </p:spPr>
        <p:txBody>
          <a:bodyPr vert="eaVe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929190270"/>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320800" y="152400"/>
            <a:ext cx="9550400" cy="533400"/>
          </a:xfrm>
        </p:spPr>
        <p:txBody>
          <a:bodyPr/>
          <a:lstStyle/>
          <a:p>
            <a:r>
              <a:rPr lang="en-US"/>
              <a:t>Click to edit Master title style</a:t>
            </a:r>
          </a:p>
        </p:txBody>
      </p:sp>
      <p:sp>
        <p:nvSpPr>
          <p:cNvPr id="3" name="Text Placeholder 2"/>
          <p:cNvSpPr>
            <a:spLocks noGrp="1"/>
          </p:cNvSpPr>
          <p:nvPr>
            <p:ph type="body" sz="half" idx="1"/>
          </p:nvPr>
        </p:nvSpPr>
        <p:spPr>
          <a:xfrm>
            <a:off x="8128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914400"/>
            <a:ext cx="5181600" cy="51054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6928310"/>
      </p:ext>
    </p:extLst>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1320800" y="152400"/>
            <a:ext cx="9550400" cy="533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ctr" anchorCtr="0" compatLnSpc="1">
            <a:prstTxWarp prst="textNoShape">
              <a:avLst/>
            </a:prstTxWarp>
          </a:bodyPr>
          <a:lstStyle/>
          <a:p>
            <a:pPr lvl="0"/>
            <a:r>
              <a:rPr lang="en-US" altLang="en-US"/>
              <a:t>Slide Title</a:t>
            </a:r>
          </a:p>
        </p:txBody>
      </p:sp>
      <p:sp>
        <p:nvSpPr>
          <p:cNvPr id="1027" name="Rectangle 3"/>
          <p:cNvSpPr>
            <a:spLocks noGrp="1" noChangeArrowheads="1"/>
          </p:cNvSpPr>
          <p:nvPr>
            <p:ph type="body" idx="1"/>
          </p:nvPr>
        </p:nvSpPr>
        <p:spPr bwMode="auto">
          <a:xfrm>
            <a:off x="812800" y="914400"/>
            <a:ext cx="10566400" cy="5105400"/>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bodyPr>
          <a:lstStyle/>
          <a:p>
            <a:pPr lvl="0"/>
            <a:r>
              <a:rPr lang="en-US" altLang="en-US" dirty="0"/>
              <a:t>Body Text</a:t>
            </a:r>
          </a:p>
          <a:p>
            <a:pPr lvl="1"/>
            <a:r>
              <a:rPr lang="en-US" altLang="en-US" dirty="0"/>
              <a:t>Second Level</a:t>
            </a:r>
          </a:p>
          <a:p>
            <a:pPr lvl="2"/>
            <a:r>
              <a:rPr lang="en-US" altLang="en-US" dirty="0"/>
              <a:t>Third Level</a:t>
            </a:r>
          </a:p>
          <a:p>
            <a:pPr lvl="3"/>
            <a:r>
              <a:rPr lang="en-US" altLang="en-US" dirty="0"/>
              <a:t>Fourth Level</a:t>
            </a:r>
          </a:p>
          <a:p>
            <a:pPr lvl="4"/>
            <a:r>
              <a:rPr lang="en-US" altLang="en-US" dirty="0"/>
              <a:t>Fifth Level</a:t>
            </a:r>
          </a:p>
        </p:txBody>
      </p:sp>
      <p:sp>
        <p:nvSpPr>
          <p:cNvPr id="1028" name="Rectangle 4"/>
          <p:cNvSpPr>
            <a:spLocks noChangeArrowheads="1"/>
          </p:cNvSpPr>
          <p:nvPr userDrawn="1"/>
        </p:nvSpPr>
        <p:spPr bwMode="auto">
          <a:xfrm>
            <a:off x="11797680" y="6552798"/>
            <a:ext cx="394320" cy="305202"/>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wrap="none" lIns="90478" tIns="44445" rIns="90478" bIns="44445">
            <a:spAutoFit/>
          </a:bodyPr>
          <a:lstStyle/>
          <a:p>
            <a:pPr algn="ctr"/>
            <a:fld id="{8B82DB86-37F9-954E-8F10-00623E1FD261}" type="slidenum">
              <a:rPr lang="en-US" sz="1400" b="0" smtClean="0">
                <a:solidFill>
                  <a:schemeClr val="tx1"/>
                </a:solidFill>
                <a:latin typeface="Gill Sans" charset="0"/>
                <a:cs typeface="Gill Sans" charset="0"/>
              </a:rPr>
              <a:pPr algn="ctr"/>
              <a:t>‹#›</a:t>
            </a:fld>
            <a:endParaRPr lang="en-US" sz="1400" b="0" dirty="0">
              <a:solidFill>
                <a:schemeClr val="tx1"/>
              </a:solidFill>
              <a:latin typeface="Gill Sans" charset="0"/>
              <a:cs typeface="Gill Sans" charset="0"/>
            </a:endParaRPr>
          </a:p>
        </p:txBody>
      </p:sp>
      <p:sp>
        <p:nvSpPr>
          <p:cNvPr id="1030" name="Line 6"/>
          <p:cNvSpPr>
            <a:spLocks noChangeShapeType="1"/>
          </p:cNvSpPr>
          <p:nvPr userDrawn="1"/>
        </p:nvSpPr>
        <p:spPr bwMode="auto">
          <a:xfrm>
            <a:off x="1320800" y="685800"/>
            <a:ext cx="9550400" cy="0"/>
          </a:xfrm>
          <a:prstGeom prst="line">
            <a:avLst/>
          </a:prstGeom>
          <a:noFill/>
          <a:ln w="38100" cmpd="dbl">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a:lstStyle/>
          <a:p>
            <a:pPr eaLnBrk="1" hangingPunct="1">
              <a:defRPr/>
            </a:pPr>
            <a:endParaRPr lang="en-US">
              <a:ea typeface="Arial" charset="0"/>
              <a:cs typeface="Arial" charset="0"/>
            </a:endParaRPr>
          </a:p>
        </p:txBody>
      </p:sp>
    </p:spTree>
  </p:cSld>
  <p:clrMap bg1="lt1" tx1="dk1" bg2="lt2" tx2="dk2" accent1="accent1" accent2="accent2" accent3="accent3" accent4="accent4" accent5="accent5" accent6="accent6" hlink="hlink" folHlink="folHlink"/>
  <p:sldLayoutIdLst>
    <p:sldLayoutId id="2147483738"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Lst>
  <p:transition/>
  <p:txStyles>
    <p:titleStyle>
      <a:lvl1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1pPr>
      <a:lvl2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2pPr>
      <a:lvl3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3pPr>
      <a:lvl4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4pPr>
      <a:lvl5pPr algn="ctr" rtl="0" eaLnBrk="0" fontAlgn="base" hangingPunct="0">
        <a:lnSpc>
          <a:spcPct val="90000"/>
        </a:lnSpc>
        <a:spcBef>
          <a:spcPct val="0"/>
        </a:spcBef>
        <a:spcAft>
          <a:spcPct val="0"/>
        </a:spcAft>
        <a:defRPr sz="3200">
          <a:solidFill>
            <a:srgbClr val="2A40E2"/>
          </a:solidFill>
          <a:latin typeface="Gill Sans" charset="0"/>
          <a:ea typeface="ＭＳ Ｐゴシック" charset="0"/>
          <a:cs typeface="Gill Sans" charset="0"/>
        </a:defRPr>
      </a:lvl5pPr>
      <a:lvl6pPr marL="457200" algn="ctr" rtl="0" eaLnBrk="0" fontAlgn="base" hangingPunct="0">
        <a:lnSpc>
          <a:spcPct val="90000"/>
        </a:lnSpc>
        <a:spcBef>
          <a:spcPct val="0"/>
        </a:spcBef>
        <a:spcAft>
          <a:spcPct val="0"/>
        </a:spcAft>
        <a:defRPr sz="2400" b="1">
          <a:solidFill>
            <a:srgbClr val="2A40E2"/>
          </a:solidFill>
          <a:latin typeface="Comic Sans MS" pitchFamily="66" charset="0"/>
        </a:defRPr>
      </a:lvl6pPr>
      <a:lvl7pPr marL="914400" algn="ctr" rtl="0" eaLnBrk="0" fontAlgn="base" hangingPunct="0">
        <a:lnSpc>
          <a:spcPct val="90000"/>
        </a:lnSpc>
        <a:spcBef>
          <a:spcPct val="0"/>
        </a:spcBef>
        <a:spcAft>
          <a:spcPct val="0"/>
        </a:spcAft>
        <a:defRPr sz="2400" b="1">
          <a:solidFill>
            <a:srgbClr val="2A40E2"/>
          </a:solidFill>
          <a:latin typeface="Comic Sans MS" pitchFamily="66" charset="0"/>
        </a:defRPr>
      </a:lvl7pPr>
      <a:lvl8pPr marL="1371600" algn="ctr" rtl="0" eaLnBrk="0" fontAlgn="base" hangingPunct="0">
        <a:lnSpc>
          <a:spcPct val="90000"/>
        </a:lnSpc>
        <a:spcBef>
          <a:spcPct val="0"/>
        </a:spcBef>
        <a:spcAft>
          <a:spcPct val="0"/>
        </a:spcAft>
        <a:defRPr sz="2400" b="1">
          <a:solidFill>
            <a:srgbClr val="2A40E2"/>
          </a:solidFill>
          <a:latin typeface="Comic Sans MS" pitchFamily="66" charset="0"/>
        </a:defRPr>
      </a:lvl8pPr>
      <a:lvl9pPr marL="1828800" algn="ctr" rtl="0" eaLnBrk="0" fontAlgn="base" hangingPunct="0">
        <a:lnSpc>
          <a:spcPct val="90000"/>
        </a:lnSpc>
        <a:spcBef>
          <a:spcPct val="0"/>
        </a:spcBef>
        <a:spcAft>
          <a:spcPct val="0"/>
        </a:spcAft>
        <a:defRPr sz="2400" b="1">
          <a:solidFill>
            <a:srgbClr val="2A40E2"/>
          </a:solidFill>
          <a:latin typeface="Comic Sans MS" pitchFamily="66" charset="0"/>
        </a:defRPr>
      </a:lvl9pPr>
    </p:titleStyle>
    <p:bodyStyle>
      <a:lvl1pPr marL="285750" indent="-285750" algn="l" rtl="0" eaLnBrk="0" fontAlgn="base" hangingPunct="0">
        <a:lnSpc>
          <a:spcPct val="90000"/>
        </a:lnSpc>
        <a:spcBef>
          <a:spcPct val="30000"/>
        </a:spcBef>
        <a:spcAft>
          <a:spcPct val="0"/>
        </a:spcAft>
        <a:buSzPct val="100000"/>
        <a:buChar char="•"/>
        <a:defRPr sz="2800">
          <a:solidFill>
            <a:schemeClr val="tx1"/>
          </a:solidFill>
          <a:latin typeface="Gill Sans" charset="0"/>
          <a:ea typeface="ＭＳ Ｐゴシック" charset="0"/>
          <a:cs typeface="Gill Sans" charset="0"/>
        </a:defRPr>
      </a:lvl1pPr>
      <a:lvl2pPr marL="6858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2pPr>
      <a:lvl3pPr marL="1143000" indent="-22860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3pPr>
      <a:lvl4pPr marL="15430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4pPr>
      <a:lvl5pPr marL="2000250" indent="-171450" algn="l" rtl="0" eaLnBrk="0" fontAlgn="base" hangingPunct="0">
        <a:lnSpc>
          <a:spcPct val="90000"/>
        </a:lnSpc>
        <a:spcBef>
          <a:spcPct val="30000"/>
        </a:spcBef>
        <a:spcAft>
          <a:spcPct val="0"/>
        </a:spcAft>
        <a:buSzPct val="100000"/>
        <a:buChar char="–"/>
        <a:defRPr sz="2400">
          <a:solidFill>
            <a:schemeClr val="tx1"/>
          </a:solidFill>
          <a:latin typeface="Gill Sans" charset="0"/>
          <a:ea typeface="Gill Sans" charset="0"/>
          <a:cs typeface="Gill Sans" charset="0"/>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Rectangle 2"/>
          <p:cNvSpPr>
            <a:spLocks noGrp="1" noChangeArrowheads="1"/>
          </p:cNvSpPr>
          <p:nvPr>
            <p:ph type="ctrTitle"/>
          </p:nvPr>
        </p:nvSpPr>
        <p:spPr>
          <a:xfrm>
            <a:off x="838200" y="1295400"/>
            <a:ext cx="10439400" cy="2057400"/>
          </a:xfrm>
        </p:spPr>
        <p:txBody>
          <a:bodyPr/>
          <a:lstStyle/>
          <a:p>
            <a:pPr>
              <a:defRPr/>
            </a:pPr>
            <a:r>
              <a:rPr lang="en-US" sz="3000" dirty="0"/>
              <a:t>CSC 112: Computer Operating Systems</a:t>
            </a:r>
            <a:br>
              <a:rPr lang="en-US" sz="3000" dirty="0"/>
            </a:br>
            <a:r>
              <a:rPr lang="en-US" sz="3000" dirty="0"/>
              <a:t>Lecture </a:t>
            </a:r>
            <a:r>
              <a:rPr lang="en-US" altLang="zh-CN" sz="3000" dirty="0"/>
              <a:t>5</a:t>
            </a:r>
            <a:br>
              <a:rPr lang="en-US" sz="3000" dirty="0"/>
            </a:br>
            <a:br>
              <a:rPr lang="en-US" sz="3000" dirty="0"/>
            </a:br>
            <a:br>
              <a:rPr lang="en-US" sz="3000"/>
            </a:br>
            <a:r>
              <a:rPr lang="en-US" sz="3000"/>
              <a:t>Scheduling</a:t>
            </a:r>
            <a:br>
              <a:rPr lang="en-US" sz="3000"/>
            </a:br>
            <a:r>
              <a:rPr lang="en-US" sz="3000"/>
              <a:t>Exercises </a:t>
            </a:r>
            <a:r>
              <a:rPr lang="en-US" sz="3000" dirty="0"/>
              <a:t>Solution</a:t>
            </a:r>
          </a:p>
        </p:txBody>
      </p:sp>
      <p:sp>
        <p:nvSpPr>
          <p:cNvPr id="3075" name="Rectangle 3"/>
          <p:cNvSpPr>
            <a:spLocks noGrp="1" noChangeArrowheads="1"/>
          </p:cNvSpPr>
          <p:nvPr>
            <p:ph type="subTitle" idx="1"/>
          </p:nvPr>
        </p:nvSpPr>
        <p:spPr>
          <a:xfrm>
            <a:off x="2133600" y="4191000"/>
            <a:ext cx="8001000" cy="1447800"/>
          </a:xfrm>
        </p:spPr>
        <p:txBody>
          <a:bodyPr/>
          <a:lstStyle/>
          <a:p>
            <a:pPr marL="285750" indent="-285750">
              <a:defRPr/>
            </a:pPr>
            <a:r>
              <a:rPr lang="en-GB" altLang="en-US" dirty="0">
                <a:ea typeface="Gill Sans" charset="0"/>
              </a:rPr>
              <a:t>Department of Computer Science, </a:t>
            </a:r>
          </a:p>
          <a:p>
            <a:pPr marL="285750" indent="-285750">
              <a:defRPr/>
            </a:pPr>
            <a:r>
              <a:rPr lang="en-GB" altLang="en-US" dirty="0">
                <a:ea typeface="Gill Sans" charset="0"/>
              </a:rPr>
              <a:t>Hofstra University</a:t>
            </a:r>
            <a:endParaRPr lang="en-US" altLang="en-US" dirty="0">
              <a:ea typeface="Gill Sans" charset="0"/>
            </a:endParaRPr>
          </a:p>
        </p:txBody>
      </p:sp>
      <p:sp>
        <p:nvSpPr>
          <p:cNvPr id="2" name="TextBox 1">
            <a:extLst>
              <a:ext uri="{FF2B5EF4-FFF2-40B4-BE49-F238E27FC236}">
                <a16:creationId xmlns:a16="http://schemas.microsoft.com/office/drawing/2014/main" id="{9C57E4A3-9D39-57A8-5B40-7A2E574F4F28}"/>
              </a:ext>
            </a:extLst>
          </p:cNvPr>
          <p:cNvSpPr txBox="1"/>
          <p:nvPr/>
        </p:nvSpPr>
        <p:spPr>
          <a:xfrm>
            <a:off x="2713676" y="6477000"/>
            <a:ext cx="6840847" cy="276999"/>
          </a:xfrm>
          <a:prstGeom prst="rect">
            <a:avLst/>
          </a:prstGeom>
        </p:spPr>
        <p:style>
          <a:lnRef idx="2">
            <a:schemeClr val="accent5"/>
          </a:lnRef>
          <a:fillRef idx="1">
            <a:schemeClr val="lt1"/>
          </a:fillRef>
          <a:effectRef idx="0">
            <a:schemeClr val="accent5"/>
          </a:effectRef>
          <a:fontRef idx="minor">
            <a:schemeClr val="dk1"/>
          </a:fontRef>
        </p:style>
        <p:txBody>
          <a:bodyPr wrap="none" rtlCol="0">
            <a:spAutoFit/>
          </a:bodyPr>
          <a:lstStyle/>
          <a:p>
            <a:r>
              <a:rPr lang="en-US" altLang="zh-CN" sz="1200" dirty="0">
                <a:latin typeface="Gill Sans Light"/>
              </a:rPr>
              <a:t>Acknowledgement: Lecture slides based on UC Berkeley </a:t>
            </a:r>
            <a:r>
              <a:rPr lang="en-GB" altLang="zh-CN" sz="1200" dirty="0">
                <a:latin typeface="Gill Sans Light"/>
              </a:rPr>
              <a:t>CS 162: Operating Systems and System Programming</a:t>
            </a:r>
            <a:r>
              <a:rPr lang="en-US" altLang="zh-CN" sz="1200" dirty="0">
                <a:latin typeface="Gill Sans Light"/>
              </a:rPr>
              <a:t> </a:t>
            </a:r>
            <a:endParaRPr lang="en-SE" sz="1200" dirty="0">
              <a:latin typeface="Gill Sans Light"/>
            </a:endParaRP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097A1-818B-0433-C393-1C7725720D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F59529-917F-23B2-366C-58CBE8D4F380}"/>
              </a:ext>
            </a:extLst>
          </p:cNvPr>
          <p:cNvSpPr>
            <a:spLocks noGrp="1"/>
          </p:cNvSpPr>
          <p:nvPr>
            <p:ph type="title"/>
          </p:nvPr>
        </p:nvSpPr>
        <p:spPr/>
        <p:txBody>
          <a:bodyPr/>
          <a:lstStyle/>
          <a:p>
            <a:r>
              <a:rPr lang="en-GB" dirty="0"/>
              <a:t>Predicting </a:t>
            </a:r>
            <a:r>
              <a:rPr lang="en-GB"/>
              <a:t>Burst Time</a:t>
            </a:r>
            <a:endParaRPr lang="en-SE"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536D5D6A-762F-49E5-475F-C3B6FCA03C63}"/>
                  </a:ext>
                </a:extLst>
              </p:cNvPr>
              <p:cNvSpPr>
                <a:spLocks noGrp="1"/>
              </p:cNvSpPr>
              <p:nvPr>
                <p:ph idx="1"/>
              </p:nvPr>
            </p:nvSpPr>
            <p:spPr/>
            <p:txBody>
              <a:bodyPr>
                <a:normAutofit/>
              </a:bodyPr>
              <a:lstStyle/>
              <a:p>
                <a:r>
                  <a:rPr lang="en-US" altLang="ko-KR" dirty="0"/>
                  <a:t>Use </a:t>
                </a:r>
                <a:r>
                  <a:rPr lang="en-US" altLang="ko-KR" sz="2800" dirty="0"/>
                  <a:t>exponential averaging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𝑛</m:t>
                        </m:r>
                        <m:r>
                          <a:rPr lang="en-US" i="1">
                            <a:latin typeface="Cambria Math" panose="02040503050406030204" pitchFamily="18" charset="0"/>
                          </a:rPr>
                          <m:t>+1</m:t>
                        </m:r>
                      </m:sub>
                    </m:sSub>
                    <m:r>
                      <a:rPr lang="en-US" i="1">
                        <a:latin typeface="Cambria Math" panose="02040503050406030204" pitchFamily="18" charset="0"/>
                      </a:rPr>
                      <m:t>=</m:t>
                    </m:r>
                    <m:r>
                      <a:rPr lang="en-US" b="0" i="1" smtClean="0">
                        <a:latin typeface="Cambria Math" panose="02040503050406030204" pitchFamily="18" charset="0"/>
                      </a:rPr>
                      <m:t>𝛼</m:t>
                    </m:r>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i="1">
                            <a:latin typeface="Cambria Math" panose="02040503050406030204" pitchFamily="18" charset="0"/>
                          </a:rPr>
                          <m:t>𝑛</m:t>
                        </m:r>
                      </m:sub>
                    </m:sSub>
                    <m:r>
                      <a:rPr lang="en-US" i="1">
                        <a:latin typeface="Cambria Math" panose="02040503050406030204" pitchFamily="18" charset="0"/>
                      </a:rPr>
                      <m:t>+(1−</m:t>
                    </m:r>
                    <m:r>
                      <a:rPr lang="en-US" altLang="zh-CN"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𝑛</m:t>
                        </m:r>
                      </m:sub>
                    </m:sSub>
                  </m:oMath>
                </a14:m>
                <a:r>
                  <a:rPr lang="en-US" altLang="ko-KR" sz="2800" dirty="0">
                    <a:sym typeface="Symbol" panose="05050102010706020507" pitchFamily="18" charset="2"/>
                  </a:rPr>
                  <a:t> to predict the next burst time. Assume initial estimate </a:t>
                </a:r>
                <a:r>
                  <a:rPr lang="en-US" altLang="ko-KR" dirty="0">
                    <a:sym typeface="Symbol" panose="05050102010706020507" pitchFamily="18" charset="2"/>
                  </a:rPr>
                  <a:t></a:t>
                </a:r>
                <a:r>
                  <a:rPr lang="en-US" altLang="ko-KR" sz="2800" baseline="-25000" dirty="0">
                    <a:sym typeface="Symbol" panose="05050102010706020507" pitchFamily="18" charset="2"/>
                  </a:rPr>
                  <a:t>0</a:t>
                </a:r>
                <a:r>
                  <a:rPr lang="en-US" altLang="ko-KR" sz="2800" dirty="0">
                    <a:sym typeface="Symbol" panose="05050102010706020507" pitchFamily="18" charset="2"/>
                  </a:rPr>
                  <a:t> = 10, and the </a:t>
                </a:r>
                <a:r>
                  <a:rPr lang="en-GB" dirty="0"/>
                  <a:t>actual burst times of the first four processes </a:t>
                </a:r>
                <a:r>
                  <a:rPr lang="en-US" altLang="ko-KR" sz="2800" dirty="0">
                    <a:sym typeface="Symbol" panose="05050102010706020507" pitchFamily="18" charset="2"/>
                  </a:rPr>
                  <a:t>t</a:t>
                </a:r>
                <a:r>
                  <a:rPr lang="en-US" altLang="ko-KR" sz="2800" baseline="-25000" dirty="0">
                    <a:sym typeface="Symbol" panose="05050102010706020507" pitchFamily="18" charset="2"/>
                  </a:rPr>
                  <a:t>0</a:t>
                </a:r>
                <a:r>
                  <a:rPr lang="en-GB" dirty="0"/>
                  <a:t>, </a:t>
                </a:r>
                <a:r>
                  <a:rPr lang="en-US" altLang="ko-KR" sz="2800" dirty="0">
                    <a:sym typeface="Symbol" panose="05050102010706020507" pitchFamily="18" charset="2"/>
                  </a:rPr>
                  <a:t>t</a:t>
                </a:r>
                <a:r>
                  <a:rPr lang="en-US" altLang="ko-KR" sz="2800" baseline="-25000" dirty="0">
                    <a:sym typeface="Symbol" panose="05050102010706020507" pitchFamily="18" charset="2"/>
                  </a:rPr>
                  <a:t>1</a:t>
                </a:r>
                <a:r>
                  <a:rPr lang="en-GB" dirty="0"/>
                  <a:t>, </a:t>
                </a:r>
                <a:r>
                  <a:rPr lang="en-US" altLang="ko-KR" sz="2800" dirty="0">
                    <a:sym typeface="Symbol" panose="05050102010706020507" pitchFamily="18" charset="2"/>
                  </a:rPr>
                  <a:t>t</a:t>
                </a:r>
                <a:r>
                  <a:rPr lang="en-US" altLang="ko-KR" sz="2800" baseline="-25000" dirty="0">
                    <a:sym typeface="Symbol" panose="05050102010706020507" pitchFamily="18" charset="2"/>
                  </a:rPr>
                  <a:t>2</a:t>
                </a:r>
                <a:r>
                  <a:rPr lang="en-GB" dirty="0"/>
                  <a:t>, </a:t>
                </a:r>
                <a:r>
                  <a:rPr lang="en-US" altLang="ko-KR" sz="2800" dirty="0">
                    <a:sym typeface="Symbol" panose="05050102010706020507" pitchFamily="18" charset="2"/>
                  </a:rPr>
                  <a:t>t</a:t>
                </a:r>
                <a:r>
                  <a:rPr lang="en-US" altLang="ko-KR" sz="2800" baseline="-25000" dirty="0">
                    <a:sym typeface="Symbol" panose="05050102010706020507" pitchFamily="18" charset="2"/>
                  </a:rPr>
                  <a:t>3</a:t>
                </a:r>
                <a:r>
                  <a:rPr lang="en-GB" dirty="0"/>
                  <a:t> are 4, 8, 6 and 7, respectively. Given α = 0.5. Compute the predicted burst times </a:t>
                </a:r>
                <a:r>
                  <a:rPr lang="en-US" altLang="ko-KR" sz="2800" dirty="0">
                    <a:sym typeface="Symbol" panose="05050102010706020507" pitchFamily="18" charset="2"/>
                  </a:rPr>
                  <a:t></a:t>
                </a:r>
                <a:r>
                  <a:rPr lang="en-US" altLang="ko-KR" sz="2800" baseline="-25000" dirty="0">
                    <a:sym typeface="Symbol" panose="05050102010706020507" pitchFamily="18" charset="2"/>
                  </a:rPr>
                  <a:t>1</a:t>
                </a:r>
                <a:r>
                  <a:rPr lang="en-US" altLang="ko-KR" sz="2800" dirty="0">
                    <a:sym typeface="Symbol" panose="05050102010706020507" pitchFamily="18" charset="2"/>
                  </a:rPr>
                  <a:t>, </a:t>
                </a:r>
                <a:r>
                  <a:rPr lang="en-US" altLang="ko-KR" sz="2800" baseline="-25000" dirty="0">
                    <a:sym typeface="Symbol" panose="05050102010706020507" pitchFamily="18" charset="2"/>
                  </a:rPr>
                  <a:t>2</a:t>
                </a:r>
                <a:r>
                  <a:rPr lang="en-US" altLang="ko-KR" sz="2800" dirty="0">
                    <a:sym typeface="Symbol" panose="05050102010706020507" pitchFamily="18" charset="2"/>
                  </a:rPr>
                  <a:t>, </a:t>
                </a:r>
                <a:r>
                  <a:rPr lang="en-US" altLang="ko-KR" sz="2800" baseline="-25000" dirty="0">
                    <a:sym typeface="Symbol" panose="05050102010706020507" pitchFamily="18" charset="2"/>
                  </a:rPr>
                  <a:t>3</a:t>
                </a:r>
                <a:r>
                  <a:rPr lang="en-US" altLang="ko-KR" sz="2800" dirty="0">
                    <a:sym typeface="Symbol" panose="05050102010706020507" pitchFamily="18" charset="2"/>
                  </a:rPr>
                  <a:t>, </a:t>
                </a:r>
                <a:r>
                  <a:rPr lang="en-US" altLang="ko-KR" sz="2800" baseline="-25000" dirty="0">
                    <a:sym typeface="Symbol" panose="05050102010706020507" pitchFamily="18" charset="2"/>
                  </a:rPr>
                  <a:t>4.</a:t>
                </a:r>
                <a:endParaRPr lang="en-GB" dirty="0"/>
              </a:p>
            </p:txBody>
          </p:sp>
        </mc:Choice>
        <mc:Fallback>
          <p:sp>
            <p:nvSpPr>
              <p:cNvPr id="3" name="Content Placeholder 2">
                <a:extLst>
                  <a:ext uri="{FF2B5EF4-FFF2-40B4-BE49-F238E27FC236}">
                    <a16:creationId xmlns:a16="http://schemas.microsoft.com/office/drawing/2014/main" id="{536D5D6A-762F-49E5-475F-C3B6FCA03C63}"/>
                  </a:ext>
                </a:extLst>
              </p:cNvPr>
              <p:cNvSpPr>
                <a:spLocks noGrp="1" noRot="1" noChangeAspect="1" noMove="1" noResize="1" noEditPoints="1" noAdjustHandles="1" noChangeArrowheads="1" noChangeShapeType="1" noTextEdit="1"/>
              </p:cNvSpPr>
              <p:nvPr>
                <p:ph idx="1"/>
              </p:nvPr>
            </p:nvSpPr>
            <p:spPr>
              <a:blipFill>
                <a:blip r:embed="rId2"/>
                <a:stretch>
                  <a:fillRect l="-1211" t="-2148" r="-577"/>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763490190"/>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F1AD51-C722-ED23-27FF-56338D8A07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947E7B-32F3-3735-987C-876AF2264A2B}"/>
              </a:ext>
            </a:extLst>
          </p:cNvPr>
          <p:cNvSpPr>
            <a:spLocks noGrp="1"/>
          </p:cNvSpPr>
          <p:nvPr>
            <p:ph type="title"/>
          </p:nvPr>
        </p:nvSpPr>
        <p:spPr/>
        <p:txBody>
          <a:bodyPr/>
          <a:lstStyle/>
          <a:p>
            <a:r>
              <a:rPr lang="en-GB" dirty="0"/>
              <a:t>Predicting Burst Time ANS</a:t>
            </a:r>
            <a:endParaRPr lang="en-SE"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96E4FFE-F627-F544-AB84-D0B202D11C76}"/>
                  </a:ext>
                </a:extLst>
              </p:cNvPr>
              <p:cNvSpPr>
                <a:spLocks noGrp="1"/>
              </p:cNvSpPr>
              <p:nvPr>
                <p:ph idx="1"/>
              </p:nvPr>
            </p:nvSpPr>
            <p:spPr/>
            <p:txBody>
              <a:bodyPr>
                <a:normAutofit/>
              </a:bodyPr>
              <a:lstStyle/>
              <a:p>
                <a:r>
                  <a:rPr lang="en-US" altLang="ko-KR" dirty="0"/>
                  <a:t>Use </a:t>
                </a:r>
                <a:r>
                  <a:rPr lang="en-US" altLang="ko-KR" sz="2800" dirty="0"/>
                  <a:t>exponential averaging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𝑛</m:t>
                        </m:r>
                        <m:r>
                          <a:rPr lang="en-US" i="1">
                            <a:latin typeface="Cambria Math" panose="02040503050406030204" pitchFamily="18" charset="0"/>
                          </a:rPr>
                          <m:t>+1</m:t>
                        </m:r>
                      </m:sub>
                    </m:sSub>
                    <m:r>
                      <a:rPr lang="en-US" i="1">
                        <a:latin typeface="Cambria Math" panose="02040503050406030204" pitchFamily="18" charset="0"/>
                      </a:rPr>
                      <m:t>=</m:t>
                    </m:r>
                    <m:r>
                      <a:rPr lang="en-US" b="0" i="1" smtClean="0">
                        <a:latin typeface="Cambria Math" panose="02040503050406030204" pitchFamily="18" charset="0"/>
                      </a:rPr>
                      <m:t>𝛼</m:t>
                    </m:r>
                    <m:sSub>
                      <m:sSubPr>
                        <m:ctrlPr>
                          <a:rPr lang="en-US" i="1">
                            <a:latin typeface="Cambria Math" panose="02040503050406030204" pitchFamily="18" charset="0"/>
                          </a:rPr>
                        </m:ctrlPr>
                      </m:sSubPr>
                      <m:e>
                        <m:r>
                          <a:rPr lang="en-US" i="1">
                            <a:latin typeface="Cambria Math" panose="02040503050406030204" pitchFamily="18" charset="0"/>
                          </a:rPr>
                          <m:t>𝑡</m:t>
                        </m:r>
                      </m:e>
                      <m:sub>
                        <m:r>
                          <a:rPr lang="en-US" i="1">
                            <a:latin typeface="Cambria Math" panose="02040503050406030204" pitchFamily="18" charset="0"/>
                          </a:rPr>
                          <m:t>𝑛</m:t>
                        </m:r>
                      </m:sub>
                    </m:sSub>
                    <m:r>
                      <a:rPr lang="en-US" i="1">
                        <a:latin typeface="Cambria Math" panose="02040503050406030204" pitchFamily="18" charset="0"/>
                      </a:rPr>
                      <m:t>+(1−</m:t>
                    </m:r>
                    <m:r>
                      <a:rPr lang="en-US" altLang="zh-CN"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𝜏</m:t>
                        </m:r>
                      </m:e>
                      <m:sub>
                        <m:r>
                          <a:rPr lang="en-US" i="1">
                            <a:latin typeface="Cambria Math" panose="02040503050406030204" pitchFamily="18" charset="0"/>
                          </a:rPr>
                          <m:t>𝑛</m:t>
                        </m:r>
                      </m:sub>
                    </m:sSub>
                  </m:oMath>
                </a14:m>
                <a:r>
                  <a:rPr lang="en-US" altLang="ko-KR" sz="2800" dirty="0">
                    <a:sym typeface="Symbol" panose="05050102010706020507" pitchFamily="18" charset="2"/>
                  </a:rPr>
                  <a:t> to predict the next burst time. Assume initial estimate </a:t>
                </a:r>
                <a:r>
                  <a:rPr lang="en-US" altLang="ko-KR" dirty="0">
                    <a:sym typeface="Symbol" panose="05050102010706020507" pitchFamily="18" charset="2"/>
                  </a:rPr>
                  <a:t></a:t>
                </a:r>
                <a:r>
                  <a:rPr lang="en-US" altLang="ko-KR" sz="2800" baseline="-25000" dirty="0">
                    <a:sym typeface="Symbol" panose="05050102010706020507" pitchFamily="18" charset="2"/>
                  </a:rPr>
                  <a:t>0</a:t>
                </a:r>
                <a:r>
                  <a:rPr lang="en-US" altLang="ko-KR" sz="2800" dirty="0">
                    <a:sym typeface="Symbol" panose="05050102010706020507" pitchFamily="18" charset="2"/>
                  </a:rPr>
                  <a:t> = 10, and the </a:t>
                </a:r>
                <a:r>
                  <a:rPr lang="en-GB" dirty="0"/>
                  <a:t>actual burst times of the first four processes </a:t>
                </a:r>
                <a:r>
                  <a:rPr lang="en-US" altLang="ko-KR" sz="2800" dirty="0">
                    <a:sym typeface="Symbol" panose="05050102010706020507" pitchFamily="18" charset="2"/>
                  </a:rPr>
                  <a:t>t</a:t>
                </a:r>
                <a:r>
                  <a:rPr lang="en-US" altLang="ko-KR" sz="2800" baseline="-25000" dirty="0">
                    <a:sym typeface="Symbol" panose="05050102010706020507" pitchFamily="18" charset="2"/>
                  </a:rPr>
                  <a:t>0</a:t>
                </a:r>
                <a:r>
                  <a:rPr lang="en-GB" dirty="0"/>
                  <a:t>, </a:t>
                </a:r>
                <a:r>
                  <a:rPr lang="en-US" altLang="ko-KR" sz="2800" dirty="0">
                    <a:sym typeface="Symbol" panose="05050102010706020507" pitchFamily="18" charset="2"/>
                  </a:rPr>
                  <a:t>t</a:t>
                </a:r>
                <a:r>
                  <a:rPr lang="en-US" altLang="ko-KR" sz="2800" baseline="-25000" dirty="0">
                    <a:sym typeface="Symbol" panose="05050102010706020507" pitchFamily="18" charset="2"/>
                  </a:rPr>
                  <a:t>1</a:t>
                </a:r>
                <a:r>
                  <a:rPr lang="en-GB" dirty="0"/>
                  <a:t>, </a:t>
                </a:r>
                <a:r>
                  <a:rPr lang="en-US" altLang="ko-KR" sz="2800" dirty="0">
                    <a:sym typeface="Symbol" panose="05050102010706020507" pitchFamily="18" charset="2"/>
                  </a:rPr>
                  <a:t>t</a:t>
                </a:r>
                <a:r>
                  <a:rPr lang="en-US" altLang="ko-KR" sz="2800" baseline="-25000" dirty="0">
                    <a:sym typeface="Symbol" panose="05050102010706020507" pitchFamily="18" charset="2"/>
                  </a:rPr>
                  <a:t>2</a:t>
                </a:r>
                <a:r>
                  <a:rPr lang="en-GB" dirty="0"/>
                  <a:t>, </a:t>
                </a:r>
                <a:r>
                  <a:rPr lang="en-US" altLang="ko-KR" sz="2800" dirty="0">
                    <a:sym typeface="Symbol" panose="05050102010706020507" pitchFamily="18" charset="2"/>
                  </a:rPr>
                  <a:t>t</a:t>
                </a:r>
                <a:r>
                  <a:rPr lang="en-US" altLang="ko-KR" sz="2800" baseline="-25000" dirty="0">
                    <a:sym typeface="Symbol" panose="05050102010706020507" pitchFamily="18" charset="2"/>
                  </a:rPr>
                  <a:t>3</a:t>
                </a:r>
                <a:r>
                  <a:rPr lang="en-GB" dirty="0"/>
                  <a:t> are 4, 8, 6 and 7, respectively. Given α = 0.5. Compute the predicted burst times </a:t>
                </a:r>
                <a:r>
                  <a:rPr lang="en-US" altLang="ko-KR" sz="2800" dirty="0">
                    <a:sym typeface="Symbol" panose="05050102010706020507" pitchFamily="18" charset="2"/>
                  </a:rPr>
                  <a:t></a:t>
                </a:r>
                <a:r>
                  <a:rPr lang="en-US" altLang="ko-KR" sz="2800" baseline="-25000" dirty="0">
                    <a:sym typeface="Symbol" panose="05050102010706020507" pitchFamily="18" charset="2"/>
                  </a:rPr>
                  <a:t>1</a:t>
                </a:r>
                <a:r>
                  <a:rPr lang="en-US" altLang="ko-KR" sz="2800" dirty="0">
                    <a:sym typeface="Symbol" panose="05050102010706020507" pitchFamily="18" charset="2"/>
                  </a:rPr>
                  <a:t>, </a:t>
                </a:r>
                <a:r>
                  <a:rPr lang="en-US" altLang="ko-KR" sz="2800" baseline="-25000" dirty="0">
                    <a:sym typeface="Symbol" panose="05050102010706020507" pitchFamily="18" charset="2"/>
                  </a:rPr>
                  <a:t>2</a:t>
                </a:r>
                <a:r>
                  <a:rPr lang="en-US" altLang="ko-KR" sz="2800" dirty="0">
                    <a:sym typeface="Symbol" panose="05050102010706020507" pitchFamily="18" charset="2"/>
                  </a:rPr>
                  <a:t>, </a:t>
                </a:r>
                <a:r>
                  <a:rPr lang="en-US" altLang="ko-KR" sz="2800" baseline="-25000" dirty="0">
                    <a:sym typeface="Symbol" panose="05050102010706020507" pitchFamily="18" charset="2"/>
                  </a:rPr>
                  <a:t>3</a:t>
                </a:r>
                <a:r>
                  <a:rPr lang="en-US" altLang="ko-KR" sz="2800" dirty="0">
                    <a:sym typeface="Symbol" panose="05050102010706020507" pitchFamily="18" charset="2"/>
                  </a:rPr>
                  <a:t>, </a:t>
                </a:r>
                <a:r>
                  <a:rPr lang="en-US" altLang="ko-KR" sz="2800" baseline="-25000" dirty="0">
                    <a:sym typeface="Symbol" panose="05050102010706020507" pitchFamily="18" charset="2"/>
                  </a:rPr>
                  <a:t>4.</a:t>
                </a:r>
              </a:p>
              <a:p>
                <a:pPr lvl="1"/>
                <a:r>
                  <a:rPr lang="en-US" altLang="ko-KR" baseline="-25000" dirty="0">
                    <a:sym typeface="Symbol" panose="05050102010706020507" pitchFamily="18" charset="2"/>
                  </a:rPr>
                  <a:t> </a:t>
                </a:r>
                <a:r>
                  <a:rPr lang="en-US" altLang="ko-KR" dirty="0">
                    <a:sym typeface="Symbol" panose="05050102010706020507" pitchFamily="18" charset="2"/>
                  </a:rPr>
                  <a:t>(It is best if you can bring a calculator. But if you do not have one, just writing out the following formulas is OK.)</a:t>
                </a:r>
                <a:endParaRPr lang="en-US" altLang="ko-KR" baseline="-25000" dirty="0">
                  <a:sym typeface="Symbol" panose="05050102010706020507" pitchFamily="18" charset="2"/>
                </a:endParaRPr>
              </a:p>
              <a:p>
                <a:r>
                  <a:rPr lang="en-US" altLang="ko-KR" sz="2800" dirty="0">
                    <a:sym typeface="Symbol" panose="05050102010706020507" pitchFamily="18" charset="2"/>
                  </a:rPr>
                  <a:t></a:t>
                </a:r>
                <a:r>
                  <a:rPr lang="en-US" altLang="ko-KR" sz="2800" baseline="-25000" dirty="0">
                    <a:sym typeface="Symbol" panose="05050102010706020507" pitchFamily="18" charset="2"/>
                  </a:rPr>
                  <a:t>1  </a:t>
                </a:r>
                <a:r>
                  <a:rPr lang="en-GB" dirty="0"/>
                  <a:t>= 0.5 x 4 + 0.5 x 10 = 7</a:t>
                </a:r>
              </a:p>
              <a:p>
                <a:r>
                  <a:rPr lang="en-US" altLang="ko-KR" sz="2800" dirty="0">
                    <a:sym typeface="Symbol" panose="05050102010706020507" pitchFamily="18" charset="2"/>
                  </a:rPr>
                  <a:t></a:t>
                </a:r>
                <a:r>
                  <a:rPr lang="en-US" altLang="ko-KR" sz="2800" baseline="-25000" dirty="0">
                    <a:sym typeface="Symbol" panose="05050102010706020507" pitchFamily="18" charset="2"/>
                  </a:rPr>
                  <a:t>2  </a:t>
                </a:r>
                <a:r>
                  <a:rPr lang="en-GB" dirty="0"/>
                  <a:t>= 0.5 x 8 + 0.5 x 7 = 7.5</a:t>
                </a:r>
              </a:p>
              <a:p>
                <a:r>
                  <a:rPr lang="en-US" altLang="ko-KR" sz="2800" dirty="0">
                    <a:sym typeface="Symbol" panose="05050102010706020507" pitchFamily="18" charset="2"/>
                  </a:rPr>
                  <a:t></a:t>
                </a:r>
                <a:r>
                  <a:rPr lang="en-US" altLang="ko-KR" sz="2800" baseline="-25000" dirty="0">
                    <a:sym typeface="Symbol" panose="05050102010706020507" pitchFamily="18" charset="2"/>
                  </a:rPr>
                  <a:t>3  </a:t>
                </a:r>
                <a:r>
                  <a:rPr lang="en-GB" dirty="0"/>
                  <a:t>= 0.5 x 6 + 0.5 x 7.5 = 6.75</a:t>
                </a:r>
              </a:p>
              <a:p>
                <a:r>
                  <a:rPr lang="en-US" altLang="ko-KR" sz="2800" dirty="0">
                    <a:sym typeface="Symbol" panose="05050102010706020507" pitchFamily="18" charset="2"/>
                  </a:rPr>
                  <a:t></a:t>
                </a:r>
                <a:r>
                  <a:rPr lang="en-US" altLang="ko-KR" sz="2800" baseline="-25000" dirty="0">
                    <a:sym typeface="Symbol" panose="05050102010706020507" pitchFamily="18" charset="2"/>
                  </a:rPr>
                  <a:t>4  </a:t>
                </a:r>
                <a:r>
                  <a:rPr lang="en-GB" dirty="0"/>
                  <a:t>= 0.5 x 7 + 0.5 x 6.75 = 6.875</a:t>
                </a:r>
              </a:p>
            </p:txBody>
          </p:sp>
        </mc:Choice>
        <mc:Fallback>
          <p:sp>
            <p:nvSpPr>
              <p:cNvPr id="3" name="Content Placeholder 2">
                <a:extLst>
                  <a:ext uri="{FF2B5EF4-FFF2-40B4-BE49-F238E27FC236}">
                    <a16:creationId xmlns:a16="http://schemas.microsoft.com/office/drawing/2014/main" id="{C96E4FFE-F627-F544-AB84-D0B202D11C76}"/>
                  </a:ext>
                </a:extLst>
              </p:cNvPr>
              <p:cNvSpPr>
                <a:spLocks noGrp="1" noRot="1" noChangeAspect="1" noMove="1" noResize="1" noEditPoints="1" noAdjustHandles="1" noChangeArrowheads="1" noChangeShapeType="1" noTextEdit="1"/>
              </p:cNvSpPr>
              <p:nvPr>
                <p:ph idx="1"/>
              </p:nvPr>
            </p:nvSpPr>
            <p:spPr>
              <a:blipFill>
                <a:blip r:embed="rId2"/>
                <a:stretch>
                  <a:fillRect l="-1211" t="-2148" r="-577"/>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766716578"/>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8BE6B-0C65-5110-8483-EE9E77544F77}"/>
              </a:ext>
            </a:extLst>
          </p:cNvPr>
          <p:cNvSpPr>
            <a:spLocks noGrp="1"/>
          </p:cNvSpPr>
          <p:nvPr>
            <p:ph type="title"/>
          </p:nvPr>
        </p:nvSpPr>
        <p:spPr/>
        <p:txBody>
          <a:bodyPr/>
          <a:lstStyle/>
          <a:p>
            <a:r>
              <a:rPr lang="en-US" dirty="0"/>
              <a:t>Scheduling</a:t>
            </a:r>
            <a:endParaRPr lang="en-SE" dirty="0"/>
          </a:p>
        </p:txBody>
      </p:sp>
      <p:sp>
        <p:nvSpPr>
          <p:cNvPr id="3" name="Content Placeholder 2">
            <a:extLst>
              <a:ext uri="{FF2B5EF4-FFF2-40B4-BE49-F238E27FC236}">
                <a16:creationId xmlns:a16="http://schemas.microsoft.com/office/drawing/2014/main" id="{EB56F1D9-966C-5F42-C49B-BBC015FF1F6D}"/>
              </a:ext>
            </a:extLst>
          </p:cNvPr>
          <p:cNvSpPr>
            <a:spLocks noGrp="1"/>
          </p:cNvSpPr>
          <p:nvPr>
            <p:ph idx="1"/>
          </p:nvPr>
        </p:nvSpPr>
        <p:spPr/>
        <p:txBody>
          <a:bodyPr>
            <a:normAutofit/>
          </a:bodyPr>
          <a:lstStyle/>
          <a:p>
            <a:r>
              <a:rPr lang="en-GB" dirty="0"/>
              <a:t>Here is a table of processes and their arrival and execution times.</a:t>
            </a:r>
          </a:p>
          <a:p>
            <a:r>
              <a:rPr lang="en-GB" dirty="0"/>
              <a:t>1) </a:t>
            </a:r>
            <a:r>
              <a:rPr lang="en-US" altLang="zh-CN" dirty="0"/>
              <a:t>Draw the Gantt chart </a:t>
            </a:r>
            <a:r>
              <a:rPr lang="en-GB" dirty="0"/>
              <a:t>under 4 policies: First Come First Serve (FCFS), Shortest Job First (SJF), Shortest-Remaining-Time-First (SRTF), Round-Robin (RR) with time quantum = 1. Assume that context switch overhead is 0. For RR, assume that an arriving process is scheduled to run at the beginning of its arrival time, i.e., it is added to the head of the queue upon arrival. </a:t>
            </a:r>
          </a:p>
          <a:p>
            <a:r>
              <a:rPr lang="en-GB" dirty="0"/>
              <a:t>2) Compute the finish times and response times for all processes, and the average response time. (If the division is hard, write a fraction like 28/5 instead of 5.6)</a:t>
            </a:r>
          </a:p>
        </p:txBody>
      </p:sp>
    </p:spTree>
    <p:extLst>
      <p:ext uri="{BB962C8B-B14F-4D97-AF65-F5344CB8AC3E}">
        <p14:creationId xmlns:p14="http://schemas.microsoft.com/office/powerpoint/2010/main" val="105798708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E8027-5F46-AE07-1A33-4FEF2B5E971C}"/>
              </a:ext>
            </a:extLst>
          </p:cNvPr>
          <p:cNvSpPr>
            <a:spLocks noGrp="1"/>
          </p:cNvSpPr>
          <p:nvPr>
            <p:ph type="title"/>
          </p:nvPr>
        </p:nvSpPr>
        <p:spPr/>
        <p:txBody>
          <a:bodyPr/>
          <a:lstStyle/>
          <a:p>
            <a:r>
              <a:rPr lang="en-US" dirty="0"/>
              <a:t>Scheduling I</a:t>
            </a:r>
            <a:endParaRPr lang="en-SE" dirty="0"/>
          </a:p>
        </p:txBody>
      </p:sp>
      <p:graphicFrame>
        <p:nvGraphicFramePr>
          <p:cNvPr id="6" name="表格 6">
            <a:extLst>
              <a:ext uri="{FF2B5EF4-FFF2-40B4-BE49-F238E27FC236}">
                <a16:creationId xmlns:a16="http://schemas.microsoft.com/office/drawing/2014/main" id="{F56D55BF-D2CA-CC53-ED25-ACF1ECCD8AEA}"/>
              </a:ext>
            </a:extLst>
          </p:cNvPr>
          <p:cNvGraphicFramePr>
            <a:graphicFrameLocks noGrp="1"/>
          </p:cNvGraphicFramePr>
          <p:nvPr>
            <p:extLst>
              <p:ext uri="{D42A27DB-BD31-4B8C-83A1-F6EECF244321}">
                <p14:modId xmlns:p14="http://schemas.microsoft.com/office/powerpoint/2010/main" val="3612067224"/>
              </p:ext>
            </p:extLst>
          </p:nvPr>
        </p:nvGraphicFramePr>
        <p:xfrm>
          <a:off x="571185" y="1240518"/>
          <a:ext cx="10769917" cy="2651760"/>
        </p:xfrm>
        <a:graphic>
          <a:graphicData uri="http://schemas.openxmlformats.org/drawingml/2006/table">
            <a:tbl>
              <a:tblPr firstRow="1" bandRow="1">
                <a:tableStyleId>{5C22544A-7EE6-4342-B048-85BDC9FD1C3A}</a:tableStyleId>
              </a:tblPr>
              <a:tblGrid>
                <a:gridCol w="600000">
                  <a:extLst>
                    <a:ext uri="{9D8B030D-6E8A-4147-A177-3AD203B41FA5}">
                      <a16:colId xmlns:a16="http://schemas.microsoft.com/office/drawing/2014/main" val="3897766631"/>
                    </a:ext>
                  </a:extLst>
                </a:gridCol>
                <a:gridCol w="814309">
                  <a:extLst>
                    <a:ext uri="{9D8B030D-6E8A-4147-A177-3AD203B41FA5}">
                      <a16:colId xmlns:a16="http://schemas.microsoft.com/office/drawing/2014/main" val="3850674632"/>
                    </a:ext>
                  </a:extLst>
                </a:gridCol>
                <a:gridCol w="778832">
                  <a:extLst>
                    <a:ext uri="{9D8B030D-6E8A-4147-A177-3AD203B41FA5}">
                      <a16:colId xmlns:a16="http://schemas.microsoft.com/office/drawing/2014/main" val="3839086762"/>
                    </a:ext>
                  </a:extLst>
                </a:gridCol>
                <a:gridCol w="1072097">
                  <a:extLst>
                    <a:ext uri="{9D8B030D-6E8A-4147-A177-3AD203B41FA5}">
                      <a16:colId xmlns:a16="http://schemas.microsoft.com/office/drawing/2014/main" val="3306942541"/>
                    </a:ext>
                  </a:extLst>
                </a:gridCol>
                <a:gridCol w="1072097">
                  <a:extLst>
                    <a:ext uri="{9D8B030D-6E8A-4147-A177-3AD203B41FA5}">
                      <a16:colId xmlns:a16="http://schemas.microsoft.com/office/drawing/2014/main" val="3517187588"/>
                    </a:ext>
                  </a:extLst>
                </a:gridCol>
                <a:gridCol w="922097">
                  <a:extLst>
                    <a:ext uri="{9D8B030D-6E8A-4147-A177-3AD203B41FA5}">
                      <a16:colId xmlns:a16="http://schemas.microsoft.com/office/drawing/2014/main" val="2248621"/>
                    </a:ext>
                  </a:extLst>
                </a:gridCol>
                <a:gridCol w="1222097">
                  <a:extLst>
                    <a:ext uri="{9D8B030D-6E8A-4147-A177-3AD203B41FA5}">
                      <a16:colId xmlns:a16="http://schemas.microsoft.com/office/drawing/2014/main" val="2712044097"/>
                    </a:ext>
                  </a:extLst>
                </a:gridCol>
                <a:gridCol w="922097">
                  <a:extLst>
                    <a:ext uri="{9D8B030D-6E8A-4147-A177-3AD203B41FA5}">
                      <a16:colId xmlns:a16="http://schemas.microsoft.com/office/drawing/2014/main" val="4072710305"/>
                    </a:ext>
                  </a:extLst>
                </a:gridCol>
                <a:gridCol w="1222097">
                  <a:extLst>
                    <a:ext uri="{9D8B030D-6E8A-4147-A177-3AD203B41FA5}">
                      <a16:colId xmlns:a16="http://schemas.microsoft.com/office/drawing/2014/main" val="3685768401"/>
                    </a:ext>
                  </a:extLst>
                </a:gridCol>
                <a:gridCol w="922097">
                  <a:extLst>
                    <a:ext uri="{9D8B030D-6E8A-4147-A177-3AD203B41FA5}">
                      <a16:colId xmlns:a16="http://schemas.microsoft.com/office/drawing/2014/main" val="3601507115"/>
                    </a:ext>
                  </a:extLst>
                </a:gridCol>
                <a:gridCol w="1222097">
                  <a:extLst>
                    <a:ext uri="{9D8B030D-6E8A-4147-A177-3AD203B41FA5}">
                      <a16:colId xmlns:a16="http://schemas.microsoft.com/office/drawing/2014/main" val="2233393087"/>
                    </a:ext>
                  </a:extLst>
                </a:gridCol>
              </a:tblGrid>
              <a:tr h="731472">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Exec 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Finish</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Response</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SJF Finish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SJF Response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Finish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Response Time</a:t>
                      </a:r>
                    </a:p>
                  </a:txBody>
                  <a:tcPr/>
                </a:tc>
                <a:tc>
                  <a:txBody>
                    <a:bodyPr/>
                    <a:lstStyle/>
                    <a:p>
                      <a:pPr algn="r"/>
                      <a:r>
                        <a:rPr lang="en-US" b="0" dirty="0">
                          <a:solidFill>
                            <a:schemeClr val="tx1"/>
                          </a:solidFill>
                        </a:rPr>
                        <a:t>RR</a:t>
                      </a:r>
                    </a:p>
                    <a:p>
                      <a:pPr algn="r"/>
                      <a:r>
                        <a:rPr lang="en-US" b="0" dirty="0">
                          <a:solidFill>
                            <a:schemeClr val="tx1"/>
                          </a:solidFill>
                        </a:rPr>
                        <a:t>Finish Time</a:t>
                      </a:r>
                    </a:p>
                  </a:txBody>
                  <a:tcPr/>
                </a:tc>
                <a:tc>
                  <a:txBody>
                    <a:bodyPr/>
                    <a:lstStyle/>
                    <a:p>
                      <a:pPr algn="r"/>
                      <a:r>
                        <a:rPr lang="en-US" b="0" dirty="0">
                          <a:solidFill>
                            <a:schemeClr val="tx1"/>
                          </a:solidFill>
                        </a:rPr>
                        <a:t>RR</a:t>
                      </a:r>
                    </a:p>
                    <a:p>
                      <a:pPr algn="r"/>
                      <a:r>
                        <a:rPr lang="en-US" b="0" dirty="0">
                          <a:solidFill>
                            <a:schemeClr val="tx1"/>
                          </a:solidFill>
                        </a:rPr>
                        <a:t>Response Time</a:t>
                      </a:r>
                    </a:p>
                  </a:txBody>
                  <a:tcPr/>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2</a:t>
                      </a:r>
                      <a:endParaRPr lang="en-US" strike="noStrike"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6</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4</a:t>
                      </a:r>
                      <a:endParaRPr lang="en-US" baseline="30000" dirty="0">
                        <a:solidFill>
                          <a:schemeClr val="tx1"/>
                        </a:solidFill>
                      </a:endParaRP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233945708"/>
                  </a:ext>
                </a:extLst>
              </a:tr>
              <a:tr h="0">
                <a:tc>
                  <a:txBody>
                    <a:bodyPr/>
                    <a:lstStyle/>
                    <a:p>
                      <a:pPr algn="r"/>
                      <a:endParaRPr lang="en-US" dirty="0">
                        <a:solidFill>
                          <a:schemeClr val="tx1"/>
                        </a:solidFill>
                      </a:endParaRPr>
                    </a:p>
                  </a:txBody>
                  <a:tcPr/>
                </a:tc>
                <a:tc gridSpan="2">
                  <a:txBody>
                    <a:bodyPr/>
                    <a:lstStyle/>
                    <a:p>
                      <a:pPr algn="r"/>
                      <a:endParaRPr lang="en-US" dirty="0">
                        <a:solidFill>
                          <a:schemeClr val="tx1"/>
                        </a:solidFill>
                      </a:endParaRPr>
                    </a:p>
                  </a:txBody>
                  <a:tcPr/>
                </a:tc>
                <a:tc hMerge="1">
                  <a:txBody>
                    <a:bodyPr/>
                    <a:lstStyle/>
                    <a:p>
                      <a:r>
                        <a:rPr lang="en-US" altLang="zh-CN" dirty="0"/>
                        <a:t>Average</a:t>
                      </a:r>
                      <a:r>
                        <a:rPr lang="zh-CN" altLang="en-US" dirty="0"/>
                        <a:t> </a:t>
                      </a:r>
                      <a:r>
                        <a:rPr lang="en-US" altLang="zh-CN" dirty="0"/>
                        <a:t>Turnaround</a:t>
                      </a:r>
                      <a:endParaRPr lang="en-US" dirty="0"/>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a:t>
                      </a:r>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a:t>
                      </a: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 </a:t>
                      </a:r>
                    </a:p>
                    <a:p>
                      <a:pPr marL="0" marR="0" lvl="0" indent="0" algn="r"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txBody>
                  <a:tcPr/>
                </a:tc>
                <a:extLst>
                  <a:ext uri="{0D108BD9-81ED-4DB2-BD59-A6C34878D82A}">
                    <a16:rowId xmlns:a16="http://schemas.microsoft.com/office/drawing/2014/main" val="2879113726"/>
                  </a:ext>
                </a:extLst>
              </a:tr>
            </a:tbl>
          </a:graphicData>
        </a:graphic>
      </p:graphicFrame>
      <p:graphicFrame>
        <p:nvGraphicFramePr>
          <p:cNvPr id="32" name="Table 31">
            <a:extLst>
              <a:ext uri="{FF2B5EF4-FFF2-40B4-BE49-F238E27FC236}">
                <a16:creationId xmlns:a16="http://schemas.microsoft.com/office/drawing/2014/main" id="{57975AA6-80FA-7BF1-4E89-648A2FFB6619}"/>
              </a:ext>
            </a:extLst>
          </p:cNvPr>
          <p:cNvGraphicFramePr>
            <a:graphicFrameLocks noGrp="1"/>
          </p:cNvGraphicFramePr>
          <p:nvPr>
            <p:extLst>
              <p:ext uri="{D42A27DB-BD31-4B8C-83A1-F6EECF244321}">
                <p14:modId xmlns:p14="http://schemas.microsoft.com/office/powerpoint/2010/main" val="3731690118"/>
              </p:ext>
            </p:extLst>
          </p:nvPr>
        </p:nvGraphicFramePr>
        <p:xfrm>
          <a:off x="3276600" y="4038600"/>
          <a:ext cx="5939140" cy="148336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733727588"/>
                    </a:ext>
                  </a:extLst>
                </a:gridCol>
                <a:gridCol w="510094">
                  <a:extLst>
                    <a:ext uri="{9D8B030D-6E8A-4147-A177-3AD203B41FA5}">
                      <a16:colId xmlns:a16="http://schemas.microsoft.com/office/drawing/2014/main" val="2602592049"/>
                    </a:ext>
                  </a:extLst>
                </a:gridCol>
                <a:gridCol w="510094">
                  <a:extLst>
                    <a:ext uri="{9D8B030D-6E8A-4147-A177-3AD203B41FA5}">
                      <a16:colId xmlns:a16="http://schemas.microsoft.com/office/drawing/2014/main" val="3575549038"/>
                    </a:ext>
                  </a:extLst>
                </a:gridCol>
                <a:gridCol w="510094">
                  <a:extLst>
                    <a:ext uri="{9D8B030D-6E8A-4147-A177-3AD203B41FA5}">
                      <a16:colId xmlns:a16="http://schemas.microsoft.com/office/drawing/2014/main" val="831617333"/>
                    </a:ext>
                  </a:extLst>
                </a:gridCol>
                <a:gridCol w="510094">
                  <a:extLst>
                    <a:ext uri="{9D8B030D-6E8A-4147-A177-3AD203B41FA5}">
                      <a16:colId xmlns:a16="http://schemas.microsoft.com/office/drawing/2014/main" val="3218967563"/>
                    </a:ext>
                  </a:extLst>
                </a:gridCol>
                <a:gridCol w="510094">
                  <a:extLst>
                    <a:ext uri="{9D8B030D-6E8A-4147-A177-3AD203B41FA5}">
                      <a16:colId xmlns:a16="http://schemas.microsoft.com/office/drawing/2014/main" val="3594834760"/>
                    </a:ext>
                  </a:extLst>
                </a:gridCol>
                <a:gridCol w="510094">
                  <a:extLst>
                    <a:ext uri="{9D8B030D-6E8A-4147-A177-3AD203B41FA5}">
                      <a16:colId xmlns:a16="http://schemas.microsoft.com/office/drawing/2014/main" val="2682597463"/>
                    </a:ext>
                  </a:extLst>
                </a:gridCol>
                <a:gridCol w="510094">
                  <a:extLst>
                    <a:ext uri="{9D8B030D-6E8A-4147-A177-3AD203B41FA5}">
                      <a16:colId xmlns:a16="http://schemas.microsoft.com/office/drawing/2014/main" val="3439388444"/>
                    </a:ext>
                  </a:extLst>
                </a:gridCol>
                <a:gridCol w="510094">
                  <a:extLst>
                    <a:ext uri="{9D8B030D-6E8A-4147-A177-3AD203B41FA5}">
                      <a16:colId xmlns:a16="http://schemas.microsoft.com/office/drawing/2014/main" val="3670994415"/>
                    </a:ext>
                  </a:extLst>
                </a:gridCol>
                <a:gridCol w="510094">
                  <a:extLst>
                    <a:ext uri="{9D8B030D-6E8A-4147-A177-3AD203B41FA5}">
                      <a16:colId xmlns:a16="http://schemas.microsoft.com/office/drawing/2014/main" val="3264987435"/>
                    </a:ext>
                  </a:extLst>
                </a:gridCol>
                <a:gridCol w="510094">
                  <a:extLst>
                    <a:ext uri="{9D8B030D-6E8A-4147-A177-3AD203B41FA5}">
                      <a16:colId xmlns:a16="http://schemas.microsoft.com/office/drawing/2014/main" val="2607637358"/>
                    </a:ext>
                  </a:extLst>
                </a:gridCol>
              </a:tblGrid>
              <a:tr h="370840">
                <a:tc>
                  <a:txBody>
                    <a:bodyPr/>
                    <a:lstStyle/>
                    <a:p>
                      <a:r>
                        <a:rPr lang="en-GB" dirty="0"/>
                        <a:t>FCFS</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2765478547"/>
                  </a:ext>
                </a:extLst>
              </a:tr>
              <a:tr h="370840">
                <a:tc>
                  <a:txBody>
                    <a:bodyPr/>
                    <a:lstStyle/>
                    <a:p>
                      <a:r>
                        <a:rPr lang="en-GB" dirty="0"/>
                        <a:t>SJF</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821195699"/>
                  </a:ext>
                </a:extLst>
              </a:tr>
              <a:tr h="370840">
                <a:tc>
                  <a:txBody>
                    <a:bodyPr/>
                    <a:lstStyle/>
                    <a:p>
                      <a:r>
                        <a:rPr lang="en-GB" dirty="0"/>
                        <a:t>SRTF</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695064754"/>
                  </a:ext>
                </a:extLst>
              </a:tr>
              <a:tr h="370840">
                <a:tc>
                  <a:txBody>
                    <a:bodyPr/>
                    <a:lstStyle/>
                    <a:p>
                      <a:r>
                        <a:rPr lang="en-GB" dirty="0"/>
                        <a:t>RR</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62492301"/>
                  </a:ext>
                </a:extLst>
              </a:tr>
            </a:tbl>
          </a:graphicData>
        </a:graphic>
      </p:graphicFrame>
      <p:graphicFrame>
        <p:nvGraphicFramePr>
          <p:cNvPr id="33" name="Table 32">
            <a:extLst>
              <a:ext uri="{FF2B5EF4-FFF2-40B4-BE49-F238E27FC236}">
                <a16:creationId xmlns:a16="http://schemas.microsoft.com/office/drawing/2014/main" id="{8A8433EE-5FDA-45B0-C06A-8C9691339AAA}"/>
              </a:ext>
            </a:extLst>
          </p:cNvPr>
          <p:cNvGraphicFramePr>
            <a:graphicFrameLocks noGrp="1"/>
          </p:cNvGraphicFramePr>
          <p:nvPr>
            <p:extLst>
              <p:ext uri="{D42A27DB-BD31-4B8C-83A1-F6EECF244321}">
                <p14:modId xmlns:p14="http://schemas.microsoft.com/office/powerpoint/2010/main" val="1732515516"/>
              </p:ext>
            </p:extLst>
          </p:nvPr>
        </p:nvGraphicFramePr>
        <p:xfrm>
          <a:off x="3037242" y="5521960"/>
          <a:ext cx="6459539" cy="370840"/>
        </p:xfrm>
        <a:graphic>
          <a:graphicData uri="http://schemas.openxmlformats.org/drawingml/2006/table">
            <a:tbl>
              <a:tblPr firstRow="1" bandRow="1">
                <a:tableStyleId>{2D5ABB26-0587-4C30-8999-92F81FD0307C}</a:tableStyleId>
              </a:tblPr>
              <a:tblGrid>
                <a:gridCol w="839540">
                  <a:extLst>
                    <a:ext uri="{9D8B030D-6E8A-4147-A177-3AD203B41FA5}">
                      <a16:colId xmlns:a16="http://schemas.microsoft.com/office/drawing/2014/main" val="733727588"/>
                    </a:ext>
                  </a:extLst>
                </a:gridCol>
                <a:gridCol w="510909">
                  <a:extLst>
                    <a:ext uri="{9D8B030D-6E8A-4147-A177-3AD203B41FA5}">
                      <a16:colId xmlns:a16="http://schemas.microsoft.com/office/drawing/2014/main" val="2602592049"/>
                    </a:ext>
                  </a:extLst>
                </a:gridCol>
                <a:gridCol w="510909">
                  <a:extLst>
                    <a:ext uri="{9D8B030D-6E8A-4147-A177-3AD203B41FA5}">
                      <a16:colId xmlns:a16="http://schemas.microsoft.com/office/drawing/2014/main" val="3575549038"/>
                    </a:ext>
                  </a:extLst>
                </a:gridCol>
                <a:gridCol w="510909">
                  <a:extLst>
                    <a:ext uri="{9D8B030D-6E8A-4147-A177-3AD203B41FA5}">
                      <a16:colId xmlns:a16="http://schemas.microsoft.com/office/drawing/2014/main" val="831617333"/>
                    </a:ext>
                  </a:extLst>
                </a:gridCol>
                <a:gridCol w="510909">
                  <a:extLst>
                    <a:ext uri="{9D8B030D-6E8A-4147-A177-3AD203B41FA5}">
                      <a16:colId xmlns:a16="http://schemas.microsoft.com/office/drawing/2014/main" val="3218967563"/>
                    </a:ext>
                  </a:extLst>
                </a:gridCol>
                <a:gridCol w="510909">
                  <a:extLst>
                    <a:ext uri="{9D8B030D-6E8A-4147-A177-3AD203B41FA5}">
                      <a16:colId xmlns:a16="http://schemas.microsoft.com/office/drawing/2014/main" val="3594834760"/>
                    </a:ext>
                  </a:extLst>
                </a:gridCol>
                <a:gridCol w="510909">
                  <a:extLst>
                    <a:ext uri="{9D8B030D-6E8A-4147-A177-3AD203B41FA5}">
                      <a16:colId xmlns:a16="http://schemas.microsoft.com/office/drawing/2014/main" val="2682597463"/>
                    </a:ext>
                  </a:extLst>
                </a:gridCol>
                <a:gridCol w="510909">
                  <a:extLst>
                    <a:ext uri="{9D8B030D-6E8A-4147-A177-3AD203B41FA5}">
                      <a16:colId xmlns:a16="http://schemas.microsoft.com/office/drawing/2014/main" val="3439388444"/>
                    </a:ext>
                  </a:extLst>
                </a:gridCol>
                <a:gridCol w="510909">
                  <a:extLst>
                    <a:ext uri="{9D8B030D-6E8A-4147-A177-3AD203B41FA5}">
                      <a16:colId xmlns:a16="http://schemas.microsoft.com/office/drawing/2014/main" val="3670994415"/>
                    </a:ext>
                  </a:extLst>
                </a:gridCol>
                <a:gridCol w="510909">
                  <a:extLst>
                    <a:ext uri="{9D8B030D-6E8A-4147-A177-3AD203B41FA5}">
                      <a16:colId xmlns:a16="http://schemas.microsoft.com/office/drawing/2014/main" val="3264987435"/>
                    </a:ext>
                  </a:extLst>
                </a:gridCol>
                <a:gridCol w="510909">
                  <a:extLst>
                    <a:ext uri="{9D8B030D-6E8A-4147-A177-3AD203B41FA5}">
                      <a16:colId xmlns:a16="http://schemas.microsoft.com/office/drawing/2014/main" val="2607637358"/>
                    </a:ext>
                  </a:extLst>
                </a:gridCol>
                <a:gridCol w="510909">
                  <a:extLst>
                    <a:ext uri="{9D8B030D-6E8A-4147-A177-3AD203B41FA5}">
                      <a16:colId xmlns:a16="http://schemas.microsoft.com/office/drawing/2014/main" val="4040844026"/>
                    </a:ext>
                  </a:extLst>
                </a:gridCol>
              </a:tblGrid>
              <a:tr h="370840">
                <a:tc>
                  <a:txBody>
                    <a:bodyPr/>
                    <a:lstStyle/>
                    <a:p>
                      <a:r>
                        <a:rPr lang="en-GB" dirty="0"/>
                        <a:t>Time </a:t>
                      </a:r>
                      <a:endParaRPr lang="en-SE" dirty="0"/>
                    </a:p>
                  </a:txBody>
                  <a:tcPr/>
                </a:tc>
                <a:tc>
                  <a:txBody>
                    <a:bodyPr/>
                    <a:lstStyle/>
                    <a:p>
                      <a:pPr algn="ctr"/>
                      <a:r>
                        <a:rPr lang="en-GB" dirty="0"/>
                        <a:t>0</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5</a:t>
                      </a:r>
                      <a:endParaRPr lang="en-SE" dirty="0"/>
                    </a:p>
                  </a:txBody>
                  <a:tcPr/>
                </a:tc>
                <a:tc>
                  <a:txBody>
                    <a:bodyPr/>
                    <a:lstStyle/>
                    <a:p>
                      <a:pPr algn="ctr"/>
                      <a:r>
                        <a:rPr lang="en-GB" dirty="0"/>
                        <a:t>6</a:t>
                      </a:r>
                      <a:endParaRPr lang="en-SE" dirty="0"/>
                    </a:p>
                  </a:txBody>
                  <a:tcPr/>
                </a:tc>
                <a:tc>
                  <a:txBody>
                    <a:bodyPr/>
                    <a:lstStyle/>
                    <a:p>
                      <a:pPr algn="ctr"/>
                      <a:r>
                        <a:rPr lang="en-GB" dirty="0"/>
                        <a:t>7</a:t>
                      </a:r>
                      <a:endParaRPr lang="en-SE" dirty="0"/>
                    </a:p>
                  </a:txBody>
                  <a:tcPr/>
                </a:tc>
                <a:tc>
                  <a:txBody>
                    <a:bodyPr/>
                    <a:lstStyle/>
                    <a:p>
                      <a:pPr algn="ctr"/>
                      <a:r>
                        <a:rPr lang="en-GB" dirty="0"/>
                        <a:t>8</a:t>
                      </a:r>
                      <a:endParaRPr lang="en-SE" dirty="0"/>
                    </a:p>
                  </a:txBody>
                  <a:tcPr/>
                </a:tc>
                <a:tc>
                  <a:txBody>
                    <a:bodyPr/>
                    <a:lstStyle/>
                    <a:p>
                      <a:pPr algn="ctr"/>
                      <a:r>
                        <a:rPr lang="en-GB" dirty="0"/>
                        <a:t>9</a:t>
                      </a:r>
                      <a:endParaRPr lang="en-SE" dirty="0"/>
                    </a:p>
                  </a:txBody>
                  <a:tcPr/>
                </a:tc>
                <a:tc>
                  <a:txBody>
                    <a:bodyPr/>
                    <a:lstStyle/>
                    <a:p>
                      <a:pPr algn="ctr"/>
                      <a:r>
                        <a:rPr lang="en-GB" dirty="0"/>
                        <a:t>10</a:t>
                      </a:r>
                      <a:endParaRPr lang="en-SE" dirty="0"/>
                    </a:p>
                  </a:txBody>
                  <a:tcPr/>
                </a:tc>
                <a:extLst>
                  <a:ext uri="{0D108BD9-81ED-4DB2-BD59-A6C34878D82A}">
                    <a16:rowId xmlns:a16="http://schemas.microsoft.com/office/drawing/2014/main" val="1169300345"/>
                  </a:ext>
                </a:extLst>
              </a:tr>
            </a:tbl>
          </a:graphicData>
        </a:graphic>
      </p:graphicFrame>
      <p:sp>
        <p:nvSpPr>
          <p:cNvPr id="36" name="Content Placeholder 2">
            <a:extLst>
              <a:ext uri="{FF2B5EF4-FFF2-40B4-BE49-F238E27FC236}">
                <a16:creationId xmlns:a16="http://schemas.microsoft.com/office/drawing/2014/main" id="{5DDDDC17-1B53-D0C6-AC2C-40B2632F153E}"/>
              </a:ext>
            </a:extLst>
          </p:cNvPr>
          <p:cNvSpPr>
            <a:spLocks noGrp="1"/>
          </p:cNvSpPr>
          <p:nvPr>
            <p:ph idx="1"/>
          </p:nvPr>
        </p:nvSpPr>
        <p:spPr>
          <a:xfrm>
            <a:off x="5490212" y="5892800"/>
            <a:ext cx="1676400" cy="395575"/>
          </a:xfrm>
        </p:spPr>
        <p:txBody>
          <a:bodyPr>
            <a:normAutofit lnSpcReduction="10000"/>
          </a:bodyPr>
          <a:lstStyle/>
          <a:p>
            <a:pPr marL="0" indent="0">
              <a:buNone/>
            </a:pPr>
            <a:r>
              <a:rPr lang="en-GB" sz="2400" dirty="0"/>
              <a:t>Gantt Chart</a:t>
            </a:r>
            <a:endParaRPr lang="en-SE" sz="2400" dirty="0"/>
          </a:p>
        </p:txBody>
      </p:sp>
    </p:spTree>
    <p:extLst>
      <p:ext uri="{BB962C8B-B14F-4D97-AF65-F5344CB8AC3E}">
        <p14:creationId xmlns:p14="http://schemas.microsoft.com/office/powerpoint/2010/main" val="82076810"/>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AC1DC6-65FD-902D-179B-2081EE4B53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418E9A-71B3-4EE2-668D-B117E5DAAF73}"/>
              </a:ext>
            </a:extLst>
          </p:cNvPr>
          <p:cNvSpPr>
            <a:spLocks noGrp="1"/>
          </p:cNvSpPr>
          <p:nvPr>
            <p:ph type="title"/>
          </p:nvPr>
        </p:nvSpPr>
        <p:spPr/>
        <p:txBody>
          <a:bodyPr/>
          <a:lstStyle/>
          <a:p>
            <a:r>
              <a:rPr lang="en-US" dirty="0"/>
              <a:t>Scheduling I ANS</a:t>
            </a:r>
            <a:endParaRPr lang="en-SE" dirty="0"/>
          </a:p>
        </p:txBody>
      </p:sp>
      <p:graphicFrame>
        <p:nvGraphicFramePr>
          <p:cNvPr id="6" name="表格 6">
            <a:extLst>
              <a:ext uri="{FF2B5EF4-FFF2-40B4-BE49-F238E27FC236}">
                <a16:creationId xmlns:a16="http://schemas.microsoft.com/office/drawing/2014/main" id="{554771CD-BFB6-6462-29E4-2DE6E213704D}"/>
              </a:ext>
            </a:extLst>
          </p:cNvPr>
          <p:cNvGraphicFramePr>
            <a:graphicFrameLocks noGrp="1"/>
          </p:cNvGraphicFramePr>
          <p:nvPr>
            <p:extLst>
              <p:ext uri="{D42A27DB-BD31-4B8C-83A1-F6EECF244321}">
                <p14:modId xmlns:p14="http://schemas.microsoft.com/office/powerpoint/2010/main" val="473350421"/>
              </p:ext>
            </p:extLst>
          </p:nvPr>
        </p:nvGraphicFramePr>
        <p:xfrm>
          <a:off x="571185" y="1240518"/>
          <a:ext cx="10769917" cy="2651760"/>
        </p:xfrm>
        <a:graphic>
          <a:graphicData uri="http://schemas.openxmlformats.org/drawingml/2006/table">
            <a:tbl>
              <a:tblPr firstRow="1" bandRow="1">
                <a:tableStyleId>{5C22544A-7EE6-4342-B048-85BDC9FD1C3A}</a:tableStyleId>
              </a:tblPr>
              <a:tblGrid>
                <a:gridCol w="600000">
                  <a:extLst>
                    <a:ext uri="{9D8B030D-6E8A-4147-A177-3AD203B41FA5}">
                      <a16:colId xmlns:a16="http://schemas.microsoft.com/office/drawing/2014/main" val="3897766631"/>
                    </a:ext>
                  </a:extLst>
                </a:gridCol>
                <a:gridCol w="814309">
                  <a:extLst>
                    <a:ext uri="{9D8B030D-6E8A-4147-A177-3AD203B41FA5}">
                      <a16:colId xmlns:a16="http://schemas.microsoft.com/office/drawing/2014/main" val="3850674632"/>
                    </a:ext>
                  </a:extLst>
                </a:gridCol>
                <a:gridCol w="778832">
                  <a:extLst>
                    <a:ext uri="{9D8B030D-6E8A-4147-A177-3AD203B41FA5}">
                      <a16:colId xmlns:a16="http://schemas.microsoft.com/office/drawing/2014/main" val="3839086762"/>
                    </a:ext>
                  </a:extLst>
                </a:gridCol>
                <a:gridCol w="1072097">
                  <a:extLst>
                    <a:ext uri="{9D8B030D-6E8A-4147-A177-3AD203B41FA5}">
                      <a16:colId xmlns:a16="http://schemas.microsoft.com/office/drawing/2014/main" val="3306942541"/>
                    </a:ext>
                  </a:extLst>
                </a:gridCol>
                <a:gridCol w="1072097">
                  <a:extLst>
                    <a:ext uri="{9D8B030D-6E8A-4147-A177-3AD203B41FA5}">
                      <a16:colId xmlns:a16="http://schemas.microsoft.com/office/drawing/2014/main" val="3517187588"/>
                    </a:ext>
                  </a:extLst>
                </a:gridCol>
                <a:gridCol w="922097">
                  <a:extLst>
                    <a:ext uri="{9D8B030D-6E8A-4147-A177-3AD203B41FA5}">
                      <a16:colId xmlns:a16="http://schemas.microsoft.com/office/drawing/2014/main" val="2248621"/>
                    </a:ext>
                  </a:extLst>
                </a:gridCol>
                <a:gridCol w="1222097">
                  <a:extLst>
                    <a:ext uri="{9D8B030D-6E8A-4147-A177-3AD203B41FA5}">
                      <a16:colId xmlns:a16="http://schemas.microsoft.com/office/drawing/2014/main" val="2712044097"/>
                    </a:ext>
                  </a:extLst>
                </a:gridCol>
                <a:gridCol w="922097">
                  <a:extLst>
                    <a:ext uri="{9D8B030D-6E8A-4147-A177-3AD203B41FA5}">
                      <a16:colId xmlns:a16="http://schemas.microsoft.com/office/drawing/2014/main" val="4072710305"/>
                    </a:ext>
                  </a:extLst>
                </a:gridCol>
                <a:gridCol w="1222097">
                  <a:extLst>
                    <a:ext uri="{9D8B030D-6E8A-4147-A177-3AD203B41FA5}">
                      <a16:colId xmlns:a16="http://schemas.microsoft.com/office/drawing/2014/main" val="3685768401"/>
                    </a:ext>
                  </a:extLst>
                </a:gridCol>
                <a:gridCol w="922097">
                  <a:extLst>
                    <a:ext uri="{9D8B030D-6E8A-4147-A177-3AD203B41FA5}">
                      <a16:colId xmlns:a16="http://schemas.microsoft.com/office/drawing/2014/main" val="3601507115"/>
                    </a:ext>
                  </a:extLst>
                </a:gridCol>
                <a:gridCol w="1222097">
                  <a:extLst>
                    <a:ext uri="{9D8B030D-6E8A-4147-A177-3AD203B41FA5}">
                      <a16:colId xmlns:a16="http://schemas.microsoft.com/office/drawing/2014/main" val="2233393087"/>
                    </a:ext>
                  </a:extLst>
                </a:gridCol>
              </a:tblGrid>
              <a:tr h="731472">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Exec 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Finish</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Response</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SJF Finish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SJF Response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Finish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Response Time</a:t>
                      </a:r>
                    </a:p>
                  </a:txBody>
                  <a:tcPr/>
                </a:tc>
                <a:tc>
                  <a:txBody>
                    <a:bodyPr/>
                    <a:lstStyle/>
                    <a:p>
                      <a:pPr algn="r"/>
                      <a:r>
                        <a:rPr lang="en-US" b="0" dirty="0">
                          <a:solidFill>
                            <a:schemeClr val="tx1"/>
                          </a:solidFill>
                        </a:rPr>
                        <a:t>RR</a:t>
                      </a:r>
                    </a:p>
                    <a:p>
                      <a:pPr algn="r"/>
                      <a:r>
                        <a:rPr lang="en-US" b="0" dirty="0">
                          <a:solidFill>
                            <a:schemeClr val="tx1"/>
                          </a:solidFill>
                        </a:rPr>
                        <a:t>Finish Time</a:t>
                      </a:r>
                    </a:p>
                  </a:txBody>
                  <a:tcPr/>
                </a:tc>
                <a:tc>
                  <a:txBody>
                    <a:bodyPr/>
                    <a:lstStyle/>
                    <a:p>
                      <a:pPr algn="r"/>
                      <a:r>
                        <a:rPr lang="en-US" b="0" dirty="0">
                          <a:solidFill>
                            <a:schemeClr val="tx1"/>
                          </a:solidFill>
                        </a:rPr>
                        <a:t>RR</a:t>
                      </a:r>
                    </a:p>
                    <a:p>
                      <a:pPr algn="r"/>
                      <a:r>
                        <a:rPr lang="en-US" b="0" dirty="0">
                          <a:solidFill>
                            <a:schemeClr val="tx1"/>
                          </a:solidFill>
                        </a:rPr>
                        <a:t>Response Time</a:t>
                      </a:r>
                    </a:p>
                  </a:txBody>
                  <a:tcPr/>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2</a:t>
                      </a:r>
                      <a:endParaRPr lang="en-US" strike="noStrike" dirty="0">
                        <a:solidFill>
                          <a:schemeClr val="tx1"/>
                        </a:solidFill>
                      </a:endParaRP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dirty="0">
                          <a:solidFill>
                            <a:schemeClr val="tx1"/>
                          </a:solidFill>
                        </a:rPr>
                        <a:t>2</a:t>
                      </a:r>
                    </a:p>
                  </a:txBody>
                  <a:tcPr/>
                </a:tc>
                <a:tc>
                  <a:txBody>
                    <a:bodyPr/>
                    <a:lstStyle/>
                    <a:p>
                      <a:pPr algn="r"/>
                      <a:r>
                        <a:rPr lang="en-US" dirty="0">
                          <a:solidFill>
                            <a:schemeClr val="tx1"/>
                          </a:solidFill>
                        </a:rPr>
                        <a:t>2</a:t>
                      </a:r>
                    </a:p>
                  </a:txBody>
                  <a:tcPr/>
                </a:tc>
                <a:tc>
                  <a:txBody>
                    <a:bodyPr/>
                    <a:lstStyle/>
                    <a:p>
                      <a:pPr algn="r"/>
                      <a:r>
                        <a:rPr lang="en-US" dirty="0">
                          <a:solidFill>
                            <a:schemeClr val="tx1"/>
                          </a:solidFill>
                        </a:rPr>
                        <a:t>3</a:t>
                      </a:r>
                    </a:p>
                  </a:txBody>
                  <a:tcPr/>
                </a:tc>
                <a:tc>
                  <a:txBody>
                    <a:bodyPr/>
                    <a:lstStyle/>
                    <a:p>
                      <a:pPr algn="r"/>
                      <a:r>
                        <a:rPr lang="en-US" dirty="0">
                          <a:solidFill>
                            <a:schemeClr val="tx1"/>
                          </a:solidFill>
                        </a:rPr>
                        <a:t>3</a:t>
                      </a: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6</a:t>
                      </a:r>
                      <a:endParaRPr lang="en-US" dirty="0">
                        <a:solidFill>
                          <a:schemeClr val="tx1"/>
                        </a:solidFill>
                      </a:endParaRPr>
                    </a:p>
                  </a:txBody>
                  <a:tcPr/>
                </a:tc>
                <a:tc>
                  <a:txBody>
                    <a:bodyPr/>
                    <a:lstStyle/>
                    <a:p>
                      <a:pPr algn="r"/>
                      <a:r>
                        <a:rPr lang="en-US" altLang="zh-CN" dirty="0">
                          <a:solidFill>
                            <a:schemeClr val="tx1"/>
                          </a:solidFill>
                        </a:rPr>
                        <a:t>8</a:t>
                      </a:r>
                      <a:endParaRPr lang="en-US" dirty="0">
                        <a:solidFill>
                          <a:schemeClr val="tx1"/>
                        </a:solidFill>
                      </a:endParaRPr>
                    </a:p>
                  </a:txBody>
                  <a:tcPr/>
                </a:tc>
                <a:tc>
                  <a:txBody>
                    <a:bodyPr/>
                    <a:lstStyle/>
                    <a:p>
                      <a:pPr algn="r"/>
                      <a:r>
                        <a:rPr lang="en-US" dirty="0">
                          <a:solidFill>
                            <a:schemeClr val="tx1"/>
                          </a:solidFill>
                        </a:rPr>
                        <a:t>7</a:t>
                      </a:r>
                    </a:p>
                  </a:txBody>
                  <a:tcPr/>
                </a:tc>
                <a:tc>
                  <a:txBody>
                    <a:bodyPr/>
                    <a:lstStyle/>
                    <a:p>
                      <a:pPr algn="r"/>
                      <a:r>
                        <a:rPr lang="en-US" altLang="zh-CN" dirty="0">
                          <a:solidFill>
                            <a:schemeClr val="tx1"/>
                          </a:solidFill>
                        </a:rPr>
                        <a:t>8</a:t>
                      </a:r>
                      <a:endParaRPr lang="en-US" dirty="0">
                        <a:solidFill>
                          <a:schemeClr val="tx1"/>
                        </a:solidFill>
                      </a:endParaRPr>
                    </a:p>
                  </a:txBody>
                  <a:tcPr/>
                </a:tc>
                <a:tc>
                  <a:txBody>
                    <a:bodyPr/>
                    <a:lstStyle/>
                    <a:p>
                      <a:pPr algn="r"/>
                      <a:r>
                        <a:rPr lang="en-US" dirty="0">
                          <a:solidFill>
                            <a:schemeClr val="tx1"/>
                          </a:solidFill>
                        </a:rPr>
                        <a:t>7</a:t>
                      </a:r>
                    </a:p>
                  </a:txBody>
                  <a:tcPr/>
                </a:tc>
                <a:tc>
                  <a:txBody>
                    <a:bodyPr/>
                    <a:lstStyle/>
                    <a:p>
                      <a:pPr algn="r"/>
                      <a:r>
                        <a:rPr lang="en-US" dirty="0">
                          <a:solidFill>
                            <a:schemeClr val="tx1"/>
                          </a:solidFill>
                        </a:rPr>
                        <a:t>10</a:t>
                      </a:r>
                    </a:p>
                  </a:txBody>
                  <a:tcPr/>
                </a:tc>
                <a:tc>
                  <a:txBody>
                    <a:bodyPr/>
                    <a:lstStyle/>
                    <a:p>
                      <a:pPr algn="r"/>
                      <a:r>
                        <a:rPr lang="en-US" dirty="0">
                          <a:solidFill>
                            <a:schemeClr val="tx1"/>
                          </a:solidFill>
                        </a:rPr>
                        <a:t>9</a:t>
                      </a:r>
                    </a:p>
                  </a:txBody>
                  <a:tcPr/>
                </a:tc>
                <a:tc>
                  <a:txBody>
                    <a:bodyPr/>
                    <a:lstStyle/>
                    <a:p>
                      <a:pPr algn="r"/>
                      <a:r>
                        <a:rPr lang="en-US" dirty="0">
                          <a:solidFill>
                            <a:schemeClr val="tx1"/>
                          </a:solidFill>
                        </a:rPr>
                        <a:t>10</a:t>
                      </a:r>
                    </a:p>
                  </a:txBody>
                  <a:tcPr/>
                </a:tc>
                <a:tc>
                  <a:txBody>
                    <a:bodyPr/>
                    <a:lstStyle/>
                    <a:p>
                      <a:pPr algn="r"/>
                      <a:r>
                        <a:rPr lang="en-US" dirty="0">
                          <a:solidFill>
                            <a:schemeClr val="tx1"/>
                          </a:solidFill>
                        </a:rPr>
                        <a:t>9</a:t>
                      </a: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4</a:t>
                      </a:r>
                      <a:endParaRPr lang="en-US" baseline="30000" dirty="0">
                        <a:solidFill>
                          <a:schemeClr val="tx1"/>
                        </a:solidFill>
                      </a:endParaRP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r>
                        <a:rPr lang="en-US" altLang="zh-CN" dirty="0">
                          <a:solidFill>
                            <a:schemeClr val="tx1"/>
                          </a:solidFill>
                        </a:rPr>
                        <a:t>10</a:t>
                      </a:r>
                      <a:endParaRPr lang="en-US" dirty="0">
                        <a:solidFill>
                          <a:schemeClr val="tx1"/>
                        </a:solidFill>
                      </a:endParaRPr>
                    </a:p>
                  </a:txBody>
                  <a:tcPr/>
                </a:tc>
                <a:tc>
                  <a:txBody>
                    <a:bodyPr/>
                    <a:lstStyle/>
                    <a:p>
                      <a:pPr algn="r"/>
                      <a:r>
                        <a:rPr lang="en-US" dirty="0">
                          <a:solidFill>
                            <a:schemeClr val="tx1"/>
                          </a:solidFill>
                        </a:rPr>
                        <a:t>6</a:t>
                      </a:r>
                    </a:p>
                  </a:txBody>
                  <a:tcPr/>
                </a:tc>
                <a:tc>
                  <a:txBody>
                    <a:bodyPr/>
                    <a:lstStyle/>
                    <a:p>
                      <a:pPr algn="r"/>
                      <a:r>
                        <a:rPr lang="en-US" altLang="zh-CN" dirty="0">
                          <a:solidFill>
                            <a:schemeClr val="tx1"/>
                          </a:solidFill>
                        </a:rPr>
                        <a:t>10</a:t>
                      </a:r>
                      <a:endParaRPr lang="en-US" dirty="0">
                        <a:solidFill>
                          <a:schemeClr val="tx1"/>
                        </a:solidFill>
                      </a:endParaRPr>
                    </a:p>
                  </a:txBody>
                  <a:tcPr/>
                </a:tc>
                <a:tc>
                  <a:txBody>
                    <a:bodyPr/>
                    <a:lstStyle/>
                    <a:p>
                      <a:pPr algn="r"/>
                      <a:r>
                        <a:rPr lang="en-US" dirty="0">
                          <a:solidFill>
                            <a:schemeClr val="tx1"/>
                          </a:solidFill>
                        </a:rPr>
                        <a:t>6</a:t>
                      </a:r>
                    </a:p>
                  </a:txBody>
                  <a:tcPr/>
                </a:tc>
                <a:tc>
                  <a:txBody>
                    <a:bodyPr/>
                    <a:lstStyle/>
                    <a:p>
                      <a:pPr algn="r"/>
                      <a:r>
                        <a:rPr lang="en-US" dirty="0">
                          <a:solidFill>
                            <a:schemeClr val="tx1"/>
                          </a:solidFill>
                        </a:rPr>
                        <a:t>6</a:t>
                      </a:r>
                    </a:p>
                  </a:txBody>
                  <a:tcPr/>
                </a:tc>
                <a:tc>
                  <a:txBody>
                    <a:bodyPr/>
                    <a:lstStyle/>
                    <a:p>
                      <a:pPr algn="r"/>
                      <a:r>
                        <a:rPr lang="en-US" dirty="0">
                          <a:solidFill>
                            <a:schemeClr val="tx1"/>
                          </a:solidFill>
                        </a:rPr>
                        <a:t>2</a:t>
                      </a:r>
                    </a:p>
                  </a:txBody>
                  <a:tcPr/>
                </a:tc>
                <a:tc>
                  <a:txBody>
                    <a:bodyPr/>
                    <a:lstStyle/>
                    <a:p>
                      <a:pPr algn="r"/>
                      <a:r>
                        <a:rPr lang="en-US" dirty="0">
                          <a:solidFill>
                            <a:schemeClr val="tx1"/>
                          </a:solidFill>
                        </a:rPr>
                        <a:t>7</a:t>
                      </a:r>
                    </a:p>
                  </a:txBody>
                  <a:tcPr/>
                </a:tc>
                <a:tc>
                  <a:txBody>
                    <a:bodyPr/>
                    <a:lstStyle/>
                    <a:p>
                      <a:pPr algn="r"/>
                      <a:r>
                        <a:rPr lang="en-US" dirty="0">
                          <a:solidFill>
                            <a:schemeClr val="tx1"/>
                          </a:solidFill>
                        </a:rPr>
                        <a:t>3</a:t>
                      </a:r>
                    </a:p>
                  </a:txBody>
                  <a:tcPr/>
                </a:tc>
                <a:extLst>
                  <a:ext uri="{0D108BD9-81ED-4DB2-BD59-A6C34878D82A}">
                    <a16:rowId xmlns:a16="http://schemas.microsoft.com/office/drawing/2014/main" val="1233945708"/>
                  </a:ext>
                </a:extLst>
              </a:tr>
              <a:tr h="0">
                <a:tc>
                  <a:txBody>
                    <a:bodyPr/>
                    <a:lstStyle/>
                    <a:p>
                      <a:pPr algn="r"/>
                      <a:endParaRPr lang="en-US" dirty="0">
                        <a:solidFill>
                          <a:schemeClr val="tx1"/>
                        </a:solidFill>
                      </a:endParaRPr>
                    </a:p>
                  </a:txBody>
                  <a:tcPr/>
                </a:tc>
                <a:tc gridSpan="2">
                  <a:txBody>
                    <a:bodyPr/>
                    <a:lstStyle/>
                    <a:p>
                      <a:pPr algn="r"/>
                      <a:endParaRPr lang="en-US" dirty="0">
                        <a:solidFill>
                          <a:schemeClr val="tx1"/>
                        </a:solidFill>
                      </a:endParaRPr>
                    </a:p>
                  </a:txBody>
                  <a:tcPr/>
                </a:tc>
                <a:tc hMerge="1">
                  <a:txBody>
                    <a:bodyPr/>
                    <a:lstStyle/>
                    <a:p>
                      <a:r>
                        <a:rPr lang="en-US" altLang="zh-CN" dirty="0"/>
                        <a:t>Average</a:t>
                      </a:r>
                      <a:r>
                        <a:rPr lang="zh-CN" altLang="en-US" dirty="0"/>
                        <a:t> </a:t>
                      </a:r>
                      <a:r>
                        <a:rPr lang="en-US" altLang="zh-CN" dirty="0"/>
                        <a:t>Turnaround</a:t>
                      </a:r>
                      <a:endParaRPr lang="en-US" dirty="0"/>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5</a:t>
                      </a:r>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a:t>
                      </a:r>
                      <a:r>
                        <a:rPr lang="en-US">
                          <a:solidFill>
                            <a:schemeClr val="tx1"/>
                          </a:solidFill>
                        </a:rPr>
                        <a:t>RT 5</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 4.3</a:t>
                      </a: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 5</a:t>
                      </a:r>
                    </a:p>
                  </a:txBody>
                  <a:tcPr/>
                </a:tc>
                <a:extLst>
                  <a:ext uri="{0D108BD9-81ED-4DB2-BD59-A6C34878D82A}">
                    <a16:rowId xmlns:a16="http://schemas.microsoft.com/office/drawing/2014/main" val="2879113726"/>
                  </a:ext>
                </a:extLst>
              </a:tr>
            </a:tbl>
          </a:graphicData>
        </a:graphic>
      </p:graphicFrame>
      <p:graphicFrame>
        <p:nvGraphicFramePr>
          <p:cNvPr id="32" name="Table 31">
            <a:extLst>
              <a:ext uri="{FF2B5EF4-FFF2-40B4-BE49-F238E27FC236}">
                <a16:creationId xmlns:a16="http://schemas.microsoft.com/office/drawing/2014/main" id="{00EAADDA-ADD5-1E2E-0833-84BA339292D7}"/>
              </a:ext>
            </a:extLst>
          </p:cNvPr>
          <p:cNvGraphicFramePr>
            <a:graphicFrameLocks noGrp="1"/>
          </p:cNvGraphicFramePr>
          <p:nvPr/>
        </p:nvGraphicFramePr>
        <p:xfrm>
          <a:off x="3276600" y="4038600"/>
          <a:ext cx="5939140" cy="148336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733727588"/>
                    </a:ext>
                  </a:extLst>
                </a:gridCol>
                <a:gridCol w="510094">
                  <a:extLst>
                    <a:ext uri="{9D8B030D-6E8A-4147-A177-3AD203B41FA5}">
                      <a16:colId xmlns:a16="http://schemas.microsoft.com/office/drawing/2014/main" val="2602592049"/>
                    </a:ext>
                  </a:extLst>
                </a:gridCol>
                <a:gridCol w="510094">
                  <a:extLst>
                    <a:ext uri="{9D8B030D-6E8A-4147-A177-3AD203B41FA5}">
                      <a16:colId xmlns:a16="http://schemas.microsoft.com/office/drawing/2014/main" val="3575549038"/>
                    </a:ext>
                  </a:extLst>
                </a:gridCol>
                <a:gridCol w="510094">
                  <a:extLst>
                    <a:ext uri="{9D8B030D-6E8A-4147-A177-3AD203B41FA5}">
                      <a16:colId xmlns:a16="http://schemas.microsoft.com/office/drawing/2014/main" val="831617333"/>
                    </a:ext>
                  </a:extLst>
                </a:gridCol>
                <a:gridCol w="510094">
                  <a:extLst>
                    <a:ext uri="{9D8B030D-6E8A-4147-A177-3AD203B41FA5}">
                      <a16:colId xmlns:a16="http://schemas.microsoft.com/office/drawing/2014/main" val="3218967563"/>
                    </a:ext>
                  </a:extLst>
                </a:gridCol>
                <a:gridCol w="510094">
                  <a:extLst>
                    <a:ext uri="{9D8B030D-6E8A-4147-A177-3AD203B41FA5}">
                      <a16:colId xmlns:a16="http://schemas.microsoft.com/office/drawing/2014/main" val="3594834760"/>
                    </a:ext>
                  </a:extLst>
                </a:gridCol>
                <a:gridCol w="510094">
                  <a:extLst>
                    <a:ext uri="{9D8B030D-6E8A-4147-A177-3AD203B41FA5}">
                      <a16:colId xmlns:a16="http://schemas.microsoft.com/office/drawing/2014/main" val="2682597463"/>
                    </a:ext>
                  </a:extLst>
                </a:gridCol>
                <a:gridCol w="510094">
                  <a:extLst>
                    <a:ext uri="{9D8B030D-6E8A-4147-A177-3AD203B41FA5}">
                      <a16:colId xmlns:a16="http://schemas.microsoft.com/office/drawing/2014/main" val="3439388444"/>
                    </a:ext>
                  </a:extLst>
                </a:gridCol>
                <a:gridCol w="510094">
                  <a:extLst>
                    <a:ext uri="{9D8B030D-6E8A-4147-A177-3AD203B41FA5}">
                      <a16:colId xmlns:a16="http://schemas.microsoft.com/office/drawing/2014/main" val="3670994415"/>
                    </a:ext>
                  </a:extLst>
                </a:gridCol>
                <a:gridCol w="510094">
                  <a:extLst>
                    <a:ext uri="{9D8B030D-6E8A-4147-A177-3AD203B41FA5}">
                      <a16:colId xmlns:a16="http://schemas.microsoft.com/office/drawing/2014/main" val="3264987435"/>
                    </a:ext>
                  </a:extLst>
                </a:gridCol>
                <a:gridCol w="510094">
                  <a:extLst>
                    <a:ext uri="{9D8B030D-6E8A-4147-A177-3AD203B41FA5}">
                      <a16:colId xmlns:a16="http://schemas.microsoft.com/office/drawing/2014/main" val="2607637358"/>
                    </a:ext>
                  </a:extLst>
                </a:gridCol>
              </a:tblGrid>
              <a:tr h="370840">
                <a:tc>
                  <a:txBody>
                    <a:bodyPr/>
                    <a:lstStyle/>
                    <a:p>
                      <a:r>
                        <a:rPr lang="en-GB" dirty="0"/>
                        <a:t>FCFS</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3</a:t>
                      </a:r>
                      <a:endParaRPr lang="en-SE" dirty="0"/>
                    </a:p>
                  </a:txBody>
                  <a:tcPr/>
                </a:tc>
                <a:extLst>
                  <a:ext uri="{0D108BD9-81ED-4DB2-BD59-A6C34878D82A}">
                    <a16:rowId xmlns:a16="http://schemas.microsoft.com/office/drawing/2014/main" val="2765478547"/>
                  </a:ext>
                </a:extLst>
              </a:tr>
              <a:tr h="370840">
                <a:tc>
                  <a:txBody>
                    <a:bodyPr/>
                    <a:lstStyle/>
                    <a:p>
                      <a:r>
                        <a:rPr lang="en-GB" dirty="0"/>
                        <a:t>SJF</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3</a:t>
                      </a:r>
                      <a:endParaRPr lang="en-SE" dirty="0"/>
                    </a:p>
                  </a:txBody>
                  <a:tcPr/>
                </a:tc>
                <a:extLst>
                  <a:ext uri="{0D108BD9-81ED-4DB2-BD59-A6C34878D82A}">
                    <a16:rowId xmlns:a16="http://schemas.microsoft.com/office/drawing/2014/main" val="3821195699"/>
                  </a:ext>
                </a:extLst>
              </a:tr>
              <a:tr h="370840">
                <a:tc>
                  <a:txBody>
                    <a:bodyPr/>
                    <a:lstStyle/>
                    <a:p>
                      <a:r>
                        <a:rPr lang="en-GB" dirty="0"/>
                        <a:t>SRTF</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3</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extLst>
                  <a:ext uri="{0D108BD9-81ED-4DB2-BD59-A6C34878D82A}">
                    <a16:rowId xmlns:a16="http://schemas.microsoft.com/office/drawing/2014/main" val="695064754"/>
                  </a:ext>
                </a:extLst>
              </a:tr>
              <a:tr h="370840">
                <a:tc>
                  <a:txBody>
                    <a:bodyPr/>
                    <a:lstStyle/>
                    <a:p>
                      <a:r>
                        <a:rPr lang="en-GB" dirty="0"/>
                        <a:t>RR</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extLst>
                  <a:ext uri="{0D108BD9-81ED-4DB2-BD59-A6C34878D82A}">
                    <a16:rowId xmlns:a16="http://schemas.microsoft.com/office/drawing/2014/main" val="362492301"/>
                  </a:ext>
                </a:extLst>
              </a:tr>
            </a:tbl>
          </a:graphicData>
        </a:graphic>
      </p:graphicFrame>
      <p:graphicFrame>
        <p:nvGraphicFramePr>
          <p:cNvPr id="33" name="Table 32">
            <a:extLst>
              <a:ext uri="{FF2B5EF4-FFF2-40B4-BE49-F238E27FC236}">
                <a16:creationId xmlns:a16="http://schemas.microsoft.com/office/drawing/2014/main" id="{F0D2A11F-4806-F819-4EEB-729763B52ADF}"/>
              </a:ext>
            </a:extLst>
          </p:cNvPr>
          <p:cNvGraphicFramePr>
            <a:graphicFrameLocks noGrp="1"/>
          </p:cNvGraphicFramePr>
          <p:nvPr/>
        </p:nvGraphicFramePr>
        <p:xfrm>
          <a:off x="3037242" y="5521960"/>
          <a:ext cx="6459539" cy="370840"/>
        </p:xfrm>
        <a:graphic>
          <a:graphicData uri="http://schemas.openxmlformats.org/drawingml/2006/table">
            <a:tbl>
              <a:tblPr firstRow="1" bandRow="1">
                <a:tableStyleId>{2D5ABB26-0587-4C30-8999-92F81FD0307C}</a:tableStyleId>
              </a:tblPr>
              <a:tblGrid>
                <a:gridCol w="839540">
                  <a:extLst>
                    <a:ext uri="{9D8B030D-6E8A-4147-A177-3AD203B41FA5}">
                      <a16:colId xmlns:a16="http://schemas.microsoft.com/office/drawing/2014/main" val="733727588"/>
                    </a:ext>
                  </a:extLst>
                </a:gridCol>
                <a:gridCol w="510909">
                  <a:extLst>
                    <a:ext uri="{9D8B030D-6E8A-4147-A177-3AD203B41FA5}">
                      <a16:colId xmlns:a16="http://schemas.microsoft.com/office/drawing/2014/main" val="2602592049"/>
                    </a:ext>
                  </a:extLst>
                </a:gridCol>
                <a:gridCol w="510909">
                  <a:extLst>
                    <a:ext uri="{9D8B030D-6E8A-4147-A177-3AD203B41FA5}">
                      <a16:colId xmlns:a16="http://schemas.microsoft.com/office/drawing/2014/main" val="3575549038"/>
                    </a:ext>
                  </a:extLst>
                </a:gridCol>
                <a:gridCol w="510909">
                  <a:extLst>
                    <a:ext uri="{9D8B030D-6E8A-4147-A177-3AD203B41FA5}">
                      <a16:colId xmlns:a16="http://schemas.microsoft.com/office/drawing/2014/main" val="831617333"/>
                    </a:ext>
                  </a:extLst>
                </a:gridCol>
                <a:gridCol w="510909">
                  <a:extLst>
                    <a:ext uri="{9D8B030D-6E8A-4147-A177-3AD203B41FA5}">
                      <a16:colId xmlns:a16="http://schemas.microsoft.com/office/drawing/2014/main" val="3218967563"/>
                    </a:ext>
                  </a:extLst>
                </a:gridCol>
                <a:gridCol w="510909">
                  <a:extLst>
                    <a:ext uri="{9D8B030D-6E8A-4147-A177-3AD203B41FA5}">
                      <a16:colId xmlns:a16="http://schemas.microsoft.com/office/drawing/2014/main" val="3594834760"/>
                    </a:ext>
                  </a:extLst>
                </a:gridCol>
                <a:gridCol w="510909">
                  <a:extLst>
                    <a:ext uri="{9D8B030D-6E8A-4147-A177-3AD203B41FA5}">
                      <a16:colId xmlns:a16="http://schemas.microsoft.com/office/drawing/2014/main" val="2682597463"/>
                    </a:ext>
                  </a:extLst>
                </a:gridCol>
                <a:gridCol w="510909">
                  <a:extLst>
                    <a:ext uri="{9D8B030D-6E8A-4147-A177-3AD203B41FA5}">
                      <a16:colId xmlns:a16="http://schemas.microsoft.com/office/drawing/2014/main" val="3439388444"/>
                    </a:ext>
                  </a:extLst>
                </a:gridCol>
                <a:gridCol w="510909">
                  <a:extLst>
                    <a:ext uri="{9D8B030D-6E8A-4147-A177-3AD203B41FA5}">
                      <a16:colId xmlns:a16="http://schemas.microsoft.com/office/drawing/2014/main" val="3670994415"/>
                    </a:ext>
                  </a:extLst>
                </a:gridCol>
                <a:gridCol w="510909">
                  <a:extLst>
                    <a:ext uri="{9D8B030D-6E8A-4147-A177-3AD203B41FA5}">
                      <a16:colId xmlns:a16="http://schemas.microsoft.com/office/drawing/2014/main" val="3264987435"/>
                    </a:ext>
                  </a:extLst>
                </a:gridCol>
                <a:gridCol w="510909">
                  <a:extLst>
                    <a:ext uri="{9D8B030D-6E8A-4147-A177-3AD203B41FA5}">
                      <a16:colId xmlns:a16="http://schemas.microsoft.com/office/drawing/2014/main" val="2607637358"/>
                    </a:ext>
                  </a:extLst>
                </a:gridCol>
                <a:gridCol w="510909">
                  <a:extLst>
                    <a:ext uri="{9D8B030D-6E8A-4147-A177-3AD203B41FA5}">
                      <a16:colId xmlns:a16="http://schemas.microsoft.com/office/drawing/2014/main" val="4040844026"/>
                    </a:ext>
                  </a:extLst>
                </a:gridCol>
              </a:tblGrid>
              <a:tr h="370840">
                <a:tc>
                  <a:txBody>
                    <a:bodyPr/>
                    <a:lstStyle/>
                    <a:p>
                      <a:r>
                        <a:rPr lang="en-GB" dirty="0"/>
                        <a:t>Time </a:t>
                      </a:r>
                      <a:endParaRPr lang="en-SE" dirty="0"/>
                    </a:p>
                  </a:txBody>
                  <a:tcPr/>
                </a:tc>
                <a:tc>
                  <a:txBody>
                    <a:bodyPr/>
                    <a:lstStyle/>
                    <a:p>
                      <a:pPr algn="ctr"/>
                      <a:r>
                        <a:rPr lang="en-GB" dirty="0"/>
                        <a:t>0</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5</a:t>
                      </a:r>
                      <a:endParaRPr lang="en-SE" dirty="0"/>
                    </a:p>
                  </a:txBody>
                  <a:tcPr/>
                </a:tc>
                <a:tc>
                  <a:txBody>
                    <a:bodyPr/>
                    <a:lstStyle/>
                    <a:p>
                      <a:pPr algn="ctr"/>
                      <a:r>
                        <a:rPr lang="en-GB" dirty="0"/>
                        <a:t>6</a:t>
                      </a:r>
                      <a:endParaRPr lang="en-SE" dirty="0"/>
                    </a:p>
                  </a:txBody>
                  <a:tcPr/>
                </a:tc>
                <a:tc>
                  <a:txBody>
                    <a:bodyPr/>
                    <a:lstStyle/>
                    <a:p>
                      <a:pPr algn="ctr"/>
                      <a:r>
                        <a:rPr lang="en-GB" dirty="0"/>
                        <a:t>7</a:t>
                      </a:r>
                      <a:endParaRPr lang="en-SE" dirty="0"/>
                    </a:p>
                  </a:txBody>
                  <a:tcPr/>
                </a:tc>
                <a:tc>
                  <a:txBody>
                    <a:bodyPr/>
                    <a:lstStyle/>
                    <a:p>
                      <a:pPr algn="ctr"/>
                      <a:r>
                        <a:rPr lang="en-GB" dirty="0"/>
                        <a:t>8</a:t>
                      </a:r>
                      <a:endParaRPr lang="en-SE" dirty="0"/>
                    </a:p>
                  </a:txBody>
                  <a:tcPr/>
                </a:tc>
                <a:tc>
                  <a:txBody>
                    <a:bodyPr/>
                    <a:lstStyle/>
                    <a:p>
                      <a:pPr algn="ctr"/>
                      <a:r>
                        <a:rPr lang="en-GB" dirty="0"/>
                        <a:t>9</a:t>
                      </a:r>
                      <a:endParaRPr lang="en-SE" dirty="0"/>
                    </a:p>
                  </a:txBody>
                  <a:tcPr/>
                </a:tc>
                <a:tc>
                  <a:txBody>
                    <a:bodyPr/>
                    <a:lstStyle/>
                    <a:p>
                      <a:pPr algn="ctr"/>
                      <a:r>
                        <a:rPr lang="en-GB" dirty="0"/>
                        <a:t>10</a:t>
                      </a:r>
                      <a:endParaRPr lang="en-SE" dirty="0"/>
                    </a:p>
                  </a:txBody>
                  <a:tcPr/>
                </a:tc>
                <a:extLst>
                  <a:ext uri="{0D108BD9-81ED-4DB2-BD59-A6C34878D82A}">
                    <a16:rowId xmlns:a16="http://schemas.microsoft.com/office/drawing/2014/main" val="1169300345"/>
                  </a:ext>
                </a:extLst>
              </a:tr>
            </a:tbl>
          </a:graphicData>
        </a:graphic>
      </p:graphicFrame>
      <p:sp>
        <p:nvSpPr>
          <p:cNvPr id="36" name="Content Placeholder 2">
            <a:extLst>
              <a:ext uri="{FF2B5EF4-FFF2-40B4-BE49-F238E27FC236}">
                <a16:creationId xmlns:a16="http://schemas.microsoft.com/office/drawing/2014/main" id="{BEEF5EE8-C76E-AA34-5994-C3A4EB7F41C8}"/>
              </a:ext>
            </a:extLst>
          </p:cNvPr>
          <p:cNvSpPr>
            <a:spLocks noGrp="1"/>
          </p:cNvSpPr>
          <p:nvPr>
            <p:ph idx="1"/>
          </p:nvPr>
        </p:nvSpPr>
        <p:spPr>
          <a:xfrm>
            <a:off x="7317541" y="5796883"/>
            <a:ext cx="1676400" cy="395575"/>
          </a:xfrm>
        </p:spPr>
        <p:txBody>
          <a:bodyPr>
            <a:normAutofit lnSpcReduction="10000"/>
          </a:bodyPr>
          <a:lstStyle/>
          <a:p>
            <a:pPr marL="0" indent="0">
              <a:buNone/>
            </a:pPr>
            <a:r>
              <a:rPr lang="en-GB" sz="2400" dirty="0"/>
              <a:t>Gantt Chart</a:t>
            </a:r>
            <a:endParaRPr lang="en-SE" sz="2400" dirty="0"/>
          </a:p>
        </p:txBody>
      </p:sp>
      <p:cxnSp>
        <p:nvCxnSpPr>
          <p:cNvPr id="3" name="Straight Arrow Connector 2">
            <a:extLst>
              <a:ext uri="{FF2B5EF4-FFF2-40B4-BE49-F238E27FC236}">
                <a16:creationId xmlns:a16="http://schemas.microsoft.com/office/drawing/2014/main" id="{41F14D9E-E168-7744-EA27-8404019A8882}"/>
              </a:ext>
            </a:extLst>
          </p:cNvPr>
          <p:cNvCxnSpPr>
            <a:cxnSpLocks/>
          </p:cNvCxnSpPr>
          <p:nvPr/>
        </p:nvCxnSpPr>
        <p:spPr bwMode="auto">
          <a:xfrm flipV="1">
            <a:off x="4118809" y="5856532"/>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4" name="TextBox 3">
            <a:extLst>
              <a:ext uri="{FF2B5EF4-FFF2-40B4-BE49-F238E27FC236}">
                <a16:creationId xmlns:a16="http://schemas.microsoft.com/office/drawing/2014/main" id="{85948B47-53BC-0BB0-6EF8-0BF47B631131}"/>
              </a:ext>
            </a:extLst>
          </p:cNvPr>
          <p:cNvSpPr txBox="1"/>
          <p:nvPr/>
        </p:nvSpPr>
        <p:spPr>
          <a:xfrm>
            <a:off x="3581400" y="6288375"/>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P1 arrival</a:t>
            </a:r>
            <a:endParaRPr lang="en-SE" dirty="0">
              <a:solidFill>
                <a:schemeClr val="accent1">
                  <a:lumMod val="75000"/>
                </a:schemeClr>
              </a:solidFill>
              <a:latin typeface="Gill Sans Light"/>
            </a:endParaRPr>
          </a:p>
        </p:txBody>
      </p:sp>
      <p:cxnSp>
        <p:nvCxnSpPr>
          <p:cNvPr id="5" name="Straight Arrow Connector 4">
            <a:extLst>
              <a:ext uri="{FF2B5EF4-FFF2-40B4-BE49-F238E27FC236}">
                <a16:creationId xmlns:a16="http://schemas.microsoft.com/office/drawing/2014/main" id="{C1266E1A-B691-83B0-19BE-5310A9B6B11D}"/>
              </a:ext>
            </a:extLst>
          </p:cNvPr>
          <p:cNvCxnSpPr>
            <a:cxnSpLocks/>
          </p:cNvCxnSpPr>
          <p:nvPr/>
        </p:nvCxnSpPr>
        <p:spPr bwMode="auto">
          <a:xfrm flipV="1">
            <a:off x="4636165" y="5879197"/>
            <a:ext cx="0" cy="259272"/>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7" name="TextBox 6">
            <a:extLst>
              <a:ext uri="{FF2B5EF4-FFF2-40B4-BE49-F238E27FC236}">
                <a16:creationId xmlns:a16="http://schemas.microsoft.com/office/drawing/2014/main" id="{22EB69F8-9E00-3584-8C2B-5ECB456610EA}"/>
              </a:ext>
            </a:extLst>
          </p:cNvPr>
          <p:cNvSpPr txBox="1"/>
          <p:nvPr/>
        </p:nvSpPr>
        <p:spPr>
          <a:xfrm>
            <a:off x="4118809" y="6042706"/>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P2 arrival</a:t>
            </a:r>
            <a:endParaRPr lang="en-SE" dirty="0">
              <a:solidFill>
                <a:schemeClr val="accent1">
                  <a:lumMod val="75000"/>
                </a:schemeClr>
              </a:solidFill>
              <a:latin typeface="Gill Sans Light"/>
            </a:endParaRPr>
          </a:p>
        </p:txBody>
      </p:sp>
      <p:cxnSp>
        <p:nvCxnSpPr>
          <p:cNvPr id="10" name="Straight Arrow Connector 9">
            <a:extLst>
              <a:ext uri="{FF2B5EF4-FFF2-40B4-BE49-F238E27FC236}">
                <a16:creationId xmlns:a16="http://schemas.microsoft.com/office/drawing/2014/main" id="{2DCB0EB2-C85B-55BA-BC34-8DE06AB9249B}"/>
              </a:ext>
            </a:extLst>
          </p:cNvPr>
          <p:cNvCxnSpPr>
            <a:cxnSpLocks/>
          </p:cNvCxnSpPr>
          <p:nvPr/>
        </p:nvCxnSpPr>
        <p:spPr bwMode="auto">
          <a:xfrm flipV="1">
            <a:off x="6152942" y="5864752"/>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2" name="TextBox 11">
            <a:extLst>
              <a:ext uri="{FF2B5EF4-FFF2-40B4-BE49-F238E27FC236}">
                <a16:creationId xmlns:a16="http://schemas.microsoft.com/office/drawing/2014/main" id="{EAC50148-17AB-2B4C-A8AB-9C2A8969E968}"/>
              </a:ext>
            </a:extLst>
          </p:cNvPr>
          <p:cNvSpPr txBox="1"/>
          <p:nvPr/>
        </p:nvSpPr>
        <p:spPr>
          <a:xfrm>
            <a:off x="5615533" y="6296595"/>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P3 arrival</a:t>
            </a:r>
            <a:endParaRPr lang="en-SE" dirty="0">
              <a:solidFill>
                <a:schemeClr val="accent1">
                  <a:lumMod val="75000"/>
                </a:schemeClr>
              </a:solidFill>
              <a:latin typeface="Gill Sans Light"/>
            </a:endParaRPr>
          </a:p>
        </p:txBody>
      </p:sp>
      <p:sp>
        <p:nvSpPr>
          <p:cNvPr id="14" name="TextBox 13">
            <a:extLst>
              <a:ext uri="{FF2B5EF4-FFF2-40B4-BE49-F238E27FC236}">
                <a16:creationId xmlns:a16="http://schemas.microsoft.com/office/drawing/2014/main" id="{FEDE3442-36C1-4E98-AF74-D9E2BF7CDBAE}"/>
              </a:ext>
            </a:extLst>
          </p:cNvPr>
          <p:cNvSpPr txBox="1"/>
          <p:nvPr/>
        </p:nvSpPr>
        <p:spPr>
          <a:xfrm>
            <a:off x="67238" y="4487892"/>
            <a:ext cx="3089683" cy="584775"/>
          </a:xfrm>
          <a:prstGeom prst="rect">
            <a:avLst/>
          </a:prstGeom>
          <a:noFill/>
        </p:spPr>
        <p:txBody>
          <a:bodyPr wrap="square">
            <a:spAutoFit/>
          </a:bodyPr>
          <a:lstStyle/>
          <a:p>
            <a:r>
              <a:rPr lang="en-GB" sz="1600" b="0" dirty="0">
                <a:solidFill>
                  <a:srgbClr val="FF0000"/>
                </a:solidFill>
              </a:rPr>
              <a:t>Response time </a:t>
            </a:r>
            <a:r>
              <a:rPr lang="en-US" sz="1600" b="0" dirty="0">
                <a:solidFill>
                  <a:srgbClr val="FF0000"/>
                </a:solidFill>
              </a:rPr>
              <a:t>= </a:t>
            </a:r>
            <a:r>
              <a:rPr lang="en-GB" sz="1600" b="0" dirty="0" err="1">
                <a:solidFill>
                  <a:srgbClr val="FF0000"/>
                </a:solidFill>
              </a:rPr>
              <a:t>FinishTime</a:t>
            </a:r>
            <a:r>
              <a:rPr lang="en-GB" sz="1600" b="0" dirty="0">
                <a:solidFill>
                  <a:srgbClr val="FF0000"/>
                </a:solidFill>
              </a:rPr>
              <a:t> – </a:t>
            </a:r>
            <a:r>
              <a:rPr lang="en-GB" sz="1600" b="0" dirty="0" err="1">
                <a:solidFill>
                  <a:srgbClr val="FF0000"/>
                </a:solidFill>
              </a:rPr>
              <a:t>ArrivalTime</a:t>
            </a:r>
            <a:endParaRPr lang="en-US" sz="1600" b="0" dirty="0"/>
          </a:p>
        </p:txBody>
      </p:sp>
    </p:spTree>
    <p:extLst>
      <p:ext uri="{BB962C8B-B14F-4D97-AF65-F5344CB8AC3E}">
        <p14:creationId xmlns:p14="http://schemas.microsoft.com/office/powerpoint/2010/main" val="339674002"/>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47EFE7-1570-81CA-8C67-68E86B556B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76ABFB-C171-2319-5443-055F7FA74FE1}"/>
              </a:ext>
            </a:extLst>
          </p:cNvPr>
          <p:cNvSpPr>
            <a:spLocks noGrp="1"/>
          </p:cNvSpPr>
          <p:nvPr>
            <p:ph type="title"/>
          </p:nvPr>
        </p:nvSpPr>
        <p:spPr/>
        <p:txBody>
          <a:bodyPr/>
          <a:lstStyle/>
          <a:p>
            <a:r>
              <a:rPr lang="en-US" dirty="0"/>
              <a:t>Scheduling II</a:t>
            </a:r>
            <a:endParaRPr lang="en-SE" dirty="0"/>
          </a:p>
        </p:txBody>
      </p:sp>
      <p:graphicFrame>
        <p:nvGraphicFramePr>
          <p:cNvPr id="6" name="表格 6">
            <a:extLst>
              <a:ext uri="{FF2B5EF4-FFF2-40B4-BE49-F238E27FC236}">
                <a16:creationId xmlns:a16="http://schemas.microsoft.com/office/drawing/2014/main" id="{9E59607C-9FBA-0525-178B-8C1B758047D8}"/>
              </a:ext>
            </a:extLst>
          </p:cNvPr>
          <p:cNvGraphicFramePr>
            <a:graphicFrameLocks noGrp="1"/>
          </p:cNvGraphicFramePr>
          <p:nvPr/>
        </p:nvGraphicFramePr>
        <p:xfrm>
          <a:off x="251086" y="889000"/>
          <a:ext cx="10769917" cy="2743200"/>
        </p:xfrm>
        <a:graphic>
          <a:graphicData uri="http://schemas.openxmlformats.org/drawingml/2006/table">
            <a:tbl>
              <a:tblPr firstRow="1" bandRow="1">
                <a:tableStyleId>{5C22544A-7EE6-4342-B048-85BDC9FD1C3A}</a:tableStyleId>
              </a:tblPr>
              <a:tblGrid>
                <a:gridCol w="600000">
                  <a:extLst>
                    <a:ext uri="{9D8B030D-6E8A-4147-A177-3AD203B41FA5}">
                      <a16:colId xmlns:a16="http://schemas.microsoft.com/office/drawing/2014/main" val="3897766631"/>
                    </a:ext>
                  </a:extLst>
                </a:gridCol>
                <a:gridCol w="814309">
                  <a:extLst>
                    <a:ext uri="{9D8B030D-6E8A-4147-A177-3AD203B41FA5}">
                      <a16:colId xmlns:a16="http://schemas.microsoft.com/office/drawing/2014/main" val="3850674632"/>
                    </a:ext>
                  </a:extLst>
                </a:gridCol>
                <a:gridCol w="778832">
                  <a:extLst>
                    <a:ext uri="{9D8B030D-6E8A-4147-A177-3AD203B41FA5}">
                      <a16:colId xmlns:a16="http://schemas.microsoft.com/office/drawing/2014/main" val="3839086762"/>
                    </a:ext>
                  </a:extLst>
                </a:gridCol>
                <a:gridCol w="1072097">
                  <a:extLst>
                    <a:ext uri="{9D8B030D-6E8A-4147-A177-3AD203B41FA5}">
                      <a16:colId xmlns:a16="http://schemas.microsoft.com/office/drawing/2014/main" val="3306942541"/>
                    </a:ext>
                  </a:extLst>
                </a:gridCol>
                <a:gridCol w="1072097">
                  <a:extLst>
                    <a:ext uri="{9D8B030D-6E8A-4147-A177-3AD203B41FA5}">
                      <a16:colId xmlns:a16="http://schemas.microsoft.com/office/drawing/2014/main" val="3517187588"/>
                    </a:ext>
                  </a:extLst>
                </a:gridCol>
                <a:gridCol w="922097">
                  <a:extLst>
                    <a:ext uri="{9D8B030D-6E8A-4147-A177-3AD203B41FA5}">
                      <a16:colId xmlns:a16="http://schemas.microsoft.com/office/drawing/2014/main" val="2248621"/>
                    </a:ext>
                  </a:extLst>
                </a:gridCol>
                <a:gridCol w="1222097">
                  <a:extLst>
                    <a:ext uri="{9D8B030D-6E8A-4147-A177-3AD203B41FA5}">
                      <a16:colId xmlns:a16="http://schemas.microsoft.com/office/drawing/2014/main" val="2712044097"/>
                    </a:ext>
                  </a:extLst>
                </a:gridCol>
                <a:gridCol w="922097">
                  <a:extLst>
                    <a:ext uri="{9D8B030D-6E8A-4147-A177-3AD203B41FA5}">
                      <a16:colId xmlns:a16="http://schemas.microsoft.com/office/drawing/2014/main" val="4072710305"/>
                    </a:ext>
                  </a:extLst>
                </a:gridCol>
                <a:gridCol w="1222097">
                  <a:extLst>
                    <a:ext uri="{9D8B030D-6E8A-4147-A177-3AD203B41FA5}">
                      <a16:colId xmlns:a16="http://schemas.microsoft.com/office/drawing/2014/main" val="3685768401"/>
                    </a:ext>
                  </a:extLst>
                </a:gridCol>
                <a:gridCol w="922097">
                  <a:extLst>
                    <a:ext uri="{9D8B030D-6E8A-4147-A177-3AD203B41FA5}">
                      <a16:colId xmlns:a16="http://schemas.microsoft.com/office/drawing/2014/main" val="3601507115"/>
                    </a:ext>
                  </a:extLst>
                </a:gridCol>
                <a:gridCol w="1222097">
                  <a:extLst>
                    <a:ext uri="{9D8B030D-6E8A-4147-A177-3AD203B41FA5}">
                      <a16:colId xmlns:a16="http://schemas.microsoft.com/office/drawing/2014/main" val="2233393087"/>
                    </a:ext>
                  </a:extLst>
                </a:gridCol>
              </a:tblGrid>
              <a:tr h="875830">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Exec 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Finish</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Response</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SJF Finish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SJF Response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Finish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Response Time</a:t>
                      </a:r>
                    </a:p>
                  </a:txBody>
                  <a:tcPr/>
                </a:tc>
                <a:tc>
                  <a:txBody>
                    <a:bodyPr/>
                    <a:lstStyle/>
                    <a:p>
                      <a:pPr algn="r"/>
                      <a:r>
                        <a:rPr lang="en-US" b="0" dirty="0">
                          <a:solidFill>
                            <a:schemeClr val="tx1"/>
                          </a:solidFill>
                        </a:rPr>
                        <a:t>RR</a:t>
                      </a:r>
                    </a:p>
                    <a:p>
                      <a:pPr algn="r"/>
                      <a:r>
                        <a:rPr lang="en-US" b="0" dirty="0">
                          <a:solidFill>
                            <a:schemeClr val="tx1"/>
                          </a:solidFill>
                        </a:rPr>
                        <a:t>Finish Time</a:t>
                      </a:r>
                    </a:p>
                  </a:txBody>
                  <a:tcPr/>
                </a:tc>
                <a:tc>
                  <a:txBody>
                    <a:bodyPr/>
                    <a:lstStyle/>
                    <a:p>
                      <a:pPr algn="r"/>
                      <a:r>
                        <a:rPr lang="en-US" b="0" dirty="0">
                          <a:solidFill>
                            <a:schemeClr val="tx1"/>
                          </a:solidFill>
                        </a:rPr>
                        <a:t>RR</a:t>
                      </a:r>
                    </a:p>
                    <a:p>
                      <a:pPr algn="r"/>
                      <a:r>
                        <a:rPr lang="en-US" b="0" dirty="0">
                          <a:solidFill>
                            <a:schemeClr val="tx1"/>
                          </a:solidFill>
                        </a:rPr>
                        <a:t>Response Time</a:t>
                      </a:r>
                    </a:p>
                  </a:txBody>
                  <a:tcPr/>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5</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3</a:t>
                      </a:r>
                      <a:endParaRPr lang="en-US" baseline="30000" dirty="0">
                        <a:solidFill>
                          <a:schemeClr val="tx1"/>
                        </a:solidFill>
                      </a:endParaRP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23394570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4</a:t>
                      </a:r>
                    </a:p>
                  </a:txBody>
                  <a:tcPr/>
                </a:tc>
                <a:tc>
                  <a:txBody>
                    <a:bodyPr/>
                    <a:lstStyle/>
                    <a:p>
                      <a:pPr algn="r"/>
                      <a:r>
                        <a:rPr lang="en-US" baseline="0" dirty="0">
                          <a:solidFill>
                            <a:schemeClr val="tx1"/>
                          </a:solidFill>
                        </a:rPr>
                        <a:t>9</a:t>
                      </a:r>
                    </a:p>
                  </a:txBody>
                  <a:tcPr/>
                </a:tc>
                <a:tc>
                  <a:txBody>
                    <a:bodyPr/>
                    <a:lstStyle/>
                    <a:p>
                      <a:pPr algn="r"/>
                      <a:r>
                        <a:rPr lang="en-US" dirty="0">
                          <a:solidFill>
                            <a:schemeClr val="tx1"/>
                          </a:solidFill>
                        </a:rPr>
                        <a:t>2</a:t>
                      </a: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2284253600"/>
                  </a:ext>
                </a:extLst>
              </a:tr>
              <a:tr h="0">
                <a:tc>
                  <a:txBody>
                    <a:bodyPr/>
                    <a:lstStyle/>
                    <a:p>
                      <a:pPr algn="r"/>
                      <a:endParaRPr lang="en-US" dirty="0">
                        <a:solidFill>
                          <a:schemeClr val="tx1"/>
                        </a:solidFill>
                      </a:endParaRPr>
                    </a:p>
                  </a:txBody>
                  <a:tcPr/>
                </a:tc>
                <a:tc gridSpan="2">
                  <a:txBody>
                    <a:bodyPr/>
                    <a:lstStyle/>
                    <a:p>
                      <a:pPr algn="r"/>
                      <a:endParaRPr lang="en-US" dirty="0">
                        <a:solidFill>
                          <a:schemeClr val="tx1"/>
                        </a:solidFill>
                      </a:endParaRPr>
                    </a:p>
                  </a:txBody>
                  <a:tcPr/>
                </a:tc>
                <a:tc hMerge="1">
                  <a:txBody>
                    <a:bodyPr/>
                    <a:lstStyle/>
                    <a:p>
                      <a:r>
                        <a:rPr lang="en-US" altLang="zh-CN" dirty="0"/>
                        <a:t>Average</a:t>
                      </a:r>
                      <a:r>
                        <a:rPr lang="zh-CN" altLang="en-US" dirty="0"/>
                        <a:t> </a:t>
                      </a:r>
                      <a:r>
                        <a:rPr lang="en-US" altLang="zh-CN" dirty="0"/>
                        <a:t>Turnaround</a:t>
                      </a:r>
                      <a:endParaRPr lang="en-US" dirty="0"/>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a:t>
                      </a:r>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a:t>
                      </a: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 </a:t>
                      </a: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 </a:t>
                      </a:r>
                    </a:p>
                  </a:txBody>
                  <a:tcPr/>
                </a:tc>
                <a:extLst>
                  <a:ext uri="{0D108BD9-81ED-4DB2-BD59-A6C34878D82A}">
                    <a16:rowId xmlns:a16="http://schemas.microsoft.com/office/drawing/2014/main" val="2879113726"/>
                  </a:ext>
                </a:extLst>
              </a:tr>
            </a:tbl>
          </a:graphicData>
        </a:graphic>
      </p:graphicFrame>
      <p:graphicFrame>
        <p:nvGraphicFramePr>
          <p:cNvPr id="32" name="Table 31">
            <a:extLst>
              <a:ext uri="{FF2B5EF4-FFF2-40B4-BE49-F238E27FC236}">
                <a16:creationId xmlns:a16="http://schemas.microsoft.com/office/drawing/2014/main" id="{B8F9F04B-E9FD-D7AF-3C0F-6872766CB875}"/>
              </a:ext>
            </a:extLst>
          </p:cNvPr>
          <p:cNvGraphicFramePr>
            <a:graphicFrameLocks noGrp="1"/>
          </p:cNvGraphicFramePr>
          <p:nvPr>
            <p:extLst>
              <p:ext uri="{D42A27DB-BD31-4B8C-83A1-F6EECF244321}">
                <p14:modId xmlns:p14="http://schemas.microsoft.com/office/powerpoint/2010/main" val="2366394037"/>
              </p:ext>
            </p:extLst>
          </p:nvPr>
        </p:nvGraphicFramePr>
        <p:xfrm>
          <a:off x="2895600" y="4038600"/>
          <a:ext cx="6959328" cy="148336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733727588"/>
                    </a:ext>
                  </a:extLst>
                </a:gridCol>
                <a:gridCol w="510094">
                  <a:extLst>
                    <a:ext uri="{9D8B030D-6E8A-4147-A177-3AD203B41FA5}">
                      <a16:colId xmlns:a16="http://schemas.microsoft.com/office/drawing/2014/main" val="2602592049"/>
                    </a:ext>
                  </a:extLst>
                </a:gridCol>
                <a:gridCol w="510094">
                  <a:extLst>
                    <a:ext uri="{9D8B030D-6E8A-4147-A177-3AD203B41FA5}">
                      <a16:colId xmlns:a16="http://schemas.microsoft.com/office/drawing/2014/main" val="3575549038"/>
                    </a:ext>
                  </a:extLst>
                </a:gridCol>
                <a:gridCol w="510094">
                  <a:extLst>
                    <a:ext uri="{9D8B030D-6E8A-4147-A177-3AD203B41FA5}">
                      <a16:colId xmlns:a16="http://schemas.microsoft.com/office/drawing/2014/main" val="831617333"/>
                    </a:ext>
                  </a:extLst>
                </a:gridCol>
                <a:gridCol w="510094">
                  <a:extLst>
                    <a:ext uri="{9D8B030D-6E8A-4147-A177-3AD203B41FA5}">
                      <a16:colId xmlns:a16="http://schemas.microsoft.com/office/drawing/2014/main" val="3218967563"/>
                    </a:ext>
                  </a:extLst>
                </a:gridCol>
                <a:gridCol w="510094">
                  <a:extLst>
                    <a:ext uri="{9D8B030D-6E8A-4147-A177-3AD203B41FA5}">
                      <a16:colId xmlns:a16="http://schemas.microsoft.com/office/drawing/2014/main" val="3594834760"/>
                    </a:ext>
                  </a:extLst>
                </a:gridCol>
                <a:gridCol w="510094">
                  <a:extLst>
                    <a:ext uri="{9D8B030D-6E8A-4147-A177-3AD203B41FA5}">
                      <a16:colId xmlns:a16="http://schemas.microsoft.com/office/drawing/2014/main" val="2682597463"/>
                    </a:ext>
                  </a:extLst>
                </a:gridCol>
                <a:gridCol w="510094">
                  <a:extLst>
                    <a:ext uri="{9D8B030D-6E8A-4147-A177-3AD203B41FA5}">
                      <a16:colId xmlns:a16="http://schemas.microsoft.com/office/drawing/2014/main" val="3439388444"/>
                    </a:ext>
                  </a:extLst>
                </a:gridCol>
                <a:gridCol w="510094">
                  <a:extLst>
                    <a:ext uri="{9D8B030D-6E8A-4147-A177-3AD203B41FA5}">
                      <a16:colId xmlns:a16="http://schemas.microsoft.com/office/drawing/2014/main" val="3670994415"/>
                    </a:ext>
                  </a:extLst>
                </a:gridCol>
                <a:gridCol w="510094">
                  <a:extLst>
                    <a:ext uri="{9D8B030D-6E8A-4147-A177-3AD203B41FA5}">
                      <a16:colId xmlns:a16="http://schemas.microsoft.com/office/drawing/2014/main" val="3264987435"/>
                    </a:ext>
                  </a:extLst>
                </a:gridCol>
                <a:gridCol w="510094">
                  <a:extLst>
                    <a:ext uri="{9D8B030D-6E8A-4147-A177-3AD203B41FA5}">
                      <a16:colId xmlns:a16="http://schemas.microsoft.com/office/drawing/2014/main" val="2607637358"/>
                    </a:ext>
                  </a:extLst>
                </a:gridCol>
                <a:gridCol w="510094">
                  <a:extLst>
                    <a:ext uri="{9D8B030D-6E8A-4147-A177-3AD203B41FA5}">
                      <a16:colId xmlns:a16="http://schemas.microsoft.com/office/drawing/2014/main" val="4040844026"/>
                    </a:ext>
                  </a:extLst>
                </a:gridCol>
                <a:gridCol w="510094">
                  <a:extLst>
                    <a:ext uri="{9D8B030D-6E8A-4147-A177-3AD203B41FA5}">
                      <a16:colId xmlns:a16="http://schemas.microsoft.com/office/drawing/2014/main" val="1571313798"/>
                    </a:ext>
                  </a:extLst>
                </a:gridCol>
              </a:tblGrid>
              <a:tr h="370840">
                <a:tc>
                  <a:txBody>
                    <a:bodyPr/>
                    <a:lstStyle/>
                    <a:p>
                      <a:r>
                        <a:rPr lang="en-GB" dirty="0"/>
                        <a:t>FCFS</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2765478547"/>
                  </a:ext>
                </a:extLst>
              </a:tr>
              <a:tr h="370840">
                <a:tc>
                  <a:txBody>
                    <a:bodyPr/>
                    <a:lstStyle/>
                    <a:p>
                      <a:r>
                        <a:rPr lang="en-GB" dirty="0"/>
                        <a:t>SJF</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821195699"/>
                  </a:ext>
                </a:extLst>
              </a:tr>
              <a:tr h="370840">
                <a:tc>
                  <a:txBody>
                    <a:bodyPr/>
                    <a:lstStyle/>
                    <a:p>
                      <a:r>
                        <a:rPr lang="en-GB" dirty="0"/>
                        <a:t>SRTF</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695064754"/>
                  </a:ext>
                </a:extLst>
              </a:tr>
              <a:tr h="370840">
                <a:tc>
                  <a:txBody>
                    <a:bodyPr/>
                    <a:lstStyle/>
                    <a:p>
                      <a:r>
                        <a:rPr lang="en-GB" dirty="0"/>
                        <a:t>RR</a:t>
                      </a: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tc>
                  <a:txBody>
                    <a:bodyPr/>
                    <a:lstStyle/>
                    <a:p>
                      <a:pPr algn="ctr"/>
                      <a:endParaRPr lang="en-SE" dirty="0"/>
                    </a:p>
                  </a:txBody>
                  <a:tcPr/>
                </a:tc>
                <a:extLst>
                  <a:ext uri="{0D108BD9-81ED-4DB2-BD59-A6C34878D82A}">
                    <a16:rowId xmlns:a16="http://schemas.microsoft.com/office/drawing/2014/main" val="362492301"/>
                  </a:ext>
                </a:extLst>
              </a:tr>
            </a:tbl>
          </a:graphicData>
        </a:graphic>
      </p:graphicFrame>
      <p:graphicFrame>
        <p:nvGraphicFramePr>
          <p:cNvPr id="33" name="Table 32">
            <a:extLst>
              <a:ext uri="{FF2B5EF4-FFF2-40B4-BE49-F238E27FC236}">
                <a16:creationId xmlns:a16="http://schemas.microsoft.com/office/drawing/2014/main" id="{8477DA40-32A4-696E-A951-47FE7E32C149}"/>
              </a:ext>
            </a:extLst>
          </p:cNvPr>
          <p:cNvGraphicFramePr>
            <a:graphicFrameLocks noGrp="1"/>
          </p:cNvGraphicFramePr>
          <p:nvPr>
            <p:extLst>
              <p:ext uri="{D42A27DB-BD31-4B8C-83A1-F6EECF244321}">
                <p14:modId xmlns:p14="http://schemas.microsoft.com/office/powerpoint/2010/main" val="1963474267"/>
              </p:ext>
            </p:extLst>
          </p:nvPr>
        </p:nvGraphicFramePr>
        <p:xfrm>
          <a:off x="2656242" y="5521960"/>
          <a:ext cx="7361291" cy="370840"/>
        </p:xfrm>
        <a:graphic>
          <a:graphicData uri="http://schemas.openxmlformats.org/drawingml/2006/table">
            <a:tbl>
              <a:tblPr firstRow="1" bandRow="1">
                <a:tableStyleId>{2D5ABB26-0587-4C30-8999-92F81FD0307C}</a:tableStyleId>
              </a:tblPr>
              <a:tblGrid>
                <a:gridCol w="839540">
                  <a:extLst>
                    <a:ext uri="{9D8B030D-6E8A-4147-A177-3AD203B41FA5}">
                      <a16:colId xmlns:a16="http://schemas.microsoft.com/office/drawing/2014/main" val="733727588"/>
                    </a:ext>
                  </a:extLst>
                </a:gridCol>
                <a:gridCol w="510909">
                  <a:extLst>
                    <a:ext uri="{9D8B030D-6E8A-4147-A177-3AD203B41FA5}">
                      <a16:colId xmlns:a16="http://schemas.microsoft.com/office/drawing/2014/main" val="2602592049"/>
                    </a:ext>
                  </a:extLst>
                </a:gridCol>
                <a:gridCol w="510909">
                  <a:extLst>
                    <a:ext uri="{9D8B030D-6E8A-4147-A177-3AD203B41FA5}">
                      <a16:colId xmlns:a16="http://schemas.microsoft.com/office/drawing/2014/main" val="3575549038"/>
                    </a:ext>
                  </a:extLst>
                </a:gridCol>
                <a:gridCol w="510909">
                  <a:extLst>
                    <a:ext uri="{9D8B030D-6E8A-4147-A177-3AD203B41FA5}">
                      <a16:colId xmlns:a16="http://schemas.microsoft.com/office/drawing/2014/main" val="831617333"/>
                    </a:ext>
                  </a:extLst>
                </a:gridCol>
                <a:gridCol w="390843">
                  <a:extLst>
                    <a:ext uri="{9D8B030D-6E8A-4147-A177-3AD203B41FA5}">
                      <a16:colId xmlns:a16="http://schemas.microsoft.com/office/drawing/2014/main" val="3218967563"/>
                    </a:ext>
                  </a:extLst>
                </a:gridCol>
                <a:gridCol w="510909">
                  <a:extLst>
                    <a:ext uri="{9D8B030D-6E8A-4147-A177-3AD203B41FA5}">
                      <a16:colId xmlns:a16="http://schemas.microsoft.com/office/drawing/2014/main" val="3594834760"/>
                    </a:ext>
                  </a:extLst>
                </a:gridCol>
                <a:gridCol w="510909">
                  <a:extLst>
                    <a:ext uri="{9D8B030D-6E8A-4147-A177-3AD203B41FA5}">
                      <a16:colId xmlns:a16="http://schemas.microsoft.com/office/drawing/2014/main" val="2682597463"/>
                    </a:ext>
                  </a:extLst>
                </a:gridCol>
                <a:gridCol w="510909">
                  <a:extLst>
                    <a:ext uri="{9D8B030D-6E8A-4147-A177-3AD203B41FA5}">
                      <a16:colId xmlns:a16="http://schemas.microsoft.com/office/drawing/2014/main" val="3439388444"/>
                    </a:ext>
                  </a:extLst>
                </a:gridCol>
                <a:gridCol w="510909">
                  <a:extLst>
                    <a:ext uri="{9D8B030D-6E8A-4147-A177-3AD203B41FA5}">
                      <a16:colId xmlns:a16="http://schemas.microsoft.com/office/drawing/2014/main" val="3670994415"/>
                    </a:ext>
                  </a:extLst>
                </a:gridCol>
                <a:gridCol w="510909">
                  <a:extLst>
                    <a:ext uri="{9D8B030D-6E8A-4147-A177-3AD203B41FA5}">
                      <a16:colId xmlns:a16="http://schemas.microsoft.com/office/drawing/2014/main" val="3264987435"/>
                    </a:ext>
                  </a:extLst>
                </a:gridCol>
                <a:gridCol w="510909">
                  <a:extLst>
                    <a:ext uri="{9D8B030D-6E8A-4147-A177-3AD203B41FA5}">
                      <a16:colId xmlns:a16="http://schemas.microsoft.com/office/drawing/2014/main" val="2607637358"/>
                    </a:ext>
                  </a:extLst>
                </a:gridCol>
                <a:gridCol w="510909">
                  <a:extLst>
                    <a:ext uri="{9D8B030D-6E8A-4147-A177-3AD203B41FA5}">
                      <a16:colId xmlns:a16="http://schemas.microsoft.com/office/drawing/2014/main" val="4040844026"/>
                    </a:ext>
                  </a:extLst>
                </a:gridCol>
                <a:gridCol w="510909">
                  <a:extLst>
                    <a:ext uri="{9D8B030D-6E8A-4147-A177-3AD203B41FA5}">
                      <a16:colId xmlns:a16="http://schemas.microsoft.com/office/drawing/2014/main" val="1571313798"/>
                    </a:ext>
                  </a:extLst>
                </a:gridCol>
                <a:gridCol w="510909">
                  <a:extLst>
                    <a:ext uri="{9D8B030D-6E8A-4147-A177-3AD203B41FA5}">
                      <a16:colId xmlns:a16="http://schemas.microsoft.com/office/drawing/2014/main" val="931111055"/>
                    </a:ext>
                  </a:extLst>
                </a:gridCol>
              </a:tblGrid>
              <a:tr h="370840">
                <a:tc>
                  <a:txBody>
                    <a:bodyPr/>
                    <a:lstStyle/>
                    <a:p>
                      <a:r>
                        <a:rPr lang="en-GB" dirty="0"/>
                        <a:t>Time </a:t>
                      </a:r>
                      <a:endParaRPr lang="en-SE" dirty="0"/>
                    </a:p>
                  </a:txBody>
                  <a:tcPr/>
                </a:tc>
                <a:tc>
                  <a:txBody>
                    <a:bodyPr/>
                    <a:lstStyle/>
                    <a:p>
                      <a:pPr algn="ctr"/>
                      <a:r>
                        <a:rPr lang="en-GB" dirty="0"/>
                        <a:t>0</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5</a:t>
                      </a:r>
                      <a:endParaRPr lang="en-SE" dirty="0"/>
                    </a:p>
                  </a:txBody>
                  <a:tcPr/>
                </a:tc>
                <a:tc>
                  <a:txBody>
                    <a:bodyPr/>
                    <a:lstStyle/>
                    <a:p>
                      <a:pPr algn="ctr"/>
                      <a:r>
                        <a:rPr lang="en-GB" dirty="0"/>
                        <a:t>6</a:t>
                      </a:r>
                      <a:endParaRPr lang="en-SE" dirty="0"/>
                    </a:p>
                  </a:txBody>
                  <a:tcPr/>
                </a:tc>
                <a:tc>
                  <a:txBody>
                    <a:bodyPr/>
                    <a:lstStyle/>
                    <a:p>
                      <a:pPr algn="ctr"/>
                      <a:r>
                        <a:rPr lang="en-GB" dirty="0"/>
                        <a:t>7</a:t>
                      </a:r>
                      <a:endParaRPr lang="en-SE" dirty="0"/>
                    </a:p>
                  </a:txBody>
                  <a:tcPr/>
                </a:tc>
                <a:tc>
                  <a:txBody>
                    <a:bodyPr/>
                    <a:lstStyle/>
                    <a:p>
                      <a:pPr algn="ctr"/>
                      <a:r>
                        <a:rPr lang="en-GB" dirty="0"/>
                        <a:t>8</a:t>
                      </a:r>
                      <a:endParaRPr lang="en-SE" dirty="0"/>
                    </a:p>
                  </a:txBody>
                  <a:tcPr/>
                </a:tc>
                <a:tc>
                  <a:txBody>
                    <a:bodyPr/>
                    <a:lstStyle/>
                    <a:p>
                      <a:pPr algn="ctr"/>
                      <a:r>
                        <a:rPr lang="en-GB" dirty="0"/>
                        <a:t>9</a:t>
                      </a:r>
                      <a:endParaRPr lang="en-SE" dirty="0"/>
                    </a:p>
                  </a:txBody>
                  <a:tcPr/>
                </a:tc>
                <a:tc>
                  <a:txBody>
                    <a:bodyPr/>
                    <a:lstStyle/>
                    <a:p>
                      <a:pPr algn="ctr"/>
                      <a:r>
                        <a:rPr lang="en-GB" dirty="0"/>
                        <a:t>10</a:t>
                      </a:r>
                      <a:endParaRPr lang="en-SE" dirty="0"/>
                    </a:p>
                  </a:txBody>
                  <a:tcPr/>
                </a:tc>
                <a:tc>
                  <a:txBody>
                    <a:bodyPr/>
                    <a:lstStyle/>
                    <a:p>
                      <a:pPr algn="ctr"/>
                      <a:r>
                        <a:rPr lang="en-GB" dirty="0"/>
                        <a:t>11</a:t>
                      </a:r>
                      <a:endParaRPr lang="en-SE" dirty="0"/>
                    </a:p>
                  </a:txBody>
                  <a:tcPr/>
                </a:tc>
                <a:tc>
                  <a:txBody>
                    <a:bodyPr/>
                    <a:lstStyle/>
                    <a:p>
                      <a:pPr algn="ctr"/>
                      <a:r>
                        <a:rPr lang="en-GB" dirty="0"/>
                        <a:t>12</a:t>
                      </a:r>
                      <a:endParaRPr lang="en-SE" dirty="0"/>
                    </a:p>
                  </a:txBody>
                  <a:tcPr/>
                </a:tc>
                <a:extLst>
                  <a:ext uri="{0D108BD9-81ED-4DB2-BD59-A6C34878D82A}">
                    <a16:rowId xmlns:a16="http://schemas.microsoft.com/office/drawing/2014/main" val="1169300345"/>
                  </a:ext>
                </a:extLst>
              </a:tr>
            </a:tbl>
          </a:graphicData>
        </a:graphic>
      </p:graphicFrame>
      <p:sp>
        <p:nvSpPr>
          <p:cNvPr id="36" name="Content Placeholder 2">
            <a:extLst>
              <a:ext uri="{FF2B5EF4-FFF2-40B4-BE49-F238E27FC236}">
                <a16:creationId xmlns:a16="http://schemas.microsoft.com/office/drawing/2014/main" id="{A3E78703-1E7E-8610-9A1F-E93CA60B988D}"/>
              </a:ext>
            </a:extLst>
          </p:cNvPr>
          <p:cNvSpPr>
            <a:spLocks noGrp="1"/>
          </p:cNvSpPr>
          <p:nvPr>
            <p:ph idx="1"/>
          </p:nvPr>
        </p:nvSpPr>
        <p:spPr>
          <a:xfrm>
            <a:off x="5537064" y="5959172"/>
            <a:ext cx="1676400" cy="395575"/>
          </a:xfrm>
        </p:spPr>
        <p:txBody>
          <a:bodyPr>
            <a:normAutofit lnSpcReduction="10000"/>
          </a:bodyPr>
          <a:lstStyle/>
          <a:p>
            <a:pPr marL="0" indent="0">
              <a:buNone/>
            </a:pPr>
            <a:r>
              <a:rPr lang="en-GB" sz="2400" dirty="0"/>
              <a:t>Gantt Chart</a:t>
            </a:r>
            <a:endParaRPr lang="en-SE" sz="2400" dirty="0"/>
          </a:p>
        </p:txBody>
      </p:sp>
    </p:spTree>
    <p:extLst>
      <p:ext uri="{BB962C8B-B14F-4D97-AF65-F5344CB8AC3E}">
        <p14:creationId xmlns:p14="http://schemas.microsoft.com/office/powerpoint/2010/main" val="3408101800"/>
      </p:ext>
    </p:extLst>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E224D-CE2B-C9BC-14EB-B815184D8C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2315A7-63E7-58ED-769B-C1B9FBE22BC2}"/>
              </a:ext>
            </a:extLst>
          </p:cNvPr>
          <p:cNvSpPr>
            <a:spLocks noGrp="1"/>
          </p:cNvSpPr>
          <p:nvPr>
            <p:ph type="title"/>
          </p:nvPr>
        </p:nvSpPr>
        <p:spPr/>
        <p:txBody>
          <a:bodyPr/>
          <a:lstStyle/>
          <a:p>
            <a:r>
              <a:rPr lang="en-US"/>
              <a:t>Scheduling II ANS</a:t>
            </a:r>
            <a:endParaRPr lang="en-SE" dirty="0"/>
          </a:p>
        </p:txBody>
      </p:sp>
      <p:graphicFrame>
        <p:nvGraphicFramePr>
          <p:cNvPr id="6" name="表格 6">
            <a:extLst>
              <a:ext uri="{FF2B5EF4-FFF2-40B4-BE49-F238E27FC236}">
                <a16:creationId xmlns:a16="http://schemas.microsoft.com/office/drawing/2014/main" id="{0C5C220C-57BB-4A26-90EF-1B4C9D9A49FD}"/>
              </a:ext>
            </a:extLst>
          </p:cNvPr>
          <p:cNvGraphicFramePr>
            <a:graphicFrameLocks noGrp="1"/>
          </p:cNvGraphicFramePr>
          <p:nvPr>
            <p:extLst>
              <p:ext uri="{D42A27DB-BD31-4B8C-83A1-F6EECF244321}">
                <p14:modId xmlns:p14="http://schemas.microsoft.com/office/powerpoint/2010/main" val="969077823"/>
              </p:ext>
            </p:extLst>
          </p:nvPr>
        </p:nvGraphicFramePr>
        <p:xfrm>
          <a:off x="710887" y="854105"/>
          <a:ext cx="10769917" cy="3017520"/>
        </p:xfrm>
        <a:graphic>
          <a:graphicData uri="http://schemas.openxmlformats.org/drawingml/2006/table">
            <a:tbl>
              <a:tblPr firstRow="1" bandRow="1">
                <a:tableStyleId>{5C22544A-7EE6-4342-B048-85BDC9FD1C3A}</a:tableStyleId>
              </a:tblPr>
              <a:tblGrid>
                <a:gridCol w="600000">
                  <a:extLst>
                    <a:ext uri="{9D8B030D-6E8A-4147-A177-3AD203B41FA5}">
                      <a16:colId xmlns:a16="http://schemas.microsoft.com/office/drawing/2014/main" val="3897766631"/>
                    </a:ext>
                  </a:extLst>
                </a:gridCol>
                <a:gridCol w="814309">
                  <a:extLst>
                    <a:ext uri="{9D8B030D-6E8A-4147-A177-3AD203B41FA5}">
                      <a16:colId xmlns:a16="http://schemas.microsoft.com/office/drawing/2014/main" val="3850674632"/>
                    </a:ext>
                  </a:extLst>
                </a:gridCol>
                <a:gridCol w="778832">
                  <a:extLst>
                    <a:ext uri="{9D8B030D-6E8A-4147-A177-3AD203B41FA5}">
                      <a16:colId xmlns:a16="http://schemas.microsoft.com/office/drawing/2014/main" val="3839086762"/>
                    </a:ext>
                  </a:extLst>
                </a:gridCol>
                <a:gridCol w="1072097">
                  <a:extLst>
                    <a:ext uri="{9D8B030D-6E8A-4147-A177-3AD203B41FA5}">
                      <a16:colId xmlns:a16="http://schemas.microsoft.com/office/drawing/2014/main" val="3306942541"/>
                    </a:ext>
                  </a:extLst>
                </a:gridCol>
                <a:gridCol w="1072097">
                  <a:extLst>
                    <a:ext uri="{9D8B030D-6E8A-4147-A177-3AD203B41FA5}">
                      <a16:colId xmlns:a16="http://schemas.microsoft.com/office/drawing/2014/main" val="3517187588"/>
                    </a:ext>
                  </a:extLst>
                </a:gridCol>
                <a:gridCol w="922097">
                  <a:extLst>
                    <a:ext uri="{9D8B030D-6E8A-4147-A177-3AD203B41FA5}">
                      <a16:colId xmlns:a16="http://schemas.microsoft.com/office/drawing/2014/main" val="2248621"/>
                    </a:ext>
                  </a:extLst>
                </a:gridCol>
                <a:gridCol w="1222097">
                  <a:extLst>
                    <a:ext uri="{9D8B030D-6E8A-4147-A177-3AD203B41FA5}">
                      <a16:colId xmlns:a16="http://schemas.microsoft.com/office/drawing/2014/main" val="2712044097"/>
                    </a:ext>
                  </a:extLst>
                </a:gridCol>
                <a:gridCol w="922097">
                  <a:extLst>
                    <a:ext uri="{9D8B030D-6E8A-4147-A177-3AD203B41FA5}">
                      <a16:colId xmlns:a16="http://schemas.microsoft.com/office/drawing/2014/main" val="4072710305"/>
                    </a:ext>
                  </a:extLst>
                </a:gridCol>
                <a:gridCol w="1222097">
                  <a:extLst>
                    <a:ext uri="{9D8B030D-6E8A-4147-A177-3AD203B41FA5}">
                      <a16:colId xmlns:a16="http://schemas.microsoft.com/office/drawing/2014/main" val="3685768401"/>
                    </a:ext>
                  </a:extLst>
                </a:gridCol>
                <a:gridCol w="922097">
                  <a:extLst>
                    <a:ext uri="{9D8B030D-6E8A-4147-A177-3AD203B41FA5}">
                      <a16:colId xmlns:a16="http://schemas.microsoft.com/office/drawing/2014/main" val="3601507115"/>
                    </a:ext>
                  </a:extLst>
                </a:gridCol>
                <a:gridCol w="1222097">
                  <a:extLst>
                    <a:ext uri="{9D8B030D-6E8A-4147-A177-3AD203B41FA5}">
                      <a16:colId xmlns:a16="http://schemas.microsoft.com/office/drawing/2014/main" val="2233393087"/>
                    </a:ext>
                  </a:extLst>
                </a:gridCol>
              </a:tblGrid>
              <a:tr h="875830">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Exec 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Finish</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Response</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SJF Finish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SJF Response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Finish Time</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SRTF Response Time</a:t>
                      </a:r>
                    </a:p>
                  </a:txBody>
                  <a:tcPr/>
                </a:tc>
                <a:tc>
                  <a:txBody>
                    <a:bodyPr/>
                    <a:lstStyle/>
                    <a:p>
                      <a:pPr algn="r"/>
                      <a:r>
                        <a:rPr lang="en-US" b="0" dirty="0">
                          <a:solidFill>
                            <a:schemeClr val="tx1"/>
                          </a:solidFill>
                        </a:rPr>
                        <a:t>RR</a:t>
                      </a:r>
                    </a:p>
                    <a:p>
                      <a:pPr algn="r"/>
                      <a:r>
                        <a:rPr lang="en-US" b="0" dirty="0">
                          <a:solidFill>
                            <a:schemeClr val="tx1"/>
                          </a:solidFill>
                        </a:rPr>
                        <a:t>Finish Time</a:t>
                      </a:r>
                    </a:p>
                  </a:txBody>
                  <a:tcPr/>
                </a:tc>
                <a:tc>
                  <a:txBody>
                    <a:bodyPr/>
                    <a:lstStyle/>
                    <a:p>
                      <a:pPr algn="r"/>
                      <a:r>
                        <a:rPr lang="en-US" b="0" dirty="0">
                          <a:solidFill>
                            <a:schemeClr val="tx1"/>
                          </a:solidFill>
                        </a:rPr>
                        <a:t>RR</a:t>
                      </a:r>
                    </a:p>
                    <a:p>
                      <a:pPr algn="r"/>
                      <a:r>
                        <a:rPr lang="en-US" b="0" dirty="0">
                          <a:solidFill>
                            <a:schemeClr val="tx1"/>
                          </a:solidFill>
                        </a:rPr>
                        <a:t>Response Time</a:t>
                      </a:r>
                    </a:p>
                  </a:txBody>
                  <a:tcPr/>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tc>
                  <a:txBody>
                    <a:bodyPr/>
                    <a:lstStyle/>
                    <a:p>
                      <a:pPr algn="r"/>
                      <a:r>
                        <a:rPr lang="en-US" altLang="zh-CN" dirty="0">
                          <a:solidFill>
                            <a:schemeClr val="tx1"/>
                          </a:solidFill>
                        </a:rPr>
                        <a:t>3</a:t>
                      </a:r>
                      <a:endParaRPr lang="en-US" dirty="0">
                        <a:solidFill>
                          <a:schemeClr val="tx1"/>
                        </a:solidFill>
                      </a:endParaRPr>
                    </a:p>
                  </a:txBody>
                  <a:tcPr/>
                </a:tc>
                <a:tc>
                  <a:txBody>
                    <a:bodyPr/>
                    <a:lstStyle/>
                    <a:p>
                      <a:pPr algn="r"/>
                      <a:r>
                        <a:rPr lang="en-US" dirty="0">
                          <a:solidFill>
                            <a:schemeClr val="tx1"/>
                          </a:solidFill>
                        </a:rPr>
                        <a:t>3</a:t>
                      </a:r>
                    </a:p>
                  </a:txBody>
                  <a:tcPr/>
                </a:tc>
                <a:tc>
                  <a:txBody>
                    <a:bodyPr/>
                    <a:lstStyle/>
                    <a:p>
                      <a:pPr algn="r"/>
                      <a:r>
                        <a:rPr lang="en-US" dirty="0">
                          <a:solidFill>
                            <a:schemeClr val="tx1"/>
                          </a:solidFill>
                        </a:rPr>
                        <a:t>3</a:t>
                      </a:r>
                    </a:p>
                  </a:txBody>
                  <a:tcPr/>
                </a:tc>
                <a:tc>
                  <a:txBody>
                    <a:bodyPr/>
                    <a:lstStyle/>
                    <a:p>
                      <a:pPr algn="r"/>
                      <a:r>
                        <a:rPr lang="en-US" dirty="0">
                          <a:solidFill>
                            <a:schemeClr val="tx1"/>
                          </a:solidFill>
                        </a:rPr>
                        <a:t>3</a:t>
                      </a:r>
                    </a:p>
                  </a:txBody>
                  <a:tcPr/>
                </a:tc>
                <a:tc>
                  <a:txBody>
                    <a:bodyPr/>
                    <a:lstStyle/>
                    <a:p>
                      <a:pPr algn="r"/>
                      <a:r>
                        <a:rPr lang="en-US" dirty="0">
                          <a:solidFill>
                            <a:schemeClr val="tx1"/>
                          </a:solidFill>
                        </a:rPr>
                        <a:t>3</a:t>
                      </a:r>
                    </a:p>
                  </a:txBody>
                  <a:tcPr/>
                </a:tc>
                <a:tc>
                  <a:txBody>
                    <a:bodyPr/>
                    <a:lstStyle/>
                    <a:p>
                      <a:pPr algn="r"/>
                      <a:r>
                        <a:rPr lang="en-US" dirty="0">
                          <a:solidFill>
                            <a:schemeClr val="tx1"/>
                          </a:solidFill>
                        </a:rPr>
                        <a:t>3</a:t>
                      </a:r>
                    </a:p>
                  </a:txBody>
                  <a:tcPr/>
                </a:tc>
                <a:tc>
                  <a:txBody>
                    <a:bodyPr/>
                    <a:lstStyle/>
                    <a:p>
                      <a:pPr algn="r"/>
                      <a:r>
                        <a:rPr lang="en-US" dirty="0">
                          <a:solidFill>
                            <a:schemeClr val="tx1"/>
                          </a:solidFill>
                        </a:rPr>
                        <a:t>6</a:t>
                      </a:r>
                    </a:p>
                  </a:txBody>
                  <a:tcPr/>
                </a:tc>
                <a:tc>
                  <a:txBody>
                    <a:bodyPr/>
                    <a:lstStyle/>
                    <a:p>
                      <a:pPr algn="r"/>
                      <a:r>
                        <a:rPr lang="en-US" dirty="0">
                          <a:solidFill>
                            <a:schemeClr val="tx1"/>
                          </a:solidFill>
                        </a:rPr>
                        <a:t>6</a:t>
                      </a: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1</a:t>
                      </a:r>
                      <a:endParaRPr lang="en-US" baseline="0" dirty="0">
                        <a:solidFill>
                          <a:schemeClr val="tx1"/>
                        </a:solidFill>
                      </a:endParaRPr>
                    </a:p>
                  </a:txBody>
                  <a:tcPr/>
                </a:tc>
                <a:tc>
                  <a:txBody>
                    <a:bodyPr/>
                    <a:lstStyle/>
                    <a:p>
                      <a:pPr algn="r"/>
                      <a:r>
                        <a:rPr lang="en-US" altLang="zh-CN" dirty="0">
                          <a:solidFill>
                            <a:schemeClr val="tx1"/>
                          </a:solidFill>
                        </a:rPr>
                        <a:t>5</a:t>
                      </a:r>
                      <a:endParaRPr lang="en-US" dirty="0">
                        <a:solidFill>
                          <a:schemeClr val="tx1"/>
                        </a:solidFill>
                      </a:endParaRPr>
                    </a:p>
                  </a:txBody>
                  <a:tcPr/>
                </a:tc>
                <a:tc>
                  <a:txBody>
                    <a:bodyPr/>
                    <a:lstStyle/>
                    <a:p>
                      <a:pPr algn="r"/>
                      <a:r>
                        <a:rPr lang="en-US" altLang="zh-CN" dirty="0">
                          <a:solidFill>
                            <a:schemeClr val="tx1"/>
                          </a:solidFill>
                        </a:rPr>
                        <a:t>8</a:t>
                      </a:r>
                      <a:endParaRPr lang="en-US" dirty="0">
                        <a:solidFill>
                          <a:schemeClr val="tx1"/>
                        </a:solidFill>
                      </a:endParaRPr>
                    </a:p>
                  </a:txBody>
                  <a:tcPr/>
                </a:tc>
                <a:tc>
                  <a:txBody>
                    <a:bodyPr/>
                    <a:lstStyle/>
                    <a:p>
                      <a:pPr algn="r"/>
                      <a:r>
                        <a:rPr lang="en-US" dirty="0">
                          <a:solidFill>
                            <a:schemeClr val="tx1"/>
                          </a:solidFill>
                        </a:rPr>
                        <a:t>7</a:t>
                      </a:r>
                    </a:p>
                  </a:txBody>
                  <a:tcPr/>
                </a:tc>
                <a:tc>
                  <a:txBody>
                    <a:bodyPr/>
                    <a:lstStyle/>
                    <a:p>
                      <a:pPr algn="r"/>
                      <a:r>
                        <a:rPr lang="en-US" dirty="0">
                          <a:solidFill>
                            <a:schemeClr val="tx1"/>
                          </a:solidFill>
                        </a:rPr>
                        <a:t>10</a:t>
                      </a:r>
                    </a:p>
                  </a:txBody>
                  <a:tcPr/>
                </a:tc>
                <a:tc>
                  <a:txBody>
                    <a:bodyPr/>
                    <a:lstStyle/>
                    <a:p>
                      <a:pPr algn="r"/>
                      <a:r>
                        <a:rPr lang="en-US" dirty="0">
                          <a:solidFill>
                            <a:schemeClr val="tx1"/>
                          </a:solidFill>
                        </a:rPr>
                        <a:t>9</a:t>
                      </a:r>
                    </a:p>
                  </a:txBody>
                  <a:tcPr/>
                </a:tc>
                <a:tc>
                  <a:txBody>
                    <a:bodyPr/>
                    <a:lstStyle/>
                    <a:p>
                      <a:pPr algn="r"/>
                      <a:r>
                        <a:rPr lang="en-US" dirty="0">
                          <a:solidFill>
                            <a:schemeClr val="tx1"/>
                          </a:solidFill>
                        </a:rPr>
                        <a:t>10</a:t>
                      </a:r>
                    </a:p>
                  </a:txBody>
                  <a:tcPr/>
                </a:tc>
                <a:tc>
                  <a:txBody>
                    <a:bodyPr/>
                    <a:lstStyle/>
                    <a:p>
                      <a:pPr algn="r"/>
                      <a:r>
                        <a:rPr lang="en-US" dirty="0">
                          <a:solidFill>
                            <a:schemeClr val="tx1"/>
                          </a:solidFill>
                        </a:rPr>
                        <a:t>9</a:t>
                      </a:r>
                    </a:p>
                  </a:txBody>
                  <a:tcPr/>
                </a:tc>
                <a:tc>
                  <a:txBody>
                    <a:bodyPr/>
                    <a:lstStyle/>
                    <a:p>
                      <a:pPr algn="r"/>
                      <a:r>
                        <a:rPr lang="en-US" dirty="0">
                          <a:solidFill>
                            <a:schemeClr val="tx1"/>
                          </a:solidFill>
                        </a:rPr>
                        <a:t>11</a:t>
                      </a:r>
                    </a:p>
                  </a:txBody>
                  <a:tcPr/>
                </a:tc>
                <a:tc>
                  <a:txBody>
                    <a:bodyPr/>
                    <a:lstStyle/>
                    <a:p>
                      <a:pPr algn="r"/>
                      <a:r>
                        <a:rPr lang="en-US" dirty="0">
                          <a:solidFill>
                            <a:schemeClr val="tx1"/>
                          </a:solidFill>
                        </a:rPr>
                        <a:t>10</a:t>
                      </a: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3</a:t>
                      </a:r>
                      <a:endParaRPr lang="en-US" baseline="30000" dirty="0">
                        <a:solidFill>
                          <a:schemeClr val="tx1"/>
                        </a:solidFill>
                      </a:endParaRP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r>
                        <a:rPr lang="en-US" altLang="zh-CN" dirty="0">
                          <a:solidFill>
                            <a:schemeClr val="tx1"/>
                          </a:solidFill>
                        </a:rPr>
                        <a:t>10</a:t>
                      </a:r>
                      <a:endParaRPr lang="en-US" dirty="0">
                        <a:solidFill>
                          <a:schemeClr val="tx1"/>
                        </a:solidFill>
                      </a:endParaRPr>
                    </a:p>
                  </a:txBody>
                  <a:tcPr/>
                </a:tc>
                <a:tc>
                  <a:txBody>
                    <a:bodyPr/>
                    <a:lstStyle/>
                    <a:p>
                      <a:pPr algn="r"/>
                      <a:r>
                        <a:rPr lang="en-US" dirty="0">
                          <a:solidFill>
                            <a:schemeClr val="tx1"/>
                          </a:solidFill>
                        </a:rPr>
                        <a:t>7</a:t>
                      </a:r>
                    </a:p>
                  </a:txBody>
                  <a:tcPr/>
                </a:tc>
                <a:tc>
                  <a:txBody>
                    <a:bodyPr/>
                    <a:lstStyle/>
                    <a:p>
                      <a:pPr algn="r"/>
                      <a:r>
                        <a:rPr lang="en-US" dirty="0">
                          <a:solidFill>
                            <a:schemeClr val="tx1"/>
                          </a:solidFill>
                        </a:rPr>
                        <a:t>5</a:t>
                      </a:r>
                    </a:p>
                  </a:txBody>
                  <a:tcPr/>
                </a:tc>
                <a:tc>
                  <a:txBody>
                    <a:bodyPr/>
                    <a:lstStyle/>
                    <a:p>
                      <a:pPr algn="r"/>
                      <a:r>
                        <a:rPr lang="en-US" dirty="0">
                          <a:solidFill>
                            <a:schemeClr val="tx1"/>
                          </a:solidFill>
                        </a:rPr>
                        <a:t>2</a:t>
                      </a:r>
                    </a:p>
                  </a:txBody>
                  <a:tcPr/>
                </a:tc>
                <a:tc>
                  <a:txBody>
                    <a:bodyPr/>
                    <a:lstStyle/>
                    <a:p>
                      <a:pPr algn="r"/>
                      <a:r>
                        <a:rPr lang="en-US" dirty="0">
                          <a:solidFill>
                            <a:schemeClr val="tx1"/>
                          </a:solidFill>
                        </a:rPr>
                        <a:t>5</a:t>
                      </a:r>
                    </a:p>
                  </a:txBody>
                  <a:tcPr/>
                </a:tc>
                <a:tc>
                  <a:txBody>
                    <a:bodyPr/>
                    <a:lstStyle/>
                    <a:p>
                      <a:pPr algn="r"/>
                      <a:r>
                        <a:rPr lang="en-US" dirty="0">
                          <a:solidFill>
                            <a:schemeClr val="tx1"/>
                          </a:solidFill>
                        </a:rPr>
                        <a:t>2</a:t>
                      </a:r>
                    </a:p>
                  </a:txBody>
                  <a:tcPr/>
                </a:tc>
                <a:tc>
                  <a:txBody>
                    <a:bodyPr/>
                    <a:lstStyle/>
                    <a:p>
                      <a:pPr algn="r"/>
                      <a:r>
                        <a:rPr lang="en-US" dirty="0">
                          <a:solidFill>
                            <a:schemeClr val="tx1"/>
                          </a:solidFill>
                        </a:rPr>
                        <a:t>7</a:t>
                      </a:r>
                    </a:p>
                  </a:txBody>
                  <a:tcPr/>
                </a:tc>
                <a:tc>
                  <a:txBody>
                    <a:bodyPr/>
                    <a:lstStyle/>
                    <a:p>
                      <a:pPr algn="r"/>
                      <a:r>
                        <a:rPr lang="en-US" dirty="0">
                          <a:solidFill>
                            <a:schemeClr val="tx1"/>
                          </a:solidFill>
                        </a:rPr>
                        <a:t>4</a:t>
                      </a:r>
                    </a:p>
                  </a:txBody>
                  <a:tcPr/>
                </a:tc>
                <a:extLst>
                  <a:ext uri="{0D108BD9-81ED-4DB2-BD59-A6C34878D82A}">
                    <a16:rowId xmlns:a16="http://schemas.microsoft.com/office/drawing/2014/main" val="123394570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4</a:t>
                      </a:r>
                    </a:p>
                  </a:txBody>
                  <a:tcPr/>
                </a:tc>
                <a:tc>
                  <a:txBody>
                    <a:bodyPr/>
                    <a:lstStyle/>
                    <a:p>
                      <a:pPr algn="r"/>
                      <a:r>
                        <a:rPr lang="en-US" baseline="0" dirty="0">
                          <a:solidFill>
                            <a:schemeClr val="tx1"/>
                          </a:solidFill>
                        </a:rPr>
                        <a:t>9</a:t>
                      </a:r>
                    </a:p>
                  </a:txBody>
                  <a:tcPr/>
                </a:tc>
                <a:tc>
                  <a:txBody>
                    <a:bodyPr/>
                    <a:lstStyle/>
                    <a:p>
                      <a:pPr algn="r"/>
                      <a:r>
                        <a:rPr lang="en-US" dirty="0">
                          <a:solidFill>
                            <a:schemeClr val="tx1"/>
                          </a:solidFill>
                        </a:rPr>
                        <a:t>2</a:t>
                      </a:r>
                    </a:p>
                  </a:txBody>
                  <a:tcPr/>
                </a:tc>
                <a:tc>
                  <a:txBody>
                    <a:bodyPr/>
                    <a:lstStyle/>
                    <a:p>
                      <a:pPr algn="r"/>
                      <a:r>
                        <a:rPr lang="en-US" dirty="0">
                          <a:solidFill>
                            <a:schemeClr val="tx1"/>
                          </a:solidFill>
                        </a:rPr>
                        <a:t>12</a:t>
                      </a:r>
                    </a:p>
                  </a:txBody>
                  <a:tcPr/>
                </a:tc>
                <a:tc>
                  <a:txBody>
                    <a:bodyPr/>
                    <a:lstStyle/>
                    <a:p>
                      <a:pPr algn="r"/>
                      <a:r>
                        <a:rPr lang="en-US" dirty="0">
                          <a:solidFill>
                            <a:schemeClr val="tx1"/>
                          </a:solidFill>
                        </a:rPr>
                        <a:t>3</a:t>
                      </a:r>
                    </a:p>
                  </a:txBody>
                  <a:tcPr/>
                </a:tc>
                <a:tc>
                  <a:txBody>
                    <a:bodyPr/>
                    <a:lstStyle/>
                    <a:p>
                      <a:pPr algn="r"/>
                      <a:r>
                        <a:rPr lang="en-US" dirty="0">
                          <a:solidFill>
                            <a:schemeClr val="tx1"/>
                          </a:solidFill>
                        </a:rPr>
                        <a:t>12</a:t>
                      </a:r>
                    </a:p>
                  </a:txBody>
                  <a:tcPr/>
                </a:tc>
                <a:tc>
                  <a:txBody>
                    <a:bodyPr/>
                    <a:lstStyle/>
                    <a:p>
                      <a:pPr algn="r"/>
                      <a:r>
                        <a:rPr lang="en-US" dirty="0">
                          <a:solidFill>
                            <a:schemeClr val="tx1"/>
                          </a:solidFill>
                        </a:rPr>
                        <a:t>3</a:t>
                      </a:r>
                    </a:p>
                  </a:txBody>
                  <a:tcPr/>
                </a:tc>
                <a:tc>
                  <a:txBody>
                    <a:bodyPr/>
                    <a:lstStyle/>
                    <a:p>
                      <a:pPr algn="r"/>
                      <a:r>
                        <a:rPr lang="en-US" dirty="0">
                          <a:solidFill>
                            <a:schemeClr val="tx1"/>
                          </a:solidFill>
                        </a:rPr>
                        <a:t>12</a:t>
                      </a:r>
                    </a:p>
                  </a:txBody>
                  <a:tcPr/>
                </a:tc>
                <a:tc>
                  <a:txBody>
                    <a:bodyPr/>
                    <a:lstStyle/>
                    <a:p>
                      <a:pPr algn="r"/>
                      <a:r>
                        <a:rPr lang="en-US" dirty="0">
                          <a:solidFill>
                            <a:schemeClr val="tx1"/>
                          </a:solidFill>
                        </a:rPr>
                        <a:t>3</a:t>
                      </a:r>
                    </a:p>
                  </a:txBody>
                  <a:tcPr/>
                </a:tc>
                <a:tc>
                  <a:txBody>
                    <a:bodyPr/>
                    <a:lstStyle/>
                    <a:p>
                      <a:pPr algn="r"/>
                      <a:r>
                        <a:rPr lang="en-US" dirty="0">
                          <a:solidFill>
                            <a:schemeClr val="tx1"/>
                          </a:solidFill>
                        </a:rPr>
                        <a:t>12</a:t>
                      </a:r>
                    </a:p>
                  </a:txBody>
                  <a:tcPr/>
                </a:tc>
                <a:tc>
                  <a:txBody>
                    <a:bodyPr/>
                    <a:lstStyle/>
                    <a:p>
                      <a:pPr algn="r"/>
                      <a:r>
                        <a:rPr lang="en-US" dirty="0">
                          <a:solidFill>
                            <a:schemeClr val="tx1"/>
                          </a:solidFill>
                        </a:rPr>
                        <a:t>3</a:t>
                      </a:r>
                    </a:p>
                  </a:txBody>
                  <a:tcPr/>
                </a:tc>
                <a:extLst>
                  <a:ext uri="{0D108BD9-81ED-4DB2-BD59-A6C34878D82A}">
                    <a16:rowId xmlns:a16="http://schemas.microsoft.com/office/drawing/2014/main" val="2284253600"/>
                  </a:ext>
                </a:extLst>
              </a:tr>
              <a:tr h="0">
                <a:tc>
                  <a:txBody>
                    <a:bodyPr/>
                    <a:lstStyle/>
                    <a:p>
                      <a:pPr algn="r"/>
                      <a:endParaRPr lang="en-US" dirty="0">
                        <a:solidFill>
                          <a:schemeClr val="tx1"/>
                        </a:solidFill>
                      </a:endParaRPr>
                    </a:p>
                  </a:txBody>
                  <a:tcPr/>
                </a:tc>
                <a:tc gridSpan="2">
                  <a:txBody>
                    <a:bodyPr/>
                    <a:lstStyle/>
                    <a:p>
                      <a:pPr algn="r"/>
                      <a:endParaRPr lang="en-US" dirty="0">
                        <a:solidFill>
                          <a:schemeClr val="tx1"/>
                        </a:solidFill>
                      </a:endParaRPr>
                    </a:p>
                  </a:txBody>
                  <a:tcPr/>
                </a:tc>
                <a:tc hMerge="1">
                  <a:txBody>
                    <a:bodyPr/>
                    <a:lstStyle/>
                    <a:p>
                      <a:r>
                        <a:rPr lang="en-US" altLang="zh-CN" dirty="0"/>
                        <a:t>Average</a:t>
                      </a:r>
                      <a:r>
                        <a:rPr lang="zh-CN" altLang="en-US" dirty="0"/>
                        <a:t> </a:t>
                      </a:r>
                      <a:r>
                        <a:rPr lang="en-US" altLang="zh-CN" dirty="0"/>
                        <a:t>Turnaround</a:t>
                      </a:r>
                      <a:endParaRPr lang="en-US" dirty="0"/>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5</a:t>
                      </a: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 4.25</a:t>
                      </a: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 4.25</a:t>
                      </a: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 5.75</a:t>
                      </a:r>
                    </a:p>
                  </a:txBody>
                  <a:tcPr/>
                </a:tc>
                <a:extLst>
                  <a:ext uri="{0D108BD9-81ED-4DB2-BD59-A6C34878D82A}">
                    <a16:rowId xmlns:a16="http://schemas.microsoft.com/office/drawing/2014/main" val="2879113726"/>
                  </a:ext>
                </a:extLst>
              </a:tr>
            </a:tbl>
          </a:graphicData>
        </a:graphic>
      </p:graphicFrame>
      <p:graphicFrame>
        <p:nvGraphicFramePr>
          <p:cNvPr id="32" name="Table 31">
            <a:extLst>
              <a:ext uri="{FF2B5EF4-FFF2-40B4-BE49-F238E27FC236}">
                <a16:creationId xmlns:a16="http://schemas.microsoft.com/office/drawing/2014/main" id="{AB5AE1BC-0B4D-8B67-7214-84933EF44092}"/>
              </a:ext>
            </a:extLst>
          </p:cNvPr>
          <p:cNvGraphicFramePr>
            <a:graphicFrameLocks noGrp="1"/>
          </p:cNvGraphicFramePr>
          <p:nvPr>
            <p:extLst>
              <p:ext uri="{D42A27DB-BD31-4B8C-83A1-F6EECF244321}">
                <p14:modId xmlns:p14="http://schemas.microsoft.com/office/powerpoint/2010/main" val="2250945967"/>
              </p:ext>
            </p:extLst>
          </p:nvPr>
        </p:nvGraphicFramePr>
        <p:xfrm>
          <a:off x="2971800" y="4003774"/>
          <a:ext cx="6959328" cy="148336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733727588"/>
                    </a:ext>
                  </a:extLst>
                </a:gridCol>
                <a:gridCol w="510094">
                  <a:extLst>
                    <a:ext uri="{9D8B030D-6E8A-4147-A177-3AD203B41FA5}">
                      <a16:colId xmlns:a16="http://schemas.microsoft.com/office/drawing/2014/main" val="2602592049"/>
                    </a:ext>
                  </a:extLst>
                </a:gridCol>
                <a:gridCol w="510094">
                  <a:extLst>
                    <a:ext uri="{9D8B030D-6E8A-4147-A177-3AD203B41FA5}">
                      <a16:colId xmlns:a16="http://schemas.microsoft.com/office/drawing/2014/main" val="3575549038"/>
                    </a:ext>
                  </a:extLst>
                </a:gridCol>
                <a:gridCol w="510094">
                  <a:extLst>
                    <a:ext uri="{9D8B030D-6E8A-4147-A177-3AD203B41FA5}">
                      <a16:colId xmlns:a16="http://schemas.microsoft.com/office/drawing/2014/main" val="831617333"/>
                    </a:ext>
                  </a:extLst>
                </a:gridCol>
                <a:gridCol w="510094">
                  <a:extLst>
                    <a:ext uri="{9D8B030D-6E8A-4147-A177-3AD203B41FA5}">
                      <a16:colId xmlns:a16="http://schemas.microsoft.com/office/drawing/2014/main" val="3218967563"/>
                    </a:ext>
                  </a:extLst>
                </a:gridCol>
                <a:gridCol w="510094">
                  <a:extLst>
                    <a:ext uri="{9D8B030D-6E8A-4147-A177-3AD203B41FA5}">
                      <a16:colId xmlns:a16="http://schemas.microsoft.com/office/drawing/2014/main" val="3594834760"/>
                    </a:ext>
                  </a:extLst>
                </a:gridCol>
                <a:gridCol w="510094">
                  <a:extLst>
                    <a:ext uri="{9D8B030D-6E8A-4147-A177-3AD203B41FA5}">
                      <a16:colId xmlns:a16="http://schemas.microsoft.com/office/drawing/2014/main" val="2682597463"/>
                    </a:ext>
                  </a:extLst>
                </a:gridCol>
                <a:gridCol w="510094">
                  <a:extLst>
                    <a:ext uri="{9D8B030D-6E8A-4147-A177-3AD203B41FA5}">
                      <a16:colId xmlns:a16="http://schemas.microsoft.com/office/drawing/2014/main" val="3439388444"/>
                    </a:ext>
                  </a:extLst>
                </a:gridCol>
                <a:gridCol w="510094">
                  <a:extLst>
                    <a:ext uri="{9D8B030D-6E8A-4147-A177-3AD203B41FA5}">
                      <a16:colId xmlns:a16="http://schemas.microsoft.com/office/drawing/2014/main" val="3670994415"/>
                    </a:ext>
                  </a:extLst>
                </a:gridCol>
                <a:gridCol w="510094">
                  <a:extLst>
                    <a:ext uri="{9D8B030D-6E8A-4147-A177-3AD203B41FA5}">
                      <a16:colId xmlns:a16="http://schemas.microsoft.com/office/drawing/2014/main" val="3264987435"/>
                    </a:ext>
                  </a:extLst>
                </a:gridCol>
                <a:gridCol w="510094">
                  <a:extLst>
                    <a:ext uri="{9D8B030D-6E8A-4147-A177-3AD203B41FA5}">
                      <a16:colId xmlns:a16="http://schemas.microsoft.com/office/drawing/2014/main" val="2607637358"/>
                    </a:ext>
                  </a:extLst>
                </a:gridCol>
                <a:gridCol w="510094">
                  <a:extLst>
                    <a:ext uri="{9D8B030D-6E8A-4147-A177-3AD203B41FA5}">
                      <a16:colId xmlns:a16="http://schemas.microsoft.com/office/drawing/2014/main" val="4040844026"/>
                    </a:ext>
                  </a:extLst>
                </a:gridCol>
                <a:gridCol w="510094">
                  <a:extLst>
                    <a:ext uri="{9D8B030D-6E8A-4147-A177-3AD203B41FA5}">
                      <a16:colId xmlns:a16="http://schemas.microsoft.com/office/drawing/2014/main" val="1571313798"/>
                    </a:ext>
                  </a:extLst>
                </a:gridCol>
              </a:tblGrid>
              <a:tr h="370840">
                <a:tc>
                  <a:txBody>
                    <a:bodyPr/>
                    <a:lstStyle/>
                    <a:p>
                      <a:r>
                        <a:rPr lang="en-GB" dirty="0"/>
                        <a:t>FCFS</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4</a:t>
                      </a:r>
                      <a:endParaRPr lang="en-SE" dirty="0"/>
                    </a:p>
                  </a:txBody>
                  <a:tcPr/>
                </a:tc>
                <a:extLst>
                  <a:ext uri="{0D108BD9-81ED-4DB2-BD59-A6C34878D82A}">
                    <a16:rowId xmlns:a16="http://schemas.microsoft.com/office/drawing/2014/main" val="2765478547"/>
                  </a:ext>
                </a:extLst>
              </a:tr>
              <a:tr h="370840">
                <a:tc>
                  <a:txBody>
                    <a:bodyPr/>
                    <a:lstStyle/>
                    <a:p>
                      <a:r>
                        <a:rPr lang="en-GB" dirty="0"/>
                        <a:t>SJF</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3</a:t>
                      </a:r>
                      <a:endParaRPr lang="en-SE" dirty="0"/>
                    </a:p>
                  </a:txBody>
                  <a:tcPr/>
                </a:tc>
                <a:tc>
                  <a:txBody>
                    <a:bodyPr/>
                    <a:lstStyle/>
                    <a:p>
                      <a:pPr algn="ctr"/>
                      <a:r>
                        <a:rPr lang="en-GB" dirty="0"/>
                        <a:t>3</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4</a:t>
                      </a:r>
                      <a:endParaRPr lang="en-SE" dirty="0"/>
                    </a:p>
                  </a:txBody>
                  <a:tcPr/>
                </a:tc>
                <a:tc>
                  <a:txBody>
                    <a:bodyPr/>
                    <a:lstStyle/>
                    <a:p>
                      <a:pPr algn="ctr"/>
                      <a:r>
                        <a:rPr lang="en-GB" dirty="0"/>
                        <a:t>4</a:t>
                      </a:r>
                      <a:endParaRPr lang="en-SE" dirty="0"/>
                    </a:p>
                  </a:txBody>
                  <a:tcPr/>
                </a:tc>
                <a:extLst>
                  <a:ext uri="{0D108BD9-81ED-4DB2-BD59-A6C34878D82A}">
                    <a16:rowId xmlns:a16="http://schemas.microsoft.com/office/drawing/2014/main" val="3821195699"/>
                  </a:ext>
                </a:extLst>
              </a:tr>
              <a:tr h="370840">
                <a:tc>
                  <a:txBody>
                    <a:bodyPr/>
                    <a:lstStyle/>
                    <a:p>
                      <a:r>
                        <a:rPr lang="en-GB" dirty="0"/>
                        <a:t>SRTF</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3</a:t>
                      </a:r>
                      <a:endParaRPr lang="en-SE" dirty="0"/>
                    </a:p>
                  </a:txBody>
                  <a:tcPr/>
                </a:tc>
                <a:tc>
                  <a:txBody>
                    <a:bodyPr/>
                    <a:lstStyle/>
                    <a:p>
                      <a:pPr algn="ctr"/>
                      <a:r>
                        <a:rPr lang="en-GB" dirty="0"/>
                        <a:t>3</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4</a:t>
                      </a:r>
                      <a:endParaRPr lang="en-SE" dirty="0"/>
                    </a:p>
                  </a:txBody>
                  <a:tcPr/>
                </a:tc>
                <a:tc>
                  <a:txBody>
                    <a:bodyPr/>
                    <a:lstStyle/>
                    <a:p>
                      <a:pPr algn="ctr"/>
                      <a:r>
                        <a:rPr lang="en-GB" dirty="0"/>
                        <a:t>4</a:t>
                      </a:r>
                      <a:endParaRPr lang="en-SE" dirty="0"/>
                    </a:p>
                  </a:txBody>
                  <a:tcPr/>
                </a:tc>
                <a:extLst>
                  <a:ext uri="{0D108BD9-81ED-4DB2-BD59-A6C34878D82A}">
                    <a16:rowId xmlns:a16="http://schemas.microsoft.com/office/drawing/2014/main" val="695064754"/>
                  </a:ext>
                </a:extLst>
              </a:tr>
              <a:tr h="370840">
                <a:tc>
                  <a:txBody>
                    <a:bodyPr/>
                    <a:lstStyle/>
                    <a:p>
                      <a:r>
                        <a:rPr lang="en-GB" dirty="0"/>
                        <a:t>RR</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3</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3</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4</a:t>
                      </a:r>
                      <a:endParaRPr lang="en-SE" dirty="0"/>
                    </a:p>
                  </a:txBody>
                  <a:tcPr/>
                </a:tc>
                <a:tc>
                  <a:txBody>
                    <a:bodyPr/>
                    <a:lstStyle/>
                    <a:p>
                      <a:pPr algn="ctr"/>
                      <a:r>
                        <a:rPr lang="en-GB" dirty="0"/>
                        <a:t>2</a:t>
                      </a:r>
                      <a:endParaRPr lang="en-SE" dirty="0"/>
                    </a:p>
                  </a:txBody>
                  <a:tcPr/>
                </a:tc>
                <a:tc>
                  <a:txBody>
                    <a:bodyPr/>
                    <a:lstStyle/>
                    <a:p>
                      <a:pPr algn="ctr"/>
                      <a:r>
                        <a:rPr lang="en-GB" dirty="0"/>
                        <a:t>4</a:t>
                      </a:r>
                      <a:endParaRPr lang="en-SE" dirty="0"/>
                    </a:p>
                  </a:txBody>
                  <a:tcPr/>
                </a:tc>
                <a:extLst>
                  <a:ext uri="{0D108BD9-81ED-4DB2-BD59-A6C34878D82A}">
                    <a16:rowId xmlns:a16="http://schemas.microsoft.com/office/drawing/2014/main" val="362492301"/>
                  </a:ext>
                </a:extLst>
              </a:tr>
            </a:tbl>
          </a:graphicData>
        </a:graphic>
      </p:graphicFrame>
      <p:graphicFrame>
        <p:nvGraphicFramePr>
          <p:cNvPr id="33" name="Table 32">
            <a:extLst>
              <a:ext uri="{FF2B5EF4-FFF2-40B4-BE49-F238E27FC236}">
                <a16:creationId xmlns:a16="http://schemas.microsoft.com/office/drawing/2014/main" id="{62412147-C408-2D0D-0D2F-A1AE959E9821}"/>
              </a:ext>
            </a:extLst>
          </p:cNvPr>
          <p:cNvGraphicFramePr>
            <a:graphicFrameLocks noGrp="1"/>
          </p:cNvGraphicFramePr>
          <p:nvPr>
            <p:extLst>
              <p:ext uri="{D42A27DB-BD31-4B8C-83A1-F6EECF244321}">
                <p14:modId xmlns:p14="http://schemas.microsoft.com/office/powerpoint/2010/main" val="1768773012"/>
              </p:ext>
            </p:extLst>
          </p:nvPr>
        </p:nvGraphicFramePr>
        <p:xfrm>
          <a:off x="2732442" y="5487134"/>
          <a:ext cx="7361291" cy="370840"/>
        </p:xfrm>
        <a:graphic>
          <a:graphicData uri="http://schemas.openxmlformats.org/drawingml/2006/table">
            <a:tbl>
              <a:tblPr firstRow="1" bandRow="1">
                <a:tableStyleId>{2D5ABB26-0587-4C30-8999-92F81FD0307C}</a:tableStyleId>
              </a:tblPr>
              <a:tblGrid>
                <a:gridCol w="839540">
                  <a:extLst>
                    <a:ext uri="{9D8B030D-6E8A-4147-A177-3AD203B41FA5}">
                      <a16:colId xmlns:a16="http://schemas.microsoft.com/office/drawing/2014/main" val="733727588"/>
                    </a:ext>
                  </a:extLst>
                </a:gridCol>
                <a:gridCol w="510909">
                  <a:extLst>
                    <a:ext uri="{9D8B030D-6E8A-4147-A177-3AD203B41FA5}">
                      <a16:colId xmlns:a16="http://schemas.microsoft.com/office/drawing/2014/main" val="2602592049"/>
                    </a:ext>
                  </a:extLst>
                </a:gridCol>
                <a:gridCol w="510909">
                  <a:extLst>
                    <a:ext uri="{9D8B030D-6E8A-4147-A177-3AD203B41FA5}">
                      <a16:colId xmlns:a16="http://schemas.microsoft.com/office/drawing/2014/main" val="3575549038"/>
                    </a:ext>
                  </a:extLst>
                </a:gridCol>
                <a:gridCol w="510909">
                  <a:extLst>
                    <a:ext uri="{9D8B030D-6E8A-4147-A177-3AD203B41FA5}">
                      <a16:colId xmlns:a16="http://schemas.microsoft.com/office/drawing/2014/main" val="831617333"/>
                    </a:ext>
                  </a:extLst>
                </a:gridCol>
                <a:gridCol w="390843">
                  <a:extLst>
                    <a:ext uri="{9D8B030D-6E8A-4147-A177-3AD203B41FA5}">
                      <a16:colId xmlns:a16="http://schemas.microsoft.com/office/drawing/2014/main" val="3218967563"/>
                    </a:ext>
                  </a:extLst>
                </a:gridCol>
                <a:gridCol w="510909">
                  <a:extLst>
                    <a:ext uri="{9D8B030D-6E8A-4147-A177-3AD203B41FA5}">
                      <a16:colId xmlns:a16="http://schemas.microsoft.com/office/drawing/2014/main" val="3594834760"/>
                    </a:ext>
                  </a:extLst>
                </a:gridCol>
                <a:gridCol w="510909">
                  <a:extLst>
                    <a:ext uri="{9D8B030D-6E8A-4147-A177-3AD203B41FA5}">
                      <a16:colId xmlns:a16="http://schemas.microsoft.com/office/drawing/2014/main" val="2682597463"/>
                    </a:ext>
                  </a:extLst>
                </a:gridCol>
                <a:gridCol w="510909">
                  <a:extLst>
                    <a:ext uri="{9D8B030D-6E8A-4147-A177-3AD203B41FA5}">
                      <a16:colId xmlns:a16="http://schemas.microsoft.com/office/drawing/2014/main" val="3439388444"/>
                    </a:ext>
                  </a:extLst>
                </a:gridCol>
                <a:gridCol w="510909">
                  <a:extLst>
                    <a:ext uri="{9D8B030D-6E8A-4147-A177-3AD203B41FA5}">
                      <a16:colId xmlns:a16="http://schemas.microsoft.com/office/drawing/2014/main" val="3670994415"/>
                    </a:ext>
                  </a:extLst>
                </a:gridCol>
                <a:gridCol w="510909">
                  <a:extLst>
                    <a:ext uri="{9D8B030D-6E8A-4147-A177-3AD203B41FA5}">
                      <a16:colId xmlns:a16="http://schemas.microsoft.com/office/drawing/2014/main" val="3264987435"/>
                    </a:ext>
                  </a:extLst>
                </a:gridCol>
                <a:gridCol w="510909">
                  <a:extLst>
                    <a:ext uri="{9D8B030D-6E8A-4147-A177-3AD203B41FA5}">
                      <a16:colId xmlns:a16="http://schemas.microsoft.com/office/drawing/2014/main" val="2607637358"/>
                    </a:ext>
                  </a:extLst>
                </a:gridCol>
                <a:gridCol w="510909">
                  <a:extLst>
                    <a:ext uri="{9D8B030D-6E8A-4147-A177-3AD203B41FA5}">
                      <a16:colId xmlns:a16="http://schemas.microsoft.com/office/drawing/2014/main" val="4040844026"/>
                    </a:ext>
                  </a:extLst>
                </a:gridCol>
                <a:gridCol w="510909">
                  <a:extLst>
                    <a:ext uri="{9D8B030D-6E8A-4147-A177-3AD203B41FA5}">
                      <a16:colId xmlns:a16="http://schemas.microsoft.com/office/drawing/2014/main" val="1571313798"/>
                    </a:ext>
                  </a:extLst>
                </a:gridCol>
                <a:gridCol w="510909">
                  <a:extLst>
                    <a:ext uri="{9D8B030D-6E8A-4147-A177-3AD203B41FA5}">
                      <a16:colId xmlns:a16="http://schemas.microsoft.com/office/drawing/2014/main" val="931111055"/>
                    </a:ext>
                  </a:extLst>
                </a:gridCol>
              </a:tblGrid>
              <a:tr h="370840">
                <a:tc>
                  <a:txBody>
                    <a:bodyPr/>
                    <a:lstStyle/>
                    <a:p>
                      <a:r>
                        <a:rPr lang="en-GB" dirty="0"/>
                        <a:t>Time </a:t>
                      </a:r>
                      <a:endParaRPr lang="en-SE" dirty="0"/>
                    </a:p>
                  </a:txBody>
                  <a:tcPr/>
                </a:tc>
                <a:tc>
                  <a:txBody>
                    <a:bodyPr/>
                    <a:lstStyle/>
                    <a:p>
                      <a:pPr algn="ctr"/>
                      <a:r>
                        <a:rPr lang="en-GB" dirty="0"/>
                        <a:t>0</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5</a:t>
                      </a:r>
                      <a:endParaRPr lang="en-SE" dirty="0"/>
                    </a:p>
                  </a:txBody>
                  <a:tcPr/>
                </a:tc>
                <a:tc>
                  <a:txBody>
                    <a:bodyPr/>
                    <a:lstStyle/>
                    <a:p>
                      <a:pPr algn="ctr"/>
                      <a:r>
                        <a:rPr lang="en-GB" dirty="0"/>
                        <a:t>6</a:t>
                      </a:r>
                      <a:endParaRPr lang="en-SE" dirty="0"/>
                    </a:p>
                  </a:txBody>
                  <a:tcPr/>
                </a:tc>
                <a:tc>
                  <a:txBody>
                    <a:bodyPr/>
                    <a:lstStyle/>
                    <a:p>
                      <a:pPr algn="ctr"/>
                      <a:r>
                        <a:rPr lang="en-GB" dirty="0"/>
                        <a:t>7</a:t>
                      </a:r>
                      <a:endParaRPr lang="en-SE" dirty="0"/>
                    </a:p>
                  </a:txBody>
                  <a:tcPr/>
                </a:tc>
                <a:tc>
                  <a:txBody>
                    <a:bodyPr/>
                    <a:lstStyle/>
                    <a:p>
                      <a:pPr algn="ctr"/>
                      <a:r>
                        <a:rPr lang="en-GB" dirty="0"/>
                        <a:t>8</a:t>
                      </a:r>
                      <a:endParaRPr lang="en-SE" dirty="0"/>
                    </a:p>
                  </a:txBody>
                  <a:tcPr/>
                </a:tc>
                <a:tc>
                  <a:txBody>
                    <a:bodyPr/>
                    <a:lstStyle/>
                    <a:p>
                      <a:pPr algn="ctr"/>
                      <a:r>
                        <a:rPr lang="en-GB" dirty="0"/>
                        <a:t>9</a:t>
                      </a:r>
                      <a:endParaRPr lang="en-SE" dirty="0"/>
                    </a:p>
                  </a:txBody>
                  <a:tcPr/>
                </a:tc>
                <a:tc>
                  <a:txBody>
                    <a:bodyPr/>
                    <a:lstStyle/>
                    <a:p>
                      <a:pPr algn="ctr"/>
                      <a:r>
                        <a:rPr lang="en-GB" dirty="0"/>
                        <a:t>10</a:t>
                      </a:r>
                      <a:endParaRPr lang="en-SE" dirty="0"/>
                    </a:p>
                  </a:txBody>
                  <a:tcPr/>
                </a:tc>
                <a:tc>
                  <a:txBody>
                    <a:bodyPr/>
                    <a:lstStyle/>
                    <a:p>
                      <a:pPr algn="ctr"/>
                      <a:r>
                        <a:rPr lang="en-GB" dirty="0"/>
                        <a:t>11</a:t>
                      </a:r>
                      <a:endParaRPr lang="en-SE" dirty="0"/>
                    </a:p>
                  </a:txBody>
                  <a:tcPr/>
                </a:tc>
                <a:tc>
                  <a:txBody>
                    <a:bodyPr/>
                    <a:lstStyle/>
                    <a:p>
                      <a:pPr algn="ctr"/>
                      <a:r>
                        <a:rPr lang="en-GB" dirty="0"/>
                        <a:t>12</a:t>
                      </a:r>
                      <a:endParaRPr lang="en-SE" dirty="0"/>
                    </a:p>
                  </a:txBody>
                  <a:tcPr/>
                </a:tc>
                <a:extLst>
                  <a:ext uri="{0D108BD9-81ED-4DB2-BD59-A6C34878D82A}">
                    <a16:rowId xmlns:a16="http://schemas.microsoft.com/office/drawing/2014/main" val="1169300345"/>
                  </a:ext>
                </a:extLst>
              </a:tr>
            </a:tbl>
          </a:graphicData>
        </a:graphic>
      </p:graphicFrame>
      <p:sp>
        <p:nvSpPr>
          <p:cNvPr id="36" name="Content Placeholder 2">
            <a:extLst>
              <a:ext uri="{FF2B5EF4-FFF2-40B4-BE49-F238E27FC236}">
                <a16:creationId xmlns:a16="http://schemas.microsoft.com/office/drawing/2014/main" id="{A35A2B42-7B3B-159C-1D86-853A7CA206BD}"/>
              </a:ext>
            </a:extLst>
          </p:cNvPr>
          <p:cNvSpPr>
            <a:spLocks noGrp="1"/>
          </p:cNvSpPr>
          <p:nvPr>
            <p:ph idx="1"/>
          </p:nvPr>
        </p:nvSpPr>
        <p:spPr>
          <a:xfrm>
            <a:off x="5775901" y="5857974"/>
            <a:ext cx="1676400" cy="395575"/>
          </a:xfrm>
        </p:spPr>
        <p:txBody>
          <a:bodyPr>
            <a:normAutofit lnSpcReduction="10000"/>
          </a:bodyPr>
          <a:lstStyle/>
          <a:p>
            <a:pPr marL="0" indent="0">
              <a:buNone/>
            </a:pPr>
            <a:r>
              <a:rPr lang="en-GB" sz="2400" dirty="0"/>
              <a:t>Gantt Chart</a:t>
            </a:r>
            <a:endParaRPr lang="en-SE" sz="2400" dirty="0"/>
          </a:p>
        </p:txBody>
      </p:sp>
      <p:cxnSp>
        <p:nvCxnSpPr>
          <p:cNvPr id="5" name="Straight Arrow Connector 4">
            <a:extLst>
              <a:ext uri="{FF2B5EF4-FFF2-40B4-BE49-F238E27FC236}">
                <a16:creationId xmlns:a16="http://schemas.microsoft.com/office/drawing/2014/main" id="{C8870995-F7A8-C01B-1596-BC0B66D4CDD1}"/>
              </a:ext>
            </a:extLst>
          </p:cNvPr>
          <p:cNvCxnSpPr>
            <a:cxnSpLocks/>
          </p:cNvCxnSpPr>
          <p:nvPr/>
        </p:nvCxnSpPr>
        <p:spPr bwMode="auto">
          <a:xfrm flipV="1">
            <a:off x="3870743" y="5820005"/>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7" name="TextBox 6">
            <a:extLst>
              <a:ext uri="{FF2B5EF4-FFF2-40B4-BE49-F238E27FC236}">
                <a16:creationId xmlns:a16="http://schemas.microsoft.com/office/drawing/2014/main" id="{A667137C-7349-8A34-7BF2-AEB6ED8B8D2E}"/>
              </a:ext>
            </a:extLst>
          </p:cNvPr>
          <p:cNvSpPr txBox="1"/>
          <p:nvPr/>
        </p:nvSpPr>
        <p:spPr>
          <a:xfrm>
            <a:off x="3333334" y="6251848"/>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P1 arrival</a:t>
            </a:r>
            <a:endParaRPr lang="en-SE" dirty="0">
              <a:solidFill>
                <a:schemeClr val="accent1">
                  <a:lumMod val="75000"/>
                </a:schemeClr>
              </a:solidFill>
              <a:latin typeface="Gill Sans Light"/>
            </a:endParaRPr>
          </a:p>
        </p:txBody>
      </p:sp>
      <p:cxnSp>
        <p:nvCxnSpPr>
          <p:cNvPr id="8" name="Straight Arrow Connector 7">
            <a:extLst>
              <a:ext uri="{FF2B5EF4-FFF2-40B4-BE49-F238E27FC236}">
                <a16:creationId xmlns:a16="http://schemas.microsoft.com/office/drawing/2014/main" id="{E0BFB9E7-5955-2874-9393-F6C891D0B13C}"/>
              </a:ext>
            </a:extLst>
          </p:cNvPr>
          <p:cNvCxnSpPr>
            <a:cxnSpLocks/>
          </p:cNvCxnSpPr>
          <p:nvPr/>
        </p:nvCxnSpPr>
        <p:spPr bwMode="auto">
          <a:xfrm flipV="1">
            <a:off x="4343400" y="5842670"/>
            <a:ext cx="0" cy="259272"/>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9" name="TextBox 8">
            <a:extLst>
              <a:ext uri="{FF2B5EF4-FFF2-40B4-BE49-F238E27FC236}">
                <a16:creationId xmlns:a16="http://schemas.microsoft.com/office/drawing/2014/main" id="{C77E63C6-6C86-9AE0-4674-53D0C1F6984B}"/>
              </a:ext>
            </a:extLst>
          </p:cNvPr>
          <p:cNvSpPr txBox="1"/>
          <p:nvPr/>
        </p:nvSpPr>
        <p:spPr>
          <a:xfrm>
            <a:off x="3870743" y="6006179"/>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P2 arrival</a:t>
            </a:r>
            <a:endParaRPr lang="en-SE" dirty="0">
              <a:solidFill>
                <a:schemeClr val="accent1">
                  <a:lumMod val="75000"/>
                </a:schemeClr>
              </a:solidFill>
              <a:latin typeface="Gill Sans Light"/>
            </a:endParaRPr>
          </a:p>
        </p:txBody>
      </p:sp>
      <p:cxnSp>
        <p:nvCxnSpPr>
          <p:cNvPr id="10" name="Straight Arrow Connector 9">
            <a:extLst>
              <a:ext uri="{FF2B5EF4-FFF2-40B4-BE49-F238E27FC236}">
                <a16:creationId xmlns:a16="http://schemas.microsoft.com/office/drawing/2014/main" id="{E2665EC6-C41E-2EF8-36FA-A215AA17D27B}"/>
              </a:ext>
            </a:extLst>
          </p:cNvPr>
          <p:cNvCxnSpPr>
            <a:cxnSpLocks/>
          </p:cNvCxnSpPr>
          <p:nvPr/>
        </p:nvCxnSpPr>
        <p:spPr bwMode="auto">
          <a:xfrm flipV="1">
            <a:off x="5338009" y="5828225"/>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2" name="TextBox 11">
            <a:extLst>
              <a:ext uri="{FF2B5EF4-FFF2-40B4-BE49-F238E27FC236}">
                <a16:creationId xmlns:a16="http://schemas.microsoft.com/office/drawing/2014/main" id="{8589FFEE-21B4-1C30-2E04-034233F9A4A2}"/>
              </a:ext>
            </a:extLst>
          </p:cNvPr>
          <p:cNvSpPr txBox="1"/>
          <p:nvPr/>
        </p:nvSpPr>
        <p:spPr>
          <a:xfrm>
            <a:off x="4800600" y="6260068"/>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P3 arrival</a:t>
            </a:r>
            <a:endParaRPr lang="en-SE" dirty="0">
              <a:solidFill>
                <a:schemeClr val="accent1">
                  <a:lumMod val="75000"/>
                </a:schemeClr>
              </a:solidFill>
              <a:latin typeface="Gill Sans Light"/>
            </a:endParaRPr>
          </a:p>
        </p:txBody>
      </p:sp>
      <p:cxnSp>
        <p:nvCxnSpPr>
          <p:cNvPr id="13" name="Straight Arrow Connector 12">
            <a:extLst>
              <a:ext uri="{FF2B5EF4-FFF2-40B4-BE49-F238E27FC236}">
                <a16:creationId xmlns:a16="http://schemas.microsoft.com/office/drawing/2014/main" id="{0B07A6AE-D075-FB93-9B9E-61DF9D7E3F08}"/>
              </a:ext>
            </a:extLst>
          </p:cNvPr>
          <p:cNvCxnSpPr>
            <a:cxnSpLocks/>
          </p:cNvCxnSpPr>
          <p:nvPr/>
        </p:nvCxnSpPr>
        <p:spPr bwMode="auto">
          <a:xfrm flipV="1">
            <a:off x="8303273" y="5803585"/>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4" name="TextBox 13">
            <a:extLst>
              <a:ext uri="{FF2B5EF4-FFF2-40B4-BE49-F238E27FC236}">
                <a16:creationId xmlns:a16="http://schemas.microsoft.com/office/drawing/2014/main" id="{286778EA-F1D7-4F3A-503B-8C0EE3507BDB}"/>
              </a:ext>
            </a:extLst>
          </p:cNvPr>
          <p:cNvSpPr txBox="1"/>
          <p:nvPr/>
        </p:nvSpPr>
        <p:spPr>
          <a:xfrm>
            <a:off x="7765864" y="6235428"/>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P4 arrival</a:t>
            </a:r>
            <a:endParaRPr lang="en-SE" dirty="0">
              <a:solidFill>
                <a:schemeClr val="accent1">
                  <a:lumMod val="75000"/>
                </a:schemeClr>
              </a:solidFill>
              <a:latin typeface="Gill Sans Light"/>
            </a:endParaRPr>
          </a:p>
        </p:txBody>
      </p:sp>
      <p:sp>
        <p:nvSpPr>
          <p:cNvPr id="15" name="TextBox 14">
            <a:extLst>
              <a:ext uri="{FF2B5EF4-FFF2-40B4-BE49-F238E27FC236}">
                <a16:creationId xmlns:a16="http://schemas.microsoft.com/office/drawing/2014/main" id="{8E8FEEAA-B810-4E10-BD0D-E427AA1D60BD}"/>
              </a:ext>
            </a:extLst>
          </p:cNvPr>
          <p:cNvSpPr txBox="1"/>
          <p:nvPr/>
        </p:nvSpPr>
        <p:spPr>
          <a:xfrm>
            <a:off x="67238" y="4487892"/>
            <a:ext cx="3089683" cy="584775"/>
          </a:xfrm>
          <a:prstGeom prst="rect">
            <a:avLst/>
          </a:prstGeom>
          <a:noFill/>
        </p:spPr>
        <p:txBody>
          <a:bodyPr wrap="square">
            <a:spAutoFit/>
          </a:bodyPr>
          <a:lstStyle/>
          <a:p>
            <a:r>
              <a:rPr lang="en-GB" sz="1600" b="0" dirty="0">
                <a:solidFill>
                  <a:srgbClr val="FF0000"/>
                </a:solidFill>
              </a:rPr>
              <a:t>Response time </a:t>
            </a:r>
            <a:r>
              <a:rPr lang="en-US" sz="1600" b="0" dirty="0">
                <a:solidFill>
                  <a:srgbClr val="FF0000"/>
                </a:solidFill>
              </a:rPr>
              <a:t>= </a:t>
            </a:r>
            <a:r>
              <a:rPr lang="en-GB" sz="1600" b="0" dirty="0" err="1">
                <a:solidFill>
                  <a:srgbClr val="FF0000"/>
                </a:solidFill>
              </a:rPr>
              <a:t>FinishTime</a:t>
            </a:r>
            <a:r>
              <a:rPr lang="en-GB" sz="1600" b="0" dirty="0">
                <a:solidFill>
                  <a:srgbClr val="FF0000"/>
                </a:solidFill>
              </a:rPr>
              <a:t> – </a:t>
            </a:r>
            <a:r>
              <a:rPr lang="en-GB" sz="1600" b="0" dirty="0" err="1">
                <a:solidFill>
                  <a:srgbClr val="FF0000"/>
                </a:solidFill>
              </a:rPr>
              <a:t>ArrivalTime</a:t>
            </a:r>
            <a:endParaRPr lang="en-US" sz="1600" b="0" dirty="0"/>
          </a:p>
        </p:txBody>
      </p:sp>
    </p:spTree>
    <p:extLst>
      <p:ext uri="{BB962C8B-B14F-4D97-AF65-F5344CB8AC3E}">
        <p14:creationId xmlns:p14="http://schemas.microsoft.com/office/powerpoint/2010/main" val="475183518"/>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DD8D75-B2AC-0019-5970-9FF407CA01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9366F2-F658-A244-554A-9781322B4924}"/>
              </a:ext>
            </a:extLst>
          </p:cNvPr>
          <p:cNvSpPr>
            <a:spLocks noGrp="1"/>
          </p:cNvSpPr>
          <p:nvPr>
            <p:ph type="title"/>
          </p:nvPr>
        </p:nvSpPr>
        <p:spPr/>
        <p:txBody>
          <a:bodyPr/>
          <a:lstStyle/>
          <a:p>
            <a:r>
              <a:rPr lang="en-US" dirty="0"/>
              <a:t>Scheduling II ANS (RR Explanation)</a:t>
            </a:r>
            <a:endParaRPr lang="en-SE" dirty="0"/>
          </a:p>
        </p:txBody>
      </p:sp>
      <p:graphicFrame>
        <p:nvGraphicFramePr>
          <p:cNvPr id="32" name="Table 31">
            <a:extLst>
              <a:ext uri="{FF2B5EF4-FFF2-40B4-BE49-F238E27FC236}">
                <a16:creationId xmlns:a16="http://schemas.microsoft.com/office/drawing/2014/main" id="{E12C85D6-2400-DD02-2691-0AFFA92D0ABC}"/>
              </a:ext>
            </a:extLst>
          </p:cNvPr>
          <p:cNvGraphicFramePr>
            <a:graphicFrameLocks noGrp="1"/>
          </p:cNvGraphicFramePr>
          <p:nvPr>
            <p:extLst>
              <p:ext uri="{D42A27DB-BD31-4B8C-83A1-F6EECF244321}">
                <p14:modId xmlns:p14="http://schemas.microsoft.com/office/powerpoint/2010/main" val="1393741682"/>
              </p:ext>
            </p:extLst>
          </p:nvPr>
        </p:nvGraphicFramePr>
        <p:xfrm>
          <a:off x="2971800" y="4224353"/>
          <a:ext cx="6959328" cy="1483360"/>
        </p:xfrm>
        <a:graphic>
          <a:graphicData uri="http://schemas.openxmlformats.org/drawingml/2006/table">
            <a:tbl>
              <a:tblPr firstRow="1" bandRow="1">
                <a:tableStyleId>{5940675A-B579-460E-94D1-54222C63F5DA}</a:tableStyleId>
              </a:tblPr>
              <a:tblGrid>
                <a:gridCol w="838200">
                  <a:extLst>
                    <a:ext uri="{9D8B030D-6E8A-4147-A177-3AD203B41FA5}">
                      <a16:colId xmlns:a16="http://schemas.microsoft.com/office/drawing/2014/main" val="733727588"/>
                    </a:ext>
                  </a:extLst>
                </a:gridCol>
                <a:gridCol w="510094">
                  <a:extLst>
                    <a:ext uri="{9D8B030D-6E8A-4147-A177-3AD203B41FA5}">
                      <a16:colId xmlns:a16="http://schemas.microsoft.com/office/drawing/2014/main" val="2602592049"/>
                    </a:ext>
                  </a:extLst>
                </a:gridCol>
                <a:gridCol w="510094">
                  <a:extLst>
                    <a:ext uri="{9D8B030D-6E8A-4147-A177-3AD203B41FA5}">
                      <a16:colId xmlns:a16="http://schemas.microsoft.com/office/drawing/2014/main" val="3575549038"/>
                    </a:ext>
                  </a:extLst>
                </a:gridCol>
                <a:gridCol w="510094">
                  <a:extLst>
                    <a:ext uri="{9D8B030D-6E8A-4147-A177-3AD203B41FA5}">
                      <a16:colId xmlns:a16="http://schemas.microsoft.com/office/drawing/2014/main" val="831617333"/>
                    </a:ext>
                  </a:extLst>
                </a:gridCol>
                <a:gridCol w="510094">
                  <a:extLst>
                    <a:ext uri="{9D8B030D-6E8A-4147-A177-3AD203B41FA5}">
                      <a16:colId xmlns:a16="http://schemas.microsoft.com/office/drawing/2014/main" val="3218967563"/>
                    </a:ext>
                  </a:extLst>
                </a:gridCol>
                <a:gridCol w="510094">
                  <a:extLst>
                    <a:ext uri="{9D8B030D-6E8A-4147-A177-3AD203B41FA5}">
                      <a16:colId xmlns:a16="http://schemas.microsoft.com/office/drawing/2014/main" val="3594834760"/>
                    </a:ext>
                  </a:extLst>
                </a:gridCol>
                <a:gridCol w="510094">
                  <a:extLst>
                    <a:ext uri="{9D8B030D-6E8A-4147-A177-3AD203B41FA5}">
                      <a16:colId xmlns:a16="http://schemas.microsoft.com/office/drawing/2014/main" val="2682597463"/>
                    </a:ext>
                  </a:extLst>
                </a:gridCol>
                <a:gridCol w="510094">
                  <a:extLst>
                    <a:ext uri="{9D8B030D-6E8A-4147-A177-3AD203B41FA5}">
                      <a16:colId xmlns:a16="http://schemas.microsoft.com/office/drawing/2014/main" val="3439388444"/>
                    </a:ext>
                  </a:extLst>
                </a:gridCol>
                <a:gridCol w="510094">
                  <a:extLst>
                    <a:ext uri="{9D8B030D-6E8A-4147-A177-3AD203B41FA5}">
                      <a16:colId xmlns:a16="http://schemas.microsoft.com/office/drawing/2014/main" val="3670994415"/>
                    </a:ext>
                  </a:extLst>
                </a:gridCol>
                <a:gridCol w="510094">
                  <a:extLst>
                    <a:ext uri="{9D8B030D-6E8A-4147-A177-3AD203B41FA5}">
                      <a16:colId xmlns:a16="http://schemas.microsoft.com/office/drawing/2014/main" val="3264987435"/>
                    </a:ext>
                  </a:extLst>
                </a:gridCol>
                <a:gridCol w="510094">
                  <a:extLst>
                    <a:ext uri="{9D8B030D-6E8A-4147-A177-3AD203B41FA5}">
                      <a16:colId xmlns:a16="http://schemas.microsoft.com/office/drawing/2014/main" val="2607637358"/>
                    </a:ext>
                  </a:extLst>
                </a:gridCol>
                <a:gridCol w="510094">
                  <a:extLst>
                    <a:ext uri="{9D8B030D-6E8A-4147-A177-3AD203B41FA5}">
                      <a16:colId xmlns:a16="http://schemas.microsoft.com/office/drawing/2014/main" val="4040844026"/>
                    </a:ext>
                  </a:extLst>
                </a:gridCol>
                <a:gridCol w="510094">
                  <a:extLst>
                    <a:ext uri="{9D8B030D-6E8A-4147-A177-3AD203B41FA5}">
                      <a16:colId xmlns:a16="http://schemas.microsoft.com/office/drawing/2014/main" val="1571313798"/>
                    </a:ext>
                  </a:extLst>
                </a:gridCol>
              </a:tblGrid>
              <a:tr h="370840">
                <a:tc>
                  <a:txBody>
                    <a:bodyPr/>
                    <a:lstStyle/>
                    <a:p>
                      <a:r>
                        <a:rPr lang="en-GB" dirty="0"/>
                        <a:t>FCFS</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4</a:t>
                      </a:r>
                      <a:endParaRPr lang="en-SE" dirty="0"/>
                    </a:p>
                  </a:txBody>
                  <a:tcPr/>
                </a:tc>
                <a:extLst>
                  <a:ext uri="{0D108BD9-81ED-4DB2-BD59-A6C34878D82A}">
                    <a16:rowId xmlns:a16="http://schemas.microsoft.com/office/drawing/2014/main" val="2765478547"/>
                  </a:ext>
                </a:extLst>
              </a:tr>
              <a:tr h="370840">
                <a:tc>
                  <a:txBody>
                    <a:bodyPr/>
                    <a:lstStyle/>
                    <a:p>
                      <a:r>
                        <a:rPr lang="en-GB" dirty="0"/>
                        <a:t>SJF</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3</a:t>
                      </a:r>
                      <a:endParaRPr lang="en-SE" dirty="0"/>
                    </a:p>
                  </a:txBody>
                  <a:tcPr/>
                </a:tc>
                <a:tc>
                  <a:txBody>
                    <a:bodyPr/>
                    <a:lstStyle/>
                    <a:p>
                      <a:pPr algn="ctr"/>
                      <a:r>
                        <a:rPr lang="en-GB" dirty="0"/>
                        <a:t>3</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4</a:t>
                      </a:r>
                      <a:endParaRPr lang="en-SE" dirty="0"/>
                    </a:p>
                  </a:txBody>
                  <a:tcPr/>
                </a:tc>
                <a:tc>
                  <a:txBody>
                    <a:bodyPr/>
                    <a:lstStyle/>
                    <a:p>
                      <a:pPr algn="ctr"/>
                      <a:r>
                        <a:rPr lang="en-GB" dirty="0"/>
                        <a:t>4</a:t>
                      </a:r>
                      <a:endParaRPr lang="en-SE" dirty="0"/>
                    </a:p>
                  </a:txBody>
                  <a:tcPr/>
                </a:tc>
                <a:extLst>
                  <a:ext uri="{0D108BD9-81ED-4DB2-BD59-A6C34878D82A}">
                    <a16:rowId xmlns:a16="http://schemas.microsoft.com/office/drawing/2014/main" val="3821195699"/>
                  </a:ext>
                </a:extLst>
              </a:tr>
              <a:tr h="370840">
                <a:tc>
                  <a:txBody>
                    <a:bodyPr/>
                    <a:lstStyle/>
                    <a:p>
                      <a:r>
                        <a:rPr lang="en-GB" dirty="0"/>
                        <a:t>SRTF</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1</a:t>
                      </a:r>
                      <a:endParaRPr lang="en-SE" dirty="0"/>
                    </a:p>
                  </a:txBody>
                  <a:tcPr/>
                </a:tc>
                <a:tc>
                  <a:txBody>
                    <a:bodyPr/>
                    <a:lstStyle/>
                    <a:p>
                      <a:pPr algn="ctr"/>
                      <a:r>
                        <a:rPr lang="en-GB" dirty="0"/>
                        <a:t>3</a:t>
                      </a:r>
                      <a:endParaRPr lang="en-SE" dirty="0"/>
                    </a:p>
                  </a:txBody>
                  <a:tcPr/>
                </a:tc>
                <a:tc>
                  <a:txBody>
                    <a:bodyPr/>
                    <a:lstStyle/>
                    <a:p>
                      <a:pPr algn="ctr"/>
                      <a:r>
                        <a:rPr lang="en-GB" dirty="0"/>
                        <a:t>3</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4</a:t>
                      </a:r>
                      <a:endParaRPr lang="en-SE" dirty="0"/>
                    </a:p>
                  </a:txBody>
                  <a:tcPr/>
                </a:tc>
                <a:tc>
                  <a:txBody>
                    <a:bodyPr/>
                    <a:lstStyle/>
                    <a:p>
                      <a:pPr algn="ctr"/>
                      <a:r>
                        <a:rPr lang="en-GB" dirty="0"/>
                        <a:t>4</a:t>
                      </a:r>
                      <a:endParaRPr lang="en-SE" dirty="0"/>
                    </a:p>
                  </a:txBody>
                  <a:tcPr/>
                </a:tc>
                <a:extLst>
                  <a:ext uri="{0D108BD9-81ED-4DB2-BD59-A6C34878D82A}">
                    <a16:rowId xmlns:a16="http://schemas.microsoft.com/office/drawing/2014/main" val="695064754"/>
                  </a:ext>
                </a:extLst>
              </a:tr>
              <a:tr h="370840">
                <a:tc>
                  <a:txBody>
                    <a:bodyPr/>
                    <a:lstStyle/>
                    <a:p>
                      <a:r>
                        <a:rPr lang="en-GB" dirty="0"/>
                        <a:t>RR</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3</a:t>
                      </a:r>
                      <a:endParaRPr lang="en-SE" dirty="0"/>
                    </a:p>
                  </a:txBody>
                  <a:tcPr/>
                </a:tc>
                <a:tc>
                  <a:txBody>
                    <a:bodyPr/>
                    <a:lstStyle/>
                    <a:p>
                      <a:pPr algn="ctr"/>
                      <a:r>
                        <a:rPr lang="en-GB" dirty="0"/>
                        <a:t>2</a:t>
                      </a:r>
                      <a:endParaRPr lang="en-SE" dirty="0"/>
                    </a:p>
                  </a:txBody>
                  <a:tcPr/>
                </a:tc>
                <a:tc>
                  <a:txBody>
                    <a:bodyPr/>
                    <a:lstStyle/>
                    <a:p>
                      <a:pPr algn="ctr"/>
                      <a:r>
                        <a:rPr lang="en-GB" dirty="0"/>
                        <a:t>1</a:t>
                      </a:r>
                      <a:endParaRPr lang="en-SE" dirty="0"/>
                    </a:p>
                  </a:txBody>
                  <a:tcPr/>
                </a:tc>
                <a:tc>
                  <a:txBody>
                    <a:bodyPr/>
                    <a:lstStyle/>
                    <a:p>
                      <a:pPr algn="ctr"/>
                      <a:r>
                        <a:rPr lang="en-GB" dirty="0"/>
                        <a:t>3</a:t>
                      </a:r>
                      <a:endParaRPr lang="en-SE" dirty="0"/>
                    </a:p>
                  </a:txBody>
                  <a:tcPr/>
                </a:tc>
                <a:tc>
                  <a:txBody>
                    <a:bodyPr/>
                    <a:lstStyle/>
                    <a:p>
                      <a:pPr algn="ctr"/>
                      <a:r>
                        <a:rPr lang="en-GB" dirty="0"/>
                        <a:t>2</a:t>
                      </a:r>
                      <a:endParaRPr lang="en-SE" dirty="0"/>
                    </a:p>
                  </a:txBody>
                  <a:tcPr/>
                </a:tc>
                <a:tc>
                  <a:txBody>
                    <a:bodyPr/>
                    <a:lstStyle/>
                    <a:p>
                      <a:pPr algn="ctr"/>
                      <a:r>
                        <a:rPr lang="en-GB" dirty="0"/>
                        <a:t>2</a:t>
                      </a:r>
                      <a:endParaRPr lang="en-SE" dirty="0"/>
                    </a:p>
                  </a:txBody>
                  <a:tcPr/>
                </a:tc>
                <a:tc>
                  <a:txBody>
                    <a:bodyPr/>
                    <a:lstStyle/>
                    <a:p>
                      <a:pPr algn="ctr"/>
                      <a:r>
                        <a:rPr lang="en-GB" dirty="0"/>
                        <a:t>4</a:t>
                      </a:r>
                      <a:endParaRPr lang="en-SE" dirty="0"/>
                    </a:p>
                  </a:txBody>
                  <a:tcPr/>
                </a:tc>
                <a:tc>
                  <a:txBody>
                    <a:bodyPr/>
                    <a:lstStyle/>
                    <a:p>
                      <a:pPr algn="ctr"/>
                      <a:r>
                        <a:rPr lang="en-GB" dirty="0"/>
                        <a:t>2</a:t>
                      </a:r>
                      <a:endParaRPr lang="en-SE" dirty="0"/>
                    </a:p>
                  </a:txBody>
                  <a:tcPr/>
                </a:tc>
                <a:tc>
                  <a:txBody>
                    <a:bodyPr/>
                    <a:lstStyle/>
                    <a:p>
                      <a:pPr algn="ctr"/>
                      <a:r>
                        <a:rPr lang="en-GB" dirty="0"/>
                        <a:t>4</a:t>
                      </a:r>
                      <a:endParaRPr lang="en-SE" dirty="0"/>
                    </a:p>
                  </a:txBody>
                  <a:tcPr/>
                </a:tc>
                <a:extLst>
                  <a:ext uri="{0D108BD9-81ED-4DB2-BD59-A6C34878D82A}">
                    <a16:rowId xmlns:a16="http://schemas.microsoft.com/office/drawing/2014/main" val="362492301"/>
                  </a:ext>
                </a:extLst>
              </a:tr>
            </a:tbl>
          </a:graphicData>
        </a:graphic>
      </p:graphicFrame>
      <p:graphicFrame>
        <p:nvGraphicFramePr>
          <p:cNvPr id="33" name="Table 32">
            <a:extLst>
              <a:ext uri="{FF2B5EF4-FFF2-40B4-BE49-F238E27FC236}">
                <a16:creationId xmlns:a16="http://schemas.microsoft.com/office/drawing/2014/main" id="{E02BD8CA-642F-25CA-59C7-9D29B5074C1B}"/>
              </a:ext>
            </a:extLst>
          </p:cNvPr>
          <p:cNvGraphicFramePr>
            <a:graphicFrameLocks noGrp="1"/>
          </p:cNvGraphicFramePr>
          <p:nvPr>
            <p:extLst>
              <p:ext uri="{D42A27DB-BD31-4B8C-83A1-F6EECF244321}">
                <p14:modId xmlns:p14="http://schemas.microsoft.com/office/powerpoint/2010/main" val="2896416752"/>
              </p:ext>
            </p:extLst>
          </p:nvPr>
        </p:nvGraphicFramePr>
        <p:xfrm>
          <a:off x="2732442" y="5707713"/>
          <a:ext cx="7361291" cy="370840"/>
        </p:xfrm>
        <a:graphic>
          <a:graphicData uri="http://schemas.openxmlformats.org/drawingml/2006/table">
            <a:tbl>
              <a:tblPr firstRow="1" bandRow="1">
                <a:tableStyleId>{2D5ABB26-0587-4C30-8999-92F81FD0307C}</a:tableStyleId>
              </a:tblPr>
              <a:tblGrid>
                <a:gridCol w="839540">
                  <a:extLst>
                    <a:ext uri="{9D8B030D-6E8A-4147-A177-3AD203B41FA5}">
                      <a16:colId xmlns:a16="http://schemas.microsoft.com/office/drawing/2014/main" val="733727588"/>
                    </a:ext>
                  </a:extLst>
                </a:gridCol>
                <a:gridCol w="510909">
                  <a:extLst>
                    <a:ext uri="{9D8B030D-6E8A-4147-A177-3AD203B41FA5}">
                      <a16:colId xmlns:a16="http://schemas.microsoft.com/office/drawing/2014/main" val="2602592049"/>
                    </a:ext>
                  </a:extLst>
                </a:gridCol>
                <a:gridCol w="510909">
                  <a:extLst>
                    <a:ext uri="{9D8B030D-6E8A-4147-A177-3AD203B41FA5}">
                      <a16:colId xmlns:a16="http://schemas.microsoft.com/office/drawing/2014/main" val="3575549038"/>
                    </a:ext>
                  </a:extLst>
                </a:gridCol>
                <a:gridCol w="510909">
                  <a:extLst>
                    <a:ext uri="{9D8B030D-6E8A-4147-A177-3AD203B41FA5}">
                      <a16:colId xmlns:a16="http://schemas.microsoft.com/office/drawing/2014/main" val="831617333"/>
                    </a:ext>
                  </a:extLst>
                </a:gridCol>
                <a:gridCol w="390843">
                  <a:extLst>
                    <a:ext uri="{9D8B030D-6E8A-4147-A177-3AD203B41FA5}">
                      <a16:colId xmlns:a16="http://schemas.microsoft.com/office/drawing/2014/main" val="3218967563"/>
                    </a:ext>
                  </a:extLst>
                </a:gridCol>
                <a:gridCol w="510909">
                  <a:extLst>
                    <a:ext uri="{9D8B030D-6E8A-4147-A177-3AD203B41FA5}">
                      <a16:colId xmlns:a16="http://schemas.microsoft.com/office/drawing/2014/main" val="3594834760"/>
                    </a:ext>
                  </a:extLst>
                </a:gridCol>
                <a:gridCol w="510909">
                  <a:extLst>
                    <a:ext uri="{9D8B030D-6E8A-4147-A177-3AD203B41FA5}">
                      <a16:colId xmlns:a16="http://schemas.microsoft.com/office/drawing/2014/main" val="2682597463"/>
                    </a:ext>
                  </a:extLst>
                </a:gridCol>
                <a:gridCol w="510909">
                  <a:extLst>
                    <a:ext uri="{9D8B030D-6E8A-4147-A177-3AD203B41FA5}">
                      <a16:colId xmlns:a16="http://schemas.microsoft.com/office/drawing/2014/main" val="3439388444"/>
                    </a:ext>
                  </a:extLst>
                </a:gridCol>
                <a:gridCol w="510909">
                  <a:extLst>
                    <a:ext uri="{9D8B030D-6E8A-4147-A177-3AD203B41FA5}">
                      <a16:colId xmlns:a16="http://schemas.microsoft.com/office/drawing/2014/main" val="3670994415"/>
                    </a:ext>
                  </a:extLst>
                </a:gridCol>
                <a:gridCol w="510909">
                  <a:extLst>
                    <a:ext uri="{9D8B030D-6E8A-4147-A177-3AD203B41FA5}">
                      <a16:colId xmlns:a16="http://schemas.microsoft.com/office/drawing/2014/main" val="3264987435"/>
                    </a:ext>
                  </a:extLst>
                </a:gridCol>
                <a:gridCol w="510909">
                  <a:extLst>
                    <a:ext uri="{9D8B030D-6E8A-4147-A177-3AD203B41FA5}">
                      <a16:colId xmlns:a16="http://schemas.microsoft.com/office/drawing/2014/main" val="2607637358"/>
                    </a:ext>
                  </a:extLst>
                </a:gridCol>
                <a:gridCol w="510909">
                  <a:extLst>
                    <a:ext uri="{9D8B030D-6E8A-4147-A177-3AD203B41FA5}">
                      <a16:colId xmlns:a16="http://schemas.microsoft.com/office/drawing/2014/main" val="4040844026"/>
                    </a:ext>
                  </a:extLst>
                </a:gridCol>
                <a:gridCol w="510909">
                  <a:extLst>
                    <a:ext uri="{9D8B030D-6E8A-4147-A177-3AD203B41FA5}">
                      <a16:colId xmlns:a16="http://schemas.microsoft.com/office/drawing/2014/main" val="1571313798"/>
                    </a:ext>
                  </a:extLst>
                </a:gridCol>
                <a:gridCol w="510909">
                  <a:extLst>
                    <a:ext uri="{9D8B030D-6E8A-4147-A177-3AD203B41FA5}">
                      <a16:colId xmlns:a16="http://schemas.microsoft.com/office/drawing/2014/main" val="931111055"/>
                    </a:ext>
                  </a:extLst>
                </a:gridCol>
              </a:tblGrid>
              <a:tr h="370840">
                <a:tc>
                  <a:txBody>
                    <a:bodyPr/>
                    <a:lstStyle/>
                    <a:p>
                      <a:r>
                        <a:rPr lang="en-GB" dirty="0"/>
                        <a:t>Time </a:t>
                      </a:r>
                      <a:endParaRPr lang="en-SE" dirty="0"/>
                    </a:p>
                  </a:txBody>
                  <a:tcPr/>
                </a:tc>
                <a:tc>
                  <a:txBody>
                    <a:bodyPr/>
                    <a:lstStyle/>
                    <a:p>
                      <a:pPr algn="ctr"/>
                      <a:r>
                        <a:rPr lang="en-GB" dirty="0"/>
                        <a:t>0</a:t>
                      </a:r>
                      <a:endParaRPr lang="en-SE" dirty="0"/>
                    </a:p>
                  </a:txBody>
                  <a:tcPr/>
                </a:tc>
                <a:tc>
                  <a:txBody>
                    <a:bodyPr/>
                    <a:lstStyle/>
                    <a:p>
                      <a:pPr algn="ctr"/>
                      <a:r>
                        <a:rPr lang="en-GB" dirty="0"/>
                        <a:t>1</a:t>
                      </a:r>
                      <a:endParaRPr lang="en-SE" dirty="0"/>
                    </a:p>
                  </a:txBody>
                  <a:tcPr/>
                </a:tc>
                <a:tc>
                  <a:txBody>
                    <a:bodyPr/>
                    <a:lstStyle/>
                    <a:p>
                      <a:pPr algn="ctr"/>
                      <a:r>
                        <a:rPr lang="en-GB" dirty="0"/>
                        <a:t>2</a:t>
                      </a:r>
                      <a:endParaRPr lang="en-SE" dirty="0"/>
                    </a:p>
                  </a:txBody>
                  <a:tcPr/>
                </a:tc>
                <a:tc>
                  <a:txBody>
                    <a:bodyPr/>
                    <a:lstStyle/>
                    <a:p>
                      <a:pPr algn="ctr"/>
                      <a:r>
                        <a:rPr lang="en-GB" dirty="0"/>
                        <a:t>3</a:t>
                      </a:r>
                      <a:endParaRPr lang="en-SE" dirty="0"/>
                    </a:p>
                  </a:txBody>
                  <a:tcPr/>
                </a:tc>
                <a:tc>
                  <a:txBody>
                    <a:bodyPr/>
                    <a:lstStyle/>
                    <a:p>
                      <a:pPr algn="ctr"/>
                      <a:r>
                        <a:rPr lang="en-GB" dirty="0"/>
                        <a:t>4</a:t>
                      </a:r>
                      <a:endParaRPr lang="en-SE" dirty="0"/>
                    </a:p>
                  </a:txBody>
                  <a:tcPr/>
                </a:tc>
                <a:tc>
                  <a:txBody>
                    <a:bodyPr/>
                    <a:lstStyle/>
                    <a:p>
                      <a:pPr algn="ctr"/>
                      <a:r>
                        <a:rPr lang="en-GB" dirty="0"/>
                        <a:t>5</a:t>
                      </a:r>
                      <a:endParaRPr lang="en-SE" dirty="0"/>
                    </a:p>
                  </a:txBody>
                  <a:tcPr/>
                </a:tc>
                <a:tc>
                  <a:txBody>
                    <a:bodyPr/>
                    <a:lstStyle/>
                    <a:p>
                      <a:pPr algn="ctr"/>
                      <a:r>
                        <a:rPr lang="en-GB" dirty="0"/>
                        <a:t>6</a:t>
                      </a:r>
                      <a:endParaRPr lang="en-SE" dirty="0"/>
                    </a:p>
                  </a:txBody>
                  <a:tcPr/>
                </a:tc>
                <a:tc>
                  <a:txBody>
                    <a:bodyPr/>
                    <a:lstStyle/>
                    <a:p>
                      <a:pPr algn="ctr"/>
                      <a:r>
                        <a:rPr lang="en-GB" dirty="0"/>
                        <a:t>7</a:t>
                      </a:r>
                      <a:endParaRPr lang="en-SE" dirty="0"/>
                    </a:p>
                  </a:txBody>
                  <a:tcPr/>
                </a:tc>
                <a:tc>
                  <a:txBody>
                    <a:bodyPr/>
                    <a:lstStyle/>
                    <a:p>
                      <a:pPr algn="ctr"/>
                      <a:r>
                        <a:rPr lang="en-GB" dirty="0"/>
                        <a:t>8</a:t>
                      </a:r>
                      <a:endParaRPr lang="en-SE" dirty="0"/>
                    </a:p>
                  </a:txBody>
                  <a:tcPr/>
                </a:tc>
                <a:tc>
                  <a:txBody>
                    <a:bodyPr/>
                    <a:lstStyle/>
                    <a:p>
                      <a:pPr algn="ctr"/>
                      <a:r>
                        <a:rPr lang="en-GB" dirty="0"/>
                        <a:t>9</a:t>
                      </a:r>
                      <a:endParaRPr lang="en-SE" dirty="0"/>
                    </a:p>
                  </a:txBody>
                  <a:tcPr/>
                </a:tc>
                <a:tc>
                  <a:txBody>
                    <a:bodyPr/>
                    <a:lstStyle/>
                    <a:p>
                      <a:pPr algn="ctr"/>
                      <a:r>
                        <a:rPr lang="en-GB" dirty="0"/>
                        <a:t>10</a:t>
                      </a:r>
                      <a:endParaRPr lang="en-SE" dirty="0"/>
                    </a:p>
                  </a:txBody>
                  <a:tcPr/>
                </a:tc>
                <a:tc>
                  <a:txBody>
                    <a:bodyPr/>
                    <a:lstStyle/>
                    <a:p>
                      <a:pPr algn="ctr"/>
                      <a:r>
                        <a:rPr lang="en-GB" dirty="0"/>
                        <a:t>11</a:t>
                      </a:r>
                      <a:endParaRPr lang="en-SE" dirty="0"/>
                    </a:p>
                  </a:txBody>
                  <a:tcPr/>
                </a:tc>
                <a:tc>
                  <a:txBody>
                    <a:bodyPr/>
                    <a:lstStyle/>
                    <a:p>
                      <a:pPr algn="ctr"/>
                      <a:r>
                        <a:rPr lang="en-GB" dirty="0"/>
                        <a:t>12</a:t>
                      </a:r>
                      <a:endParaRPr lang="en-SE" dirty="0"/>
                    </a:p>
                  </a:txBody>
                  <a:tcPr/>
                </a:tc>
                <a:extLst>
                  <a:ext uri="{0D108BD9-81ED-4DB2-BD59-A6C34878D82A}">
                    <a16:rowId xmlns:a16="http://schemas.microsoft.com/office/drawing/2014/main" val="1169300345"/>
                  </a:ext>
                </a:extLst>
              </a:tr>
            </a:tbl>
          </a:graphicData>
        </a:graphic>
      </p:graphicFrame>
      <p:sp>
        <p:nvSpPr>
          <p:cNvPr id="36" name="Content Placeholder 2">
            <a:extLst>
              <a:ext uri="{FF2B5EF4-FFF2-40B4-BE49-F238E27FC236}">
                <a16:creationId xmlns:a16="http://schemas.microsoft.com/office/drawing/2014/main" id="{85FBEF5D-A600-7D50-0F56-04D432A43B5D}"/>
              </a:ext>
            </a:extLst>
          </p:cNvPr>
          <p:cNvSpPr>
            <a:spLocks noGrp="1"/>
          </p:cNvSpPr>
          <p:nvPr>
            <p:ph idx="1"/>
          </p:nvPr>
        </p:nvSpPr>
        <p:spPr>
          <a:xfrm>
            <a:off x="5775901" y="6078553"/>
            <a:ext cx="1676400" cy="395575"/>
          </a:xfrm>
        </p:spPr>
        <p:txBody>
          <a:bodyPr>
            <a:normAutofit lnSpcReduction="10000"/>
          </a:bodyPr>
          <a:lstStyle/>
          <a:p>
            <a:pPr marL="0" indent="0">
              <a:buNone/>
            </a:pPr>
            <a:r>
              <a:rPr lang="en-GB" sz="2400" dirty="0"/>
              <a:t>Gantt Chart</a:t>
            </a:r>
            <a:endParaRPr lang="en-SE" sz="2400" dirty="0"/>
          </a:p>
        </p:txBody>
      </p:sp>
      <p:cxnSp>
        <p:nvCxnSpPr>
          <p:cNvPr id="5" name="Straight Arrow Connector 4">
            <a:extLst>
              <a:ext uri="{FF2B5EF4-FFF2-40B4-BE49-F238E27FC236}">
                <a16:creationId xmlns:a16="http://schemas.microsoft.com/office/drawing/2014/main" id="{0451F4A4-B9A4-D33B-2081-F8E050D8405B}"/>
              </a:ext>
            </a:extLst>
          </p:cNvPr>
          <p:cNvCxnSpPr>
            <a:cxnSpLocks/>
          </p:cNvCxnSpPr>
          <p:nvPr/>
        </p:nvCxnSpPr>
        <p:spPr bwMode="auto">
          <a:xfrm flipV="1">
            <a:off x="3870743" y="6040584"/>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7" name="TextBox 6">
            <a:extLst>
              <a:ext uri="{FF2B5EF4-FFF2-40B4-BE49-F238E27FC236}">
                <a16:creationId xmlns:a16="http://schemas.microsoft.com/office/drawing/2014/main" id="{432EADD6-069B-C544-7F12-3B451ED099F0}"/>
              </a:ext>
            </a:extLst>
          </p:cNvPr>
          <p:cNvSpPr txBox="1"/>
          <p:nvPr/>
        </p:nvSpPr>
        <p:spPr>
          <a:xfrm>
            <a:off x="3333334" y="6472427"/>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P1 arrival</a:t>
            </a:r>
            <a:endParaRPr lang="en-SE" dirty="0">
              <a:solidFill>
                <a:schemeClr val="accent1">
                  <a:lumMod val="75000"/>
                </a:schemeClr>
              </a:solidFill>
              <a:latin typeface="Gill Sans Light"/>
            </a:endParaRPr>
          </a:p>
        </p:txBody>
      </p:sp>
      <p:cxnSp>
        <p:nvCxnSpPr>
          <p:cNvPr id="8" name="Straight Arrow Connector 7">
            <a:extLst>
              <a:ext uri="{FF2B5EF4-FFF2-40B4-BE49-F238E27FC236}">
                <a16:creationId xmlns:a16="http://schemas.microsoft.com/office/drawing/2014/main" id="{CE88742C-C130-5BD7-B9C0-F7BDFD735479}"/>
              </a:ext>
            </a:extLst>
          </p:cNvPr>
          <p:cNvCxnSpPr>
            <a:cxnSpLocks/>
          </p:cNvCxnSpPr>
          <p:nvPr/>
        </p:nvCxnSpPr>
        <p:spPr bwMode="auto">
          <a:xfrm flipV="1">
            <a:off x="4343400" y="6063249"/>
            <a:ext cx="0" cy="259272"/>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9" name="TextBox 8">
            <a:extLst>
              <a:ext uri="{FF2B5EF4-FFF2-40B4-BE49-F238E27FC236}">
                <a16:creationId xmlns:a16="http://schemas.microsoft.com/office/drawing/2014/main" id="{049969F4-BC77-D8CD-4B27-0FF9F6E0C573}"/>
              </a:ext>
            </a:extLst>
          </p:cNvPr>
          <p:cNvSpPr txBox="1"/>
          <p:nvPr/>
        </p:nvSpPr>
        <p:spPr>
          <a:xfrm>
            <a:off x="3870743" y="6226758"/>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P2 arrival</a:t>
            </a:r>
            <a:endParaRPr lang="en-SE" dirty="0">
              <a:solidFill>
                <a:schemeClr val="accent1">
                  <a:lumMod val="75000"/>
                </a:schemeClr>
              </a:solidFill>
              <a:latin typeface="Gill Sans Light"/>
            </a:endParaRPr>
          </a:p>
        </p:txBody>
      </p:sp>
      <p:cxnSp>
        <p:nvCxnSpPr>
          <p:cNvPr id="10" name="Straight Arrow Connector 9">
            <a:extLst>
              <a:ext uri="{FF2B5EF4-FFF2-40B4-BE49-F238E27FC236}">
                <a16:creationId xmlns:a16="http://schemas.microsoft.com/office/drawing/2014/main" id="{4E5C1E7A-0617-B9D6-4C6A-DC8D288DF8F6}"/>
              </a:ext>
            </a:extLst>
          </p:cNvPr>
          <p:cNvCxnSpPr>
            <a:cxnSpLocks/>
          </p:cNvCxnSpPr>
          <p:nvPr/>
        </p:nvCxnSpPr>
        <p:spPr bwMode="auto">
          <a:xfrm flipV="1">
            <a:off x="5338009" y="6048804"/>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2" name="TextBox 11">
            <a:extLst>
              <a:ext uri="{FF2B5EF4-FFF2-40B4-BE49-F238E27FC236}">
                <a16:creationId xmlns:a16="http://schemas.microsoft.com/office/drawing/2014/main" id="{80B94E16-7F1B-7556-B628-455EBCDF5FB9}"/>
              </a:ext>
            </a:extLst>
          </p:cNvPr>
          <p:cNvSpPr txBox="1"/>
          <p:nvPr/>
        </p:nvSpPr>
        <p:spPr>
          <a:xfrm>
            <a:off x="4800600" y="6480647"/>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P3 arrival</a:t>
            </a:r>
            <a:endParaRPr lang="en-SE" dirty="0">
              <a:solidFill>
                <a:schemeClr val="accent1">
                  <a:lumMod val="75000"/>
                </a:schemeClr>
              </a:solidFill>
              <a:latin typeface="Gill Sans Light"/>
            </a:endParaRPr>
          </a:p>
        </p:txBody>
      </p:sp>
      <p:cxnSp>
        <p:nvCxnSpPr>
          <p:cNvPr id="13" name="Straight Arrow Connector 12">
            <a:extLst>
              <a:ext uri="{FF2B5EF4-FFF2-40B4-BE49-F238E27FC236}">
                <a16:creationId xmlns:a16="http://schemas.microsoft.com/office/drawing/2014/main" id="{76D78D6D-4B87-D892-04B9-CEE2F68AE7FA}"/>
              </a:ext>
            </a:extLst>
          </p:cNvPr>
          <p:cNvCxnSpPr>
            <a:cxnSpLocks/>
          </p:cNvCxnSpPr>
          <p:nvPr/>
        </p:nvCxnSpPr>
        <p:spPr bwMode="auto">
          <a:xfrm flipV="1">
            <a:off x="8438942" y="6024164"/>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4" name="TextBox 13">
            <a:extLst>
              <a:ext uri="{FF2B5EF4-FFF2-40B4-BE49-F238E27FC236}">
                <a16:creationId xmlns:a16="http://schemas.microsoft.com/office/drawing/2014/main" id="{D63D04D4-BA47-C616-1B5D-BA26CA5631CB}"/>
              </a:ext>
            </a:extLst>
          </p:cNvPr>
          <p:cNvSpPr txBox="1"/>
          <p:nvPr/>
        </p:nvSpPr>
        <p:spPr>
          <a:xfrm>
            <a:off x="7901533" y="6456007"/>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P4 arrival</a:t>
            </a:r>
            <a:endParaRPr lang="en-SE" dirty="0">
              <a:solidFill>
                <a:schemeClr val="accent1">
                  <a:lumMod val="75000"/>
                </a:schemeClr>
              </a:solidFill>
              <a:latin typeface="Gill Sans Light"/>
            </a:endParaRPr>
          </a:p>
        </p:txBody>
      </p:sp>
      <p:sp>
        <p:nvSpPr>
          <p:cNvPr id="3" name="Content Placeholder 2">
            <a:extLst>
              <a:ext uri="{FF2B5EF4-FFF2-40B4-BE49-F238E27FC236}">
                <a16:creationId xmlns:a16="http://schemas.microsoft.com/office/drawing/2014/main" id="{E2C0AC57-872C-69A0-5B15-B3A330E5308D}"/>
              </a:ext>
            </a:extLst>
          </p:cNvPr>
          <p:cNvSpPr txBox="1">
            <a:spLocks/>
          </p:cNvSpPr>
          <p:nvPr/>
        </p:nvSpPr>
        <p:spPr bwMode="auto">
          <a:xfrm>
            <a:off x="812800" y="692320"/>
            <a:ext cx="10566400" cy="3532034"/>
          </a:xfrm>
          <a:prstGeom prst="rect">
            <a:avLst/>
          </a:prstGeom>
          <a:noFill/>
          <a:ln>
            <a:noFill/>
          </a:ln>
          <a:effectLst/>
          <a:extLst>
            <a:ext uri="{FAA26D3D-D897-4be2-8F04-BA451C77F1D7}">
              <ma14:placeholderFlag xmlns:ma14="http://schemas.microsoft.com/office/mac/drawingml/2011/main" xmlns="" val="1"/>
            </a:ex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12700">
                <a:pattFill prst="narHorz">
                  <a:fgClr>
                    <a:schemeClr val="tx1"/>
                  </a:fgClr>
                  <a:bgClr>
                    <a:schemeClr val="bg1"/>
                  </a:bgClr>
                </a:patt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0478" tIns="44445" rIns="90478" bIns="44445" numCol="1" anchor="t" anchorCtr="0" compatLnSpc="1">
            <a:prstTxWarp prst="textNoShape">
              <a:avLst/>
            </a:prstTxWarp>
            <a:normAutofit fontScale="92500" lnSpcReduction="10000"/>
          </a:bodyPr>
          <a:lstStyle>
            <a:lvl1pPr marL="285750" indent="-285750" algn="l" rtl="0" eaLnBrk="0" fontAlgn="base" hangingPunct="0">
              <a:lnSpc>
                <a:spcPct val="90000"/>
              </a:lnSpc>
              <a:spcBef>
                <a:spcPct val="30000"/>
              </a:spcBef>
              <a:spcAft>
                <a:spcPct val="0"/>
              </a:spcAft>
              <a:buSzPct val="100000"/>
              <a:buChar char="•"/>
              <a:defRPr sz="2800" b="0" i="0">
                <a:solidFill>
                  <a:schemeClr val="tx1"/>
                </a:solidFill>
                <a:latin typeface="Gill Sans" panose="020B0502020104020203"/>
                <a:ea typeface="Gill Sans" panose="020B0502020104020203"/>
                <a:cs typeface="Gill Sans" panose="020B0502020104020203"/>
              </a:defRPr>
            </a:lvl1pPr>
            <a:lvl2pPr marL="6858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2pPr>
            <a:lvl3pPr marL="1143000" indent="-22860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3pPr>
            <a:lvl4pPr marL="15430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4pPr>
            <a:lvl5pPr marL="2000250" indent="-171450" algn="l" rtl="0" eaLnBrk="0" fontAlgn="base" hangingPunct="0">
              <a:lnSpc>
                <a:spcPct val="90000"/>
              </a:lnSpc>
              <a:spcBef>
                <a:spcPct val="30000"/>
              </a:spcBef>
              <a:spcAft>
                <a:spcPct val="0"/>
              </a:spcAft>
              <a:buSzPct val="100000"/>
              <a:buChar char="–"/>
              <a:defRPr sz="2400" b="0" i="0">
                <a:solidFill>
                  <a:schemeClr val="tx1"/>
                </a:solidFill>
                <a:latin typeface="Gill Sans" panose="020B0502020104020203"/>
                <a:ea typeface="Gill Sans" panose="020B0502020104020203"/>
                <a:cs typeface="Gill Sans" panose="020B0502020104020203"/>
              </a:defRPr>
            </a:lvl5pPr>
            <a:lvl6pPr marL="2457450" indent="-171450" algn="l" rtl="0" eaLnBrk="0" fontAlgn="base" hangingPunct="0">
              <a:lnSpc>
                <a:spcPct val="90000"/>
              </a:lnSpc>
              <a:spcBef>
                <a:spcPct val="30000"/>
              </a:spcBef>
              <a:spcAft>
                <a:spcPct val="0"/>
              </a:spcAft>
              <a:buSzPct val="100000"/>
              <a:buChar char="–"/>
              <a:defRPr sz="2000" b="1">
                <a:solidFill>
                  <a:schemeClr val="tx1"/>
                </a:solidFill>
                <a:latin typeface="+mn-lt"/>
              </a:defRPr>
            </a:lvl6pPr>
            <a:lvl7pPr marL="2914650" indent="-171450" algn="l" rtl="0" eaLnBrk="0" fontAlgn="base" hangingPunct="0">
              <a:lnSpc>
                <a:spcPct val="90000"/>
              </a:lnSpc>
              <a:spcBef>
                <a:spcPct val="30000"/>
              </a:spcBef>
              <a:spcAft>
                <a:spcPct val="0"/>
              </a:spcAft>
              <a:buSzPct val="100000"/>
              <a:buChar char="–"/>
              <a:defRPr sz="2000" b="1">
                <a:solidFill>
                  <a:schemeClr val="tx1"/>
                </a:solidFill>
                <a:latin typeface="+mn-lt"/>
              </a:defRPr>
            </a:lvl7pPr>
            <a:lvl8pPr marL="3371850" indent="-171450" algn="l" rtl="0" eaLnBrk="0" fontAlgn="base" hangingPunct="0">
              <a:lnSpc>
                <a:spcPct val="90000"/>
              </a:lnSpc>
              <a:spcBef>
                <a:spcPct val="30000"/>
              </a:spcBef>
              <a:spcAft>
                <a:spcPct val="0"/>
              </a:spcAft>
              <a:buSzPct val="100000"/>
              <a:buChar char="–"/>
              <a:defRPr sz="2000" b="1">
                <a:solidFill>
                  <a:schemeClr val="tx1"/>
                </a:solidFill>
                <a:latin typeface="+mn-lt"/>
              </a:defRPr>
            </a:lvl8pPr>
            <a:lvl9pPr marL="3829050" indent="-171450" algn="l" rtl="0" eaLnBrk="0" fontAlgn="base" hangingPunct="0">
              <a:lnSpc>
                <a:spcPct val="90000"/>
              </a:lnSpc>
              <a:spcBef>
                <a:spcPct val="30000"/>
              </a:spcBef>
              <a:spcAft>
                <a:spcPct val="0"/>
              </a:spcAft>
              <a:buSzPct val="100000"/>
              <a:buChar char="–"/>
              <a:defRPr sz="2000" b="1">
                <a:solidFill>
                  <a:schemeClr val="tx1"/>
                </a:solidFill>
                <a:latin typeface="+mn-lt"/>
              </a:defRPr>
            </a:lvl9pPr>
          </a:lstStyle>
          <a:p>
            <a:r>
              <a:rPr lang="en-GB" kern="0" dirty="0"/>
              <a:t>RR scheduling explanations: </a:t>
            </a:r>
          </a:p>
          <a:p>
            <a:r>
              <a:rPr lang="en-GB" kern="0" dirty="0"/>
              <a:t>Time 1: P2 arrives, and it runs immediately based on our assumption that an arriving process </a:t>
            </a:r>
            <a:r>
              <a:rPr lang="en-GB" dirty="0"/>
              <a:t>is added to the head of the queue upon arrival.</a:t>
            </a:r>
          </a:p>
          <a:p>
            <a:r>
              <a:rPr lang="en-GB" kern="0" dirty="0"/>
              <a:t>Time 3: P3 arrives, and it runs immediately.</a:t>
            </a:r>
          </a:p>
          <a:p>
            <a:r>
              <a:rPr lang="en-GB" kern="0" dirty="0"/>
              <a:t>Time 4: P2 runs since it is next in ready queue based on the cyclic pattern of  “12, 12”.</a:t>
            </a:r>
          </a:p>
          <a:p>
            <a:r>
              <a:rPr lang="en-GB" kern="0" dirty="0"/>
              <a:t>Time 6: P3 runs based on the cyclic pattern of “321, 321”.</a:t>
            </a:r>
          </a:p>
          <a:p>
            <a:r>
              <a:rPr lang="en-GB" kern="0" dirty="0"/>
              <a:t>Time 9: P4 arrives, and it runs immediately.</a:t>
            </a:r>
            <a:endParaRPr lang="en-SE" kern="0" dirty="0"/>
          </a:p>
          <a:p>
            <a:endParaRPr lang="en-SE" kern="0" dirty="0"/>
          </a:p>
        </p:txBody>
      </p:sp>
    </p:spTree>
    <p:extLst>
      <p:ext uri="{BB962C8B-B14F-4D97-AF65-F5344CB8AC3E}">
        <p14:creationId xmlns:p14="http://schemas.microsoft.com/office/powerpoint/2010/main" val="3793240590"/>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18C39-8001-A5C8-A334-B92A4C4C6AC3}"/>
              </a:ext>
            </a:extLst>
          </p:cNvPr>
          <p:cNvSpPr>
            <a:spLocks noGrp="1"/>
          </p:cNvSpPr>
          <p:nvPr>
            <p:ph type="title"/>
          </p:nvPr>
        </p:nvSpPr>
        <p:spPr/>
        <p:txBody>
          <a:bodyPr/>
          <a:lstStyle/>
          <a:p>
            <a:r>
              <a:rPr lang="en-US" dirty="0"/>
              <a:t>Scheduling III</a:t>
            </a:r>
            <a:endParaRPr lang="en-SE" dirty="0"/>
          </a:p>
        </p:txBody>
      </p:sp>
      <p:sp>
        <p:nvSpPr>
          <p:cNvPr id="4" name="Content Placeholder 2">
            <a:extLst>
              <a:ext uri="{FF2B5EF4-FFF2-40B4-BE49-F238E27FC236}">
                <a16:creationId xmlns:a16="http://schemas.microsoft.com/office/drawing/2014/main" id="{0FEE6DBB-E87F-2753-724E-EFAE1A33AED2}"/>
              </a:ext>
            </a:extLst>
          </p:cNvPr>
          <p:cNvSpPr>
            <a:spLocks noGrp="1"/>
          </p:cNvSpPr>
          <p:nvPr>
            <p:ph idx="1"/>
          </p:nvPr>
        </p:nvSpPr>
        <p:spPr>
          <a:xfrm>
            <a:off x="812800" y="914400"/>
            <a:ext cx="10566400" cy="5105400"/>
          </a:xfrm>
        </p:spPr>
        <p:txBody>
          <a:bodyPr/>
          <a:lstStyle/>
          <a:p>
            <a:r>
              <a:rPr lang="en-GB" dirty="0"/>
              <a:t>Consider the set of 3 processes whose arrival time and CPU burst times are given below. If the CPU scheduling policy is </a:t>
            </a:r>
            <a:r>
              <a:rPr lang="en-GB" b="1" dirty="0"/>
              <a:t>FCFS</a:t>
            </a:r>
            <a:r>
              <a:rPr lang="en-GB" dirty="0"/>
              <a:t>, draw the Gantt chart and calculate the average response time. </a:t>
            </a:r>
            <a:endParaRPr lang="en-SE" dirty="0"/>
          </a:p>
        </p:txBody>
      </p:sp>
      <p:graphicFrame>
        <p:nvGraphicFramePr>
          <p:cNvPr id="5" name="表格 6">
            <a:extLst>
              <a:ext uri="{FF2B5EF4-FFF2-40B4-BE49-F238E27FC236}">
                <a16:creationId xmlns:a16="http://schemas.microsoft.com/office/drawing/2014/main" id="{AC95CE60-07E0-6F78-BBA8-98CD8A3140D2}"/>
              </a:ext>
            </a:extLst>
          </p:cNvPr>
          <p:cNvGraphicFramePr>
            <a:graphicFrameLocks noGrp="1"/>
          </p:cNvGraphicFramePr>
          <p:nvPr/>
        </p:nvGraphicFramePr>
        <p:xfrm>
          <a:off x="3911287" y="2362200"/>
          <a:ext cx="4337335" cy="2377440"/>
        </p:xfrm>
        <a:graphic>
          <a:graphicData uri="http://schemas.openxmlformats.org/drawingml/2006/table">
            <a:tbl>
              <a:tblPr firstRow="1" bandRow="1">
                <a:tableStyleId>{5C22544A-7EE6-4342-B048-85BDC9FD1C3A}</a:tableStyleId>
              </a:tblPr>
              <a:tblGrid>
                <a:gridCol w="600000">
                  <a:extLst>
                    <a:ext uri="{9D8B030D-6E8A-4147-A177-3AD203B41FA5}">
                      <a16:colId xmlns:a16="http://schemas.microsoft.com/office/drawing/2014/main" val="3897766631"/>
                    </a:ext>
                  </a:extLst>
                </a:gridCol>
                <a:gridCol w="814309">
                  <a:extLst>
                    <a:ext uri="{9D8B030D-6E8A-4147-A177-3AD203B41FA5}">
                      <a16:colId xmlns:a16="http://schemas.microsoft.com/office/drawing/2014/main" val="3850674632"/>
                    </a:ext>
                  </a:extLst>
                </a:gridCol>
                <a:gridCol w="778832">
                  <a:extLst>
                    <a:ext uri="{9D8B030D-6E8A-4147-A177-3AD203B41FA5}">
                      <a16:colId xmlns:a16="http://schemas.microsoft.com/office/drawing/2014/main" val="3839086762"/>
                    </a:ext>
                  </a:extLst>
                </a:gridCol>
                <a:gridCol w="1072097">
                  <a:extLst>
                    <a:ext uri="{9D8B030D-6E8A-4147-A177-3AD203B41FA5}">
                      <a16:colId xmlns:a16="http://schemas.microsoft.com/office/drawing/2014/main" val="3306942541"/>
                    </a:ext>
                  </a:extLst>
                </a:gridCol>
                <a:gridCol w="1072097">
                  <a:extLst>
                    <a:ext uri="{9D8B030D-6E8A-4147-A177-3AD203B41FA5}">
                      <a16:colId xmlns:a16="http://schemas.microsoft.com/office/drawing/2014/main" val="3517187588"/>
                    </a:ext>
                  </a:extLst>
                </a:gridCol>
              </a:tblGrid>
              <a:tr h="875830">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Exec 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Finish</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Response</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marL="45720" marR="45720"/>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2</a:t>
                      </a:r>
                      <a:endParaRPr lang="en-US" strike="noStrike"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3</a:t>
                      </a:r>
                      <a:endParaRPr lang="en-US" baseline="0" dirty="0">
                        <a:solidFill>
                          <a:schemeClr val="tx1"/>
                        </a:solidFill>
                      </a:endParaRP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5</a:t>
                      </a:r>
                      <a:endParaRPr lang="en-US" baseline="30000" dirty="0">
                        <a:solidFill>
                          <a:schemeClr val="tx1"/>
                        </a:solidFill>
                      </a:endParaRPr>
                    </a:p>
                  </a:txBody>
                  <a:tcPr/>
                </a:tc>
                <a:tc>
                  <a:txBody>
                    <a:bodyPr/>
                    <a:lstStyle/>
                    <a:p>
                      <a:pPr algn="r"/>
                      <a:r>
                        <a:rPr lang="en-US" altLang="zh-CN" dirty="0">
                          <a:solidFill>
                            <a:schemeClr val="tx1"/>
                          </a:solidFill>
                        </a:rPr>
                        <a:t>6</a:t>
                      </a: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extLst>
                  <a:ext uri="{0D108BD9-81ED-4DB2-BD59-A6C34878D82A}">
                    <a16:rowId xmlns:a16="http://schemas.microsoft.com/office/drawing/2014/main" val="1233945708"/>
                  </a:ext>
                </a:extLst>
              </a:tr>
              <a:tr h="0">
                <a:tc>
                  <a:txBody>
                    <a:bodyPr/>
                    <a:lstStyle/>
                    <a:p>
                      <a:pPr algn="r"/>
                      <a:endParaRPr lang="en-US" dirty="0">
                        <a:solidFill>
                          <a:schemeClr val="tx1"/>
                        </a:solidFill>
                      </a:endParaRPr>
                    </a:p>
                  </a:txBody>
                  <a:tcPr/>
                </a:tc>
                <a:tc gridSpan="2">
                  <a:txBody>
                    <a:bodyPr/>
                    <a:lstStyle/>
                    <a:p>
                      <a:pPr algn="r"/>
                      <a:endParaRPr lang="en-US" dirty="0">
                        <a:solidFill>
                          <a:schemeClr val="tx1"/>
                        </a:solidFill>
                      </a:endParaRPr>
                    </a:p>
                  </a:txBody>
                  <a:tcPr/>
                </a:tc>
                <a:tc hMerge="1">
                  <a:txBody>
                    <a:bodyPr/>
                    <a:lstStyle/>
                    <a:p>
                      <a:r>
                        <a:rPr lang="en-US" altLang="zh-CN" dirty="0"/>
                        <a:t>Average</a:t>
                      </a:r>
                      <a:r>
                        <a:rPr lang="zh-CN" altLang="en-US" dirty="0"/>
                        <a:t> </a:t>
                      </a:r>
                      <a:r>
                        <a:rPr lang="en-US" altLang="zh-CN" dirty="0"/>
                        <a:t>Turnaround</a:t>
                      </a:r>
                      <a:endParaRPr lang="en-US" dirty="0"/>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a:t>
                      </a:r>
                    </a:p>
                  </a:txBody>
                  <a:tcPr/>
                </a:tc>
                <a:extLst>
                  <a:ext uri="{0D108BD9-81ED-4DB2-BD59-A6C34878D82A}">
                    <a16:rowId xmlns:a16="http://schemas.microsoft.com/office/drawing/2014/main" val="2879113726"/>
                  </a:ext>
                </a:extLst>
              </a:tr>
            </a:tbl>
          </a:graphicData>
        </a:graphic>
      </p:graphicFrame>
    </p:spTree>
    <p:extLst>
      <p:ext uri="{BB962C8B-B14F-4D97-AF65-F5344CB8AC3E}">
        <p14:creationId xmlns:p14="http://schemas.microsoft.com/office/powerpoint/2010/main" val="3597490601"/>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3E50E-F9BD-83CE-AE30-089D7101D3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3A0D3E-606B-0FFA-AA6F-11621DA7F6AB}"/>
              </a:ext>
            </a:extLst>
          </p:cNvPr>
          <p:cNvSpPr>
            <a:spLocks noGrp="1"/>
          </p:cNvSpPr>
          <p:nvPr>
            <p:ph type="title"/>
          </p:nvPr>
        </p:nvSpPr>
        <p:spPr/>
        <p:txBody>
          <a:bodyPr/>
          <a:lstStyle/>
          <a:p>
            <a:r>
              <a:rPr lang="en-US"/>
              <a:t>Scheduling III ANS</a:t>
            </a:r>
            <a:endParaRPr lang="en-SE" dirty="0"/>
          </a:p>
        </p:txBody>
      </p:sp>
      <p:graphicFrame>
        <p:nvGraphicFramePr>
          <p:cNvPr id="6" name="表格 6">
            <a:extLst>
              <a:ext uri="{FF2B5EF4-FFF2-40B4-BE49-F238E27FC236}">
                <a16:creationId xmlns:a16="http://schemas.microsoft.com/office/drawing/2014/main" id="{7EA41273-D802-3241-E78F-2C25FB07640B}"/>
              </a:ext>
            </a:extLst>
          </p:cNvPr>
          <p:cNvGraphicFramePr>
            <a:graphicFrameLocks noGrp="1"/>
          </p:cNvGraphicFramePr>
          <p:nvPr>
            <p:extLst>
              <p:ext uri="{D42A27DB-BD31-4B8C-83A1-F6EECF244321}">
                <p14:modId xmlns:p14="http://schemas.microsoft.com/office/powerpoint/2010/main" val="3327710084"/>
              </p:ext>
            </p:extLst>
          </p:nvPr>
        </p:nvGraphicFramePr>
        <p:xfrm>
          <a:off x="3989609" y="872701"/>
          <a:ext cx="4337335" cy="2651760"/>
        </p:xfrm>
        <a:graphic>
          <a:graphicData uri="http://schemas.openxmlformats.org/drawingml/2006/table">
            <a:tbl>
              <a:tblPr firstRow="1" bandRow="1">
                <a:tableStyleId>{5C22544A-7EE6-4342-B048-85BDC9FD1C3A}</a:tableStyleId>
              </a:tblPr>
              <a:tblGrid>
                <a:gridCol w="600000">
                  <a:extLst>
                    <a:ext uri="{9D8B030D-6E8A-4147-A177-3AD203B41FA5}">
                      <a16:colId xmlns:a16="http://schemas.microsoft.com/office/drawing/2014/main" val="3897766631"/>
                    </a:ext>
                  </a:extLst>
                </a:gridCol>
                <a:gridCol w="814309">
                  <a:extLst>
                    <a:ext uri="{9D8B030D-6E8A-4147-A177-3AD203B41FA5}">
                      <a16:colId xmlns:a16="http://schemas.microsoft.com/office/drawing/2014/main" val="3850674632"/>
                    </a:ext>
                  </a:extLst>
                </a:gridCol>
                <a:gridCol w="778832">
                  <a:extLst>
                    <a:ext uri="{9D8B030D-6E8A-4147-A177-3AD203B41FA5}">
                      <a16:colId xmlns:a16="http://schemas.microsoft.com/office/drawing/2014/main" val="3839086762"/>
                    </a:ext>
                  </a:extLst>
                </a:gridCol>
                <a:gridCol w="1072097">
                  <a:extLst>
                    <a:ext uri="{9D8B030D-6E8A-4147-A177-3AD203B41FA5}">
                      <a16:colId xmlns:a16="http://schemas.microsoft.com/office/drawing/2014/main" val="3306942541"/>
                    </a:ext>
                  </a:extLst>
                </a:gridCol>
                <a:gridCol w="1072097">
                  <a:extLst>
                    <a:ext uri="{9D8B030D-6E8A-4147-A177-3AD203B41FA5}">
                      <a16:colId xmlns:a16="http://schemas.microsoft.com/office/drawing/2014/main" val="3517187588"/>
                    </a:ext>
                  </a:extLst>
                </a:gridCol>
              </a:tblGrid>
              <a:tr h="875830">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Exec 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Finish</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US" altLang="zh-CN" b="0" dirty="0">
                          <a:solidFill>
                            <a:schemeClr val="tx1"/>
                          </a:solidFill>
                        </a:rPr>
                        <a:t>FCFS</a:t>
                      </a:r>
                    </a:p>
                    <a:p>
                      <a:pPr algn="r"/>
                      <a:r>
                        <a:rPr lang="en-US" altLang="zh-CN" b="0" dirty="0">
                          <a:solidFill>
                            <a:schemeClr val="tx1"/>
                          </a:solidFill>
                        </a:rPr>
                        <a:t>Response</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marL="45720" marR="45720"/>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2</a:t>
                      </a:r>
                      <a:endParaRPr lang="en-US" strike="noStrike" dirty="0">
                        <a:solidFill>
                          <a:schemeClr val="tx1"/>
                        </a:solidFill>
                      </a:endParaRP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r>
                        <a:rPr lang="en-US" dirty="0">
                          <a:solidFill>
                            <a:schemeClr val="tx1"/>
                          </a:solidFill>
                        </a:rPr>
                        <a:t>2</a:t>
                      </a: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3</a:t>
                      </a:r>
                      <a:endParaRPr lang="en-US" baseline="0" dirty="0">
                        <a:solidFill>
                          <a:schemeClr val="tx1"/>
                        </a:solidFill>
                      </a:endParaRP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4</a:t>
                      </a:r>
                      <a:endParaRPr lang="en-US" dirty="0">
                        <a:solidFill>
                          <a:schemeClr val="tx1"/>
                        </a:solidFill>
                      </a:endParaRPr>
                    </a:p>
                  </a:txBody>
                  <a:tcPr/>
                </a:tc>
                <a:tc>
                  <a:txBody>
                    <a:bodyPr/>
                    <a:lstStyle/>
                    <a:p>
                      <a:pPr algn="r"/>
                      <a:r>
                        <a:rPr lang="en-US" dirty="0">
                          <a:solidFill>
                            <a:schemeClr val="tx1"/>
                          </a:solidFill>
                        </a:rPr>
                        <a:t>1</a:t>
                      </a: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5</a:t>
                      </a:r>
                      <a:endParaRPr lang="en-US" baseline="30000" dirty="0">
                        <a:solidFill>
                          <a:schemeClr val="tx1"/>
                        </a:solidFill>
                      </a:endParaRPr>
                    </a:p>
                  </a:txBody>
                  <a:tcPr/>
                </a:tc>
                <a:tc>
                  <a:txBody>
                    <a:bodyPr/>
                    <a:lstStyle/>
                    <a:p>
                      <a:pPr algn="r"/>
                      <a:r>
                        <a:rPr lang="en-US" altLang="zh-CN" dirty="0">
                          <a:solidFill>
                            <a:schemeClr val="tx1"/>
                          </a:solidFill>
                        </a:rPr>
                        <a:t>6</a:t>
                      </a:r>
                      <a:endParaRPr lang="en-US" dirty="0">
                        <a:solidFill>
                          <a:schemeClr val="tx1"/>
                        </a:solidFill>
                      </a:endParaRPr>
                    </a:p>
                  </a:txBody>
                  <a:tcPr/>
                </a:tc>
                <a:tc>
                  <a:txBody>
                    <a:bodyPr/>
                    <a:lstStyle/>
                    <a:p>
                      <a:pPr algn="r"/>
                      <a:r>
                        <a:rPr lang="en-US" altLang="zh-CN" dirty="0">
                          <a:solidFill>
                            <a:schemeClr val="tx1"/>
                          </a:solidFill>
                        </a:rPr>
                        <a:t>11</a:t>
                      </a:r>
                      <a:endParaRPr lang="en-US" dirty="0">
                        <a:solidFill>
                          <a:schemeClr val="tx1"/>
                        </a:solidFill>
                      </a:endParaRPr>
                    </a:p>
                  </a:txBody>
                  <a:tcPr/>
                </a:tc>
                <a:tc>
                  <a:txBody>
                    <a:bodyPr/>
                    <a:lstStyle/>
                    <a:p>
                      <a:pPr algn="r"/>
                      <a:r>
                        <a:rPr lang="en-US" dirty="0">
                          <a:solidFill>
                            <a:schemeClr val="tx1"/>
                          </a:solidFill>
                        </a:rPr>
                        <a:t>6</a:t>
                      </a:r>
                    </a:p>
                  </a:txBody>
                  <a:tcPr/>
                </a:tc>
                <a:extLst>
                  <a:ext uri="{0D108BD9-81ED-4DB2-BD59-A6C34878D82A}">
                    <a16:rowId xmlns:a16="http://schemas.microsoft.com/office/drawing/2014/main" val="1233945708"/>
                  </a:ext>
                </a:extLst>
              </a:tr>
              <a:tr h="0">
                <a:tc>
                  <a:txBody>
                    <a:bodyPr/>
                    <a:lstStyle/>
                    <a:p>
                      <a:pPr algn="r"/>
                      <a:endParaRPr lang="en-US" dirty="0">
                        <a:solidFill>
                          <a:schemeClr val="tx1"/>
                        </a:solidFill>
                      </a:endParaRPr>
                    </a:p>
                  </a:txBody>
                  <a:tcPr/>
                </a:tc>
                <a:tc gridSpan="2">
                  <a:txBody>
                    <a:bodyPr/>
                    <a:lstStyle/>
                    <a:p>
                      <a:pPr algn="r"/>
                      <a:endParaRPr lang="en-US" dirty="0">
                        <a:solidFill>
                          <a:schemeClr val="tx1"/>
                        </a:solidFill>
                      </a:endParaRPr>
                    </a:p>
                  </a:txBody>
                  <a:tcPr/>
                </a:tc>
                <a:tc hMerge="1">
                  <a:txBody>
                    <a:bodyPr/>
                    <a:lstStyle/>
                    <a:p>
                      <a:r>
                        <a:rPr lang="en-US" altLang="zh-CN" dirty="0"/>
                        <a:t>Average</a:t>
                      </a:r>
                      <a:r>
                        <a:rPr lang="zh-CN" altLang="en-US" dirty="0"/>
                        <a:t> </a:t>
                      </a:r>
                      <a:r>
                        <a:rPr lang="en-US" altLang="zh-CN" dirty="0"/>
                        <a:t>Turnaround</a:t>
                      </a:r>
                      <a:endParaRPr lang="en-US" dirty="0"/>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 3</a:t>
                      </a:r>
                    </a:p>
                  </a:txBody>
                  <a:tcPr/>
                </a:tc>
                <a:extLst>
                  <a:ext uri="{0D108BD9-81ED-4DB2-BD59-A6C34878D82A}">
                    <a16:rowId xmlns:a16="http://schemas.microsoft.com/office/drawing/2014/main" val="2879113726"/>
                  </a:ext>
                </a:extLst>
              </a:tr>
            </a:tbl>
          </a:graphicData>
        </a:graphic>
      </p:graphicFrame>
      <p:sp>
        <p:nvSpPr>
          <p:cNvPr id="36" name="Content Placeholder 2">
            <a:extLst>
              <a:ext uri="{FF2B5EF4-FFF2-40B4-BE49-F238E27FC236}">
                <a16:creationId xmlns:a16="http://schemas.microsoft.com/office/drawing/2014/main" id="{55A98081-1BEB-15A2-FE3F-D8B9D548D58A}"/>
              </a:ext>
            </a:extLst>
          </p:cNvPr>
          <p:cNvSpPr>
            <a:spLocks noGrp="1"/>
          </p:cNvSpPr>
          <p:nvPr>
            <p:ph idx="1"/>
          </p:nvPr>
        </p:nvSpPr>
        <p:spPr>
          <a:xfrm>
            <a:off x="5775901" y="6121400"/>
            <a:ext cx="1676400" cy="395575"/>
          </a:xfrm>
        </p:spPr>
        <p:txBody>
          <a:bodyPr>
            <a:normAutofit lnSpcReduction="10000"/>
          </a:bodyPr>
          <a:lstStyle/>
          <a:p>
            <a:pPr marL="0" indent="0">
              <a:buNone/>
            </a:pPr>
            <a:r>
              <a:rPr lang="en-GB" sz="2400" dirty="0"/>
              <a:t>Gantt Chart</a:t>
            </a:r>
            <a:endParaRPr lang="en-SE" sz="2400" dirty="0"/>
          </a:p>
        </p:txBody>
      </p:sp>
      <p:pic>
        <p:nvPicPr>
          <p:cNvPr id="16" name="Picture 15">
            <a:extLst>
              <a:ext uri="{FF2B5EF4-FFF2-40B4-BE49-F238E27FC236}">
                <a16:creationId xmlns:a16="http://schemas.microsoft.com/office/drawing/2014/main" id="{36A896CB-5DD2-C680-B1C7-78CD59673291}"/>
              </a:ext>
            </a:extLst>
          </p:cNvPr>
          <p:cNvPicPr>
            <a:picLocks noChangeAspect="1"/>
          </p:cNvPicPr>
          <p:nvPr/>
        </p:nvPicPr>
        <p:blipFill>
          <a:blip r:embed="rId3"/>
          <a:stretch>
            <a:fillRect/>
          </a:stretch>
        </p:blipFill>
        <p:spPr>
          <a:xfrm>
            <a:off x="3292365" y="4001901"/>
            <a:ext cx="6260626" cy="1873830"/>
          </a:xfrm>
          <a:prstGeom prst="rect">
            <a:avLst/>
          </a:prstGeom>
        </p:spPr>
      </p:pic>
      <p:cxnSp>
        <p:nvCxnSpPr>
          <p:cNvPr id="5" name="Straight Arrow Connector 4">
            <a:extLst>
              <a:ext uri="{FF2B5EF4-FFF2-40B4-BE49-F238E27FC236}">
                <a16:creationId xmlns:a16="http://schemas.microsoft.com/office/drawing/2014/main" id="{296B1FF5-8908-C1F1-3825-E3A11BB75B14}"/>
              </a:ext>
            </a:extLst>
          </p:cNvPr>
          <p:cNvCxnSpPr>
            <a:cxnSpLocks/>
          </p:cNvCxnSpPr>
          <p:nvPr/>
        </p:nvCxnSpPr>
        <p:spPr bwMode="auto">
          <a:xfrm flipV="1">
            <a:off x="3433009" y="5170196"/>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7" name="TextBox 6">
            <a:extLst>
              <a:ext uri="{FF2B5EF4-FFF2-40B4-BE49-F238E27FC236}">
                <a16:creationId xmlns:a16="http://schemas.microsoft.com/office/drawing/2014/main" id="{2BF7F21A-509E-A1A1-7A8E-B5E8CD570EF3}"/>
              </a:ext>
            </a:extLst>
          </p:cNvPr>
          <p:cNvSpPr txBox="1"/>
          <p:nvPr/>
        </p:nvSpPr>
        <p:spPr>
          <a:xfrm>
            <a:off x="2895600" y="5554219"/>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P1 arrival</a:t>
            </a:r>
            <a:endParaRPr lang="en-SE" dirty="0">
              <a:solidFill>
                <a:schemeClr val="accent1">
                  <a:lumMod val="75000"/>
                </a:schemeClr>
              </a:solidFill>
              <a:latin typeface="Gill Sans Light"/>
            </a:endParaRPr>
          </a:p>
        </p:txBody>
      </p:sp>
      <p:cxnSp>
        <p:nvCxnSpPr>
          <p:cNvPr id="10" name="Straight Arrow Connector 9">
            <a:extLst>
              <a:ext uri="{FF2B5EF4-FFF2-40B4-BE49-F238E27FC236}">
                <a16:creationId xmlns:a16="http://schemas.microsoft.com/office/drawing/2014/main" id="{41CB4D02-B01F-3309-23BB-DB6A1412A332}"/>
              </a:ext>
            </a:extLst>
          </p:cNvPr>
          <p:cNvCxnSpPr>
            <a:cxnSpLocks/>
          </p:cNvCxnSpPr>
          <p:nvPr/>
        </p:nvCxnSpPr>
        <p:spPr bwMode="auto">
          <a:xfrm flipV="1">
            <a:off x="5791200" y="5116584"/>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2" name="TextBox 11">
            <a:extLst>
              <a:ext uri="{FF2B5EF4-FFF2-40B4-BE49-F238E27FC236}">
                <a16:creationId xmlns:a16="http://schemas.microsoft.com/office/drawing/2014/main" id="{83CD8C37-AF18-7991-3FD0-EC4CD78F30B3}"/>
              </a:ext>
            </a:extLst>
          </p:cNvPr>
          <p:cNvSpPr txBox="1"/>
          <p:nvPr/>
        </p:nvSpPr>
        <p:spPr>
          <a:xfrm>
            <a:off x="5284266" y="5256617"/>
            <a:ext cx="1013867" cy="369332"/>
          </a:xfrm>
          <a:prstGeom prst="rect">
            <a:avLst/>
          </a:prstGeom>
          <a:solidFill>
            <a:schemeClr val="bg1"/>
          </a:solidFill>
        </p:spPr>
        <p:txBody>
          <a:bodyPr wrap="none" rtlCol="0">
            <a:spAutoFit/>
          </a:bodyPr>
          <a:lstStyle/>
          <a:p>
            <a:r>
              <a:rPr lang="en-GB" dirty="0">
                <a:solidFill>
                  <a:schemeClr val="accent1">
                    <a:lumMod val="75000"/>
                  </a:schemeClr>
                </a:solidFill>
                <a:latin typeface="Gill Sans Light"/>
              </a:rPr>
              <a:t>P2 arrival</a:t>
            </a:r>
            <a:endParaRPr lang="en-SE" dirty="0">
              <a:solidFill>
                <a:schemeClr val="accent1">
                  <a:lumMod val="75000"/>
                </a:schemeClr>
              </a:solidFill>
              <a:latin typeface="Gill Sans Light"/>
            </a:endParaRPr>
          </a:p>
        </p:txBody>
      </p:sp>
      <p:cxnSp>
        <p:nvCxnSpPr>
          <p:cNvPr id="13" name="Straight Arrow Connector 12">
            <a:extLst>
              <a:ext uri="{FF2B5EF4-FFF2-40B4-BE49-F238E27FC236}">
                <a16:creationId xmlns:a16="http://schemas.microsoft.com/office/drawing/2014/main" id="{9EC07BAB-CA65-8856-7B45-64FC250AB29B}"/>
              </a:ext>
            </a:extLst>
          </p:cNvPr>
          <p:cNvCxnSpPr>
            <a:cxnSpLocks/>
          </p:cNvCxnSpPr>
          <p:nvPr/>
        </p:nvCxnSpPr>
        <p:spPr bwMode="auto">
          <a:xfrm flipV="1">
            <a:off x="8081209" y="5122376"/>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4" name="TextBox 13">
            <a:extLst>
              <a:ext uri="{FF2B5EF4-FFF2-40B4-BE49-F238E27FC236}">
                <a16:creationId xmlns:a16="http://schemas.microsoft.com/office/drawing/2014/main" id="{993DD6CA-202E-9A30-4606-90B46344B976}"/>
              </a:ext>
            </a:extLst>
          </p:cNvPr>
          <p:cNvSpPr txBox="1"/>
          <p:nvPr/>
        </p:nvSpPr>
        <p:spPr>
          <a:xfrm>
            <a:off x="7543800" y="5554219"/>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P3 arrival</a:t>
            </a:r>
            <a:endParaRPr lang="en-SE" dirty="0">
              <a:solidFill>
                <a:schemeClr val="accent1">
                  <a:lumMod val="75000"/>
                </a:schemeClr>
              </a:solidFill>
              <a:latin typeface="Gill Sans Light"/>
            </a:endParaRPr>
          </a:p>
        </p:txBody>
      </p:sp>
    </p:spTree>
    <p:extLst>
      <p:ext uri="{BB962C8B-B14F-4D97-AF65-F5344CB8AC3E}">
        <p14:creationId xmlns:p14="http://schemas.microsoft.com/office/powerpoint/2010/main" val="3792104184"/>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56AF0-7370-4F9A-34DD-3972859D43C7}"/>
              </a:ext>
            </a:extLst>
          </p:cNvPr>
          <p:cNvSpPr>
            <a:spLocks noGrp="1"/>
          </p:cNvSpPr>
          <p:nvPr>
            <p:ph type="title"/>
          </p:nvPr>
        </p:nvSpPr>
        <p:spPr/>
        <p:txBody>
          <a:bodyPr/>
          <a:lstStyle/>
          <a:p>
            <a:r>
              <a:rPr lang="en-GB" dirty="0"/>
              <a:t>Scheduling with Bursts I</a:t>
            </a:r>
            <a:endParaRPr lang="en-SE" dirty="0"/>
          </a:p>
        </p:txBody>
      </p:sp>
      <p:sp>
        <p:nvSpPr>
          <p:cNvPr id="3" name="Content Placeholder 2">
            <a:extLst>
              <a:ext uri="{FF2B5EF4-FFF2-40B4-BE49-F238E27FC236}">
                <a16:creationId xmlns:a16="http://schemas.microsoft.com/office/drawing/2014/main" id="{3AADDD39-2EEB-BA36-450E-0A833D923877}"/>
              </a:ext>
            </a:extLst>
          </p:cNvPr>
          <p:cNvSpPr>
            <a:spLocks noGrp="1"/>
          </p:cNvSpPr>
          <p:nvPr>
            <p:ph idx="1"/>
          </p:nvPr>
        </p:nvSpPr>
        <p:spPr/>
        <p:txBody>
          <a:bodyPr/>
          <a:lstStyle/>
          <a:p>
            <a:r>
              <a:rPr lang="en-GB" dirty="0"/>
              <a:t>Consider the set of 3 processes whose arrival time and CPU/IO burst times are given below. If the CPU scheduling policy is </a:t>
            </a:r>
            <a:r>
              <a:rPr lang="en-GB" b="1" dirty="0"/>
              <a:t>Shortest Remaining Time First (SRTF)</a:t>
            </a:r>
            <a:r>
              <a:rPr lang="en-GB" dirty="0"/>
              <a:t>, draw the Gantt chart and calculate the average response time. (Note: consider the overlap of computation and IO bursts of different processes)</a:t>
            </a:r>
            <a:endParaRPr lang="en-SE" dirty="0"/>
          </a:p>
        </p:txBody>
      </p:sp>
      <p:graphicFrame>
        <p:nvGraphicFramePr>
          <p:cNvPr id="8" name="表格 6">
            <a:extLst>
              <a:ext uri="{FF2B5EF4-FFF2-40B4-BE49-F238E27FC236}">
                <a16:creationId xmlns:a16="http://schemas.microsoft.com/office/drawing/2014/main" id="{C5347911-4750-2155-2129-F0DAED0F0058}"/>
              </a:ext>
            </a:extLst>
          </p:cNvPr>
          <p:cNvGraphicFramePr>
            <a:graphicFrameLocks noGrp="1"/>
          </p:cNvGraphicFramePr>
          <p:nvPr>
            <p:extLst>
              <p:ext uri="{D42A27DB-BD31-4B8C-83A1-F6EECF244321}">
                <p14:modId xmlns:p14="http://schemas.microsoft.com/office/powerpoint/2010/main" val="2054541497"/>
              </p:ext>
            </p:extLst>
          </p:nvPr>
        </p:nvGraphicFramePr>
        <p:xfrm>
          <a:off x="3640843" y="3276600"/>
          <a:ext cx="4630600" cy="2377440"/>
        </p:xfrm>
        <a:graphic>
          <a:graphicData uri="http://schemas.openxmlformats.org/drawingml/2006/table">
            <a:tbl>
              <a:tblPr firstRow="1" bandRow="1">
                <a:tableStyleId>{5C22544A-7EE6-4342-B048-85BDC9FD1C3A}</a:tableStyleId>
              </a:tblPr>
              <a:tblGrid>
                <a:gridCol w="600000">
                  <a:extLst>
                    <a:ext uri="{9D8B030D-6E8A-4147-A177-3AD203B41FA5}">
                      <a16:colId xmlns:a16="http://schemas.microsoft.com/office/drawing/2014/main" val="3897766631"/>
                    </a:ext>
                  </a:extLst>
                </a:gridCol>
                <a:gridCol w="814309">
                  <a:extLst>
                    <a:ext uri="{9D8B030D-6E8A-4147-A177-3AD203B41FA5}">
                      <a16:colId xmlns:a16="http://schemas.microsoft.com/office/drawing/2014/main" val="3850674632"/>
                    </a:ext>
                  </a:extLst>
                </a:gridCol>
                <a:gridCol w="1072097">
                  <a:extLst>
                    <a:ext uri="{9D8B030D-6E8A-4147-A177-3AD203B41FA5}">
                      <a16:colId xmlns:a16="http://schemas.microsoft.com/office/drawing/2014/main" val="3517187588"/>
                    </a:ext>
                  </a:extLst>
                </a:gridCol>
                <a:gridCol w="1072097">
                  <a:extLst>
                    <a:ext uri="{9D8B030D-6E8A-4147-A177-3AD203B41FA5}">
                      <a16:colId xmlns:a16="http://schemas.microsoft.com/office/drawing/2014/main" val="2248621"/>
                    </a:ext>
                  </a:extLst>
                </a:gridCol>
                <a:gridCol w="1072097">
                  <a:extLst>
                    <a:ext uri="{9D8B030D-6E8A-4147-A177-3AD203B41FA5}">
                      <a16:colId xmlns:a16="http://schemas.microsoft.com/office/drawing/2014/main" val="2712044097"/>
                    </a:ext>
                  </a:extLst>
                </a:gridCol>
              </a:tblGrid>
              <a:tr h="769572">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CPU Burst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marL="45720" marR="45720"/>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2</a:t>
                      </a:r>
                      <a:endParaRPr lang="en-US" strike="noStrike" dirty="0">
                        <a:solidFill>
                          <a:schemeClr val="tx1"/>
                        </a:solidFill>
                      </a:endParaRPr>
                    </a:p>
                  </a:txBody>
                  <a:tcPr/>
                </a:tc>
                <a:tc>
                  <a:txBody>
                    <a:bodyPr/>
                    <a:lstStyle/>
                    <a:p>
                      <a:pPr algn="r"/>
                      <a:r>
                        <a:rPr lang="en-US" dirty="0">
                          <a:solidFill>
                            <a:schemeClr val="tx1"/>
                          </a:solidFill>
                        </a:rPr>
                        <a:t>7</a:t>
                      </a:r>
                    </a:p>
                  </a:txBody>
                  <a:tcPr/>
                </a:tc>
                <a:tc>
                  <a:txBody>
                    <a:bodyPr/>
                    <a:lstStyle/>
                    <a:p>
                      <a:pPr algn="r"/>
                      <a:r>
                        <a:rPr lang="en-US" altLang="zh-CN" strike="noStrike" dirty="0">
                          <a:solidFill>
                            <a:schemeClr val="tx1"/>
                          </a:solidFill>
                        </a:rPr>
                        <a:t>1</a:t>
                      </a:r>
                      <a:endParaRPr lang="en-US" strike="noStrike" dirty="0">
                        <a:solidFill>
                          <a:schemeClr val="tx1"/>
                        </a:solidFill>
                      </a:endParaRP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0</a:t>
                      </a:r>
                      <a:endParaRPr lang="en-US" baseline="0" dirty="0">
                        <a:solidFill>
                          <a:schemeClr val="tx1"/>
                        </a:solidFill>
                      </a:endParaRPr>
                    </a:p>
                  </a:txBody>
                  <a:tcPr/>
                </a:tc>
                <a:tc>
                  <a:txBody>
                    <a:bodyPr/>
                    <a:lstStyle/>
                    <a:p>
                      <a:pPr algn="r"/>
                      <a:r>
                        <a:rPr lang="en-US" altLang="zh-CN" dirty="0">
                          <a:solidFill>
                            <a:schemeClr val="tx1"/>
                          </a:solidFill>
                        </a:rPr>
                        <a:t>4</a:t>
                      </a:r>
                      <a:endParaRPr lang="en-US" dirty="0">
                        <a:solidFill>
                          <a:schemeClr val="tx1"/>
                        </a:solidFill>
                      </a:endParaRPr>
                    </a:p>
                  </a:txBody>
                  <a:tcPr/>
                </a:tc>
                <a:tc>
                  <a:txBody>
                    <a:bodyPr/>
                    <a:lstStyle/>
                    <a:p>
                      <a:pPr algn="r"/>
                      <a:r>
                        <a:rPr lang="en-US" dirty="0">
                          <a:solidFill>
                            <a:schemeClr val="tx1"/>
                          </a:solidFill>
                        </a:rPr>
                        <a:t>14</a:t>
                      </a:r>
                    </a:p>
                  </a:txBody>
                  <a:tcPr/>
                </a:tc>
                <a:tc>
                  <a:txBody>
                    <a:bodyPr/>
                    <a:lstStyle/>
                    <a:p>
                      <a:pPr algn="r"/>
                      <a:r>
                        <a:rPr lang="en-US" altLang="zh-CN" dirty="0">
                          <a:solidFill>
                            <a:schemeClr val="tx1"/>
                          </a:solidFill>
                        </a:rPr>
                        <a:t>2</a:t>
                      </a:r>
                      <a:endParaRPr lang="en-US" dirty="0">
                        <a:solidFill>
                          <a:schemeClr val="tx1"/>
                        </a:solidFill>
                      </a:endParaRP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0</a:t>
                      </a:r>
                      <a:endParaRPr lang="en-US" baseline="30000" dirty="0">
                        <a:solidFill>
                          <a:schemeClr val="tx1"/>
                        </a:solidFill>
                      </a:endParaRPr>
                    </a:p>
                  </a:txBody>
                  <a:tcPr/>
                </a:tc>
                <a:tc>
                  <a:txBody>
                    <a:bodyPr/>
                    <a:lstStyle/>
                    <a:p>
                      <a:pPr algn="r"/>
                      <a:r>
                        <a:rPr lang="en-US" altLang="zh-CN" dirty="0">
                          <a:solidFill>
                            <a:schemeClr val="tx1"/>
                          </a:solidFill>
                        </a:rPr>
                        <a:t>6</a:t>
                      </a:r>
                      <a:endParaRPr lang="en-US" dirty="0">
                        <a:solidFill>
                          <a:schemeClr val="tx1"/>
                        </a:solidFill>
                      </a:endParaRPr>
                    </a:p>
                  </a:txBody>
                  <a:tcPr/>
                </a:tc>
                <a:tc>
                  <a:txBody>
                    <a:bodyPr/>
                    <a:lstStyle/>
                    <a:p>
                      <a:pPr algn="r"/>
                      <a:r>
                        <a:rPr lang="en-US" dirty="0">
                          <a:solidFill>
                            <a:schemeClr val="tx1"/>
                          </a:solidFill>
                        </a:rPr>
                        <a:t>21</a:t>
                      </a:r>
                    </a:p>
                  </a:txBody>
                  <a:tcPr/>
                </a:tc>
                <a:tc>
                  <a:txBody>
                    <a:bodyPr/>
                    <a:lstStyle/>
                    <a:p>
                      <a:pPr algn="r"/>
                      <a:r>
                        <a:rPr lang="en-US" altLang="zh-CN" dirty="0">
                          <a:solidFill>
                            <a:schemeClr val="tx1"/>
                          </a:solidFill>
                        </a:rPr>
                        <a:t>3</a:t>
                      </a:r>
                      <a:endParaRPr lang="en-US" dirty="0">
                        <a:solidFill>
                          <a:schemeClr val="tx1"/>
                        </a:solidFill>
                      </a:endParaRPr>
                    </a:p>
                  </a:txBody>
                  <a:tcPr/>
                </a:tc>
                <a:extLst>
                  <a:ext uri="{0D108BD9-81ED-4DB2-BD59-A6C34878D82A}">
                    <a16:rowId xmlns:a16="http://schemas.microsoft.com/office/drawing/2014/main" val="1233945708"/>
                  </a:ext>
                </a:extLst>
              </a:tr>
              <a:tr h="0">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a:t>
                      </a:r>
                    </a:p>
                  </a:txBody>
                  <a:tcPr/>
                </a:tc>
                <a:extLst>
                  <a:ext uri="{0D108BD9-81ED-4DB2-BD59-A6C34878D82A}">
                    <a16:rowId xmlns:a16="http://schemas.microsoft.com/office/drawing/2014/main" val="2879113726"/>
                  </a:ext>
                </a:extLst>
              </a:tr>
            </a:tbl>
          </a:graphicData>
        </a:graphic>
      </p:graphicFrame>
    </p:spTree>
    <p:extLst>
      <p:ext uri="{BB962C8B-B14F-4D97-AF65-F5344CB8AC3E}">
        <p14:creationId xmlns:p14="http://schemas.microsoft.com/office/powerpoint/2010/main" val="2087608417"/>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C5CC07-F3B6-04E8-B4EB-9CF9F48DC5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CA6576-C415-5FE8-27A3-075448AAE703}"/>
              </a:ext>
            </a:extLst>
          </p:cNvPr>
          <p:cNvSpPr>
            <a:spLocks noGrp="1"/>
          </p:cNvSpPr>
          <p:nvPr>
            <p:ph type="title"/>
          </p:nvPr>
        </p:nvSpPr>
        <p:spPr>
          <a:xfrm>
            <a:off x="-902050" y="144549"/>
            <a:ext cx="9550400" cy="533400"/>
          </a:xfrm>
        </p:spPr>
        <p:txBody>
          <a:bodyPr/>
          <a:lstStyle/>
          <a:p>
            <a:r>
              <a:rPr lang="en-GB" dirty="0"/>
              <a:t>Scheduling with Bursts I ANS</a:t>
            </a:r>
            <a:endParaRPr lang="en-SE" dirty="0"/>
          </a:p>
        </p:txBody>
      </p:sp>
      <p:graphicFrame>
        <p:nvGraphicFramePr>
          <p:cNvPr id="8" name="表格 6">
            <a:extLst>
              <a:ext uri="{FF2B5EF4-FFF2-40B4-BE49-F238E27FC236}">
                <a16:creationId xmlns:a16="http://schemas.microsoft.com/office/drawing/2014/main" id="{645EE26D-01F6-37BB-34ED-7BFA54544EA8}"/>
              </a:ext>
            </a:extLst>
          </p:cNvPr>
          <p:cNvGraphicFramePr>
            <a:graphicFrameLocks noGrp="1"/>
          </p:cNvGraphicFramePr>
          <p:nvPr>
            <p:extLst>
              <p:ext uri="{D42A27DB-BD31-4B8C-83A1-F6EECF244321}">
                <p14:modId xmlns:p14="http://schemas.microsoft.com/office/powerpoint/2010/main" val="192379867"/>
              </p:ext>
            </p:extLst>
          </p:nvPr>
        </p:nvGraphicFramePr>
        <p:xfrm>
          <a:off x="95422" y="866901"/>
          <a:ext cx="5791203" cy="2377440"/>
        </p:xfrm>
        <a:graphic>
          <a:graphicData uri="http://schemas.openxmlformats.org/drawingml/2006/table">
            <a:tbl>
              <a:tblPr firstRow="1" bandRow="1">
                <a:tableStyleId>{5C22544A-7EE6-4342-B048-85BDC9FD1C3A}</a:tableStyleId>
              </a:tblPr>
              <a:tblGrid>
                <a:gridCol w="560000">
                  <a:extLst>
                    <a:ext uri="{9D8B030D-6E8A-4147-A177-3AD203B41FA5}">
                      <a16:colId xmlns:a16="http://schemas.microsoft.com/office/drawing/2014/main" val="3897766631"/>
                    </a:ext>
                  </a:extLst>
                </a:gridCol>
                <a:gridCol w="726061">
                  <a:extLst>
                    <a:ext uri="{9D8B030D-6E8A-4147-A177-3AD203B41FA5}">
                      <a16:colId xmlns:a16="http://schemas.microsoft.com/office/drawing/2014/main" val="3850674632"/>
                    </a:ext>
                  </a:extLst>
                </a:gridCol>
                <a:gridCol w="864438">
                  <a:extLst>
                    <a:ext uri="{9D8B030D-6E8A-4147-A177-3AD203B41FA5}">
                      <a16:colId xmlns:a16="http://schemas.microsoft.com/office/drawing/2014/main" val="3517187588"/>
                    </a:ext>
                  </a:extLst>
                </a:gridCol>
                <a:gridCol w="864438">
                  <a:extLst>
                    <a:ext uri="{9D8B030D-6E8A-4147-A177-3AD203B41FA5}">
                      <a16:colId xmlns:a16="http://schemas.microsoft.com/office/drawing/2014/main" val="2248621"/>
                    </a:ext>
                  </a:extLst>
                </a:gridCol>
                <a:gridCol w="864440">
                  <a:extLst>
                    <a:ext uri="{9D8B030D-6E8A-4147-A177-3AD203B41FA5}">
                      <a16:colId xmlns:a16="http://schemas.microsoft.com/office/drawing/2014/main" val="2712044097"/>
                    </a:ext>
                  </a:extLst>
                </a:gridCol>
                <a:gridCol w="955913">
                  <a:extLst>
                    <a:ext uri="{9D8B030D-6E8A-4147-A177-3AD203B41FA5}">
                      <a16:colId xmlns:a16="http://schemas.microsoft.com/office/drawing/2014/main" val="2350337837"/>
                    </a:ext>
                  </a:extLst>
                </a:gridCol>
                <a:gridCol w="955913">
                  <a:extLst>
                    <a:ext uri="{9D8B030D-6E8A-4147-A177-3AD203B41FA5}">
                      <a16:colId xmlns:a16="http://schemas.microsoft.com/office/drawing/2014/main" val="2014823287"/>
                    </a:ext>
                  </a:extLst>
                </a:gridCol>
              </a:tblGrid>
              <a:tr h="769572">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CPU Burst</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Finish Time</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Resp.  Time</a:t>
                      </a:r>
                      <a:endParaRPr lang="en-US" b="0" dirty="0">
                        <a:solidFill>
                          <a:schemeClr val="tx1"/>
                        </a:solidFill>
                      </a:endParaRPr>
                    </a:p>
                  </a:txBody>
                  <a:tcPr marL="45720" marR="45720"/>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altLang="zh-CN" strike="noStrike" dirty="0">
                          <a:solidFill>
                            <a:schemeClr val="tx1"/>
                          </a:solidFill>
                        </a:rPr>
                        <a:t>2</a:t>
                      </a:r>
                      <a:endParaRPr lang="en-US" strike="noStrike" dirty="0">
                        <a:solidFill>
                          <a:schemeClr val="tx1"/>
                        </a:solidFill>
                      </a:endParaRPr>
                    </a:p>
                  </a:txBody>
                  <a:tcPr/>
                </a:tc>
                <a:tc>
                  <a:txBody>
                    <a:bodyPr/>
                    <a:lstStyle/>
                    <a:p>
                      <a:pPr algn="r"/>
                      <a:r>
                        <a:rPr lang="en-US" dirty="0">
                          <a:solidFill>
                            <a:schemeClr val="tx1"/>
                          </a:solidFill>
                        </a:rPr>
                        <a:t>7</a:t>
                      </a:r>
                    </a:p>
                  </a:txBody>
                  <a:tcPr/>
                </a:tc>
                <a:tc>
                  <a:txBody>
                    <a:bodyPr/>
                    <a:lstStyle/>
                    <a:p>
                      <a:pPr algn="r"/>
                      <a:r>
                        <a:rPr lang="en-US" altLang="zh-CN" strike="noStrike" dirty="0">
                          <a:solidFill>
                            <a:schemeClr val="tx1"/>
                          </a:solidFill>
                        </a:rPr>
                        <a:t>1</a:t>
                      </a:r>
                      <a:endParaRPr lang="en-US" strike="noStrike" dirty="0">
                        <a:solidFill>
                          <a:schemeClr val="tx1"/>
                        </a:solidFill>
                      </a:endParaRPr>
                    </a:p>
                  </a:txBody>
                  <a:tcPr/>
                </a:tc>
                <a:tc>
                  <a:txBody>
                    <a:bodyPr/>
                    <a:lstStyle/>
                    <a:p>
                      <a:pPr algn="r"/>
                      <a:r>
                        <a:rPr lang="en-US" strike="noStrike" dirty="0">
                          <a:solidFill>
                            <a:schemeClr val="tx1"/>
                          </a:solidFill>
                        </a:rPr>
                        <a:t>10</a:t>
                      </a:r>
                    </a:p>
                  </a:txBody>
                  <a:tcPr/>
                </a:tc>
                <a:tc>
                  <a:txBody>
                    <a:bodyPr/>
                    <a:lstStyle/>
                    <a:p>
                      <a:pPr algn="r"/>
                      <a:r>
                        <a:rPr lang="en-US" strike="noStrike" dirty="0">
                          <a:solidFill>
                            <a:schemeClr val="tx1"/>
                          </a:solidFill>
                        </a:rPr>
                        <a:t>10</a:t>
                      </a: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0</a:t>
                      </a:r>
                      <a:endParaRPr lang="en-US" baseline="0" dirty="0">
                        <a:solidFill>
                          <a:schemeClr val="tx1"/>
                        </a:solidFill>
                      </a:endParaRPr>
                    </a:p>
                  </a:txBody>
                  <a:tcPr/>
                </a:tc>
                <a:tc>
                  <a:txBody>
                    <a:bodyPr/>
                    <a:lstStyle/>
                    <a:p>
                      <a:pPr algn="r"/>
                      <a:r>
                        <a:rPr lang="en-US" altLang="zh-CN" dirty="0">
                          <a:solidFill>
                            <a:schemeClr val="tx1"/>
                          </a:solidFill>
                        </a:rPr>
                        <a:t>4</a:t>
                      </a:r>
                      <a:endParaRPr lang="en-US" dirty="0">
                        <a:solidFill>
                          <a:schemeClr val="tx1"/>
                        </a:solidFill>
                      </a:endParaRPr>
                    </a:p>
                  </a:txBody>
                  <a:tcPr/>
                </a:tc>
                <a:tc>
                  <a:txBody>
                    <a:bodyPr/>
                    <a:lstStyle/>
                    <a:p>
                      <a:pPr algn="r"/>
                      <a:r>
                        <a:rPr lang="en-US" dirty="0">
                          <a:solidFill>
                            <a:schemeClr val="tx1"/>
                          </a:solidFill>
                        </a:rPr>
                        <a:t>14</a:t>
                      </a: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r>
                        <a:rPr lang="en-US" dirty="0">
                          <a:solidFill>
                            <a:schemeClr val="tx1"/>
                          </a:solidFill>
                        </a:rPr>
                        <a:t>25</a:t>
                      </a:r>
                    </a:p>
                  </a:txBody>
                  <a:tcPr/>
                </a:tc>
                <a:tc>
                  <a:txBody>
                    <a:bodyPr/>
                    <a:lstStyle/>
                    <a:p>
                      <a:pPr algn="r"/>
                      <a:r>
                        <a:rPr lang="en-US" dirty="0">
                          <a:solidFill>
                            <a:schemeClr val="tx1"/>
                          </a:solidFill>
                        </a:rPr>
                        <a:t>25</a:t>
                      </a: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0</a:t>
                      </a:r>
                      <a:endParaRPr lang="en-US" baseline="30000" dirty="0">
                        <a:solidFill>
                          <a:schemeClr val="tx1"/>
                        </a:solidFill>
                      </a:endParaRPr>
                    </a:p>
                  </a:txBody>
                  <a:tcPr/>
                </a:tc>
                <a:tc>
                  <a:txBody>
                    <a:bodyPr/>
                    <a:lstStyle/>
                    <a:p>
                      <a:pPr algn="r"/>
                      <a:r>
                        <a:rPr lang="en-US" altLang="zh-CN" dirty="0">
                          <a:solidFill>
                            <a:schemeClr val="tx1"/>
                          </a:solidFill>
                        </a:rPr>
                        <a:t>6</a:t>
                      </a:r>
                      <a:endParaRPr lang="en-US" dirty="0">
                        <a:solidFill>
                          <a:schemeClr val="tx1"/>
                        </a:solidFill>
                      </a:endParaRPr>
                    </a:p>
                  </a:txBody>
                  <a:tcPr/>
                </a:tc>
                <a:tc>
                  <a:txBody>
                    <a:bodyPr/>
                    <a:lstStyle/>
                    <a:p>
                      <a:pPr algn="r"/>
                      <a:r>
                        <a:rPr lang="en-US" dirty="0">
                          <a:solidFill>
                            <a:schemeClr val="tx1"/>
                          </a:solidFill>
                        </a:rPr>
                        <a:t>21</a:t>
                      </a:r>
                    </a:p>
                  </a:txBody>
                  <a:tcPr/>
                </a:tc>
                <a:tc>
                  <a:txBody>
                    <a:bodyPr/>
                    <a:lstStyle/>
                    <a:p>
                      <a:pPr algn="r"/>
                      <a:r>
                        <a:rPr lang="en-US" altLang="zh-CN" dirty="0">
                          <a:solidFill>
                            <a:schemeClr val="tx1"/>
                          </a:solidFill>
                        </a:rPr>
                        <a:t>3</a:t>
                      </a:r>
                      <a:endParaRPr lang="en-US" dirty="0">
                        <a:solidFill>
                          <a:schemeClr val="tx1"/>
                        </a:solidFill>
                      </a:endParaRPr>
                    </a:p>
                  </a:txBody>
                  <a:tcPr/>
                </a:tc>
                <a:tc>
                  <a:txBody>
                    <a:bodyPr/>
                    <a:lstStyle/>
                    <a:p>
                      <a:pPr algn="r"/>
                      <a:r>
                        <a:rPr lang="en-US" dirty="0">
                          <a:solidFill>
                            <a:schemeClr val="tx1"/>
                          </a:solidFill>
                        </a:rPr>
                        <a:t>47</a:t>
                      </a:r>
                    </a:p>
                  </a:txBody>
                  <a:tcPr/>
                </a:tc>
                <a:tc>
                  <a:txBody>
                    <a:bodyPr/>
                    <a:lstStyle/>
                    <a:p>
                      <a:pPr algn="r"/>
                      <a:r>
                        <a:rPr lang="en-US" dirty="0">
                          <a:solidFill>
                            <a:schemeClr val="tx1"/>
                          </a:solidFill>
                        </a:rPr>
                        <a:t>47</a:t>
                      </a:r>
                    </a:p>
                  </a:txBody>
                  <a:tcPr/>
                </a:tc>
                <a:extLst>
                  <a:ext uri="{0D108BD9-81ED-4DB2-BD59-A6C34878D82A}">
                    <a16:rowId xmlns:a16="http://schemas.microsoft.com/office/drawing/2014/main" val="1233945708"/>
                  </a:ext>
                </a:extLst>
              </a:tr>
              <a:tr h="0">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algn="r"/>
                      <a:r>
                        <a:rPr lang="en-US" dirty="0">
                          <a:solidFill>
                            <a:schemeClr val="tx1"/>
                          </a:solidFill>
                        </a:rPr>
                        <a:t>27.3</a:t>
                      </a:r>
                    </a:p>
                  </a:txBody>
                  <a:tcPr/>
                </a:tc>
                <a:extLst>
                  <a:ext uri="{0D108BD9-81ED-4DB2-BD59-A6C34878D82A}">
                    <a16:rowId xmlns:a16="http://schemas.microsoft.com/office/drawing/2014/main" val="2879113726"/>
                  </a:ext>
                </a:extLst>
              </a:tr>
            </a:tbl>
          </a:graphicData>
        </a:graphic>
      </p:graphicFrame>
      <p:pic>
        <p:nvPicPr>
          <p:cNvPr id="7" name="Picture 6">
            <a:extLst>
              <a:ext uri="{FF2B5EF4-FFF2-40B4-BE49-F238E27FC236}">
                <a16:creationId xmlns:a16="http://schemas.microsoft.com/office/drawing/2014/main" id="{7B211E08-18A4-0B53-A853-D44C622D5577}"/>
              </a:ext>
            </a:extLst>
          </p:cNvPr>
          <p:cNvPicPr>
            <a:picLocks noChangeAspect="1"/>
          </p:cNvPicPr>
          <p:nvPr/>
        </p:nvPicPr>
        <p:blipFill>
          <a:blip r:embed="rId2"/>
          <a:stretch>
            <a:fillRect/>
          </a:stretch>
        </p:blipFill>
        <p:spPr>
          <a:xfrm>
            <a:off x="1308768" y="3505200"/>
            <a:ext cx="9821955" cy="3256547"/>
          </a:xfrm>
          <a:prstGeom prst="rect">
            <a:avLst/>
          </a:prstGeom>
        </p:spPr>
      </p:pic>
      <p:sp>
        <p:nvSpPr>
          <p:cNvPr id="9" name="TextBox 8">
            <a:extLst>
              <a:ext uri="{FF2B5EF4-FFF2-40B4-BE49-F238E27FC236}">
                <a16:creationId xmlns:a16="http://schemas.microsoft.com/office/drawing/2014/main" id="{53D9FB4D-71DC-9670-0457-FF52A713A203}"/>
              </a:ext>
            </a:extLst>
          </p:cNvPr>
          <p:cNvSpPr txBox="1"/>
          <p:nvPr/>
        </p:nvSpPr>
        <p:spPr>
          <a:xfrm>
            <a:off x="2133600" y="4815489"/>
            <a:ext cx="495649" cy="558615"/>
          </a:xfrm>
          <a:prstGeom prst="rect">
            <a:avLst/>
          </a:prstGeom>
          <a:noFill/>
        </p:spPr>
        <p:txBody>
          <a:bodyPr wrap="none" rtlCol="0">
            <a:spAutoFit/>
          </a:bodyPr>
          <a:lstStyle/>
          <a:p>
            <a:r>
              <a:rPr lang="en-GB" sz="2400" dirty="0">
                <a:solidFill>
                  <a:srgbClr val="C00000"/>
                </a:solidFill>
                <a:latin typeface="Gill Sans Light"/>
              </a:rPr>
              <a:t>IO</a:t>
            </a:r>
            <a:endParaRPr lang="en-SE" sz="2400" dirty="0">
              <a:solidFill>
                <a:srgbClr val="C00000"/>
              </a:solidFill>
              <a:latin typeface="Gill Sans Light"/>
            </a:endParaRPr>
          </a:p>
        </p:txBody>
      </p:sp>
      <p:sp>
        <p:nvSpPr>
          <p:cNvPr id="10" name="TextBox 9">
            <a:extLst>
              <a:ext uri="{FF2B5EF4-FFF2-40B4-BE49-F238E27FC236}">
                <a16:creationId xmlns:a16="http://schemas.microsoft.com/office/drawing/2014/main" id="{F3171692-EFA5-CFE4-4CF5-CF2C4418DF45}"/>
              </a:ext>
            </a:extLst>
          </p:cNvPr>
          <p:cNvSpPr txBox="1"/>
          <p:nvPr/>
        </p:nvSpPr>
        <p:spPr>
          <a:xfrm>
            <a:off x="6286151" y="4815489"/>
            <a:ext cx="495649" cy="558615"/>
          </a:xfrm>
          <a:prstGeom prst="rect">
            <a:avLst/>
          </a:prstGeom>
          <a:noFill/>
        </p:spPr>
        <p:txBody>
          <a:bodyPr wrap="none" rtlCol="0">
            <a:spAutoFit/>
          </a:bodyPr>
          <a:lstStyle/>
          <a:p>
            <a:r>
              <a:rPr lang="en-GB" sz="2400" dirty="0">
                <a:solidFill>
                  <a:srgbClr val="C00000"/>
                </a:solidFill>
                <a:latin typeface="Gill Sans Light"/>
              </a:rPr>
              <a:t>IO</a:t>
            </a:r>
            <a:endParaRPr lang="en-SE" sz="2400" dirty="0">
              <a:solidFill>
                <a:srgbClr val="C00000"/>
              </a:solidFill>
              <a:latin typeface="Gill Sans Light"/>
            </a:endParaRPr>
          </a:p>
        </p:txBody>
      </p:sp>
      <p:sp>
        <p:nvSpPr>
          <p:cNvPr id="11" name="TextBox 10">
            <a:extLst>
              <a:ext uri="{FF2B5EF4-FFF2-40B4-BE49-F238E27FC236}">
                <a16:creationId xmlns:a16="http://schemas.microsoft.com/office/drawing/2014/main" id="{76DE50C5-903D-4D23-21EF-EBB55CE240B5}"/>
              </a:ext>
            </a:extLst>
          </p:cNvPr>
          <p:cNvSpPr txBox="1"/>
          <p:nvPr/>
        </p:nvSpPr>
        <p:spPr>
          <a:xfrm>
            <a:off x="8419751" y="4815489"/>
            <a:ext cx="495649" cy="558615"/>
          </a:xfrm>
          <a:prstGeom prst="rect">
            <a:avLst/>
          </a:prstGeom>
          <a:noFill/>
        </p:spPr>
        <p:txBody>
          <a:bodyPr wrap="none" rtlCol="0">
            <a:spAutoFit/>
          </a:bodyPr>
          <a:lstStyle/>
          <a:p>
            <a:r>
              <a:rPr lang="en-GB" sz="2400" dirty="0">
                <a:solidFill>
                  <a:srgbClr val="C00000"/>
                </a:solidFill>
                <a:latin typeface="Gill Sans Light"/>
              </a:rPr>
              <a:t>IO</a:t>
            </a:r>
            <a:endParaRPr lang="en-SE" sz="2400" dirty="0">
              <a:solidFill>
                <a:srgbClr val="C00000"/>
              </a:solidFill>
              <a:latin typeface="Gill Sans Light"/>
            </a:endParaRPr>
          </a:p>
        </p:txBody>
      </p:sp>
      <p:sp>
        <p:nvSpPr>
          <p:cNvPr id="12" name="TextBox 11">
            <a:extLst>
              <a:ext uri="{FF2B5EF4-FFF2-40B4-BE49-F238E27FC236}">
                <a16:creationId xmlns:a16="http://schemas.microsoft.com/office/drawing/2014/main" id="{7608CC1D-A3E7-BE0E-CAF3-96BEBCB4E3E8}"/>
              </a:ext>
            </a:extLst>
          </p:cNvPr>
          <p:cNvSpPr txBox="1"/>
          <p:nvPr/>
        </p:nvSpPr>
        <p:spPr>
          <a:xfrm>
            <a:off x="10521267" y="4724400"/>
            <a:ext cx="495649" cy="558615"/>
          </a:xfrm>
          <a:prstGeom prst="rect">
            <a:avLst/>
          </a:prstGeom>
          <a:noFill/>
        </p:spPr>
        <p:txBody>
          <a:bodyPr wrap="none" rtlCol="0">
            <a:spAutoFit/>
          </a:bodyPr>
          <a:lstStyle/>
          <a:p>
            <a:r>
              <a:rPr lang="en-GB" sz="2400" dirty="0">
                <a:solidFill>
                  <a:srgbClr val="C00000"/>
                </a:solidFill>
                <a:latin typeface="Gill Sans Light"/>
              </a:rPr>
              <a:t>IO</a:t>
            </a:r>
            <a:endParaRPr lang="en-SE" sz="2400" dirty="0">
              <a:solidFill>
                <a:srgbClr val="C00000"/>
              </a:solidFill>
              <a:latin typeface="Gill Sans Light"/>
            </a:endParaRPr>
          </a:p>
        </p:txBody>
      </p:sp>
      <p:sp>
        <p:nvSpPr>
          <p:cNvPr id="13" name="TextBox 12">
            <a:extLst>
              <a:ext uri="{FF2B5EF4-FFF2-40B4-BE49-F238E27FC236}">
                <a16:creationId xmlns:a16="http://schemas.microsoft.com/office/drawing/2014/main" id="{0845DE8D-CC0E-117A-8D00-6CF38CD9A132}"/>
              </a:ext>
            </a:extLst>
          </p:cNvPr>
          <p:cNvSpPr txBox="1"/>
          <p:nvPr/>
        </p:nvSpPr>
        <p:spPr>
          <a:xfrm>
            <a:off x="2743200" y="5513321"/>
            <a:ext cx="495649" cy="558615"/>
          </a:xfrm>
          <a:prstGeom prst="rect">
            <a:avLst/>
          </a:prstGeom>
          <a:noFill/>
        </p:spPr>
        <p:txBody>
          <a:bodyPr wrap="none" rtlCol="0">
            <a:spAutoFit/>
          </a:bodyPr>
          <a:lstStyle/>
          <a:p>
            <a:r>
              <a:rPr lang="en-GB" sz="2400" dirty="0">
                <a:solidFill>
                  <a:srgbClr val="C00000"/>
                </a:solidFill>
                <a:latin typeface="Gill Sans Light"/>
              </a:rPr>
              <a:t>IO</a:t>
            </a:r>
            <a:endParaRPr lang="en-SE" sz="2400" dirty="0">
              <a:solidFill>
                <a:srgbClr val="C00000"/>
              </a:solidFill>
              <a:latin typeface="Gill Sans Light"/>
            </a:endParaRPr>
          </a:p>
        </p:txBody>
      </p:sp>
      <p:sp>
        <p:nvSpPr>
          <p:cNvPr id="14" name="TextBox 13">
            <a:extLst>
              <a:ext uri="{FF2B5EF4-FFF2-40B4-BE49-F238E27FC236}">
                <a16:creationId xmlns:a16="http://schemas.microsoft.com/office/drawing/2014/main" id="{41536FF2-CA6F-0D44-E8FF-57BF3E908801}"/>
              </a:ext>
            </a:extLst>
          </p:cNvPr>
          <p:cNvSpPr txBox="1"/>
          <p:nvPr/>
        </p:nvSpPr>
        <p:spPr>
          <a:xfrm>
            <a:off x="3124200" y="6172200"/>
            <a:ext cx="495649" cy="558615"/>
          </a:xfrm>
          <a:prstGeom prst="rect">
            <a:avLst/>
          </a:prstGeom>
          <a:noFill/>
        </p:spPr>
        <p:txBody>
          <a:bodyPr wrap="none" rtlCol="0">
            <a:spAutoFit/>
          </a:bodyPr>
          <a:lstStyle/>
          <a:p>
            <a:r>
              <a:rPr lang="en-GB" sz="2400" dirty="0">
                <a:solidFill>
                  <a:srgbClr val="C00000"/>
                </a:solidFill>
                <a:latin typeface="Gill Sans Light"/>
              </a:rPr>
              <a:t>IO</a:t>
            </a:r>
            <a:endParaRPr lang="en-SE" sz="2400" dirty="0">
              <a:solidFill>
                <a:srgbClr val="C00000"/>
              </a:solidFill>
              <a:latin typeface="Gill Sans Light"/>
            </a:endParaRPr>
          </a:p>
        </p:txBody>
      </p:sp>
      <p:cxnSp>
        <p:nvCxnSpPr>
          <p:cNvPr id="17" name="Straight Arrow Connector 16">
            <a:extLst>
              <a:ext uri="{FF2B5EF4-FFF2-40B4-BE49-F238E27FC236}">
                <a16:creationId xmlns:a16="http://schemas.microsoft.com/office/drawing/2014/main" id="{2FF0BD6F-0234-4008-71A8-EF8636D9A871}"/>
              </a:ext>
            </a:extLst>
          </p:cNvPr>
          <p:cNvCxnSpPr>
            <a:cxnSpLocks/>
          </p:cNvCxnSpPr>
          <p:nvPr/>
        </p:nvCxnSpPr>
        <p:spPr bwMode="auto">
          <a:xfrm flipV="1">
            <a:off x="1467135" y="4572929"/>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18" name="TextBox 17">
            <a:extLst>
              <a:ext uri="{FF2B5EF4-FFF2-40B4-BE49-F238E27FC236}">
                <a16:creationId xmlns:a16="http://schemas.microsoft.com/office/drawing/2014/main" id="{5002EA4D-95EF-7455-DE42-02F716EBEBB1}"/>
              </a:ext>
            </a:extLst>
          </p:cNvPr>
          <p:cNvSpPr txBox="1"/>
          <p:nvPr/>
        </p:nvSpPr>
        <p:spPr>
          <a:xfrm>
            <a:off x="335870" y="5064975"/>
            <a:ext cx="1683923" cy="369332"/>
          </a:xfrm>
          <a:prstGeom prst="rect">
            <a:avLst/>
          </a:prstGeom>
          <a:noFill/>
        </p:spPr>
        <p:txBody>
          <a:bodyPr wrap="none" rtlCol="0">
            <a:spAutoFit/>
          </a:bodyPr>
          <a:lstStyle/>
          <a:p>
            <a:r>
              <a:rPr lang="en-GB" dirty="0">
                <a:solidFill>
                  <a:schemeClr val="accent1">
                    <a:lumMod val="75000"/>
                  </a:schemeClr>
                </a:solidFill>
                <a:latin typeface="Gill Sans Light"/>
              </a:rPr>
              <a:t>P1, P2, P3 arrival</a:t>
            </a:r>
            <a:endParaRPr lang="en-SE" dirty="0">
              <a:solidFill>
                <a:schemeClr val="accent1">
                  <a:lumMod val="75000"/>
                </a:schemeClr>
              </a:solidFill>
              <a:latin typeface="Gill Sans Light"/>
            </a:endParaRPr>
          </a:p>
        </p:txBody>
      </p:sp>
      <p:sp>
        <p:nvSpPr>
          <p:cNvPr id="3" name="TextBox 2">
            <a:extLst>
              <a:ext uri="{FF2B5EF4-FFF2-40B4-BE49-F238E27FC236}">
                <a16:creationId xmlns:a16="http://schemas.microsoft.com/office/drawing/2014/main" id="{F13E486A-E64F-A8E0-CD86-0195293CF369}"/>
              </a:ext>
            </a:extLst>
          </p:cNvPr>
          <p:cNvSpPr txBox="1"/>
          <p:nvPr/>
        </p:nvSpPr>
        <p:spPr>
          <a:xfrm>
            <a:off x="6317409" y="28244"/>
            <a:ext cx="5791203" cy="3477875"/>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2000" dirty="0">
                <a:latin typeface="Gill Sans Light"/>
              </a:rPr>
              <a:t>Time 2: active tasks’ remaining times: P1: 7</a:t>
            </a:r>
          </a:p>
          <a:p>
            <a:r>
              <a:rPr lang="en-US" sz="2000" dirty="0">
                <a:latin typeface="Gill Sans Light"/>
              </a:rPr>
              <a:t>Time 4: active tasks’ remaining times: P1: 5, P2: 14, so P1 continues to run</a:t>
            </a:r>
          </a:p>
          <a:p>
            <a:r>
              <a:rPr lang="en-US" sz="2000" dirty="0">
                <a:latin typeface="Gill Sans Light"/>
              </a:rPr>
              <a:t>Time 6: active tasks’ remaining times: P1: 3, P2: 14, P3: 21, so P1 continues to run</a:t>
            </a:r>
          </a:p>
          <a:p>
            <a:r>
              <a:rPr lang="en-US" sz="2000" dirty="0">
                <a:latin typeface="Gill Sans Light"/>
              </a:rPr>
              <a:t>Time 9: active tasks’ remaining times: P2: 14, P3: 21, so P2 starts to run (P1 is blocked for IO)</a:t>
            </a:r>
          </a:p>
          <a:p>
            <a:r>
              <a:rPr lang="en-US" sz="2000" dirty="0">
                <a:latin typeface="Gill Sans Light"/>
              </a:rPr>
              <a:t>Time 10: active tasks’ remaining times: P2: 13, P3: 21, so P2 continues to run (P1 </a:t>
            </a:r>
            <a:r>
              <a:rPr lang="en-US" sz="2000">
                <a:latin typeface="Gill Sans Light"/>
              </a:rPr>
              <a:t>is finished)</a:t>
            </a:r>
            <a:endParaRPr lang="en-US" sz="2000" dirty="0">
              <a:latin typeface="Gill Sans Light"/>
            </a:endParaRPr>
          </a:p>
          <a:p>
            <a:r>
              <a:rPr lang="en-US" sz="2000" dirty="0">
                <a:latin typeface="Gill Sans Light"/>
              </a:rPr>
              <a:t>Time 23: active tasks’ remaining times: P3: 21, so P3 starts to run (P2 is blocked for IO)</a:t>
            </a:r>
          </a:p>
        </p:txBody>
      </p:sp>
    </p:spTree>
    <p:extLst>
      <p:ext uri="{BB962C8B-B14F-4D97-AF65-F5344CB8AC3E}">
        <p14:creationId xmlns:p14="http://schemas.microsoft.com/office/powerpoint/2010/main" val="4004612482"/>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ED07C2-AF29-B03A-E6A6-9CAE5F5E03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22C23E-586F-DDDF-60F8-BAB18B89FB33}"/>
              </a:ext>
            </a:extLst>
          </p:cNvPr>
          <p:cNvSpPr>
            <a:spLocks noGrp="1"/>
          </p:cNvSpPr>
          <p:nvPr>
            <p:ph type="title"/>
          </p:nvPr>
        </p:nvSpPr>
        <p:spPr/>
        <p:txBody>
          <a:bodyPr/>
          <a:lstStyle/>
          <a:p>
            <a:r>
              <a:rPr lang="en-GB" dirty="0"/>
              <a:t>Scheduling with Bursts II</a:t>
            </a:r>
            <a:endParaRPr lang="en-SE" dirty="0"/>
          </a:p>
        </p:txBody>
      </p:sp>
      <p:sp>
        <p:nvSpPr>
          <p:cNvPr id="3" name="Content Placeholder 2">
            <a:extLst>
              <a:ext uri="{FF2B5EF4-FFF2-40B4-BE49-F238E27FC236}">
                <a16:creationId xmlns:a16="http://schemas.microsoft.com/office/drawing/2014/main" id="{A8E39957-29B2-6ADC-3302-9BAC7F0D973A}"/>
              </a:ext>
            </a:extLst>
          </p:cNvPr>
          <p:cNvSpPr>
            <a:spLocks noGrp="1"/>
          </p:cNvSpPr>
          <p:nvPr>
            <p:ph idx="1"/>
          </p:nvPr>
        </p:nvSpPr>
        <p:spPr/>
        <p:txBody>
          <a:bodyPr/>
          <a:lstStyle/>
          <a:p>
            <a:r>
              <a:rPr lang="en-GB" dirty="0"/>
              <a:t>Consider the set of 3 processes whose arrival time and CPU/IO burst times are given below. If the CPU scheduling policy is </a:t>
            </a:r>
            <a:r>
              <a:rPr lang="en-GB" b="1" dirty="0"/>
              <a:t>Fixed-Priority Scheduling</a:t>
            </a:r>
            <a:r>
              <a:rPr lang="en-GB" dirty="0"/>
              <a:t> (larger number denotes higher priority), draw the Gantt chart and calculate the average response time. </a:t>
            </a:r>
            <a:endParaRPr lang="en-SE" dirty="0"/>
          </a:p>
        </p:txBody>
      </p:sp>
      <p:graphicFrame>
        <p:nvGraphicFramePr>
          <p:cNvPr id="8" name="表格 6">
            <a:extLst>
              <a:ext uri="{FF2B5EF4-FFF2-40B4-BE49-F238E27FC236}">
                <a16:creationId xmlns:a16="http://schemas.microsoft.com/office/drawing/2014/main" id="{E9333747-37E8-1778-C12B-BF88C5D4145D}"/>
              </a:ext>
            </a:extLst>
          </p:cNvPr>
          <p:cNvGraphicFramePr>
            <a:graphicFrameLocks noGrp="1"/>
          </p:cNvGraphicFramePr>
          <p:nvPr/>
        </p:nvGraphicFramePr>
        <p:xfrm>
          <a:off x="3104795" y="2667000"/>
          <a:ext cx="5702697" cy="2377440"/>
        </p:xfrm>
        <a:graphic>
          <a:graphicData uri="http://schemas.openxmlformats.org/drawingml/2006/table">
            <a:tbl>
              <a:tblPr firstRow="1" bandRow="1">
                <a:tableStyleId>{5C22544A-7EE6-4342-B048-85BDC9FD1C3A}</a:tableStyleId>
              </a:tblPr>
              <a:tblGrid>
                <a:gridCol w="600000">
                  <a:extLst>
                    <a:ext uri="{9D8B030D-6E8A-4147-A177-3AD203B41FA5}">
                      <a16:colId xmlns:a16="http://schemas.microsoft.com/office/drawing/2014/main" val="3897766631"/>
                    </a:ext>
                  </a:extLst>
                </a:gridCol>
                <a:gridCol w="814309">
                  <a:extLst>
                    <a:ext uri="{9D8B030D-6E8A-4147-A177-3AD203B41FA5}">
                      <a16:colId xmlns:a16="http://schemas.microsoft.com/office/drawing/2014/main" val="3850674632"/>
                    </a:ext>
                  </a:extLst>
                </a:gridCol>
                <a:gridCol w="1072097">
                  <a:extLst>
                    <a:ext uri="{9D8B030D-6E8A-4147-A177-3AD203B41FA5}">
                      <a16:colId xmlns:a16="http://schemas.microsoft.com/office/drawing/2014/main" val="3306942541"/>
                    </a:ext>
                  </a:extLst>
                </a:gridCol>
                <a:gridCol w="1072097">
                  <a:extLst>
                    <a:ext uri="{9D8B030D-6E8A-4147-A177-3AD203B41FA5}">
                      <a16:colId xmlns:a16="http://schemas.microsoft.com/office/drawing/2014/main" val="3517187588"/>
                    </a:ext>
                  </a:extLst>
                </a:gridCol>
                <a:gridCol w="1072097">
                  <a:extLst>
                    <a:ext uri="{9D8B030D-6E8A-4147-A177-3AD203B41FA5}">
                      <a16:colId xmlns:a16="http://schemas.microsoft.com/office/drawing/2014/main" val="2248621"/>
                    </a:ext>
                  </a:extLst>
                </a:gridCol>
                <a:gridCol w="1072097">
                  <a:extLst>
                    <a:ext uri="{9D8B030D-6E8A-4147-A177-3AD203B41FA5}">
                      <a16:colId xmlns:a16="http://schemas.microsoft.com/office/drawing/2014/main" val="2712044097"/>
                    </a:ext>
                  </a:extLst>
                </a:gridCol>
              </a:tblGrid>
              <a:tr h="769572">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Priority</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strike="noStrike" dirty="0">
                          <a:solidFill>
                            <a:schemeClr val="tx1"/>
                          </a:solidFill>
                        </a:rPr>
                        <a:t>1</a:t>
                      </a:r>
                      <a:endParaRPr lang="en-US" strike="noStrike" dirty="0">
                        <a:solidFill>
                          <a:schemeClr val="tx1"/>
                        </a:solidFill>
                      </a:endParaRPr>
                    </a:p>
                  </a:txBody>
                  <a:tcPr/>
                </a:tc>
                <a:tc>
                  <a:txBody>
                    <a:bodyPr/>
                    <a:lstStyle/>
                    <a:p>
                      <a:pPr algn="r"/>
                      <a:r>
                        <a:rPr lang="en-US" dirty="0">
                          <a:solidFill>
                            <a:schemeClr val="tx1"/>
                          </a:solidFill>
                        </a:rPr>
                        <a:t>5</a:t>
                      </a: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2</a:t>
                      </a:r>
                      <a:endParaRPr lang="en-US" baseline="0" dirty="0">
                        <a:solidFill>
                          <a:schemeClr val="tx1"/>
                        </a:solidFill>
                      </a:endParaRPr>
                    </a:p>
                  </a:txBody>
                  <a:tcPr/>
                </a:tc>
                <a:tc>
                  <a:txBody>
                    <a:bodyPr/>
                    <a:lstStyle/>
                    <a:p>
                      <a:pPr algn="r"/>
                      <a:r>
                        <a:rPr lang="en-US" dirty="0">
                          <a:solidFill>
                            <a:schemeClr val="tx1"/>
                          </a:solidFill>
                        </a:rPr>
                        <a:t>1</a:t>
                      </a:r>
                    </a:p>
                  </a:txBody>
                  <a:tcPr/>
                </a:tc>
                <a:tc>
                  <a:txBody>
                    <a:bodyPr/>
                    <a:lstStyle/>
                    <a:p>
                      <a:pPr algn="r"/>
                      <a:r>
                        <a:rPr lang="en-US" altLang="zh-CN" dirty="0">
                          <a:solidFill>
                            <a:schemeClr val="tx1"/>
                          </a:solidFill>
                        </a:rPr>
                        <a:t>3</a:t>
                      </a:r>
                      <a:endParaRPr lang="en-US" dirty="0">
                        <a:solidFill>
                          <a:schemeClr val="tx1"/>
                        </a:solidFill>
                      </a:endParaRPr>
                    </a:p>
                  </a:txBody>
                  <a:tcPr/>
                </a:tc>
                <a:tc>
                  <a:txBody>
                    <a:bodyPr/>
                    <a:lstStyle/>
                    <a:p>
                      <a:pPr algn="r"/>
                      <a:r>
                        <a:rPr lang="en-US" dirty="0">
                          <a:solidFill>
                            <a:schemeClr val="tx1"/>
                          </a:solidFill>
                        </a:rPr>
                        <a:t>3</a:t>
                      </a:r>
                    </a:p>
                  </a:txBody>
                  <a:tcPr/>
                </a:tc>
                <a:tc>
                  <a:txBody>
                    <a:bodyPr/>
                    <a:lstStyle/>
                    <a:p>
                      <a:pPr algn="r"/>
                      <a:r>
                        <a:rPr lang="en-US" altLang="zh-CN" dirty="0">
                          <a:solidFill>
                            <a:schemeClr val="tx1"/>
                          </a:solidFill>
                        </a:rPr>
                        <a:t>1</a:t>
                      </a:r>
                      <a:endParaRPr lang="en-US" dirty="0">
                        <a:solidFill>
                          <a:schemeClr val="tx1"/>
                        </a:solidFill>
                      </a:endParaRP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3</a:t>
                      </a:r>
                      <a:endParaRPr lang="en-US" baseline="30000" dirty="0">
                        <a:solidFill>
                          <a:schemeClr val="tx1"/>
                        </a:solidFill>
                      </a:endParaRPr>
                    </a:p>
                  </a:txBody>
                  <a:tcPr/>
                </a:tc>
                <a:tc>
                  <a:txBody>
                    <a:bodyPr/>
                    <a:lstStyle/>
                    <a:p>
                      <a:pPr algn="r"/>
                      <a:r>
                        <a:rPr lang="en-US" dirty="0">
                          <a:solidFill>
                            <a:schemeClr val="tx1"/>
                          </a:solidFill>
                        </a:rPr>
                        <a:t>3</a:t>
                      </a: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r>
                        <a:rPr lang="en-US" dirty="0">
                          <a:solidFill>
                            <a:schemeClr val="tx1"/>
                          </a:solidFill>
                        </a:rPr>
                        <a:t>3</a:t>
                      </a:r>
                    </a:p>
                  </a:txBody>
                  <a:tcPr/>
                </a:tc>
                <a:tc>
                  <a:txBody>
                    <a:bodyPr/>
                    <a:lstStyle/>
                    <a:p>
                      <a:pPr algn="r"/>
                      <a:r>
                        <a:rPr lang="en-US" altLang="zh-CN" dirty="0">
                          <a:solidFill>
                            <a:schemeClr val="tx1"/>
                          </a:solidFill>
                        </a:rPr>
                        <a:t>1</a:t>
                      </a:r>
                      <a:endParaRPr lang="en-US" dirty="0">
                        <a:solidFill>
                          <a:schemeClr val="tx1"/>
                        </a:solidFill>
                      </a:endParaRPr>
                    </a:p>
                  </a:txBody>
                  <a:tcPr/>
                </a:tc>
                <a:extLst>
                  <a:ext uri="{0D108BD9-81ED-4DB2-BD59-A6C34878D82A}">
                    <a16:rowId xmlns:a16="http://schemas.microsoft.com/office/drawing/2014/main" val="1233945708"/>
                  </a:ext>
                </a:extLst>
              </a:tr>
              <a:tr h="0">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a:t>
                      </a:r>
                    </a:p>
                  </a:txBody>
                  <a:tcPr/>
                </a:tc>
                <a:tc>
                  <a:txBody>
                    <a:bodyPr/>
                    <a:lstStyle/>
                    <a:p>
                      <a:pPr algn="r"/>
                      <a:endParaRPr lang="en-US" dirty="0">
                        <a:solidFill>
                          <a:schemeClr val="tx1"/>
                        </a:solidFill>
                      </a:endParaRPr>
                    </a:p>
                  </a:txBody>
                  <a:tcPr/>
                </a:tc>
                <a:tc>
                  <a:txBody>
                    <a:bodyPr/>
                    <a:lstStyle/>
                    <a:p>
                      <a:pPr algn="r"/>
                      <a:r>
                        <a:rPr lang="en-US" dirty="0">
                          <a:solidFill>
                            <a:schemeClr val="tx1"/>
                          </a:solidFill>
                        </a:rPr>
                        <a:t>Avg RT</a:t>
                      </a:r>
                    </a:p>
                  </a:txBody>
                  <a:tcPr/>
                </a:tc>
                <a:extLst>
                  <a:ext uri="{0D108BD9-81ED-4DB2-BD59-A6C34878D82A}">
                    <a16:rowId xmlns:a16="http://schemas.microsoft.com/office/drawing/2014/main" val="2879113726"/>
                  </a:ext>
                </a:extLst>
              </a:tr>
            </a:tbl>
          </a:graphicData>
        </a:graphic>
      </p:graphicFrame>
    </p:spTree>
    <p:extLst>
      <p:ext uri="{BB962C8B-B14F-4D97-AF65-F5344CB8AC3E}">
        <p14:creationId xmlns:p14="http://schemas.microsoft.com/office/powerpoint/2010/main" val="3399895290"/>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EF1B59-79DC-106C-228B-EBE81B0F2B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60F62E-1AB9-3B3E-5F25-073059F42A49}"/>
              </a:ext>
            </a:extLst>
          </p:cNvPr>
          <p:cNvSpPr>
            <a:spLocks noGrp="1"/>
          </p:cNvSpPr>
          <p:nvPr>
            <p:ph type="title"/>
          </p:nvPr>
        </p:nvSpPr>
        <p:spPr/>
        <p:txBody>
          <a:bodyPr/>
          <a:lstStyle/>
          <a:p>
            <a:r>
              <a:rPr lang="en-GB" dirty="0"/>
              <a:t>Scheduling with Bursts II ANS</a:t>
            </a:r>
            <a:endParaRPr lang="en-SE" dirty="0"/>
          </a:p>
        </p:txBody>
      </p:sp>
      <p:graphicFrame>
        <p:nvGraphicFramePr>
          <p:cNvPr id="8" name="表格 6">
            <a:extLst>
              <a:ext uri="{FF2B5EF4-FFF2-40B4-BE49-F238E27FC236}">
                <a16:creationId xmlns:a16="http://schemas.microsoft.com/office/drawing/2014/main" id="{968E9BB6-E529-9B2B-2A75-0498D438F58D}"/>
              </a:ext>
            </a:extLst>
          </p:cNvPr>
          <p:cNvGraphicFramePr>
            <a:graphicFrameLocks noGrp="1"/>
          </p:cNvGraphicFramePr>
          <p:nvPr>
            <p:extLst>
              <p:ext uri="{D42A27DB-BD31-4B8C-83A1-F6EECF244321}">
                <p14:modId xmlns:p14="http://schemas.microsoft.com/office/powerpoint/2010/main" val="693476059"/>
              </p:ext>
            </p:extLst>
          </p:nvPr>
        </p:nvGraphicFramePr>
        <p:xfrm>
          <a:off x="2893897" y="729069"/>
          <a:ext cx="7240701" cy="2377440"/>
        </p:xfrm>
        <a:graphic>
          <a:graphicData uri="http://schemas.openxmlformats.org/drawingml/2006/table">
            <a:tbl>
              <a:tblPr firstRow="1" bandRow="1">
                <a:tableStyleId>{5C22544A-7EE6-4342-B048-85BDC9FD1C3A}</a:tableStyleId>
              </a:tblPr>
              <a:tblGrid>
                <a:gridCol w="600000">
                  <a:extLst>
                    <a:ext uri="{9D8B030D-6E8A-4147-A177-3AD203B41FA5}">
                      <a16:colId xmlns:a16="http://schemas.microsoft.com/office/drawing/2014/main" val="3897766631"/>
                    </a:ext>
                  </a:extLst>
                </a:gridCol>
                <a:gridCol w="746193">
                  <a:extLst>
                    <a:ext uri="{9D8B030D-6E8A-4147-A177-3AD203B41FA5}">
                      <a16:colId xmlns:a16="http://schemas.microsoft.com/office/drawing/2014/main" val="3850674632"/>
                    </a:ext>
                  </a:extLst>
                </a:gridCol>
                <a:gridCol w="982418">
                  <a:extLst>
                    <a:ext uri="{9D8B030D-6E8A-4147-A177-3AD203B41FA5}">
                      <a16:colId xmlns:a16="http://schemas.microsoft.com/office/drawing/2014/main" val="3306942541"/>
                    </a:ext>
                  </a:extLst>
                </a:gridCol>
                <a:gridCol w="982418">
                  <a:extLst>
                    <a:ext uri="{9D8B030D-6E8A-4147-A177-3AD203B41FA5}">
                      <a16:colId xmlns:a16="http://schemas.microsoft.com/office/drawing/2014/main" val="3517187588"/>
                    </a:ext>
                  </a:extLst>
                </a:gridCol>
                <a:gridCol w="982418">
                  <a:extLst>
                    <a:ext uri="{9D8B030D-6E8A-4147-A177-3AD203B41FA5}">
                      <a16:colId xmlns:a16="http://schemas.microsoft.com/office/drawing/2014/main" val="2248621"/>
                    </a:ext>
                  </a:extLst>
                </a:gridCol>
                <a:gridCol w="982418">
                  <a:extLst>
                    <a:ext uri="{9D8B030D-6E8A-4147-A177-3AD203B41FA5}">
                      <a16:colId xmlns:a16="http://schemas.microsoft.com/office/drawing/2014/main" val="2712044097"/>
                    </a:ext>
                  </a:extLst>
                </a:gridCol>
                <a:gridCol w="982418">
                  <a:extLst>
                    <a:ext uri="{9D8B030D-6E8A-4147-A177-3AD203B41FA5}">
                      <a16:colId xmlns:a16="http://schemas.microsoft.com/office/drawing/2014/main" val="3323698870"/>
                    </a:ext>
                  </a:extLst>
                </a:gridCol>
                <a:gridCol w="982418">
                  <a:extLst>
                    <a:ext uri="{9D8B030D-6E8A-4147-A177-3AD203B41FA5}">
                      <a16:colId xmlns:a16="http://schemas.microsoft.com/office/drawing/2014/main" val="3121262138"/>
                    </a:ext>
                  </a:extLst>
                </a:gridCol>
              </a:tblGrid>
              <a:tr h="769572">
                <a:tc>
                  <a:txBody>
                    <a:bodyPr/>
                    <a:lstStyle/>
                    <a:p>
                      <a:pPr algn="r"/>
                      <a:r>
                        <a:rPr lang="en-US" b="0" dirty="0">
                          <a:solidFill>
                            <a:schemeClr val="tx1"/>
                          </a:solidFill>
                        </a:rPr>
                        <a:t>PID</a:t>
                      </a:r>
                    </a:p>
                  </a:txBody>
                  <a:tcPr/>
                </a:tc>
                <a:tc>
                  <a:txBody>
                    <a:bodyPr/>
                    <a:lstStyle/>
                    <a:p>
                      <a:pPr algn="r"/>
                      <a:r>
                        <a:rPr lang="en-US" altLang="zh-CN" b="0" dirty="0" err="1">
                          <a:solidFill>
                            <a:schemeClr val="tx1"/>
                          </a:solidFill>
                        </a:rPr>
                        <a:t>Arriv</a:t>
                      </a:r>
                      <a:r>
                        <a:rPr lang="en-US" altLang="zh-CN" b="0" dirty="0">
                          <a:solidFill>
                            <a:schemeClr val="tx1"/>
                          </a:solidFill>
                        </a:rPr>
                        <a:t>.</a:t>
                      </a:r>
                      <a:r>
                        <a:rPr lang="zh-CN" altLang="en-US" b="0" dirty="0">
                          <a:solidFill>
                            <a:schemeClr val="tx1"/>
                          </a:solidFill>
                        </a:rPr>
                        <a:t> </a:t>
                      </a:r>
                      <a:r>
                        <a:rPr lang="en-US" altLang="zh-CN" b="0" dirty="0">
                          <a:solidFill>
                            <a:schemeClr val="tx1"/>
                          </a:solidFill>
                        </a:rPr>
                        <a:t>time</a:t>
                      </a:r>
                      <a:endParaRPr lang="en-US" b="0" dirty="0">
                        <a:solidFill>
                          <a:schemeClr val="tx1"/>
                        </a:solidFill>
                      </a:endParaRPr>
                    </a:p>
                  </a:txBody>
                  <a:tcPr/>
                </a:tc>
                <a:tc>
                  <a:txBody>
                    <a:bodyPr/>
                    <a:lstStyle/>
                    <a:p>
                      <a:pPr algn="r"/>
                      <a:r>
                        <a:rPr lang="en-GB" altLang="zh-CN" b="0" dirty="0">
                          <a:solidFill>
                            <a:schemeClr val="tx1"/>
                          </a:solidFill>
                        </a:rPr>
                        <a:t>Priority</a:t>
                      </a:r>
                      <a:endParaRPr lang="en-US" b="0" dirty="0">
                        <a:solidFill>
                          <a:schemeClr val="tx1"/>
                        </a:solidFill>
                      </a:endParaRP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b="0" dirty="0">
                          <a:solidFill>
                            <a:schemeClr val="tx1"/>
                          </a:solidFill>
                        </a:rPr>
                        <a:t>IO Burst</a:t>
                      </a:r>
                    </a:p>
                  </a:txBody>
                  <a:tcPr/>
                </a:tc>
                <a:tc>
                  <a:txBody>
                    <a:bodyPr/>
                    <a:lstStyle/>
                    <a:p>
                      <a:pPr algn="r"/>
                      <a:r>
                        <a:rPr lang="en-GB" altLang="zh-CN" b="0" dirty="0">
                          <a:solidFill>
                            <a:schemeClr val="tx1"/>
                          </a:solidFill>
                        </a:rPr>
                        <a:t>CPU Burst</a:t>
                      </a: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Finish Time</a:t>
                      </a:r>
                      <a:endParaRPr lang="en-US" b="0" dirty="0">
                        <a:solidFill>
                          <a:schemeClr val="tx1"/>
                        </a:solidFill>
                      </a:endParaRPr>
                    </a:p>
                    <a:p>
                      <a:pPr algn="r"/>
                      <a:endParaRPr lang="en-US" b="0" dirty="0">
                        <a:solidFill>
                          <a:schemeClr val="tx1"/>
                        </a:solidFill>
                      </a:endParaRPr>
                    </a:p>
                  </a:txBody>
                  <a:tcPr marL="45720" marR="45720"/>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GB" altLang="zh-CN" b="0" dirty="0">
                          <a:solidFill>
                            <a:schemeClr val="tx1"/>
                          </a:solidFill>
                        </a:rPr>
                        <a:t>Resp.  Time</a:t>
                      </a:r>
                      <a:endParaRPr lang="en-US" b="0" dirty="0">
                        <a:solidFill>
                          <a:schemeClr val="tx1"/>
                        </a:solidFill>
                      </a:endParaRPr>
                    </a:p>
                    <a:p>
                      <a:pPr algn="r"/>
                      <a:endParaRPr lang="en-US" b="0" dirty="0">
                        <a:solidFill>
                          <a:schemeClr val="tx1"/>
                        </a:solidFill>
                      </a:endParaRPr>
                    </a:p>
                  </a:txBody>
                  <a:tcPr marL="45720" marR="45720"/>
                </a:tc>
                <a:extLst>
                  <a:ext uri="{0D108BD9-81ED-4DB2-BD59-A6C34878D82A}">
                    <a16:rowId xmlns:a16="http://schemas.microsoft.com/office/drawing/2014/main" val="3141622018"/>
                  </a:ext>
                </a:extLst>
              </a:tr>
              <a:tr h="0">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altLang="zh-CN" dirty="0">
                          <a:solidFill>
                            <a:schemeClr val="tx1"/>
                          </a:solidFill>
                        </a:rPr>
                        <a:t>0</a:t>
                      </a:r>
                      <a:endParaRPr lang="en-US" dirty="0">
                        <a:solidFill>
                          <a:schemeClr val="tx1"/>
                        </a:solidFill>
                      </a:endParaRPr>
                    </a:p>
                  </a:txBody>
                  <a:tcPr/>
                </a:tc>
                <a:tc>
                  <a:txBody>
                    <a:bodyPr/>
                    <a:lstStyle/>
                    <a:p>
                      <a:pPr algn="r"/>
                      <a:r>
                        <a:rPr lang="en-US" dirty="0">
                          <a:solidFill>
                            <a:schemeClr val="tx1"/>
                          </a:solidFill>
                        </a:rPr>
                        <a:t>2</a:t>
                      </a:r>
                    </a:p>
                  </a:txBody>
                  <a:tcPr/>
                </a:tc>
                <a:tc>
                  <a:txBody>
                    <a:bodyPr/>
                    <a:lstStyle/>
                    <a:p>
                      <a:pPr algn="r"/>
                      <a:r>
                        <a:rPr lang="en-US" altLang="zh-CN" strike="noStrike" dirty="0">
                          <a:solidFill>
                            <a:schemeClr val="tx1"/>
                          </a:solidFill>
                        </a:rPr>
                        <a:t>1</a:t>
                      </a:r>
                      <a:endParaRPr lang="en-US" strike="noStrike" dirty="0">
                        <a:solidFill>
                          <a:schemeClr val="tx1"/>
                        </a:solidFill>
                      </a:endParaRPr>
                    </a:p>
                  </a:txBody>
                  <a:tcPr/>
                </a:tc>
                <a:tc>
                  <a:txBody>
                    <a:bodyPr/>
                    <a:lstStyle/>
                    <a:p>
                      <a:pPr algn="r"/>
                      <a:r>
                        <a:rPr lang="en-US" dirty="0">
                          <a:solidFill>
                            <a:schemeClr val="tx1"/>
                          </a:solidFill>
                        </a:rPr>
                        <a:t>5</a:t>
                      </a:r>
                    </a:p>
                  </a:txBody>
                  <a:tcPr/>
                </a:tc>
                <a:tc>
                  <a:txBody>
                    <a:bodyPr/>
                    <a:lstStyle/>
                    <a:p>
                      <a:pPr algn="r"/>
                      <a:r>
                        <a:rPr lang="en-US" altLang="zh-CN" strike="noStrike" dirty="0">
                          <a:solidFill>
                            <a:schemeClr val="tx1"/>
                          </a:solidFill>
                        </a:rPr>
                        <a:t>3</a:t>
                      </a:r>
                      <a:endParaRPr lang="en-US" strike="noStrike" dirty="0">
                        <a:solidFill>
                          <a:schemeClr val="tx1"/>
                        </a:solidFill>
                      </a:endParaRPr>
                    </a:p>
                  </a:txBody>
                  <a:tcPr/>
                </a:tc>
                <a:tc>
                  <a:txBody>
                    <a:bodyPr/>
                    <a:lstStyle/>
                    <a:p>
                      <a:pPr algn="r"/>
                      <a:r>
                        <a:rPr lang="en-US" strike="noStrike" dirty="0">
                          <a:solidFill>
                            <a:schemeClr val="tx1"/>
                          </a:solidFill>
                        </a:rPr>
                        <a:t>10</a:t>
                      </a:r>
                    </a:p>
                  </a:txBody>
                  <a:tcPr/>
                </a:tc>
                <a:tc>
                  <a:txBody>
                    <a:bodyPr/>
                    <a:lstStyle/>
                    <a:p>
                      <a:pPr algn="r"/>
                      <a:r>
                        <a:rPr lang="en-US" strike="noStrike" dirty="0">
                          <a:solidFill>
                            <a:schemeClr val="tx1"/>
                          </a:solidFill>
                        </a:rPr>
                        <a:t>10</a:t>
                      </a:r>
                    </a:p>
                  </a:txBody>
                  <a:tcPr/>
                </a:tc>
                <a:extLst>
                  <a:ext uri="{0D108BD9-81ED-4DB2-BD59-A6C34878D82A}">
                    <a16:rowId xmlns:a16="http://schemas.microsoft.com/office/drawing/2014/main" val="2311278232"/>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2</a:t>
                      </a:r>
                      <a:endParaRPr lang="en-US" dirty="0">
                        <a:solidFill>
                          <a:schemeClr val="tx1"/>
                        </a:solidFill>
                      </a:endParaRPr>
                    </a:p>
                  </a:txBody>
                  <a:tcPr/>
                </a:tc>
                <a:tc>
                  <a:txBody>
                    <a:bodyPr/>
                    <a:lstStyle/>
                    <a:p>
                      <a:pPr algn="r"/>
                      <a:r>
                        <a:rPr lang="en-US" altLang="zh-CN" baseline="0" dirty="0">
                          <a:solidFill>
                            <a:schemeClr val="tx1"/>
                          </a:solidFill>
                        </a:rPr>
                        <a:t>2</a:t>
                      </a:r>
                      <a:endParaRPr lang="en-US" baseline="0" dirty="0">
                        <a:solidFill>
                          <a:schemeClr val="tx1"/>
                        </a:solidFill>
                      </a:endParaRPr>
                    </a:p>
                  </a:txBody>
                  <a:tcPr/>
                </a:tc>
                <a:tc>
                  <a:txBody>
                    <a:bodyPr/>
                    <a:lstStyle/>
                    <a:p>
                      <a:pPr algn="r"/>
                      <a:r>
                        <a:rPr lang="en-US" dirty="0">
                          <a:solidFill>
                            <a:schemeClr val="tx1"/>
                          </a:solidFill>
                        </a:rPr>
                        <a:t>1</a:t>
                      </a:r>
                    </a:p>
                  </a:txBody>
                  <a:tcPr/>
                </a:tc>
                <a:tc>
                  <a:txBody>
                    <a:bodyPr/>
                    <a:lstStyle/>
                    <a:p>
                      <a:pPr algn="r"/>
                      <a:r>
                        <a:rPr lang="en-US" altLang="zh-CN" dirty="0">
                          <a:solidFill>
                            <a:schemeClr val="tx1"/>
                          </a:solidFill>
                        </a:rPr>
                        <a:t>3</a:t>
                      </a:r>
                      <a:endParaRPr lang="en-US" dirty="0">
                        <a:solidFill>
                          <a:schemeClr val="tx1"/>
                        </a:solidFill>
                      </a:endParaRPr>
                    </a:p>
                  </a:txBody>
                  <a:tcPr/>
                </a:tc>
                <a:tc>
                  <a:txBody>
                    <a:bodyPr/>
                    <a:lstStyle/>
                    <a:p>
                      <a:pPr algn="r"/>
                      <a:r>
                        <a:rPr lang="en-US" dirty="0">
                          <a:solidFill>
                            <a:schemeClr val="tx1"/>
                          </a:solidFill>
                        </a:rPr>
                        <a:t>3</a:t>
                      </a: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dirty="0">
                          <a:solidFill>
                            <a:schemeClr val="tx1"/>
                          </a:solidFill>
                        </a:rPr>
                        <a:t>15</a:t>
                      </a:r>
                    </a:p>
                  </a:txBody>
                  <a:tcPr/>
                </a:tc>
                <a:tc>
                  <a:txBody>
                    <a:bodyPr/>
                    <a:lstStyle/>
                    <a:p>
                      <a:pPr algn="r"/>
                      <a:r>
                        <a:rPr lang="en-US" dirty="0">
                          <a:solidFill>
                            <a:schemeClr val="tx1"/>
                          </a:solidFill>
                        </a:rPr>
                        <a:t>13</a:t>
                      </a:r>
                    </a:p>
                  </a:txBody>
                  <a:tcPr/>
                </a:tc>
                <a:extLst>
                  <a:ext uri="{0D108BD9-81ED-4DB2-BD59-A6C34878D82A}">
                    <a16:rowId xmlns:a16="http://schemas.microsoft.com/office/drawing/2014/main" val="1749603488"/>
                  </a:ext>
                </a:extLst>
              </a:tr>
              <a:tr h="0">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CN" dirty="0">
                          <a:solidFill>
                            <a:schemeClr val="tx1"/>
                          </a:solidFill>
                        </a:rPr>
                        <a:t>3</a:t>
                      </a:r>
                      <a:endParaRPr lang="en-US" dirty="0">
                        <a:solidFill>
                          <a:schemeClr val="tx1"/>
                        </a:solidFill>
                      </a:endParaRPr>
                    </a:p>
                  </a:txBody>
                  <a:tcPr/>
                </a:tc>
                <a:tc>
                  <a:txBody>
                    <a:bodyPr/>
                    <a:lstStyle/>
                    <a:p>
                      <a:pPr algn="r"/>
                      <a:r>
                        <a:rPr lang="en-US" altLang="zh-CN" dirty="0">
                          <a:solidFill>
                            <a:schemeClr val="tx1"/>
                          </a:solidFill>
                        </a:rPr>
                        <a:t>3</a:t>
                      </a:r>
                      <a:endParaRPr lang="en-US" baseline="30000" dirty="0">
                        <a:solidFill>
                          <a:schemeClr val="tx1"/>
                        </a:solidFill>
                      </a:endParaRPr>
                    </a:p>
                  </a:txBody>
                  <a:tcPr/>
                </a:tc>
                <a:tc>
                  <a:txBody>
                    <a:bodyPr/>
                    <a:lstStyle/>
                    <a:p>
                      <a:pPr algn="r"/>
                      <a:r>
                        <a:rPr lang="en-US" dirty="0">
                          <a:solidFill>
                            <a:schemeClr val="tx1"/>
                          </a:solidFill>
                        </a:rPr>
                        <a:t>3</a:t>
                      </a:r>
                    </a:p>
                  </a:txBody>
                  <a:tcPr/>
                </a:tc>
                <a:tc>
                  <a:txBody>
                    <a:bodyPr/>
                    <a:lstStyle/>
                    <a:p>
                      <a:pPr algn="r"/>
                      <a:r>
                        <a:rPr lang="en-US" altLang="zh-CN" dirty="0">
                          <a:solidFill>
                            <a:schemeClr val="tx1"/>
                          </a:solidFill>
                        </a:rPr>
                        <a:t>2</a:t>
                      </a:r>
                      <a:endParaRPr lang="en-US" dirty="0">
                        <a:solidFill>
                          <a:schemeClr val="tx1"/>
                        </a:solidFill>
                      </a:endParaRPr>
                    </a:p>
                  </a:txBody>
                  <a:tcPr/>
                </a:tc>
                <a:tc>
                  <a:txBody>
                    <a:bodyPr/>
                    <a:lstStyle/>
                    <a:p>
                      <a:pPr algn="r"/>
                      <a:r>
                        <a:rPr lang="en-US" dirty="0">
                          <a:solidFill>
                            <a:schemeClr val="tx1"/>
                          </a:solidFill>
                        </a:rPr>
                        <a:t>3</a:t>
                      </a:r>
                    </a:p>
                  </a:txBody>
                  <a:tcPr/>
                </a:tc>
                <a:tc>
                  <a:txBody>
                    <a:bodyPr/>
                    <a:lstStyle/>
                    <a:p>
                      <a:pPr algn="r"/>
                      <a:r>
                        <a:rPr lang="en-US" altLang="zh-CN" dirty="0">
                          <a:solidFill>
                            <a:schemeClr val="tx1"/>
                          </a:solidFill>
                        </a:rPr>
                        <a:t>1</a:t>
                      </a:r>
                      <a:endParaRPr lang="en-US" dirty="0">
                        <a:solidFill>
                          <a:schemeClr val="tx1"/>
                        </a:solidFill>
                      </a:endParaRPr>
                    </a:p>
                  </a:txBody>
                  <a:tcPr/>
                </a:tc>
                <a:tc>
                  <a:txBody>
                    <a:bodyPr/>
                    <a:lstStyle/>
                    <a:p>
                      <a:pPr algn="r"/>
                      <a:r>
                        <a:rPr lang="en-US" dirty="0">
                          <a:solidFill>
                            <a:schemeClr val="tx1"/>
                          </a:solidFill>
                        </a:rPr>
                        <a:t>9</a:t>
                      </a:r>
                    </a:p>
                  </a:txBody>
                  <a:tcPr/>
                </a:tc>
                <a:tc>
                  <a:txBody>
                    <a:bodyPr/>
                    <a:lstStyle/>
                    <a:p>
                      <a:pPr algn="r"/>
                      <a:r>
                        <a:rPr lang="en-US" dirty="0">
                          <a:solidFill>
                            <a:schemeClr val="tx1"/>
                          </a:solidFill>
                        </a:rPr>
                        <a:t>6</a:t>
                      </a:r>
                    </a:p>
                  </a:txBody>
                  <a:tcPr/>
                </a:tc>
                <a:extLst>
                  <a:ext uri="{0D108BD9-81ED-4DB2-BD59-A6C34878D82A}">
                    <a16:rowId xmlns:a16="http://schemas.microsoft.com/office/drawing/2014/main" val="1233945708"/>
                  </a:ext>
                </a:extLst>
              </a:tr>
              <a:tr h="0">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algn="r"/>
                      <a:endParaRPr lang="en-US" dirty="0">
                        <a:solidFill>
                          <a:schemeClr val="tx1"/>
                        </a:solidFill>
                      </a:endParaRP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Avg RT</a:t>
                      </a:r>
                    </a:p>
                  </a:txBody>
                  <a:tcPr/>
                </a:tc>
                <a:tc>
                  <a:txBody>
                    <a:bodyPr/>
                    <a:lstStyle/>
                    <a:p>
                      <a:pPr algn="r"/>
                      <a:r>
                        <a:rPr lang="en-US" dirty="0">
                          <a:solidFill>
                            <a:schemeClr val="tx1"/>
                          </a:solidFill>
                        </a:rPr>
                        <a:t>9.67</a:t>
                      </a:r>
                    </a:p>
                  </a:txBody>
                  <a:tcPr/>
                </a:tc>
                <a:extLst>
                  <a:ext uri="{0D108BD9-81ED-4DB2-BD59-A6C34878D82A}">
                    <a16:rowId xmlns:a16="http://schemas.microsoft.com/office/drawing/2014/main" val="2879113726"/>
                  </a:ext>
                </a:extLst>
              </a:tr>
            </a:tbl>
          </a:graphicData>
        </a:graphic>
      </p:graphicFrame>
      <p:pic>
        <p:nvPicPr>
          <p:cNvPr id="5" name="Picture 4">
            <a:extLst>
              <a:ext uri="{FF2B5EF4-FFF2-40B4-BE49-F238E27FC236}">
                <a16:creationId xmlns:a16="http://schemas.microsoft.com/office/drawing/2014/main" id="{5292D9CA-3F46-7480-1917-67323BB07F35}"/>
              </a:ext>
            </a:extLst>
          </p:cNvPr>
          <p:cNvPicPr>
            <a:picLocks noChangeAspect="1"/>
          </p:cNvPicPr>
          <p:nvPr/>
        </p:nvPicPr>
        <p:blipFill>
          <a:blip r:embed="rId3"/>
          <a:stretch>
            <a:fillRect/>
          </a:stretch>
        </p:blipFill>
        <p:spPr>
          <a:xfrm>
            <a:off x="368967" y="3106509"/>
            <a:ext cx="7757310" cy="3708222"/>
          </a:xfrm>
          <a:prstGeom prst="rect">
            <a:avLst/>
          </a:prstGeom>
        </p:spPr>
      </p:pic>
      <p:sp>
        <p:nvSpPr>
          <p:cNvPr id="9" name="TextBox 8">
            <a:extLst>
              <a:ext uri="{FF2B5EF4-FFF2-40B4-BE49-F238E27FC236}">
                <a16:creationId xmlns:a16="http://schemas.microsoft.com/office/drawing/2014/main" id="{79B54355-4DCE-7321-DDD8-CADA9D68D457}"/>
              </a:ext>
            </a:extLst>
          </p:cNvPr>
          <p:cNvSpPr txBox="1"/>
          <p:nvPr/>
        </p:nvSpPr>
        <p:spPr>
          <a:xfrm>
            <a:off x="3493167" y="4087472"/>
            <a:ext cx="417102" cy="369332"/>
          </a:xfrm>
          <a:prstGeom prst="rect">
            <a:avLst/>
          </a:prstGeom>
          <a:noFill/>
        </p:spPr>
        <p:txBody>
          <a:bodyPr wrap="none" rtlCol="0">
            <a:spAutoFit/>
          </a:bodyPr>
          <a:lstStyle/>
          <a:p>
            <a:r>
              <a:rPr lang="en-GB" dirty="0">
                <a:solidFill>
                  <a:srgbClr val="C00000"/>
                </a:solidFill>
                <a:latin typeface="Gill Sans Light"/>
              </a:rPr>
              <a:t>IO</a:t>
            </a:r>
            <a:endParaRPr lang="en-SE" dirty="0">
              <a:solidFill>
                <a:srgbClr val="C00000"/>
              </a:solidFill>
              <a:latin typeface="Gill Sans Light"/>
            </a:endParaRPr>
          </a:p>
        </p:txBody>
      </p:sp>
      <p:sp>
        <p:nvSpPr>
          <p:cNvPr id="10" name="TextBox 9">
            <a:extLst>
              <a:ext uri="{FF2B5EF4-FFF2-40B4-BE49-F238E27FC236}">
                <a16:creationId xmlns:a16="http://schemas.microsoft.com/office/drawing/2014/main" id="{4877B267-5D1C-BD8A-C029-3FCF0B267CA2}"/>
              </a:ext>
            </a:extLst>
          </p:cNvPr>
          <p:cNvSpPr txBox="1"/>
          <p:nvPr/>
        </p:nvSpPr>
        <p:spPr>
          <a:xfrm>
            <a:off x="5967663" y="4403192"/>
            <a:ext cx="417102" cy="369332"/>
          </a:xfrm>
          <a:prstGeom prst="rect">
            <a:avLst/>
          </a:prstGeom>
          <a:noFill/>
        </p:spPr>
        <p:txBody>
          <a:bodyPr wrap="none" rtlCol="0">
            <a:spAutoFit/>
          </a:bodyPr>
          <a:lstStyle/>
          <a:p>
            <a:r>
              <a:rPr lang="en-GB" dirty="0">
                <a:solidFill>
                  <a:srgbClr val="C00000"/>
                </a:solidFill>
                <a:latin typeface="Gill Sans Light"/>
              </a:rPr>
              <a:t>IO</a:t>
            </a:r>
            <a:endParaRPr lang="en-SE" dirty="0">
              <a:solidFill>
                <a:srgbClr val="C00000"/>
              </a:solidFill>
              <a:latin typeface="Gill Sans Light"/>
            </a:endParaRPr>
          </a:p>
        </p:txBody>
      </p:sp>
      <p:sp>
        <p:nvSpPr>
          <p:cNvPr id="13" name="TextBox 12">
            <a:extLst>
              <a:ext uri="{FF2B5EF4-FFF2-40B4-BE49-F238E27FC236}">
                <a16:creationId xmlns:a16="http://schemas.microsoft.com/office/drawing/2014/main" id="{B48045AB-DEC0-D726-91DD-6210B113E1A5}"/>
              </a:ext>
            </a:extLst>
          </p:cNvPr>
          <p:cNvSpPr txBox="1"/>
          <p:nvPr/>
        </p:nvSpPr>
        <p:spPr>
          <a:xfrm>
            <a:off x="4852735" y="6039852"/>
            <a:ext cx="417102" cy="369332"/>
          </a:xfrm>
          <a:prstGeom prst="rect">
            <a:avLst/>
          </a:prstGeom>
          <a:noFill/>
        </p:spPr>
        <p:txBody>
          <a:bodyPr wrap="none" rtlCol="0">
            <a:spAutoFit/>
          </a:bodyPr>
          <a:lstStyle/>
          <a:p>
            <a:r>
              <a:rPr lang="en-GB" dirty="0">
                <a:solidFill>
                  <a:srgbClr val="C00000"/>
                </a:solidFill>
                <a:latin typeface="Gill Sans Light"/>
              </a:rPr>
              <a:t>IO</a:t>
            </a:r>
            <a:endParaRPr lang="en-SE" dirty="0">
              <a:solidFill>
                <a:srgbClr val="C00000"/>
              </a:solidFill>
              <a:latin typeface="Gill Sans Light"/>
            </a:endParaRPr>
          </a:p>
        </p:txBody>
      </p:sp>
      <p:cxnSp>
        <p:nvCxnSpPr>
          <p:cNvPr id="15" name="Straight Arrow Connector 14">
            <a:extLst>
              <a:ext uri="{FF2B5EF4-FFF2-40B4-BE49-F238E27FC236}">
                <a16:creationId xmlns:a16="http://schemas.microsoft.com/office/drawing/2014/main" id="{1C7317A9-87F8-388A-FE67-6BBBF47F8873}"/>
              </a:ext>
            </a:extLst>
          </p:cNvPr>
          <p:cNvCxnSpPr>
            <a:cxnSpLocks/>
          </p:cNvCxnSpPr>
          <p:nvPr/>
        </p:nvCxnSpPr>
        <p:spPr bwMode="auto">
          <a:xfrm flipV="1">
            <a:off x="521367" y="3971349"/>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21" name="TextBox 20">
            <a:extLst>
              <a:ext uri="{FF2B5EF4-FFF2-40B4-BE49-F238E27FC236}">
                <a16:creationId xmlns:a16="http://schemas.microsoft.com/office/drawing/2014/main" id="{4ACC4C2C-A5C5-6247-F70A-B4ABB7CBC6D7}"/>
              </a:ext>
            </a:extLst>
          </p:cNvPr>
          <p:cNvSpPr txBox="1"/>
          <p:nvPr/>
        </p:nvSpPr>
        <p:spPr>
          <a:xfrm>
            <a:off x="-16042" y="4403192"/>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P1 arrival</a:t>
            </a:r>
            <a:endParaRPr lang="en-SE" dirty="0">
              <a:solidFill>
                <a:schemeClr val="accent1">
                  <a:lumMod val="75000"/>
                </a:schemeClr>
              </a:solidFill>
              <a:latin typeface="Gill Sans Light"/>
            </a:endParaRPr>
          </a:p>
        </p:txBody>
      </p:sp>
      <p:cxnSp>
        <p:nvCxnSpPr>
          <p:cNvPr id="22" name="Straight Arrow Connector 21">
            <a:extLst>
              <a:ext uri="{FF2B5EF4-FFF2-40B4-BE49-F238E27FC236}">
                <a16:creationId xmlns:a16="http://schemas.microsoft.com/office/drawing/2014/main" id="{E4C6931C-1B28-18B1-6CDE-25362E697EE4}"/>
              </a:ext>
            </a:extLst>
          </p:cNvPr>
          <p:cNvCxnSpPr>
            <a:cxnSpLocks/>
          </p:cNvCxnSpPr>
          <p:nvPr/>
        </p:nvCxnSpPr>
        <p:spPr bwMode="auto">
          <a:xfrm flipV="1">
            <a:off x="2221072" y="3960681"/>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23" name="TextBox 22">
            <a:extLst>
              <a:ext uri="{FF2B5EF4-FFF2-40B4-BE49-F238E27FC236}">
                <a16:creationId xmlns:a16="http://schemas.microsoft.com/office/drawing/2014/main" id="{EB06616C-E11C-8C5E-807D-F38530638942}"/>
              </a:ext>
            </a:extLst>
          </p:cNvPr>
          <p:cNvSpPr txBox="1"/>
          <p:nvPr/>
        </p:nvSpPr>
        <p:spPr>
          <a:xfrm>
            <a:off x="1683663" y="4392524"/>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P2 arrival</a:t>
            </a:r>
            <a:endParaRPr lang="en-SE" dirty="0">
              <a:solidFill>
                <a:schemeClr val="accent1">
                  <a:lumMod val="75000"/>
                </a:schemeClr>
              </a:solidFill>
              <a:latin typeface="Gill Sans Light"/>
            </a:endParaRPr>
          </a:p>
        </p:txBody>
      </p:sp>
      <p:cxnSp>
        <p:nvCxnSpPr>
          <p:cNvPr id="24" name="Straight Arrow Connector 23">
            <a:extLst>
              <a:ext uri="{FF2B5EF4-FFF2-40B4-BE49-F238E27FC236}">
                <a16:creationId xmlns:a16="http://schemas.microsoft.com/office/drawing/2014/main" id="{FF7722BC-D0CB-EFCA-8C92-822654AA12C6}"/>
              </a:ext>
            </a:extLst>
          </p:cNvPr>
          <p:cNvCxnSpPr>
            <a:cxnSpLocks/>
          </p:cNvCxnSpPr>
          <p:nvPr/>
        </p:nvCxnSpPr>
        <p:spPr bwMode="auto">
          <a:xfrm flipV="1">
            <a:off x="3030729" y="4029970"/>
            <a:ext cx="0" cy="485455"/>
          </a:xfrm>
          <a:prstGeom prst="straightConnector1">
            <a:avLst/>
          </a:prstGeom>
          <a:ln w="19050" cap="flat" cmpd="sng" algn="ctr">
            <a:solidFill>
              <a:schemeClr val="accent1"/>
            </a:solidFill>
            <a:prstDash val="solid"/>
            <a:round/>
            <a:headEnd type="none" w="med" len="med"/>
            <a:tailEnd type="arrow" w="med" len="med"/>
          </a:ln>
          <a:extLst>
            <a:ext uri="{AF507438-7753-43e0-B8FC-AC1667EBCBE1}">
              <a14:hiddenEffects xmlns="" xmlns:a14="http://schemas.microsoft.com/office/drawing/2010/main">
                <a:effectLst>
                  <a:outerShdw dist="35921" dir="2700000" algn="ctr" rotWithShape="0">
                    <a:schemeClr val="bg2"/>
                  </a:outerShdw>
                </a:effectLst>
              </a14:hiddenEffects>
            </a:ext>
          </a:extLst>
        </p:spPr>
        <p:style>
          <a:lnRef idx="0">
            <a:scrgbClr r="0" g="0" b="0"/>
          </a:lnRef>
          <a:fillRef idx="0">
            <a:scrgbClr r="0" g="0" b="0"/>
          </a:fillRef>
          <a:effectRef idx="0">
            <a:scrgbClr r="0" g="0" b="0"/>
          </a:effectRef>
          <a:fontRef idx="minor">
            <a:schemeClr val="tx1"/>
          </a:fontRef>
        </p:style>
      </p:cxnSp>
      <p:sp>
        <p:nvSpPr>
          <p:cNvPr id="25" name="TextBox 24">
            <a:extLst>
              <a:ext uri="{FF2B5EF4-FFF2-40B4-BE49-F238E27FC236}">
                <a16:creationId xmlns:a16="http://schemas.microsoft.com/office/drawing/2014/main" id="{BE718C5C-8DCF-62FE-2355-FFE78D3E3A9F}"/>
              </a:ext>
            </a:extLst>
          </p:cNvPr>
          <p:cNvSpPr txBox="1"/>
          <p:nvPr/>
        </p:nvSpPr>
        <p:spPr>
          <a:xfrm>
            <a:off x="2473811" y="4595298"/>
            <a:ext cx="1013867" cy="369332"/>
          </a:xfrm>
          <a:prstGeom prst="rect">
            <a:avLst/>
          </a:prstGeom>
          <a:noFill/>
        </p:spPr>
        <p:txBody>
          <a:bodyPr wrap="none" rtlCol="0">
            <a:spAutoFit/>
          </a:bodyPr>
          <a:lstStyle/>
          <a:p>
            <a:r>
              <a:rPr lang="en-GB" dirty="0">
                <a:solidFill>
                  <a:schemeClr val="accent1">
                    <a:lumMod val="75000"/>
                  </a:schemeClr>
                </a:solidFill>
                <a:latin typeface="Gill Sans Light"/>
              </a:rPr>
              <a:t>P3 arrival</a:t>
            </a:r>
            <a:endParaRPr lang="en-SE" dirty="0">
              <a:solidFill>
                <a:schemeClr val="accent1">
                  <a:lumMod val="75000"/>
                </a:schemeClr>
              </a:solidFill>
              <a:latin typeface="Gill Sans Light"/>
            </a:endParaRPr>
          </a:p>
        </p:txBody>
      </p:sp>
      <p:sp>
        <p:nvSpPr>
          <p:cNvPr id="3" name="Content Placeholder 2">
            <a:extLst>
              <a:ext uri="{FF2B5EF4-FFF2-40B4-BE49-F238E27FC236}">
                <a16:creationId xmlns:a16="http://schemas.microsoft.com/office/drawing/2014/main" id="{2E0BCE77-CEF0-E37B-CD3F-9F0F08413A90}"/>
              </a:ext>
            </a:extLst>
          </p:cNvPr>
          <p:cNvSpPr>
            <a:spLocks noGrp="1"/>
          </p:cNvSpPr>
          <p:nvPr>
            <p:ph idx="1"/>
          </p:nvPr>
        </p:nvSpPr>
        <p:spPr>
          <a:xfrm>
            <a:off x="8394038" y="3306775"/>
            <a:ext cx="3654568" cy="3322625"/>
          </a:xfrm>
        </p:spPr>
        <p:style>
          <a:lnRef idx="1">
            <a:schemeClr val="dk1"/>
          </a:lnRef>
          <a:fillRef idx="2">
            <a:schemeClr val="dk1"/>
          </a:fillRef>
          <a:effectRef idx="1">
            <a:schemeClr val="dk1"/>
          </a:effectRef>
          <a:fontRef idx="minor">
            <a:schemeClr val="dk1"/>
          </a:fontRef>
        </p:style>
        <p:txBody>
          <a:bodyPr>
            <a:normAutofit lnSpcReduction="10000"/>
          </a:bodyPr>
          <a:lstStyle/>
          <a:p>
            <a:pPr marL="0" indent="0">
              <a:buNone/>
            </a:pPr>
            <a:r>
              <a:rPr lang="en-GB" sz="2400" dirty="0"/>
              <a:t>For fixed-priority scheduling, draw the Gantt chart starting from highest priority process and go down to the lowest priority (first P3, then P1, then P2). Schedule CPU bursts of lower priority processes in the remaining time slots that are left over by higher priority processes.</a:t>
            </a:r>
            <a:endParaRPr lang="en-SE" sz="2400" dirty="0"/>
          </a:p>
        </p:txBody>
      </p:sp>
    </p:spTree>
    <p:extLst>
      <p:ext uri="{BB962C8B-B14F-4D97-AF65-F5344CB8AC3E}">
        <p14:creationId xmlns:p14="http://schemas.microsoft.com/office/powerpoint/2010/main" val="570477452"/>
      </p:ext>
    </p:extLst>
  </p:cSld>
  <p:clrMapOvr>
    <a:masterClrMapping/>
  </p:clrMapOvr>
  <p:transition/>
</p:sld>
</file>

<file path=ppt/theme/theme1.xml><?xml version="1.0" encoding="utf-8"?>
<a:theme xmlns:a="http://schemas.openxmlformats.org/drawingml/2006/main" name="Offic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omic Sans MS"/>
        <a:ea typeface=""/>
        <a:cs typeface=""/>
      </a:majorFont>
      <a:minorFont>
        <a:latin typeface="Comic Sans MS"/>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rtlCol="0"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sz="1800" b="1" i="0" u="none" strike="noStrike" cap="none" normalizeH="0" baseline="0" dirty="0" smtClean="0">
            <a:ln>
              <a:noFill/>
            </a:ln>
            <a:solidFill>
              <a:schemeClr val="tx1"/>
            </a:solidFill>
            <a:effectLst/>
            <a:latin typeface="Gill Sans Light"/>
          </a:defRPr>
        </a:defPPr>
      </a:lstStyle>
    </a:spDef>
    <a:lnDef>
      <a:spPr bwMode="auto">
        <a:xfrm>
          <a:off x="0" y="0"/>
          <a:ext cx="1" cy="1"/>
        </a:xfrm>
        <a:custGeom>
          <a:avLst/>
          <a:gdLst/>
          <a:ahLst/>
          <a:cxnLst/>
          <a:rect l="0" t="0" r="0" b="0"/>
          <a:pathLst/>
        </a:custGeom>
        <a:solidFill>
          <a:schemeClr val="bg1"/>
        </a:solidFill>
        <a:ln w="571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xmlns="">
              <a:effectLst>
                <a:outerShdw dist="35921" dir="2700000" algn="ctr" rotWithShape="0">
                  <a:schemeClr val="bg2"/>
                </a:outerShdw>
              </a:effectLst>
            </a14:hiddenEffects>
          </a:ext>
        </a:ex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1" i="0" u="none" strike="noStrike" cap="none" normalizeH="0" baseline="0" smtClean="0">
            <a:ln>
              <a:noFill/>
            </a:ln>
            <a:solidFill>
              <a:schemeClr val="tx1"/>
            </a:solidFill>
            <a:effectLst/>
            <a:latin typeface="Comic Sans MS" pitchFamily="66" charset="0"/>
          </a:defRPr>
        </a:defPPr>
      </a:lstStyle>
    </a:lnDef>
    <a:txDef>
      <a:spPr>
        <a:noFill/>
      </a:spPr>
      <a:bodyPr wrap="none" rtlCol="0">
        <a:spAutoFit/>
      </a:bodyPr>
      <a:lstStyle>
        <a:defPPr>
          <a:defRPr dirty="0">
            <a:latin typeface="Gill Sans Light"/>
          </a:defRPr>
        </a:defPPr>
      </a:lstStyle>
    </a:txDef>
  </a:objectDefaults>
  <a:extraClrSchemeLst>
    <a:extraClrScheme>
      <a:clrScheme name="Office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Office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Office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Office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Office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Office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Office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emplate/>
  <TotalTime>98759</TotalTime>
  <Pages>60</Pages>
  <Words>1622</Words>
  <Application>Microsoft Office PowerPoint</Application>
  <PresentationFormat>Widescreen</PresentationFormat>
  <Paragraphs>626</Paragraphs>
  <Slides>15</Slides>
  <Notes>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Gill Sans</vt:lpstr>
      <vt:lpstr>Gill Sans Light</vt:lpstr>
      <vt:lpstr>Arial</vt:lpstr>
      <vt:lpstr>Cambria Math</vt:lpstr>
      <vt:lpstr>Comic Sans MS</vt:lpstr>
      <vt:lpstr>Symbol</vt:lpstr>
      <vt:lpstr>Office</vt:lpstr>
      <vt:lpstr>CSC 112: Computer Operating Systems Lecture 5   Scheduling Exercises Solution</vt:lpstr>
      <vt:lpstr>Predicting Burst Time</vt:lpstr>
      <vt:lpstr>Predicting Burst Time ANS</vt:lpstr>
      <vt:lpstr>Scheduling</vt:lpstr>
      <vt:lpstr>Scheduling I</vt:lpstr>
      <vt:lpstr>Scheduling I ANS</vt:lpstr>
      <vt:lpstr>Scheduling II</vt:lpstr>
      <vt:lpstr>Scheduling II ANS</vt:lpstr>
      <vt:lpstr>Scheduling II ANS (RR Explanation)</vt:lpstr>
      <vt:lpstr>Scheduling III</vt:lpstr>
      <vt:lpstr>Scheduling III ANS</vt:lpstr>
      <vt:lpstr>Scheduling with Bursts I</vt:lpstr>
      <vt:lpstr>Scheduling with Bursts I ANS</vt:lpstr>
      <vt:lpstr>Scheduling with Bursts II</vt:lpstr>
      <vt:lpstr>Scheduling with Bursts II ANS</vt:lpstr>
    </vt:vector>
  </TitlesOfParts>
  <Company>UC Berkeley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Course Introduction and Overview</dc:title>
  <dc:creator>John D. Kubiatowicz</dc:creator>
  <dc:description>Imported some pictures from Silbershatz (c) 2005</dc:description>
  <cp:lastModifiedBy>Zonghua Gu</cp:lastModifiedBy>
  <cp:revision>1119</cp:revision>
  <cp:lastPrinted>2022-03-15T20:14:46Z</cp:lastPrinted>
  <dcterms:created xsi:type="dcterms:W3CDTF">1995-08-12T11:37:26Z</dcterms:created>
  <dcterms:modified xsi:type="dcterms:W3CDTF">2026-10-28T22:33:48Z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wner">
    <vt:lpwstr>Joseph</vt:lpwstr>
  </property>
  <property fmtid="{D5CDD505-2E9C-101B-9397-08002B2CF9AE}" pid="3" name="Semester">
    <vt:lpwstr>Spring 2006</vt:lpwstr>
  </property>
</Properties>
</file>