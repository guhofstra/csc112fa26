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ink/ink1.xml" ContentType="application/inkml+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5"/>
  </p:notesMasterIdLst>
  <p:handoutMasterIdLst>
    <p:handoutMasterId r:id="rId36"/>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4" r:id="rId28"/>
    <p:sldId id="1491" r:id="rId29"/>
    <p:sldId id="1447" r:id="rId30"/>
    <p:sldId id="1489" r:id="rId31"/>
    <p:sldId id="1461" r:id="rId32"/>
    <p:sldId id="1490" r:id="rId33"/>
    <p:sldId id="1474" r:id="rId3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4F004B-05B6-4C01-B06D-3944849538DA}" v="18" dt="2025-12-18T18:44:53.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96323" autoAdjust="0"/>
  </p:normalViewPr>
  <p:slideViewPr>
    <p:cSldViewPr>
      <p:cViewPr varScale="1">
        <p:scale>
          <a:sx n="109" d="100"/>
          <a:sy n="109" d="100"/>
        </p:scale>
        <p:origin x="330" y="7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2-18T18:45:40.433" v="2146" actId="403"/>
      <pc:docMkLst>
        <pc:docMk/>
      </pc:docMkLst>
      <pc:sldChg chg="modSp mod">
        <pc:chgData name="Zonghua Gu" userId="9a7e1853e1951ef5" providerId="LiveId" clId="{CF1FAA12-072C-4ED5-BA76-0FFFAEFDB88A}" dt="2025-12-18T18:35:47.810" v="1784" actId="20577"/>
        <pc:sldMkLst>
          <pc:docMk/>
          <pc:sldMk cId="0" sldId="256"/>
        </pc:sldMkLst>
        <pc:spChg chg="mod">
          <ac:chgData name="Zonghua Gu" userId="9a7e1853e1951ef5" providerId="LiveId" clId="{CF1FAA12-072C-4ED5-BA76-0FFFAEFDB88A}" dt="2025-12-18T18:35:47.810" v="1784" actId="20577"/>
          <ac:spMkLst>
            <pc:docMk/>
            <pc:sldMk cId="0" sldId="256"/>
            <ac:spMk id="3075" creationId="{00000000-0000-0000-0000-000000000000}"/>
          </ac:spMkLst>
        </pc:spChg>
      </pc:sldChg>
      <pc:sldChg chg="modSp mod modNotesTx">
        <pc:chgData name="Zonghua Gu" userId="9a7e1853e1951ef5" providerId="LiveId" clId="{CF1FAA12-072C-4ED5-BA76-0FFFAEFDB88A}" dt="2025-12-18T18:45:40.433" v="2146" actId="403"/>
        <pc:sldMkLst>
          <pc:docMk/>
          <pc:sldMk cId="1186312595" sldId="1482"/>
        </pc:sldMkLst>
        <pc:spChg chg="mod">
          <ac:chgData name="Zonghua Gu" userId="9a7e1853e1951ef5" providerId="LiveId" clId="{CF1FAA12-072C-4ED5-BA76-0FFFAEFDB88A}" dt="2025-12-18T18:45:40.433" v="2146" actId="403"/>
          <ac:spMkLst>
            <pc:docMk/>
            <pc:sldMk cId="1186312595" sldId="1482"/>
            <ac:spMk id="3" creationId="{63C81626-1FCC-B3FB-F5B0-DCEA7F970F6A}"/>
          </ac:spMkLst>
        </pc:spChg>
      </pc:sldChg>
      <pc:sldChg chg="addSp modSp mod">
        <pc:chgData name="Zonghua Gu" userId="9a7e1853e1951ef5" providerId="LiveId" clId="{CF1FAA12-072C-4ED5-BA76-0FFFAEFDB88A}" dt="2025-12-15T20:26:23.951" v="1773"/>
        <pc:sldMkLst>
          <pc:docMk/>
          <pc:sldMk cId="301958943" sldId="1492"/>
        </pc:sldMkLst>
        <pc:spChg chg="mod">
          <ac:chgData name="Zonghua Gu" userId="9a7e1853e1951ef5" providerId="LiveId" clId="{CF1FAA12-072C-4ED5-BA76-0FFFAEFDB88A}" dt="2025-12-15T20:26:23.951" v="1773"/>
          <ac:spMkLst>
            <pc:docMk/>
            <pc:sldMk cId="301958943" sldId="1492"/>
            <ac:spMk id="3" creationId="{A2A7C0D9-B9D2-EF12-6CD5-DD69AE4BAFC7}"/>
          </ac:spMkLst>
        </pc:spChg>
      </pc:sldChg>
      <pc:sldChg chg="modSp new del mod">
        <pc:chgData name="Zonghua Gu" userId="9a7e1853e1951ef5" providerId="LiveId" clId="{CF1FAA12-072C-4ED5-BA76-0FFFAEFDB88A}" dt="2025-12-18T18:43:06.013" v="2052" actId="47"/>
        <pc:sldMkLst>
          <pc:docMk/>
          <pc:sldMk cId="2990310546" sldId="1494"/>
        </pc:sldMkLst>
        <pc:spChg chg="mod">
          <ac:chgData name="Zonghua Gu" userId="9a7e1853e1951ef5" providerId="LiveId" clId="{CF1FAA12-072C-4ED5-BA76-0FFFAEFDB88A}" dt="2025-12-18T18:39:10.153" v="1913" actId="20577"/>
          <ac:spMkLst>
            <pc:docMk/>
            <pc:sldMk cId="2990310546" sldId="1494"/>
            <ac:spMk id="2" creationId="{3F8A9430-8FC3-933D-1F2C-F86BB226EF4E}"/>
          </ac:spMkLst>
        </pc:spChg>
        <pc:spChg chg="mod">
          <ac:chgData name="Zonghua Gu" userId="9a7e1853e1951ef5" providerId="LiveId" clId="{CF1FAA12-072C-4ED5-BA76-0FFFAEFDB88A}" dt="2025-12-18T18:42:35.096" v="2049" actId="27636"/>
          <ac:spMkLst>
            <pc:docMk/>
            <pc:sldMk cId="2990310546" sldId="1494"/>
            <ac:spMk id="3" creationId="{359569DE-B35E-103C-B96C-4E17857A28A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10-26T20:43:55.024"/>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pPr lvl="2">
              <a:lnSpc>
                <a:spcPct val="80000"/>
              </a:lnSpc>
              <a:spcBef>
                <a:spcPct val="20000"/>
              </a:spcBef>
            </a:pPr>
            <a:endParaRPr lang="en-US" altLang="ko-KR" dirty="0">
              <a:ea typeface="굴림" panose="020B0600000101010101" pitchFamily="34" charset="-127"/>
            </a:endParaRPr>
          </a:p>
          <a:p>
            <a:r>
              <a:rPr lang="en-US" dirty="0"/>
              <a:t>In </a:t>
            </a:r>
            <a:r>
              <a:rPr lang="en-US" b="1" dirty="0"/>
              <a:t>real-time scheduling theory</a:t>
            </a:r>
            <a:r>
              <a:rPr lang="en-US" dirty="0"/>
              <a:t>, </a:t>
            </a:r>
            <a:r>
              <a:rPr lang="en-US" i="1" dirty="0"/>
              <a:t>response time</a:t>
            </a:r>
            <a:r>
              <a:rPr lang="en-US" dirty="0"/>
              <a:t> really does correspond to what OS textbooks call </a:t>
            </a:r>
            <a:r>
              <a:rPr lang="en-US" b="1" dirty="0"/>
              <a:t>turnaround time</a:t>
            </a:r>
            <a:r>
              <a:rPr lang="en-US" dirty="0"/>
              <a:t>:</a:t>
            </a:r>
          </a:p>
          <a:p>
            <a:r>
              <a:rPr lang="en-US" b="1" dirty="0"/>
              <a:t>R = finish time − release (arrival) time.</a:t>
            </a:r>
            <a:endParaRPr lang="en-US" dirty="0"/>
          </a:p>
          <a:p>
            <a:r>
              <a:rPr lang="en-US" dirty="0"/>
              <a:t>Real-time researchers care about the </a:t>
            </a:r>
            <a:r>
              <a:rPr lang="en-US" i="1" dirty="0"/>
              <a:t>worst-case latency until a job completes</a:t>
            </a:r>
            <a:r>
              <a:rPr lang="en-US" dirty="0"/>
              <a:t>, because completion must meet a deadline.</a:t>
            </a:r>
          </a:p>
          <a:p>
            <a:r>
              <a:rPr lang="en-US" dirty="0"/>
              <a:t>In </a:t>
            </a:r>
            <a:r>
              <a:rPr lang="en-US" b="1" dirty="0"/>
              <a:t>interactive OS scheduling</a:t>
            </a:r>
            <a:r>
              <a:rPr lang="en-US" dirty="0"/>
              <a:t>, </a:t>
            </a:r>
            <a:r>
              <a:rPr lang="en-US" i="1" dirty="0"/>
              <a:t>response time</a:t>
            </a:r>
            <a:r>
              <a:rPr lang="en-US" dirty="0"/>
              <a:t> means something different:</a:t>
            </a:r>
          </a:p>
          <a:p>
            <a:r>
              <a:rPr lang="en-US" b="1" dirty="0"/>
              <a:t>response time = time until the </a:t>
            </a:r>
            <a:r>
              <a:rPr lang="en-US" b="1" i="1" dirty="0"/>
              <a:t>first</a:t>
            </a:r>
            <a:r>
              <a:rPr lang="en-US" b="1" dirty="0"/>
              <a:t> system reaction</a:t>
            </a:r>
            <a:r>
              <a:rPr lang="en-US" dirty="0"/>
              <a:t>,</a:t>
            </a:r>
            <a:br>
              <a:rPr lang="en-US" dirty="0"/>
            </a:br>
            <a:r>
              <a:rPr lang="en-US" dirty="0"/>
              <a:t>not the time until the job completes.</a:t>
            </a:r>
          </a:p>
          <a:p>
            <a:r>
              <a:rPr lang="en-US" dirty="0"/>
              <a:t>So yes, in real-time scheduling:</a:t>
            </a:r>
          </a:p>
          <a:p>
            <a:r>
              <a:rPr lang="en-US" dirty="0"/>
              <a:t>• “Response time” ≈ OS “turnaround time”.</a:t>
            </a:r>
            <a:br>
              <a:rPr lang="en-US" dirty="0"/>
            </a:br>
            <a:r>
              <a:rPr lang="en-US" dirty="0"/>
              <a:t>• It does </a:t>
            </a:r>
            <a:r>
              <a:rPr lang="en-US" b="1" dirty="0"/>
              <a:t>not</a:t>
            </a:r>
            <a:r>
              <a:rPr lang="en-US" dirty="0"/>
              <a:t> match the interactive-scheduling meaning of response time.</a:t>
            </a:r>
          </a:p>
          <a:p>
            <a:endParaRPr lang="en-US" dirty="0"/>
          </a:p>
          <a:p>
            <a:endParaRPr lang="en-US" dirty="0"/>
          </a:p>
          <a:p>
            <a:r>
              <a:rPr lang="en-US" dirty="0"/>
              <a:t>Note that my definition of Response time is different from most textbooks, </a:t>
            </a:r>
          </a:p>
          <a:p>
            <a:endParaRPr lang="en-US" dirty="0"/>
          </a:p>
          <a:p>
            <a:pPr lvl="2">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customXml" Target="../ink/ink1.xml"/><Relationship Id="rId4" Type="http://schemas.openxmlformats.org/officeDocument/2006/relationships/hyperlink" Target="https://www.youtube.com/watch?v=joHKNtPYtLo"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Zonghua Gu</a:t>
            </a:r>
          </a:p>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a:t>
            </a:r>
            <a:r>
              <a:rPr lang="en-US" altLang="zh-CN" dirty="0"/>
              <a:t>job</a:t>
            </a:r>
            <a:r>
              <a:rPr lang="en-GB" dirty="0"/>
              <a:t>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a:t>
            </a:r>
            <a:r>
              <a:rPr lang="en-GB" dirty="0">
                <a:solidFill>
                  <a:srgbClr val="FF0000"/>
                </a:solidFill>
              </a:rPr>
              <a:t>non-</a:t>
            </a:r>
            <a:r>
              <a:rPr lang="en-GB" dirty="0" err="1">
                <a:solidFill>
                  <a:srgbClr val="FF0000"/>
                </a:solidFill>
              </a:rPr>
              <a:t>preemptive</a:t>
            </a:r>
            <a:r>
              <a:rPr lang="en-GB" dirty="0"/>
              <a:t> scheduling, once the CPU has been allocated to a process, it keeps the CPU until it releases the CPU either by terminating or by blocking for IO.</a:t>
            </a:r>
          </a:p>
          <a:p>
            <a:r>
              <a:rPr lang="en-GB" dirty="0"/>
              <a:t>With </a:t>
            </a:r>
            <a:r>
              <a:rPr lang="en-GB" dirty="0" err="1">
                <a:solidFill>
                  <a:srgbClr val="FF0000"/>
                </a:solidFill>
              </a:rPr>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a:xfrm>
            <a:off x="812800" y="762000"/>
            <a:ext cx="10566400" cy="6019800"/>
          </a:xfrm>
        </p:spPr>
        <p:txBody>
          <a:bodyPr>
            <a:normAutofit fontScale="85000" lnSpcReduction="20000"/>
          </a:bodyPr>
          <a:lstStyle/>
          <a:p>
            <a:r>
              <a:rPr lang="en-GB" sz="2400" dirty="0">
                <a:solidFill>
                  <a:srgbClr val="FF0000"/>
                </a:solidFill>
              </a:rPr>
              <a:t>Response time </a:t>
            </a:r>
            <a:r>
              <a:rPr lang="en-US" sz="2400" dirty="0">
                <a:solidFill>
                  <a:srgbClr val="FF0000"/>
                </a:solidFill>
              </a:rPr>
              <a:t>= </a:t>
            </a:r>
            <a:r>
              <a:rPr lang="en-GB" sz="2400" dirty="0" err="1">
                <a:solidFill>
                  <a:srgbClr val="FF0000"/>
                </a:solidFill>
              </a:rPr>
              <a:t>CompletionTime</a:t>
            </a:r>
            <a:r>
              <a:rPr lang="en-GB" sz="2400" dirty="0">
                <a:solidFill>
                  <a:srgbClr val="FF0000"/>
                </a:solidFill>
              </a:rPr>
              <a:t> – </a:t>
            </a:r>
            <a:r>
              <a:rPr lang="en-GB" sz="2400" dirty="0" err="1">
                <a:solidFill>
                  <a:srgbClr val="FF0000"/>
                </a:solidFill>
              </a:rPr>
              <a:t>ArrivalTime</a:t>
            </a:r>
            <a:r>
              <a:rPr lang="en-GB" sz="2400" dirty="0"/>
              <a:t>: the total time taken for a job to complete its execution, starting from its arrival time until it finishes. It includes all phases of the process lifecycle: waiting in queues, execution on the CPU, and any I/O operations.</a:t>
            </a:r>
          </a:p>
          <a:p>
            <a:pPr lvl="1"/>
            <a:r>
              <a:rPr lang="en-GB" sz="2200" dirty="0"/>
              <a:t>Called </a:t>
            </a:r>
            <a:r>
              <a:rPr lang="en-GB" sz="2200" dirty="0">
                <a:solidFill>
                  <a:srgbClr val="FF0000"/>
                </a:solidFill>
              </a:rPr>
              <a:t>turnaround time </a:t>
            </a:r>
            <a:r>
              <a:rPr lang="en-GB" sz="2200" dirty="0"/>
              <a:t>in most textbooks </a:t>
            </a:r>
            <a:r>
              <a:rPr lang="en-US" sz="2200" dirty="0"/>
              <a:t>(Please use my definition in this class!)</a:t>
            </a:r>
            <a:endParaRPr lang="en-GB" sz="2200" dirty="0"/>
          </a:p>
          <a:p>
            <a:r>
              <a:rPr lang="en-GB" sz="2400" dirty="0">
                <a:solidFill>
                  <a:srgbClr val="FF0000"/>
                </a:solidFill>
              </a:rPr>
              <a:t>Initial waiting time</a:t>
            </a:r>
            <a:r>
              <a:rPr lang="en-GB" sz="2400" dirty="0"/>
              <a:t>: the time a job spends waiting in the ready queue before it gets its first chance to execute on the CPU</a:t>
            </a:r>
          </a:p>
          <a:p>
            <a:pPr lvl="1"/>
            <a:r>
              <a:rPr lang="en-GB" sz="2200" dirty="0"/>
              <a:t>Called </a:t>
            </a:r>
            <a:r>
              <a:rPr lang="en-GB" sz="2200" dirty="0">
                <a:solidFill>
                  <a:srgbClr val="FF0000"/>
                </a:solidFill>
              </a:rPr>
              <a:t>response time </a:t>
            </a:r>
            <a:r>
              <a:rPr lang="en-GB" sz="2200" dirty="0"/>
              <a:t>in most textbooks (Please use my definition in this class!)</a:t>
            </a:r>
          </a:p>
          <a:p>
            <a:r>
              <a:rPr lang="en-GB" sz="2400" dirty="0">
                <a:solidFill>
                  <a:srgbClr val="FF0000"/>
                </a:solidFill>
              </a:rPr>
              <a:t>Waiting time</a:t>
            </a:r>
            <a:r>
              <a:rPr lang="en-GB" sz="2400" dirty="0"/>
              <a:t>: the total time a job spends waiting in the ready queue until it finishes</a:t>
            </a:r>
          </a:p>
          <a:p>
            <a:r>
              <a:rPr lang="en-GB" sz="2400" dirty="0">
                <a:solidFill>
                  <a:srgbClr val="FF0000"/>
                </a:solidFill>
              </a:rPr>
              <a:t>CPU utilization</a:t>
            </a:r>
            <a:r>
              <a:rPr lang="en-GB" sz="2400" dirty="0"/>
              <a:t>: percent of time when CPU is busy</a:t>
            </a:r>
          </a:p>
          <a:p>
            <a:r>
              <a:rPr lang="en-GB" sz="2400" dirty="0">
                <a:solidFill>
                  <a:srgbClr val="FF0000"/>
                </a:solidFill>
              </a:rPr>
              <a:t>Throughput</a:t>
            </a:r>
            <a:r>
              <a:rPr lang="en-GB" sz="2400" dirty="0"/>
              <a:t>: # of jobs that complete their execution per time unit</a:t>
            </a:r>
          </a:p>
          <a:p>
            <a:pPr lvl="1"/>
            <a:r>
              <a:rPr lang="en-GB" sz="2000" dirty="0"/>
              <a:t>e.g., 100 tasks released at time 0 s and all finished at or before time 100 s, then throughput is 1 task/s; but this does not tell us response time/waiting time, since tasks have very different response times/waiting times, for (1) all tasks finish at 100 s, or (2) task </a:t>
            </a:r>
            <a:r>
              <a:rPr lang="en-GB" sz="2000" dirty="0" err="1"/>
              <a:t>i</a:t>
            </a:r>
            <a:r>
              <a:rPr lang="en-GB" sz="2000" dirty="0"/>
              <a:t> finishes at time </a:t>
            </a:r>
            <a:r>
              <a:rPr lang="en-GB" sz="2000" dirty="0" err="1"/>
              <a:t>i</a:t>
            </a:r>
            <a:r>
              <a:rPr lang="en-GB" sz="2000" dirty="0"/>
              <a:t> s.</a:t>
            </a:r>
          </a:p>
          <a:p>
            <a:pPr lvl="1"/>
            <a:r>
              <a:rPr lang="en-GB" sz="2000" dirty="0"/>
              <a:t>Case (1): average response time = (100 + 100 + ... + 100) / 100 = 100 s; </a:t>
            </a:r>
          </a:p>
          <a:p>
            <a:pPr lvl="1"/>
            <a:r>
              <a:rPr lang="en-GB" sz="2000" dirty="0"/>
              <a:t>Case (2): average response time = (1 + 2 + 3 + ... + 100) / 100 = 50.5 s</a:t>
            </a:r>
          </a:p>
          <a:p>
            <a:r>
              <a:rPr lang="en-GB" sz="2400" dirty="0"/>
              <a:t>Different systems may have different objectives. Typically, they cannot be optimized simultaneously by a single scheduling algorithm</a:t>
            </a:r>
          </a:p>
          <a:p>
            <a:pPr lvl="1"/>
            <a:r>
              <a:rPr lang="en-GB" sz="2200" dirty="0"/>
              <a:t>Maximize CPU utilization</a:t>
            </a:r>
          </a:p>
          <a:p>
            <a:pPr lvl="1"/>
            <a:r>
              <a:rPr lang="en-GB" sz="2200" dirty="0"/>
              <a:t>Maximize Throughput</a:t>
            </a:r>
          </a:p>
          <a:p>
            <a:pPr lvl="1"/>
            <a:r>
              <a:rPr lang="en-GB" sz="2200" dirty="0"/>
              <a:t>Minimize Average Response time</a:t>
            </a:r>
          </a:p>
          <a:p>
            <a:pPr lvl="1"/>
            <a:r>
              <a:rPr lang="en-GB" sz="2200" dirty="0"/>
              <a:t>Minimize Average Waiting time</a:t>
            </a:r>
            <a:endParaRPr lang="en-SE" sz="1900"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 when its IO completes</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solidFill>
                  <a:srgbClr val="FF0000"/>
                </a:solidFill>
                <a:ea typeface="굴림" panose="020B0600000101010101" pitchFamily="34" charset="-127"/>
              </a:rPr>
              <a:t>No job waits more than (</a:t>
            </a:r>
            <a:r>
              <a:rPr lang="en-US" altLang="ko-KR" sz="2400" i="1" dirty="0">
                <a:solidFill>
                  <a:srgbClr val="FF0000"/>
                </a:solidFill>
                <a:ea typeface="굴림" panose="020B0600000101010101" pitchFamily="34" charset="-127"/>
              </a:rPr>
              <a:t>n</a:t>
            </a:r>
            <a:r>
              <a:rPr lang="en-US" altLang="ko-KR" sz="2400" dirty="0">
                <a:solidFill>
                  <a:srgbClr val="FF0000"/>
                </a:solidFill>
                <a:ea typeface="굴림" panose="020B0600000101010101" pitchFamily="34" charset="-127"/>
              </a:rPr>
              <a:t>-1)</a:t>
            </a:r>
            <a:r>
              <a:rPr lang="en-US" altLang="ko-KR" sz="2400" i="1" dirty="0">
                <a:solidFill>
                  <a:srgbClr val="FF0000"/>
                </a:solidFill>
                <a:ea typeface="굴림" panose="020B0600000101010101" pitchFamily="34" charset="-127"/>
              </a:rPr>
              <a:t>q </a:t>
            </a:r>
            <a:r>
              <a:rPr lang="en-US" altLang="ko-KR" sz="2400" dirty="0">
                <a:solidFill>
                  <a:srgbClr val="FF0000"/>
                </a:solidFill>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=0+(68-20)+(112-88)=72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(not shown in the figure)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the batch of 10 jobs at the same time</a:t>
            </a:r>
          </a:p>
          <a:p>
            <a:pPr lvl="1">
              <a:lnSpc>
                <a:spcPct val="80000"/>
              </a:lnSpc>
              <a:spcBef>
                <a:spcPct val="20000"/>
              </a:spcBef>
              <a:tabLst>
                <a:tab pos="3319463" algn="l"/>
              </a:tabLst>
            </a:pPr>
            <a:r>
              <a:rPr lang="en-US" altLang="ko-KR" sz="2400" dirty="0">
                <a:ea typeface="굴림" panose="020B0600000101010101" pitchFamily="34" charset="-127"/>
              </a:rPr>
              <a:t>But, average response time is much longer under RR than FCFS, even assuming zero context switch overhead</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1313270506"/>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FCFS</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lengths,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lnSpcReduction="10000"/>
          </a:bodyPr>
          <a:lstStyle/>
          <a:p>
            <a:r>
              <a:rPr lang="en-US" altLang="ko-KR" dirty="0"/>
              <a:t>If we know job execution times at arrival time (predict the future), then we can implement SJF and SRTF</a:t>
            </a:r>
          </a:p>
          <a:p>
            <a:pPr lvl="1"/>
            <a:r>
              <a:rPr lang="en-US" altLang="ko-KR" dirty="0"/>
              <a:t>It is non-trivial to predict job execution times at arrival time, but we assume they are given as input to the scheduler here </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dirty="0" err="1"/>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446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74467">
                                            <p:txEl>
                                              <p:pRg st="2" end="2"/>
                                            </p:txEl>
                                          </p:spTgt>
                                        </p:tgtEl>
                                        <p:attrNameLst>
                                          <p:attrName>style.visibility</p:attrName>
                                        </p:attrNameLst>
                                      </p:cBhvr>
                                      <p:to>
                                        <p:strVal val="visible"/>
                                      </p:to>
                                    </p:set>
                                  </p:childTnLst>
                                </p:cTn>
                              </p:par>
                              <p:par>
                                <p:cTn id="13" presetID="2" presetClass="entr" presetSubtype="2" fill="hold" nodeType="withEffect">
                                  <p:stCondLst>
                                    <p:cond delay="0"/>
                                  </p:stCondLst>
                                  <p:childTnLst>
                                    <p:set>
                                      <p:cBhvr>
                                        <p:cTn id="14" dur="1" fill="hold">
                                          <p:stCondLst>
                                            <p:cond delay="0"/>
                                          </p:stCondLst>
                                        </p:cTn>
                                        <p:tgtEl>
                                          <p:spTgt spid="574468"/>
                                        </p:tgtEl>
                                        <p:attrNameLst>
                                          <p:attrName>style.visibility</p:attrName>
                                        </p:attrNameLst>
                                      </p:cBhvr>
                                      <p:to>
                                        <p:strVal val="visible"/>
                                      </p:to>
                                    </p:set>
                                    <p:anim calcmode="lin" valueType="num">
                                      <p:cBhvr additive="base">
                                        <p:cTn id="15" dur="500" fill="hold"/>
                                        <p:tgtEl>
                                          <p:spTgt spid="574468"/>
                                        </p:tgtEl>
                                        <p:attrNameLst>
                                          <p:attrName>ppt_x</p:attrName>
                                        </p:attrNameLst>
                                      </p:cBhvr>
                                      <p:tavLst>
                                        <p:tav tm="0">
                                          <p:val>
                                            <p:strVal val="1+#ppt_w/2"/>
                                          </p:val>
                                        </p:tav>
                                        <p:tav tm="100000">
                                          <p:val>
                                            <p:strVal val="#ppt_x"/>
                                          </p:val>
                                        </p:tav>
                                      </p:tavLst>
                                    </p:anim>
                                    <p:anim calcmode="lin" valueType="num">
                                      <p:cBhvr additive="base">
                                        <p:cTn id="16" dur="500" fill="hold"/>
                                        <p:tgtEl>
                                          <p:spTgt spid="574468"/>
                                        </p:tgtEl>
                                        <p:attrNameLst>
                                          <p:attrName>ppt_y</p:attrName>
                                        </p:attrNameLst>
                                      </p:cBhvr>
                                      <p:tavLst>
                                        <p:tav tm="0">
                                          <p:val>
                                            <p:strVal val="#ppt_y"/>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7446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74467">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744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620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1821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1821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867400"/>
          </a:xfrm>
        </p:spPr>
        <p:txBody>
          <a:bodyPr>
            <a:normAutofit fontScale="85000" lnSpcReduction="20000"/>
          </a:bodyPr>
          <a:lstStyle/>
          <a:p>
            <a:r>
              <a:rPr lang="en-GB" dirty="0">
                <a:solidFill>
                  <a:srgbClr val="FF0000"/>
                </a:solidFill>
              </a:rPr>
              <a:t>SJF</a:t>
            </a:r>
            <a:r>
              <a:rPr lang="en-GB" dirty="0"/>
              <a:t> 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solidFill>
                  <a:srgbClr val="FF0000"/>
                </a:solidFill>
              </a:rPr>
              <a:t>Non-</a:t>
            </a:r>
            <a:r>
              <a:rPr lang="en-GB" dirty="0" err="1">
                <a:solidFill>
                  <a:srgbClr val="FF0000"/>
                </a:solidFill>
              </a:rPr>
              <a:t>preemptive</a:t>
            </a:r>
            <a:r>
              <a:rPr lang="en-GB" dirty="0">
                <a:solidFill>
                  <a:srgbClr val="FF0000"/>
                </a:solidFill>
              </a:rPr>
              <a:t> scheduling</a:t>
            </a:r>
          </a:p>
          <a:p>
            <a:r>
              <a:rPr lang="en-US" altLang="ko-KR" dirty="0">
                <a:solidFill>
                  <a:srgbClr val="FF0000"/>
                </a:solidFill>
              </a:rPr>
              <a:t>SRTF</a:t>
            </a:r>
            <a:r>
              <a:rPr lang="en-US" altLang="ko-KR" dirty="0"/>
              <a:t> </a:t>
            </a:r>
            <a:r>
              <a:rPr lang="en-GB" dirty="0"/>
              <a:t>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Job execution times are known in advance</a:t>
            </a:r>
          </a:p>
          <a:p>
            <a:pPr lvl="1"/>
            <a:r>
              <a:rPr lang="en-GB" dirty="0" err="1">
                <a:solidFill>
                  <a:srgbClr val="FF0000"/>
                </a:solidFill>
              </a:rPr>
              <a:t>Preemptive</a:t>
            </a:r>
            <a:r>
              <a:rPr lang="en-GB" dirty="0">
                <a:solidFill>
                  <a:srgbClr val="FF0000"/>
                </a:solidFill>
              </a:rPr>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SJF, also same as FCFS, as there is no preemption possible (a newly arriving job must have execution time &gt;= current job’s remaining time)</a:t>
            </a:r>
          </a:p>
          <a:p>
            <a:pPr lvl="2"/>
            <a:r>
              <a:rPr lang="en-US" altLang="ko-KR" dirty="0"/>
              <a:t>i.e. FCFS is optimal if all jobs the same length</a:t>
            </a:r>
          </a:p>
          <a:p>
            <a:pPr lvl="1"/>
            <a:r>
              <a:rPr lang="en-US" altLang="ko-KR" dirty="0"/>
              <a:t>If jobs have varying lengths</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8675">
                                            <p:txEl>
                                              <p:pRg st="13" end="13"/>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67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hours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3962400"/>
            <a:ext cx="3047998" cy="1981197"/>
          </a:xfrm>
          <a:prstGeom prst="wedgeRoundRectCallout">
            <a:avLst>
              <a:gd name="adj1" fmla="val -64902"/>
              <a:gd name="adj2" fmla="val 2646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1800" b="0" dirty="0">
                <a:latin typeface="Gill Sans" charset="0"/>
                <a:ea typeface="Gill Sans" charset="0"/>
                <a:cs typeface="Gill Sans" charset="0"/>
              </a:rPr>
              <a:t>C runs every</a:t>
            </a:r>
            <a:r>
              <a:rPr lang="zh-CN" altLang="en-US" sz="1800" b="0" dirty="0">
                <a:latin typeface="Gill Sans" charset="0"/>
                <a:ea typeface="Gill Sans" charset="0"/>
                <a:cs typeface="Gill Sans" charset="0"/>
              </a:rPr>
              <a:t> </a:t>
            </a:r>
            <a:r>
              <a:rPr lang="en-US" altLang="zh-CN" sz="1800" b="0" dirty="0">
                <a:latin typeface="Gill Sans" charset="0"/>
                <a:ea typeface="Gill Sans" charset="0"/>
                <a:cs typeface="Gill Sans" charset="0"/>
              </a:rPr>
              <a:t>10 </a:t>
            </a:r>
            <a:r>
              <a:rPr lang="en-US" altLang="zh-CN" sz="1800" b="0" dirty="0" err="1">
                <a:latin typeface="Gill Sans" charset="0"/>
                <a:ea typeface="Gill Sans" charset="0"/>
                <a:cs typeface="Gill Sans" charset="0"/>
              </a:rPr>
              <a:t>ms</a:t>
            </a:r>
            <a:endParaRPr lang="en-US" altLang="en-US" sz="1800" b="0" dirty="0">
              <a:latin typeface="Gill Sans" charset="0"/>
              <a:ea typeface="Gill Sans" charset="0"/>
              <a:cs typeface="Gill Sans" charset="0"/>
            </a:endParaRPr>
          </a:p>
          <a:p>
            <a:pPr>
              <a:buFontTx/>
              <a:buNone/>
            </a:pPr>
            <a:r>
              <a:rPr lang="en-US" altLang="en-US" sz="1800" b="0" dirty="0">
                <a:latin typeface="Gill Sans" charset="0"/>
                <a:ea typeface="Gill Sans" charset="0"/>
                <a:cs typeface="Gill Sans" charset="0"/>
              </a:rPr>
              <a:t>Disk Utilization:</a:t>
            </a:r>
          </a:p>
          <a:p>
            <a:pPr>
              <a:buFontTx/>
              <a:buNone/>
            </a:pPr>
            <a:r>
              <a:rPr lang="en-US" altLang="en-US" sz="1800" b="0" dirty="0">
                <a:latin typeface="Gill Sans" charset="0"/>
                <a:ea typeface="Gill Sans" charset="0"/>
                <a:cs typeface="Gill Sans" charset="0"/>
              </a:rPr>
              <a:t>9/10=90%, in</a:t>
            </a:r>
            <a:r>
              <a:rPr lang="en-US" altLang="zh-CN" sz="1800" b="0" dirty="0">
                <a:latin typeface="Gill Sans" charset="0"/>
                <a:ea typeface="Gill Sans" charset="0"/>
                <a:cs typeface="Gill Sans" charset="0"/>
              </a:rPr>
              <a:t>frequent</a:t>
            </a:r>
            <a:r>
              <a:rPr lang="en-US" altLang="en-US" sz="1800" b="0" dirty="0">
                <a:latin typeface="Gill Sans" charset="0"/>
                <a:ea typeface="Gill Sans" charset="0"/>
                <a:cs typeface="Gill Sans" charset="0"/>
              </a:rPr>
              <a:t> CPU context switches</a:t>
            </a:r>
          </a:p>
          <a:p>
            <a:pPr>
              <a:buFontTx/>
              <a:buNone/>
            </a:pPr>
            <a:r>
              <a:rPr lang="en-US" altLang="en-US" sz="1800" b="0" dirty="0">
                <a:latin typeface="Gill Sans" charset="0"/>
                <a:ea typeface="Gill Sans" charset="0"/>
                <a:cs typeface="Gill Sans" charset="0"/>
              </a:rPr>
              <a:t>(C runs at effective highest priority, and A/B run at lower/background priority)</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xmlns:a14="http://schemas.microsoft.com/office/drawing/2010/main">
        <mc:Choice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i="1" dirty="0" err="1">
                    <a:sym typeface="Symbol" panose="05050102010706020507" pitchFamily="18" charset="2"/>
                  </a:rPr>
                  <a:t>t</a:t>
                </a:r>
                <a:r>
                  <a:rPr lang="en-US" altLang="ko-KR" i="1" baseline="-25000" dirty="0" err="1">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i="1" dirty="0" err="1">
                    <a:sym typeface="Symbol" panose="05050102010706020507" pitchFamily="18" charset="2"/>
                  </a:rPr>
                  <a:t>t</a:t>
                </a:r>
                <a:r>
                  <a:rPr lang="en-US" altLang="ko-KR" i="1" baseline="-25000" dirty="0" err="1">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oMath>
                </a14:m>
                <a:r>
                  <a:rPr lang="en-US" dirty="0"/>
                  <a:t> track the input data points while smoothing out sensor noise</a:t>
                </a:r>
                <a:endParaRPr lang="en-SE" dirty="0"/>
              </a:p>
            </p:txBody>
          </p:sp>
        </mc:Choice>
        <mc:Fallback xmlns="">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r="-806" b="-17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10</m:t>
                    </m:r>
                  </m:oMath>
                </a14:m>
                <a:r>
                  <a:rPr lang="en-US" altLang="ko-KR" dirty="0">
                    <a:sym typeface="Symbol" panose="05050102010706020507" pitchFamily="18" charset="2"/>
                  </a:rPr>
                  <a:t>, assuming </a:t>
                </a:r>
                <a:r>
                  <a:rPr lang="en-US" dirty="0"/>
                  <a:t>smoothing factor</a:t>
                </a:r>
                <a:r>
                  <a:rPr lang="en-US" altLang="ko-KR" dirty="0">
                    <a:sym typeface="Symbol" panose="05050102010706020507" pitchFamily="18" charset="2"/>
                  </a:rPr>
                  <a:t> </a:t>
                </a:r>
                <a14:m>
                  <m:oMath xmlns:m="http://schemas.openxmlformats.org/officeDocument/2006/math">
                    <m:r>
                      <a:rPr lang="en-US" altLang="zh-CN" i="1">
                        <a:latin typeface="Cambria Math" panose="02040503050406030204" pitchFamily="18" charset="0"/>
                      </a:rPr>
                      <m:t>𝛼</m:t>
                    </m:r>
                    <m:r>
                      <a:rPr lang="en-US" altLang="zh-CN" b="0" i="1" smtClean="0">
                        <a:latin typeface="Cambria Math" panose="02040503050406030204" pitchFamily="18" charset="0"/>
                      </a:rPr>
                      <m:t>=</m:t>
                    </m:r>
                    <m:r>
                      <a:rPr lang="en-US" altLang="zh-CN" b="0" i="1" smtClean="0">
                        <a:latin typeface="Cambria Math" panose="02040503050406030204" pitchFamily="18" charset="0"/>
                      </a:rPr>
                      <m:t>0</m:t>
                    </m:r>
                    <m:r>
                      <a:rPr lang="en-US" altLang="zh-CN" b="0" i="1" smtClean="0">
                        <a:latin typeface="Cambria Math" panose="02040503050406030204" pitchFamily="18" charset="0"/>
                      </a:rPr>
                      <m:t>.</m:t>
                    </m:r>
                    <m:r>
                      <a:rPr lang="en-US" altLang="zh-CN" b="0" i="1" smtClean="0">
                        <a:latin typeface="Cambria Math" panose="02040503050406030204" pitchFamily="18" charset="0"/>
                      </a:rPr>
                      <m:t>5</m:t>
                    </m:r>
                  </m:oMath>
                </a14:m>
                <a:endParaRPr lang="en-US" altLang="ko-KR" dirty="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zh-CN" alt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i="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en-US"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i="0"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7B35-7F32-4BE5-AD1E-FC792A1AE3F9}"/>
              </a:ext>
            </a:extLst>
          </p:cNvPr>
          <p:cNvSpPr>
            <a:spLocks noGrp="1"/>
          </p:cNvSpPr>
          <p:nvPr>
            <p:ph type="title"/>
          </p:nvPr>
        </p:nvSpPr>
        <p:spPr>
          <a:xfrm>
            <a:off x="762000" y="152400"/>
            <a:ext cx="6553200" cy="533400"/>
          </a:xfrm>
        </p:spPr>
        <p:txBody>
          <a:bodyPr/>
          <a:lstStyle/>
          <a:p>
            <a:r>
              <a:rPr lang="en-US" sz="2800" dirty="0"/>
              <a:t>An Example of Per-Capita GPD Forecasting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317A93-5F5E-4445-9B37-B7903DA80A52}"/>
                  </a:ext>
                </a:extLst>
              </p:cNvPr>
              <p:cNvSpPr>
                <a:spLocks noGrp="1"/>
              </p:cNvSpPr>
              <p:nvPr>
                <p:ph idx="1"/>
              </p:nvPr>
            </p:nvSpPr>
            <p:spPr>
              <a:xfrm>
                <a:off x="812800" y="914400"/>
                <a:ext cx="6619643" cy="5105400"/>
              </a:xfrm>
            </p:spPr>
            <p:txBody>
              <a:bodyPr>
                <a:normAutofit lnSpcReduction="10000"/>
              </a:bodyPr>
              <a:lstStyle/>
              <a:p>
                <a:r>
                  <a:rPr lang="en-US" dirty="0"/>
                  <a:t>Here we use EMA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to forecast a country’s per-capita GDP of next year</a:t>
                </a:r>
              </a:p>
              <a:p>
                <a:r>
                  <a:rPr lang="en-US" dirty="0"/>
                  <a:t>It shows the step-by-step calculation process of the EMA with </a:t>
                </a:r>
                <a14:m>
                  <m:oMath xmlns:m="http://schemas.openxmlformats.org/officeDocument/2006/math">
                    <m:r>
                      <a:rPr lang="en-US" i="1" smtClean="0">
                        <a:latin typeface="Cambria Math" panose="02040503050406030204" pitchFamily="18" charset="0"/>
                      </a:rPr>
                      <m:t>𝛼</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8</m:t>
                    </m:r>
                  </m:oMath>
                </a14:m>
                <a:r>
                  <a:rPr lang="en-US" dirty="0"/>
                  <a:t>; </a:t>
                </a:r>
                <a:r>
                  <a:rPr lang="en-US" altLang="ko-KR" dirty="0">
                    <a:sym typeface="Symbol" panose="05050102010706020507" pitchFamily="18" charset="2"/>
                  </a:rPr>
                  <a:t>Initial value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1451</m:t>
                    </m:r>
                  </m:oMath>
                </a14:m>
                <a:endParaRPr lang="en-US" altLang="ko-KR" dirty="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1499</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0.2</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1451</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1489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1686</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0.2</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1489</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47</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1764</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0.2</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1647</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1741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r>
                  <a:rPr lang="en-US" dirty="0"/>
                  <a:t>….</a:t>
                </a:r>
              </a:p>
            </p:txBody>
          </p:sp>
        </mc:Choice>
        <mc:Fallback xmlns="">
          <p:sp>
            <p:nvSpPr>
              <p:cNvPr id="3" name="Content Placeholder 2">
                <a:extLst>
                  <a:ext uri="{FF2B5EF4-FFF2-40B4-BE49-F238E27FC236}">
                    <a16:creationId xmlns:a16="http://schemas.microsoft.com/office/drawing/2014/main" id="{1E317A93-5F5E-4445-9B37-B7903DA80A52}"/>
                  </a:ext>
                </a:extLst>
              </p:cNvPr>
              <p:cNvSpPr>
                <a:spLocks noGrp="1" noRot="1" noChangeAspect="1" noMove="1" noResize="1" noEditPoints="1" noAdjustHandles="1" noChangeArrowheads="1" noChangeShapeType="1" noTextEdit="1"/>
              </p:cNvSpPr>
              <p:nvPr>
                <p:ph idx="1"/>
              </p:nvPr>
            </p:nvSpPr>
            <p:spPr>
              <a:xfrm>
                <a:off x="812800" y="914400"/>
                <a:ext cx="6619643" cy="5105400"/>
              </a:xfrm>
              <a:blipFill>
                <a:blip r:embed="rId2"/>
                <a:stretch>
                  <a:fillRect l="-1934" t="-2864" b="-167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9424F11-08A5-4EF2-9195-0FED4B8B88D3}"/>
              </a:ext>
            </a:extLst>
          </p:cNvPr>
          <p:cNvPicPr>
            <a:picLocks noChangeAspect="1"/>
          </p:cNvPicPr>
          <p:nvPr/>
        </p:nvPicPr>
        <p:blipFill>
          <a:blip r:embed="rId3"/>
          <a:stretch>
            <a:fillRect/>
          </a:stretch>
        </p:blipFill>
        <p:spPr>
          <a:xfrm>
            <a:off x="7432443" y="0"/>
            <a:ext cx="3997557" cy="6858000"/>
          </a:xfrm>
          <a:prstGeom prst="rect">
            <a:avLst/>
          </a:prstGeom>
        </p:spPr>
      </p:pic>
      <p:sp>
        <p:nvSpPr>
          <p:cNvPr id="6" name="TextBox 5">
            <a:extLst>
              <a:ext uri="{FF2B5EF4-FFF2-40B4-BE49-F238E27FC236}">
                <a16:creationId xmlns:a16="http://schemas.microsoft.com/office/drawing/2014/main" id="{B6CC728F-7854-4036-A6D4-73D1225D5DDF}"/>
              </a:ext>
            </a:extLst>
          </p:cNvPr>
          <p:cNvSpPr txBox="1"/>
          <p:nvPr/>
        </p:nvSpPr>
        <p:spPr>
          <a:xfrm>
            <a:off x="914400" y="6115734"/>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4"/>
              </a:rPr>
              <a:t>https://www.youtube.com/watch?v=joHKNtPYtLo</a:t>
            </a:r>
            <a:endParaRPr lang="en-US" b="0" dirty="0">
              <a:latin typeface="Gill Sans Light"/>
            </a:endParaRPr>
          </a:p>
        </p:txBody>
      </p:sp>
      <mc:AlternateContent xmlns:mc="http://schemas.openxmlformats.org/markup-compatibility/2006">
        <mc:Choice xmlns:p14="http://schemas.microsoft.com/office/powerpoint/2010/main" Requires="p14">
          <p:contentPart p14:bwMode="auto" r:id="rId5">
            <p14:nvContentPartPr>
              <p14:cNvPr id="4" name="Ink 3">
                <a:extLst>
                  <a:ext uri="{FF2B5EF4-FFF2-40B4-BE49-F238E27FC236}">
                    <a16:creationId xmlns:a16="http://schemas.microsoft.com/office/drawing/2014/main" id="{AB6B9575-E3BF-42E9-AAB4-4194279C5D49}"/>
                  </a:ext>
                </a:extLst>
              </p14:cNvPr>
              <p14:cNvContentPartPr/>
              <p14:nvPr/>
            </p14:nvContentPartPr>
            <p14:xfrm>
              <a:off x="1600103" y="1485540"/>
              <a:ext cx="360" cy="360"/>
            </p14:xfrm>
          </p:contentPart>
        </mc:Choice>
        <mc:Fallback>
          <p:pic>
            <p:nvPicPr>
              <p:cNvPr id="4" name="Ink 3">
                <a:extLst>
                  <a:ext uri="{FF2B5EF4-FFF2-40B4-BE49-F238E27FC236}">
                    <a16:creationId xmlns:a16="http://schemas.microsoft.com/office/drawing/2014/main" id="{AB6B9575-E3BF-42E9-AAB4-4194279C5D49}"/>
                  </a:ext>
                </a:extLst>
              </p:cNvPr>
              <p:cNvPicPr/>
              <p:nvPr/>
            </p:nvPicPr>
            <p:blipFill>
              <a:blip r:embed="rId6"/>
              <a:stretch>
                <a:fillRect/>
              </a:stretch>
            </p:blipFill>
            <p:spPr>
              <a:xfrm>
                <a:off x="1591463" y="1476900"/>
                <a:ext cx="18000" cy="18000"/>
              </a:xfrm>
              <a:prstGeom prst="rect">
                <a:avLst/>
              </a:prstGeom>
            </p:spPr>
          </p:pic>
        </mc:Fallback>
      </mc:AlternateContent>
    </p:spTree>
    <p:extLst>
      <p:ext uri="{BB962C8B-B14F-4D97-AF65-F5344CB8AC3E}">
        <p14:creationId xmlns:p14="http://schemas.microsoft.com/office/powerpoint/2010/main" val="318960233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RR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execution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 (convoy effect)</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98730</TotalTime>
  <Pages>60</Pages>
  <Words>5649</Words>
  <Application>Microsoft Office PowerPoint</Application>
  <PresentationFormat>Widescreen</PresentationFormat>
  <Paragraphs>767</Paragraphs>
  <Slides>33</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Arial</vt:lpstr>
      <vt:lpstr>Calibri</vt:lpstr>
      <vt:lpstr>Cambria Math</vt:lpstr>
      <vt:lpstr>Comic Sans MS</vt:lpstr>
      <vt:lpstr>Gill Sans</vt:lpstr>
      <vt:lpstr>Gill Sans Light</vt:lpstr>
      <vt:lpstr>Helvetica</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Predicting the Length of the Next CPU Burst: =0.1 or 0.9</vt:lpstr>
      <vt:lpstr>An Example of Per-Capita GPD Forecasting</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1120</cp:revision>
  <cp:lastPrinted>2022-03-15T20:14:46Z</cp:lastPrinted>
  <dcterms:created xsi:type="dcterms:W3CDTF">1995-08-12T11:37:26Z</dcterms:created>
  <dcterms:modified xsi:type="dcterms:W3CDTF">2026-10-26T21:06:52Z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