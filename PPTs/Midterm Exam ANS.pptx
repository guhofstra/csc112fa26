
<file path=[Content_Types].xml><?xml version="1.0" encoding="utf-8"?>
<Types xmlns="http://schemas.openxmlformats.org/package/2006/content-types">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0"/>
  </p:notesMasterIdLst>
  <p:handoutMasterIdLst>
    <p:handoutMasterId r:id="rId11"/>
  </p:handoutMasterIdLst>
  <p:sldIdLst>
    <p:sldId id="256" r:id="rId2"/>
    <p:sldId id="332" r:id="rId3"/>
    <p:sldId id="333" r:id="rId4"/>
    <p:sldId id="1504" r:id="rId5"/>
    <p:sldId id="1507" r:id="rId6"/>
    <p:sldId id="1503" r:id="rId7"/>
    <p:sldId id="1505" r:id="rId8"/>
    <p:sldId id="1506" r:id="rId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8" autoAdjust="0"/>
    <p:restoredTop sz="78431" autoAdjust="0"/>
  </p:normalViewPr>
  <p:slideViewPr>
    <p:cSldViewPr>
      <p:cViewPr varScale="1">
        <p:scale>
          <a:sx n="64" d="100"/>
          <a:sy n="64" d="100"/>
        </p:scale>
        <p:origin x="1152"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611978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85505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21B0-9BA5-2E46-9FA0-E29283A2A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77A88-BB89-FED1-C4EB-64508F4C5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F1210-7BD5-4C65-F4C7-A1B7D6E43A5B}"/>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137898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57D3-3817-E0A1-4EC7-4DB513C39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1A55B-28C8-66E9-85DC-91691ECC3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983BE-2C70-DC33-066E-BFDDDB8C0F44}"/>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768475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Midterm Exam Answer Key</a:t>
            </a:r>
            <a:br>
              <a:rPr lang="en-US" sz="3000" dirty="0"/>
            </a:br>
            <a:br>
              <a:rPr lang="en-US" sz="3000" dirty="0"/>
            </a:b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7D37-78EA-8798-63F7-D03899A19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13D19-1E20-74FD-BAED-7017E7C4C54C}"/>
              </a:ext>
            </a:extLst>
          </p:cNvPr>
          <p:cNvSpPr>
            <a:spLocks noGrp="1"/>
          </p:cNvSpPr>
          <p:nvPr>
            <p:ph type="title"/>
          </p:nvPr>
        </p:nvSpPr>
        <p:spPr/>
        <p:txBody>
          <a:bodyPr/>
          <a:lstStyle/>
          <a:p>
            <a:r>
              <a:rPr lang="en-GB" dirty="0"/>
              <a:t>(1) Deadlock</a:t>
            </a:r>
            <a:endParaRPr lang="en-SE" dirty="0"/>
          </a:p>
        </p:txBody>
      </p:sp>
      <p:graphicFrame>
        <p:nvGraphicFramePr>
          <p:cNvPr id="6" name="Content Placeholder 5">
            <a:extLst>
              <a:ext uri="{FF2B5EF4-FFF2-40B4-BE49-F238E27FC236}">
                <a16:creationId xmlns:a16="http://schemas.microsoft.com/office/drawing/2014/main" id="{374884A6-2A73-1875-3FF8-5086AE6B8D05}"/>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091A085-3945-B396-27F5-B87FDC9A27F3}"/>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E2B250E3-1B90-E61F-4240-3BF9CB6D0204}"/>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18F92D57-5290-DADE-F64E-3F545D7F79C5}"/>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069AC651-3833-4E9C-0B46-BEF5040F9A3B}"/>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6697FB69-5C6F-9B7C-1439-AF1B6F030AFA}"/>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A43CA809-27AD-7F21-D32F-F9307913AB36}"/>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CC7DD6FE-37F0-BD14-8B4D-BD2792E173E8}"/>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a:t>3</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F63A27A6-8761-B06A-8583-5E90F42E5818}"/>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A8BDF628-D122-953B-6418-0AE2E126E85A}"/>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4" name="Group 259">
            <a:extLst>
              <a:ext uri="{FF2B5EF4-FFF2-40B4-BE49-F238E27FC236}">
                <a16:creationId xmlns:a16="http://schemas.microsoft.com/office/drawing/2014/main" id="{E5DCD5E3-95B9-B5A2-18DF-B24147780209}"/>
              </a:ext>
            </a:extLst>
          </p:cNvPr>
          <p:cNvGrpSpPr>
            <a:grpSpLocks/>
          </p:cNvGrpSpPr>
          <p:nvPr/>
        </p:nvGrpSpPr>
        <p:grpSpPr bwMode="auto">
          <a:xfrm>
            <a:off x="8929690" y="1717181"/>
            <a:ext cx="2782885" cy="3810000"/>
            <a:chOff x="1920" y="624"/>
            <a:chExt cx="1753" cy="2400"/>
          </a:xfrm>
        </p:grpSpPr>
        <p:sp>
          <p:nvSpPr>
            <p:cNvPr id="8" name="Rectangle 199">
              <a:extLst>
                <a:ext uri="{FF2B5EF4-FFF2-40B4-BE49-F238E27FC236}">
                  <a16:creationId xmlns:a16="http://schemas.microsoft.com/office/drawing/2014/main" id="{3DA519C5-934A-BA8F-7118-251CCAB86E77}"/>
                </a:ext>
              </a:extLst>
            </p:cNvPr>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0" name="Group 197">
              <a:extLst>
                <a:ext uri="{FF2B5EF4-FFF2-40B4-BE49-F238E27FC236}">
                  <a16:creationId xmlns:a16="http://schemas.microsoft.com/office/drawing/2014/main" id="{13538E69-4E22-CCA1-B43D-DB4CDFF9EE2F}"/>
                </a:ext>
              </a:extLst>
            </p:cNvPr>
            <p:cNvGrpSpPr>
              <a:grpSpLocks/>
            </p:cNvGrpSpPr>
            <p:nvPr/>
          </p:nvGrpSpPr>
          <p:grpSpPr bwMode="auto">
            <a:xfrm>
              <a:off x="2024" y="720"/>
              <a:ext cx="1546" cy="2232"/>
              <a:chOff x="2304" y="816"/>
              <a:chExt cx="1546" cy="2232"/>
            </a:xfrm>
          </p:grpSpPr>
          <p:sp>
            <p:nvSpPr>
              <p:cNvPr id="18" name="Oval 129">
                <a:extLst>
                  <a:ext uri="{FF2B5EF4-FFF2-40B4-BE49-F238E27FC236}">
                    <a16:creationId xmlns:a16="http://schemas.microsoft.com/office/drawing/2014/main" id="{ED273A33-45AD-ED90-5591-0C45C60E8A0C}"/>
                  </a:ext>
                </a:extLst>
              </p:cNvPr>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130">
                <a:extLst>
                  <a:ext uri="{FF2B5EF4-FFF2-40B4-BE49-F238E27FC236}">
                    <a16:creationId xmlns:a16="http://schemas.microsoft.com/office/drawing/2014/main" id="{8625500E-5FE8-E104-BAF7-F647C5F74B1D}"/>
                  </a:ext>
                </a:extLst>
              </p:cNvPr>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22" name="Oval 131">
                <a:extLst>
                  <a:ext uri="{FF2B5EF4-FFF2-40B4-BE49-F238E27FC236}">
                    <a16:creationId xmlns:a16="http://schemas.microsoft.com/office/drawing/2014/main" id="{D8FA2132-C20D-B0F4-2AB1-9EB940E4CADF}"/>
                  </a:ext>
                </a:extLst>
              </p:cNvPr>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132">
                <a:extLst>
                  <a:ext uri="{FF2B5EF4-FFF2-40B4-BE49-F238E27FC236}">
                    <a16:creationId xmlns:a16="http://schemas.microsoft.com/office/drawing/2014/main" id="{D55A84E0-F6E4-E5DC-0093-68EC6D0E661A}"/>
                  </a:ext>
                </a:extLst>
              </p:cNvPr>
              <p:cNvGrpSpPr>
                <a:grpSpLocks/>
              </p:cNvGrpSpPr>
              <p:nvPr/>
            </p:nvGrpSpPr>
            <p:grpSpPr bwMode="auto">
              <a:xfrm>
                <a:off x="2491" y="816"/>
                <a:ext cx="375" cy="555"/>
                <a:chOff x="576" y="432"/>
                <a:chExt cx="384" cy="569"/>
              </a:xfrm>
            </p:grpSpPr>
            <p:grpSp>
              <p:nvGrpSpPr>
                <p:cNvPr id="49" name="Group 133">
                  <a:extLst>
                    <a:ext uri="{FF2B5EF4-FFF2-40B4-BE49-F238E27FC236}">
                      <a16:creationId xmlns:a16="http://schemas.microsoft.com/office/drawing/2014/main" id="{CE2AA655-F9AE-0DC5-A3ED-9173CE52E919}"/>
                    </a:ext>
                  </a:extLst>
                </p:cNvPr>
                <p:cNvGrpSpPr>
                  <a:grpSpLocks/>
                </p:cNvGrpSpPr>
                <p:nvPr/>
              </p:nvGrpSpPr>
              <p:grpSpPr bwMode="auto">
                <a:xfrm>
                  <a:off x="576" y="665"/>
                  <a:ext cx="384" cy="336"/>
                  <a:chOff x="1680" y="816"/>
                  <a:chExt cx="384" cy="336"/>
                </a:xfrm>
              </p:grpSpPr>
              <p:sp>
                <p:nvSpPr>
                  <p:cNvPr id="51" name="Rectangle 134">
                    <a:extLst>
                      <a:ext uri="{FF2B5EF4-FFF2-40B4-BE49-F238E27FC236}">
                        <a16:creationId xmlns:a16="http://schemas.microsoft.com/office/drawing/2014/main" id="{8B0D25F2-661B-D50B-68D8-3308C943CC5C}"/>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 name="Oval 135">
                    <a:extLst>
                      <a:ext uri="{FF2B5EF4-FFF2-40B4-BE49-F238E27FC236}">
                        <a16:creationId xmlns:a16="http://schemas.microsoft.com/office/drawing/2014/main" id="{65743B4A-6CB7-CBE3-CDF7-1282A655CCDE}"/>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0" name="Text Box 136">
                  <a:extLst>
                    <a:ext uri="{FF2B5EF4-FFF2-40B4-BE49-F238E27FC236}">
                      <a16:creationId xmlns:a16="http://schemas.microsoft.com/office/drawing/2014/main" id="{D556628E-1B69-076D-DE8E-DE7532E81AC3}"/>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24" name="Group 137">
                <a:extLst>
                  <a:ext uri="{FF2B5EF4-FFF2-40B4-BE49-F238E27FC236}">
                    <a16:creationId xmlns:a16="http://schemas.microsoft.com/office/drawing/2014/main" id="{3EFC30A4-7645-670F-A23D-9C8D3270FA31}"/>
                  </a:ext>
                </a:extLst>
              </p:cNvPr>
              <p:cNvGrpSpPr>
                <a:grpSpLocks/>
              </p:cNvGrpSpPr>
              <p:nvPr/>
            </p:nvGrpSpPr>
            <p:grpSpPr bwMode="auto">
              <a:xfrm>
                <a:off x="3194" y="816"/>
                <a:ext cx="375" cy="562"/>
                <a:chOff x="1392" y="432"/>
                <a:chExt cx="384" cy="576"/>
              </a:xfrm>
            </p:grpSpPr>
            <p:grpSp>
              <p:nvGrpSpPr>
                <p:cNvPr id="45" name="Group 138">
                  <a:extLst>
                    <a:ext uri="{FF2B5EF4-FFF2-40B4-BE49-F238E27FC236}">
                      <a16:creationId xmlns:a16="http://schemas.microsoft.com/office/drawing/2014/main" id="{DA054B56-B3E5-5198-EE96-9DEF4F8E1687}"/>
                    </a:ext>
                  </a:extLst>
                </p:cNvPr>
                <p:cNvGrpSpPr>
                  <a:grpSpLocks/>
                </p:cNvGrpSpPr>
                <p:nvPr/>
              </p:nvGrpSpPr>
              <p:grpSpPr bwMode="auto">
                <a:xfrm>
                  <a:off x="1392" y="672"/>
                  <a:ext cx="384" cy="336"/>
                  <a:chOff x="1680" y="816"/>
                  <a:chExt cx="384" cy="336"/>
                </a:xfrm>
              </p:grpSpPr>
              <p:sp>
                <p:nvSpPr>
                  <p:cNvPr id="47" name="Rectangle 139">
                    <a:extLst>
                      <a:ext uri="{FF2B5EF4-FFF2-40B4-BE49-F238E27FC236}">
                        <a16:creationId xmlns:a16="http://schemas.microsoft.com/office/drawing/2014/main" id="{9A3FD2C2-BDF1-F2DF-17B8-EFDF5EAC8DE1}"/>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8" name="Oval 140">
                    <a:extLst>
                      <a:ext uri="{FF2B5EF4-FFF2-40B4-BE49-F238E27FC236}">
                        <a16:creationId xmlns:a16="http://schemas.microsoft.com/office/drawing/2014/main" id="{36906151-9625-C4DB-6A1F-C876E6FCBA1B}"/>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6" name="Text Box 141">
                  <a:extLst>
                    <a:ext uri="{FF2B5EF4-FFF2-40B4-BE49-F238E27FC236}">
                      <a16:creationId xmlns:a16="http://schemas.microsoft.com/office/drawing/2014/main" id="{8859D858-A6F7-D465-B2AF-CB11987C9360}"/>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5" name="Group 142">
                <a:extLst>
                  <a:ext uri="{FF2B5EF4-FFF2-40B4-BE49-F238E27FC236}">
                    <a16:creationId xmlns:a16="http://schemas.microsoft.com/office/drawing/2014/main" id="{6B812CE8-9EC1-1556-7177-A0A1F288A4CB}"/>
                  </a:ext>
                </a:extLst>
              </p:cNvPr>
              <p:cNvGrpSpPr>
                <a:grpSpLocks/>
              </p:cNvGrpSpPr>
              <p:nvPr/>
            </p:nvGrpSpPr>
            <p:grpSpPr bwMode="auto">
              <a:xfrm>
                <a:off x="2632" y="2221"/>
                <a:ext cx="375" cy="654"/>
                <a:chOff x="672" y="2112"/>
                <a:chExt cx="384" cy="670"/>
              </a:xfrm>
            </p:grpSpPr>
            <p:grpSp>
              <p:nvGrpSpPr>
                <p:cNvPr id="40" name="Group 143">
                  <a:extLst>
                    <a:ext uri="{FF2B5EF4-FFF2-40B4-BE49-F238E27FC236}">
                      <a16:creationId xmlns:a16="http://schemas.microsoft.com/office/drawing/2014/main" id="{C29C499A-428B-A64B-EC38-BA14E5D5FB22}"/>
                    </a:ext>
                  </a:extLst>
                </p:cNvPr>
                <p:cNvGrpSpPr>
                  <a:grpSpLocks/>
                </p:cNvGrpSpPr>
                <p:nvPr/>
              </p:nvGrpSpPr>
              <p:grpSpPr bwMode="auto">
                <a:xfrm>
                  <a:off x="672" y="2112"/>
                  <a:ext cx="384" cy="432"/>
                  <a:chOff x="672" y="2064"/>
                  <a:chExt cx="384" cy="432"/>
                </a:xfrm>
              </p:grpSpPr>
              <p:sp>
                <p:nvSpPr>
                  <p:cNvPr id="42" name="Rectangle 144">
                    <a:extLst>
                      <a:ext uri="{FF2B5EF4-FFF2-40B4-BE49-F238E27FC236}">
                        <a16:creationId xmlns:a16="http://schemas.microsoft.com/office/drawing/2014/main" id="{B783A8D8-A438-AB8C-42B8-83DE6FD8B874}"/>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145">
                    <a:extLst>
                      <a:ext uri="{FF2B5EF4-FFF2-40B4-BE49-F238E27FC236}">
                        <a16:creationId xmlns:a16="http://schemas.microsoft.com/office/drawing/2014/main" id="{D3105FA3-EA54-BB6F-45C3-567CBCD290C7}"/>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146">
                    <a:extLst>
                      <a:ext uri="{FF2B5EF4-FFF2-40B4-BE49-F238E27FC236}">
                        <a16:creationId xmlns:a16="http://schemas.microsoft.com/office/drawing/2014/main" id="{BC765E83-C071-9F25-383D-AA2D2E9B1009}"/>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147">
                  <a:extLst>
                    <a:ext uri="{FF2B5EF4-FFF2-40B4-BE49-F238E27FC236}">
                      <a16:creationId xmlns:a16="http://schemas.microsoft.com/office/drawing/2014/main" id="{949619DA-DC54-AB9B-21DD-18E38B11C753}"/>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6" name="Group 148">
                <a:extLst>
                  <a:ext uri="{FF2B5EF4-FFF2-40B4-BE49-F238E27FC236}">
                    <a16:creationId xmlns:a16="http://schemas.microsoft.com/office/drawing/2014/main" id="{CB8E8B1C-FE96-65FA-ABAC-0E4F7DE7A58B}"/>
                  </a:ext>
                </a:extLst>
              </p:cNvPr>
              <p:cNvGrpSpPr>
                <a:grpSpLocks/>
              </p:cNvGrpSpPr>
              <p:nvPr/>
            </p:nvGrpSpPr>
            <p:grpSpPr bwMode="auto">
              <a:xfrm>
                <a:off x="3428" y="2221"/>
                <a:ext cx="375" cy="827"/>
                <a:chOff x="1584" y="2064"/>
                <a:chExt cx="384" cy="847"/>
              </a:xfrm>
            </p:grpSpPr>
            <p:grpSp>
              <p:nvGrpSpPr>
                <p:cNvPr id="34" name="Group 149">
                  <a:extLst>
                    <a:ext uri="{FF2B5EF4-FFF2-40B4-BE49-F238E27FC236}">
                      <a16:creationId xmlns:a16="http://schemas.microsoft.com/office/drawing/2014/main" id="{D8C00B37-9FD9-4B53-02FC-2F7EDD30BD2C}"/>
                    </a:ext>
                  </a:extLst>
                </p:cNvPr>
                <p:cNvGrpSpPr>
                  <a:grpSpLocks/>
                </p:cNvGrpSpPr>
                <p:nvPr/>
              </p:nvGrpSpPr>
              <p:grpSpPr bwMode="auto">
                <a:xfrm>
                  <a:off x="1584" y="2064"/>
                  <a:ext cx="384" cy="576"/>
                  <a:chOff x="1584" y="2064"/>
                  <a:chExt cx="384" cy="576"/>
                </a:xfrm>
              </p:grpSpPr>
              <p:sp>
                <p:nvSpPr>
                  <p:cNvPr id="36" name="Rectangle 150">
                    <a:extLst>
                      <a:ext uri="{FF2B5EF4-FFF2-40B4-BE49-F238E27FC236}">
                        <a16:creationId xmlns:a16="http://schemas.microsoft.com/office/drawing/2014/main" id="{29DF653D-3EAD-A093-F2A7-1ACC506AD7E0}"/>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Oval 151">
                    <a:extLst>
                      <a:ext uri="{FF2B5EF4-FFF2-40B4-BE49-F238E27FC236}">
                        <a16:creationId xmlns:a16="http://schemas.microsoft.com/office/drawing/2014/main" id="{84D6DCBF-2DF7-2639-B915-161EE77B9C7A}"/>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Oval 152">
                    <a:extLst>
                      <a:ext uri="{FF2B5EF4-FFF2-40B4-BE49-F238E27FC236}">
                        <a16:creationId xmlns:a16="http://schemas.microsoft.com/office/drawing/2014/main" id="{C622C105-CE93-E28F-27E1-D01DDC2F32C1}"/>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153">
                    <a:extLst>
                      <a:ext uri="{FF2B5EF4-FFF2-40B4-BE49-F238E27FC236}">
                        <a16:creationId xmlns:a16="http://schemas.microsoft.com/office/drawing/2014/main" id="{85B792D1-6E57-5DB7-A03C-F3FA84E2485D}"/>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5" name="Text Box 154">
                  <a:extLst>
                    <a:ext uri="{FF2B5EF4-FFF2-40B4-BE49-F238E27FC236}">
                      <a16:creationId xmlns:a16="http://schemas.microsoft.com/office/drawing/2014/main" id="{583581B2-D09B-37E3-1B4A-E6798FDE3144}"/>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27" name="Line 155">
                <a:extLst>
                  <a:ext uri="{FF2B5EF4-FFF2-40B4-BE49-F238E27FC236}">
                    <a16:creationId xmlns:a16="http://schemas.microsoft.com/office/drawing/2014/main" id="{F7C5D6E3-02F3-444F-5725-7F21A836A719}"/>
                  </a:ext>
                </a:extLst>
              </p:cNvPr>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8" name="Line 156">
                <a:extLst>
                  <a:ext uri="{FF2B5EF4-FFF2-40B4-BE49-F238E27FC236}">
                    <a16:creationId xmlns:a16="http://schemas.microsoft.com/office/drawing/2014/main" id="{F074E2D4-1334-61B0-DCCF-202900686F17}"/>
                  </a:ext>
                </a:extLst>
              </p:cNvPr>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9" name="Line 157">
                <a:extLst>
                  <a:ext uri="{FF2B5EF4-FFF2-40B4-BE49-F238E27FC236}">
                    <a16:creationId xmlns:a16="http://schemas.microsoft.com/office/drawing/2014/main" id="{BB6CBE07-E44E-96C3-ADF8-80F3854BC6DD}"/>
                  </a:ext>
                </a:extLst>
              </p:cNvPr>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0" name="Line 158">
                <a:extLst>
                  <a:ext uri="{FF2B5EF4-FFF2-40B4-BE49-F238E27FC236}">
                    <a16:creationId xmlns:a16="http://schemas.microsoft.com/office/drawing/2014/main" id="{24AD1138-A59B-E288-6343-38323109E168}"/>
                  </a:ext>
                </a:extLst>
              </p:cNvPr>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159">
                <a:extLst>
                  <a:ext uri="{FF2B5EF4-FFF2-40B4-BE49-F238E27FC236}">
                    <a16:creationId xmlns:a16="http://schemas.microsoft.com/office/drawing/2014/main" id="{3E77A553-9BAF-4A69-8479-FA64B748FC60}"/>
                  </a:ext>
                </a:extLst>
              </p:cNvPr>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2" name="Line 160">
                <a:extLst>
                  <a:ext uri="{FF2B5EF4-FFF2-40B4-BE49-F238E27FC236}">
                    <a16:creationId xmlns:a16="http://schemas.microsoft.com/office/drawing/2014/main" id="{99B3BF0A-9C20-4CA6-A6D1-012D86798970}"/>
                  </a:ext>
                </a:extLst>
              </p:cNvPr>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3" name="Line 195">
                <a:extLst>
                  <a:ext uri="{FF2B5EF4-FFF2-40B4-BE49-F238E27FC236}">
                    <a16:creationId xmlns:a16="http://schemas.microsoft.com/office/drawing/2014/main" id="{2A196EAE-BC94-9481-D8D3-0F35D80A6814}"/>
                  </a:ext>
                </a:extLst>
              </p:cNvPr>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3" name="Rectangle 52">
            <a:extLst>
              <a:ext uri="{FF2B5EF4-FFF2-40B4-BE49-F238E27FC236}">
                <a16:creationId xmlns:a16="http://schemas.microsoft.com/office/drawing/2014/main" id="{75CF303D-0235-EE26-6F42-FFEAB69EEFAB}"/>
              </a:ext>
            </a:extLst>
          </p:cNvPr>
          <p:cNvSpPr/>
          <p:nvPr/>
        </p:nvSpPr>
        <p:spPr bwMode="auto">
          <a:xfrm rot="2273811">
            <a:off x="10607183" y="2781004"/>
            <a:ext cx="144313" cy="435808"/>
          </a:xfrm>
          <a:prstGeom prst="rect">
            <a:avLst/>
          </a:prstGeom>
          <a:solidFill>
            <a:schemeClr val="bg1"/>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extLst>
      <p:ext uri="{BB962C8B-B14F-4D97-AF65-F5344CB8AC3E}">
        <p14:creationId xmlns:p14="http://schemas.microsoft.com/office/powerpoint/2010/main" val="7405195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F8B5-6578-D253-5E4F-41B85031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0DADC-3DCA-1338-D3EB-45125726F10C}"/>
              </a:ext>
            </a:extLst>
          </p:cNvPr>
          <p:cNvSpPr>
            <a:spLocks noGrp="1"/>
          </p:cNvSpPr>
          <p:nvPr>
            <p:ph type="title"/>
          </p:nvPr>
        </p:nvSpPr>
        <p:spPr/>
        <p:txBody>
          <a:bodyPr/>
          <a:lstStyle/>
          <a:p>
            <a:r>
              <a:rPr lang="en-GB" dirty="0"/>
              <a:t>(1) </a:t>
            </a:r>
            <a:r>
              <a:rPr lang="en-GB"/>
              <a:t>No Deadlock</a:t>
            </a:r>
            <a:endParaRPr lang="en-SE" dirty="0"/>
          </a:p>
        </p:txBody>
      </p:sp>
      <p:graphicFrame>
        <p:nvGraphicFramePr>
          <p:cNvPr id="6" name="Content Placeholder 5">
            <a:extLst>
              <a:ext uri="{FF2B5EF4-FFF2-40B4-BE49-F238E27FC236}">
                <a16:creationId xmlns:a16="http://schemas.microsoft.com/office/drawing/2014/main" id="{A2A19FF2-1DA1-92D8-EA48-D5EB242F62E9}"/>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F7BEB3D7-83F5-5ADF-9D4F-E1FEE0C7AA60}"/>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64022BDF-1C1A-B5D5-AB98-C9EB5A72FB44}"/>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CE92B319-0586-5F45-51BD-F546AB3FC137}"/>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EB56816D-C3DE-FA89-E23E-FE58229DE848}"/>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987AC1E4-3331-6E73-F2D0-30944BBAA416}"/>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92758FF1-CF71-2E9C-636D-2EDEF52E47F9}"/>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16" name="TextBox 15">
            <a:extLst>
              <a:ext uri="{FF2B5EF4-FFF2-40B4-BE49-F238E27FC236}">
                <a16:creationId xmlns:a16="http://schemas.microsoft.com/office/drawing/2014/main" id="{CE2E270C-D98F-7787-8879-89BF91836E93}"/>
              </a:ext>
            </a:extLst>
          </p:cNvPr>
          <p:cNvSpPr txBox="1"/>
          <p:nvPr/>
        </p:nvSpPr>
        <p:spPr>
          <a:xfrm>
            <a:off x="2300000" y="5450474"/>
            <a:ext cx="3377848" cy="400110"/>
          </a:xfrm>
          <a:prstGeom prst="rect">
            <a:avLst/>
          </a:prstGeom>
          <a:noFill/>
        </p:spPr>
        <p:txBody>
          <a:bodyPr wrap="none" rtlCol="0">
            <a:spAutoFit/>
          </a:bodyPr>
          <a:lstStyle/>
          <a:p>
            <a:r>
              <a:rPr lang="en-US" altLang="zh-CN" sz="2000" b="0" dirty="0">
                <a:solidFill>
                  <a:schemeClr val="dk1"/>
                </a:solidFill>
                <a:latin typeface="+mn-lt"/>
                <a:ea typeface="+mn-ea"/>
                <a:cs typeface="+mn-cs"/>
              </a:rPr>
              <a:t>Safe Sequence: T3, T2, T1</a:t>
            </a:r>
            <a:endParaRPr lang="en-GB" sz="2000" b="0" dirty="0">
              <a:solidFill>
                <a:schemeClr val="dk1"/>
              </a:solidFill>
              <a:latin typeface="+mn-lt"/>
              <a:ea typeface="+mn-ea"/>
              <a:cs typeface="+mn-cs"/>
            </a:endParaRPr>
          </a:p>
        </p:txBody>
      </p:sp>
      <p:graphicFrame>
        <p:nvGraphicFramePr>
          <p:cNvPr id="17" name="Content Placeholder 5">
            <a:extLst>
              <a:ext uri="{FF2B5EF4-FFF2-40B4-BE49-F238E27FC236}">
                <a16:creationId xmlns:a16="http://schemas.microsoft.com/office/drawing/2014/main" id="{C911E7B5-59D8-E4FE-0556-4BAD12916F60}"/>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4A9F75A4-A8E3-8A57-C685-1D6D66C901F7}"/>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8CB0CF7D-151E-4D43-2793-880F56FA1DE9}"/>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22" name="Group 256">
            <a:extLst>
              <a:ext uri="{FF2B5EF4-FFF2-40B4-BE49-F238E27FC236}">
                <a16:creationId xmlns:a16="http://schemas.microsoft.com/office/drawing/2014/main" id="{502A7E65-1115-8306-D3EE-9266087F6504}"/>
              </a:ext>
            </a:extLst>
          </p:cNvPr>
          <p:cNvGrpSpPr>
            <a:grpSpLocks/>
          </p:cNvGrpSpPr>
          <p:nvPr/>
        </p:nvGrpSpPr>
        <p:grpSpPr bwMode="auto">
          <a:xfrm>
            <a:off x="9225509" y="1519084"/>
            <a:ext cx="2782887" cy="3810000"/>
            <a:chOff x="39" y="624"/>
            <a:chExt cx="1753" cy="2400"/>
          </a:xfrm>
        </p:grpSpPr>
        <p:sp>
          <p:nvSpPr>
            <p:cNvPr id="24" name="Rectangle 198">
              <a:extLst>
                <a:ext uri="{FF2B5EF4-FFF2-40B4-BE49-F238E27FC236}">
                  <a16:creationId xmlns:a16="http://schemas.microsoft.com/office/drawing/2014/main" id="{36C36437-765C-35BF-27D1-787DD760CA1D}"/>
                </a:ext>
              </a:extLst>
            </p:cNvPr>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5" name="Group 255">
              <a:extLst>
                <a:ext uri="{FF2B5EF4-FFF2-40B4-BE49-F238E27FC236}">
                  <a16:creationId xmlns:a16="http://schemas.microsoft.com/office/drawing/2014/main" id="{2B8244FF-FB0E-58F8-899B-8C1B482D71A0}"/>
                </a:ext>
              </a:extLst>
            </p:cNvPr>
            <p:cNvGrpSpPr>
              <a:grpSpLocks/>
            </p:cNvGrpSpPr>
            <p:nvPr/>
          </p:nvGrpSpPr>
          <p:grpSpPr bwMode="auto">
            <a:xfrm>
              <a:off x="143" y="624"/>
              <a:ext cx="1546" cy="2232"/>
              <a:chOff x="143" y="624"/>
              <a:chExt cx="1546" cy="2232"/>
            </a:xfrm>
          </p:grpSpPr>
          <p:sp>
            <p:nvSpPr>
              <p:cNvPr id="26" name="Oval 6">
                <a:extLst>
                  <a:ext uri="{FF2B5EF4-FFF2-40B4-BE49-F238E27FC236}">
                    <a16:creationId xmlns:a16="http://schemas.microsoft.com/office/drawing/2014/main" id="{8E86E360-BDC9-E322-E08A-5A5C8CACF556}"/>
                  </a:ext>
                </a:extLst>
              </p:cNvPr>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7" name="Oval 7">
                <a:extLst>
                  <a:ext uri="{FF2B5EF4-FFF2-40B4-BE49-F238E27FC236}">
                    <a16:creationId xmlns:a16="http://schemas.microsoft.com/office/drawing/2014/main" id="{1EDC7918-9C8E-03AD-5420-626B64DBBBB4}"/>
                  </a:ext>
                </a:extLst>
              </p:cNvPr>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28" name="Oval 8">
                <a:extLst>
                  <a:ext uri="{FF2B5EF4-FFF2-40B4-BE49-F238E27FC236}">
                    <a16:creationId xmlns:a16="http://schemas.microsoft.com/office/drawing/2014/main" id="{EE3F91ED-8292-9269-C9A4-CA4C991762AD}"/>
                  </a:ext>
                </a:extLst>
              </p:cNvPr>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9" name="Group 47">
                <a:extLst>
                  <a:ext uri="{FF2B5EF4-FFF2-40B4-BE49-F238E27FC236}">
                    <a16:creationId xmlns:a16="http://schemas.microsoft.com/office/drawing/2014/main" id="{A6A7248E-02CD-4B06-9140-B3F8548FB003}"/>
                  </a:ext>
                </a:extLst>
              </p:cNvPr>
              <p:cNvGrpSpPr>
                <a:grpSpLocks/>
              </p:cNvGrpSpPr>
              <p:nvPr/>
            </p:nvGrpSpPr>
            <p:grpSpPr bwMode="auto">
              <a:xfrm>
                <a:off x="330" y="624"/>
                <a:ext cx="375" cy="555"/>
                <a:chOff x="576" y="432"/>
                <a:chExt cx="384" cy="569"/>
              </a:xfrm>
            </p:grpSpPr>
            <p:grpSp>
              <p:nvGrpSpPr>
                <p:cNvPr id="55" name="Group 37">
                  <a:extLst>
                    <a:ext uri="{FF2B5EF4-FFF2-40B4-BE49-F238E27FC236}">
                      <a16:creationId xmlns:a16="http://schemas.microsoft.com/office/drawing/2014/main" id="{8C878654-7F01-431C-0FC8-0401D3F3754F}"/>
                    </a:ext>
                  </a:extLst>
                </p:cNvPr>
                <p:cNvGrpSpPr>
                  <a:grpSpLocks/>
                </p:cNvGrpSpPr>
                <p:nvPr/>
              </p:nvGrpSpPr>
              <p:grpSpPr bwMode="auto">
                <a:xfrm>
                  <a:off x="576" y="665"/>
                  <a:ext cx="384" cy="336"/>
                  <a:chOff x="1680" y="816"/>
                  <a:chExt cx="384" cy="336"/>
                </a:xfrm>
              </p:grpSpPr>
              <p:sp>
                <p:nvSpPr>
                  <p:cNvPr id="57" name="Rectangle 38">
                    <a:extLst>
                      <a:ext uri="{FF2B5EF4-FFF2-40B4-BE49-F238E27FC236}">
                        <a16:creationId xmlns:a16="http://schemas.microsoft.com/office/drawing/2014/main" id="{8A77BCE4-34F2-F76B-87BB-FF51571F04F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8" name="Oval 39">
                    <a:extLst>
                      <a:ext uri="{FF2B5EF4-FFF2-40B4-BE49-F238E27FC236}">
                        <a16:creationId xmlns:a16="http://schemas.microsoft.com/office/drawing/2014/main" id="{819970A9-E2C0-9D1F-B0D7-6613C51683AA}"/>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6" name="Text Box 40">
                  <a:extLst>
                    <a:ext uri="{FF2B5EF4-FFF2-40B4-BE49-F238E27FC236}">
                      <a16:creationId xmlns:a16="http://schemas.microsoft.com/office/drawing/2014/main" id="{B1B0F546-3A67-2035-52C2-813B5F35A70D}"/>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30" name="Group 48">
                <a:extLst>
                  <a:ext uri="{FF2B5EF4-FFF2-40B4-BE49-F238E27FC236}">
                    <a16:creationId xmlns:a16="http://schemas.microsoft.com/office/drawing/2014/main" id="{D1FE104F-C335-9AC7-AA9A-F1CB122D5FCE}"/>
                  </a:ext>
                </a:extLst>
              </p:cNvPr>
              <p:cNvGrpSpPr>
                <a:grpSpLocks/>
              </p:cNvGrpSpPr>
              <p:nvPr/>
            </p:nvGrpSpPr>
            <p:grpSpPr bwMode="auto">
              <a:xfrm>
                <a:off x="1033" y="624"/>
                <a:ext cx="375" cy="562"/>
                <a:chOff x="1392" y="432"/>
                <a:chExt cx="384" cy="576"/>
              </a:xfrm>
            </p:grpSpPr>
            <p:grpSp>
              <p:nvGrpSpPr>
                <p:cNvPr id="51" name="Group 36">
                  <a:extLst>
                    <a:ext uri="{FF2B5EF4-FFF2-40B4-BE49-F238E27FC236}">
                      <a16:creationId xmlns:a16="http://schemas.microsoft.com/office/drawing/2014/main" id="{4751325D-B98F-6A5D-4E6D-FB19FE52CD5D}"/>
                    </a:ext>
                  </a:extLst>
                </p:cNvPr>
                <p:cNvGrpSpPr>
                  <a:grpSpLocks/>
                </p:cNvGrpSpPr>
                <p:nvPr/>
              </p:nvGrpSpPr>
              <p:grpSpPr bwMode="auto">
                <a:xfrm>
                  <a:off x="1392" y="672"/>
                  <a:ext cx="384" cy="336"/>
                  <a:chOff x="1680" y="816"/>
                  <a:chExt cx="384" cy="336"/>
                </a:xfrm>
              </p:grpSpPr>
              <p:sp>
                <p:nvSpPr>
                  <p:cNvPr id="53" name="Rectangle 24">
                    <a:extLst>
                      <a:ext uri="{FF2B5EF4-FFF2-40B4-BE49-F238E27FC236}">
                        <a16:creationId xmlns:a16="http://schemas.microsoft.com/office/drawing/2014/main" id="{06E59691-CE3D-D199-56F8-51974A5CD1A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4" name="Oval 34">
                    <a:extLst>
                      <a:ext uri="{FF2B5EF4-FFF2-40B4-BE49-F238E27FC236}">
                        <a16:creationId xmlns:a16="http://schemas.microsoft.com/office/drawing/2014/main" id="{24897B62-9374-160C-861B-E47177E741E4}"/>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 name="Text Box 41">
                  <a:extLst>
                    <a:ext uri="{FF2B5EF4-FFF2-40B4-BE49-F238E27FC236}">
                      <a16:creationId xmlns:a16="http://schemas.microsoft.com/office/drawing/2014/main" id="{59FE8C04-D0FA-8E3D-0750-790ABAE0D7D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31" name="Group 46">
                <a:extLst>
                  <a:ext uri="{FF2B5EF4-FFF2-40B4-BE49-F238E27FC236}">
                    <a16:creationId xmlns:a16="http://schemas.microsoft.com/office/drawing/2014/main" id="{CD5D9A7B-1E17-769F-66C8-C2174274F29C}"/>
                  </a:ext>
                </a:extLst>
              </p:cNvPr>
              <p:cNvGrpSpPr>
                <a:grpSpLocks/>
              </p:cNvGrpSpPr>
              <p:nvPr/>
            </p:nvGrpSpPr>
            <p:grpSpPr bwMode="auto">
              <a:xfrm>
                <a:off x="471" y="2029"/>
                <a:ext cx="375" cy="654"/>
                <a:chOff x="672" y="2112"/>
                <a:chExt cx="384" cy="670"/>
              </a:xfrm>
            </p:grpSpPr>
            <p:grpSp>
              <p:nvGrpSpPr>
                <p:cNvPr id="46" name="Group 30">
                  <a:extLst>
                    <a:ext uri="{FF2B5EF4-FFF2-40B4-BE49-F238E27FC236}">
                      <a16:creationId xmlns:a16="http://schemas.microsoft.com/office/drawing/2014/main" id="{92E00D01-E0C2-07E2-E758-1F21CD5FF023}"/>
                    </a:ext>
                  </a:extLst>
                </p:cNvPr>
                <p:cNvGrpSpPr>
                  <a:grpSpLocks/>
                </p:cNvGrpSpPr>
                <p:nvPr/>
              </p:nvGrpSpPr>
              <p:grpSpPr bwMode="auto">
                <a:xfrm>
                  <a:off x="672" y="2112"/>
                  <a:ext cx="384" cy="432"/>
                  <a:chOff x="672" y="2064"/>
                  <a:chExt cx="384" cy="432"/>
                </a:xfrm>
              </p:grpSpPr>
              <p:sp>
                <p:nvSpPr>
                  <p:cNvPr id="48" name="Rectangle 9">
                    <a:extLst>
                      <a:ext uri="{FF2B5EF4-FFF2-40B4-BE49-F238E27FC236}">
                        <a16:creationId xmlns:a16="http://schemas.microsoft.com/office/drawing/2014/main" id="{55D3DE44-8B0B-E572-A2D1-D0B11550865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9" name="Oval 12">
                    <a:extLst>
                      <a:ext uri="{FF2B5EF4-FFF2-40B4-BE49-F238E27FC236}">
                        <a16:creationId xmlns:a16="http://schemas.microsoft.com/office/drawing/2014/main" id="{1D037662-B81B-9CF1-67A4-9B90D518A411}"/>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0" name="Oval 26">
                    <a:extLst>
                      <a:ext uri="{FF2B5EF4-FFF2-40B4-BE49-F238E27FC236}">
                        <a16:creationId xmlns:a16="http://schemas.microsoft.com/office/drawing/2014/main" id="{92B710C7-D7A1-FAD1-4972-B52C4DB5B261}"/>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7" name="Text Box 42">
                  <a:extLst>
                    <a:ext uri="{FF2B5EF4-FFF2-40B4-BE49-F238E27FC236}">
                      <a16:creationId xmlns:a16="http://schemas.microsoft.com/office/drawing/2014/main" id="{C3840BCE-F920-EC7A-3FE6-454E6B9FA414}"/>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32" name="Group 45">
                <a:extLst>
                  <a:ext uri="{FF2B5EF4-FFF2-40B4-BE49-F238E27FC236}">
                    <a16:creationId xmlns:a16="http://schemas.microsoft.com/office/drawing/2014/main" id="{6C2A1A1E-DC2C-ED8F-22D8-496E6083AB1E}"/>
                  </a:ext>
                </a:extLst>
              </p:cNvPr>
              <p:cNvGrpSpPr>
                <a:grpSpLocks/>
              </p:cNvGrpSpPr>
              <p:nvPr/>
            </p:nvGrpSpPr>
            <p:grpSpPr bwMode="auto">
              <a:xfrm>
                <a:off x="1267" y="2029"/>
                <a:ext cx="375" cy="827"/>
                <a:chOff x="1584" y="2064"/>
                <a:chExt cx="384" cy="847"/>
              </a:xfrm>
            </p:grpSpPr>
            <p:grpSp>
              <p:nvGrpSpPr>
                <p:cNvPr id="40" name="Group 35">
                  <a:extLst>
                    <a:ext uri="{FF2B5EF4-FFF2-40B4-BE49-F238E27FC236}">
                      <a16:creationId xmlns:a16="http://schemas.microsoft.com/office/drawing/2014/main" id="{178E3CE4-15E8-C871-7F1A-A9B0A3AEE1DD}"/>
                    </a:ext>
                  </a:extLst>
                </p:cNvPr>
                <p:cNvGrpSpPr>
                  <a:grpSpLocks/>
                </p:cNvGrpSpPr>
                <p:nvPr/>
              </p:nvGrpSpPr>
              <p:grpSpPr bwMode="auto">
                <a:xfrm>
                  <a:off x="1584" y="2064"/>
                  <a:ext cx="384" cy="576"/>
                  <a:chOff x="1584" y="2064"/>
                  <a:chExt cx="384" cy="576"/>
                </a:xfrm>
              </p:grpSpPr>
              <p:sp>
                <p:nvSpPr>
                  <p:cNvPr id="42" name="Rectangle 10">
                    <a:extLst>
                      <a:ext uri="{FF2B5EF4-FFF2-40B4-BE49-F238E27FC236}">
                        <a16:creationId xmlns:a16="http://schemas.microsoft.com/office/drawing/2014/main" id="{9B79F82B-2935-8132-B5D3-6A7B214D6593}"/>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29">
                    <a:extLst>
                      <a:ext uri="{FF2B5EF4-FFF2-40B4-BE49-F238E27FC236}">
                        <a16:creationId xmlns:a16="http://schemas.microsoft.com/office/drawing/2014/main" id="{A227A023-689E-5FD1-B776-55548DAFCBB0}"/>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31">
                    <a:extLst>
                      <a:ext uri="{FF2B5EF4-FFF2-40B4-BE49-F238E27FC236}">
                        <a16:creationId xmlns:a16="http://schemas.microsoft.com/office/drawing/2014/main" id="{265128B8-1296-35D2-D145-3455DA86CDEF}"/>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5" name="Oval 32">
                    <a:extLst>
                      <a:ext uri="{FF2B5EF4-FFF2-40B4-BE49-F238E27FC236}">
                        <a16:creationId xmlns:a16="http://schemas.microsoft.com/office/drawing/2014/main" id="{CE4BC3F0-7A5E-D25B-D35C-6C36180D2204}"/>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43">
                  <a:extLst>
                    <a:ext uri="{FF2B5EF4-FFF2-40B4-BE49-F238E27FC236}">
                      <a16:creationId xmlns:a16="http://schemas.microsoft.com/office/drawing/2014/main" id="{725C80E7-D0F4-83AC-44CA-10940AC81D26}"/>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33" name="Line 49">
                <a:extLst>
                  <a:ext uri="{FF2B5EF4-FFF2-40B4-BE49-F238E27FC236}">
                    <a16:creationId xmlns:a16="http://schemas.microsoft.com/office/drawing/2014/main" id="{15608ECD-FF19-EAF4-426E-586CF5197D61}"/>
                  </a:ext>
                </a:extLst>
              </p:cNvPr>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4" name="Line 50">
                <a:extLst>
                  <a:ext uri="{FF2B5EF4-FFF2-40B4-BE49-F238E27FC236}">
                    <a16:creationId xmlns:a16="http://schemas.microsoft.com/office/drawing/2014/main" id="{E96A8B6F-ED45-009A-7EA3-DE6A71D040DD}"/>
                  </a:ext>
                </a:extLst>
              </p:cNvPr>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5" name="Line 51">
                <a:extLst>
                  <a:ext uri="{FF2B5EF4-FFF2-40B4-BE49-F238E27FC236}">
                    <a16:creationId xmlns:a16="http://schemas.microsoft.com/office/drawing/2014/main" id="{C005FD05-D167-8CF9-4BCA-6052CD0B78F7}"/>
                  </a:ext>
                </a:extLst>
              </p:cNvPr>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6" name="Line 58">
                <a:extLst>
                  <a:ext uri="{FF2B5EF4-FFF2-40B4-BE49-F238E27FC236}">
                    <a16:creationId xmlns:a16="http://schemas.microsoft.com/office/drawing/2014/main" id="{A634B1C6-3B12-8F6C-8968-6DB89D9E10C6}"/>
                  </a:ext>
                </a:extLst>
              </p:cNvPr>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Line 59">
                <a:extLst>
                  <a:ext uri="{FF2B5EF4-FFF2-40B4-BE49-F238E27FC236}">
                    <a16:creationId xmlns:a16="http://schemas.microsoft.com/office/drawing/2014/main" id="{FDFFDDB2-F9D3-0828-8628-55C5F7AFEA88}"/>
                  </a:ext>
                </a:extLst>
              </p:cNvPr>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Line 60">
                <a:extLst>
                  <a:ext uri="{FF2B5EF4-FFF2-40B4-BE49-F238E27FC236}">
                    <a16:creationId xmlns:a16="http://schemas.microsoft.com/office/drawing/2014/main" id="{E879363F-2E5B-B384-8027-BCFDC0BC95A5}"/>
                  </a:ext>
                </a:extLst>
              </p:cNvPr>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Line 250">
                <a:extLst>
                  <a:ext uri="{FF2B5EF4-FFF2-40B4-BE49-F238E27FC236}">
                    <a16:creationId xmlns:a16="http://schemas.microsoft.com/office/drawing/2014/main" id="{C2EBE246-A51C-7B6F-4C6A-1080DF67E910}"/>
                  </a:ext>
                </a:extLst>
              </p:cNvPr>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aphicFrame>
        <p:nvGraphicFramePr>
          <p:cNvPr id="3" name="Content Placeholder 5">
            <a:extLst>
              <a:ext uri="{FF2B5EF4-FFF2-40B4-BE49-F238E27FC236}">
                <a16:creationId xmlns:a16="http://schemas.microsoft.com/office/drawing/2014/main" id="{6D328820-49E3-C3FC-CCC6-3BAC32D490AC}"/>
              </a:ext>
            </a:extLst>
          </p:cNvPr>
          <p:cNvGraphicFramePr>
            <a:graphicFrameLocks/>
          </p:cNvGraphicFramePr>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7" name="TextBox 6">
            <a:extLst>
              <a:ext uri="{FF2B5EF4-FFF2-40B4-BE49-F238E27FC236}">
                <a16:creationId xmlns:a16="http://schemas.microsoft.com/office/drawing/2014/main" id="{DAEBDBC6-4FA8-FE20-F780-F5BEB4B2C332}"/>
              </a:ext>
            </a:extLst>
          </p:cNvPr>
          <p:cNvSpPr txBox="1"/>
          <p:nvPr/>
        </p:nvSpPr>
        <p:spPr>
          <a:xfrm>
            <a:off x="6808472" y="36896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extLst>
      <p:ext uri="{BB962C8B-B14F-4D97-AF65-F5344CB8AC3E}">
        <p14:creationId xmlns:p14="http://schemas.microsoft.com/office/powerpoint/2010/main" val="179799264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07C2-AF29-B03A-E6A6-9CAE5F5E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C23E-586F-DDDF-60F8-BAB18B89FB33}"/>
              </a:ext>
            </a:extLst>
          </p:cNvPr>
          <p:cNvSpPr>
            <a:spLocks noGrp="1"/>
          </p:cNvSpPr>
          <p:nvPr>
            <p:ph type="title"/>
          </p:nvPr>
        </p:nvSpPr>
        <p:spPr/>
        <p:txBody>
          <a:bodyPr/>
          <a:lstStyle/>
          <a:p>
            <a:r>
              <a:rPr lang="en-GB" dirty="0"/>
              <a:t>Scheduling with Bursts I</a:t>
            </a:r>
            <a:endParaRPr lang="en-SE" dirty="0"/>
          </a:p>
        </p:txBody>
      </p:sp>
      <p:sp>
        <p:nvSpPr>
          <p:cNvPr id="3" name="Content Placeholder 2">
            <a:extLst>
              <a:ext uri="{FF2B5EF4-FFF2-40B4-BE49-F238E27FC236}">
                <a16:creationId xmlns:a16="http://schemas.microsoft.com/office/drawing/2014/main" id="{A8E39957-29B2-6ADC-3302-9BAC7F0D973A}"/>
              </a:ext>
            </a:extLst>
          </p:cNvPr>
          <p:cNvSpPr>
            <a:spLocks noGrp="1"/>
          </p:cNvSpPr>
          <p:nvPr>
            <p:ph idx="1"/>
          </p:nvPr>
        </p:nvSpPr>
        <p:spPr>
          <a:xfrm>
            <a:off x="812800" y="762000"/>
            <a:ext cx="10566400" cy="3200400"/>
          </a:xfrm>
        </p:spPr>
        <p:txBody>
          <a:bodyPr>
            <a:normAutofit lnSpcReduction="10000"/>
          </a:bodyPr>
          <a:lstStyle/>
          <a:p>
            <a:r>
              <a:rPr lang="en-GB" dirty="0"/>
              <a:t>*** Consider the set of 2 processes whose arrival time and CPU/IO burst times are given below. For each scheduling algorithm (FCFS, SJF, SRTF, RR, Fixed-Priority (FP)), draw the Gantt chart by filling in the table with the PID that runs in each time slot, and calculate the response time for each process, and the average response time. For FP scheduling, assign P2 (PID 2) higher priority than P1 (PID 1). If a time slot is idle with no active process executing, then fill in X. (Except for any possible idle time slots at the end of schedule, leave them empty and do not fill in X.)</a:t>
            </a:r>
            <a:endParaRPr lang="en-SE" dirty="0"/>
          </a:p>
        </p:txBody>
      </p:sp>
      <p:graphicFrame>
        <p:nvGraphicFramePr>
          <p:cNvPr id="10" name="表格 6">
            <a:extLst>
              <a:ext uri="{FF2B5EF4-FFF2-40B4-BE49-F238E27FC236}">
                <a16:creationId xmlns:a16="http://schemas.microsoft.com/office/drawing/2014/main" id="{3AB098DD-6121-4D30-086B-9EE5B62900C5}"/>
              </a:ext>
            </a:extLst>
          </p:cNvPr>
          <p:cNvGraphicFramePr>
            <a:graphicFrameLocks noGrp="1"/>
          </p:cNvGraphicFramePr>
          <p:nvPr>
            <p:extLst>
              <p:ext uri="{D42A27DB-BD31-4B8C-83A1-F6EECF244321}">
                <p14:modId xmlns:p14="http://schemas.microsoft.com/office/powerpoint/2010/main" val="4174776933"/>
              </p:ext>
            </p:extLst>
          </p:nvPr>
        </p:nvGraphicFramePr>
        <p:xfrm>
          <a:off x="812800" y="4038600"/>
          <a:ext cx="10696101" cy="2011680"/>
        </p:xfrm>
        <a:graphic>
          <a:graphicData uri="http://schemas.openxmlformats.org/drawingml/2006/table">
            <a:tbl>
              <a:tblPr firstRow="1" bandRow="1">
                <a:tableStyleId>{5940675A-B579-460E-94D1-54222C63F5DA}</a:tableStyleId>
              </a:tblPr>
              <a:tblGrid>
                <a:gridCol w="725174">
                  <a:extLst>
                    <a:ext uri="{9D8B030D-6E8A-4147-A177-3AD203B41FA5}">
                      <a16:colId xmlns:a16="http://schemas.microsoft.com/office/drawing/2014/main" val="3897766631"/>
                    </a:ext>
                  </a:extLst>
                </a:gridCol>
                <a:gridCol w="873393">
                  <a:extLst>
                    <a:ext uri="{9D8B030D-6E8A-4147-A177-3AD203B41FA5}">
                      <a16:colId xmlns:a16="http://schemas.microsoft.com/office/drawing/2014/main" val="3306942541"/>
                    </a:ext>
                  </a:extLst>
                </a:gridCol>
                <a:gridCol w="873393">
                  <a:extLst>
                    <a:ext uri="{9D8B030D-6E8A-4147-A177-3AD203B41FA5}">
                      <a16:colId xmlns:a16="http://schemas.microsoft.com/office/drawing/2014/main" val="3517187588"/>
                    </a:ext>
                  </a:extLst>
                </a:gridCol>
                <a:gridCol w="873393">
                  <a:extLst>
                    <a:ext uri="{9D8B030D-6E8A-4147-A177-3AD203B41FA5}">
                      <a16:colId xmlns:a16="http://schemas.microsoft.com/office/drawing/2014/main" val="2248621"/>
                    </a:ext>
                  </a:extLst>
                </a:gridCol>
                <a:gridCol w="873393">
                  <a:extLst>
                    <a:ext uri="{9D8B030D-6E8A-4147-A177-3AD203B41FA5}">
                      <a16:colId xmlns:a16="http://schemas.microsoft.com/office/drawing/2014/main" val="2712044097"/>
                    </a:ext>
                  </a:extLst>
                </a:gridCol>
                <a:gridCol w="1295471">
                  <a:extLst>
                    <a:ext uri="{9D8B030D-6E8A-4147-A177-3AD203B41FA5}">
                      <a16:colId xmlns:a16="http://schemas.microsoft.com/office/drawing/2014/main" val="3323698870"/>
                    </a:ext>
                  </a:extLst>
                </a:gridCol>
                <a:gridCol w="1295471">
                  <a:extLst>
                    <a:ext uri="{9D8B030D-6E8A-4147-A177-3AD203B41FA5}">
                      <a16:colId xmlns:a16="http://schemas.microsoft.com/office/drawing/2014/main" val="3121262138"/>
                    </a:ext>
                  </a:extLst>
                </a:gridCol>
                <a:gridCol w="1295471">
                  <a:extLst>
                    <a:ext uri="{9D8B030D-6E8A-4147-A177-3AD203B41FA5}">
                      <a16:colId xmlns:a16="http://schemas.microsoft.com/office/drawing/2014/main" val="2066430354"/>
                    </a:ext>
                  </a:extLst>
                </a:gridCol>
                <a:gridCol w="1295471">
                  <a:extLst>
                    <a:ext uri="{9D8B030D-6E8A-4147-A177-3AD203B41FA5}">
                      <a16:colId xmlns:a16="http://schemas.microsoft.com/office/drawing/2014/main" val="2713544356"/>
                    </a:ext>
                  </a:extLst>
                </a:gridCol>
                <a:gridCol w="1295471">
                  <a:extLst>
                    <a:ext uri="{9D8B030D-6E8A-4147-A177-3AD203B41FA5}">
                      <a16:colId xmlns:a16="http://schemas.microsoft.com/office/drawing/2014/main" val="2313460819"/>
                    </a:ext>
                  </a:extLst>
                </a:gridCol>
              </a:tblGrid>
              <a:tr h="32441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2434307852"/>
                  </a:ext>
                </a:extLst>
              </a:tr>
              <a:tr h="32441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3998952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4865C-55C7-E2F8-F9EE-8D982E4E0180}"/>
              </a:ext>
            </a:extLst>
          </p:cNvPr>
          <p:cNvSpPr>
            <a:spLocks noGrp="1"/>
          </p:cNvSpPr>
          <p:nvPr>
            <p:ph type="title"/>
          </p:nvPr>
        </p:nvSpPr>
        <p:spPr/>
        <p:txBody>
          <a:bodyPr/>
          <a:lstStyle/>
          <a:p>
            <a:r>
              <a:t>Scheduling with Bursts I: Gantt Chart</a:t>
            </a:r>
            <a:endParaRPr lang="en-SE"/>
          </a:p>
        </p:txBody>
      </p:sp>
      <p:graphicFrame>
        <p:nvGraphicFramePr>
          <p:cNvPr id="4" name="Table 3">
            <a:extLst>
              <a:ext uri="{FF2B5EF4-FFF2-40B4-BE49-F238E27FC236}">
                <a16:creationId xmlns:a16="http://schemas.microsoft.com/office/drawing/2014/main" id="{E148A4C6-15C8-6DFC-F787-BA053506160C}"/>
              </a:ext>
            </a:extLst>
          </p:cNvPr>
          <p:cNvGraphicFramePr>
            <a:graphicFrameLocks noGrp="1"/>
          </p:cNvGraphicFramePr>
          <p:nvPr>
            <p:extLst>
              <p:ext uri="{D42A27DB-BD31-4B8C-83A1-F6EECF244321}">
                <p14:modId xmlns:p14="http://schemas.microsoft.com/office/powerpoint/2010/main" val="3408800204"/>
              </p:ext>
            </p:extLst>
          </p:nvPr>
        </p:nvGraphicFramePr>
        <p:xfrm>
          <a:off x="3048000" y="3581400"/>
          <a:ext cx="6959328"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graphicFrame>
        <p:nvGraphicFramePr>
          <p:cNvPr id="5" name="Table 4">
            <a:extLst>
              <a:ext uri="{FF2B5EF4-FFF2-40B4-BE49-F238E27FC236}">
                <a16:creationId xmlns:a16="http://schemas.microsoft.com/office/drawing/2014/main" id="{48AC886F-2AFB-5E25-E80B-8EE39267DE4E}"/>
              </a:ext>
            </a:extLst>
          </p:cNvPr>
          <p:cNvGraphicFramePr>
            <a:graphicFrameLocks noGrp="1"/>
          </p:cNvGraphicFramePr>
          <p:nvPr>
            <p:extLst>
              <p:ext uri="{D42A27DB-BD31-4B8C-83A1-F6EECF244321}">
                <p14:modId xmlns:p14="http://schemas.microsoft.com/office/powerpoint/2010/main" val="2609088271"/>
              </p:ext>
            </p:extLst>
          </p:nvPr>
        </p:nvGraphicFramePr>
        <p:xfrm>
          <a:off x="2808642" y="541788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6" name="Content Placeholder 2">
            <a:extLst>
              <a:ext uri="{FF2B5EF4-FFF2-40B4-BE49-F238E27FC236}">
                <a16:creationId xmlns:a16="http://schemas.microsoft.com/office/drawing/2014/main" id="{57C9F63A-CD23-8F9A-714B-D83CE56F4732}"/>
              </a:ext>
            </a:extLst>
          </p:cNvPr>
          <p:cNvSpPr txBox="1">
            <a:spLocks/>
          </p:cNvSpPr>
          <p:nvPr/>
        </p:nvSpPr>
        <p:spPr bwMode="auto">
          <a:xfrm>
            <a:off x="5852101" y="5788724"/>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cxnSp>
        <p:nvCxnSpPr>
          <p:cNvPr id="7" name="Straight Arrow Connector 6">
            <a:extLst>
              <a:ext uri="{FF2B5EF4-FFF2-40B4-BE49-F238E27FC236}">
                <a16:creationId xmlns:a16="http://schemas.microsoft.com/office/drawing/2014/main" id="{CB549D46-4D23-3447-D059-021D6632B749}"/>
              </a:ext>
            </a:extLst>
          </p:cNvPr>
          <p:cNvCxnSpPr>
            <a:cxnSpLocks/>
          </p:cNvCxnSpPr>
          <p:nvPr/>
        </p:nvCxnSpPr>
        <p:spPr bwMode="auto">
          <a:xfrm flipV="1">
            <a:off x="3946943" y="575075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10D17317-F6FC-5B8A-29BC-20694BB9C116}"/>
              </a:ext>
            </a:extLst>
          </p:cNvPr>
          <p:cNvSpPr txBox="1"/>
          <p:nvPr/>
        </p:nvSpPr>
        <p:spPr>
          <a:xfrm>
            <a:off x="3409534" y="61825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9" name="Straight Arrow Connector 8">
            <a:extLst>
              <a:ext uri="{FF2B5EF4-FFF2-40B4-BE49-F238E27FC236}">
                <a16:creationId xmlns:a16="http://schemas.microsoft.com/office/drawing/2014/main" id="{A56D0272-BDD4-9C7F-FC42-BA1B1CB93495}"/>
              </a:ext>
            </a:extLst>
          </p:cNvPr>
          <p:cNvCxnSpPr>
            <a:cxnSpLocks/>
          </p:cNvCxnSpPr>
          <p:nvPr/>
        </p:nvCxnSpPr>
        <p:spPr bwMode="auto">
          <a:xfrm flipV="1">
            <a:off x="4419600" y="577342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1BDF41F2-31AE-4CF4-BC77-9C4D421E0142}"/>
              </a:ext>
            </a:extLst>
          </p:cNvPr>
          <p:cNvSpPr txBox="1"/>
          <p:nvPr/>
        </p:nvSpPr>
        <p:spPr>
          <a:xfrm>
            <a:off x="3946943" y="593692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spTree>
    <p:extLst>
      <p:ext uri="{BB962C8B-B14F-4D97-AF65-F5344CB8AC3E}">
        <p14:creationId xmlns:p14="http://schemas.microsoft.com/office/powerpoint/2010/main" val="36270872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1B59-79DC-106C-228B-EBE81B0F2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0F62E-1AB9-3B3E-5F25-073059F42A49}"/>
              </a:ext>
            </a:extLst>
          </p:cNvPr>
          <p:cNvSpPr>
            <a:spLocks noGrp="1"/>
          </p:cNvSpPr>
          <p:nvPr>
            <p:ph type="title"/>
          </p:nvPr>
        </p:nvSpPr>
        <p:spPr/>
        <p:txBody>
          <a:bodyPr/>
          <a:lstStyle/>
          <a:p>
            <a:r>
              <a:rPr lang="en-GB" dirty="0"/>
              <a:t>Scheduling with Bursts I ANS</a:t>
            </a:r>
            <a:endParaRPr lang="en-SE" dirty="0"/>
          </a:p>
        </p:txBody>
      </p:sp>
      <p:graphicFrame>
        <p:nvGraphicFramePr>
          <p:cNvPr id="11" name="Table 10">
            <a:extLst>
              <a:ext uri="{FF2B5EF4-FFF2-40B4-BE49-F238E27FC236}">
                <a16:creationId xmlns:a16="http://schemas.microsoft.com/office/drawing/2014/main" id="{08A073DF-4025-206A-D5DC-C709D3ED570D}"/>
              </a:ext>
            </a:extLst>
          </p:cNvPr>
          <p:cNvGraphicFramePr>
            <a:graphicFrameLocks noGrp="1"/>
          </p:cNvGraphicFramePr>
          <p:nvPr>
            <p:extLst>
              <p:ext uri="{D42A27DB-BD31-4B8C-83A1-F6EECF244321}">
                <p14:modId xmlns:p14="http://schemas.microsoft.com/office/powerpoint/2010/main" val="2882459615"/>
              </p:ext>
            </p:extLst>
          </p:nvPr>
        </p:nvGraphicFramePr>
        <p:xfrm>
          <a:off x="3048000" y="3581400"/>
          <a:ext cx="6959328"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graphicFrame>
        <p:nvGraphicFramePr>
          <p:cNvPr id="12" name="Table 11">
            <a:extLst>
              <a:ext uri="{FF2B5EF4-FFF2-40B4-BE49-F238E27FC236}">
                <a16:creationId xmlns:a16="http://schemas.microsoft.com/office/drawing/2014/main" id="{CE3DD9EB-FD58-16F2-EAEA-34E94188869C}"/>
              </a:ext>
            </a:extLst>
          </p:cNvPr>
          <p:cNvGraphicFramePr>
            <a:graphicFrameLocks noGrp="1"/>
          </p:cNvGraphicFramePr>
          <p:nvPr>
            <p:extLst>
              <p:ext uri="{D42A27DB-BD31-4B8C-83A1-F6EECF244321}">
                <p14:modId xmlns:p14="http://schemas.microsoft.com/office/powerpoint/2010/main" val="83211450"/>
              </p:ext>
            </p:extLst>
          </p:nvPr>
        </p:nvGraphicFramePr>
        <p:xfrm>
          <a:off x="2808642" y="541788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14" name="Content Placeholder 2">
            <a:extLst>
              <a:ext uri="{FF2B5EF4-FFF2-40B4-BE49-F238E27FC236}">
                <a16:creationId xmlns:a16="http://schemas.microsoft.com/office/drawing/2014/main" id="{140245B2-C716-41B6-DE74-93781D131C08}"/>
              </a:ext>
            </a:extLst>
          </p:cNvPr>
          <p:cNvSpPr txBox="1">
            <a:spLocks/>
          </p:cNvSpPr>
          <p:nvPr/>
        </p:nvSpPr>
        <p:spPr bwMode="auto">
          <a:xfrm>
            <a:off x="5852101" y="5788724"/>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cxnSp>
        <p:nvCxnSpPr>
          <p:cNvPr id="16" name="Straight Arrow Connector 15">
            <a:extLst>
              <a:ext uri="{FF2B5EF4-FFF2-40B4-BE49-F238E27FC236}">
                <a16:creationId xmlns:a16="http://schemas.microsoft.com/office/drawing/2014/main" id="{AC2421C8-7F16-690E-6F33-C5FB694F87C4}"/>
              </a:ext>
            </a:extLst>
          </p:cNvPr>
          <p:cNvCxnSpPr>
            <a:cxnSpLocks/>
          </p:cNvCxnSpPr>
          <p:nvPr/>
        </p:nvCxnSpPr>
        <p:spPr bwMode="auto">
          <a:xfrm flipV="1">
            <a:off x="3946943" y="575075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A1F66878-48C8-438C-CFA8-D5ECC1A05865}"/>
              </a:ext>
            </a:extLst>
          </p:cNvPr>
          <p:cNvSpPr txBox="1"/>
          <p:nvPr/>
        </p:nvSpPr>
        <p:spPr>
          <a:xfrm>
            <a:off x="3409534" y="61825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A7119005-B892-66A9-947F-A2095F9034B6}"/>
              </a:ext>
            </a:extLst>
          </p:cNvPr>
          <p:cNvCxnSpPr>
            <a:cxnSpLocks/>
          </p:cNvCxnSpPr>
          <p:nvPr/>
        </p:nvCxnSpPr>
        <p:spPr bwMode="auto">
          <a:xfrm flipV="1">
            <a:off x="4419600" y="577342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DD15438E-48C8-8E01-7B75-8D9ECCD520CF}"/>
              </a:ext>
            </a:extLst>
          </p:cNvPr>
          <p:cNvSpPr txBox="1"/>
          <p:nvPr/>
        </p:nvSpPr>
        <p:spPr>
          <a:xfrm>
            <a:off x="3946943" y="593692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1" name="表格 6">
            <a:extLst>
              <a:ext uri="{FF2B5EF4-FFF2-40B4-BE49-F238E27FC236}">
                <a16:creationId xmlns:a16="http://schemas.microsoft.com/office/drawing/2014/main" id="{9E00F880-4332-0527-B781-69CC86C21BC5}"/>
              </a:ext>
            </a:extLst>
          </p:cNvPr>
          <p:cNvGraphicFramePr>
            <a:graphicFrameLocks noGrp="1"/>
          </p:cNvGraphicFramePr>
          <p:nvPr>
            <p:extLst>
              <p:ext uri="{D42A27DB-BD31-4B8C-83A1-F6EECF244321}">
                <p14:modId xmlns:p14="http://schemas.microsoft.com/office/powerpoint/2010/main" val="4127914529"/>
              </p:ext>
            </p:extLst>
          </p:nvPr>
        </p:nvGraphicFramePr>
        <p:xfrm>
          <a:off x="762000" y="834005"/>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5</a:t>
                      </a: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57047745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FF315-F33C-887F-2A28-D0E2AB607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07F3E-9AE9-E489-BD9C-FC0815FC83A0}"/>
              </a:ext>
            </a:extLst>
          </p:cNvPr>
          <p:cNvSpPr>
            <a:spLocks noGrp="1"/>
          </p:cNvSpPr>
          <p:nvPr>
            <p:ph type="title"/>
          </p:nvPr>
        </p:nvSpPr>
        <p:spPr/>
        <p:txBody>
          <a:bodyPr/>
          <a:lstStyle/>
          <a:p>
            <a:r>
              <a:rPr lang="en-GB" dirty="0"/>
              <a:t>Scheduling with Bursts II</a:t>
            </a:r>
            <a:endParaRPr lang="en-SE" dirty="0"/>
          </a:p>
        </p:txBody>
      </p:sp>
      <p:sp>
        <p:nvSpPr>
          <p:cNvPr id="3" name="Content Placeholder 2">
            <a:extLst>
              <a:ext uri="{FF2B5EF4-FFF2-40B4-BE49-F238E27FC236}">
                <a16:creationId xmlns:a16="http://schemas.microsoft.com/office/drawing/2014/main" id="{90F606F5-0923-E57B-AE1F-F9BF7D5D843B}"/>
              </a:ext>
            </a:extLst>
          </p:cNvPr>
          <p:cNvSpPr>
            <a:spLocks noGrp="1"/>
          </p:cNvSpPr>
          <p:nvPr>
            <p:ph idx="1"/>
          </p:nvPr>
        </p:nvSpPr>
        <p:spPr>
          <a:xfrm>
            <a:off x="812800" y="762000"/>
            <a:ext cx="10566400" cy="2895600"/>
          </a:xfrm>
        </p:spPr>
        <p:txBody>
          <a:bodyPr>
            <a:normAutofit fontScale="92500" lnSpcReduction="10000"/>
          </a:bodyPr>
          <a:lstStyle/>
          <a:p>
            <a:r>
              <a:rPr lang="en-GB" dirty="0"/>
              <a:t>*** Consider the set of 2 processes whose arrival time and CPU/IO burst times are given below. For each scheduling algorithm (FCFS, SJF, SRTF, RR, Fixed-Priority (FP)), draw the Gantt chart by filling in the table with the PID that runs in each time slot, and calculate the response time for each process, and the average response time. For FP scheduling, assign P2 (PID 2) higher priority than P1 (PID 1). If a time slot is idle with no active process executing, then fill in X. (Except for any possible idle time slots at the end of schedule, leave them empty and do not fill in X.)</a:t>
            </a:r>
            <a:endParaRPr lang="en-SE" dirty="0"/>
          </a:p>
        </p:txBody>
      </p:sp>
      <p:graphicFrame>
        <p:nvGraphicFramePr>
          <p:cNvPr id="10" name="表格 6">
            <a:extLst>
              <a:ext uri="{FF2B5EF4-FFF2-40B4-BE49-F238E27FC236}">
                <a16:creationId xmlns:a16="http://schemas.microsoft.com/office/drawing/2014/main" id="{BCF48CAD-C516-467B-318A-AEA6493869BF}"/>
              </a:ext>
            </a:extLst>
          </p:cNvPr>
          <p:cNvGraphicFramePr>
            <a:graphicFrameLocks noGrp="1"/>
          </p:cNvGraphicFramePr>
          <p:nvPr>
            <p:extLst>
              <p:ext uri="{D42A27DB-BD31-4B8C-83A1-F6EECF244321}">
                <p14:modId xmlns:p14="http://schemas.microsoft.com/office/powerpoint/2010/main" val="3702518306"/>
              </p:ext>
            </p:extLst>
          </p:nvPr>
        </p:nvGraphicFramePr>
        <p:xfrm>
          <a:off x="683099" y="4038600"/>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2441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285605038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90209-7C76-334D-A1F1-A46BA406E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6C79D-1005-E6BF-C62F-27FB28A2F64B}"/>
              </a:ext>
            </a:extLst>
          </p:cNvPr>
          <p:cNvSpPr>
            <a:spLocks noGrp="1"/>
          </p:cNvSpPr>
          <p:nvPr>
            <p:ph type="title"/>
          </p:nvPr>
        </p:nvSpPr>
        <p:spPr/>
        <p:txBody>
          <a:bodyPr/>
          <a:lstStyle/>
          <a:p>
            <a:r>
              <a:rPr lang="en-GB" dirty="0"/>
              <a:t>Scheduling with Bursts II ANS</a:t>
            </a:r>
            <a:endParaRPr lang="en-SE" dirty="0"/>
          </a:p>
        </p:txBody>
      </p:sp>
      <p:graphicFrame>
        <p:nvGraphicFramePr>
          <p:cNvPr id="11" name="Table 10">
            <a:extLst>
              <a:ext uri="{FF2B5EF4-FFF2-40B4-BE49-F238E27FC236}">
                <a16:creationId xmlns:a16="http://schemas.microsoft.com/office/drawing/2014/main" id="{8CBE2520-DD4D-5745-C735-6CADD48672F2}"/>
              </a:ext>
            </a:extLst>
          </p:cNvPr>
          <p:cNvGraphicFramePr>
            <a:graphicFrameLocks noGrp="1"/>
          </p:cNvGraphicFramePr>
          <p:nvPr>
            <p:extLst>
              <p:ext uri="{D42A27DB-BD31-4B8C-83A1-F6EECF244321}">
                <p14:modId xmlns:p14="http://schemas.microsoft.com/office/powerpoint/2010/main" val="3475607935"/>
              </p:ext>
            </p:extLst>
          </p:nvPr>
        </p:nvGraphicFramePr>
        <p:xfrm>
          <a:off x="3048000" y="3581400"/>
          <a:ext cx="6959328"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825211520"/>
                  </a:ext>
                </a:extLst>
              </a:tr>
            </a:tbl>
          </a:graphicData>
        </a:graphic>
      </p:graphicFrame>
      <p:graphicFrame>
        <p:nvGraphicFramePr>
          <p:cNvPr id="12" name="Table 11">
            <a:extLst>
              <a:ext uri="{FF2B5EF4-FFF2-40B4-BE49-F238E27FC236}">
                <a16:creationId xmlns:a16="http://schemas.microsoft.com/office/drawing/2014/main" id="{9F09EC4B-F636-DFFE-6382-E0D355C93E64}"/>
              </a:ext>
            </a:extLst>
          </p:cNvPr>
          <p:cNvGraphicFramePr>
            <a:graphicFrameLocks noGrp="1"/>
          </p:cNvGraphicFramePr>
          <p:nvPr/>
        </p:nvGraphicFramePr>
        <p:xfrm>
          <a:off x="2808642" y="541788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14" name="Content Placeholder 2">
            <a:extLst>
              <a:ext uri="{FF2B5EF4-FFF2-40B4-BE49-F238E27FC236}">
                <a16:creationId xmlns:a16="http://schemas.microsoft.com/office/drawing/2014/main" id="{5E284B91-4A9B-71F9-E068-64E25DA8B863}"/>
              </a:ext>
            </a:extLst>
          </p:cNvPr>
          <p:cNvSpPr txBox="1">
            <a:spLocks/>
          </p:cNvSpPr>
          <p:nvPr/>
        </p:nvSpPr>
        <p:spPr bwMode="auto">
          <a:xfrm>
            <a:off x="5852101" y="5788724"/>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cxnSp>
        <p:nvCxnSpPr>
          <p:cNvPr id="16" name="Straight Arrow Connector 15">
            <a:extLst>
              <a:ext uri="{FF2B5EF4-FFF2-40B4-BE49-F238E27FC236}">
                <a16:creationId xmlns:a16="http://schemas.microsoft.com/office/drawing/2014/main" id="{5B03AA19-7C1E-2368-F872-B71A9680472B}"/>
              </a:ext>
            </a:extLst>
          </p:cNvPr>
          <p:cNvCxnSpPr>
            <a:cxnSpLocks/>
          </p:cNvCxnSpPr>
          <p:nvPr/>
        </p:nvCxnSpPr>
        <p:spPr bwMode="auto">
          <a:xfrm flipV="1">
            <a:off x="3946943" y="575075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C53B0BC3-6EA1-7F06-1262-21110EB0CB38}"/>
              </a:ext>
            </a:extLst>
          </p:cNvPr>
          <p:cNvSpPr txBox="1"/>
          <p:nvPr/>
        </p:nvSpPr>
        <p:spPr>
          <a:xfrm>
            <a:off x="3409534" y="61825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C4F4179A-0C56-7CD9-7068-CA7DE5CBB660}"/>
              </a:ext>
            </a:extLst>
          </p:cNvPr>
          <p:cNvCxnSpPr>
            <a:cxnSpLocks/>
          </p:cNvCxnSpPr>
          <p:nvPr/>
        </p:nvCxnSpPr>
        <p:spPr bwMode="auto">
          <a:xfrm flipV="1">
            <a:off x="4419600" y="577342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4A93B2A8-98A1-F6E0-0D4A-CF9AC9B36CCE}"/>
              </a:ext>
            </a:extLst>
          </p:cNvPr>
          <p:cNvSpPr txBox="1"/>
          <p:nvPr/>
        </p:nvSpPr>
        <p:spPr>
          <a:xfrm>
            <a:off x="3946943" y="593692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1" name="表格 6">
            <a:extLst>
              <a:ext uri="{FF2B5EF4-FFF2-40B4-BE49-F238E27FC236}">
                <a16:creationId xmlns:a16="http://schemas.microsoft.com/office/drawing/2014/main" id="{4744B363-7A9D-0DDE-FA4C-6D7591515CBA}"/>
              </a:ext>
            </a:extLst>
          </p:cNvPr>
          <p:cNvGraphicFramePr>
            <a:graphicFrameLocks noGrp="1"/>
          </p:cNvGraphicFramePr>
          <p:nvPr>
            <p:extLst>
              <p:ext uri="{D42A27DB-BD31-4B8C-83A1-F6EECF244321}">
                <p14:modId xmlns:p14="http://schemas.microsoft.com/office/powerpoint/2010/main" val="2253359976"/>
              </p:ext>
            </p:extLst>
          </p:nvPr>
        </p:nvGraphicFramePr>
        <p:xfrm>
          <a:off x="762000" y="834005"/>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12</a:t>
                      </a:r>
                    </a:p>
                  </a:txBody>
                  <a:tcPr/>
                </a:tc>
                <a:tc>
                  <a:txBody>
                    <a:bodyPr/>
                    <a:lstStyle/>
                    <a:p>
                      <a:pPr algn="r"/>
                      <a:r>
                        <a:rPr lang="en-US" strike="noStrike" dirty="0">
                          <a:solidFill>
                            <a:schemeClr val="tx1"/>
                          </a:solidFill>
                        </a:rPr>
                        <a:t>12</a:t>
                      </a:r>
                    </a:p>
                  </a:txBody>
                  <a:tcPr/>
                </a:tc>
                <a:tc>
                  <a:txBody>
                    <a:bodyPr/>
                    <a:lstStyle/>
                    <a:p>
                      <a:pPr algn="r"/>
                      <a:r>
                        <a:rPr lang="en-US" strike="noStrike" dirty="0">
                          <a:solidFill>
                            <a:schemeClr val="tx1"/>
                          </a:solidFill>
                        </a:rPr>
                        <a:t>12</a:t>
                      </a: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rgbClr val="FF0000"/>
                          </a:solidFill>
                        </a:rPr>
                        <a:t>3</a:t>
                      </a:r>
                    </a:p>
                  </a:txBody>
                  <a:tcPr/>
                </a:tc>
                <a:tc>
                  <a:txBody>
                    <a:bodyPr/>
                    <a:lstStyle/>
                    <a:p>
                      <a:pPr algn="r"/>
                      <a:r>
                        <a:rPr lang="en-US" altLang="zh-CN" dirty="0">
                          <a:solidFill>
                            <a:srgbClr val="FF0000"/>
                          </a:solidFill>
                        </a:rPr>
                        <a:t>3</a:t>
                      </a:r>
                      <a:endParaRPr lang="en-US" dirty="0">
                        <a:solidFill>
                          <a:srgbClr val="FF0000"/>
                        </a:solidFill>
                      </a:endParaRP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7</a:t>
                      </a: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10.5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9.5</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1481134773"/>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99089</TotalTime>
  <Pages>60</Pages>
  <Words>924</Words>
  <Application>Microsoft Office PowerPoint</Application>
  <PresentationFormat>Widescreen</PresentationFormat>
  <Paragraphs>514</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Gill Sans</vt:lpstr>
      <vt:lpstr>Gill Sans Light</vt:lpstr>
      <vt:lpstr>Comic Sans MS</vt:lpstr>
      <vt:lpstr>Helvetica</vt:lpstr>
      <vt:lpstr>Office</vt:lpstr>
      <vt:lpstr>CSC 112: Computer Operating Systems Midterm Exam Answer Key  </vt:lpstr>
      <vt:lpstr>(1) Deadlock</vt:lpstr>
      <vt:lpstr>(1) No Deadlock</vt:lpstr>
      <vt:lpstr>Scheduling with Bursts</vt:lpstr>
      <vt:lpstr>PowerPoint Presentation</vt:lpstr>
      <vt:lpstr>Scheduling with Bursts ANS</vt:lpstr>
      <vt:lpstr>Scheduling with Bursts II</vt:lpstr>
      <vt:lpstr>Scheduling with Bursts II ANS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1117</cp:revision>
  <cp:lastPrinted>2022-03-15T20:14:46Z</cp:lastPrinted>
  <dcterms:created xsi:type="dcterms:W3CDTF">1995-08-12T11:37:26Z</dcterms:created>
  <dcterms:modified xsi:type="dcterms:W3CDTF">2025-03-26T21:14:21Z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