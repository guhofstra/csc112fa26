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tif" ContentType="image/tiff"/>
  <Default Extension="tiff" ContentType="image/tiff"/>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1.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2.xml" ContentType="application/vnd.openxmlformats-officedocument.presentationml.tags+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52"/>
  </p:notesMasterIdLst>
  <p:handoutMasterIdLst>
    <p:handoutMasterId r:id="rId53"/>
  </p:handoutMasterIdLst>
  <p:sldIdLst>
    <p:sldId id="256" r:id="rId2"/>
    <p:sldId id="647" r:id="rId3"/>
    <p:sldId id="617" r:id="rId4"/>
    <p:sldId id="520" r:id="rId5"/>
    <p:sldId id="573" r:id="rId6"/>
    <p:sldId id="619" r:id="rId7"/>
    <p:sldId id="622" r:id="rId8"/>
    <p:sldId id="623" r:id="rId9"/>
    <p:sldId id="624" r:id="rId10"/>
    <p:sldId id="625" r:id="rId11"/>
    <p:sldId id="626" r:id="rId12"/>
    <p:sldId id="627" r:id="rId13"/>
    <p:sldId id="629" r:id="rId14"/>
    <p:sldId id="630" r:id="rId15"/>
    <p:sldId id="631" r:id="rId16"/>
    <p:sldId id="632" r:id="rId17"/>
    <p:sldId id="633" r:id="rId18"/>
    <p:sldId id="634" r:id="rId19"/>
    <p:sldId id="635" r:id="rId20"/>
    <p:sldId id="636" r:id="rId21"/>
    <p:sldId id="637" r:id="rId22"/>
    <p:sldId id="638" r:id="rId23"/>
    <p:sldId id="639" r:id="rId24"/>
    <p:sldId id="640" r:id="rId25"/>
    <p:sldId id="641" r:id="rId26"/>
    <p:sldId id="642" r:id="rId27"/>
    <p:sldId id="643" r:id="rId28"/>
    <p:sldId id="650" r:id="rId29"/>
    <p:sldId id="651" r:id="rId30"/>
    <p:sldId id="664" r:id="rId31"/>
    <p:sldId id="652" r:id="rId32"/>
    <p:sldId id="653" r:id="rId33"/>
    <p:sldId id="654" r:id="rId34"/>
    <p:sldId id="656" r:id="rId35"/>
    <p:sldId id="665" r:id="rId36"/>
    <p:sldId id="666" r:id="rId37"/>
    <p:sldId id="658" r:id="rId38"/>
    <p:sldId id="661" r:id="rId39"/>
    <p:sldId id="662" r:id="rId40"/>
    <p:sldId id="539" r:id="rId41"/>
    <p:sldId id="675" r:id="rId42"/>
    <p:sldId id="544" r:id="rId43"/>
    <p:sldId id="671" r:id="rId44"/>
    <p:sldId id="672" r:id="rId45"/>
    <p:sldId id="667" r:id="rId46"/>
    <p:sldId id="668" r:id="rId47"/>
    <p:sldId id="669" r:id="rId48"/>
    <p:sldId id="670" r:id="rId49"/>
    <p:sldId id="557" r:id="rId50"/>
    <p:sldId id="409" r:id="rId51"/>
  </p:sldIdLst>
  <p:sldSz cx="12192000" cy="6858000"/>
  <p:notesSz cx="9601200" cy="7315200"/>
  <p:kinsoku lang="ja-JP" invalStChars="、。，．・：；？！゛゜ヽヾゝゞ々ー’”）〕］｝〉》」』】°‰′″℃￠％ぁぃぅぇぉっゃゅょゎァィゥェォッャュョヮヵヶ!%),.:;?]}｡｣､･ｧｨｩｪｫｬｭｮｯｰﾞﾟ" invalEndChars="‘“（〔［｛〈《「『【￥＄$([\{｢￡"/>
  <p:defaultTextStyle>
    <a:defPPr>
      <a:defRPr lang="en-US"/>
    </a:defPPr>
    <a:lvl1pPr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1pPr>
    <a:lvl2pPr marL="4572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2pPr>
    <a:lvl3pPr marL="9144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3pPr>
    <a:lvl4pPr marL="13716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4pPr>
    <a:lvl5pPr marL="18288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5pPr>
    <a:lvl6pPr marL="2286000" algn="l" defTabSz="457200" rtl="0" eaLnBrk="1" latinLnBrk="0" hangingPunct="1">
      <a:defRPr b="1" kern="1200">
        <a:solidFill>
          <a:schemeClr val="tx1"/>
        </a:solidFill>
        <a:latin typeface="Comic Sans MS" charset="0"/>
        <a:ea typeface="ＭＳ Ｐゴシック" charset="0"/>
        <a:cs typeface="ＭＳ Ｐゴシック" charset="0"/>
      </a:defRPr>
    </a:lvl6pPr>
    <a:lvl7pPr marL="2743200" algn="l" defTabSz="457200" rtl="0" eaLnBrk="1" latinLnBrk="0" hangingPunct="1">
      <a:defRPr b="1" kern="1200">
        <a:solidFill>
          <a:schemeClr val="tx1"/>
        </a:solidFill>
        <a:latin typeface="Comic Sans MS" charset="0"/>
        <a:ea typeface="ＭＳ Ｐゴシック" charset="0"/>
        <a:cs typeface="ＭＳ Ｐゴシック" charset="0"/>
      </a:defRPr>
    </a:lvl7pPr>
    <a:lvl8pPr marL="3200400" algn="l" defTabSz="457200" rtl="0" eaLnBrk="1" latinLnBrk="0" hangingPunct="1">
      <a:defRPr b="1" kern="1200">
        <a:solidFill>
          <a:schemeClr val="tx1"/>
        </a:solidFill>
        <a:latin typeface="Comic Sans MS" charset="0"/>
        <a:ea typeface="ＭＳ Ｐゴシック" charset="0"/>
        <a:cs typeface="ＭＳ Ｐゴシック" charset="0"/>
      </a:defRPr>
    </a:lvl8pPr>
    <a:lvl9pPr marL="3657600" algn="l" defTabSz="457200" rtl="0" eaLnBrk="1" latinLnBrk="0" hangingPunct="1">
      <a:defRPr b="1" kern="1200">
        <a:solidFill>
          <a:schemeClr val="tx1"/>
        </a:solidFill>
        <a:latin typeface="Comic Sans MS" charset="0"/>
        <a:ea typeface="ＭＳ Ｐゴシック" charset="0"/>
        <a:cs typeface="ＭＳ Ｐゴシック" charset="0"/>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hiddenSlides="1"/>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A18623"/>
    <a:srgbClr val="9E7800"/>
    <a:srgbClr val="C49500"/>
    <a:srgbClr val="F430AB"/>
    <a:srgbClr val="E6E703"/>
    <a:srgbClr val="72AAAE"/>
    <a:srgbClr val="2A40E2"/>
    <a:srgbClr val="233AE1"/>
    <a:srgbClr val="1C31CA"/>
    <a:srgbClr val="7281EC"/>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16CA8F4-E3F2-41C4-B08E-620011428091}" v="24" dt="2025-09-04T23:52:24.21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horzBarState="maximized">
    <p:restoredLeft sz="9976"/>
    <p:restoredTop sz="95005" autoAdjust="0"/>
  </p:normalViewPr>
  <p:slideViewPr>
    <p:cSldViewPr>
      <p:cViewPr varScale="1">
        <p:scale>
          <a:sx n="107" d="100"/>
          <a:sy n="107" d="100"/>
        </p:scale>
        <p:origin x="960" y="84"/>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9162"/>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handoutMaster" Target="handoutMasters/handoutMaster1.xml"/><Relationship Id="rId58" Type="http://schemas.microsoft.com/office/2016/11/relationships/changesInfo" Target="changesInfos/changesInfo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onghua Gu" userId="9a7e1853e1951ef5" providerId="LiveId" clId="{CF1FAA12-072C-4ED5-BA76-0FFFAEFDB88A}"/>
    <pc:docChg chg="custSel modSld">
      <pc:chgData name="Zonghua Gu" userId="9a7e1853e1951ef5" providerId="LiveId" clId="{CF1FAA12-072C-4ED5-BA76-0FFFAEFDB88A}" dt="2025-09-04T23:52:24.212" v="26" actId="5793"/>
      <pc:docMkLst>
        <pc:docMk/>
      </pc:docMkLst>
      <pc:sldChg chg="modSp mod modAnim">
        <pc:chgData name="Zonghua Gu" userId="9a7e1853e1951ef5" providerId="LiveId" clId="{CF1FAA12-072C-4ED5-BA76-0FFFAEFDB88A}" dt="2025-09-04T23:52:24.212" v="26" actId="5793"/>
        <pc:sldMkLst>
          <pc:docMk/>
          <pc:sldMk cId="3863333155" sldId="581"/>
        </pc:sldMkLst>
        <pc:spChg chg="mod">
          <ac:chgData name="Zonghua Gu" userId="9a7e1853e1951ef5" providerId="LiveId" clId="{CF1FAA12-072C-4ED5-BA76-0FFFAEFDB88A}" dt="2025-09-04T23:52:24.212" v="26" actId="5793"/>
          <ac:spMkLst>
            <pc:docMk/>
            <pc:sldMk cId="3863333155" sldId="581"/>
            <ac:spMk id="3"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ChangeArrowheads="1"/>
          </p:cNvSpPr>
          <p:nvPr/>
        </p:nvSpPr>
        <p:spPr bwMode="auto">
          <a:xfrm>
            <a:off x="4377495" y="6956426"/>
            <a:ext cx="847805" cy="283336"/>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2295" tIns="46988" rIns="92295" bIns="46988">
            <a:spAutoFit/>
          </a:bodyPr>
          <a:lstStyle/>
          <a:p>
            <a:pPr algn="ctr" defTabSz="917376">
              <a:lnSpc>
                <a:spcPct val="90000"/>
              </a:lnSpc>
            </a:pPr>
            <a:r>
              <a:rPr lang="en-US" sz="1300" b="0">
                <a:latin typeface="Gill Sans Light" charset="0"/>
                <a:cs typeface="Gill Sans Light" charset="0"/>
              </a:rPr>
              <a:t>Page </a:t>
            </a:r>
            <a:fld id="{073744B8-EF17-EB47-B355-93F8159194C2}" type="slidenum">
              <a:rPr lang="en-US" sz="1300" b="0">
                <a:latin typeface="Gill Sans Light" charset="0"/>
                <a:cs typeface="Gill Sans Light" charset="0"/>
              </a:rPr>
              <a:pPr algn="ctr" defTabSz="917376">
                <a:lnSpc>
                  <a:spcPct val="90000"/>
                </a:lnSpc>
              </a:pPr>
              <a:t>‹#›</a:t>
            </a:fld>
            <a:endParaRPr lang="en-US" sz="1300" b="0">
              <a:latin typeface="Gill Sans Light" charset="0"/>
              <a:cs typeface="Gill Sans Light" charset="0"/>
            </a:endParaRPr>
          </a:p>
        </p:txBody>
      </p:sp>
    </p:spTree>
    <p:extLst>
      <p:ext uri="{BB962C8B-B14F-4D97-AF65-F5344CB8AC3E}">
        <p14:creationId xmlns:p14="http://schemas.microsoft.com/office/powerpoint/2010/main" val="71744498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ChangeArrowheads="1"/>
          </p:cNvSpPr>
          <p:nvPr/>
        </p:nvSpPr>
        <p:spPr bwMode="auto">
          <a:xfrm>
            <a:off x="4362593" y="6956426"/>
            <a:ext cx="877605" cy="283336"/>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2295" tIns="46988" rIns="92295" bIns="46988">
            <a:spAutoFit/>
          </a:bodyPr>
          <a:lstStyle/>
          <a:p>
            <a:pPr algn="ctr" defTabSz="917376">
              <a:lnSpc>
                <a:spcPct val="90000"/>
              </a:lnSpc>
            </a:pPr>
            <a:r>
              <a:rPr lang="en-US" sz="1300" b="0"/>
              <a:t>Page </a:t>
            </a:r>
            <a:fld id="{6D259941-7246-4245-A40C-55C6F952DF9E}" type="slidenum">
              <a:rPr lang="en-US" sz="1300" b="0"/>
              <a:pPr algn="ctr" defTabSz="917376">
                <a:lnSpc>
                  <a:spcPct val="90000"/>
                </a:lnSpc>
              </a:pPr>
              <a:t>‹#›</a:t>
            </a:fld>
            <a:endParaRPr lang="en-US" sz="1300" b="0"/>
          </a:p>
        </p:txBody>
      </p:sp>
      <p:sp>
        <p:nvSpPr>
          <p:cNvPr id="65539" name="Rectangle 3"/>
          <p:cNvSpPr>
            <a:spLocks noGrp="1" noRot="1" noChangeAspect="1" noChangeArrowheads="1" noTextEdit="1"/>
          </p:cNvSpPr>
          <p:nvPr>
            <p:ph type="sldImg" idx="2"/>
          </p:nvPr>
        </p:nvSpPr>
        <p:spPr bwMode="auto">
          <a:xfrm>
            <a:off x="2362200" y="547688"/>
            <a:ext cx="4876800" cy="2744787"/>
          </a:xfrm>
          <a:prstGeom prst="rect">
            <a:avLst/>
          </a:prstGeom>
          <a:noFill/>
          <a:ln w="12700">
            <a:solidFill>
              <a:schemeClr val="tx1"/>
            </a:solidFill>
            <a:miter lim="800000"/>
            <a:headEnd/>
            <a:tailEnd/>
          </a:ln>
          <a:effectLst/>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 uri="{53640926-AAD7-44d8-BBD7-CCE9431645EC}">
              <a14:shadowObscured xmlns:a14="http://schemas.microsoft.com/office/drawing/2010/main" xmlns="" val="1"/>
            </a:ext>
          </a:extLst>
        </p:spPr>
      </p:sp>
      <p:sp>
        <p:nvSpPr>
          <p:cNvPr id="2052" name="Rectangle 4"/>
          <p:cNvSpPr>
            <a:spLocks noGrp="1" noChangeArrowheads="1"/>
          </p:cNvSpPr>
          <p:nvPr>
            <p:ph type="body" sz="quarter" idx="3"/>
          </p:nvPr>
        </p:nvSpPr>
        <p:spPr bwMode="auto">
          <a:xfrm>
            <a:off x="1281114" y="3475040"/>
            <a:ext cx="7038975" cy="3292475"/>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5650" tIns="46988" rIns="95650" bIns="46988" numCol="1" anchor="t" anchorCtr="0" compatLnSpc="1">
            <a:prstTxWarp prst="textNoShape">
              <a:avLst/>
            </a:prstTxWarp>
          </a:bodyPr>
          <a:lstStyle/>
          <a:p>
            <a:pPr lvl="0"/>
            <a:r>
              <a:rPr lang="en-US" noProof="0"/>
              <a:t>Body Text</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885107729"/>
      </p:ext>
    </p:extLst>
  </p:cSld>
  <p:clrMap bg1="lt1" tx1="dk1" bg2="lt2" tx2="dk2" accent1="accent1" accent2="accent2" accent3="accent3" accent4="accent4" accent5="accent5" accent6="accent6" hlink="hlink" folHlink="folHlink"/>
  <p:notesStyle>
    <a:lvl1pPr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ＭＳ Ｐゴシック" charset="0"/>
      </a:defRPr>
    </a:lvl1pPr>
    <a:lvl2pPr marL="457200"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mn-cs"/>
      </a:defRPr>
    </a:lvl2pPr>
    <a:lvl3pPr marL="914400"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mn-cs"/>
      </a:defRPr>
    </a:lvl3pPr>
    <a:lvl4pPr marL="1371600"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mn-cs"/>
      </a:defRPr>
    </a:lvl4pPr>
    <a:lvl5pPr marL="1828800"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Rot="1" noChangeAspect="1" noChangeArrowheads="1" noTextEdit="1"/>
          </p:cNvSpPr>
          <p:nvPr>
            <p:ph type="sldImg"/>
          </p:nvPr>
        </p:nvSpPr>
        <p:spPr>
          <a:xfrm>
            <a:off x="2362200" y="547688"/>
            <a:ext cx="4876800" cy="2744787"/>
          </a:xfrm>
          <a:ln/>
        </p:spPr>
      </p:sp>
      <p:sp>
        <p:nvSpPr>
          <p:cNvPr id="66563" name="Rectangle 3"/>
          <p:cNvSpPr>
            <a:spLocks noGrp="1" noChangeArrowheads="1"/>
          </p:cNvSpPr>
          <p:nvPr>
            <p:ph type="body" idx="1"/>
          </p:nvPr>
        </p:nvSpPr>
        <p:spPr>
          <a:extLst>
            <a:ext uri="{FAA26D3D-D897-4be2-8F04-BA451C77F1D7}">
              <ma14:placeholderFlag xmlns:ma14="http://schemas.microsoft.com/office/mac/drawingml/2011/main" xmlns="" val="1"/>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lide Image Placeholder 1"/>
          <p:cNvSpPr>
            <a:spLocks noGrp="1" noRot="1" noChangeAspect="1" noTextEdit="1"/>
          </p:cNvSpPr>
          <p:nvPr>
            <p:ph type="sldImg"/>
          </p:nvPr>
        </p:nvSpPr>
        <p:spPr>
          <a:xfrm>
            <a:off x="2362200" y="547688"/>
            <a:ext cx="4876800" cy="2744787"/>
          </a:xfrm>
          <a:ln/>
        </p:spPr>
      </p:sp>
      <p:sp>
        <p:nvSpPr>
          <p:cNvPr id="67587" name="Notes Placeholder 2"/>
          <p:cNvSpPr>
            <a:spLocks noGrp="1"/>
          </p:cNvSpPr>
          <p:nvPr>
            <p:ph type="body" idx="1"/>
          </p:nvPr>
        </p:nvSpPr>
        <p:spPr>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r>
              <a:rPr lang="en-US" altLang="en-US">
                <a:latin typeface="Comic Sans MS" charset="0"/>
                <a:ea typeface="ＭＳ Ｐゴシック" charset="-128"/>
                <a:cs typeface="+mn-cs"/>
              </a:rPr>
              <a:t>In this course we are not focusing on a single node system but on the end-to-end system. The reason is very simple: today the majority of applications we use does not run on our system. Social networks, e-mail, google docs, online gamming, etc. </a:t>
            </a:r>
          </a:p>
        </p:txBody>
      </p:sp>
    </p:spTree>
    <p:extLst>
      <p:ext uri="{BB962C8B-B14F-4D97-AF65-F5344CB8AC3E}">
        <p14:creationId xmlns:p14="http://schemas.microsoft.com/office/powerpoint/2010/main" val="14082549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Rot="1" noChangeAspect="1" noChangeArrowheads="1" noTextEdit="1"/>
          </p:cNvSpPr>
          <p:nvPr>
            <p:ph type="sldImg"/>
          </p:nvPr>
        </p:nvSpPr>
        <p:spPr>
          <a:xfrm>
            <a:off x="434975" y="690563"/>
            <a:ext cx="6127750" cy="3448050"/>
          </a:xfrm>
          <a:ln/>
        </p:spPr>
      </p:sp>
      <p:sp>
        <p:nvSpPr>
          <p:cNvPr id="73731" name="Rectangle 3"/>
          <p:cNvSpPr>
            <a:spLocks noGrp="1" noChangeArrowheads="1"/>
          </p:cNvSpPr>
          <p:nvPr>
            <p:ph type="body" idx="1"/>
          </p:nvPr>
        </p:nvSpPr>
        <p:spPr>
          <a:xfrm>
            <a:off x="700089" y="4367214"/>
            <a:ext cx="5597525" cy="4137025"/>
          </a:xfrm>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r>
              <a:rPr lang="en-US">
                <a:latin typeface="Comic Sans MS" charset="0"/>
              </a:rPr>
              <a:t>Of the enormous variety of CITRIS projects going on at Berkeley, I will present one set that is tied together by this picture: the design, construction and use of MEMS devices, the sensor networks containing them, and making the information from these networks available to widely distributed users as scalable, reliable and secure services. </a:t>
            </a:r>
          </a:p>
          <a:p>
            <a:pPr>
              <a:defRPr/>
            </a:pPr>
            <a:r>
              <a:rPr lang="en-US">
                <a:latin typeface="Comic Sans MS" charset="0"/>
              </a:rPr>
              <a:t>The name we give to such an integrated system is a Societal Scale Information System, a name meant to evoke its scale – enormous -  and purpose – benefiting people and the economy.</a:t>
            </a:r>
          </a:p>
          <a:p>
            <a:pPr>
              <a:defRPr/>
            </a:pPr>
            <a:endParaRPr lang="en-US">
              <a:latin typeface="Comic Sans MS" charset="0"/>
            </a:endParaRPr>
          </a:p>
          <a:p>
            <a:pPr>
              <a:defRPr/>
            </a:pPr>
            <a:r>
              <a:rPr lang="en-US">
                <a:latin typeface="Comic Sans MS" charset="0"/>
              </a:rPr>
              <a:t>I will leave the details of all the specific applications that Ruzena mentioned, be it to energy efficiency or education or disaster response the social sciences, and indeed most details, to later talks and posters. </a:t>
            </a:r>
          </a:p>
        </p:txBody>
      </p:sp>
    </p:spTree>
    <p:extLst>
      <p:ext uri="{BB962C8B-B14F-4D97-AF65-F5344CB8AC3E}">
        <p14:creationId xmlns:p14="http://schemas.microsoft.com/office/powerpoint/2010/main" val="17578335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Rot="1" noChangeAspect="1" noChangeArrowheads="1" noTextEdit="1"/>
          </p:cNvSpPr>
          <p:nvPr>
            <p:ph type="sldImg"/>
          </p:nvPr>
        </p:nvSpPr>
        <p:spPr>
          <a:xfrm>
            <a:off x="2365375" y="550863"/>
            <a:ext cx="4872038" cy="2741612"/>
          </a:xfrm>
          <a:ln/>
        </p:spPr>
      </p:sp>
      <p:sp>
        <p:nvSpPr>
          <p:cNvPr id="71683" name="Rectangle 3"/>
          <p:cNvSpPr>
            <a:spLocks noGrp="1" noChangeArrowheads="1"/>
          </p:cNvSpPr>
          <p:nvPr>
            <p:ph type="body" idx="1"/>
          </p:nvPr>
        </p:nvSpPr>
        <p:spPr>
          <a:xfrm>
            <a:off x="1279526" y="3475040"/>
            <a:ext cx="7042150" cy="3290887"/>
          </a:xfrm>
          <a:extLst>
            <a:ext uri="{FAA26D3D-D897-4be2-8F04-BA451C77F1D7}">
              <ma14:placeholderFlag xmlns:ma14="http://schemas.microsoft.com/office/mac/drawingml/2011/main" xmlns="" val="1"/>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cs typeface="+mn-cs"/>
            </a:endParaRPr>
          </a:p>
        </p:txBody>
      </p:sp>
    </p:spTree>
    <p:extLst>
      <p:ext uri="{BB962C8B-B14F-4D97-AF65-F5344CB8AC3E}">
        <p14:creationId xmlns:p14="http://schemas.microsoft.com/office/powerpoint/2010/main" val="35155520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62200" y="547688"/>
            <a:ext cx="4876800" cy="2744787"/>
          </a:xfrm>
        </p:spPr>
      </p:sp>
      <p:sp>
        <p:nvSpPr>
          <p:cNvPr id="33794" name="Notes Placeholder 2"/>
          <p:cNvSpPr>
            <a:spLocks noGrp="1"/>
          </p:cNvSpPr>
          <p:nvPr>
            <p:ph type="body" idx="1"/>
          </p:nvPr>
        </p:nvSpPr>
        <p:spPr>
          <a:noFill/>
          <a:extLst>
            <a:ext uri="{FAA26D3D-D897-4be2-8F04-BA451C77F1D7}">
              <ma14:placeholderFlag xmlns:ma14="http://schemas.microsoft.com/office/mac/drawingml/2011/main" xmlns="" val="1"/>
            </a:ext>
          </a:extLst>
        </p:spPr>
        <p:txBody>
          <a:bodyPr/>
          <a:lstStyle/>
          <a:p>
            <a:endParaRPr lang="en-US">
              <a:latin typeface="Comic Sans MS" charset="0"/>
            </a:endParaRPr>
          </a:p>
        </p:txBody>
      </p:sp>
    </p:spTree>
    <p:extLst>
      <p:ext uri="{BB962C8B-B14F-4D97-AF65-F5344CB8AC3E}">
        <p14:creationId xmlns:p14="http://schemas.microsoft.com/office/powerpoint/2010/main" val="20099219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62200" y="547688"/>
            <a:ext cx="4876800" cy="2744787"/>
          </a:xfrm>
        </p:spPr>
      </p:sp>
      <p:sp>
        <p:nvSpPr>
          <p:cNvPr id="3" name="Notes Placeholder 2"/>
          <p:cNvSpPr>
            <a:spLocks noGrp="1"/>
          </p:cNvSpPr>
          <p:nvPr>
            <p:ph type="body" idx="1"/>
          </p:nvPr>
        </p:nvSpPr>
        <p:spPr/>
        <p:txBody>
          <a:bodyPr/>
          <a:lstStyle/>
          <a:p>
            <a:r>
              <a:rPr lang="en-US" dirty="0"/>
              <a:t>Networking bandwidth is</a:t>
            </a:r>
            <a:r>
              <a:rPr lang="en-US" baseline="0" dirty="0"/>
              <a:t> expected to also outpace the CPU power, so more bandwidth per core.  </a:t>
            </a:r>
            <a:endParaRPr lang="en-US" dirty="0"/>
          </a:p>
        </p:txBody>
      </p:sp>
    </p:spTree>
    <p:extLst>
      <p:ext uri="{BB962C8B-B14F-4D97-AF65-F5344CB8AC3E}">
        <p14:creationId xmlns:p14="http://schemas.microsoft.com/office/powerpoint/2010/main" val="22196076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62200" y="547688"/>
            <a:ext cx="4876800" cy="2744787"/>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lIns="91427" tIns="45714" rIns="91427" bIns="45714"/>
          <a:lstStyle/>
          <a:p>
            <a:pPr>
              <a:defRPr/>
            </a:pPr>
            <a:fld id="{7DAEA246-AA45-9741-BAF0-58C69264CAE3}" type="slidenum">
              <a:rPr lang="en-US" smtClean="0"/>
              <a:pPr>
                <a:defRPr/>
              </a:pPr>
              <a:t>39</a:t>
            </a:fld>
            <a:endParaRPr lang="en-US"/>
          </a:p>
        </p:txBody>
      </p:sp>
    </p:spTree>
    <p:extLst>
      <p:ext uri="{BB962C8B-B14F-4D97-AF65-F5344CB8AC3E}">
        <p14:creationId xmlns:p14="http://schemas.microsoft.com/office/powerpoint/2010/main" val="8904754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Rot="1" noChangeAspect="1" noChangeArrowheads="1" noTextEdit="1"/>
          </p:cNvSpPr>
          <p:nvPr>
            <p:ph type="sldImg"/>
          </p:nvPr>
        </p:nvSpPr>
        <p:spPr>
          <a:xfrm>
            <a:off x="2362200" y="547688"/>
            <a:ext cx="4876800" cy="2744787"/>
          </a:xfrm>
          <a:ln/>
        </p:spPr>
      </p:sp>
      <p:sp>
        <p:nvSpPr>
          <p:cNvPr id="77827" name="Rectangle 3"/>
          <p:cNvSpPr>
            <a:spLocks noGrp="1" noChangeArrowheads="1"/>
          </p:cNvSpPr>
          <p:nvPr>
            <p:ph type="body" idx="1"/>
          </p:nvPr>
        </p:nvSpPr>
        <p:spPr>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r>
              <a:rPr lang="en-US" altLang="en-US">
                <a:latin typeface="Comic Sans MS" charset="0"/>
                <a:ea typeface="+mn-ea"/>
                <a:cs typeface="+mn-cs"/>
              </a:rPr>
              <a:t>Distance 186 light secs to 21 light minutes one-way</a:t>
            </a:r>
          </a:p>
          <a:p>
            <a:pPr>
              <a:defRPr/>
            </a:pPr>
            <a:r>
              <a:rPr lang="en-US" altLang="en-US">
                <a:latin typeface="Comic Sans MS" charset="0"/>
                <a:ea typeface="+mn-ea"/>
                <a:cs typeface="+mn-cs"/>
              </a:rPr>
              <a:t>Nearly two earth years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Rot="1" noChangeAspect="1" noChangeArrowheads="1" noTextEdit="1"/>
          </p:cNvSpPr>
          <p:nvPr>
            <p:ph type="sldImg"/>
          </p:nvPr>
        </p:nvSpPr>
        <p:spPr>
          <a:xfrm>
            <a:off x="2362200" y="547688"/>
            <a:ext cx="4876800" cy="2744787"/>
          </a:xfrm>
          <a:ln/>
        </p:spPr>
      </p:sp>
      <p:sp>
        <p:nvSpPr>
          <p:cNvPr id="84995" name="Rectangle 3"/>
          <p:cNvSpPr>
            <a:spLocks noGrp="1" noChangeArrowheads="1"/>
          </p:cNvSpPr>
          <p:nvPr>
            <p:ph type="body" idx="1"/>
          </p:nvPr>
        </p:nvSpPr>
        <p:spPr>
          <a:extLst>
            <a:ext uri="{FAA26D3D-D897-4be2-8F04-BA451C77F1D7}">
              <ma14:placeholderFlag xmlns:ma14="http://schemas.microsoft.com/office/mac/drawingml/2011/main" xmlns="" val="1"/>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Rot="1" noChangeAspect="1" noChangeArrowheads="1" noTextEdit="1"/>
          </p:cNvSpPr>
          <p:nvPr>
            <p:ph type="sldImg"/>
          </p:nvPr>
        </p:nvSpPr>
        <p:spPr>
          <a:xfrm>
            <a:off x="2362200" y="547688"/>
            <a:ext cx="4876800" cy="2744787"/>
          </a:xfrm>
          <a:ln/>
        </p:spPr>
      </p:sp>
      <p:sp>
        <p:nvSpPr>
          <p:cNvPr id="92163" name="Rectangle 3"/>
          <p:cNvSpPr>
            <a:spLocks noGrp="1" noChangeArrowheads="1"/>
          </p:cNvSpPr>
          <p:nvPr>
            <p:ph type="body" idx="1"/>
          </p:nvPr>
        </p:nvSpPr>
        <p:spPr>
          <a:extLst>
            <a:ext uri="{FAA26D3D-D897-4be2-8F04-BA451C77F1D7}">
              <ma14:placeholderFlag xmlns:ma14="http://schemas.microsoft.com/office/mac/drawingml/2011/main" xmlns="" val="1"/>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reserve="1">
  <p:cSld name="Title Slide">
    <p:spTree>
      <p:nvGrpSpPr>
        <p:cNvPr id="1" name=""/>
        <p:cNvGrpSpPr/>
        <p:nvPr/>
      </p:nvGrpSpPr>
      <p:grpSpPr>
        <a:xfrm>
          <a:off x="0" y="0"/>
          <a:ext cx="0" cy="0"/>
          <a:chOff x="0" y="0"/>
          <a:chExt cx="0" cy="0"/>
        </a:xfrm>
      </p:grpSpPr>
      <p:sp>
        <p:nvSpPr>
          <p:cNvPr id="128002" name="Rectangle 2"/>
          <p:cNvSpPr>
            <a:spLocks noGrp="1" noChangeArrowheads="1"/>
          </p:cNvSpPr>
          <p:nvPr>
            <p:ph type="ctrTitle"/>
          </p:nvPr>
        </p:nvSpPr>
        <p:spPr>
          <a:xfrm>
            <a:off x="914400" y="2130426"/>
            <a:ext cx="10363200" cy="1470025"/>
          </a:xfrm>
        </p:spPr>
        <p:txBody>
          <a:bodyPr/>
          <a:lstStyle>
            <a:lvl1pPr>
              <a:defRPr sz="3600"/>
            </a:lvl1pPr>
          </a:lstStyle>
          <a:p>
            <a:pPr lvl="0"/>
            <a:r>
              <a:rPr lang="en-US" noProof="0"/>
              <a:t>Click to edit Master title style</a:t>
            </a:r>
          </a:p>
        </p:txBody>
      </p:sp>
      <p:sp>
        <p:nvSpPr>
          <p:cNvPr id="128003" name="Rectangle 3"/>
          <p:cNvSpPr>
            <a:spLocks noGrp="1" noChangeArrowheads="1"/>
          </p:cNvSpPr>
          <p:nvPr>
            <p:ph type="subTitle" idx="1"/>
          </p:nvPr>
        </p:nvSpPr>
        <p:spPr>
          <a:xfrm>
            <a:off x="1828800" y="3886200"/>
            <a:ext cx="8534400" cy="1752600"/>
          </a:xfrm>
        </p:spPr>
        <p:txBody>
          <a:bodyPr/>
          <a:lstStyle>
            <a:lvl1pPr marL="0" indent="0" algn="ctr">
              <a:buFontTx/>
              <a:buNone/>
              <a:defRPr/>
            </a:lvl1pPr>
          </a:lstStyle>
          <a:p>
            <a:pPr lvl="0"/>
            <a:r>
              <a:rPr lang="en-US" noProof="0"/>
              <a:t>Click to edit Master subtitle style</a:t>
            </a:r>
          </a:p>
        </p:txBody>
      </p:sp>
    </p:spTree>
    <p:extLst>
      <p:ext uri="{BB962C8B-B14F-4D97-AF65-F5344CB8AC3E}">
        <p14:creationId xmlns:p14="http://schemas.microsoft.com/office/powerpoint/2010/main" val="1030069191"/>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i="0">
                <a:latin typeface="Gill Sans" charset="0"/>
                <a:ea typeface="Gill Sans" charset="0"/>
                <a:cs typeface="Gill Sans" charset="0"/>
              </a:defRPr>
            </a:lvl1pPr>
          </a:lstStyle>
          <a:p>
            <a:r>
              <a:rPr lang="en-US" dirty="0"/>
              <a:t>Click to edit Master title style</a:t>
            </a:r>
          </a:p>
        </p:txBody>
      </p:sp>
      <p:sp>
        <p:nvSpPr>
          <p:cNvPr id="3" name="Content Placeholder 2"/>
          <p:cNvSpPr>
            <a:spLocks noGrp="1"/>
          </p:cNvSpPr>
          <p:nvPr>
            <p:ph idx="1"/>
          </p:nvPr>
        </p:nvSpPr>
        <p:spPr/>
        <p:txBody>
          <a:bodyPr/>
          <a:lstStyle>
            <a:lvl1pPr>
              <a:defRPr b="0" i="0">
                <a:latin typeface="Gill Sans Light" charset="0"/>
                <a:ea typeface="Gill Sans Light" charset="0"/>
                <a:cs typeface="Gill Sans Light" charset="0"/>
              </a:defRPr>
            </a:lvl1pPr>
            <a:lvl2pPr>
              <a:defRPr b="0" i="0">
                <a:latin typeface="Gill Sans Light" charset="0"/>
                <a:ea typeface="Gill Sans Light" charset="0"/>
                <a:cs typeface="Gill Sans Light" charset="0"/>
              </a:defRPr>
            </a:lvl2pPr>
            <a:lvl3pPr>
              <a:defRPr b="0" i="0">
                <a:latin typeface="Gill Sans Light" charset="0"/>
                <a:ea typeface="Gill Sans Light" charset="0"/>
                <a:cs typeface="Gill Sans Light" charset="0"/>
              </a:defRPr>
            </a:lvl3pPr>
            <a:lvl4pPr>
              <a:defRPr b="0" i="0">
                <a:latin typeface="Gill Sans Light" charset="0"/>
                <a:ea typeface="Gill Sans Light" charset="0"/>
                <a:cs typeface="Gill Sans Light" charset="0"/>
              </a:defRPr>
            </a:lvl4pPr>
            <a:lvl5pPr>
              <a:defRPr b="0" i="0">
                <a:latin typeface="Gill Sans Light" charset="0"/>
                <a:ea typeface="Gill Sans Light" charset="0"/>
                <a:cs typeface="Gill Sans Light"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292189684"/>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145458815"/>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12800" y="914400"/>
            <a:ext cx="5181600" cy="5105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914400"/>
            <a:ext cx="5181600" cy="5105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2368577"/>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13048753"/>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63878328"/>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897646209"/>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294631323"/>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950095112"/>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2211204"/>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37600" y="152400"/>
            <a:ext cx="2641600" cy="5867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12800" y="152400"/>
            <a:ext cx="7721600" cy="5867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29190270"/>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320800" y="152400"/>
            <a:ext cx="9550400" cy="533400"/>
          </a:xfrm>
        </p:spPr>
        <p:txBody>
          <a:bodyPr/>
          <a:lstStyle/>
          <a:p>
            <a:r>
              <a:rPr lang="en-US"/>
              <a:t>Click to edit Master title style</a:t>
            </a:r>
          </a:p>
        </p:txBody>
      </p:sp>
      <p:sp>
        <p:nvSpPr>
          <p:cNvPr id="3" name="Text Placeholder 2"/>
          <p:cNvSpPr>
            <a:spLocks noGrp="1"/>
          </p:cNvSpPr>
          <p:nvPr>
            <p:ph type="body" sz="half" idx="1"/>
          </p:nvPr>
        </p:nvSpPr>
        <p:spPr>
          <a:xfrm>
            <a:off x="812800" y="914400"/>
            <a:ext cx="5181600" cy="5105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914400"/>
            <a:ext cx="5181600" cy="5105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16928310"/>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320800" y="152400"/>
            <a:ext cx="9550400" cy="533400"/>
          </a:xfrm>
          <a:prstGeom prst="rect">
            <a:avLst/>
          </a:prstGeom>
          <a:noFill/>
          <a:ln>
            <a:noFill/>
          </a:ln>
          <a:effectLst/>
          <a:extLst>
            <a:ext uri="{FAA26D3D-D897-4be2-8F04-BA451C77F1D7}">
              <ma14:placeholderFlag xmlns:ma14="http://schemas.microsoft.com/office/mac/drawingml/2011/main" xmlns="" val="1"/>
            </a:ex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0478" tIns="44445" rIns="90478" bIns="44445" numCol="1" anchor="ctr" anchorCtr="0" compatLnSpc="1">
            <a:prstTxWarp prst="textNoShape">
              <a:avLst/>
            </a:prstTxWarp>
          </a:bodyPr>
          <a:lstStyle/>
          <a:p>
            <a:pPr lvl="0"/>
            <a:r>
              <a:rPr lang="en-US" altLang="en-US"/>
              <a:t>Slide Title</a:t>
            </a:r>
          </a:p>
        </p:txBody>
      </p:sp>
      <p:sp>
        <p:nvSpPr>
          <p:cNvPr id="1027" name="Rectangle 3"/>
          <p:cNvSpPr>
            <a:spLocks noGrp="1" noChangeArrowheads="1"/>
          </p:cNvSpPr>
          <p:nvPr>
            <p:ph type="body" idx="1"/>
          </p:nvPr>
        </p:nvSpPr>
        <p:spPr bwMode="auto">
          <a:xfrm>
            <a:off x="812800" y="914400"/>
            <a:ext cx="10566400" cy="5105400"/>
          </a:xfrm>
          <a:prstGeom prst="rect">
            <a:avLst/>
          </a:prstGeom>
          <a:noFill/>
          <a:ln>
            <a:noFill/>
          </a:ln>
          <a:effectLst/>
          <a:extLst>
            <a:ext uri="{FAA26D3D-D897-4be2-8F04-BA451C77F1D7}">
              <ma14:placeholderFlag xmlns:ma14="http://schemas.microsoft.com/office/mac/drawingml/2011/main" xmlns="" val="1"/>
            </a:ex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bodyPr>
          <a:lstStyle/>
          <a:p>
            <a:pPr lvl="0"/>
            <a:r>
              <a:rPr lang="en-US" altLang="en-US"/>
              <a:t>Body Text</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p:cNvSpPr>
            <a:spLocks noChangeArrowheads="1"/>
          </p:cNvSpPr>
          <p:nvPr userDrawn="1"/>
        </p:nvSpPr>
        <p:spPr bwMode="auto">
          <a:xfrm>
            <a:off x="11125200" y="6551613"/>
            <a:ext cx="888044" cy="305202"/>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0478" tIns="44445" rIns="90478" bIns="44445">
            <a:spAutoFit/>
          </a:bodyPr>
          <a:lstStyle/>
          <a:p>
            <a:pPr algn="ctr"/>
            <a:r>
              <a:rPr lang="en-US" sz="1400" b="0">
                <a:solidFill>
                  <a:srgbClr val="2A40E2"/>
                </a:solidFill>
                <a:latin typeface="Gill Sans" charset="0"/>
                <a:cs typeface="Gill Sans" charset="0"/>
              </a:rPr>
              <a:t>Lec 1.</a:t>
            </a:r>
            <a:fld id="{8B82DB86-37F9-954E-8F10-00623E1FD261}" type="slidenum">
              <a:rPr lang="en-US" sz="1400" b="0">
                <a:solidFill>
                  <a:srgbClr val="2A40E2"/>
                </a:solidFill>
                <a:latin typeface="Gill Sans" charset="0"/>
                <a:cs typeface="Gill Sans" charset="0"/>
              </a:rPr>
              <a:pPr algn="ctr"/>
              <a:t>‹#›</a:t>
            </a:fld>
            <a:endParaRPr lang="en-US" sz="1400" b="0">
              <a:solidFill>
                <a:srgbClr val="2A40E2"/>
              </a:solidFill>
              <a:latin typeface="Gill Sans" charset="0"/>
              <a:cs typeface="Gill Sans" charset="0"/>
            </a:endParaRPr>
          </a:p>
        </p:txBody>
      </p:sp>
      <p:sp>
        <p:nvSpPr>
          <p:cNvPr id="1030" name="Line 6"/>
          <p:cNvSpPr>
            <a:spLocks noChangeShapeType="1"/>
          </p:cNvSpPr>
          <p:nvPr userDrawn="1"/>
        </p:nvSpPr>
        <p:spPr bwMode="auto">
          <a:xfrm>
            <a:off x="1320800" y="685800"/>
            <a:ext cx="9550400" cy="0"/>
          </a:xfrm>
          <a:prstGeom prst="line">
            <a:avLst/>
          </a:prstGeom>
          <a:noFill/>
          <a:ln w="38100" cmpd="dbl">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eaLnBrk="1" hangingPunct="1">
              <a:defRPr/>
            </a:pPr>
            <a:endParaRPr lang="en-US">
              <a:ea typeface="Arial" charset="0"/>
              <a:cs typeface="Arial" charset="0"/>
            </a:endParaRPr>
          </a:p>
        </p:txBody>
      </p:sp>
    </p:spTree>
  </p:cSld>
  <p:clrMap bg1="lt1" tx1="dk1" bg2="lt2" tx2="dk2" accent1="accent1" accent2="accent2" accent3="accent3" accent4="accent4" accent5="accent5" accent6="accent6" hlink="hlink" folHlink="folHlink"/>
  <p:sldLayoutIdLst>
    <p:sldLayoutId id="2147483738"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Lst>
  <p:transition/>
  <p:txStyles>
    <p:titleStyle>
      <a:lvl1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1pPr>
      <a:lvl2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2pPr>
      <a:lvl3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3pPr>
      <a:lvl4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4pPr>
      <a:lvl5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5pPr>
      <a:lvl6pPr marL="457200" algn="ctr" rtl="0" eaLnBrk="0" fontAlgn="base" hangingPunct="0">
        <a:lnSpc>
          <a:spcPct val="90000"/>
        </a:lnSpc>
        <a:spcBef>
          <a:spcPct val="0"/>
        </a:spcBef>
        <a:spcAft>
          <a:spcPct val="0"/>
        </a:spcAft>
        <a:defRPr sz="2400" b="1">
          <a:solidFill>
            <a:srgbClr val="2A40E2"/>
          </a:solidFill>
          <a:latin typeface="Comic Sans MS" pitchFamily="66" charset="0"/>
        </a:defRPr>
      </a:lvl6pPr>
      <a:lvl7pPr marL="914400" algn="ctr" rtl="0" eaLnBrk="0" fontAlgn="base" hangingPunct="0">
        <a:lnSpc>
          <a:spcPct val="90000"/>
        </a:lnSpc>
        <a:spcBef>
          <a:spcPct val="0"/>
        </a:spcBef>
        <a:spcAft>
          <a:spcPct val="0"/>
        </a:spcAft>
        <a:defRPr sz="2400" b="1">
          <a:solidFill>
            <a:srgbClr val="2A40E2"/>
          </a:solidFill>
          <a:latin typeface="Comic Sans MS" pitchFamily="66" charset="0"/>
        </a:defRPr>
      </a:lvl7pPr>
      <a:lvl8pPr marL="1371600" algn="ctr" rtl="0" eaLnBrk="0" fontAlgn="base" hangingPunct="0">
        <a:lnSpc>
          <a:spcPct val="90000"/>
        </a:lnSpc>
        <a:spcBef>
          <a:spcPct val="0"/>
        </a:spcBef>
        <a:spcAft>
          <a:spcPct val="0"/>
        </a:spcAft>
        <a:defRPr sz="2400" b="1">
          <a:solidFill>
            <a:srgbClr val="2A40E2"/>
          </a:solidFill>
          <a:latin typeface="Comic Sans MS" pitchFamily="66" charset="0"/>
        </a:defRPr>
      </a:lvl8pPr>
      <a:lvl9pPr marL="1828800" algn="ctr" rtl="0" eaLnBrk="0" fontAlgn="base" hangingPunct="0">
        <a:lnSpc>
          <a:spcPct val="90000"/>
        </a:lnSpc>
        <a:spcBef>
          <a:spcPct val="0"/>
        </a:spcBef>
        <a:spcAft>
          <a:spcPct val="0"/>
        </a:spcAft>
        <a:defRPr sz="2400" b="1">
          <a:solidFill>
            <a:srgbClr val="2A40E2"/>
          </a:solidFill>
          <a:latin typeface="Comic Sans MS" pitchFamily="66" charset="0"/>
        </a:defRPr>
      </a:lvl9pPr>
    </p:titleStyle>
    <p:body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1.png"/><Relationship Id="rId18" Type="http://schemas.openxmlformats.org/officeDocument/2006/relationships/image" Target="../media/image16.tiff"/><Relationship Id="rId3" Type="http://schemas.openxmlformats.org/officeDocument/2006/relationships/image" Target="../media/image2.png"/><Relationship Id="rId21" Type="http://schemas.openxmlformats.org/officeDocument/2006/relationships/image" Target="../media/image19.tiff"/><Relationship Id="rId7" Type="http://schemas.openxmlformats.org/officeDocument/2006/relationships/hyperlink" Target="http://images.google.com/imgres?imgurl=http://static.howstuffworks.com/gif/cell-phone-nokia.jpg&amp;imgrefurl=http://electronics.howstuffworks.com/cell-phone.htm&amp;h=200&amp;w=200&amp;sz=22&amp;tbnid=ftqjm3_El-gJ:&amp;tbnh=99&amp;tbnw=99&amp;start=7&amp;prev=/images?q=cell+phone&amp;hl=en&amp;lr=&amp;ie=UTF-8" TargetMode="External"/><Relationship Id="rId12" Type="http://schemas.openxmlformats.org/officeDocument/2006/relationships/image" Target="../media/image10.png"/><Relationship Id="rId17" Type="http://schemas.openxmlformats.org/officeDocument/2006/relationships/image" Target="../media/image15.png"/><Relationship Id="rId2" Type="http://schemas.openxmlformats.org/officeDocument/2006/relationships/image" Target="../media/image1.jpeg"/><Relationship Id="rId16" Type="http://schemas.openxmlformats.org/officeDocument/2006/relationships/image" Target="../media/image14.png"/><Relationship Id="rId20" Type="http://schemas.openxmlformats.org/officeDocument/2006/relationships/image" Target="../media/image18.tiff"/><Relationship Id="rId1" Type="http://schemas.openxmlformats.org/officeDocument/2006/relationships/slideLayout" Target="../slideLayouts/slideLayout6.xml"/><Relationship Id="rId6" Type="http://schemas.openxmlformats.org/officeDocument/2006/relationships/image" Target="../media/image5.png"/><Relationship Id="rId11" Type="http://schemas.openxmlformats.org/officeDocument/2006/relationships/image" Target="../media/image9.jpeg"/><Relationship Id="rId5" Type="http://schemas.openxmlformats.org/officeDocument/2006/relationships/image" Target="../media/image4.png"/><Relationship Id="rId15" Type="http://schemas.openxmlformats.org/officeDocument/2006/relationships/image" Target="../media/image13.png"/><Relationship Id="rId10" Type="http://schemas.openxmlformats.org/officeDocument/2006/relationships/image" Target="../media/image8.jpeg"/><Relationship Id="rId19" Type="http://schemas.openxmlformats.org/officeDocument/2006/relationships/image" Target="../media/image17.tiff"/><Relationship Id="rId4" Type="http://schemas.openxmlformats.org/officeDocument/2006/relationships/image" Target="../media/image3.jpeg"/><Relationship Id="rId9" Type="http://schemas.openxmlformats.org/officeDocument/2006/relationships/image" Target="../media/image7.jpeg"/><Relationship Id="rId14" Type="http://schemas.openxmlformats.org/officeDocument/2006/relationships/image" Target="../media/image12.png"/></Relationships>
</file>

<file path=ppt/slides/_rels/slide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6.xml"/><Relationship Id="rId5" Type="http://schemas.openxmlformats.org/officeDocument/2006/relationships/image" Target="../media/image29.png"/><Relationship Id="rId4" Type="http://schemas.openxmlformats.org/officeDocument/2006/relationships/image" Target="../media/image28.png"/></Relationships>
</file>

<file path=ppt/slides/_rels/slide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6.png"/><Relationship Id="rId1" Type="http://schemas.openxmlformats.org/officeDocument/2006/relationships/slideLayout" Target="../slideLayouts/slideLayout6.xml"/><Relationship Id="rId4" Type="http://schemas.openxmlformats.org/officeDocument/2006/relationships/image" Target="../media/image29.png"/></Relationships>
</file>

<file path=ppt/slides/_rels/slide2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0.png"/><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2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6.png"/><Relationship Id="rId1" Type="http://schemas.openxmlformats.org/officeDocument/2006/relationships/slideLayout" Target="../slideLayouts/slideLayout6.xml"/><Relationship Id="rId4" Type="http://schemas.openxmlformats.org/officeDocument/2006/relationships/image" Target="../media/image29.png"/></Relationships>
</file>

<file path=ppt/slides/_rels/slide2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6.png"/><Relationship Id="rId1" Type="http://schemas.openxmlformats.org/officeDocument/2006/relationships/slideLayout" Target="../slideLayouts/slideLayout6.xml"/><Relationship Id="rId5" Type="http://schemas.openxmlformats.org/officeDocument/2006/relationships/hyperlink" Target="https://commons.wikimedia.org/wiki/File:Sony_Li-ion_battery_pack_VGP-BPS9-B-4427.jpg" TargetMode="External"/><Relationship Id="rId4" Type="http://schemas.openxmlformats.org/officeDocument/2006/relationships/image" Target="../media/image34.jpe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8" Type="http://schemas.openxmlformats.org/officeDocument/2006/relationships/image" Target="../media/image40.png"/><Relationship Id="rId13" Type="http://schemas.openxmlformats.org/officeDocument/2006/relationships/image" Target="../media/image45.png"/><Relationship Id="rId3" Type="http://schemas.openxmlformats.org/officeDocument/2006/relationships/image" Target="../media/image35.png"/><Relationship Id="rId7" Type="http://schemas.openxmlformats.org/officeDocument/2006/relationships/image" Target="../media/image39.jpeg"/><Relationship Id="rId12" Type="http://schemas.openxmlformats.org/officeDocument/2006/relationships/image" Target="../media/image44.jpe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38.png"/><Relationship Id="rId11" Type="http://schemas.openxmlformats.org/officeDocument/2006/relationships/image" Target="../media/image43.png"/><Relationship Id="rId5" Type="http://schemas.openxmlformats.org/officeDocument/2006/relationships/image" Target="../media/image37.png"/><Relationship Id="rId15" Type="http://schemas.openxmlformats.org/officeDocument/2006/relationships/image" Target="../media/image46.png"/><Relationship Id="rId10" Type="http://schemas.openxmlformats.org/officeDocument/2006/relationships/image" Target="../media/image42.png"/><Relationship Id="rId4" Type="http://schemas.openxmlformats.org/officeDocument/2006/relationships/image" Target="../media/image36.png"/><Relationship Id="rId9" Type="http://schemas.openxmlformats.org/officeDocument/2006/relationships/image" Target="../media/image41.png"/><Relationship Id="rId14" Type="http://schemas.openxmlformats.org/officeDocument/2006/relationships/oleObject" Target="../embeddings/oleObject1.bin"/></Relationships>
</file>

<file path=ppt/slides/_rels/slide31.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image" Target="../media/image47.png"/><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50.emf"/></Relationships>
</file>

<file path=ppt/slides/_rels/slide3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54.tif"/><Relationship Id="rId2" Type="http://schemas.openxmlformats.org/officeDocument/2006/relationships/image" Target="../media/image53.pn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56.tiff"/><Relationship Id="rId2" Type="http://schemas.openxmlformats.org/officeDocument/2006/relationships/image" Target="../media/image55.tiff"/><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hyperlink" Target="http://www.ospmag.com/issue/article/Time-Is-Not-Always-On-Our-Side" TargetMode="External"/></Relationships>
</file>

<file path=ppt/slides/_rels/slide38.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8" Type="http://schemas.openxmlformats.org/officeDocument/2006/relationships/hyperlink" Target="http://images.google.com/imgres?imgurl=http://static.howstuffworks.com/gif/cell-phone-nokia.jpg&amp;imgrefurl=http://electronics.howstuffworks.com/cell-phone.htm&amp;h=200&amp;w=200&amp;sz=22&amp;tbnid=ftqjm3_El-gJ:&amp;tbnh=99&amp;tbnw=99&amp;start=7&amp;prev=/images?q=cell+phone&amp;hl=en&amp;lr=&amp;ie=UTF-8" TargetMode="External"/><Relationship Id="rId13" Type="http://schemas.openxmlformats.org/officeDocument/2006/relationships/image" Target="../media/image10.png"/><Relationship Id="rId18" Type="http://schemas.openxmlformats.org/officeDocument/2006/relationships/image" Target="../media/image15.png"/><Relationship Id="rId3" Type="http://schemas.openxmlformats.org/officeDocument/2006/relationships/image" Target="../media/image1.jpeg"/><Relationship Id="rId21" Type="http://schemas.openxmlformats.org/officeDocument/2006/relationships/image" Target="../media/image18.tiff"/><Relationship Id="rId7" Type="http://schemas.openxmlformats.org/officeDocument/2006/relationships/image" Target="../media/image5.png"/><Relationship Id="rId12" Type="http://schemas.openxmlformats.org/officeDocument/2006/relationships/image" Target="../media/image9.jpeg"/><Relationship Id="rId17" Type="http://schemas.openxmlformats.org/officeDocument/2006/relationships/image" Target="../media/image14.png"/><Relationship Id="rId2" Type="http://schemas.openxmlformats.org/officeDocument/2006/relationships/notesSlide" Target="../notesSlides/notesSlide7.xml"/><Relationship Id="rId16" Type="http://schemas.openxmlformats.org/officeDocument/2006/relationships/image" Target="../media/image13.png"/><Relationship Id="rId20" Type="http://schemas.openxmlformats.org/officeDocument/2006/relationships/image" Target="../media/image17.tiff"/><Relationship Id="rId1" Type="http://schemas.openxmlformats.org/officeDocument/2006/relationships/slideLayout" Target="../slideLayouts/slideLayout2.xml"/><Relationship Id="rId6" Type="http://schemas.openxmlformats.org/officeDocument/2006/relationships/image" Target="../media/image4.png"/><Relationship Id="rId11" Type="http://schemas.openxmlformats.org/officeDocument/2006/relationships/image" Target="../media/image8.jpeg"/><Relationship Id="rId5" Type="http://schemas.openxmlformats.org/officeDocument/2006/relationships/image" Target="../media/image3.jpeg"/><Relationship Id="rId15" Type="http://schemas.openxmlformats.org/officeDocument/2006/relationships/image" Target="../media/image12.png"/><Relationship Id="rId10" Type="http://schemas.openxmlformats.org/officeDocument/2006/relationships/image" Target="../media/image7.jpeg"/><Relationship Id="rId19" Type="http://schemas.openxmlformats.org/officeDocument/2006/relationships/image" Target="../media/image16.tiff"/><Relationship Id="rId4" Type="http://schemas.openxmlformats.org/officeDocument/2006/relationships/image" Target="../media/image2.png"/><Relationship Id="rId9" Type="http://schemas.openxmlformats.org/officeDocument/2006/relationships/image" Target="../media/image6.jpeg"/><Relationship Id="rId14" Type="http://schemas.openxmlformats.org/officeDocument/2006/relationships/image" Target="../media/image11.png"/><Relationship Id="rId22" Type="http://schemas.openxmlformats.org/officeDocument/2006/relationships/image" Target="../media/image19.tiff"/></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59.emf"/><Relationship Id="rId7" Type="http://schemas.openxmlformats.org/officeDocument/2006/relationships/image" Target="../media/image61.emf"/><Relationship Id="rId2" Type="http://schemas.openxmlformats.org/officeDocument/2006/relationships/oleObject" Target="../embeddings/oleObject3.bin"/><Relationship Id="rId1" Type="http://schemas.openxmlformats.org/officeDocument/2006/relationships/slideLayout" Target="../slideLayouts/slideLayout2.xml"/><Relationship Id="rId6" Type="http://schemas.openxmlformats.org/officeDocument/2006/relationships/oleObject" Target="../embeddings/oleObject5.bin"/><Relationship Id="rId5" Type="http://schemas.openxmlformats.org/officeDocument/2006/relationships/image" Target="../media/image60.emf"/><Relationship Id="rId4" Type="http://schemas.openxmlformats.org/officeDocument/2006/relationships/oleObject" Target="../embeddings/oleObject4.bin"/></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1.xml"/><Relationship Id="rId4" Type="http://schemas.openxmlformats.org/officeDocument/2006/relationships/image" Target="../media/image6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66.png"/><Relationship Id="rId1" Type="http://schemas.openxmlformats.org/officeDocument/2006/relationships/slideLayout" Target="../slideLayouts/slideLayout4.xml"/><Relationship Id="rId5" Type="http://schemas.microsoft.com/office/2007/relationships/hdphoto" Target="../media/hdphoto2.wdp"/><Relationship Id="rId4" Type="http://schemas.openxmlformats.org/officeDocument/2006/relationships/image" Target="../media/image67.pn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2133600" y="1295400"/>
            <a:ext cx="7848600" cy="2057400"/>
          </a:xfrm>
        </p:spPr>
        <p:txBody>
          <a:bodyPr/>
          <a:lstStyle/>
          <a:p>
            <a:pPr>
              <a:defRPr/>
            </a:pPr>
            <a:r>
              <a:rPr lang="en-US" sz="3000" dirty="0"/>
              <a:t>CSC 112: Computer Operating Systems</a:t>
            </a:r>
            <a:br>
              <a:rPr lang="en-US" sz="3000" dirty="0"/>
            </a:br>
            <a:r>
              <a:rPr lang="en-US" sz="3000" dirty="0"/>
              <a:t>Lecture 1</a:t>
            </a:r>
            <a:br>
              <a:rPr lang="en-US" sz="3000" dirty="0"/>
            </a:br>
            <a:br>
              <a:rPr lang="en-US" sz="3000" dirty="0"/>
            </a:br>
            <a:r>
              <a:rPr lang="en-US" sz="3000" dirty="0"/>
              <a:t>What is an Operating System?</a:t>
            </a:r>
          </a:p>
        </p:txBody>
      </p:sp>
      <p:sp>
        <p:nvSpPr>
          <p:cNvPr id="3075" name="Rectangle 3"/>
          <p:cNvSpPr>
            <a:spLocks noGrp="1" noChangeArrowheads="1"/>
          </p:cNvSpPr>
          <p:nvPr>
            <p:ph type="subTitle" idx="1"/>
          </p:nvPr>
        </p:nvSpPr>
        <p:spPr>
          <a:xfrm>
            <a:off x="2133600" y="4191000"/>
            <a:ext cx="8001000" cy="1447800"/>
          </a:xfrm>
        </p:spPr>
        <p:txBody>
          <a:bodyPr/>
          <a:lstStyle/>
          <a:p>
            <a:pPr marL="285750" indent="-285750">
              <a:defRPr/>
            </a:pPr>
            <a:r>
              <a:rPr lang="en-GB" altLang="en-US" dirty="0">
                <a:ea typeface="Gill Sans" charset="0"/>
              </a:rPr>
              <a:t>Department of Computer Science, </a:t>
            </a:r>
          </a:p>
          <a:p>
            <a:pPr marL="285750" indent="-285750">
              <a:defRPr/>
            </a:pPr>
            <a:r>
              <a:rPr lang="en-GB" altLang="en-US" dirty="0">
                <a:ea typeface="Gill Sans" charset="0"/>
              </a:rPr>
              <a:t>Hofstra University</a:t>
            </a:r>
            <a:endParaRPr lang="en-US" altLang="en-US" dirty="0">
              <a:ea typeface="Gill Sans" charset="0"/>
            </a:endParaRPr>
          </a:p>
        </p:txBody>
      </p:sp>
      <p:sp>
        <p:nvSpPr>
          <p:cNvPr id="2" name="TextBox 1">
            <a:extLst>
              <a:ext uri="{FF2B5EF4-FFF2-40B4-BE49-F238E27FC236}">
                <a16:creationId xmlns:a16="http://schemas.microsoft.com/office/drawing/2014/main" id="{4A54C102-4C93-3C82-B442-42CF1D6FB5B3}"/>
              </a:ext>
            </a:extLst>
          </p:cNvPr>
          <p:cNvSpPr txBox="1"/>
          <p:nvPr/>
        </p:nvSpPr>
        <p:spPr>
          <a:xfrm>
            <a:off x="2713676" y="6477000"/>
            <a:ext cx="6840847" cy="276999"/>
          </a:xfrm>
          <a:prstGeom prst="rect">
            <a:avLst/>
          </a:prstGeom>
        </p:spPr>
        <p:style>
          <a:lnRef idx="2">
            <a:schemeClr val="accent5"/>
          </a:lnRef>
          <a:fillRef idx="1">
            <a:schemeClr val="lt1"/>
          </a:fillRef>
          <a:effectRef idx="0">
            <a:schemeClr val="accent5"/>
          </a:effectRef>
          <a:fontRef idx="minor">
            <a:schemeClr val="dk1"/>
          </a:fontRef>
        </p:style>
        <p:txBody>
          <a:bodyPr wrap="none" rtlCol="0">
            <a:spAutoFit/>
          </a:bodyPr>
          <a:lstStyle/>
          <a:p>
            <a:r>
              <a:rPr lang="en-US" altLang="zh-CN" sz="1200" dirty="0">
                <a:latin typeface="Gill Sans Light"/>
              </a:rPr>
              <a:t>Acknowledgement: Lecture slides based on UC Berkeley </a:t>
            </a:r>
            <a:r>
              <a:rPr lang="en-GB" altLang="zh-CN" sz="1200" dirty="0">
                <a:latin typeface="Gill Sans Light"/>
              </a:rPr>
              <a:t>CS 162: Operating Systems and System Programming</a:t>
            </a:r>
            <a:r>
              <a:rPr lang="en-US" altLang="zh-CN" sz="1200" dirty="0">
                <a:latin typeface="Gill Sans Light"/>
              </a:rPr>
              <a:t> </a:t>
            </a:r>
            <a:endParaRPr lang="en-SE" sz="1200" dirty="0">
              <a:latin typeface="Gill Sans Light"/>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AD0A0F-6604-43EA-9CB9-26A71ADEA0E8}"/>
              </a:ext>
            </a:extLst>
          </p:cNvPr>
          <p:cNvSpPr>
            <a:spLocks noGrp="1"/>
          </p:cNvSpPr>
          <p:nvPr>
            <p:ph type="title"/>
          </p:nvPr>
        </p:nvSpPr>
        <p:spPr/>
        <p:txBody>
          <a:bodyPr/>
          <a:lstStyle/>
          <a:p>
            <a:r>
              <a:rPr lang="en-US" dirty="0">
                <a:latin typeface="Gill Sans Light"/>
              </a:rPr>
              <a:t>Across Incredible Diversity</a:t>
            </a:r>
          </a:p>
        </p:txBody>
      </p:sp>
      <p:grpSp>
        <p:nvGrpSpPr>
          <p:cNvPr id="8" name="Group 10">
            <a:extLst>
              <a:ext uri="{FF2B5EF4-FFF2-40B4-BE49-F238E27FC236}">
                <a16:creationId xmlns:a16="http://schemas.microsoft.com/office/drawing/2014/main" id="{5D10F813-79BD-4A45-BAB8-EB342759AE6F}"/>
              </a:ext>
            </a:extLst>
          </p:cNvPr>
          <p:cNvGrpSpPr>
            <a:grpSpLocks/>
          </p:cNvGrpSpPr>
          <p:nvPr/>
        </p:nvGrpSpPr>
        <p:grpSpPr bwMode="auto">
          <a:xfrm>
            <a:off x="2943179" y="1271117"/>
            <a:ext cx="5672008" cy="4752018"/>
            <a:chOff x="2869" y="1485"/>
            <a:chExt cx="2608" cy="2130"/>
          </a:xfrm>
          <a:noFill/>
        </p:grpSpPr>
        <p:sp>
          <p:nvSpPr>
            <p:cNvPr id="9" name="Text Box 11">
              <a:extLst>
                <a:ext uri="{FF2B5EF4-FFF2-40B4-BE49-F238E27FC236}">
                  <a16:creationId xmlns:a16="http://schemas.microsoft.com/office/drawing/2014/main" id="{9A3C0744-85EC-4ABE-B26A-D7A4A3E1B44B}"/>
                </a:ext>
              </a:extLst>
            </p:cNvPr>
            <p:cNvSpPr txBox="1">
              <a:spLocks noChangeArrowheads="1"/>
            </p:cNvSpPr>
            <p:nvPr/>
          </p:nvSpPr>
          <p:spPr bwMode="auto">
            <a:xfrm>
              <a:off x="4126" y="3436"/>
              <a:ext cx="466" cy="179"/>
            </a:xfrm>
            <a:prstGeom prst="rect">
              <a:avLst/>
            </a:prstGeom>
            <a:grpFill/>
            <a:ln w="12700">
              <a:noFill/>
              <a:miter lim="800000"/>
              <a:headEnd type="none" w="sm" len="sm"/>
              <a:tailEnd type="none" w="sm" len="sm"/>
            </a:ln>
            <a:effectLst/>
          </p:spPr>
          <p:txBody>
            <a:bodyPr wrap="square">
              <a:prstTxWarp prst="textNoShape">
                <a:avLst/>
              </a:prstTxWarp>
              <a:spAutoFit/>
            </a:bodyPr>
            <a:lstStyle/>
            <a:p>
              <a:pPr algn="ctr" eaLnBrk="0" hangingPunct="0"/>
              <a:r>
                <a:rPr lang="en-US" sz="2000" b="1" dirty="0">
                  <a:latin typeface="Gill Sans Light"/>
                </a:rPr>
                <a:t>years</a:t>
              </a:r>
            </a:p>
          </p:txBody>
        </p:sp>
        <p:sp>
          <p:nvSpPr>
            <p:cNvPr id="10" name="Text Box 12">
              <a:extLst>
                <a:ext uri="{FF2B5EF4-FFF2-40B4-BE49-F238E27FC236}">
                  <a16:creationId xmlns:a16="http://schemas.microsoft.com/office/drawing/2014/main" id="{472C6D60-7735-4384-821D-DA7F7CB1939E}"/>
                </a:ext>
              </a:extLst>
            </p:cNvPr>
            <p:cNvSpPr txBox="1">
              <a:spLocks noChangeArrowheads="1"/>
            </p:cNvSpPr>
            <p:nvPr/>
          </p:nvSpPr>
          <p:spPr bwMode="auto">
            <a:xfrm>
              <a:off x="2869" y="1485"/>
              <a:ext cx="792" cy="317"/>
            </a:xfrm>
            <a:prstGeom prst="rect">
              <a:avLst/>
            </a:prstGeom>
            <a:grpFill/>
            <a:ln w="9525">
              <a:noFill/>
              <a:miter lim="800000"/>
              <a:headEnd/>
              <a:tailEnd/>
            </a:ln>
            <a:effectLst/>
          </p:spPr>
          <p:txBody>
            <a:bodyPr wrap="square">
              <a:prstTxWarp prst="textNoShape">
                <a:avLst/>
              </a:prstTxWarp>
              <a:spAutoFit/>
            </a:bodyPr>
            <a:lstStyle/>
            <a:p>
              <a:pPr eaLnBrk="0" hangingPunct="0"/>
              <a:r>
                <a:rPr lang="en-US" sz="2000" b="1" dirty="0">
                  <a:latin typeface="Gill Sans Light"/>
                </a:rPr>
                <a:t>Computers</a:t>
              </a:r>
            </a:p>
            <a:p>
              <a:pPr eaLnBrk="0" hangingPunct="0"/>
              <a:r>
                <a:rPr lang="en-US" sz="2000" b="1" dirty="0">
                  <a:latin typeface="Gill Sans Light"/>
                </a:rPr>
                <a:t>Per Person</a:t>
              </a:r>
            </a:p>
          </p:txBody>
        </p:sp>
        <p:sp>
          <p:nvSpPr>
            <p:cNvPr id="11" name="Text Box 13">
              <a:extLst>
                <a:ext uri="{FF2B5EF4-FFF2-40B4-BE49-F238E27FC236}">
                  <a16:creationId xmlns:a16="http://schemas.microsoft.com/office/drawing/2014/main" id="{5B27FFE7-23EE-4D47-BD91-B642FD63CD8A}"/>
                </a:ext>
              </a:extLst>
            </p:cNvPr>
            <p:cNvSpPr txBox="1">
              <a:spLocks noChangeArrowheads="1"/>
            </p:cNvSpPr>
            <p:nvPr/>
          </p:nvSpPr>
          <p:spPr bwMode="auto">
            <a:xfrm>
              <a:off x="3043" y="3155"/>
              <a:ext cx="421" cy="179"/>
            </a:xfrm>
            <a:prstGeom prst="rect">
              <a:avLst/>
            </a:prstGeom>
            <a:grpFill/>
            <a:ln w="9525">
              <a:noFill/>
              <a:miter lim="800000"/>
              <a:headEnd/>
              <a:tailEnd/>
            </a:ln>
            <a:effectLst/>
          </p:spPr>
          <p:txBody>
            <a:bodyPr wrap="square">
              <a:prstTxWarp prst="textNoShape">
                <a:avLst/>
              </a:prstTxWarp>
              <a:spAutoFit/>
            </a:bodyPr>
            <a:lstStyle/>
            <a:p>
              <a:pPr eaLnBrk="0" hangingPunct="0"/>
              <a:r>
                <a:rPr lang="en-US" sz="2000" b="1">
                  <a:latin typeface="Gill Sans Light"/>
                </a:rPr>
                <a:t>10</a:t>
              </a:r>
              <a:r>
                <a:rPr lang="en-US" sz="2000" b="1" baseline="30000">
                  <a:latin typeface="Gill Sans Light"/>
                </a:rPr>
                <a:t>3</a:t>
              </a:r>
              <a:r>
                <a:rPr lang="en-US" sz="2000" b="1">
                  <a:latin typeface="Gill Sans Light"/>
                </a:rPr>
                <a:t>:1</a:t>
              </a:r>
            </a:p>
          </p:txBody>
        </p:sp>
        <p:sp>
          <p:nvSpPr>
            <p:cNvPr id="12" name="Text Box 14">
              <a:extLst>
                <a:ext uri="{FF2B5EF4-FFF2-40B4-BE49-F238E27FC236}">
                  <a16:creationId xmlns:a16="http://schemas.microsoft.com/office/drawing/2014/main" id="{F7BBCF28-807A-4A09-93E1-A36FEF37FEBD}"/>
                </a:ext>
              </a:extLst>
            </p:cNvPr>
            <p:cNvSpPr txBox="1">
              <a:spLocks noChangeArrowheads="1"/>
            </p:cNvSpPr>
            <p:nvPr/>
          </p:nvSpPr>
          <p:spPr bwMode="auto">
            <a:xfrm>
              <a:off x="3043" y="1824"/>
              <a:ext cx="421" cy="179"/>
            </a:xfrm>
            <a:prstGeom prst="rect">
              <a:avLst/>
            </a:prstGeom>
            <a:grpFill/>
            <a:ln w="9525">
              <a:noFill/>
              <a:miter lim="800000"/>
              <a:headEnd/>
              <a:tailEnd/>
            </a:ln>
            <a:effectLst/>
          </p:spPr>
          <p:txBody>
            <a:bodyPr wrap="square">
              <a:prstTxWarp prst="textNoShape">
                <a:avLst/>
              </a:prstTxWarp>
              <a:spAutoFit/>
            </a:bodyPr>
            <a:lstStyle/>
            <a:p>
              <a:pPr eaLnBrk="0" hangingPunct="0"/>
              <a:r>
                <a:rPr lang="en-US" sz="2000" b="1" dirty="0">
                  <a:latin typeface="Gill Sans Light"/>
                </a:rPr>
                <a:t>1:10</a:t>
              </a:r>
              <a:r>
                <a:rPr lang="en-US" sz="2000" b="1" baseline="30000" dirty="0">
                  <a:latin typeface="Gill Sans Light"/>
                </a:rPr>
                <a:t>6</a:t>
              </a:r>
            </a:p>
          </p:txBody>
        </p:sp>
        <p:sp>
          <p:nvSpPr>
            <p:cNvPr id="13" name="Text Box 15">
              <a:extLst>
                <a:ext uri="{FF2B5EF4-FFF2-40B4-BE49-F238E27FC236}">
                  <a16:creationId xmlns:a16="http://schemas.microsoft.com/office/drawing/2014/main" id="{3BD8810E-0392-437B-B9E5-5B4A64D9B4AE}"/>
                </a:ext>
              </a:extLst>
            </p:cNvPr>
            <p:cNvSpPr txBox="1">
              <a:spLocks noChangeArrowheads="1"/>
            </p:cNvSpPr>
            <p:nvPr/>
          </p:nvSpPr>
          <p:spPr bwMode="auto">
            <a:xfrm>
              <a:off x="4800" y="2640"/>
              <a:ext cx="677" cy="166"/>
            </a:xfrm>
            <a:prstGeom prst="rect">
              <a:avLst/>
            </a:prstGeom>
            <a:grpFill/>
            <a:ln w="12700">
              <a:noFill/>
              <a:miter lim="800000"/>
              <a:headEnd type="none" w="sm" len="sm"/>
              <a:tailEnd type="none" w="sm" len="sm"/>
            </a:ln>
            <a:effectLst/>
          </p:spPr>
          <p:txBody>
            <a:bodyPr wrap="square">
              <a:prstTxWarp prst="textNoShape">
                <a:avLst/>
              </a:prstTxWarp>
              <a:spAutoFit/>
            </a:bodyPr>
            <a:lstStyle/>
            <a:p>
              <a:pPr eaLnBrk="0" hangingPunct="0"/>
              <a:r>
                <a:rPr lang="en-US">
                  <a:latin typeface="Gill Sans Light"/>
                </a:rPr>
                <a:t>Laptop</a:t>
              </a:r>
            </a:p>
          </p:txBody>
        </p:sp>
        <p:sp>
          <p:nvSpPr>
            <p:cNvPr id="14" name="Text Box 16">
              <a:extLst>
                <a:ext uri="{FF2B5EF4-FFF2-40B4-BE49-F238E27FC236}">
                  <a16:creationId xmlns:a16="http://schemas.microsoft.com/office/drawing/2014/main" id="{CE58D283-2279-4B60-A808-35810433D7FC}"/>
                </a:ext>
              </a:extLst>
            </p:cNvPr>
            <p:cNvSpPr txBox="1">
              <a:spLocks noChangeArrowheads="1"/>
            </p:cNvSpPr>
            <p:nvPr/>
          </p:nvSpPr>
          <p:spPr bwMode="auto">
            <a:xfrm>
              <a:off x="4958" y="2814"/>
              <a:ext cx="394" cy="166"/>
            </a:xfrm>
            <a:prstGeom prst="rect">
              <a:avLst/>
            </a:prstGeom>
            <a:grpFill/>
            <a:ln w="12700">
              <a:noFill/>
              <a:miter lim="800000"/>
              <a:headEnd type="none" w="sm" len="sm"/>
              <a:tailEnd type="none" w="sm" len="sm"/>
            </a:ln>
            <a:effectLst/>
          </p:spPr>
          <p:txBody>
            <a:bodyPr wrap="square">
              <a:prstTxWarp prst="textNoShape">
                <a:avLst/>
              </a:prstTxWarp>
              <a:spAutoFit/>
            </a:bodyPr>
            <a:lstStyle/>
            <a:p>
              <a:pPr eaLnBrk="0" hangingPunct="0"/>
              <a:r>
                <a:rPr lang="en-US">
                  <a:latin typeface="Gill Sans Light"/>
                </a:rPr>
                <a:t>PDA</a:t>
              </a:r>
            </a:p>
          </p:txBody>
        </p:sp>
        <p:sp>
          <p:nvSpPr>
            <p:cNvPr id="15" name="Line 17">
              <a:extLst>
                <a:ext uri="{FF2B5EF4-FFF2-40B4-BE49-F238E27FC236}">
                  <a16:creationId xmlns:a16="http://schemas.microsoft.com/office/drawing/2014/main" id="{09C3DDC5-C7DF-4AB7-A622-418D57B84F7B}"/>
                </a:ext>
              </a:extLst>
            </p:cNvPr>
            <p:cNvSpPr>
              <a:spLocks noChangeShapeType="1"/>
            </p:cNvSpPr>
            <p:nvPr/>
          </p:nvSpPr>
          <p:spPr bwMode="auto">
            <a:xfrm>
              <a:off x="3458" y="3385"/>
              <a:ext cx="1978" cy="0"/>
            </a:xfrm>
            <a:prstGeom prst="line">
              <a:avLst/>
            </a:prstGeom>
            <a:grpFill/>
            <a:ln w="38100">
              <a:solidFill>
                <a:schemeClr val="tx1"/>
              </a:solidFill>
              <a:round/>
              <a:headEnd type="none" w="sm" len="sm"/>
              <a:tailEnd type="triangle" w="med" len="med"/>
            </a:ln>
            <a:effectLst/>
          </p:spPr>
          <p:txBody>
            <a:bodyPr>
              <a:prstTxWarp prst="textNoShape">
                <a:avLst/>
              </a:prstTxWarp>
            </a:bodyPr>
            <a:lstStyle/>
            <a:p>
              <a:endParaRPr lang="en-US">
                <a:latin typeface="Gill Sans Light"/>
              </a:endParaRPr>
            </a:p>
          </p:txBody>
        </p:sp>
        <p:sp>
          <p:nvSpPr>
            <p:cNvPr id="16" name="Line 18">
              <a:extLst>
                <a:ext uri="{FF2B5EF4-FFF2-40B4-BE49-F238E27FC236}">
                  <a16:creationId xmlns:a16="http://schemas.microsoft.com/office/drawing/2014/main" id="{46AEC945-A569-410E-8F23-F28CB2CA9B80}"/>
                </a:ext>
              </a:extLst>
            </p:cNvPr>
            <p:cNvSpPr>
              <a:spLocks noChangeShapeType="1"/>
            </p:cNvSpPr>
            <p:nvPr/>
          </p:nvSpPr>
          <p:spPr bwMode="auto">
            <a:xfrm flipV="1">
              <a:off x="3462" y="1715"/>
              <a:ext cx="0" cy="1661"/>
            </a:xfrm>
            <a:prstGeom prst="line">
              <a:avLst/>
            </a:prstGeom>
            <a:grpFill/>
            <a:ln w="38100">
              <a:solidFill>
                <a:schemeClr val="tx1"/>
              </a:solidFill>
              <a:round/>
              <a:headEnd type="none" w="sm" len="sm"/>
              <a:tailEnd type="triangle" w="med" len="med"/>
            </a:ln>
            <a:effectLst/>
          </p:spPr>
          <p:txBody>
            <a:bodyPr>
              <a:prstTxWarp prst="textNoShape">
                <a:avLst/>
              </a:prstTxWarp>
            </a:bodyPr>
            <a:lstStyle/>
            <a:p>
              <a:endParaRPr lang="en-US">
                <a:latin typeface="Gill Sans Light"/>
              </a:endParaRPr>
            </a:p>
          </p:txBody>
        </p:sp>
        <p:pic>
          <p:nvPicPr>
            <p:cNvPr id="17" name="Picture 16" descr="whirlwind-computer">
              <a:extLst>
                <a:ext uri="{FF2B5EF4-FFF2-40B4-BE49-F238E27FC236}">
                  <a16:creationId xmlns:a16="http://schemas.microsoft.com/office/drawing/2014/main" id="{389B4B18-20AD-45EC-8DDD-B70146E4AC0D}"/>
                </a:ext>
              </a:extLst>
            </p:cNvPr>
            <p:cNvPicPr>
              <a:picLocks noChangeAspect="1" noChangeArrowheads="1"/>
            </p:cNvPicPr>
            <p:nvPr/>
          </p:nvPicPr>
          <p:blipFill>
            <a:blip r:embed="rId2"/>
            <a:srcRect/>
            <a:stretch>
              <a:fillRect/>
            </a:stretch>
          </p:blipFill>
          <p:spPr bwMode="auto">
            <a:xfrm>
              <a:off x="3486" y="1777"/>
              <a:ext cx="486" cy="348"/>
            </a:xfrm>
            <a:prstGeom prst="rect">
              <a:avLst/>
            </a:prstGeom>
            <a:grpFill/>
          </p:spPr>
        </p:pic>
        <p:pic>
          <p:nvPicPr>
            <p:cNvPr id="18" name="Picture 17" descr="360-67">
              <a:extLst>
                <a:ext uri="{FF2B5EF4-FFF2-40B4-BE49-F238E27FC236}">
                  <a16:creationId xmlns:a16="http://schemas.microsoft.com/office/drawing/2014/main" id="{49ED183E-F816-451C-8FE1-75D66BF12629}"/>
                </a:ext>
              </a:extLst>
            </p:cNvPr>
            <p:cNvPicPr>
              <a:picLocks noChangeAspect="1" noChangeArrowheads="1"/>
            </p:cNvPicPr>
            <p:nvPr/>
          </p:nvPicPr>
          <p:blipFill>
            <a:blip r:embed="rId3"/>
            <a:srcRect/>
            <a:stretch>
              <a:fillRect/>
            </a:stretch>
          </p:blipFill>
          <p:spPr bwMode="auto">
            <a:xfrm>
              <a:off x="3736" y="2070"/>
              <a:ext cx="442" cy="327"/>
            </a:xfrm>
            <a:prstGeom prst="rect">
              <a:avLst/>
            </a:prstGeom>
            <a:grpFill/>
          </p:spPr>
        </p:pic>
        <p:sp>
          <p:nvSpPr>
            <p:cNvPr id="19" name="Text Box 21">
              <a:extLst>
                <a:ext uri="{FF2B5EF4-FFF2-40B4-BE49-F238E27FC236}">
                  <a16:creationId xmlns:a16="http://schemas.microsoft.com/office/drawing/2014/main" id="{92088DE2-AB62-4F8F-B164-71303D7DEC89}"/>
                </a:ext>
              </a:extLst>
            </p:cNvPr>
            <p:cNvSpPr txBox="1">
              <a:spLocks noChangeArrowheads="1"/>
            </p:cNvSpPr>
            <p:nvPr/>
          </p:nvSpPr>
          <p:spPr bwMode="auto">
            <a:xfrm>
              <a:off x="4154" y="1968"/>
              <a:ext cx="862" cy="166"/>
            </a:xfrm>
            <a:prstGeom prst="rect">
              <a:avLst/>
            </a:prstGeom>
            <a:grpFill/>
            <a:ln w="12700">
              <a:noFill/>
              <a:miter lim="800000"/>
              <a:headEnd type="none" w="sm" len="sm"/>
              <a:tailEnd type="none" w="sm" len="sm"/>
            </a:ln>
            <a:effectLst/>
          </p:spPr>
          <p:txBody>
            <a:bodyPr wrap="square">
              <a:prstTxWarp prst="textNoShape">
                <a:avLst/>
              </a:prstTxWarp>
              <a:spAutoFit/>
            </a:bodyPr>
            <a:lstStyle/>
            <a:p>
              <a:pPr eaLnBrk="0" hangingPunct="0"/>
              <a:r>
                <a:rPr lang="en-US" dirty="0">
                  <a:latin typeface="Gill Sans Light"/>
                </a:rPr>
                <a:t>Mainframe</a:t>
              </a:r>
            </a:p>
          </p:txBody>
        </p:sp>
        <p:pic>
          <p:nvPicPr>
            <p:cNvPr id="20" name="Picture 19" descr="vax11-780">
              <a:extLst>
                <a:ext uri="{FF2B5EF4-FFF2-40B4-BE49-F238E27FC236}">
                  <a16:creationId xmlns:a16="http://schemas.microsoft.com/office/drawing/2014/main" id="{3E8F486C-83A3-40E7-9A1D-01E45EF21617}"/>
                </a:ext>
              </a:extLst>
            </p:cNvPr>
            <p:cNvPicPr>
              <a:picLocks noChangeAspect="1" noChangeArrowheads="1"/>
            </p:cNvPicPr>
            <p:nvPr/>
          </p:nvPicPr>
          <p:blipFill>
            <a:blip r:embed="rId4"/>
            <a:srcRect/>
            <a:stretch>
              <a:fillRect/>
            </a:stretch>
          </p:blipFill>
          <p:spPr bwMode="auto">
            <a:xfrm>
              <a:off x="4108" y="2307"/>
              <a:ext cx="272" cy="296"/>
            </a:xfrm>
            <a:prstGeom prst="rect">
              <a:avLst/>
            </a:prstGeom>
            <a:grpFill/>
          </p:spPr>
        </p:pic>
        <p:sp>
          <p:nvSpPr>
            <p:cNvPr id="21" name="Text Box 23">
              <a:extLst>
                <a:ext uri="{FF2B5EF4-FFF2-40B4-BE49-F238E27FC236}">
                  <a16:creationId xmlns:a16="http://schemas.microsoft.com/office/drawing/2014/main" id="{D5611B7C-AE1C-475B-B191-136AFEFE07A8}"/>
                </a:ext>
              </a:extLst>
            </p:cNvPr>
            <p:cNvSpPr txBox="1">
              <a:spLocks noChangeArrowheads="1"/>
            </p:cNvSpPr>
            <p:nvPr/>
          </p:nvSpPr>
          <p:spPr bwMode="auto">
            <a:xfrm>
              <a:off x="4386" y="2216"/>
              <a:ext cx="468" cy="166"/>
            </a:xfrm>
            <a:prstGeom prst="rect">
              <a:avLst/>
            </a:prstGeom>
            <a:grpFill/>
            <a:ln w="12700">
              <a:noFill/>
              <a:miter lim="800000"/>
              <a:headEnd type="none" w="sm" len="sm"/>
              <a:tailEnd type="none" w="sm" len="sm"/>
            </a:ln>
            <a:effectLst/>
          </p:spPr>
          <p:txBody>
            <a:bodyPr wrap="square">
              <a:prstTxWarp prst="textNoShape">
                <a:avLst/>
              </a:prstTxWarp>
              <a:spAutoFit/>
            </a:bodyPr>
            <a:lstStyle/>
            <a:p>
              <a:pPr eaLnBrk="0" hangingPunct="0"/>
              <a:r>
                <a:rPr lang="en-US">
                  <a:latin typeface="Gill Sans Light"/>
                </a:rPr>
                <a:t>Mini</a:t>
              </a:r>
            </a:p>
          </p:txBody>
        </p:sp>
        <p:pic>
          <p:nvPicPr>
            <p:cNvPr id="22" name="Picture 21" descr="sun3+3d">
              <a:extLst>
                <a:ext uri="{FF2B5EF4-FFF2-40B4-BE49-F238E27FC236}">
                  <a16:creationId xmlns:a16="http://schemas.microsoft.com/office/drawing/2014/main" id="{D7ABBD37-0D2E-4DAA-B748-916F6944F832}"/>
                </a:ext>
              </a:extLst>
            </p:cNvPr>
            <p:cNvPicPr>
              <a:picLocks noChangeAspect="1" noChangeArrowheads="1"/>
            </p:cNvPicPr>
            <p:nvPr/>
          </p:nvPicPr>
          <p:blipFill>
            <a:blip r:embed="rId5"/>
            <a:srcRect/>
            <a:stretch>
              <a:fillRect/>
            </a:stretch>
          </p:blipFill>
          <p:spPr bwMode="auto">
            <a:xfrm>
              <a:off x="4284" y="2488"/>
              <a:ext cx="303" cy="259"/>
            </a:xfrm>
            <a:prstGeom prst="rect">
              <a:avLst/>
            </a:prstGeom>
            <a:grpFill/>
          </p:spPr>
        </p:pic>
        <p:sp>
          <p:nvSpPr>
            <p:cNvPr id="23" name="Text Box 25">
              <a:extLst>
                <a:ext uri="{FF2B5EF4-FFF2-40B4-BE49-F238E27FC236}">
                  <a16:creationId xmlns:a16="http://schemas.microsoft.com/office/drawing/2014/main" id="{914490FE-600D-47A1-A328-35242F69CEBD}"/>
                </a:ext>
              </a:extLst>
            </p:cNvPr>
            <p:cNvSpPr txBox="1">
              <a:spLocks noChangeArrowheads="1"/>
            </p:cNvSpPr>
            <p:nvPr/>
          </p:nvSpPr>
          <p:spPr bwMode="auto">
            <a:xfrm>
              <a:off x="4547" y="2397"/>
              <a:ext cx="829" cy="166"/>
            </a:xfrm>
            <a:prstGeom prst="rect">
              <a:avLst/>
            </a:prstGeom>
            <a:grpFill/>
            <a:ln w="12700">
              <a:noFill/>
              <a:miter lim="800000"/>
              <a:headEnd type="none" w="sm" len="sm"/>
              <a:tailEnd type="none" w="sm" len="sm"/>
            </a:ln>
            <a:effectLst/>
          </p:spPr>
          <p:txBody>
            <a:bodyPr wrap="square">
              <a:prstTxWarp prst="textNoShape">
                <a:avLst/>
              </a:prstTxWarp>
              <a:spAutoFit/>
            </a:bodyPr>
            <a:lstStyle/>
            <a:p>
              <a:pPr eaLnBrk="0" hangingPunct="0"/>
              <a:r>
                <a:rPr lang="en-US" dirty="0">
                  <a:latin typeface="Gill Sans Light"/>
                </a:rPr>
                <a:t>Workstation</a:t>
              </a:r>
            </a:p>
          </p:txBody>
        </p:sp>
        <p:sp>
          <p:nvSpPr>
            <p:cNvPr id="24" name="Text Box 26">
              <a:extLst>
                <a:ext uri="{FF2B5EF4-FFF2-40B4-BE49-F238E27FC236}">
                  <a16:creationId xmlns:a16="http://schemas.microsoft.com/office/drawing/2014/main" id="{C1F18156-0600-4254-8697-88ED2A773D30}"/>
                </a:ext>
              </a:extLst>
            </p:cNvPr>
            <p:cNvSpPr txBox="1">
              <a:spLocks noChangeArrowheads="1"/>
            </p:cNvSpPr>
            <p:nvPr/>
          </p:nvSpPr>
          <p:spPr bwMode="auto">
            <a:xfrm>
              <a:off x="4704" y="2544"/>
              <a:ext cx="309" cy="166"/>
            </a:xfrm>
            <a:prstGeom prst="rect">
              <a:avLst/>
            </a:prstGeom>
            <a:grpFill/>
            <a:ln w="12700">
              <a:noFill/>
              <a:miter lim="800000"/>
              <a:headEnd type="none" w="sm" len="sm"/>
              <a:tailEnd type="none" w="sm" len="sm"/>
            </a:ln>
            <a:effectLst/>
          </p:spPr>
          <p:txBody>
            <a:bodyPr wrap="square">
              <a:prstTxWarp prst="textNoShape">
                <a:avLst/>
              </a:prstTxWarp>
              <a:spAutoFit/>
            </a:bodyPr>
            <a:lstStyle/>
            <a:p>
              <a:pPr eaLnBrk="0" hangingPunct="0"/>
              <a:r>
                <a:rPr lang="en-US">
                  <a:latin typeface="Gill Sans Light"/>
                </a:rPr>
                <a:t>PC</a:t>
              </a:r>
            </a:p>
          </p:txBody>
        </p:sp>
        <p:pic>
          <p:nvPicPr>
            <p:cNvPr id="25" name="Picture 24" descr="IBM_ThinkPad@ThinkPad_A_Series">
              <a:extLst>
                <a:ext uri="{FF2B5EF4-FFF2-40B4-BE49-F238E27FC236}">
                  <a16:creationId xmlns:a16="http://schemas.microsoft.com/office/drawing/2014/main" id="{0C6AD6F4-597F-45D7-914B-B9DEC408D7DD}"/>
                </a:ext>
              </a:extLst>
            </p:cNvPr>
            <p:cNvPicPr>
              <a:picLocks noChangeAspect="1" noChangeArrowheads="1"/>
            </p:cNvPicPr>
            <p:nvPr/>
          </p:nvPicPr>
          <p:blipFill>
            <a:blip r:embed="rId6"/>
            <a:srcRect/>
            <a:stretch>
              <a:fillRect/>
            </a:stretch>
          </p:blipFill>
          <p:spPr bwMode="auto">
            <a:xfrm>
              <a:off x="4635" y="2760"/>
              <a:ext cx="233" cy="227"/>
            </a:xfrm>
            <a:prstGeom prst="rect">
              <a:avLst/>
            </a:prstGeom>
            <a:grpFill/>
          </p:spPr>
        </p:pic>
        <p:pic>
          <p:nvPicPr>
            <p:cNvPr id="26" name="Picture 28" descr="cell-phone-nokia">
              <a:hlinkClick r:id="rId7"/>
              <a:extLst>
                <a:ext uri="{FF2B5EF4-FFF2-40B4-BE49-F238E27FC236}">
                  <a16:creationId xmlns:a16="http://schemas.microsoft.com/office/drawing/2014/main" id="{E15804DA-0E95-4FB2-9E94-A5F06245153D}"/>
                </a:ext>
              </a:extLst>
            </p:cNvPr>
            <p:cNvPicPr>
              <a:picLocks noChangeAspect="1" noChangeArrowheads="1"/>
            </p:cNvPicPr>
            <p:nvPr/>
          </p:nvPicPr>
          <p:blipFill>
            <a:blip r:embed="rId8"/>
            <a:srcRect/>
            <a:stretch>
              <a:fillRect/>
            </a:stretch>
          </p:blipFill>
          <p:spPr bwMode="auto">
            <a:xfrm>
              <a:off x="5031" y="3078"/>
              <a:ext cx="175" cy="133"/>
            </a:xfrm>
            <a:prstGeom prst="rect">
              <a:avLst/>
            </a:prstGeom>
            <a:grpFill/>
          </p:spPr>
        </p:pic>
        <p:pic>
          <p:nvPicPr>
            <p:cNvPr id="27" name="Picture 29" descr="pcsm">
              <a:extLst>
                <a:ext uri="{FF2B5EF4-FFF2-40B4-BE49-F238E27FC236}">
                  <a16:creationId xmlns:a16="http://schemas.microsoft.com/office/drawing/2014/main" id="{F28C2F90-436C-4EEB-91D7-EFF4422FFC97}"/>
                </a:ext>
              </a:extLst>
            </p:cNvPr>
            <p:cNvPicPr>
              <a:picLocks noChangeAspect="1" noChangeArrowheads="1"/>
            </p:cNvPicPr>
            <p:nvPr/>
          </p:nvPicPr>
          <p:blipFill>
            <a:blip r:embed="rId9"/>
            <a:srcRect/>
            <a:stretch>
              <a:fillRect/>
            </a:stretch>
          </p:blipFill>
          <p:spPr bwMode="auto">
            <a:xfrm>
              <a:off x="4503" y="2624"/>
              <a:ext cx="157" cy="221"/>
            </a:xfrm>
            <a:prstGeom prst="rect">
              <a:avLst/>
            </a:prstGeom>
            <a:grpFill/>
          </p:spPr>
        </p:pic>
        <p:pic>
          <p:nvPicPr>
            <p:cNvPr id="28" name="Picture 30" descr="palm">
              <a:extLst>
                <a:ext uri="{FF2B5EF4-FFF2-40B4-BE49-F238E27FC236}">
                  <a16:creationId xmlns:a16="http://schemas.microsoft.com/office/drawing/2014/main" id="{ED3CE635-00B4-4DE1-BF18-AE6818912330}"/>
                </a:ext>
              </a:extLst>
            </p:cNvPr>
            <p:cNvPicPr>
              <a:picLocks noChangeAspect="1" noChangeArrowheads="1"/>
            </p:cNvPicPr>
            <p:nvPr/>
          </p:nvPicPr>
          <p:blipFill>
            <a:blip r:embed="rId10"/>
            <a:srcRect/>
            <a:stretch>
              <a:fillRect/>
            </a:stretch>
          </p:blipFill>
          <p:spPr bwMode="auto">
            <a:xfrm>
              <a:off x="4803" y="2984"/>
              <a:ext cx="126" cy="184"/>
            </a:xfrm>
            <a:prstGeom prst="rect">
              <a:avLst/>
            </a:prstGeom>
            <a:grpFill/>
            <a:ln w="9525">
              <a:noFill/>
              <a:miter lim="800000"/>
              <a:headEnd/>
              <a:tailEnd/>
            </a:ln>
          </p:spPr>
        </p:pic>
        <p:sp>
          <p:nvSpPr>
            <p:cNvPr id="29" name="Rectangle 31">
              <a:extLst>
                <a:ext uri="{FF2B5EF4-FFF2-40B4-BE49-F238E27FC236}">
                  <a16:creationId xmlns:a16="http://schemas.microsoft.com/office/drawing/2014/main" id="{8044E0CE-C901-4427-8A49-ABA3B25149DF}"/>
                </a:ext>
              </a:extLst>
            </p:cNvPr>
            <p:cNvSpPr>
              <a:spLocks noChangeArrowheads="1"/>
            </p:cNvSpPr>
            <p:nvPr/>
          </p:nvSpPr>
          <p:spPr bwMode="auto">
            <a:xfrm>
              <a:off x="5064" y="2934"/>
              <a:ext cx="322" cy="166"/>
            </a:xfrm>
            <a:prstGeom prst="rect">
              <a:avLst/>
            </a:prstGeom>
            <a:grpFill/>
            <a:ln w="9525">
              <a:noFill/>
              <a:miter lim="800000"/>
              <a:headEnd/>
              <a:tailEnd/>
            </a:ln>
            <a:effectLst/>
          </p:spPr>
          <p:txBody>
            <a:bodyPr wrap="square">
              <a:prstTxWarp prst="textNoShape">
                <a:avLst/>
              </a:prstTxWarp>
              <a:spAutoFit/>
            </a:bodyPr>
            <a:lstStyle/>
            <a:p>
              <a:r>
                <a:rPr lang="en-US">
                  <a:latin typeface="Gill Sans Light"/>
                </a:rPr>
                <a:t>Cell</a:t>
              </a:r>
            </a:p>
          </p:txBody>
        </p:sp>
        <p:sp>
          <p:nvSpPr>
            <p:cNvPr id="30" name="Text Box 32">
              <a:extLst>
                <a:ext uri="{FF2B5EF4-FFF2-40B4-BE49-F238E27FC236}">
                  <a16:creationId xmlns:a16="http://schemas.microsoft.com/office/drawing/2014/main" id="{1388A05D-FB32-414D-ABFF-D92BED86D770}"/>
                </a:ext>
              </a:extLst>
            </p:cNvPr>
            <p:cNvSpPr txBox="1">
              <a:spLocks noChangeArrowheads="1"/>
            </p:cNvSpPr>
            <p:nvPr/>
          </p:nvSpPr>
          <p:spPr bwMode="auto">
            <a:xfrm>
              <a:off x="3163" y="2712"/>
              <a:ext cx="301" cy="179"/>
            </a:xfrm>
            <a:prstGeom prst="rect">
              <a:avLst/>
            </a:prstGeom>
            <a:grpFill/>
            <a:ln w="9525">
              <a:noFill/>
              <a:miter lim="800000"/>
              <a:headEnd/>
              <a:tailEnd/>
            </a:ln>
            <a:effectLst/>
          </p:spPr>
          <p:txBody>
            <a:bodyPr wrap="square">
              <a:prstTxWarp prst="textNoShape">
                <a:avLst/>
              </a:prstTxWarp>
              <a:spAutoFit/>
            </a:bodyPr>
            <a:lstStyle/>
            <a:p>
              <a:pPr eaLnBrk="0" hangingPunct="0"/>
              <a:r>
                <a:rPr lang="en-US" sz="2000" b="1">
                  <a:latin typeface="Gill Sans Light"/>
                </a:rPr>
                <a:t>1:1</a:t>
              </a:r>
            </a:p>
          </p:txBody>
        </p:sp>
        <p:sp>
          <p:nvSpPr>
            <p:cNvPr id="31" name="Text Box 33">
              <a:extLst>
                <a:ext uri="{FF2B5EF4-FFF2-40B4-BE49-F238E27FC236}">
                  <a16:creationId xmlns:a16="http://schemas.microsoft.com/office/drawing/2014/main" id="{E8D5CEE8-3D12-407E-BEDD-DA44CFD68093}"/>
                </a:ext>
              </a:extLst>
            </p:cNvPr>
            <p:cNvSpPr txBox="1">
              <a:spLocks noChangeArrowheads="1"/>
            </p:cNvSpPr>
            <p:nvPr/>
          </p:nvSpPr>
          <p:spPr bwMode="auto">
            <a:xfrm>
              <a:off x="3043" y="2304"/>
              <a:ext cx="421" cy="179"/>
            </a:xfrm>
            <a:prstGeom prst="rect">
              <a:avLst/>
            </a:prstGeom>
            <a:grpFill/>
            <a:ln w="9525">
              <a:noFill/>
              <a:miter lim="800000"/>
              <a:headEnd/>
              <a:tailEnd/>
            </a:ln>
            <a:effectLst/>
          </p:spPr>
          <p:txBody>
            <a:bodyPr wrap="square">
              <a:prstTxWarp prst="textNoShape">
                <a:avLst/>
              </a:prstTxWarp>
              <a:spAutoFit/>
            </a:bodyPr>
            <a:lstStyle/>
            <a:p>
              <a:pPr eaLnBrk="0" hangingPunct="0"/>
              <a:r>
                <a:rPr lang="en-US" sz="2000" b="1">
                  <a:latin typeface="Gill Sans Light"/>
                </a:rPr>
                <a:t>1:10</a:t>
              </a:r>
              <a:r>
                <a:rPr lang="en-US" sz="2000" b="1" baseline="30000">
                  <a:latin typeface="Gill Sans Light"/>
                </a:rPr>
                <a:t>3</a:t>
              </a:r>
            </a:p>
          </p:txBody>
        </p:sp>
      </p:grpSp>
      <p:grpSp>
        <p:nvGrpSpPr>
          <p:cNvPr id="32" name="Group 7">
            <a:extLst>
              <a:ext uri="{FF2B5EF4-FFF2-40B4-BE49-F238E27FC236}">
                <a16:creationId xmlns:a16="http://schemas.microsoft.com/office/drawing/2014/main" id="{1699EAD4-1C3F-4139-A113-A84FC1B4547B}"/>
              </a:ext>
            </a:extLst>
          </p:cNvPr>
          <p:cNvGrpSpPr>
            <a:grpSpLocks/>
          </p:cNvGrpSpPr>
          <p:nvPr/>
        </p:nvGrpSpPr>
        <p:grpSpPr bwMode="auto">
          <a:xfrm>
            <a:off x="7803014" y="5077930"/>
            <a:ext cx="781050" cy="1096963"/>
            <a:chOff x="4992" y="3124"/>
            <a:chExt cx="492" cy="691"/>
          </a:xfrm>
        </p:grpSpPr>
        <p:sp>
          <p:nvSpPr>
            <p:cNvPr id="33" name="Text Box 8">
              <a:extLst>
                <a:ext uri="{FF2B5EF4-FFF2-40B4-BE49-F238E27FC236}">
                  <a16:creationId xmlns:a16="http://schemas.microsoft.com/office/drawing/2014/main" id="{BF058DE4-9103-4F29-8EC2-917A7FCFE932}"/>
                </a:ext>
              </a:extLst>
            </p:cNvPr>
            <p:cNvSpPr txBox="1">
              <a:spLocks noChangeArrowheads="1"/>
            </p:cNvSpPr>
            <p:nvPr/>
          </p:nvSpPr>
          <p:spPr bwMode="auto">
            <a:xfrm>
              <a:off x="4992" y="3408"/>
              <a:ext cx="492" cy="407"/>
            </a:xfrm>
            <a:prstGeom prst="rect">
              <a:avLst/>
            </a:prstGeom>
            <a:noFill/>
            <a:ln w="12700">
              <a:noFill/>
              <a:miter lim="800000"/>
              <a:headEnd type="none" w="sm" len="sm"/>
              <a:tailEnd type="none" w="sm" len="sm"/>
            </a:ln>
            <a:effectLst/>
          </p:spPr>
          <p:txBody>
            <a:bodyPr>
              <a:prstTxWarp prst="textNoShape">
                <a:avLst/>
              </a:prstTxWarp>
              <a:spAutoFit/>
            </a:bodyPr>
            <a:lstStyle/>
            <a:p>
              <a:pPr eaLnBrk="0" hangingPunct="0"/>
              <a:r>
                <a:rPr lang="en-US" b="1" i="1" dirty="0">
                  <a:latin typeface="Gill Sans Light"/>
                </a:rPr>
                <a:t>Mote!</a:t>
              </a:r>
            </a:p>
          </p:txBody>
        </p:sp>
        <p:pic>
          <p:nvPicPr>
            <p:cNvPr id="34" name="Picture 9" descr="dots">
              <a:extLst>
                <a:ext uri="{FF2B5EF4-FFF2-40B4-BE49-F238E27FC236}">
                  <a16:creationId xmlns:a16="http://schemas.microsoft.com/office/drawing/2014/main" id="{D207A8E7-360F-42AA-9F04-75157D11A29F}"/>
                </a:ext>
              </a:extLst>
            </p:cNvPr>
            <p:cNvPicPr>
              <a:picLocks noChangeAspect="1" noChangeArrowheads="1"/>
            </p:cNvPicPr>
            <p:nvPr/>
          </p:nvPicPr>
          <p:blipFill>
            <a:blip r:embed="rId11"/>
            <a:srcRect/>
            <a:stretch>
              <a:fillRect/>
            </a:stretch>
          </p:blipFill>
          <p:spPr bwMode="auto">
            <a:xfrm>
              <a:off x="5206" y="3124"/>
              <a:ext cx="211" cy="260"/>
            </a:xfrm>
            <a:prstGeom prst="rect">
              <a:avLst/>
            </a:prstGeom>
            <a:noFill/>
          </p:spPr>
        </p:pic>
      </p:grpSp>
      <p:pic>
        <p:nvPicPr>
          <p:cNvPr id="35" name="Picture 3">
            <a:extLst>
              <a:ext uri="{FF2B5EF4-FFF2-40B4-BE49-F238E27FC236}">
                <a16:creationId xmlns:a16="http://schemas.microsoft.com/office/drawing/2014/main" id="{FE365BF6-594A-48A9-B078-E751D65F771C}"/>
              </a:ext>
            </a:extLst>
          </p:cNvPr>
          <p:cNvPicPr>
            <a:picLocks noChangeAspect="1"/>
          </p:cNvPicPr>
          <p:nvPr/>
        </p:nvPicPr>
        <p:blipFill>
          <a:blip r:embed="rId12"/>
          <a:srcRect/>
          <a:stretch>
            <a:fillRect/>
          </a:stretch>
        </p:blipFill>
        <p:spPr bwMode="auto">
          <a:xfrm>
            <a:off x="8251781" y="1386871"/>
            <a:ext cx="1252243" cy="767207"/>
          </a:xfrm>
          <a:prstGeom prst="rect">
            <a:avLst/>
          </a:prstGeom>
          <a:noFill/>
          <a:ln w="9525">
            <a:noFill/>
            <a:miter lim="800000"/>
            <a:headEnd/>
            <a:tailEnd/>
          </a:ln>
        </p:spPr>
      </p:pic>
      <p:pic>
        <p:nvPicPr>
          <p:cNvPr id="36" name="Picture 35">
            <a:extLst>
              <a:ext uri="{FF2B5EF4-FFF2-40B4-BE49-F238E27FC236}">
                <a16:creationId xmlns:a16="http://schemas.microsoft.com/office/drawing/2014/main" id="{C810018B-C7FD-47F0-9242-43E0008A9661}"/>
              </a:ext>
            </a:extLst>
          </p:cNvPr>
          <p:cNvPicPr>
            <a:picLocks noChangeAspect="1"/>
          </p:cNvPicPr>
          <p:nvPr/>
        </p:nvPicPr>
        <p:blipFill>
          <a:blip r:embed="rId13"/>
          <a:stretch>
            <a:fillRect/>
          </a:stretch>
        </p:blipFill>
        <p:spPr>
          <a:xfrm>
            <a:off x="8341993" y="4335488"/>
            <a:ext cx="467971" cy="493613"/>
          </a:xfrm>
          <a:prstGeom prst="rect">
            <a:avLst/>
          </a:prstGeom>
        </p:spPr>
      </p:pic>
      <p:pic>
        <p:nvPicPr>
          <p:cNvPr id="37" name="Picture 36">
            <a:extLst>
              <a:ext uri="{FF2B5EF4-FFF2-40B4-BE49-F238E27FC236}">
                <a16:creationId xmlns:a16="http://schemas.microsoft.com/office/drawing/2014/main" id="{D1929489-B9F1-47A2-B557-29F9AC3BC377}"/>
              </a:ext>
            </a:extLst>
          </p:cNvPr>
          <p:cNvPicPr>
            <a:picLocks noChangeAspect="1"/>
          </p:cNvPicPr>
          <p:nvPr/>
        </p:nvPicPr>
        <p:blipFill>
          <a:blip r:embed="rId14"/>
          <a:stretch>
            <a:fillRect/>
          </a:stretch>
        </p:blipFill>
        <p:spPr>
          <a:xfrm>
            <a:off x="7607032" y="1855254"/>
            <a:ext cx="1333500" cy="952500"/>
          </a:xfrm>
          <a:prstGeom prst="rect">
            <a:avLst/>
          </a:prstGeom>
        </p:spPr>
      </p:pic>
      <p:pic>
        <p:nvPicPr>
          <p:cNvPr id="38" name="Picture 37">
            <a:extLst>
              <a:ext uri="{FF2B5EF4-FFF2-40B4-BE49-F238E27FC236}">
                <a16:creationId xmlns:a16="http://schemas.microsoft.com/office/drawing/2014/main" id="{5AAB8D1F-E62B-494A-B5B1-6BAE3DB8D6EA}"/>
              </a:ext>
            </a:extLst>
          </p:cNvPr>
          <p:cNvPicPr>
            <a:picLocks noChangeAspect="1"/>
          </p:cNvPicPr>
          <p:nvPr/>
        </p:nvPicPr>
        <p:blipFill>
          <a:blip r:embed="rId15"/>
          <a:stretch>
            <a:fillRect/>
          </a:stretch>
        </p:blipFill>
        <p:spPr>
          <a:xfrm>
            <a:off x="8098978" y="2735663"/>
            <a:ext cx="864217" cy="822885"/>
          </a:xfrm>
          <a:prstGeom prst="rect">
            <a:avLst/>
          </a:prstGeom>
        </p:spPr>
      </p:pic>
      <p:pic>
        <p:nvPicPr>
          <p:cNvPr id="39" name="Picture 38">
            <a:extLst>
              <a:ext uri="{FF2B5EF4-FFF2-40B4-BE49-F238E27FC236}">
                <a16:creationId xmlns:a16="http://schemas.microsoft.com/office/drawing/2014/main" id="{9EB786B3-DE01-48A3-86E8-C9B1EDCB14CE}"/>
              </a:ext>
            </a:extLst>
          </p:cNvPr>
          <p:cNvPicPr>
            <a:picLocks noChangeAspect="1"/>
          </p:cNvPicPr>
          <p:nvPr/>
        </p:nvPicPr>
        <p:blipFill>
          <a:blip r:embed="rId16"/>
          <a:stretch>
            <a:fillRect/>
          </a:stretch>
        </p:blipFill>
        <p:spPr>
          <a:xfrm>
            <a:off x="8267431" y="3562184"/>
            <a:ext cx="583453" cy="575708"/>
          </a:xfrm>
          <a:prstGeom prst="rect">
            <a:avLst/>
          </a:prstGeom>
        </p:spPr>
      </p:pic>
      <p:pic>
        <p:nvPicPr>
          <p:cNvPr id="40" name="Picture 39">
            <a:extLst>
              <a:ext uri="{FF2B5EF4-FFF2-40B4-BE49-F238E27FC236}">
                <a16:creationId xmlns:a16="http://schemas.microsoft.com/office/drawing/2014/main" id="{95C60093-309B-4D0E-A03A-7D5CA888A1F3}"/>
              </a:ext>
            </a:extLst>
          </p:cNvPr>
          <p:cNvPicPr>
            <a:picLocks noChangeAspect="1"/>
          </p:cNvPicPr>
          <p:nvPr/>
        </p:nvPicPr>
        <p:blipFill>
          <a:blip r:embed="rId17"/>
          <a:stretch>
            <a:fillRect/>
          </a:stretch>
        </p:blipFill>
        <p:spPr>
          <a:xfrm>
            <a:off x="8554619" y="3932078"/>
            <a:ext cx="540718" cy="485962"/>
          </a:xfrm>
          <a:prstGeom prst="rect">
            <a:avLst/>
          </a:prstGeom>
        </p:spPr>
      </p:pic>
      <p:cxnSp>
        <p:nvCxnSpPr>
          <p:cNvPr id="41" name="Straight Connector 40">
            <a:extLst>
              <a:ext uri="{FF2B5EF4-FFF2-40B4-BE49-F238E27FC236}">
                <a16:creationId xmlns:a16="http://schemas.microsoft.com/office/drawing/2014/main" id="{DC884FD5-35B5-48B3-88FA-5EA73C48FF56}"/>
              </a:ext>
            </a:extLst>
          </p:cNvPr>
          <p:cNvCxnSpPr/>
          <p:nvPr/>
        </p:nvCxnSpPr>
        <p:spPr>
          <a:xfrm>
            <a:off x="6086020" y="2213842"/>
            <a:ext cx="1419411" cy="29883"/>
          </a:xfrm>
          <a:prstGeom prst="line">
            <a:avLst/>
          </a:prstGeom>
          <a:ln w="28575" cap="flat" cmpd="sng" algn="ctr">
            <a:solidFill>
              <a:schemeClr val="accent4">
                <a:lumMod val="60000"/>
                <a:lumOff val="40000"/>
              </a:schemeClr>
            </a:solidFill>
            <a:prstDash val="dash"/>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645A1874-FC17-4583-85C5-CBD37EE466A0}"/>
              </a:ext>
            </a:extLst>
          </p:cNvPr>
          <p:cNvCxnSpPr/>
          <p:nvPr/>
        </p:nvCxnSpPr>
        <p:spPr>
          <a:xfrm>
            <a:off x="6387832" y="2874242"/>
            <a:ext cx="1419411" cy="29883"/>
          </a:xfrm>
          <a:prstGeom prst="line">
            <a:avLst/>
          </a:prstGeom>
          <a:ln w="28575" cap="flat" cmpd="sng" algn="ctr">
            <a:solidFill>
              <a:schemeClr val="accent4">
                <a:lumMod val="60000"/>
                <a:lumOff val="40000"/>
              </a:schemeClr>
            </a:solidFill>
            <a:prstDash val="dash"/>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8C5DD88E-FB99-4306-862F-57817C6E44E4}"/>
              </a:ext>
            </a:extLst>
          </p:cNvPr>
          <p:cNvCxnSpPr/>
          <p:nvPr/>
        </p:nvCxnSpPr>
        <p:spPr>
          <a:xfrm flipV="1">
            <a:off x="7391878" y="3722901"/>
            <a:ext cx="696259" cy="5977"/>
          </a:xfrm>
          <a:prstGeom prst="line">
            <a:avLst/>
          </a:prstGeom>
          <a:ln w="28575" cap="flat" cmpd="sng" algn="ctr">
            <a:solidFill>
              <a:schemeClr val="accent4">
                <a:lumMod val="60000"/>
                <a:lumOff val="40000"/>
              </a:schemeClr>
            </a:solidFill>
            <a:prstDash val="dash"/>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44" name="Cloud 43">
            <a:extLst>
              <a:ext uri="{FF2B5EF4-FFF2-40B4-BE49-F238E27FC236}">
                <a16:creationId xmlns:a16="http://schemas.microsoft.com/office/drawing/2014/main" id="{F975EE18-8172-42FB-8A4B-407C5EEF78DF}"/>
              </a:ext>
            </a:extLst>
          </p:cNvPr>
          <p:cNvSpPr/>
          <p:nvPr/>
        </p:nvSpPr>
        <p:spPr>
          <a:xfrm>
            <a:off x="7999722" y="1104459"/>
            <a:ext cx="1722481" cy="1677147"/>
          </a:xfrm>
          <a:prstGeom prst="cloud">
            <a:avLst/>
          </a:prstGeom>
          <a:solidFill>
            <a:schemeClr val="tx1">
              <a:lumMod val="85000"/>
              <a:alpha val="16000"/>
            </a:schemeClr>
          </a:solidFill>
          <a:ln>
            <a:solidFill>
              <a:schemeClr val="accent4">
                <a:lumMod val="60000"/>
                <a:lumOff val="4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Gill Sans Light"/>
            </a:endParaRPr>
          </a:p>
        </p:txBody>
      </p:sp>
      <p:sp>
        <p:nvSpPr>
          <p:cNvPr id="45" name="TextBox 44">
            <a:extLst>
              <a:ext uri="{FF2B5EF4-FFF2-40B4-BE49-F238E27FC236}">
                <a16:creationId xmlns:a16="http://schemas.microsoft.com/office/drawing/2014/main" id="{DEE8D38D-8988-4BF4-B113-F4066EA71965}"/>
              </a:ext>
            </a:extLst>
          </p:cNvPr>
          <p:cNvSpPr txBox="1"/>
          <p:nvPr/>
        </p:nvSpPr>
        <p:spPr>
          <a:xfrm>
            <a:off x="258417" y="2666449"/>
            <a:ext cx="2897898" cy="2554545"/>
          </a:xfrm>
          <a:prstGeom prst="rect">
            <a:avLst/>
          </a:prstGeom>
          <a:noFill/>
        </p:spPr>
        <p:txBody>
          <a:bodyPr wrap="square" rtlCol="0">
            <a:spAutoFit/>
          </a:bodyPr>
          <a:lstStyle/>
          <a:p>
            <a:r>
              <a:rPr lang="en-US" sz="3200" b="1" dirty="0">
                <a:latin typeface="Gill Sans Light"/>
              </a:rPr>
              <a:t>Bell’s Law: New computer class every 10 years</a:t>
            </a:r>
          </a:p>
        </p:txBody>
      </p:sp>
      <p:sp>
        <p:nvSpPr>
          <p:cNvPr id="46" name="Rounded Rectangular Callout 52">
            <a:extLst>
              <a:ext uri="{FF2B5EF4-FFF2-40B4-BE49-F238E27FC236}">
                <a16:creationId xmlns:a16="http://schemas.microsoft.com/office/drawing/2014/main" id="{2DEE9904-AB45-4909-8510-B053CB1C9135}"/>
              </a:ext>
            </a:extLst>
          </p:cNvPr>
          <p:cNvSpPr/>
          <p:nvPr/>
        </p:nvSpPr>
        <p:spPr bwMode="auto">
          <a:xfrm>
            <a:off x="8446305" y="5743578"/>
            <a:ext cx="1905000" cy="838200"/>
          </a:xfrm>
          <a:prstGeom prst="wedgeRoundRectCallout">
            <a:avLst>
              <a:gd name="adj1" fmla="val -45887"/>
              <a:gd name="adj2" fmla="val -90962"/>
              <a:gd name="adj3" fmla="val 16667"/>
            </a:avLst>
          </a:prstGeom>
          <a:solidFill>
            <a:srgbClr val="FFC000"/>
          </a:solidFill>
          <a:ln w="25400" cap="flat" cmpd="sng" algn="ctr">
            <a:solidFill>
              <a:schemeClr val="tx1"/>
            </a:solidFill>
            <a:prstDash val="solid"/>
            <a:round/>
            <a:headEnd type="triangle" w="med" len="med"/>
            <a:tailEnd type="none" w="med" len="med"/>
          </a:ln>
          <a:effectLst/>
        </p:spPr>
        <p:txBody>
          <a:bodyPr anchor="ctr"/>
          <a:lstStyle/>
          <a:p>
            <a:pPr algn="ctr">
              <a:defRPr/>
            </a:pPr>
            <a:r>
              <a:rPr lang="en-US" sz="2000" b="0" dirty="0">
                <a:latin typeface="Gill Sans Light"/>
                <a:cs typeface="Helvetica"/>
              </a:rPr>
              <a:t>The Internet of Things!</a:t>
            </a:r>
          </a:p>
        </p:txBody>
      </p:sp>
      <p:sp>
        <p:nvSpPr>
          <p:cNvPr id="47" name="Right Brace 46">
            <a:extLst>
              <a:ext uri="{FF2B5EF4-FFF2-40B4-BE49-F238E27FC236}">
                <a16:creationId xmlns:a16="http://schemas.microsoft.com/office/drawing/2014/main" id="{D866AA47-AD38-4181-8F28-47576C3FA3F0}"/>
              </a:ext>
            </a:extLst>
          </p:cNvPr>
          <p:cNvSpPr/>
          <p:nvPr/>
        </p:nvSpPr>
        <p:spPr bwMode="auto">
          <a:xfrm>
            <a:off x="9712332" y="1692275"/>
            <a:ext cx="304800" cy="1447800"/>
          </a:xfrm>
          <a:prstGeom prst="rightBrace">
            <a:avLst/>
          </a:prstGeom>
          <a:solidFill>
            <a:srgbClr val="FFFFFF"/>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Gill Sans Light"/>
            </a:endParaRPr>
          </a:p>
        </p:txBody>
      </p:sp>
      <p:sp>
        <p:nvSpPr>
          <p:cNvPr id="48" name="Right Brace 47">
            <a:extLst>
              <a:ext uri="{FF2B5EF4-FFF2-40B4-BE49-F238E27FC236}">
                <a16:creationId xmlns:a16="http://schemas.microsoft.com/office/drawing/2014/main" id="{5C6571E8-ABFD-4D7F-AA3E-002D9B71F3B0}"/>
              </a:ext>
            </a:extLst>
          </p:cNvPr>
          <p:cNvSpPr/>
          <p:nvPr/>
        </p:nvSpPr>
        <p:spPr bwMode="auto">
          <a:xfrm>
            <a:off x="9940932" y="3063875"/>
            <a:ext cx="304800" cy="1447800"/>
          </a:xfrm>
          <a:prstGeom prst="rightBrace">
            <a:avLst/>
          </a:prstGeom>
          <a:solidFill>
            <a:srgbClr val="FFFFFF"/>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Gill Sans Light"/>
            </a:endParaRPr>
          </a:p>
        </p:txBody>
      </p:sp>
      <p:sp>
        <p:nvSpPr>
          <p:cNvPr id="49" name="Right Brace 48">
            <a:extLst>
              <a:ext uri="{FF2B5EF4-FFF2-40B4-BE49-F238E27FC236}">
                <a16:creationId xmlns:a16="http://schemas.microsoft.com/office/drawing/2014/main" id="{E1E06743-1856-47F4-85E1-278B5FEDD8AB}"/>
              </a:ext>
            </a:extLst>
          </p:cNvPr>
          <p:cNvSpPr/>
          <p:nvPr/>
        </p:nvSpPr>
        <p:spPr bwMode="auto">
          <a:xfrm>
            <a:off x="9712332" y="4511675"/>
            <a:ext cx="304800" cy="990600"/>
          </a:xfrm>
          <a:prstGeom prst="rightBrace">
            <a:avLst/>
          </a:prstGeom>
          <a:solidFill>
            <a:srgbClr val="FFFFFF"/>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Gill Sans Light"/>
            </a:endParaRPr>
          </a:p>
        </p:txBody>
      </p:sp>
      <p:sp>
        <p:nvSpPr>
          <p:cNvPr id="50" name="TextBox 49">
            <a:extLst>
              <a:ext uri="{FF2B5EF4-FFF2-40B4-BE49-F238E27FC236}">
                <a16:creationId xmlns:a16="http://schemas.microsoft.com/office/drawing/2014/main" id="{42B033B4-770B-42ED-8B06-711C0FDF0552}"/>
              </a:ext>
            </a:extLst>
          </p:cNvPr>
          <p:cNvSpPr txBox="1"/>
          <p:nvPr/>
        </p:nvSpPr>
        <p:spPr>
          <a:xfrm>
            <a:off x="10093332" y="1539875"/>
            <a:ext cx="1524000" cy="1569660"/>
          </a:xfrm>
          <a:prstGeom prst="rect">
            <a:avLst/>
          </a:prstGeom>
          <a:noFill/>
        </p:spPr>
        <p:txBody>
          <a:bodyPr wrap="square" rtlCol="0">
            <a:spAutoFit/>
          </a:bodyPr>
          <a:lstStyle/>
          <a:p>
            <a:r>
              <a:rPr lang="en-US" sz="1600" dirty="0">
                <a:latin typeface="Gill Sans Light"/>
              </a:rPr>
              <a:t>Number crunching, Data Storage, Massive </a:t>
            </a:r>
            <a:r>
              <a:rPr lang="en-US" sz="1600" dirty="0" err="1">
                <a:latin typeface="Gill Sans Light"/>
              </a:rPr>
              <a:t>Inet</a:t>
            </a:r>
            <a:r>
              <a:rPr lang="en-US" sz="1600" dirty="0">
                <a:latin typeface="Gill Sans Light"/>
              </a:rPr>
              <a:t> Services,</a:t>
            </a:r>
          </a:p>
          <a:p>
            <a:r>
              <a:rPr lang="en-US" sz="1600" dirty="0">
                <a:latin typeface="Gill Sans Light"/>
              </a:rPr>
              <a:t>ML, …</a:t>
            </a:r>
          </a:p>
        </p:txBody>
      </p:sp>
      <p:sp>
        <p:nvSpPr>
          <p:cNvPr id="51" name="TextBox 50">
            <a:extLst>
              <a:ext uri="{FF2B5EF4-FFF2-40B4-BE49-F238E27FC236}">
                <a16:creationId xmlns:a16="http://schemas.microsoft.com/office/drawing/2014/main" id="{2E73C902-DDAF-4836-8AD9-191C2D444E1F}"/>
              </a:ext>
            </a:extLst>
          </p:cNvPr>
          <p:cNvSpPr txBox="1"/>
          <p:nvPr/>
        </p:nvSpPr>
        <p:spPr>
          <a:xfrm>
            <a:off x="10245732" y="3444875"/>
            <a:ext cx="1524000" cy="584776"/>
          </a:xfrm>
          <a:prstGeom prst="rect">
            <a:avLst/>
          </a:prstGeom>
          <a:noFill/>
        </p:spPr>
        <p:txBody>
          <a:bodyPr wrap="square" rtlCol="0">
            <a:spAutoFit/>
          </a:bodyPr>
          <a:lstStyle/>
          <a:p>
            <a:r>
              <a:rPr lang="en-US" sz="1600" dirty="0">
                <a:latin typeface="Gill Sans Light"/>
              </a:rPr>
              <a:t>Productivity,</a:t>
            </a:r>
          </a:p>
          <a:p>
            <a:r>
              <a:rPr lang="en-US" sz="1600" dirty="0">
                <a:latin typeface="Gill Sans Light"/>
              </a:rPr>
              <a:t>Interactive</a:t>
            </a:r>
          </a:p>
        </p:txBody>
      </p:sp>
      <p:sp>
        <p:nvSpPr>
          <p:cNvPr id="52" name="TextBox 51">
            <a:extLst>
              <a:ext uri="{FF2B5EF4-FFF2-40B4-BE49-F238E27FC236}">
                <a16:creationId xmlns:a16="http://schemas.microsoft.com/office/drawing/2014/main" id="{7B3FD829-0C79-42AC-AFD1-B73328F45500}"/>
              </a:ext>
            </a:extLst>
          </p:cNvPr>
          <p:cNvSpPr txBox="1"/>
          <p:nvPr/>
        </p:nvSpPr>
        <p:spPr>
          <a:xfrm>
            <a:off x="10080632" y="4587875"/>
            <a:ext cx="1524000" cy="1077218"/>
          </a:xfrm>
          <a:prstGeom prst="rect">
            <a:avLst/>
          </a:prstGeom>
          <a:noFill/>
        </p:spPr>
        <p:txBody>
          <a:bodyPr wrap="square" rtlCol="0">
            <a:spAutoFit/>
          </a:bodyPr>
          <a:lstStyle/>
          <a:p>
            <a:r>
              <a:rPr lang="en-US" sz="1600" dirty="0">
                <a:latin typeface="Gill Sans Light"/>
              </a:rPr>
              <a:t>Streaming from/to the physical world</a:t>
            </a:r>
          </a:p>
        </p:txBody>
      </p:sp>
      <p:pic>
        <p:nvPicPr>
          <p:cNvPr id="53" name="Picture 52">
            <a:extLst>
              <a:ext uri="{FF2B5EF4-FFF2-40B4-BE49-F238E27FC236}">
                <a16:creationId xmlns:a16="http://schemas.microsoft.com/office/drawing/2014/main" id="{6EB86084-5FD0-474B-A0B4-FB0B5C7D9D69}"/>
              </a:ext>
            </a:extLst>
          </p:cNvPr>
          <p:cNvPicPr>
            <a:picLocks noChangeAspect="1"/>
          </p:cNvPicPr>
          <p:nvPr/>
        </p:nvPicPr>
        <p:blipFill>
          <a:blip r:embed="rId18"/>
          <a:stretch>
            <a:fillRect/>
          </a:stretch>
        </p:blipFill>
        <p:spPr>
          <a:xfrm>
            <a:off x="8530347" y="4859402"/>
            <a:ext cx="540718" cy="456507"/>
          </a:xfrm>
          <a:prstGeom prst="rect">
            <a:avLst/>
          </a:prstGeom>
        </p:spPr>
      </p:pic>
      <p:pic>
        <p:nvPicPr>
          <p:cNvPr id="54" name="Picture 53">
            <a:extLst>
              <a:ext uri="{FF2B5EF4-FFF2-40B4-BE49-F238E27FC236}">
                <a16:creationId xmlns:a16="http://schemas.microsoft.com/office/drawing/2014/main" id="{C0DE51F8-E1EF-4652-B930-7D51C1E58FB1}"/>
              </a:ext>
            </a:extLst>
          </p:cNvPr>
          <p:cNvPicPr>
            <a:picLocks noChangeAspect="1"/>
          </p:cNvPicPr>
          <p:nvPr/>
        </p:nvPicPr>
        <p:blipFill>
          <a:blip r:embed="rId19"/>
          <a:stretch>
            <a:fillRect/>
          </a:stretch>
        </p:blipFill>
        <p:spPr>
          <a:xfrm>
            <a:off x="8877902" y="5240333"/>
            <a:ext cx="328530" cy="328530"/>
          </a:xfrm>
          <a:prstGeom prst="rect">
            <a:avLst/>
          </a:prstGeom>
        </p:spPr>
      </p:pic>
      <p:pic>
        <p:nvPicPr>
          <p:cNvPr id="55" name="Picture 54">
            <a:extLst>
              <a:ext uri="{FF2B5EF4-FFF2-40B4-BE49-F238E27FC236}">
                <a16:creationId xmlns:a16="http://schemas.microsoft.com/office/drawing/2014/main" id="{2F7E81C6-0856-44D2-AD1C-CDED770A9B26}"/>
              </a:ext>
            </a:extLst>
          </p:cNvPr>
          <p:cNvPicPr>
            <a:picLocks noChangeAspect="1"/>
          </p:cNvPicPr>
          <p:nvPr/>
        </p:nvPicPr>
        <p:blipFill>
          <a:blip r:embed="rId20"/>
          <a:stretch>
            <a:fillRect/>
          </a:stretch>
        </p:blipFill>
        <p:spPr>
          <a:xfrm>
            <a:off x="9132038" y="5003373"/>
            <a:ext cx="351694" cy="351694"/>
          </a:xfrm>
          <a:prstGeom prst="rect">
            <a:avLst/>
          </a:prstGeom>
        </p:spPr>
      </p:pic>
      <p:pic>
        <p:nvPicPr>
          <p:cNvPr id="56" name="Picture 55">
            <a:extLst>
              <a:ext uri="{FF2B5EF4-FFF2-40B4-BE49-F238E27FC236}">
                <a16:creationId xmlns:a16="http://schemas.microsoft.com/office/drawing/2014/main" id="{1E19C7A9-1FFA-4024-9134-63308BAAEA0B}"/>
              </a:ext>
            </a:extLst>
          </p:cNvPr>
          <p:cNvPicPr>
            <a:picLocks noChangeAspect="1"/>
          </p:cNvPicPr>
          <p:nvPr/>
        </p:nvPicPr>
        <p:blipFill>
          <a:blip r:embed="rId21"/>
          <a:stretch>
            <a:fillRect/>
          </a:stretch>
        </p:blipFill>
        <p:spPr>
          <a:xfrm>
            <a:off x="8841748" y="4676575"/>
            <a:ext cx="463487" cy="463487"/>
          </a:xfrm>
          <a:prstGeom prst="rect">
            <a:avLst/>
          </a:prstGeom>
        </p:spPr>
      </p:pic>
    </p:spTree>
    <p:extLst>
      <p:ext uri="{BB962C8B-B14F-4D97-AF65-F5344CB8AC3E}">
        <p14:creationId xmlns:p14="http://schemas.microsoft.com/office/powerpoint/2010/main" val="2302241604"/>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5D4ED9-5433-47B0-9D9F-056B5BFECF73}"/>
              </a:ext>
            </a:extLst>
          </p:cNvPr>
          <p:cNvSpPr>
            <a:spLocks noGrp="1"/>
          </p:cNvSpPr>
          <p:nvPr>
            <p:ph type="title"/>
          </p:nvPr>
        </p:nvSpPr>
        <p:spPr/>
        <p:txBody>
          <a:bodyPr/>
          <a:lstStyle/>
          <a:p>
            <a:r>
              <a:rPr lang="en-US" dirty="0"/>
              <a:t>And Range of Timescales</a:t>
            </a:r>
          </a:p>
        </p:txBody>
      </p:sp>
      <p:pic>
        <p:nvPicPr>
          <p:cNvPr id="8" name="Content Placeholder 7" descr="A screenshot of a cell phone&#10;&#10;Description automatically generated">
            <a:extLst>
              <a:ext uri="{FF2B5EF4-FFF2-40B4-BE49-F238E27FC236}">
                <a16:creationId xmlns:a16="http://schemas.microsoft.com/office/drawing/2014/main" id="{5CFCD8A6-64F1-4EC3-AD74-4C1D767B1B2E}"/>
              </a:ext>
            </a:extLst>
          </p:cNvPr>
          <p:cNvPicPr>
            <a:picLocks noGrp="1" noChangeAspect="1"/>
          </p:cNvPicPr>
          <p:nvPr>
            <p:ph idx="1"/>
          </p:nvPr>
        </p:nvPicPr>
        <p:blipFill>
          <a:blip r:embed="rId2" cstate="email">
            <a:extLst>
              <a:ext uri="{28A0092B-C50C-407E-A947-70E740481C1C}">
                <a14:useLocalDpi xmlns:a14="http://schemas.microsoft.com/office/drawing/2010/main" val="0"/>
              </a:ext>
            </a:extLst>
          </a:blip>
          <a:stretch>
            <a:fillRect/>
          </a:stretch>
        </p:blipFill>
        <p:spPr>
          <a:xfrm>
            <a:off x="4114800" y="914400"/>
            <a:ext cx="7266724" cy="4200561"/>
          </a:xfrm>
        </p:spPr>
      </p:pic>
      <p:sp>
        <p:nvSpPr>
          <p:cNvPr id="9" name="TextBox 8">
            <a:extLst>
              <a:ext uri="{FF2B5EF4-FFF2-40B4-BE49-F238E27FC236}">
                <a16:creationId xmlns:a16="http://schemas.microsoft.com/office/drawing/2014/main" id="{457381C8-8B72-4BE1-BBDF-C1030439B65A}"/>
              </a:ext>
            </a:extLst>
          </p:cNvPr>
          <p:cNvSpPr txBox="1"/>
          <p:nvPr/>
        </p:nvSpPr>
        <p:spPr>
          <a:xfrm>
            <a:off x="381000" y="1644339"/>
            <a:ext cx="3658183" cy="1384995"/>
          </a:xfrm>
          <a:prstGeom prst="rect">
            <a:avLst/>
          </a:prstGeom>
          <a:noFill/>
        </p:spPr>
        <p:txBody>
          <a:bodyPr wrap="square" rtlCol="0">
            <a:spAutoFit/>
          </a:bodyPr>
          <a:lstStyle/>
          <a:p>
            <a:r>
              <a:rPr lang="en-US" sz="2800" b="1" dirty="0">
                <a:latin typeface="Gill Sans Light"/>
              </a:rPr>
              <a:t>Jeff Dean: “Numbers Everyone Should Know”</a:t>
            </a:r>
          </a:p>
        </p:txBody>
      </p:sp>
    </p:spTree>
    <p:extLst>
      <p:ext uri="{BB962C8B-B14F-4D97-AF65-F5344CB8AC3E}">
        <p14:creationId xmlns:p14="http://schemas.microsoft.com/office/powerpoint/2010/main" val="3983499357"/>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5000" y="152400"/>
            <a:ext cx="8382000" cy="533400"/>
          </a:xfrm>
        </p:spPr>
        <p:txBody>
          <a:bodyPr/>
          <a:lstStyle/>
          <a:p>
            <a:pPr>
              <a:defRPr/>
            </a:pPr>
            <a:r>
              <a:rPr lang="en-US" dirty="0">
                <a:latin typeface="Gill Sans Light"/>
                <a:cs typeface="Gill Sans Light"/>
              </a:rPr>
              <a:t>Operating Systems are at the Heart of it All!</a:t>
            </a:r>
          </a:p>
        </p:txBody>
      </p:sp>
      <p:sp>
        <p:nvSpPr>
          <p:cNvPr id="5" name="Content Placeholder 4"/>
          <p:cNvSpPr>
            <a:spLocks noGrp="1"/>
          </p:cNvSpPr>
          <p:nvPr>
            <p:ph idx="1"/>
          </p:nvPr>
        </p:nvSpPr>
        <p:spPr>
          <a:xfrm>
            <a:off x="762000" y="914400"/>
            <a:ext cx="10566400" cy="5105400"/>
          </a:xfrm>
        </p:spPr>
        <p:txBody>
          <a:bodyPr/>
          <a:lstStyle/>
          <a:p>
            <a:r>
              <a:rPr lang="en-US" dirty="0"/>
              <a:t>Make the incredible advance in the underlying technology available to a rapidly evolving body of applications</a:t>
            </a:r>
          </a:p>
          <a:p>
            <a:pPr lvl="1"/>
            <a:r>
              <a:rPr lang="en-US" dirty="0"/>
              <a:t>Provide </a:t>
            </a:r>
            <a:r>
              <a:rPr lang="en-US" b="1" dirty="0"/>
              <a:t>consistent abstractions</a:t>
            </a:r>
            <a:r>
              <a:rPr lang="en-US" dirty="0"/>
              <a:t> to applications, even on different hardware</a:t>
            </a:r>
          </a:p>
          <a:p>
            <a:pPr lvl="1"/>
            <a:r>
              <a:rPr lang="en-US" dirty="0"/>
              <a:t>Manage </a:t>
            </a:r>
            <a:r>
              <a:rPr lang="en-US" b="1" dirty="0"/>
              <a:t>sharing of resources</a:t>
            </a:r>
            <a:r>
              <a:rPr lang="en-US" dirty="0"/>
              <a:t> among multiple applications</a:t>
            </a:r>
          </a:p>
          <a:p>
            <a:pPr lvl="1"/>
            <a:endParaRPr lang="en-US" dirty="0"/>
          </a:p>
          <a:p>
            <a:r>
              <a:rPr lang="en-US" dirty="0"/>
              <a:t>The key building blocks:</a:t>
            </a:r>
          </a:p>
          <a:p>
            <a:pPr lvl="1"/>
            <a:r>
              <a:rPr lang="en-US" dirty="0"/>
              <a:t>Processes</a:t>
            </a:r>
          </a:p>
          <a:p>
            <a:pPr lvl="1"/>
            <a:r>
              <a:rPr lang="en-US" dirty="0"/>
              <a:t>Threads, Concurrency, Scheduling, Coordination</a:t>
            </a:r>
          </a:p>
          <a:p>
            <a:pPr lvl="1"/>
            <a:r>
              <a:rPr lang="en-US" dirty="0"/>
              <a:t>Address Spaces</a:t>
            </a:r>
          </a:p>
          <a:p>
            <a:pPr lvl="1"/>
            <a:r>
              <a:rPr lang="en-US" dirty="0"/>
              <a:t>Protection, Isolation, Sharing, Security</a:t>
            </a:r>
          </a:p>
          <a:p>
            <a:pPr lvl="1"/>
            <a:r>
              <a:rPr lang="en-US" dirty="0"/>
              <a:t>Communication, Protocols</a:t>
            </a:r>
          </a:p>
          <a:p>
            <a:pPr lvl="1"/>
            <a:r>
              <a:rPr lang="en-US" dirty="0"/>
              <a:t>Persistent storage, transactions, consistency, resilience</a:t>
            </a:r>
          </a:p>
          <a:p>
            <a:pPr lvl="1"/>
            <a:r>
              <a:rPr lang="en-US" dirty="0"/>
              <a:t>Interfaces to all devices</a:t>
            </a:r>
          </a:p>
          <a:p>
            <a:endParaRPr lang="en-US" dirty="0"/>
          </a:p>
        </p:txBody>
      </p:sp>
    </p:spTree>
    <p:extLst>
      <p:ext uri="{BB962C8B-B14F-4D97-AF65-F5344CB8AC3E}">
        <p14:creationId xmlns:p14="http://schemas.microsoft.com/office/powerpoint/2010/main" val="339718421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
                                            <p:txEl>
                                              <p:pRg st="9" end="9"/>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
                                            <p:txEl>
                                              <p:pRg st="10" end="10"/>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3" name="Picture 29"/>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200400" y="2457450"/>
            <a:ext cx="4038600" cy="30289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171" name="Title 1"/>
          <p:cNvSpPr>
            <a:spLocks noGrp="1"/>
          </p:cNvSpPr>
          <p:nvPr>
            <p:ph type="title"/>
          </p:nvPr>
        </p:nvSpPr>
        <p:spPr>
          <a:xfrm>
            <a:off x="2286000" y="228600"/>
            <a:ext cx="7772400" cy="533400"/>
          </a:xfrm>
        </p:spPr>
        <p:txBody>
          <a:bodyPr/>
          <a:lstStyle/>
          <a:p>
            <a:pPr>
              <a:defRPr/>
            </a:pPr>
            <a:r>
              <a:rPr lang="en-US" dirty="0">
                <a:latin typeface="Gill Sans Light" charset="0"/>
                <a:ea typeface="ＭＳ Ｐゴシック" charset="0"/>
                <a:cs typeface="Gill Sans Light" charset="0"/>
              </a:rPr>
              <a:t>Example: What’s in a Search Query?</a:t>
            </a:r>
          </a:p>
        </p:txBody>
      </p:sp>
      <p:sp>
        <p:nvSpPr>
          <p:cNvPr id="7172" name="Content Placeholder 2"/>
          <p:cNvSpPr>
            <a:spLocks noGrp="1"/>
          </p:cNvSpPr>
          <p:nvPr>
            <p:ph idx="1"/>
          </p:nvPr>
        </p:nvSpPr>
        <p:spPr>
          <a:xfrm>
            <a:off x="2133600" y="5334000"/>
            <a:ext cx="7924800" cy="1066800"/>
          </a:xfrm>
        </p:spPr>
        <p:txBody>
          <a:bodyPr/>
          <a:lstStyle/>
          <a:p>
            <a:pPr>
              <a:defRPr/>
            </a:pPr>
            <a:r>
              <a:rPr lang="en-US">
                <a:ea typeface="ＭＳ Ｐゴシック" charset="0"/>
              </a:rPr>
              <a:t>Complex interaction of multiple components in multiple administrative domains</a:t>
            </a:r>
          </a:p>
          <a:p>
            <a:pPr lvl="1">
              <a:defRPr/>
            </a:pPr>
            <a:r>
              <a:rPr lang="en-US">
                <a:ea typeface="ＭＳ Ｐゴシック" charset="0"/>
              </a:rPr>
              <a:t>Systems, services, protocols, …</a:t>
            </a:r>
          </a:p>
          <a:p>
            <a:pPr lvl="1">
              <a:defRPr/>
            </a:pPr>
            <a:endParaRPr lang="en-US">
              <a:ea typeface="ＭＳ Ｐゴシック" charset="0"/>
            </a:endParaRPr>
          </a:p>
          <a:p>
            <a:pPr lvl="1">
              <a:defRPr/>
            </a:pPr>
            <a:endParaRPr lang="en-US">
              <a:ea typeface="ＭＳ Ｐゴシック" charset="0"/>
            </a:endParaRPr>
          </a:p>
        </p:txBody>
      </p:sp>
      <p:pic>
        <p:nvPicPr>
          <p:cNvPr id="13316" name="Picture 11"/>
          <p:cNvPicPr>
            <a:picLocks noChangeAspect="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7239000" y="3008313"/>
            <a:ext cx="914400" cy="4000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3317" name="Picture 18"/>
          <p:cNvPicPr>
            <a:picLocks noChangeAspect="1"/>
          </p:cNvPicPr>
          <p:nvPr/>
        </p:nvPicPr>
        <p:blipFill>
          <a:blip r:embed="rId5" cstate="email">
            <a:extLst>
              <a:ext uri="{28A0092B-C50C-407E-A947-70E740481C1C}">
                <a14:useLocalDpi xmlns:a14="http://schemas.microsoft.com/office/drawing/2010/main" val="0"/>
              </a:ext>
            </a:extLst>
          </a:blip>
          <a:srcRect/>
          <a:stretch>
            <a:fillRect/>
          </a:stretch>
        </p:blipFill>
        <p:spPr bwMode="auto">
          <a:xfrm>
            <a:off x="8763001" y="3617913"/>
            <a:ext cx="1325563" cy="10287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3318" name="Picture 25"/>
          <p:cNvPicPr>
            <a:picLocks noChangeAspect="1"/>
          </p:cNvPicPr>
          <p:nvPr/>
        </p:nvPicPr>
        <p:blipFill>
          <a:blip r:embed="rId6" cstate="email">
            <a:extLst>
              <a:ext uri="{28A0092B-C50C-407E-A947-70E740481C1C}">
                <a14:useLocalDpi xmlns:a14="http://schemas.microsoft.com/office/drawing/2010/main" val="0"/>
              </a:ext>
            </a:extLst>
          </a:blip>
          <a:srcRect/>
          <a:stretch>
            <a:fillRect/>
          </a:stretch>
        </p:blipFill>
        <p:spPr bwMode="auto">
          <a:xfrm>
            <a:off x="9144000" y="2093913"/>
            <a:ext cx="304800" cy="5207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3319" name="Picture 26"/>
          <p:cNvPicPr>
            <a:picLocks noChangeAspect="1"/>
          </p:cNvPicPr>
          <p:nvPr/>
        </p:nvPicPr>
        <p:blipFill>
          <a:blip r:embed="rId6" cstate="email">
            <a:extLst>
              <a:ext uri="{28A0092B-C50C-407E-A947-70E740481C1C}">
                <a14:useLocalDpi xmlns:a14="http://schemas.microsoft.com/office/drawing/2010/main" val="0"/>
              </a:ext>
            </a:extLst>
          </a:blip>
          <a:srcRect/>
          <a:stretch>
            <a:fillRect/>
          </a:stretch>
        </p:blipFill>
        <p:spPr bwMode="auto">
          <a:xfrm>
            <a:off x="8458200" y="2716213"/>
            <a:ext cx="304800" cy="5207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3320" name="Picture 27"/>
          <p:cNvPicPr>
            <a:picLocks noChangeAspect="1"/>
          </p:cNvPicPr>
          <p:nvPr/>
        </p:nvPicPr>
        <p:blipFill>
          <a:blip r:embed="rId6" cstate="email">
            <a:extLst>
              <a:ext uri="{28A0092B-C50C-407E-A947-70E740481C1C}">
                <a14:useLocalDpi xmlns:a14="http://schemas.microsoft.com/office/drawing/2010/main" val="0"/>
              </a:ext>
            </a:extLst>
          </a:blip>
          <a:srcRect/>
          <a:stretch>
            <a:fillRect/>
          </a:stretch>
        </p:blipFill>
        <p:spPr bwMode="auto">
          <a:xfrm>
            <a:off x="9220200" y="2932113"/>
            <a:ext cx="304800" cy="5207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3321" name="Rounded Rectangle 19"/>
          <p:cNvSpPr>
            <a:spLocks noChangeArrowheads="1"/>
          </p:cNvSpPr>
          <p:nvPr/>
        </p:nvSpPr>
        <p:spPr bwMode="auto">
          <a:xfrm>
            <a:off x="7010400" y="1712913"/>
            <a:ext cx="3200400" cy="3276600"/>
          </a:xfrm>
          <a:prstGeom prst="roundRect">
            <a:avLst>
              <a:gd name="adj" fmla="val 16667"/>
            </a:avLst>
          </a:prstGeom>
          <a:noFill/>
          <a:ln w="25400">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a:lstStyle/>
          <a:p>
            <a:endParaRPr lang="en-US">
              <a:latin typeface="Gill Sans Light" charset="0"/>
              <a:cs typeface="Gill Sans Light" charset="0"/>
            </a:endParaRPr>
          </a:p>
        </p:txBody>
      </p:sp>
      <p:pic>
        <p:nvPicPr>
          <p:cNvPr id="13322" name="Picture 20"/>
          <p:cNvPicPr>
            <a:picLocks noChangeAspect="1"/>
          </p:cNvPicPr>
          <p:nvPr/>
        </p:nvPicPr>
        <p:blipFill>
          <a:blip r:embed="rId6" cstate="email">
            <a:extLst>
              <a:ext uri="{28A0092B-C50C-407E-A947-70E740481C1C}">
                <a14:useLocalDpi xmlns:a14="http://schemas.microsoft.com/office/drawing/2010/main" val="0"/>
              </a:ext>
            </a:extLst>
          </a:blip>
          <a:srcRect/>
          <a:stretch>
            <a:fillRect/>
          </a:stretch>
        </p:blipFill>
        <p:spPr bwMode="auto">
          <a:xfrm>
            <a:off x="3886200" y="1497013"/>
            <a:ext cx="304800" cy="5207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3323" name="Picture 23"/>
          <p:cNvPicPr>
            <a:picLocks noChangeAspect="1"/>
          </p:cNvPicPr>
          <p:nvPr/>
        </p:nvPicPr>
        <p:blipFill>
          <a:blip r:embed="rId6" cstate="email">
            <a:extLst>
              <a:ext uri="{28A0092B-C50C-407E-A947-70E740481C1C}">
                <a14:useLocalDpi xmlns:a14="http://schemas.microsoft.com/office/drawing/2010/main" val="0"/>
              </a:ext>
            </a:extLst>
          </a:blip>
          <a:srcRect/>
          <a:stretch>
            <a:fillRect/>
          </a:stretch>
        </p:blipFill>
        <p:spPr bwMode="auto">
          <a:xfrm>
            <a:off x="3048000" y="2106613"/>
            <a:ext cx="304800" cy="5207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3324" name="Picture 24"/>
          <p:cNvPicPr>
            <a:picLocks noChangeAspect="1"/>
          </p:cNvPicPr>
          <p:nvPr/>
        </p:nvPicPr>
        <p:blipFill>
          <a:blip r:embed="rId6" cstate="email">
            <a:extLst>
              <a:ext uri="{28A0092B-C50C-407E-A947-70E740481C1C}">
                <a14:useLocalDpi xmlns:a14="http://schemas.microsoft.com/office/drawing/2010/main" val="0"/>
              </a:ext>
            </a:extLst>
          </a:blip>
          <a:srcRect/>
          <a:stretch>
            <a:fillRect/>
          </a:stretch>
        </p:blipFill>
        <p:spPr bwMode="auto">
          <a:xfrm>
            <a:off x="3886200" y="2182813"/>
            <a:ext cx="304800" cy="5207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3325" name="TextBox 31"/>
          <p:cNvSpPr txBox="1">
            <a:spLocks noChangeArrowheads="1"/>
          </p:cNvSpPr>
          <p:nvPr/>
        </p:nvSpPr>
        <p:spPr bwMode="auto">
          <a:xfrm>
            <a:off x="7086600" y="1331913"/>
            <a:ext cx="1438214" cy="4001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b="1">
                <a:solidFill>
                  <a:schemeClr val="tx1"/>
                </a:solidFill>
                <a:latin typeface="Comic Sans MS" charset="0"/>
                <a:ea typeface="ＭＳ Ｐゴシック" charset="0"/>
                <a:cs typeface="ＭＳ Ｐゴシック" charset="0"/>
              </a:defRPr>
            </a:lvl1pPr>
            <a:lvl2pPr marL="742950" indent="-285750">
              <a:defRPr sz="2400" b="1">
                <a:solidFill>
                  <a:schemeClr val="tx1"/>
                </a:solidFill>
                <a:latin typeface="Comic Sans MS" charset="0"/>
                <a:ea typeface="ＭＳ Ｐゴシック" charset="0"/>
              </a:defRPr>
            </a:lvl2pPr>
            <a:lvl3pPr marL="1143000" indent="-228600">
              <a:defRPr sz="2400" b="1">
                <a:solidFill>
                  <a:schemeClr val="tx1"/>
                </a:solidFill>
                <a:latin typeface="Comic Sans MS" charset="0"/>
                <a:ea typeface="ＭＳ Ｐゴシック" charset="0"/>
              </a:defRPr>
            </a:lvl3pPr>
            <a:lvl4pPr marL="1600200" indent="-228600">
              <a:defRPr sz="2400" b="1">
                <a:solidFill>
                  <a:schemeClr val="tx1"/>
                </a:solidFill>
                <a:latin typeface="Comic Sans MS" charset="0"/>
                <a:ea typeface="ＭＳ Ｐゴシック" charset="0"/>
              </a:defRPr>
            </a:lvl4pPr>
            <a:lvl5pPr marL="2057400" indent="-228600">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b="1">
                <a:solidFill>
                  <a:schemeClr val="tx1"/>
                </a:solidFill>
                <a:latin typeface="Comic Sans MS" charset="0"/>
                <a:ea typeface="ＭＳ Ｐゴシック" charset="0"/>
              </a:defRPr>
            </a:lvl9pPr>
          </a:lstStyle>
          <a:p>
            <a:r>
              <a:rPr lang="en-US" sz="2000" b="0">
                <a:latin typeface="Gill Sans Light" charset="0"/>
                <a:cs typeface="Gill Sans Light" charset="0"/>
              </a:rPr>
              <a:t>Datacenter</a:t>
            </a:r>
          </a:p>
        </p:txBody>
      </p:sp>
      <p:sp>
        <p:nvSpPr>
          <p:cNvPr id="13326" name="TextBox 40"/>
          <p:cNvSpPr txBox="1">
            <a:spLocks noChangeArrowheads="1"/>
          </p:cNvSpPr>
          <p:nvPr/>
        </p:nvSpPr>
        <p:spPr bwMode="auto">
          <a:xfrm>
            <a:off x="7086600" y="3429001"/>
            <a:ext cx="1069524" cy="6463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b="1">
                <a:solidFill>
                  <a:schemeClr val="tx1"/>
                </a:solidFill>
                <a:latin typeface="Comic Sans MS" charset="0"/>
                <a:ea typeface="ＭＳ Ｐゴシック" charset="0"/>
                <a:cs typeface="ＭＳ Ｐゴシック" charset="0"/>
              </a:defRPr>
            </a:lvl1pPr>
            <a:lvl2pPr marL="742950" indent="-285750">
              <a:defRPr sz="2400" b="1">
                <a:solidFill>
                  <a:schemeClr val="tx1"/>
                </a:solidFill>
                <a:latin typeface="Comic Sans MS" charset="0"/>
                <a:ea typeface="ＭＳ Ｐゴシック" charset="0"/>
              </a:defRPr>
            </a:lvl2pPr>
            <a:lvl3pPr marL="1143000" indent="-228600">
              <a:defRPr sz="2400" b="1">
                <a:solidFill>
                  <a:schemeClr val="tx1"/>
                </a:solidFill>
                <a:latin typeface="Comic Sans MS" charset="0"/>
                <a:ea typeface="ＭＳ Ｐゴシック" charset="0"/>
              </a:defRPr>
            </a:lvl3pPr>
            <a:lvl4pPr marL="1600200" indent="-228600">
              <a:defRPr sz="2400" b="1">
                <a:solidFill>
                  <a:schemeClr val="tx1"/>
                </a:solidFill>
                <a:latin typeface="Comic Sans MS" charset="0"/>
                <a:ea typeface="ＭＳ Ｐゴシック" charset="0"/>
              </a:defRPr>
            </a:lvl4pPr>
            <a:lvl5pPr marL="2057400" indent="-228600">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b="1">
                <a:solidFill>
                  <a:schemeClr val="tx1"/>
                </a:solidFill>
                <a:latin typeface="Comic Sans MS" charset="0"/>
                <a:ea typeface="ＭＳ Ｐゴシック" charset="0"/>
              </a:defRPr>
            </a:lvl9pPr>
          </a:lstStyle>
          <a:p>
            <a:r>
              <a:rPr lang="en-US" sz="1800" b="0">
                <a:latin typeface="Gill Sans Light" charset="0"/>
                <a:cs typeface="Gill Sans Light" charset="0"/>
              </a:rPr>
              <a:t>Load</a:t>
            </a:r>
          </a:p>
          <a:p>
            <a:r>
              <a:rPr lang="en-US" sz="1800" b="0">
                <a:latin typeface="Gill Sans Light" charset="0"/>
                <a:cs typeface="Gill Sans Light" charset="0"/>
              </a:rPr>
              <a:t>balancer</a:t>
            </a:r>
          </a:p>
        </p:txBody>
      </p:sp>
      <p:sp>
        <p:nvSpPr>
          <p:cNvPr id="13327" name="TextBox 41"/>
          <p:cNvSpPr txBox="1">
            <a:spLocks noChangeArrowheads="1"/>
          </p:cNvSpPr>
          <p:nvPr/>
        </p:nvSpPr>
        <p:spPr bwMode="auto">
          <a:xfrm>
            <a:off x="8839200" y="4532313"/>
            <a:ext cx="1210588"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b="1">
                <a:solidFill>
                  <a:schemeClr val="tx1"/>
                </a:solidFill>
                <a:latin typeface="Comic Sans MS" charset="0"/>
                <a:ea typeface="ＭＳ Ｐゴシック" charset="0"/>
                <a:cs typeface="ＭＳ Ｐゴシック" charset="0"/>
              </a:defRPr>
            </a:lvl1pPr>
            <a:lvl2pPr marL="742950" indent="-285750">
              <a:defRPr sz="2400" b="1">
                <a:solidFill>
                  <a:schemeClr val="tx1"/>
                </a:solidFill>
                <a:latin typeface="Comic Sans MS" charset="0"/>
                <a:ea typeface="ＭＳ Ｐゴシック" charset="0"/>
              </a:defRPr>
            </a:lvl2pPr>
            <a:lvl3pPr marL="1143000" indent="-228600">
              <a:defRPr sz="2400" b="1">
                <a:solidFill>
                  <a:schemeClr val="tx1"/>
                </a:solidFill>
                <a:latin typeface="Comic Sans MS" charset="0"/>
                <a:ea typeface="ＭＳ Ｐゴシック" charset="0"/>
              </a:defRPr>
            </a:lvl3pPr>
            <a:lvl4pPr marL="1600200" indent="-228600">
              <a:defRPr sz="2400" b="1">
                <a:solidFill>
                  <a:schemeClr val="tx1"/>
                </a:solidFill>
                <a:latin typeface="Comic Sans MS" charset="0"/>
                <a:ea typeface="ＭＳ Ｐゴシック" charset="0"/>
              </a:defRPr>
            </a:lvl4pPr>
            <a:lvl5pPr marL="2057400" indent="-228600">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b="1">
                <a:solidFill>
                  <a:schemeClr val="tx1"/>
                </a:solidFill>
                <a:latin typeface="Comic Sans MS" charset="0"/>
                <a:ea typeface="ＭＳ Ｐゴシック" charset="0"/>
              </a:defRPr>
            </a:lvl9pPr>
          </a:lstStyle>
          <a:p>
            <a:r>
              <a:rPr lang="en-US" sz="1800" b="0">
                <a:latin typeface="Gill Sans Light" charset="0"/>
                <a:cs typeface="Gill Sans Light" charset="0"/>
              </a:rPr>
              <a:t>Ad Server</a:t>
            </a:r>
          </a:p>
        </p:txBody>
      </p:sp>
      <p:sp>
        <p:nvSpPr>
          <p:cNvPr id="13328" name="TextBox 42"/>
          <p:cNvSpPr txBox="1">
            <a:spLocks noChangeArrowheads="1"/>
          </p:cNvSpPr>
          <p:nvPr/>
        </p:nvSpPr>
        <p:spPr bwMode="auto">
          <a:xfrm>
            <a:off x="2830246" y="1143001"/>
            <a:ext cx="979755" cy="6463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b="1">
                <a:solidFill>
                  <a:schemeClr val="tx1"/>
                </a:solidFill>
                <a:latin typeface="Comic Sans MS" charset="0"/>
                <a:ea typeface="ＭＳ Ｐゴシック" charset="0"/>
                <a:cs typeface="ＭＳ Ｐゴシック" charset="0"/>
              </a:defRPr>
            </a:lvl1pPr>
            <a:lvl2pPr marL="742950" indent="-285750">
              <a:defRPr sz="2400" b="1">
                <a:solidFill>
                  <a:schemeClr val="tx1"/>
                </a:solidFill>
                <a:latin typeface="Comic Sans MS" charset="0"/>
                <a:ea typeface="ＭＳ Ｐゴシック" charset="0"/>
              </a:defRPr>
            </a:lvl2pPr>
            <a:lvl3pPr marL="1143000" indent="-228600">
              <a:defRPr sz="2400" b="1">
                <a:solidFill>
                  <a:schemeClr val="tx1"/>
                </a:solidFill>
                <a:latin typeface="Comic Sans MS" charset="0"/>
                <a:ea typeface="ＭＳ Ｐゴシック" charset="0"/>
              </a:defRPr>
            </a:lvl3pPr>
            <a:lvl4pPr marL="1600200" indent="-228600">
              <a:defRPr sz="2400" b="1">
                <a:solidFill>
                  <a:schemeClr val="tx1"/>
                </a:solidFill>
                <a:latin typeface="Comic Sans MS" charset="0"/>
                <a:ea typeface="ＭＳ Ｐゴシック" charset="0"/>
              </a:defRPr>
            </a:lvl4pPr>
            <a:lvl5pPr marL="2057400" indent="-228600">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b="1">
                <a:solidFill>
                  <a:schemeClr val="tx1"/>
                </a:solidFill>
                <a:latin typeface="Comic Sans MS" charset="0"/>
                <a:ea typeface="ＭＳ Ｐゴシック" charset="0"/>
              </a:defRPr>
            </a:lvl9pPr>
          </a:lstStyle>
          <a:p>
            <a:pPr algn="r"/>
            <a:r>
              <a:rPr lang="en-US" sz="1800" b="0">
                <a:latin typeface="Gill Sans Light" charset="0"/>
                <a:cs typeface="Gill Sans Light" charset="0"/>
              </a:rPr>
              <a:t>DNS </a:t>
            </a:r>
          </a:p>
          <a:p>
            <a:pPr algn="r"/>
            <a:r>
              <a:rPr lang="en-US" sz="1800" b="0">
                <a:latin typeface="Gill Sans Light" charset="0"/>
                <a:cs typeface="Gill Sans Light" charset="0"/>
              </a:rPr>
              <a:t>Servers</a:t>
            </a:r>
          </a:p>
        </p:txBody>
      </p:sp>
      <p:cxnSp>
        <p:nvCxnSpPr>
          <p:cNvPr id="45" name="Straight Arrow Connector 44"/>
          <p:cNvCxnSpPr>
            <a:cxnSpLocks noChangeShapeType="1"/>
          </p:cNvCxnSpPr>
          <p:nvPr/>
        </p:nvCxnSpPr>
        <p:spPr bwMode="auto">
          <a:xfrm flipV="1">
            <a:off x="2590800" y="2551113"/>
            <a:ext cx="533400" cy="381000"/>
          </a:xfrm>
          <a:prstGeom prst="straightConnector1">
            <a:avLst/>
          </a:prstGeom>
          <a:noFill/>
          <a:ln w="38100">
            <a:solidFill>
              <a:schemeClr val="tx1"/>
            </a:solidFill>
            <a:round/>
            <a:headEnd/>
            <a:tailEnd type="triangle" w="med" len="med"/>
          </a:ln>
          <a:extLst>
            <a:ext uri="{909E8E84-426E-40dd-AFC4-6F175D3DCCD1}">
              <a14:hiddenFill xmlns:a14="http://schemas.microsoft.com/office/drawing/2010/main" xmlns="">
                <a:noFill/>
              </a14:hiddenFill>
            </a:ext>
          </a:extLst>
        </p:spPr>
      </p:cxnSp>
      <p:cxnSp>
        <p:nvCxnSpPr>
          <p:cNvPr id="47" name="Straight Arrow Connector 46"/>
          <p:cNvCxnSpPr>
            <a:cxnSpLocks noChangeShapeType="1"/>
          </p:cNvCxnSpPr>
          <p:nvPr/>
        </p:nvCxnSpPr>
        <p:spPr bwMode="auto">
          <a:xfrm flipV="1">
            <a:off x="3352800" y="1789113"/>
            <a:ext cx="533400" cy="304800"/>
          </a:xfrm>
          <a:prstGeom prst="straightConnector1">
            <a:avLst/>
          </a:prstGeom>
          <a:noFill/>
          <a:ln w="38100">
            <a:solidFill>
              <a:schemeClr val="tx1"/>
            </a:solidFill>
            <a:prstDash val="sysDash"/>
            <a:round/>
            <a:headEnd/>
            <a:tailEnd type="triangle" w="med" len="med"/>
          </a:ln>
          <a:extLst>
            <a:ext uri="{909E8E84-426E-40dd-AFC4-6F175D3DCCD1}">
              <a14:hiddenFill xmlns:a14="http://schemas.microsoft.com/office/drawing/2010/main" xmlns="">
                <a:noFill/>
              </a14:hiddenFill>
            </a:ext>
          </a:extLst>
        </p:spPr>
      </p:cxnSp>
      <p:cxnSp>
        <p:nvCxnSpPr>
          <p:cNvPr id="49" name="Straight Arrow Connector 48"/>
          <p:cNvCxnSpPr>
            <a:cxnSpLocks noChangeShapeType="1"/>
          </p:cNvCxnSpPr>
          <p:nvPr/>
        </p:nvCxnSpPr>
        <p:spPr bwMode="auto">
          <a:xfrm>
            <a:off x="3352800" y="2366963"/>
            <a:ext cx="533400" cy="76200"/>
          </a:xfrm>
          <a:prstGeom prst="straightConnector1">
            <a:avLst/>
          </a:prstGeom>
          <a:noFill/>
          <a:ln w="38100">
            <a:solidFill>
              <a:schemeClr val="tx1"/>
            </a:solidFill>
            <a:prstDash val="sysDash"/>
            <a:round/>
            <a:headEnd/>
            <a:tailEnd type="triangle" w="med" len="med"/>
          </a:ln>
          <a:extLst>
            <a:ext uri="{909E8E84-426E-40dd-AFC4-6F175D3DCCD1}">
              <a14:hiddenFill xmlns:a14="http://schemas.microsoft.com/office/drawing/2010/main" xmlns="">
                <a:noFill/>
              </a14:hiddenFill>
            </a:ext>
          </a:extLst>
        </p:spPr>
      </p:cxnSp>
      <p:cxnSp>
        <p:nvCxnSpPr>
          <p:cNvPr id="53" name="Straight Arrow Connector 52"/>
          <p:cNvCxnSpPr>
            <a:cxnSpLocks noChangeShapeType="1"/>
          </p:cNvCxnSpPr>
          <p:nvPr/>
        </p:nvCxnSpPr>
        <p:spPr bwMode="auto">
          <a:xfrm rot="10800000" flipV="1">
            <a:off x="3352800" y="1941513"/>
            <a:ext cx="533400" cy="304800"/>
          </a:xfrm>
          <a:prstGeom prst="straightConnector1">
            <a:avLst/>
          </a:prstGeom>
          <a:noFill/>
          <a:ln w="38100">
            <a:solidFill>
              <a:schemeClr val="tx1"/>
            </a:solidFill>
            <a:prstDash val="sysDash"/>
            <a:round/>
            <a:headEnd/>
            <a:tailEnd type="triangle" w="med" len="med"/>
          </a:ln>
          <a:extLst>
            <a:ext uri="{909E8E84-426E-40dd-AFC4-6F175D3DCCD1}">
              <a14:hiddenFill xmlns:a14="http://schemas.microsoft.com/office/drawing/2010/main" xmlns="">
                <a:noFill/>
              </a14:hiddenFill>
            </a:ext>
          </a:extLst>
        </p:spPr>
      </p:cxnSp>
      <p:cxnSp>
        <p:nvCxnSpPr>
          <p:cNvPr id="55" name="Straight Arrow Connector 54"/>
          <p:cNvCxnSpPr>
            <a:cxnSpLocks noChangeShapeType="1"/>
          </p:cNvCxnSpPr>
          <p:nvPr/>
        </p:nvCxnSpPr>
        <p:spPr bwMode="auto">
          <a:xfrm rot="10800000">
            <a:off x="3352800" y="2474913"/>
            <a:ext cx="533400" cy="76200"/>
          </a:xfrm>
          <a:prstGeom prst="straightConnector1">
            <a:avLst/>
          </a:prstGeom>
          <a:noFill/>
          <a:ln w="38100">
            <a:solidFill>
              <a:schemeClr val="tx1"/>
            </a:solidFill>
            <a:prstDash val="sysDash"/>
            <a:round/>
            <a:headEnd/>
            <a:tailEnd type="triangle" w="med" len="med"/>
          </a:ln>
          <a:extLst>
            <a:ext uri="{909E8E84-426E-40dd-AFC4-6F175D3DCCD1}">
              <a14:hiddenFill xmlns:a14="http://schemas.microsoft.com/office/drawing/2010/main" xmlns="">
                <a:noFill/>
              </a14:hiddenFill>
            </a:ext>
          </a:extLst>
        </p:spPr>
      </p:cxnSp>
      <p:cxnSp>
        <p:nvCxnSpPr>
          <p:cNvPr id="58" name="Straight Arrow Connector 57"/>
          <p:cNvCxnSpPr>
            <a:cxnSpLocks noChangeShapeType="1"/>
          </p:cNvCxnSpPr>
          <p:nvPr/>
        </p:nvCxnSpPr>
        <p:spPr bwMode="auto">
          <a:xfrm rot="10800000" flipV="1">
            <a:off x="2667000" y="2627313"/>
            <a:ext cx="533400" cy="381000"/>
          </a:xfrm>
          <a:prstGeom prst="straightConnector1">
            <a:avLst/>
          </a:prstGeom>
          <a:noFill/>
          <a:ln w="38100">
            <a:solidFill>
              <a:schemeClr val="tx1"/>
            </a:solidFill>
            <a:round/>
            <a:headEnd/>
            <a:tailEnd type="triangle" w="med" len="med"/>
          </a:ln>
          <a:extLst>
            <a:ext uri="{909E8E84-426E-40dd-AFC4-6F175D3DCCD1}">
              <a14:hiddenFill xmlns:a14="http://schemas.microsoft.com/office/drawing/2010/main" xmlns="">
                <a:noFill/>
              </a14:hiddenFill>
            </a:ext>
          </a:extLst>
        </p:spPr>
      </p:cxnSp>
      <p:sp>
        <p:nvSpPr>
          <p:cNvPr id="64" name="Freeform 63"/>
          <p:cNvSpPr>
            <a:spLocks noChangeArrowheads="1"/>
          </p:cNvSpPr>
          <p:nvPr/>
        </p:nvSpPr>
        <p:spPr bwMode="auto">
          <a:xfrm>
            <a:off x="2678114" y="3192463"/>
            <a:ext cx="4548187" cy="265112"/>
          </a:xfrm>
          <a:custGeom>
            <a:avLst/>
            <a:gdLst>
              <a:gd name="T0" fmla="*/ 0 w 4548513"/>
              <a:gd name="T1" fmla="*/ 111203 h 265638"/>
              <a:gd name="T2" fmla="*/ 1177224 w 4548513"/>
              <a:gd name="T3" fmla="*/ 234761 h 265638"/>
              <a:gd name="T4" fmla="*/ 4540691 w 4548513"/>
              <a:gd name="T5" fmla="*/ 0 h 265638"/>
              <a:gd name="T6" fmla="*/ 0 60000 65536"/>
              <a:gd name="T7" fmla="*/ 0 60000 65536"/>
              <a:gd name="T8" fmla="*/ 0 60000 65536"/>
              <a:gd name="T9" fmla="*/ 0 w 4548513"/>
              <a:gd name="T10" fmla="*/ 0 h 265638"/>
              <a:gd name="T11" fmla="*/ 4548513 w 4548513"/>
              <a:gd name="T12" fmla="*/ 265638 h 265638"/>
            </a:gdLst>
            <a:ahLst/>
            <a:cxnLst>
              <a:cxn ang="T6">
                <a:pos x="T0" y="T1"/>
              </a:cxn>
              <a:cxn ang="T7">
                <a:pos x="T2" y="T3"/>
              </a:cxn>
              <a:cxn ang="T8">
                <a:pos x="T4" y="T5"/>
              </a:cxn>
            </a:cxnLst>
            <a:rect l="T9" t="T10" r="T11" b="T12"/>
            <a:pathLst>
              <a:path w="4548513" h="265638">
                <a:moveTo>
                  <a:pt x="0" y="116622"/>
                </a:moveTo>
                <a:cubicBezTo>
                  <a:pt x="210579" y="191130"/>
                  <a:pt x="421159" y="265638"/>
                  <a:pt x="1179244" y="246201"/>
                </a:cubicBezTo>
                <a:cubicBezTo>
                  <a:pt x="1937329" y="226764"/>
                  <a:pt x="4548513" y="0"/>
                  <a:pt x="4548513" y="0"/>
                </a:cubicBezTo>
              </a:path>
            </a:pathLst>
          </a:custGeom>
          <a:noFill/>
          <a:ln w="38100">
            <a:solidFill>
              <a:schemeClr val="tx1"/>
            </a:solidFill>
            <a:round/>
            <a:headEnd/>
            <a:tailEnd type="triangle" w="med" len="med"/>
          </a:ln>
          <a:extLst>
            <a:ext uri="{909E8E84-426E-40dd-AFC4-6F175D3DCCD1}">
              <a14:hiddenFill xmlns:a14="http://schemas.microsoft.com/office/drawing/2010/main" xmlns="">
                <a:solidFill>
                  <a:srgbClr val="FFFFFF"/>
                </a:solidFill>
              </a14:hiddenFill>
            </a:ext>
          </a:extLst>
        </p:spPr>
        <p:txBody>
          <a:bodyPr anchor="ctr"/>
          <a:lstStyle/>
          <a:p>
            <a:endParaRPr lang="en-US"/>
          </a:p>
        </p:txBody>
      </p:sp>
      <p:cxnSp>
        <p:nvCxnSpPr>
          <p:cNvPr id="65" name="Straight Arrow Connector 64"/>
          <p:cNvCxnSpPr>
            <a:cxnSpLocks noChangeShapeType="1"/>
          </p:cNvCxnSpPr>
          <p:nvPr/>
        </p:nvCxnSpPr>
        <p:spPr bwMode="auto">
          <a:xfrm flipV="1">
            <a:off x="8077200" y="2976563"/>
            <a:ext cx="381000" cy="107950"/>
          </a:xfrm>
          <a:prstGeom prst="straightConnector1">
            <a:avLst/>
          </a:prstGeom>
          <a:noFill/>
          <a:ln w="38100">
            <a:solidFill>
              <a:schemeClr val="tx1"/>
            </a:solidFill>
            <a:round/>
            <a:headEnd/>
            <a:tailEnd type="triangle" w="med" len="med"/>
          </a:ln>
          <a:extLst>
            <a:ext uri="{909E8E84-426E-40dd-AFC4-6F175D3DCCD1}">
              <a14:hiddenFill xmlns:a14="http://schemas.microsoft.com/office/drawing/2010/main" xmlns="">
                <a:noFill/>
              </a14:hiddenFill>
            </a:ext>
          </a:extLst>
        </p:spPr>
      </p:cxnSp>
      <p:cxnSp>
        <p:nvCxnSpPr>
          <p:cNvPr id="68" name="Straight Arrow Connector 67"/>
          <p:cNvCxnSpPr>
            <a:cxnSpLocks noChangeShapeType="1"/>
          </p:cNvCxnSpPr>
          <p:nvPr/>
        </p:nvCxnSpPr>
        <p:spPr bwMode="auto">
          <a:xfrm rot="5400000" flipH="1" flipV="1">
            <a:off x="8763000" y="2322513"/>
            <a:ext cx="381000" cy="381000"/>
          </a:xfrm>
          <a:prstGeom prst="straightConnector1">
            <a:avLst/>
          </a:prstGeom>
          <a:noFill/>
          <a:ln w="38100">
            <a:solidFill>
              <a:schemeClr val="tx1"/>
            </a:solidFill>
            <a:round/>
            <a:headEnd/>
            <a:tailEnd type="triangle" w="med" len="med"/>
          </a:ln>
          <a:extLst>
            <a:ext uri="{909E8E84-426E-40dd-AFC4-6F175D3DCCD1}">
              <a14:hiddenFill xmlns:a14="http://schemas.microsoft.com/office/drawing/2010/main" xmlns="">
                <a:noFill/>
              </a14:hiddenFill>
            </a:ext>
          </a:extLst>
        </p:spPr>
      </p:cxnSp>
      <p:cxnSp>
        <p:nvCxnSpPr>
          <p:cNvPr id="70" name="Straight Arrow Connector 69"/>
          <p:cNvCxnSpPr>
            <a:cxnSpLocks noChangeShapeType="1"/>
          </p:cNvCxnSpPr>
          <p:nvPr/>
        </p:nvCxnSpPr>
        <p:spPr bwMode="auto">
          <a:xfrm>
            <a:off x="8763000" y="2976563"/>
            <a:ext cx="457200" cy="215900"/>
          </a:xfrm>
          <a:prstGeom prst="straightConnector1">
            <a:avLst/>
          </a:prstGeom>
          <a:noFill/>
          <a:ln w="38100">
            <a:solidFill>
              <a:schemeClr val="tx1"/>
            </a:solidFill>
            <a:round/>
            <a:headEnd/>
            <a:tailEnd type="triangle" w="med" len="med"/>
          </a:ln>
          <a:extLst>
            <a:ext uri="{909E8E84-426E-40dd-AFC4-6F175D3DCCD1}">
              <a14:hiddenFill xmlns:a14="http://schemas.microsoft.com/office/drawing/2010/main" xmlns="">
                <a:noFill/>
              </a14:hiddenFill>
            </a:ext>
          </a:extLst>
        </p:spPr>
      </p:cxnSp>
      <p:cxnSp>
        <p:nvCxnSpPr>
          <p:cNvPr id="73" name="Straight Arrow Connector 72"/>
          <p:cNvCxnSpPr>
            <a:cxnSpLocks noChangeShapeType="1"/>
          </p:cNvCxnSpPr>
          <p:nvPr/>
        </p:nvCxnSpPr>
        <p:spPr bwMode="auto">
          <a:xfrm rot="16200000" flipH="1">
            <a:off x="8686800" y="3236913"/>
            <a:ext cx="533400" cy="533400"/>
          </a:xfrm>
          <a:prstGeom prst="straightConnector1">
            <a:avLst/>
          </a:prstGeom>
          <a:noFill/>
          <a:ln w="38100">
            <a:solidFill>
              <a:schemeClr val="tx1"/>
            </a:solidFill>
            <a:round/>
            <a:headEnd/>
            <a:tailEnd type="triangle" w="med" len="med"/>
          </a:ln>
          <a:extLst>
            <a:ext uri="{909E8E84-426E-40dd-AFC4-6F175D3DCCD1}">
              <a14:hiddenFill xmlns:a14="http://schemas.microsoft.com/office/drawing/2010/main" xmlns="">
                <a:noFill/>
              </a14:hiddenFill>
            </a:ext>
          </a:extLst>
        </p:spPr>
      </p:cxnSp>
      <p:cxnSp>
        <p:nvCxnSpPr>
          <p:cNvPr id="78" name="Straight Arrow Connector 77"/>
          <p:cNvCxnSpPr>
            <a:cxnSpLocks noChangeShapeType="1"/>
          </p:cNvCxnSpPr>
          <p:nvPr/>
        </p:nvCxnSpPr>
        <p:spPr bwMode="auto">
          <a:xfrm rot="16200000" flipH="1">
            <a:off x="8534400" y="3236913"/>
            <a:ext cx="533400" cy="533400"/>
          </a:xfrm>
          <a:prstGeom prst="straightConnector1">
            <a:avLst/>
          </a:prstGeom>
          <a:noFill/>
          <a:ln w="38100">
            <a:solidFill>
              <a:schemeClr val="tx1"/>
            </a:solidFill>
            <a:round/>
            <a:headEnd type="triangle" w="med" len="med"/>
            <a:tailEnd/>
          </a:ln>
          <a:extLst>
            <a:ext uri="{909E8E84-426E-40dd-AFC4-6F175D3DCCD1}">
              <a14:hiddenFill xmlns:a14="http://schemas.microsoft.com/office/drawing/2010/main" xmlns="">
                <a:noFill/>
              </a14:hiddenFill>
            </a:ext>
          </a:extLst>
        </p:spPr>
      </p:cxnSp>
      <p:cxnSp>
        <p:nvCxnSpPr>
          <p:cNvPr id="79" name="Straight Arrow Connector 78"/>
          <p:cNvCxnSpPr>
            <a:cxnSpLocks noChangeShapeType="1"/>
          </p:cNvCxnSpPr>
          <p:nvPr/>
        </p:nvCxnSpPr>
        <p:spPr bwMode="auto">
          <a:xfrm>
            <a:off x="8763000" y="3084513"/>
            <a:ext cx="457200" cy="215900"/>
          </a:xfrm>
          <a:prstGeom prst="straightConnector1">
            <a:avLst/>
          </a:prstGeom>
          <a:noFill/>
          <a:ln w="38100">
            <a:solidFill>
              <a:schemeClr val="tx1"/>
            </a:solidFill>
            <a:round/>
            <a:headEnd type="triangle" w="med" len="med"/>
            <a:tailEnd/>
          </a:ln>
          <a:extLst>
            <a:ext uri="{909E8E84-426E-40dd-AFC4-6F175D3DCCD1}">
              <a14:hiddenFill xmlns:a14="http://schemas.microsoft.com/office/drawing/2010/main" xmlns="">
                <a:noFill/>
              </a14:hiddenFill>
            </a:ext>
          </a:extLst>
        </p:spPr>
      </p:cxnSp>
      <p:cxnSp>
        <p:nvCxnSpPr>
          <p:cNvPr id="80" name="Straight Arrow Connector 79"/>
          <p:cNvCxnSpPr>
            <a:cxnSpLocks noChangeShapeType="1"/>
          </p:cNvCxnSpPr>
          <p:nvPr/>
        </p:nvCxnSpPr>
        <p:spPr bwMode="auto">
          <a:xfrm flipV="1">
            <a:off x="8763000" y="2479675"/>
            <a:ext cx="393700" cy="376238"/>
          </a:xfrm>
          <a:prstGeom prst="straightConnector1">
            <a:avLst/>
          </a:prstGeom>
          <a:noFill/>
          <a:ln w="38100">
            <a:solidFill>
              <a:schemeClr val="tx1"/>
            </a:solidFill>
            <a:round/>
            <a:headEnd type="triangle" w="med" len="med"/>
            <a:tailEnd/>
          </a:ln>
          <a:extLst>
            <a:ext uri="{909E8E84-426E-40dd-AFC4-6F175D3DCCD1}">
              <a14:hiddenFill xmlns:a14="http://schemas.microsoft.com/office/drawing/2010/main" xmlns="">
                <a:noFill/>
              </a14:hiddenFill>
            </a:ext>
          </a:extLst>
        </p:spPr>
      </p:cxnSp>
      <p:cxnSp>
        <p:nvCxnSpPr>
          <p:cNvPr id="84" name="Straight Arrow Connector 83"/>
          <p:cNvCxnSpPr>
            <a:cxnSpLocks noChangeShapeType="1"/>
          </p:cNvCxnSpPr>
          <p:nvPr/>
        </p:nvCxnSpPr>
        <p:spPr bwMode="auto">
          <a:xfrm flipV="1">
            <a:off x="8077200" y="3128963"/>
            <a:ext cx="381000" cy="107950"/>
          </a:xfrm>
          <a:prstGeom prst="straightConnector1">
            <a:avLst/>
          </a:prstGeom>
          <a:noFill/>
          <a:ln w="38100">
            <a:solidFill>
              <a:schemeClr val="tx1"/>
            </a:solidFill>
            <a:round/>
            <a:headEnd type="triangle" w="med" len="med"/>
            <a:tailEnd/>
          </a:ln>
          <a:extLst>
            <a:ext uri="{909E8E84-426E-40dd-AFC4-6F175D3DCCD1}">
              <a14:hiddenFill xmlns:a14="http://schemas.microsoft.com/office/drawing/2010/main" xmlns="">
                <a:noFill/>
              </a14:hiddenFill>
            </a:ext>
          </a:extLst>
        </p:spPr>
      </p:cxnSp>
      <p:sp>
        <p:nvSpPr>
          <p:cNvPr id="85" name="Freeform 84"/>
          <p:cNvSpPr>
            <a:spLocks noChangeArrowheads="1"/>
          </p:cNvSpPr>
          <p:nvPr/>
        </p:nvSpPr>
        <p:spPr bwMode="auto">
          <a:xfrm>
            <a:off x="2590800" y="3344863"/>
            <a:ext cx="4548188" cy="265112"/>
          </a:xfrm>
          <a:custGeom>
            <a:avLst/>
            <a:gdLst>
              <a:gd name="T0" fmla="*/ 0 w 4548513"/>
              <a:gd name="T1" fmla="*/ 111203 h 265638"/>
              <a:gd name="T2" fmla="*/ 1177228 w 4548513"/>
              <a:gd name="T3" fmla="*/ 234761 h 265638"/>
              <a:gd name="T4" fmla="*/ 4540715 w 4548513"/>
              <a:gd name="T5" fmla="*/ 0 h 265638"/>
              <a:gd name="T6" fmla="*/ 0 60000 65536"/>
              <a:gd name="T7" fmla="*/ 0 60000 65536"/>
              <a:gd name="T8" fmla="*/ 0 60000 65536"/>
              <a:gd name="T9" fmla="*/ 0 w 4548513"/>
              <a:gd name="T10" fmla="*/ 0 h 265638"/>
              <a:gd name="T11" fmla="*/ 4548513 w 4548513"/>
              <a:gd name="T12" fmla="*/ 265638 h 265638"/>
            </a:gdLst>
            <a:ahLst/>
            <a:cxnLst>
              <a:cxn ang="T6">
                <a:pos x="T0" y="T1"/>
              </a:cxn>
              <a:cxn ang="T7">
                <a:pos x="T2" y="T3"/>
              </a:cxn>
              <a:cxn ang="T8">
                <a:pos x="T4" y="T5"/>
              </a:cxn>
            </a:cxnLst>
            <a:rect l="T9" t="T10" r="T11" b="T12"/>
            <a:pathLst>
              <a:path w="4548513" h="265638">
                <a:moveTo>
                  <a:pt x="0" y="116622"/>
                </a:moveTo>
                <a:cubicBezTo>
                  <a:pt x="210579" y="191130"/>
                  <a:pt x="421159" y="265638"/>
                  <a:pt x="1179244" y="246201"/>
                </a:cubicBezTo>
                <a:cubicBezTo>
                  <a:pt x="1937329" y="226764"/>
                  <a:pt x="4548513" y="0"/>
                  <a:pt x="4548513" y="0"/>
                </a:cubicBezTo>
              </a:path>
            </a:pathLst>
          </a:custGeom>
          <a:noFill/>
          <a:ln w="38100">
            <a:solidFill>
              <a:schemeClr val="tx1"/>
            </a:solidFill>
            <a:round/>
            <a:headEnd type="triangle" w="med" len="med"/>
            <a:tailEnd/>
          </a:ln>
          <a:extLst>
            <a:ext uri="{909E8E84-426E-40dd-AFC4-6F175D3DCCD1}">
              <a14:hiddenFill xmlns:a14="http://schemas.microsoft.com/office/drawing/2010/main" xmlns="">
                <a:solidFill>
                  <a:srgbClr val="FFFFFF"/>
                </a:solidFill>
              </a14:hiddenFill>
            </a:ext>
          </a:extLst>
        </p:spPr>
        <p:txBody>
          <a:bodyPr anchor="ctr"/>
          <a:lstStyle/>
          <a:p>
            <a:endParaRPr lang="en-US"/>
          </a:p>
        </p:txBody>
      </p:sp>
      <p:sp>
        <p:nvSpPr>
          <p:cNvPr id="13345" name="TextBox 85"/>
          <p:cNvSpPr txBox="1">
            <a:spLocks noChangeArrowheads="1"/>
          </p:cNvSpPr>
          <p:nvPr/>
        </p:nvSpPr>
        <p:spPr bwMode="auto">
          <a:xfrm>
            <a:off x="9372601" y="1981201"/>
            <a:ext cx="915635" cy="6463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b="1">
                <a:solidFill>
                  <a:schemeClr val="tx1"/>
                </a:solidFill>
                <a:latin typeface="Comic Sans MS" charset="0"/>
                <a:ea typeface="ＭＳ Ｐゴシック" charset="0"/>
                <a:cs typeface="ＭＳ Ｐゴシック" charset="0"/>
              </a:defRPr>
            </a:lvl1pPr>
            <a:lvl2pPr marL="742950" indent="-285750">
              <a:defRPr sz="2400" b="1">
                <a:solidFill>
                  <a:schemeClr val="tx1"/>
                </a:solidFill>
                <a:latin typeface="Comic Sans MS" charset="0"/>
                <a:ea typeface="ＭＳ Ｐゴシック" charset="0"/>
              </a:defRPr>
            </a:lvl2pPr>
            <a:lvl3pPr marL="1143000" indent="-228600">
              <a:defRPr sz="2400" b="1">
                <a:solidFill>
                  <a:schemeClr val="tx1"/>
                </a:solidFill>
                <a:latin typeface="Comic Sans MS" charset="0"/>
                <a:ea typeface="ＭＳ Ｐゴシック" charset="0"/>
              </a:defRPr>
            </a:lvl3pPr>
            <a:lvl4pPr marL="1600200" indent="-228600">
              <a:defRPr sz="2400" b="1">
                <a:solidFill>
                  <a:schemeClr val="tx1"/>
                </a:solidFill>
                <a:latin typeface="Comic Sans MS" charset="0"/>
                <a:ea typeface="ＭＳ Ｐゴシック" charset="0"/>
              </a:defRPr>
            </a:lvl4pPr>
            <a:lvl5pPr marL="2057400" indent="-228600">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b="1">
                <a:solidFill>
                  <a:schemeClr val="tx1"/>
                </a:solidFill>
                <a:latin typeface="Comic Sans MS" charset="0"/>
                <a:ea typeface="ＭＳ Ｐゴシック" charset="0"/>
              </a:defRPr>
            </a:lvl9pPr>
          </a:lstStyle>
          <a:p>
            <a:r>
              <a:rPr lang="en-US" sz="1800" b="0">
                <a:latin typeface="Gill Sans Light" charset="0"/>
                <a:cs typeface="Gill Sans Light" charset="0"/>
              </a:rPr>
              <a:t>Search</a:t>
            </a:r>
          </a:p>
          <a:p>
            <a:r>
              <a:rPr lang="en-US" sz="1800" b="0">
                <a:latin typeface="Gill Sans Light" charset="0"/>
                <a:cs typeface="Gill Sans Light" charset="0"/>
              </a:rPr>
              <a:t>Index</a:t>
            </a:r>
          </a:p>
        </p:txBody>
      </p:sp>
      <p:sp>
        <p:nvSpPr>
          <p:cNvPr id="87" name="Rectangular Callout 86"/>
          <p:cNvSpPr>
            <a:spLocks noChangeArrowheads="1"/>
          </p:cNvSpPr>
          <p:nvPr/>
        </p:nvSpPr>
        <p:spPr bwMode="auto">
          <a:xfrm>
            <a:off x="1676400" y="1865313"/>
            <a:ext cx="1143000" cy="609600"/>
          </a:xfrm>
          <a:prstGeom prst="wedgeRectCallout">
            <a:avLst>
              <a:gd name="adj1" fmla="val 54750"/>
              <a:gd name="adj2" fmla="val 75255"/>
            </a:avLst>
          </a:prstGeom>
          <a:solidFill>
            <a:srgbClr val="FFFFAA"/>
          </a:solidFill>
          <a:ln w="25400">
            <a:solidFill>
              <a:schemeClr val="tx1"/>
            </a:solidFill>
            <a:round/>
            <a:headEnd type="triangle" w="med" len="med"/>
            <a:tailEnd/>
          </a:ln>
        </p:spPr>
        <p:txBody>
          <a:bodyPr anchor="ctr"/>
          <a:lstStyle/>
          <a:p>
            <a:pPr algn="ctr">
              <a:lnSpc>
                <a:spcPct val="80000"/>
              </a:lnSpc>
            </a:pPr>
            <a:r>
              <a:rPr lang="en-US" b="0" dirty="0">
                <a:latin typeface="Gill Sans Light" charset="0"/>
                <a:cs typeface="Gill Sans Light" charset="0"/>
              </a:rPr>
              <a:t>DNS</a:t>
            </a:r>
          </a:p>
          <a:p>
            <a:pPr algn="ctr">
              <a:lnSpc>
                <a:spcPct val="80000"/>
              </a:lnSpc>
            </a:pPr>
            <a:r>
              <a:rPr lang="en-US" b="0" dirty="0">
                <a:latin typeface="Gill Sans Light" charset="0"/>
                <a:cs typeface="Gill Sans Light" charset="0"/>
              </a:rPr>
              <a:t>request</a:t>
            </a:r>
          </a:p>
        </p:txBody>
      </p:sp>
      <p:sp>
        <p:nvSpPr>
          <p:cNvPr id="88" name="Rectangular Callout 87"/>
          <p:cNvSpPr>
            <a:spLocks noChangeArrowheads="1"/>
          </p:cNvSpPr>
          <p:nvPr/>
        </p:nvSpPr>
        <p:spPr bwMode="auto">
          <a:xfrm>
            <a:off x="7239000" y="1941513"/>
            <a:ext cx="990600" cy="838200"/>
          </a:xfrm>
          <a:prstGeom prst="wedgeRectCallout">
            <a:avLst>
              <a:gd name="adj1" fmla="val 73065"/>
              <a:gd name="adj2" fmla="val 45880"/>
            </a:avLst>
          </a:prstGeom>
          <a:solidFill>
            <a:srgbClr val="FFFFAA"/>
          </a:solidFill>
          <a:ln w="25400">
            <a:solidFill>
              <a:schemeClr val="tx1"/>
            </a:solidFill>
            <a:round/>
            <a:headEnd type="triangle" w="med" len="med"/>
            <a:tailEnd/>
          </a:ln>
        </p:spPr>
        <p:txBody>
          <a:bodyPr anchor="ctr"/>
          <a:lstStyle/>
          <a:p>
            <a:pPr algn="ctr">
              <a:lnSpc>
                <a:spcPct val="80000"/>
              </a:lnSpc>
            </a:pPr>
            <a:r>
              <a:rPr lang="en-US" b="0" dirty="0">
                <a:latin typeface="Gill Sans Light" charset="0"/>
                <a:cs typeface="Gill Sans Light" charset="0"/>
              </a:rPr>
              <a:t>create</a:t>
            </a:r>
          </a:p>
          <a:p>
            <a:pPr algn="ctr">
              <a:lnSpc>
                <a:spcPct val="80000"/>
              </a:lnSpc>
            </a:pPr>
            <a:r>
              <a:rPr lang="en-US" b="0" dirty="0">
                <a:latin typeface="Gill Sans Light" charset="0"/>
                <a:cs typeface="Gill Sans Light" charset="0"/>
              </a:rPr>
              <a:t>result</a:t>
            </a:r>
          </a:p>
          <a:p>
            <a:pPr algn="ctr">
              <a:lnSpc>
                <a:spcPct val="80000"/>
              </a:lnSpc>
            </a:pPr>
            <a:r>
              <a:rPr lang="en-US" b="0" dirty="0">
                <a:latin typeface="Gill Sans Light" charset="0"/>
                <a:cs typeface="Gill Sans Light" charset="0"/>
              </a:rPr>
              <a:t>page</a:t>
            </a:r>
          </a:p>
        </p:txBody>
      </p:sp>
      <p:pic>
        <p:nvPicPr>
          <p:cNvPr id="13348" name="Picture 1"/>
          <p:cNvPicPr>
            <a:picLocks noChangeAspect="1"/>
          </p:cNvPicPr>
          <p:nvPr/>
        </p:nvPicPr>
        <p:blipFill>
          <a:blip r:embed="rId7" cstate="email">
            <a:extLst>
              <a:ext uri="{28A0092B-C50C-407E-A947-70E740481C1C}">
                <a14:useLocalDpi xmlns:a14="http://schemas.microsoft.com/office/drawing/2010/main" val="0"/>
              </a:ext>
            </a:extLst>
          </a:blip>
          <a:srcRect l="32965" t="5408" r="32854" b="5586"/>
          <a:stretch>
            <a:fillRect/>
          </a:stretch>
        </p:blipFill>
        <p:spPr bwMode="auto">
          <a:xfrm>
            <a:off x="1905000" y="2895600"/>
            <a:ext cx="641350" cy="12525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3349" name="Cube 1"/>
          <p:cNvSpPr>
            <a:spLocks noChangeArrowheads="1"/>
          </p:cNvSpPr>
          <p:nvPr/>
        </p:nvSpPr>
        <p:spPr bwMode="auto">
          <a:xfrm>
            <a:off x="3810000" y="3352800"/>
            <a:ext cx="533400" cy="304800"/>
          </a:xfrm>
          <a:prstGeom prst="cube">
            <a:avLst>
              <a:gd name="adj" fmla="val 25000"/>
            </a:avLst>
          </a:prstGeom>
          <a:solidFill>
            <a:schemeClr val="accent1"/>
          </a:solidFill>
          <a:ln w="12700">
            <a:solidFill>
              <a:schemeClr val="tx1"/>
            </a:solidFill>
            <a:round/>
            <a:headEnd type="none" w="sm" len="sm"/>
            <a:tailEnd type="none" w="sm" len="sm"/>
          </a:ln>
        </p:spPr>
        <p:txBody>
          <a:bodyPr/>
          <a:lstStyle/>
          <a:p>
            <a:endParaRPr lang="en-US" b="0">
              <a:latin typeface="Gill Sans Light" charset="0"/>
              <a:cs typeface="Gill Sans Light" charset="0"/>
            </a:endParaRPr>
          </a:p>
        </p:txBody>
      </p:sp>
      <p:sp>
        <p:nvSpPr>
          <p:cNvPr id="13350" name="Cube 38"/>
          <p:cNvSpPr>
            <a:spLocks noChangeArrowheads="1"/>
          </p:cNvSpPr>
          <p:nvPr/>
        </p:nvSpPr>
        <p:spPr bwMode="auto">
          <a:xfrm>
            <a:off x="5943600" y="3200400"/>
            <a:ext cx="533400" cy="304800"/>
          </a:xfrm>
          <a:prstGeom prst="cube">
            <a:avLst>
              <a:gd name="adj" fmla="val 25000"/>
            </a:avLst>
          </a:prstGeom>
          <a:solidFill>
            <a:schemeClr val="accent1"/>
          </a:solidFill>
          <a:ln w="12700">
            <a:solidFill>
              <a:schemeClr val="tx1"/>
            </a:solidFill>
            <a:round/>
            <a:headEnd type="none" w="sm" len="sm"/>
            <a:tailEnd type="none" w="sm" len="sm"/>
          </a:ln>
        </p:spPr>
        <p:txBody>
          <a:bodyPr/>
          <a:lstStyle/>
          <a:p>
            <a:endParaRPr lang="en-US" b="0">
              <a:latin typeface="Gill Sans Light" charset="0"/>
              <a:cs typeface="Gill Sans Light" charset="0"/>
            </a:endParaRPr>
          </a:p>
        </p:txBody>
      </p:sp>
      <p:sp>
        <p:nvSpPr>
          <p:cNvPr id="13351" name="TextBox 41"/>
          <p:cNvSpPr txBox="1">
            <a:spLocks noChangeArrowheads="1"/>
          </p:cNvSpPr>
          <p:nvPr/>
        </p:nvSpPr>
        <p:spPr bwMode="auto">
          <a:xfrm>
            <a:off x="9448800" y="2895601"/>
            <a:ext cx="838200" cy="6461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400" b="1">
                <a:solidFill>
                  <a:schemeClr val="tx1"/>
                </a:solidFill>
                <a:latin typeface="Comic Sans MS" charset="0"/>
                <a:ea typeface="ＭＳ Ｐゴシック" charset="0"/>
                <a:cs typeface="ＭＳ Ｐゴシック" charset="0"/>
              </a:defRPr>
            </a:lvl1pPr>
            <a:lvl2pPr marL="742950" indent="-285750">
              <a:defRPr sz="2400" b="1">
                <a:solidFill>
                  <a:schemeClr val="tx1"/>
                </a:solidFill>
                <a:latin typeface="Comic Sans MS" charset="0"/>
                <a:ea typeface="ＭＳ Ｐゴシック" charset="0"/>
              </a:defRPr>
            </a:lvl2pPr>
            <a:lvl3pPr marL="1143000" indent="-228600">
              <a:defRPr sz="2400" b="1">
                <a:solidFill>
                  <a:schemeClr val="tx1"/>
                </a:solidFill>
                <a:latin typeface="Comic Sans MS" charset="0"/>
                <a:ea typeface="ＭＳ Ｐゴシック" charset="0"/>
              </a:defRPr>
            </a:lvl3pPr>
            <a:lvl4pPr marL="1600200" indent="-228600">
              <a:defRPr sz="2400" b="1">
                <a:solidFill>
                  <a:schemeClr val="tx1"/>
                </a:solidFill>
                <a:latin typeface="Comic Sans MS" charset="0"/>
                <a:ea typeface="ＭＳ Ｐゴシック" charset="0"/>
              </a:defRPr>
            </a:lvl4pPr>
            <a:lvl5pPr marL="2057400" indent="-228600">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b="1">
                <a:solidFill>
                  <a:schemeClr val="tx1"/>
                </a:solidFill>
                <a:latin typeface="Comic Sans MS" charset="0"/>
                <a:ea typeface="ＭＳ Ｐゴシック" charset="0"/>
              </a:defRPr>
            </a:lvl9pPr>
          </a:lstStyle>
          <a:p>
            <a:r>
              <a:rPr lang="en-US" sz="1800" b="0">
                <a:latin typeface="Gill Sans Light" charset="0"/>
                <a:cs typeface="Gill Sans Light" charset="0"/>
              </a:rPr>
              <a:t>Page store</a:t>
            </a:r>
          </a:p>
        </p:txBody>
      </p:sp>
    </p:spTree>
    <p:extLst>
      <p:ext uri="{BB962C8B-B14F-4D97-AF65-F5344CB8AC3E}">
        <p14:creationId xmlns:p14="http://schemas.microsoft.com/office/powerpoint/2010/main" val="312415730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5"/>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4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3"/>
                                        </p:tgtEl>
                                        <p:attrNameLst>
                                          <p:attrName>style.visibility</p:attrName>
                                        </p:attrNameLst>
                                      </p:cBhvr>
                                      <p:to>
                                        <p:strVal val="visible"/>
                                      </p:to>
                                    </p:set>
                                  </p:childTnLst>
                                </p:cTn>
                              </p:par>
                            </p:childTnLst>
                          </p:cTn>
                        </p:par>
                        <p:par>
                          <p:cTn id="15" fill="hold" nodeType="afterGroup">
                            <p:stCondLst>
                              <p:cond delay="0"/>
                            </p:stCondLst>
                            <p:childTnLst>
                              <p:par>
                                <p:cTn id="16" presetID="1" presetClass="entr" presetSubtype="0" fill="hold" nodeType="afterEffect">
                                  <p:stCondLst>
                                    <p:cond delay="0"/>
                                  </p:stCondLst>
                                  <p:childTnLst>
                                    <p:set>
                                      <p:cBhvr>
                                        <p:cTn id="17" dur="1" fill="hold">
                                          <p:stCondLst>
                                            <p:cond delay="0"/>
                                          </p:stCondLst>
                                        </p:cTn>
                                        <p:tgtEl>
                                          <p:spTgt spid="49"/>
                                        </p:tgtEl>
                                        <p:attrNameLst>
                                          <p:attrName>style.visibility</p:attrName>
                                        </p:attrNameLst>
                                      </p:cBhvr>
                                      <p:to>
                                        <p:strVal val="visible"/>
                                      </p:to>
                                    </p:set>
                                  </p:childTnLst>
                                </p:cTn>
                              </p:par>
                            </p:childTnLst>
                          </p:cTn>
                        </p:par>
                        <p:par>
                          <p:cTn id="18" fill="hold" nodeType="afterGroup">
                            <p:stCondLst>
                              <p:cond delay="0"/>
                            </p:stCondLst>
                            <p:childTnLst>
                              <p:par>
                                <p:cTn id="19" presetID="1" presetClass="entr" presetSubtype="0" fill="hold" nodeType="afterEffect">
                                  <p:stCondLst>
                                    <p:cond delay="0"/>
                                  </p:stCondLst>
                                  <p:childTnLst>
                                    <p:set>
                                      <p:cBhvr>
                                        <p:cTn id="20" dur="1" fill="hold">
                                          <p:stCondLst>
                                            <p:cond delay="0"/>
                                          </p:stCondLst>
                                        </p:cTn>
                                        <p:tgtEl>
                                          <p:spTgt spid="55"/>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58"/>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64"/>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nodeType="clickEffect">
                                  <p:stCondLst>
                                    <p:cond delay="0"/>
                                  </p:stCondLst>
                                  <p:childTnLst>
                                    <p:set>
                                      <p:cBhvr>
                                        <p:cTn id="32" dur="1" fill="hold">
                                          <p:stCondLst>
                                            <p:cond delay="0"/>
                                          </p:stCondLst>
                                        </p:cTn>
                                        <p:tgtEl>
                                          <p:spTgt spid="65"/>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nodeType="clickEffect">
                                  <p:stCondLst>
                                    <p:cond delay="0"/>
                                  </p:stCondLst>
                                  <p:childTnLst>
                                    <p:set>
                                      <p:cBhvr>
                                        <p:cTn id="36" dur="1" fill="hold">
                                          <p:stCondLst>
                                            <p:cond delay="0"/>
                                          </p:stCondLst>
                                        </p:cTn>
                                        <p:tgtEl>
                                          <p:spTgt spid="68"/>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70"/>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nodeType="clickEffect">
                                  <p:stCondLst>
                                    <p:cond delay="0"/>
                                  </p:stCondLst>
                                  <p:childTnLst>
                                    <p:set>
                                      <p:cBhvr>
                                        <p:cTn id="42" dur="1" fill="hold">
                                          <p:stCondLst>
                                            <p:cond delay="0"/>
                                          </p:stCondLst>
                                        </p:cTn>
                                        <p:tgtEl>
                                          <p:spTgt spid="80"/>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79"/>
                                        </p:tgtEl>
                                        <p:attrNameLst>
                                          <p:attrName>style.visibility</p:attrName>
                                        </p:attrNameLst>
                                      </p:cBhvr>
                                      <p:to>
                                        <p:strVal val="visible"/>
                                      </p:to>
                                    </p:set>
                                  </p:childTnLst>
                                </p:cTn>
                              </p:par>
                            </p:childTnLst>
                          </p:cTn>
                        </p:par>
                      </p:childTnLst>
                    </p:cTn>
                  </p:par>
                  <p:par>
                    <p:cTn id="45" fill="hold" nodeType="clickPar">
                      <p:stCondLst>
                        <p:cond delay="indefinite"/>
                      </p:stCondLst>
                      <p:childTnLst>
                        <p:par>
                          <p:cTn id="46" fill="hold" nodeType="withGroup">
                            <p:stCondLst>
                              <p:cond delay="0"/>
                            </p:stCondLst>
                            <p:childTnLst>
                              <p:par>
                                <p:cTn id="47" presetID="1" presetClass="entr" presetSubtype="0" fill="hold" nodeType="clickEffect">
                                  <p:stCondLst>
                                    <p:cond delay="0"/>
                                  </p:stCondLst>
                                  <p:childTnLst>
                                    <p:set>
                                      <p:cBhvr>
                                        <p:cTn id="48" dur="1" fill="hold">
                                          <p:stCondLst>
                                            <p:cond delay="0"/>
                                          </p:stCondLst>
                                        </p:cTn>
                                        <p:tgtEl>
                                          <p:spTgt spid="73"/>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7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88"/>
                                        </p:tgtEl>
                                        <p:attrNameLst>
                                          <p:attrName>style.visibility</p:attrName>
                                        </p:attrNameLst>
                                      </p:cBhvr>
                                      <p:to>
                                        <p:strVal val="visible"/>
                                      </p:to>
                                    </p:set>
                                  </p:childTnLst>
                                </p:cTn>
                              </p:par>
                            </p:childTnLst>
                          </p:cTn>
                        </p:par>
                      </p:childTnLst>
                    </p:cTn>
                  </p:par>
                  <p:par>
                    <p:cTn id="53" fill="hold" nodeType="clickPar">
                      <p:stCondLst>
                        <p:cond delay="indefinite"/>
                      </p:stCondLst>
                      <p:childTnLst>
                        <p:par>
                          <p:cTn id="54" fill="hold" nodeType="withGroup">
                            <p:stCondLst>
                              <p:cond delay="0"/>
                            </p:stCondLst>
                            <p:childTnLst>
                              <p:par>
                                <p:cTn id="55" presetID="1" presetClass="entr" presetSubtype="0" fill="hold" nodeType="clickEffect">
                                  <p:stCondLst>
                                    <p:cond delay="0"/>
                                  </p:stCondLst>
                                  <p:childTnLst>
                                    <p:set>
                                      <p:cBhvr>
                                        <p:cTn id="56" dur="1" fill="hold">
                                          <p:stCondLst>
                                            <p:cond delay="0"/>
                                          </p:stCondLst>
                                        </p:cTn>
                                        <p:tgtEl>
                                          <p:spTgt spid="84"/>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8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animBg="1"/>
      <p:bldP spid="85" grpId="0" animBg="1"/>
      <p:bldP spid="87" grpId="0" animBg="1"/>
      <p:bldP spid="8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8C7C9-BF17-4047-9AB4-320E913CB290}"/>
              </a:ext>
            </a:extLst>
          </p:cNvPr>
          <p:cNvSpPr>
            <a:spLocks noGrp="1"/>
          </p:cNvSpPr>
          <p:nvPr>
            <p:ph type="title"/>
          </p:nvPr>
        </p:nvSpPr>
        <p:spPr/>
        <p:txBody>
          <a:bodyPr/>
          <a:lstStyle/>
          <a:p>
            <a:r>
              <a:rPr lang="en-US" dirty="0"/>
              <a:t>One Definition of an Operating System</a:t>
            </a:r>
          </a:p>
        </p:txBody>
      </p:sp>
      <p:sp>
        <p:nvSpPr>
          <p:cNvPr id="3" name="Content Placeholder 2">
            <a:extLst>
              <a:ext uri="{FF2B5EF4-FFF2-40B4-BE49-F238E27FC236}">
                <a16:creationId xmlns:a16="http://schemas.microsoft.com/office/drawing/2014/main" id="{76448E88-26B6-40BC-B4C6-50C0D3EFF269}"/>
              </a:ext>
            </a:extLst>
          </p:cNvPr>
          <p:cNvSpPr>
            <a:spLocks noGrp="1"/>
          </p:cNvSpPr>
          <p:nvPr>
            <p:ph idx="1"/>
          </p:nvPr>
        </p:nvSpPr>
        <p:spPr>
          <a:xfrm>
            <a:off x="685800" y="1066800"/>
            <a:ext cx="10515600" cy="2554218"/>
          </a:xfrm>
        </p:spPr>
        <p:txBody>
          <a:bodyPr/>
          <a:lstStyle/>
          <a:p>
            <a:r>
              <a:rPr lang="en-US" dirty="0"/>
              <a:t>Special layer of software that provides application software access to hardware resources</a:t>
            </a:r>
          </a:p>
          <a:p>
            <a:pPr lvl="1"/>
            <a:r>
              <a:rPr lang="en-US" dirty="0"/>
              <a:t>Convenient abstraction of complex hardware devices</a:t>
            </a:r>
          </a:p>
          <a:p>
            <a:pPr lvl="1"/>
            <a:r>
              <a:rPr lang="en-US" dirty="0"/>
              <a:t>Protected access to shared resources</a:t>
            </a:r>
          </a:p>
          <a:p>
            <a:pPr lvl="1"/>
            <a:r>
              <a:rPr lang="en-US" dirty="0"/>
              <a:t>Security and authentication</a:t>
            </a:r>
          </a:p>
          <a:p>
            <a:pPr lvl="1"/>
            <a:r>
              <a:rPr lang="en-US" dirty="0"/>
              <a:t>Communication</a:t>
            </a:r>
          </a:p>
        </p:txBody>
      </p:sp>
      <p:sp>
        <p:nvSpPr>
          <p:cNvPr id="8" name="Rectangle 7">
            <a:extLst>
              <a:ext uri="{FF2B5EF4-FFF2-40B4-BE49-F238E27FC236}">
                <a16:creationId xmlns:a16="http://schemas.microsoft.com/office/drawing/2014/main" id="{18A0CC46-0699-434B-8CFC-71FDF0FD8C28}"/>
              </a:ext>
            </a:extLst>
          </p:cNvPr>
          <p:cNvSpPr/>
          <p:nvPr/>
        </p:nvSpPr>
        <p:spPr bwMode="auto">
          <a:xfrm>
            <a:off x="6944139" y="3965575"/>
            <a:ext cx="2362200" cy="914400"/>
          </a:xfrm>
          <a:prstGeom prst="rect">
            <a:avLst/>
          </a:prstGeom>
          <a:solidFill>
            <a:srgbClr val="00B0F0"/>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charset="0"/>
            </a:endParaRPr>
          </a:p>
          <a:p>
            <a:pPr marL="0" marR="0" indent="0" algn="ctr"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rPr>
              <a:t>Hardware</a:t>
            </a:r>
          </a:p>
        </p:txBody>
      </p:sp>
      <p:sp>
        <p:nvSpPr>
          <p:cNvPr id="9" name="Rounded Rectangle 10">
            <a:extLst>
              <a:ext uri="{FF2B5EF4-FFF2-40B4-BE49-F238E27FC236}">
                <a16:creationId xmlns:a16="http://schemas.microsoft.com/office/drawing/2014/main" id="{D194C33F-85E0-4789-B53D-3E97D6F04D26}"/>
              </a:ext>
            </a:extLst>
          </p:cNvPr>
          <p:cNvSpPr/>
          <p:nvPr/>
        </p:nvSpPr>
        <p:spPr bwMode="auto">
          <a:xfrm>
            <a:off x="6944139" y="2974975"/>
            <a:ext cx="914400" cy="685800"/>
          </a:xfrm>
          <a:prstGeom prst="roundRect">
            <a:avLst/>
          </a:prstGeom>
          <a:solidFill>
            <a:srgbClr val="00AE00"/>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err="1">
                <a:ln>
                  <a:noFill/>
                </a:ln>
                <a:solidFill>
                  <a:schemeClr val="tx1"/>
                </a:solidFill>
                <a:effectLst/>
                <a:latin typeface="Arial" charset="0"/>
              </a:rPr>
              <a:t>appln</a:t>
            </a:r>
            <a:endParaRPr kumimoji="0" lang="en-US" sz="1800" b="0" i="0" u="none" strike="noStrike" cap="none" normalizeH="0" baseline="0" dirty="0">
              <a:ln>
                <a:noFill/>
              </a:ln>
              <a:solidFill>
                <a:schemeClr val="tx1"/>
              </a:solidFill>
              <a:effectLst/>
              <a:latin typeface="Arial" charset="0"/>
            </a:endParaRPr>
          </a:p>
        </p:txBody>
      </p:sp>
      <p:sp>
        <p:nvSpPr>
          <p:cNvPr id="10" name="Rounded Rectangle 11">
            <a:extLst>
              <a:ext uri="{FF2B5EF4-FFF2-40B4-BE49-F238E27FC236}">
                <a16:creationId xmlns:a16="http://schemas.microsoft.com/office/drawing/2014/main" id="{6F69D11C-C125-4A33-9F9F-C75DA665B567}"/>
              </a:ext>
            </a:extLst>
          </p:cNvPr>
          <p:cNvSpPr/>
          <p:nvPr/>
        </p:nvSpPr>
        <p:spPr bwMode="auto">
          <a:xfrm>
            <a:off x="7401339" y="2822575"/>
            <a:ext cx="914400" cy="685800"/>
          </a:xfrm>
          <a:prstGeom prst="roundRect">
            <a:avLst/>
          </a:prstGeom>
          <a:solidFill>
            <a:srgbClr val="FFFF00"/>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err="1">
                <a:ln>
                  <a:noFill/>
                </a:ln>
                <a:solidFill>
                  <a:schemeClr val="tx1"/>
                </a:solidFill>
                <a:effectLst/>
                <a:latin typeface="Arial" charset="0"/>
              </a:rPr>
              <a:t>appln</a:t>
            </a:r>
            <a:endParaRPr kumimoji="0" lang="en-US" sz="1800" b="0" i="0" u="none" strike="noStrike" cap="none" normalizeH="0" baseline="0" dirty="0">
              <a:ln>
                <a:noFill/>
              </a:ln>
              <a:solidFill>
                <a:schemeClr val="tx1"/>
              </a:solidFill>
              <a:effectLst/>
              <a:latin typeface="Arial" charset="0"/>
            </a:endParaRPr>
          </a:p>
        </p:txBody>
      </p:sp>
      <p:sp>
        <p:nvSpPr>
          <p:cNvPr id="11" name="Rounded Rectangle 12">
            <a:extLst>
              <a:ext uri="{FF2B5EF4-FFF2-40B4-BE49-F238E27FC236}">
                <a16:creationId xmlns:a16="http://schemas.microsoft.com/office/drawing/2014/main" id="{7C62DD0C-378C-4F26-9F99-91AFCCF852A5}"/>
              </a:ext>
            </a:extLst>
          </p:cNvPr>
          <p:cNvSpPr/>
          <p:nvPr/>
        </p:nvSpPr>
        <p:spPr bwMode="auto">
          <a:xfrm>
            <a:off x="7782339" y="2670175"/>
            <a:ext cx="914400" cy="685800"/>
          </a:xfrm>
          <a:prstGeom prst="roundRect">
            <a:avLst/>
          </a:prstGeom>
          <a:solidFill>
            <a:srgbClr val="FF6600"/>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err="1">
                <a:ln>
                  <a:noFill/>
                </a:ln>
                <a:solidFill>
                  <a:schemeClr val="tx1"/>
                </a:solidFill>
                <a:effectLst/>
                <a:latin typeface="Arial" charset="0"/>
              </a:rPr>
              <a:t>appln</a:t>
            </a:r>
            <a:endParaRPr kumimoji="0" lang="en-US" sz="1800" b="0" i="0" u="none" strike="noStrike" cap="none" normalizeH="0" baseline="0" dirty="0">
              <a:ln>
                <a:noFill/>
              </a:ln>
              <a:solidFill>
                <a:schemeClr val="tx1"/>
              </a:solidFill>
              <a:effectLst/>
              <a:latin typeface="Arial" charset="0"/>
            </a:endParaRPr>
          </a:p>
        </p:txBody>
      </p:sp>
      <p:sp>
        <p:nvSpPr>
          <p:cNvPr id="12" name="Rectangle 11">
            <a:extLst>
              <a:ext uri="{FF2B5EF4-FFF2-40B4-BE49-F238E27FC236}">
                <a16:creationId xmlns:a16="http://schemas.microsoft.com/office/drawing/2014/main" id="{AF5EFF4B-EBD9-492A-A77F-72AC6541913E}"/>
              </a:ext>
            </a:extLst>
          </p:cNvPr>
          <p:cNvSpPr/>
          <p:nvPr/>
        </p:nvSpPr>
        <p:spPr bwMode="auto">
          <a:xfrm>
            <a:off x="7553739" y="3736975"/>
            <a:ext cx="2057400" cy="152400"/>
          </a:xfrm>
          <a:prstGeom prst="rect">
            <a:avLst/>
          </a:prstGeom>
          <a:solidFill>
            <a:schemeClr val="bg1">
              <a:lumMod val="65000"/>
            </a:schemeClr>
          </a:solidFill>
          <a:ln w="12700" cap="flat" cmpd="sng" algn="ctr">
            <a:no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13" name="Rectangle 12">
            <a:extLst>
              <a:ext uri="{FF2B5EF4-FFF2-40B4-BE49-F238E27FC236}">
                <a16:creationId xmlns:a16="http://schemas.microsoft.com/office/drawing/2014/main" id="{6E0B3E75-69E1-4EE7-9229-92F92717286F}"/>
              </a:ext>
            </a:extLst>
          </p:cNvPr>
          <p:cNvSpPr/>
          <p:nvPr/>
        </p:nvSpPr>
        <p:spPr bwMode="auto">
          <a:xfrm>
            <a:off x="8849139" y="3279775"/>
            <a:ext cx="762000" cy="457200"/>
          </a:xfrm>
          <a:prstGeom prst="rect">
            <a:avLst/>
          </a:prstGeom>
          <a:solidFill>
            <a:schemeClr val="bg1">
              <a:lumMod val="65000"/>
            </a:schemeClr>
          </a:solidFill>
          <a:ln w="12700" cap="flat" cmpd="sng" algn="ctr">
            <a:no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rPr>
              <a:t>OS</a:t>
            </a:r>
          </a:p>
        </p:txBody>
      </p:sp>
      <p:cxnSp>
        <p:nvCxnSpPr>
          <p:cNvPr id="14" name="Straight Arrow Connector 13">
            <a:extLst>
              <a:ext uri="{FF2B5EF4-FFF2-40B4-BE49-F238E27FC236}">
                <a16:creationId xmlns:a16="http://schemas.microsoft.com/office/drawing/2014/main" id="{62CB66B2-5F60-479F-BBCE-D2C1F4C5DE55}"/>
              </a:ext>
            </a:extLst>
          </p:cNvPr>
          <p:cNvCxnSpPr>
            <a:stCxn id="8" idx="3"/>
          </p:cNvCxnSpPr>
          <p:nvPr/>
        </p:nvCxnSpPr>
        <p:spPr bwMode="auto">
          <a:xfrm>
            <a:off x="9306339" y="4422775"/>
            <a:ext cx="1524000" cy="0"/>
          </a:xfrm>
          <a:prstGeom prst="straightConnector1">
            <a:avLst/>
          </a:prstGeom>
          <a:solidFill>
            <a:schemeClr val="accent1"/>
          </a:solidFill>
          <a:ln w="12700" cap="flat" cmpd="sng" algn="ctr">
            <a:solidFill>
              <a:schemeClr val="tx1"/>
            </a:solidFill>
            <a:prstDash val="solid"/>
            <a:round/>
            <a:headEnd type="arrow"/>
            <a:tailEnd type="arrow"/>
          </a:ln>
          <a:effectLst/>
        </p:spPr>
      </p:cxnSp>
    </p:spTree>
    <p:extLst>
      <p:ext uri="{BB962C8B-B14F-4D97-AF65-F5344CB8AC3E}">
        <p14:creationId xmlns:p14="http://schemas.microsoft.com/office/powerpoint/2010/main" val="401970920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05E7D8-34B0-4516-90F0-B5E99E59BD14}"/>
              </a:ext>
            </a:extLst>
          </p:cNvPr>
          <p:cNvSpPr>
            <a:spLocks noGrp="1"/>
          </p:cNvSpPr>
          <p:nvPr>
            <p:ph type="title"/>
          </p:nvPr>
        </p:nvSpPr>
        <p:spPr/>
        <p:txBody>
          <a:bodyPr/>
          <a:lstStyle/>
          <a:p>
            <a:r>
              <a:rPr lang="en-US" dirty="0"/>
              <a:t>Hardware/Software Interface</a:t>
            </a:r>
          </a:p>
        </p:txBody>
      </p:sp>
      <p:sp>
        <p:nvSpPr>
          <p:cNvPr id="47" name="Rectangle 46">
            <a:extLst>
              <a:ext uri="{FF2B5EF4-FFF2-40B4-BE49-F238E27FC236}">
                <a16:creationId xmlns:a16="http://schemas.microsoft.com/office/drawing/2014/main" id="{8302F81B-FD18-4859-B026-41E8B93C76C8}"/>
              </a:ext>
            </a:extLst>
          </p:cNvPr>
          <p:cNvSpPr/>
          <p:nvPr/>
        </p:nvSpPr>
        <p:spPr bwMode="auto">
          <a:xfrm>
            <a:off x="902185" y="1924179"/>
            <a:ext cx="6705600" cy="4020607"/>
          </a:xfrm>
          <a:prstGeom prst="rect">
            <a:avLst/>
          </a:prstGeom>
          <a:pattFill prst="horzBrick">
            <a:fgClr>
              <a:schemeClr val="bg2">
                <a:lumMod val="40000"/>
                <a:lumOff val="60000"/>
              </a:schemeClr>
            </a:fgClr>
            <a:bgClr>
              <a:prstClr val="white"/>
            </a:bgClr>
          </a:patt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Gill Sans Light"/>
            </a:endParaRPr>
          </a:p>
        </p:txBody>
      </p:sp>
      <p:pic>
        <p:nvPicPr>
          <p:cNvPr id="48" name="Picture 47">
            <a:extLst>
              <a:ext uri="{FF2B5EF4-FFF2-40B4-BE49-F238E27FC236}">
                <a16:creationId xmlns:a16="http://schemas.microsoft.com/office/drawing/2014/main" id="{4BAAC97C-C73C-4E2C-A48D-945E61049CF9}"/>
              </a:ext>
            </a:extLst>
          </p:cNvPr>
          <p:cNvPicPr>
            <a:picLocks noChangeAspect="1"/>
          </p:cNvPicPr>
          <p:nvPr/>
        </p:nvPicPr>
        <p:blipFill>
          <a:blip r:embed="rId2">
            <a:clrChange>
              <a:clrFrom>
                <a:srgbClr val="FFFFFF"/>
              </a:clrFrom>
              <a:clrTo>
                <a:srgbClr val="FFFFFF">
                  <a:alpha val="0"/>
                </a:srgbClr>
              </a:clrTo>
            </a:clrChange>
          </a:blip>
          <a:stretch>
            <a:fillRect/>
          </a:stretch>
        </p:blipFill>
        <p:spPr>
          <a:xfrm flipH="1">
            <a:off x="5293547" y="3966884"/>
            <a:ext cx="1056937" cy="1056937"/>
          </a:xfrm>
          <a:prstGeom prst="rect">
            <a:avLst/>
          </a:prstGeom>
        </p:spPr>
      </p:pic>
      <p:cxnSp>
        <p:nvCxnSpPr>
          <p:cNvPr id="49" name="Straight Arrow Connector 48">
            <a:extLst>
              <a:ext uri="{FF2B5EF4-FFF2-40B4-BE49-F238E27FC236}">
                <a16:creationId xmlns:a16="http://schemas.microsoft.com/office/drawing/2014/main" id="{78C7FDFA-FFB6-4322-A17C-55D8DEE519FC}"/>
              </a:ext>
            </a:extLst>
          </p:cNvPr>
          <p:cNvCxnSpPr>
            <a:cxnSpLocks/>
            <a:stCxn id="55" idx="3"/>
          </p:cNvCxnSpPr>
          <p:nvPr/>
        </p:nvCxnSpPr>
        <p:spPr bwMode="auto">
          <a:xfrm flipV="1">
            <a:off x="3188185" y="3146451"/>
            <a:ext cx="2057400" cy="38100"/>
          </a:xfrm>
          <a:prstGeom prst="straightConnector1">
            <a:avLst/>
          </a:prstGeom>
          <a:solidFill>
            <a:schemeClr val="accent1"/>
          </a:solidFill>
          <a:ln w="57150" cap="flat" cmpd="sng" algn="ctr">
            <a:solidFill>
              <a:schemeClr val="tx1"/>
            </a:solidFill>
            <a:prstDash val="solid"/>
            <a:round/>
            <a:headEnd type="triangle" w="med" len="med"/>
            <a:tailEnd type="triangle"/>
          </a:ln>
          <a:effectLst/>
        </p:spPr>
      </p:cxnSp>
      <p:cxnSp>
        <p:nvCxnSpPr>
          <p:cNvPr id="50" name="Straight Arrow Connector 49">
            <a:extLst>
              <a:ext uri="{FF2B5EF4-FFF2-40B4-BE49-F238E27FC236}">
                <a16:creationId xmlns:a16="http://schemas.microsoft.com/office/drawing/2014/main" id="{09EF3F89-EF59-46E3-A19C-5B4DAFB25231}"/>
              </a:ext>
            </a:extLst>
          </p:cNvPr>
          <p:cNvCxnSpPr/>
          <p:nvPr/>
        </p:nvCxnSpPr>
        <p:spPr bwMode="auto">
          <a:xfrm>
            <a:off x="3569185" y="3146451"/>
            <a:ext cx="0" cy="685800"/>
          </a:xfrm>
          <a:prstGeom prst="straightConnector1">
            <a:avLst/>
          </a:prstGeom>
          <a:solidFill>
            <a:schemeClr val="accent1"/>
          </a:solidFill>
          <a:ln w="12700" cap="flat" cmpd="sng" algn="ctr">
            <a:solidFill>
              <a:schemeClr val="tx1"/>
            </a:solidFill>
            <a:prstDash val="solid"/>
            <a:round/>
            <a:headEnd type="arrow"/>
            <a:tailEnd type="arrow"/>
          </a:ln>
          <a:effectLst/>
        </p:spPr>
      </p:cxnSp>
      <p:sp>
        <p:nvSpPr>
          <p:cNvPr id="51" name="Can 38">
            <a:extLst>
              <a:ext uri="{FF2B5EF4-FFF2-40B4-BE49-F238E27FC236}">
                <a16:creationId xmlns:a16="http://schemas.microsoft.com/office/drawing/2014/main" id="{982CAF20-A0F1-4184-956D-078A4EFEFDE8}"/>
              </a:ext>
            </a:extLst>
          </p:cNvPr>
          <p:cNvSpPr/>
          <p:nvPr/>
        </p:nvSpPr>
        <p:spPr bwMode="auto">
          <a:xfrm>
            <a:off x="1740385" y="4137051"/>
            <a:ext cx="1143000" cy="1295400"/>
          </a:xfrm>
          <a:prstGeom prst="can">
            <a:avLst/>
          </a:prstGeom>
          <a:solidFill>
            <a:srgbClr val="5AAEFF"/>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dirty="0">
                <a:latin typeface="Gill Sans Light"/>
              </a:rPr>
              <a:t>Storage</a:t>
            </a:r>
            <a:endParaRPr kumimoji="0" lang="en-US" sz="1800" b="0" i="0" u="none" strike="noStrike" cap="none" normalizeH="0" baseline="0" dirty="0">
              <a:ln>
                <a:noFill/>
              </a:ln>
              <a:solidFill>
                <a:schemeClr val="tx1"/>
              </a:solidFill>
              <a:effectLst/>
              <a:latin typeface="Gill Sans Light"/>
            </a:endParaRPr>
          </a:p>
        </p:txBody>
      </p:sp>
      <p:pic>
        <p:nvPicPr>
          <p:cNvPr id="52" name="Picture 51">
            <a:extLst>
              <a:ext uri="{FF2B5EF4-FFF2-40B4-BE49-F238E27FC236}">
                <a16:creationId xmlns:a16="http://schemas.microsoft.com/office/drawing/2014/main" id="{93769F73-78A3-4780-9775-5D99726286D0}"/>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4864583" y="4735840"/>
            <a:ext cx="939801" cy="639203"/>
          </a:xfrm>
          <a:prstGeom prst="rect">
            <a:avLst/>
          </a:prstGeom>
        </p:spPr>
      </p:pic>
      <p:pic>
        <p:nvPicPr>
          <p:cNvPr id="53" name="Picture 52">
            <a:extLst>
              <a:ext uri="{FF2B5EF4-FFF2-40B4-BE49-F238E27FC236}">
                <a16:creationId xmlns:a16="http://schemas.microsoft.com/office/drawing/2014/main" id="{08C9357B-3F61-41CE-B58B-1DDEB7BD128A}"/>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6362503" y="4808362"/>
            <a:ext cx="730629" cy="517187"/>
          </a:xfrm>
          <a:prstGeom prst="rect">
            <a:avLst/>
          </a:prstGeom>
        </p:spPr>
      </p:pic>
      <p:pic>
        <p:nvPicPr>
          <p:cNvPr id="54" name="Picture 53">
            <a:extLst>
              <a:ext uri="{FF2B5EF4-FFF2-40B4-BE49-F238E27FC236}">
                <a16:creationId xmlns:a16="http://schemas.microsoft.com/office/drawing/2014/main" id="{715A3CE7-65B6-4F0F-9951-10D6FBF0A292}"/>
              </a:ext>
            </a:extLst>
          </p:cNvPr>
          <p:cNvPicPr>
            <a:picLocks noChangeAspect="1"/>
          </p:cNvPicPr>
          <p:nvPr/>
        </p:nvPicPr>
        <p:blipFill>
          <a:blip r:embed="rId5">
            <a:clrChange>
              <a:clrFrom>
                <a:srgbClr val="FFFFFF"/>
              </a:clrFrom>
              <a:clrTo>
                <a:srgbClr val="FFFFFF">
                  <a:alpha val="0"/>
                </a:srgbClr>
              </a:clrTo>
            </a:clrChange>
          </a:blip>
          <a:stretch>
            <a:fillRect/>
          </a:stretch>
        </p:blipFill>
        <p:spPr>
          <a:xfrm>
            <a:off x="4407385" y="5287450"/>
            <a:ext cx="723900" cy="455315"/>
          </a:xfrm>
          <a:prstGeom prst="rect">
            <a:avLst/>
          </a:prstGeom>
        </p:spPr>
      </p:pic>
      <p:sp>
        <p:nvSpPr>
          <p:cNvPr id="55" name="Rounded Rectangle 6">
            <a:extLst>
              <a:ext uri="{FF2B5EF4-FFF2-40B4-BE49-F238E27FC236}">
                <a16:creationId xmlns:a16="http://schemas.microsoft.com/office/drawing/2014/main" id="{46107393-DBE3-4B7D-9A45-6C90277AA5E7}"/>
              </a:ext>
            </a:extLst>
          </p:cNvPr>
          <p:cNvSpPr/>
          <p:nvPr/>
        </p:nvSpPr>
        <p:spPr bwMode="auto">
          <a:xfrm>
            <a:off x="1587985" y="2765451"/>
            <a:ext cx="1600200" cy="838200"/>
          </a:xfrm>
          <a:prstGeom prst="roundRect">
            <a:avLst/>
          </a:prstGeom>
          <a:solidFill>
            <a:schemeClr val="accent1">
              <a:lumMod val="40000"/>
              <a:lumOff val="6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Gill Sans Light"/>
              </a:rPr>
              <a:t>Processor</a:t>
            </a:r>
          </a:p>
        </p:txBody>
      </p:sp>
      <p:sp>
        <p:nvSpPr>
          <p:cNvPr id="56" name="Rectangle 55">
            <a:extLst>
              <a:ext uri="{FF2B5EF4-FFF2-40B4-BE49-F238E27FC236}">
                <a16:creationId xmlns:a16="http://schemas.microsoft.com/office/drawing/2014/main" id="{4C9E33C6-980F-49E3-932B-C7384DE683AF}"/>
              </a:ext>
            </a:extLst>
          </p:cNvPr>
          <p:cNvSpPr/>
          <p:nvPr/>
        </p:nvSpPr>
        <p:spPr>
          <a:xfrm>
            <a:off x="902185" y="1927251"/>
            <a:ext cx="1236236" cy="369332"/>
          </a:xfrm>
          <a:prstGeom prst="rect">
            <a:avLst/>
          </a:prstGeom>
        </p:spPr>
        <p:txBody>
          <a:bodyPr wrap="none">
            <a:spAutoFit/>
          </a:bodyPr>
          <a:lstStyle/>
          <a:p>
            <a:r>
              <a:rPr lang="en-US" dirty="0">
                <a:latin typeface="Gill Sans Light"/>
              </a:rPr>
              <a:t>Hardware</a:t>
            </a:r>
          </a:p>
        </p:txBody>
      </p:sp>
      <p:sp>
        <p:nvSpPr>
          <p:cNvPr id="57" name="Rectangle 56">
            <a:extLst>
              <a:ext uri="{FF2B5EF4-FFF2-40B4-BE49-F238E27FC236}">
                <a16:creationId xmlns:a16="http://schemas.microsoft.com/office/drawing/2014/main" id="{E0594FD3-1212-4900-967A-89F91919EF92}"/>
              </a:ext>
            </a:extLst>
          </p:cNvPr>
          <p:cNvSpPr/>
          <p:nvPr/>
        </p:nvSpPr>
        <p:spPr bwMode="auto">
          <a:xfrm>
            <a:off x="5245585" y="2003451"/>
            <a:ext cx="1752600" cy="1676400"/>
          </a:xfrm>
          <a:prstGeom prst="rect">
            <a:avLst/>
          </a:prstGeom>
          <a:solidFill>
            <a:srgbClr val="5AAEFF"/>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Gill Sans Light"/>
              </a:rPr>
              <a:t>Memory</a:t>
            </a:r>
          </a:p>
        </p:txBody>
      </p:sp>
      <p:sp>
        <p:nvSpPr>
          <p:cNvPr id="58" name="TextBox 57">
            <a:extLst>
              <a:ext uri="{FF2B5EF4-FFF2-40B4-BE49-F238E27FC236}">
                <a16:creationId xmlns:a16="http://schemas.microsoft.com/office/drawing/2014/main" id="{F95A7498-B310-4312-88DB-E984D4137483}"/>
              </a:ext>
            </a:extLst>
          </p:cNvPr>
          <p:cNvSpPr txBox="1"/>
          <p:nvPr/>
        </p:nvSpPr>
        <p:spPr>
          <a:xfrm>
            <a:off x="5931385" y="3766522"/>
            <a:ext cx="1223412" cy="369332"/>
          </a:xfrm>
          <a:prstGeom prst="rect">
            <a:avLst/>
          </a:prstGeom>
          <a:noFill/>
        </p:spPr>
        <p:txBody>
          <a:bodyPr wrap="none" rtlCol="0">
            <a:spAutoFit/>
          </a:bodyPr>
          <a:lstStyle/>
          <a:p>
            <a:r>
              <a:rPr lang="en-US" dirty="0">
                <a:latin typeface="Gill Sans Light"/>
              </a:rPr>
              <a:t>Networks</a:t>
            </a:r>
          </a:p>
        </p:txBody>
      </p:sp>
      <p:sp>
        <p:nvSpPr>
          <p:cNvPr id="59" name="TextBox 58">
            <a:extLst>
              <a:ext uri="{FF2B5EF4-FFF2-40B4-BE49-F238E27FC236}">
                <a16:creationId xmlns:a16="http://schemas.microsoft.com/office/drawing/2014/main" id="{6E7B7690-107E-44BD-87BA-02C86A7F68DF}"/>
              </a:ext>
            </a:extLst>
          </p:cNvPr>
          <p:cNvSpPr txBox="1"/>
          <p:nvPr/>
        </p:nvSpPr>
        <p:spPr>
          <a:xfrm>
            <a:off x="6007585" y="5287450"/>
            <a:ext cx="1133644" cy="369332"/>
          </a:xfrm>
          <a:prstGeom prst="rect">
            <a:avLst/>
          </a:prstGeom>
          <a:noFill/>
        </p:spPr>
        <p:txBody>
          <a:bodyPr wrap="none" rtlCol="0">
            <a:spAutoFit/>
          </a:bodyPr>
          <a:lstStyle/>
          <a:p>
            <a:r>
              <a:rPr lang="en-US" dirty="0">
                <a:latin typeface="Gill Sans Light"/>
              </a:rPr>
              <a:t>Displays</a:t>
            </a:r>
          </a:p>
        </p:txBody>
      </p:sp>
      <p:sp>
        <p:nvSpPr>
          <p:cNvPr id="60" name="TextBox 59">
            <a:extLst>
              <a:ext uri="{FF2B5EF4-FFF2-40B4-BE49-F238E27FC236}">
                <a16:creationId xmlns:a16="http://schemas.microsoft.com/office/drawing/2014/main" id="{AD5BEF6F-19AA-429D-873B-950970501FB5}"/>
              </a:ext>
            </a:extLst>
          </p:cNvPr>
          <p:cNvSpPr txBox="1"/>
          <p:nvPr/>
        </p:nvSpPr>
        <p:spPr>
          <a:xfrm>
            <a:off x="4635985" y="5439850"/>
            <a:ext cx="877163" cy="369332"/>
          </a:xfrm>
          <a:prstGeom prst="rect">
            <a:avLst/>
          </a:prstGeom>
          <a:noFill/>
        </p:spPr>
        <p:txBody>
          <a:bodyPr wrap="none" rtlCol="0">
            <a:spAutoFit/>
          </a:bodyPr>
          <a:lstStyle/>
          <a:p>
            <a:r>
              <a:rPr lang="en-US" dirty="0">
                <a:latin typeface="Gill Sans Light"/>
              </a:rPr>
              <a:t>Inputs</a:t>
            </a:r>
          </a:p>
        </p:txBody>
      </p:sp>
      <p:sp>
        <p:nvSpPr>
          <p:cNvPr id="61" name="TextBox 60">
            <a:extLst>
              <a:ext uri="{FF2B5EF4-FFF2-40B4-BE49-F238E27FC236}">
                <a16:creationId xmlns:a16="http://schemas.microsoft.com/office/drawing/2014/main" id="{DB43F8FE-FF7D-4365-9BB1-22FA25E05130}"/>
              </a:ext>
            </a:extLst>
          </p:cNvPr>
          <p:cNvSpPr txBox="1"/>
          <p:nvPr/>
        </p:nvSpPr>
        <p:spPr>
          <a:xfrm>
            <a:off x="2083285" y="1654171"/>
            <a:ext cx="4914900" cy="400110"/>
          </a:xfrm>
          <a:prstGeom prst="rect">
            <a:avLst/>
          </a:prstGeom>
          <a:solidFill>
            <a:srgbClr val="EFE683"/>
          </a:solidFill>
          <a:ln>
            <a:solidFill>
              <a:schemeClr val="tx1"/>
            </a:solidFill>
          </a:ln>
        </p:spPr>
        <p:txBody>
          <a:bodyPr wrap="square" rtlCol="0">
            <a:spAutoFit/>
          </a:bodyPr>
          <a:lstStyle/>
          <a:p>
            <a:pPr algn="ctr"/>
            <a:r>
              <a:rPr lang="en-US" sz="2000" b="1" i="1" dirty="0">
                <a:latin typeface="Gill Sans Light"/>
              </a:rPr>
              <a:t>Instruction Set Architecture (ISA)</a:t>
            </a:r>
          </a:p>
        </p:txBody>
      </p:sp>
      <p:grpSp>
        <p:nvGrpSpPr>
          <p:cNvPr id="62" name="Group 61">
            <a:extLst>
              <a:ext uri="{FF2B5EF4-FFF2-40B4-BE49-F238E27FC236}">
                <a16:creationId xmlns:a16="http://schemas.microsoft.com/office/drawing/2014/main" id="{26E25CDD-38ED-433D-A202-8AC05E51E58C}"/>
              </a:ext>
            </a:extLst>
          </p:cNvPr>
          <p:cNvGrpSpPr/>
          <p:nvPr/>
        </p:nvGrpSpPr>
        <p:grpSpPr>
          <a:xfrm>
            <a:off x="2502385" y="3222651"/>
            <a:ext cx="533400" cy="304800"/>
            <a:chOff x="3124200" y="3657600"/>
            <a:chExt cx="533400" cy="304800"/>
          </a:xfrm>
        </p:grpSpPr>
        <p:sp>
          <p:nvSpPr>
            <p:cNvPr id="63" name="Rectangle 62">
              <a:extLst>
                <a:ext uri="{FF2B5EF4-FFF2-40B4-BE49-F238E27FC236}">
                  <a16:creationId xmlns:a16="http://schemas.microsoft.com/office/drawing/2014/main" id="{01A45E3B-5684-423A-9EB2-408D7C2F43FD}"/>
                </a:ext>
              </a:extLst>
            </p:cNvPr>
            <p:cNvSpPr/>
            <p:nvPr/>
          </p:nvSpPr>
          <p:spPr bwMode="auto">
            <a:xfrm>
              <a:off x="3124200" y="3657600"/>
              <a:ext cx="533400" cy="304800"/>
            </a:xfrm>
            <a:prstGeom prst="rect">
              <a:avLst/>
            </a:prstGeom>
            <a:no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Gill Sans Light"/>
              </a:endParaRPr>
            </a:p>
          </p:txBody>
        </p:sp>
        <p:sp>
          <p:nvSpPr>
            <p:cNvPr id="64" name="Rectangle 63">
              <a:extLst>
                <a:ext uri="{FF2B5EF4-FFF2-40B4-BE49-F238E27FC236}">
                  <a16:creationId xmlns:a16="http://schemas.microsoft.com/office/drawing/2014/main" id="{6410CBAE-4286-4C94-9008-6C570FA1904B}"/>
                </a:ext>
              </a:extLst>
            </p:cNvPr>
            <p:cNvSpPr/>
            <p:nvPr/>
          </p:nvSpPr>
          <p:spPr bwMode="auto">
            <a:xfrm>
              <a:off x="3124200" y="3733800"/>
              <a:ext cx="533400" cy="152400"/>
            </a:xfrm>
            <a:prstGeom prst="rect">
              <a:avLst/>
            </a:prstGeom>
            <a:no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Gill Sans Light"/>
              </a:endParaRPr>
            </a:p>
          </p:txBody>
        </p:sp>
      </p:grpSp>
      <p:sp>
        <p:nvSpPr>
          <p:cNvPr id="65" name="Rectangle 64">
            <a:extLst>
              <a:ext uri="{FF2B5EF4-FFF2-40B4-BE49-F238E27FC236}">
                <a16:creationId xmlns:a16="http://schemas.microsoft.com/office/drawing/2014/main" id="{EB501785-639B-4F67-A38A-F2EEEE998AD5}"/>
              </a:ext>
            </a:extLst>
          </p:cNvPr>
          <p:cNvSpPr/>
          <p:nvPr/>
        </p:nvSpPr>
        <p:spPr bwMode="auto">
          <a:xfrm>
            <a:off x="5321785" y="2460651"/>
            <a:ext cx="838200" cy="685800"/>
          </a:xfrm>
          <a:prstGeom prst="rect">
            <a:avLst/>
          </a:prstGeom>
          <a:solidFill>
            <a:schemeClr val="accent2">
              <a:lumMod val="40000"/>
              <a:lumOff val="6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Gill Sans Light"/>
            </a:endParaRPr>
          </a:p>
        </p:txBody>
      </p:sp>
      <p:sp>
        <p:nvSpPr>
          <p:cNvPr id="66" name="Rectangle 65">
            <a:extLst>
              <a:ext uri="{FF2B5EF4-FFF2-40B4-BE49-F238E27FC236}">
                <a16:creationId xmlns:a16="http://schemas.microsoft.com/office/drawing/2014/main" id="{0293BD4F-A083-4543-84C8-976B9EE3BB0B}"/>
              </a:ext>
            </a:extLst>
          </p:cNvPr>
          <p:cNvSpPr/>
          <p:nvPr/>
        </p:nvSpPr>
        <p:spPr bwMode="auto">
          <a:xfrm>
            <a:off x="5293547" y="3298851"/>
            <a:ext cx="1656676" cy="304800"/>
          </a:xfrm>
          <a:prstGeom prst="rect">
            <a:avLst/>
          </a:prstGeom>
          <a:solidFill>
            <a:schemeClr val="bg2">
              <a:lumMod val="60000"/>
              <a:lumOff val="4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Gill Sans Light"/>
              </a:rPr>
              <a:t>OS Memory</a:t>
            </a:r>
          </a:p>
        </p:txBody>
      </p:sp>
      <p:sp>
        <p:nvSpPr>
          <p:cNvPr id="67" name="Rectangle 66">
            <a:extLst>
              <a:ext uri="{FF2B5EF4-FFF2-40B4-BE49-F238E27FC236}">
                <a16:creationId xmlns:a16="http://schemas.microsoft.com/office/drawing/2014/main" id="{834DB08E-F9C7-4DF8-BADB-9FEE92EF9667}"/>
              </a:ext>
            </a:extLst>
          </p:cNvPr>
          <p:cNvSpPr/>
          <p:nvPr/>
        </p:nvSpPr>
        <p:spPr bwMode="auto">
          <a:xfrm>
            <a:off x="6312385" y="2460651"/>
            <a:ext cx="609600" cy="381000"/>
          </a:xfrm>
          <a:prstGeom prst="rect">
            <a:avLst/>
          </a:prstGeom>
          <a:solidFill>
            <a:srgbClr val="FBBA03"/>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Gill Sans Light"/>
            </a:endParaRPr>
          </a:p>
        </p:txBody>
      </p:sp>
      <p:sp>
        <p:nvSpPr>
          <p:cNvPr id="68" name="Rectangle 67">
            <a:extLst>
              <a:ext uri="{FF2B5EF4-FFF2-40B4-BE49-F238E27FC236}">
                <a16:creationId xmlns:a16="http://schemas.microsoft.com/office/drawing/2014/main" id="{59C6283B-1A57-49FD-808C-2015CBDF0851}"/>
              </a:ext>
            </a:extLst>
          </p:cNvPr>
          <p:cNvSpPr/>
          <p:nvPr/>
        </p:nvSpPr>
        <p:spPr bwMode="auto">
          <a:xfrm>
            <a:off x="6236185" y="2689251"/>
            <a:ext cx="609600" cy="381000"/>
          </a:xfrm>
          <a:prstGeom prst="rect">
            <a:avLst/>
          </a:prstGeom>
          <a:solidFill>
            <a:srgbClr val="CC3333"/>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Gill Sans Light"/>
            </a:endParaRPr>
          </a:p>
        </p:txBody>
      </p:sp>
      <p:cxnSp>
        <p:nvCxnSpPr>
          <p:cNvPr id="69" name="Curved Connector 54">
            <a:extLst>
              <a:ext uri="{FF2B5EF4-FFF2-40B4-BE49-F238E27FC236}">
                <a16:creationId xmlns:a16="http://schemas.microsoft.com/office/drawing/2014/main" id="{83500A85-A42E-42ED-A298-D2EEBF7EE43A}"/>
              </a:ext>
            </a:extLst>
          </p:cNvPr>
          <p:cNvCxnSpPr>
            <a:cxnSpLocks/>
          </p:cNvCxnSpPr>
          <p:nvPr/>
        </p:nvCxnSpPr>
        <p:spPr bwMode="auto">
          <a:xfrm flipV="1">
            <a:off x="2857986" y="3032068"/>
            <a:ext cx="3073399" cy="381000"/>
          </a:xfrm>
          <a:prstGeom prst="curvedConnector3">
            <a:avLst>
              <a:gd name="adj1" fmla="val 50000"/>
            </a:avLst>
          </a:prstGeom>
          <a:solidFill>
            <a:schemeClr val="accent1"/>
          </a:solidFill>
          <a:ln w="22225" cap="flat" cmpd="sng" algn="ctr">
            <a:solidFill>
              <a:schemeClr val="tx1"/>
            </a:solidFill>
            <a:prstDash val="solid"/>
            <a:round/>
            <a:headEnd type="triangle" w="sm" len="sm"/>
            <a:tailEnd type="triangle"/>
          </a:ln>
          <a:effectLst/>
        </p:spPr>
      </p:cxnSp>
      <p:grpSp>
        <p:nvGrpSpPr>
          <p:cNvPr id="70" name="Group 69">
            <a:extLst>
              <a:ext uri="{FF2B5EF4-FFF2-40B4-BE49-F238E27FC236}">
                <a16:creationId xmlns:a16="http://schemas.microsoft.com/office/drawing/2014/main" id="{CD43D0EE-DD24-455C-8A66-0831CD88C116}"/>
              </a:ext>
            </a:extLst>
          </p:cNvPr>
          <p:cNvGrpSpPr/>
          <p:nvPr/>
        </p:nvGrpSpPr>
        <p:grpSpPr>
          <a:xfrm>
            <a:off x="2883385" y="3817118"/>
            <a:ext cx="1371600" cy="1992064"/>
            <a:chOff x="3505200" y="4267200"/>
            <a:chExt cx="1371600" cy="2286000"/>
          </a:xfrm>
        </p:grpSpPr>
        <p:sp>
          <p:nvSpPr>
            <p:cNvPr id="71" name="Rectangle 70">
              <a:extLst>
                <a:ext uri="{FF2B5EF4-FFF2-40B4-BE49-F238E27FC236}">
                  <a16:creationId xmlns:a16="http://schemas.microsoft.com/office/drawing/2014/main" id="{2EDBD4DB-F6ED-433C-8A0E-4F0362A96D1A}"/>
                </a:ext>
              </a:extLst>
            </p:cNvPr>
            <p:cNvSpPr/>
            <p:nvPr/>
          </p:nvSpPr>
          <p:spPr bwMode="auto">
            <a:xfrm>
              <a:off x="3810000" y="4267200"/>
              <a:ext cx="685800" cy="533400"/>
            </a:xfrm>
            <a:prstGeom prst="rect">
              <a:avLst/>
            </a:prstGeom>
            <a:no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err="1">
                  <a:ln>
                    <a:noFill/>
                  </a:ln>
                  <a:solidFill>
                    <a:schemeClr val="tx1"/>
                  </a:solidFill>
                  <a:effectLst/>
                  <a:latin typeface="Gill Sans Light"/>
                </a:rPr>
                <a:t>Ctrlr</a:t>
              </a:r>
              <a:endParaRPr kumimoji="0" lang="en-US" sz="1800" b="0" i="0" u="none" strike="noStrike" cap="none" normalizeH="0" baseline="0" dirty="0">
                <a:ln>
                  <a:noFill/>
                </a:ln>
                <a:solidFill>
                  <a:schemeClr val="tx1"/>
                </a:solidFill>
                <a:effectLst/>
                <a:latin typeface="Gill Sans Light"/>
              </a:endParaRPr>
            </a:p>
          </p:txBody>
        </p:sp>
        <p:cxnSp>
          <p:nvCxnSpPr>
            <p:cNvPr id="72" name="Straight Arrow Connector 71">
              <a:extLst>
                <a:ext uri="{FF2B5EF4-FFF2-40B4-BE49-F238E27FC236}">
                  <a16:creationId xmlns:a16="http://schemas.microsoft.com/office/drawing/2014/main" id="{26EE907F-5D83-44E0-8A43-0CF6EAFAB315}"/>
                </a:ext>
              </a:extLst>
            </p:cNvPr>
            <p:cNvCxnSpPr/>
            <p:nvPr/>
          </p:nvCxnSpPr>
          <p:spPr bwMode="auto">
            <a:xfrm>
              <a:off x="4191000" y="4800600"/>
              <a:ext cx="0" cy="762000"/>
            </a:xfrm>
            <a:prstGeom prst="straightConnector1">
              <a:avLst/>
            </a:prstGeom>
            <a:solidFill>
              <a:schemeClr val="accent1"/>
            </a:solidFill>
            <a:ln w="12700" cap="flat" cmpd="sng" algn="ctr">
              <a:solidFill>
                <a:schemeClr val="tx1"/>
              </a:solidFill>
              <a:prstDash val="solid"/>
              <a:round/>
              <a:headEnd type="arrow"/>
              <a:tailEnd type="arrow"/>
            </a:ln>
            <a:effectLst/>
          </p:spPr>
        </p:cxnSp>
        <p:cxnSp>
          <p:nvCxnSpPr>
            <p:cNvPr id="73" name="Straight Arrow Connector 72">
              <a:extLst>
                <a:ext uri="{FF2B5EF4-FFF2-40B4-BE49-F238E27FC236}">
                  <a16:creationId xmlns:a16="http://schemas.microsoft.com/office/drawing/2014/main" id="{90B66A94-D2D1-4627-9118-672FCFCB97F8}"/>
                </a:ext>
              </a:extLst>
            </p:cNvPr>
            <p:cNvCxnSpPr/>
            <p:nvPr/>
          </p:nvCxnSpPr>
          <p:spPr bwMode="auto">
            <a:xfrm>
              <a:off x="4191000" y="5029200"/>
              <a:ext cx="685800" cy="0"/>
            </a:xfrm>
            <a:prstGeom prst="straightConnector1">
              <a:avLst/>
            </a:prstGeom>
            <a:solidFill>
              <a:schemeClr val="accent1"/>
            </a:solidFill>
            <a:ln w="12700" cap="flat" cmpd="sng" algn="ctr">
              <a:solidFill>
                <a:schemeClr val="tx1"/>
              </a:solidFill>
              <a:prstDash val="solid"/>
              <a:round/>
              <a:headEnd type="arrow"/>
              <a:tailEnd type="arrow"/>
            </a:ln>
            <a:effectLst/>
          </p:spPr>
        </p:cxnSp>
        <p:cxnSp>
          <p:nvCxnSpPr>
            <p:cNvPr id="74" name="Straight Arrow Connector 73">
              <a:extLst>
                <a:ext uri="{FF2B5EF4-FFF2-40B4-BE49-F238E27FC236}">
                  <a16:creationId xmlns:a16="http://schemas.microsoft.com/office/drawing/2014/main" id="{496DD252-79E7-4064-9138-BFD622334421}"/>
                </a:ext>
              </a:extLst>
            </p:cNvPr>
            <p:cNvCxnSpPr/>
            <p:nvPr/>
          </p:nvCxnSpPr>
          <p:spPr bwMode="auto">
            <a:xfrm>
              <a:off x="4191000" y="5334000"/>
              <a:ext cx="685800" cy="0"/>
            </a:xfrm>
            <a:prstGeom prst="straightConnector1">
              <a:avLst/>
            </a:prstGeom>
            <a:solidFill>
              <a:schemeClr val="accent1"/>
            </a:solidFill>
            <a:ln w="12700" cap="flat" cmpd="sng" algn="ctr">
              <a:solidFill>
                <a:schemeClr val="tx1"/>
              </a:solidFill>
              <a:prstDash val="solid"/>
              <a:round/>
              <a:headEnd type="arrow"/>
              <a:tailEnd type="arrow"/>
            </a:ln>
            <a:effectLst/>
          </p:spPr>
        </p:cxnSp>
        <p:cxnSp>
          <p:nvCxnSpPr>
            <p:cNvPr id="75" name="Straight Arrow Connector 74">
              <a:extLst>
                <a:ext uri="{FF2B5EF4-FFF2-40B4-BE49-F238E27FC236}">
                  <a16:creationId xmlns:a16="http://schemas.microsoft.com/office/drawing/2014/main" id="{33D7F883-A2A3-4917-8D8C-3F06BA2C4B19}"/>
                </a:ext>
              </a:extLst>
            </p:cNvPr>
            <p:cNvCxnSpPr/>
            <p:nvPr/>
          </p:nvCxnSpPr>
          <p:spPr bwMode="auto">
            <a:xfrm>
              <a:off x="3505200" y="5105400"/>
              <a:ext cx="685800" cy="0"/>
            </a:xfrm>
            <a:prstGeom prst="straightConnector1">
              <a:avLst/>
            </a:prstGeom>
            <a:solidFill>
              <a:schemeClr val="accent1"/>
            </a:solidFill>
            <a:ln w="12700" cap="flat" cmpd="sng" algn="ctr">
              <a:solidFill>
                <a:schemeClr val="tx1"/>
              </a:solidFill>
              <a:prstDash val="solid"/>
              <a:round/>
              <a:headEnd type="arrow"/>
              <a:tailEnd type="arrow"/>
            </a:ln>
            <a:effectLst/>
          </p:spPr>
        </p:cxnSp>
        <p:sp>
          <p:nvSpPr>
            <p:cNvPr id="76" name="Rectangle 75">
              <a:extLst>
                <a:ext uri="{FF2B5EF4-FFF2-40B4-BE49-F238E27FC236}">
                  <a16:creationId xmlns:a16="http://schemas.microsoft.com/office/drawing/2014/main" id="{413247C2-E959-49F0-A2D6-CE08091C1010}"/>
                </a:ext>
              </a:extLst>
            </p:cNvPr>
            <p:cNvSpPr/>
            <p:nvPr/>
          </p:nvSpPr>
          <p:spPr bwMode="auto">
            <a:xfrm>
              <a:off x="3886200" y="5562600"/>
              <a:ext cx="533400" cy="304800"/>
            </a:xfrm>
            <a:prstGeom prst="rect">
              <a:avLst/>
            </a:prstGeom>
            <a:no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Gill Sans Light"/>
              </a:endParaRPr>
            </a:p>
          </p:txBody>
        </p:sp>
        <p:cxnSp>
          <p:nvCxnSpPr>
            <p:cNvPr id="77" name="Straight Arrow Connector 76">
              <a:extLst>
                <a:ext uri="{FF2B5EF4-FFF2-40B4-BE49-F238E27FC236}">
                  <a16:creationId xmlns:a16="http://schemas.microsoft.com/office/drawing/2014/main" id="{BC89D49B-F396-4E92-9D66-A2421A19A865}"/>
                </a:ext>
              </a:extLst>
            </p:cNvPr>
            <p:cNvCxnSpPr/>
            <p:nvPr/>
          </p:nvCxnSpPr>
          <p:spPr bwMode="auto">
            <a:xfrm>
              <a:off x="4191000" y="5867400"/>
              <a:ext cx="0" cy="685800"/>
            </a:xfrm>
            <a:prstGeom prst="straightConnector1">
              <a:avLst/>
            </a:prstGeom>
            <a:solidFill>
              <a:schemeClr val="accent1"/>
            </a:solidFill>
            <a:ln w="12700" cap="flat" cmpd="sng" algn="ctr">
              <a:solidFill>
                <a:schemeClr val="tx1"/>
              </a:solidFill>
              <a:prstDash val="solid"/>
              <a:round/>
              <a:headEnd type="arrow"/>
              <a:tailEnd type="arrow"/>
            </a:ln>
            <a:effectLst/>
          </p:spPr>
        </p:cxnSp>
        <p:cxnSp>
          <p:nvCxnSpPr>
            <p:cNvPr id="78" name="Straight Arrow Connector 77">
              <a:extLst>
                <a:ext uri="{FF2B5EF4-FFF2-40B4-BE49-F238E27FC236}">
                  <a16:creationId xmlns:a16="http://schemas.microsoft.com/office/drawing/2014/main" id="{313D7349-AD4A-4282-917D-8A26E8D4EA5C}"/>
                </a:ext>
              </a:extLst>
            </p:cNvPr>
            <p:cNvCxnSpPr/>
            <p:nvPr/>
          </p:nvCxnSpPr>
          <p:spPr bwMode="auto">
            <a:xfrm>
              <a:off x="4191000" y="6096000"/>
              <a:ext cx="685800" cy="0"/>
            </a:xfrm>
            <a:prstGeom prst="straightConnector1">
              <a:avLst/>
            </a:prstGeom>
            <a:solidFill>
              <a:schemeClr val="accent1"/>
            </a:solidFill>
            <a:ln w="12700" cap="flat" cmpd="sng" algn="ctr">
              <a:solidFill>
                <a:schemeClr val="tx1"/>
              </a:solidFill>
              <a:prstDash val="solid"/>
              <a:round/>
              <a:headEnd type="arrow"/>
              <a:tailEnd type="arrow"/>
            </a:ln>
            <a:effectLst/>
          </p:spPr>
        </p:cxnSp>
        <p:cxnSp>
          <p:nvCxnSpPr>
            <p:cNvPr id="79" name="Straight Arrow Connector 78">
              <a:extLst>
                <a:ext uri="{FF2B5EF4-FFF2-40B4-BE49-F238E27FC236}">
                  <a16:creationId xmlns:a16="http://schemas.microsoft.com/office/drawing/2014/main" id="{E66D56F2-FABD-4202-A878-CAEA7458A757}"/>
                </a:ext>
              </a:extLst>
            </p:cNvPr>
            <p:cNvCxnSpPr/>
            <p:nvPr/>
          </p:nvCxnSpPr>
          <p:spPr bwMode="auto">
            <a:xfrm>
              <a:off x="4191000" y="6248400"/>
              <a:ext cx="685800" cy="0"/>
            </a:xfrm>
            <a:prstGeom prst="straightConnector1">
              <a:avLst/>
            </a:prstGeom>
            <a:solidFill>
              <a:schemeClr val="accent1"/>
            </a:solidFill>
            <a:ln w="12700" cap="flat" cmpd="sng" algn="ctr">
              <a:solidFill>
                <a:schemeClr val="tx1"/>
              </a:solidFill>
              <a:prstDash val="solid"/>
              <a:round/>
              <a:headEnd type="arrow"/>
              <a:tailEnd type="arrow"/>
            </a:ln>
            <a:effectLst/>
          </p:spPr>
        </p:cxnSp>
      </p:grpSp>
      <p:sp>
        <p:nvSpPr>
          <p:cNvPr id="81" name="Rectangle 80">
            <a:extLst>
              <a:ext uri="{FF2B5EF4-FFF2-40B4-BE49-F238E27FC236}">
                <a16:creationId xmlns:a16="http://schemas.microsoft.com/office/drawing/2014/main" id="{941CA958-5C3B-4937-8266-7A4CB62B76AD}"/>
              </a:ext>
            </a:extLst>
          </p:cNvPr>
          <p:cNvSpPr/>
          <p:nvPr/>
        </p:nvSpPr>
        <p:spPr bwMode="auto">
          <a:xfrm>
            <a:off x="4254985" y="2689251"/>
            <a:ext cx="609598" cy="762000"/>
          </a:xfrm>
          <a:prstGeom prst="rect">
            <a:avLst/>
          </a:prstGeom>
          <a:solidFill>
            <a:srgbClr val="00B0F0"/>
          </a:solidFill>
          <a:ln w="12700" cap="flat" cmpd="sng" algn="ctr">
            <a:solidFill>
              <a:schemeClr val="tx1"/>
            </a:solidFill>
            <a:prstDash val="solid"/>
            <a:round/>
            <a:headEnd type="none" w="sm" len="sm"/>
            <a:tailEnd type="none" w="sm" len="sm"/>
          </a:ln>
          <a:effectLst/>
        </p:spPr>
        <p:txBody>
          <a:bodyPr vert="horz" wrap="square" lIns="0" tIns="45720" rIns="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Gill Sans Light"/>
              </a:rPr>
              <a:t>Cache</a:t>
            </a:r>
          </a:p>
        </p:txBody>
      </p:sp>
      <p:grpSp>
        <p:nvGrpSpPr>
          <p:cNvPr id="83" name="Group 82">
            <a:extLst>
              <a:ext uri="{FF2B5EF4-FFF2-40B4-BE49-F238E27FC236}">
                <a16:creationId xmlns:a16="http://schemas.microsoft.com/office/drawing/2014/main" id="{CB4A8CDA-18D0-4461-9679-B900EE7898F6}"/>
              </a:ext>
            </a:extLst>
          </p:cNvPr>
          <p:cNvGrpSpPr/>
          <p:nvPr/>
        </p:nvGrpSpPr>
        <p:grpSpPr>
          <a:xfrm>
            <a:off x="3486696" y="2219351"/>
            <a:ext cx="737701" cy="830997"/>
            <a:chOff x="4108511" y="2654300"/>
            <a:chExt cx="737701" cy="830997"/>
          </a:xfrm>
        </p:grpSpPr>
        <p:sp>
          <p:nvSpPr>
            <p:cNvPr id="84" name="Rectangle 83">
              <a:extLst>
                <a:ext uri="{FF2B5EF4-FFF2-40B4-BE49-F238E27FC236}">
                  <a16:creationId xmlns:a16="http://schemas.microsoft.com/office/drawing/2014/main" id="{15625F88-BE10-4B4F-B0E8-619C57B3165D}"/>
                </a:ext>
              </a:extLst>
            </p:cNvPr>
            <p:cNvSpPr/>
            <p:nvPr/>
          </p:nvSpPr>
          <p:spPr bwMode="auto">
            <a:xfrm>
              <a:off x="4178300" y="2720777"/>
              <a:ext cx="609598" cy="762000"/>
            </a:xfrm>
            <a:prstGeom prst="rect">
              <a:avLst/>
            </a:prstGeom>
            <a:solidFill>
              <a:schemeClr val="bg2"/>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Gill Sans Light"/>
              </a:endParaRPr>
            </a:p>
          </p:txBody>
        </p:sp>
        <p:sp>
          <p:nvSpPr>
            <p:cNvPr id="85" name="TextBox 84">
              <a:extLst>
                <a:ext uri="{FF2B5EF4-FFF2-40B4-BE49-F238E27FC236}">
                  <a16:creationId xmlns:a16="http://schemas.microsoft.com/office/drawing/2014/main" id="{053C1DE2-90E0-489C-9A39-323D4C62C1BD}"/>
                </a:ext>
              </a:extLst>
            </p:cNvPr>
            <p:cNvSpPr txBox="1"/>
            <p:nvPr/>
          </p:nvSpPr>
          <p:spPr>
            <a:xfrm>
              <a:off x="4108511" y="2654300"/>
              <a:ext cx="737701" cy="830997"/>
            </a:xfrm>
            <a:prstGeom prst="rect">
              <a:avLst/>
            </a:prstGeom>
            <a:noFill/>
          </p:spPr>
          <p:txBody>
            <a:bodyPr wrap="none" rtlCol="0">
              <a:spAutoFit/>
            </a:bodyPr>
            <a:lstStyle/>
            <a:p>
              <a:pPr algn="ctr"/>
              <a:r>
                <a:rPr lang="en-US" sz="1600" dirty="0">
                  <a:latin typeface="Gill Sans Light"/>
                </a:rPr>
                <a:t>Page</a:t>
              </a:r>
              <a:br>
                <a:rPr lang="en-US" sz="1600" dirty="0">
                  <a:latin typeface="Gill Sans Light"/>
                </a:rPr>
              </a:br>
              <a:r>
                <a:rPr lang="en-US" sz="1600" dirty="0">
                  <a:latin typeface="Gill Sans Light"/>
                </a:rPr>
                <a:t>Table</a:t>
              </a:r>
            </a:p>
            <a:p>
              <a:pPr algn="ctr"/>
              <a:r>
                <a:rPr lang="en-US" sz="1600" dirty="0">
                  <a:latin typeface="Gill Sans Light"/>
                </a:rPr>
                <a:t>&amp; </a:t>
              </a:r>
              <a:r>
                <a:rPr lang="en-US" sz="1400" dirty="0">
                  <a:latin typeface="Gill Sans Light"/>
                </a:rPr>
                <a:t>TLB</a:t>
              </a:r>
              <a:endParaRPr lang="en-US" sz="1600" dirty="0">
                <a:latin typeface="Gill Sans Light"/>
              </a:endParaRPr>
            </a:p>
          </p:txBody>
        </p:sp>
      </p:grpSp>
      <p:sp>
        <p:nvSpPr>
          <p:cNvPr id="87" name="Rectangle 86">
            <a:extLst>
              <a:ext uri="{FF2B5EF4-FFF2-40B4-BE49-F238E27FC236}">
                <a16:creationId xmlns:a16="http://schemas.microsoft.com/office/drawing/2014/main" id="{61CDAADA-15F9-4411-B466-EAB818520255}"/>
              </a:ext>
            </a:extLst>
          </p:cNvPr>
          <p:cNvSpPr/>
          <p:nvPr/>
        </p:nvSpPr>
        <p:spPr>
          <a:xfrm>
            <a:off x="941490" y="1176492"/>
            <a:ext cx="1159292" cy="369332"/>
          </a:xfrm>
          <a:prstGeom prst="rect">
            <a:avLst/>
          </a:prstGeom>
        </p:spPr>
        <p:txBody>
          <a:bodyPr wrap="none">
            <a:spAutoFit/>
          </a:bodyPr>
          <a:lstStyle/>
          <a:p>
            <a:r>
              <a:rPr lang="en-US" dirty="0">
                <a:latin typeface="Gill Sans Light"/>
              </a:rPr>
              <a:t>Software</a:t>
            </a:r>
          </a:p>
        </p:txBody>
      </p:sp>
      <p:sp>
        <p:nvSpPr>
          <p:cNvPr id="91" name="Rectangle: Folded Corner 90">
            <a:extLst>
              <a:ext uri="{FF2B5EF4-FFF2-40B4-BE49-F238E27FC236}">
                <a16:creationId xmlns:a16="http://schemas.microsoft.com/office/drawing/2014/main" id="{790179F4-A640-408F-BA29-C1BE57B90833}"/>
              </a:ext>
            </a:extLst>
          </p:cNvPr>
          <p:cNvSpPr/>
          <p:nvPr/>
        </p:nvSpPr>
        <p:spPr>
          <a:xfrm>
            <a:off x="2083284" y="914400"/>
            <a:ext cx="1181101" cy="680484"/>
          </a:xfrm>
          <a:prstGeom prst="foldedCorner">
            <a:avLst>
              <a:gd name="adj" fmla="val 21333"/>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dirty="0">
                <a:latin typeface="Gill Sans Light"/>
              </a:rPr>
              <a:t>Running Program</a:t>
            </a:r>
          </a:p>
        </p:txBody>
      </p:sp>
      <p:sp>
        <p:nvSpPr>
          <p:cNvPr id="92" name="TextBox 91">
            <a:extLst>
              <a:ext uri="{FF2B5EF4-FFF2-40B4-BE49-F238E27FC236}">
                <a16:creationId xmlns:a16="http://schemas.microsoft.com/office/drawing/2014/main" id="{FC495F3C-5271-47BA-BDD8-6F95BCEE900C}"/>
              </a:ext>
            </a:extLst>
          </p:cNvPr>
          <p:cNvSpPr txBox="1"/>
          <p:nvPr/>
        </p:nvSpPr>
        <p:spPr>
          <a:xfrm>
            <a:off x="7942721" y="2971800"/>
            <a:ext cx="4054526" cy="1384995"/>
          </a:xfrm>
          <a:prstGeom prst="rect">
            <a:avLst/>
          </a:prstGeom>
          <a:noFill/>
        </p:spPr>
        <p:txBody>
          <a:bodyPr wrap="square" rtlCol="0">
            <a:spAutoFit/>
          </a:bodyPr>
          <a:lstStyle/>
          <a:p>
            <a:r>
              <a:rPr lang="en-US" sz="2800" b="1" dirty="0">
                <a:latin typeface="Gill Sans Light"/>
              </a:rPr>
              <a:t>The OS </a:t>
            </a:r>
            <a:r>
              <a:rPr lang="en-US" sz="2800" b="1" i="1" dirty="0">
                <a:latin typeface="Gill Sans Light"/>
              </a:rPr>
              <a:t>abstracts</a:t>
            </a:r>
            <a:r>
              <a:rPr lang="en-US" sz="2800" b="1" dirty="0">
                <a:latin typeface="Gill Sans Light"/>
              </a:rPr>
              <a:t> these hardware details from the application</a:t>
            </a:r>
          </a:p>
        </p:txBody>
      </p:sp>
    </p:spTree>
    <p:extLst>
      <p:ext uri="{BB962C8B-B14F-4D97-AF65-F5344CB8AC3E}">
        <p14:creationId xmlns:p14="http://schemas.microsoft.com/office/powerpoint/2010/main" val="340563593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62"/>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6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8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8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5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60"/>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54"/>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52"/>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48"/>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53"/>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9"/>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8"/>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70"/>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50"/>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61"/>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9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animBg="1"/>
      <p:bldP spid="55" grpId="0" animBg="1"/>
      <p:bldP spid="57" grpId="0" animBg="1"/>
      <p:bldP spid="58" grpId="0"/>
      <p:bldP spid="59" grpId="0"/>
      <p:bldP spid="60" grpId="0"/>
      <p:bldP spid="61" grpId="0" animBg="1"/>
      <p:bldP spid="65" grpId="0" animBg="1"/>
      <p:bldP spid="66" grpId="0" animBg="1"/>
      <p:bldP spid="67" grpId="0" animBg="1"/>
      <p:bldP spid="68" grpId="0" animBg="1"/>
      <p:bldP spid="81" grpId="0" animBg="1"/>
      <p:bldP spid="87" grpId="0"/>
      <p:bldP spid="91" grpId="0" animBg="1"/>
      <p:bldP spid="9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0FFBD-86D7-4430-8623-1A5A496FA90C}"/>
              </a:ext>
            </a:extLst>
          </p:cNvPr>
          <p:cNvSpPr>
            <a:spLocks noGrp="1"/>
          </p:cNvSpPr>
          <p:nvPr>
            <p:ph type="title"/>
          </p:nvPr>
        </p:nvSpPr>
        <p:spPr/>
        <p:txBody>
          <a:bodyPr/>
          <a:lstStyle/>
          <a:p>
            <a:r>
              <a:rPr lang="en-US" dirty="0"/>
              <a:t>What is an Operating System?</a:t>
            </a:r>
          </a:p>
        </p:txBody>
      </p:sp>
      <p:sp>
        <p:nvSpPr>
          <p:cNvPr id="3" name="Content Placeholder 2">
            <a:extLst>
              <a:ext uri="{FF2B5EF4-FFF2-40B4-BE49-F238E27FC236}">
                <a16:creationId xmlns:a16="http://schemas.microsoft.com/office/drawing/2014/main" id="{3045FBDC-6D09-4175-BD95-8438526B950F}"/>
              </a:ext>
            </a:extLst>
          </p:cNvPr>
          <p:cNvSpPr>
            <a:spLocks noGrp="1"/>
          </p:cNvSpPr>
          <p:nvPr>
            <p:ph idx="1"/>
          </p:nvPr>
        </p:nvSpPr>
        <p:spPr>
          <a:xfrm>
            <a:off x="2213112" y="1825625"/>
            <a:ext cx="9140687" cy="4351338"/>
          </a:xfrm>
        </p:spPr>
        <p:txBody>
          <a:bodyPr/>
          <a:lstStyle/>
          <a:p>
            <a:r>
              <a:rPr lang="en-US" dirty="0">
                <a:solidFill>
                  <a:srgbClr val="FF0000"/>
                </a:solidFill>
              </a:rPr>
              <a:t>Illusionist</a:t>
            </a:r>
          </a:p>
          <a:p>
            <a:pPr lvl="1"/>
            <a:r>
              <a:rPr lang="en-US" dirty="0">
                <a:solidFill>
                  <a:srgbClr val="FF0000"/>
                </a:solidFill>
              </a:rPr>
              <a:t>Provide clean, easy-to-use abstractions of physical resources</a:t>
            </a:r>
          </a:p>
          <a:p>
            <a:pPr lvl="2"/>
            <a:r>
              <a:rPr lang="en-US" dirty="0">
                <a:solidFill>
                  <a:srgbClr val="FF0000"/>
                </a:solidFill>
              </a:rPr>
              <a:t>Infinite memory, dedicated machine</a:t>
            </a:r>
          </a:p>
          <a:p>
            <a:pPr lvl="2"/>
            <a:r>
              <a:rPr lang="en-US" dirty="0">
                <a:solidFill>
                  <a:srgbClr val="FF0000"/>
                </a:solidFill>
              </a:rPr>
              <a:t>Higher level objects: files, users, messages</a:t>
            </a:r>
          </a:p>
          <a:p>
            <a:pPr lvl="2"/>
            <a:r>
              <a:rPr lang="en-US" dirty="0">
                <a:solidFill>
                  <a:srgbClr val="FF0000"/>
                </a:solidFill>
              </a:rPr>
              <a:t>Masking limitations, virtualization</a:t>
            </a:r>
          </a:p>
        </p:txBody>
      </p:sp>
      <p:pic>
        <p:nvPicPr>
          <p:cNvPr id="7" name="Picture 6">
            <a:extLst>
              <a:ext uri="{FF2B5EF4-FFF2-40B4-BE49-F238E27FC236}">
                <a16:creationId xmlns:a16="http://schemas.microsoft.com/office/drawing/2014/main" id="{65C00F34-1D9D-426C-8D4D-28C7ACFC9737}"/>
              </a:ext>
            </a:extLst>
          </p:cNvPr>
          <p:cNvPicPr>
            <a:picLocks noChangeAspect="1"/>
          </p:cNvPicPr>
          <p:nvPr/>
        </p:nvPicPr>
        <p:blipFill>
          <a:blip r:embed="rId2"/>
          <a:stretch>
            <a:fillRect/>
          </a:stretch>
        </p:blipFill>
        <p:spPr>
          <a:xfrm>
            <a:off x="676835" y="2337630"/>
            <a:ext cx="1291665" cy="1066800"/>
          </a:xfrm>
          <a:prstGeom prst="rect">
            <a:avLst/>
          </a:prstGeom>
        </p:spPr>
      </p:pic>
    </p:spTree>
    <p:extLst>
      <p:ext uri="{BB962C8B-B14F-4D97-AF65-F5344CB8AC3E}">
        <p14:creationId xmlns:p14="http://schemas.microsoft.com/office/powerpoint/2010/main" val="389355605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5C77F-660A-43A3-8126-43A0F77E49F3}"/>
              </a:ext>
            </a:extLst>
          </p:cNvPr>
          <p:cNvSpPr>
            <a:spLocks noGrp="1"/>
          </p:cNvSpPr>
          <p:nvPr>
            <p:ph type="title"/>
          </p:nvPr>
        </p:nvSpPr>
        <p:spPr/>
        <p:txBody>
          <a:bodyPr/>
          <a:lstStyle/>
          <a:p>
            <a:r>
              <a:rPr lang="en-US" dirty="0"/>
              <a:t>OS Basics: Virtualizing the Machine</a:t>
            </a:r>
          </a:p>
        </p:txBody>
      </p:sp>
      <p:sp>
        <p:nvSpPr>
          <p:cNvPr id="6" name="Rectangle 5">
            <a:extLst>
              <a:ext uri="{FF2B5EF4-FFF2-40B4-BE49-F238E27FC236}">
                <a16:creationId xmlns:a16="http://schemas.microsoft.com/office/drawing/2014/main" id="{73193DD4-304A-4B76-81C9-FBF787FE779B}"/>
              </a:ext>
            </a:extLst>
          </p:cNvPr>
          <p:cNvSpPr/>
          <p:nvPr/>
        </p:nvSpPr>
        <p:spPr bwMode="auto">
          <a:xfrm>
            <a:off x="654050" y="4470400"/>
            <a:ext cx="11118850" cy="1689099"/>
          </a:xfrm>
          <a:prstGeom prst="rect">
            <a:avLst/>
          </a:prstGeom>
          <a:pattFill prst="horzBrick">
            <a:fgClr>
              <a:schemeClr val="bg2">
                <a:lumMod val="40000"/>
                <a:lumOff val="60000"/>
              </a:schemeClr>
            </a:fgClr>
            <a:bgClr>
              <a:prstClr val="white"/>
            </a:bgClr>
          </a:patt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dirty="0">
              <a:ln>
                <a:noFill/>
              </a:ln>
              <a:solidFill>
                <a:schemeClr val="tx1"/>
              </a:solidFill>
              <a:effectLst/>
              <a:latin typeface="Gill Sans Light"/>
            </a:endParaRPr>
          </a:p>
        </p:txBody>
      </p:sp>
      <p:sp>
        <p:nvSpPr>
          <p:cNvPr id="8" name="Rounded Rectangle 6">
            <a:extLst>
              <a:ext uri="{FF2B5EF4-FFF2-40B4-BE49-F238E27FC236}">
                <a16:creationId xmlns:a16="http://schemas.microsoft.com/office/drawing/2014/main" id="{EA9B6AFF-D750-4502-865E-E3737510EED0}"/>
              </a:ext>
            </a:extLst>
          </p:cNvPr>
          <p:cNvSpPr/>
          <p:nvPr/>
        </p:nvSpPr>
        <p:spPr bwMode="auto">
          <a:xfrm>
            <a:off x="2201858" y="4618038"/>
            <a:ext cx="1728792" cy="838200"/>
          </a:xfrm>
          <a:prstGeom prst="roundRect">
            <a:avLst/>
          </a:prstGeom>
          <a:solidFill>
            <a:schemeClr val="accent1">
              <a:lumMod val="40000"/>
              <a:lumOff val="6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Gill Sans Light"/>
              </a:rPr>
              <a:t>Processor</a:t>
            </a:r>
            <a:endParaRPr kumimoji="0" lang="en-US" sz="1400" b="0" i="0" u="none" strike="noStrike" cap="none" normalizeH="0" baseline="0" dirty="0">
              <a:ln>
                <a:noFill/>
              </a:ln>
              <a:solidFill>
                <a:schemeClr val="tx1"/>
              </a:solidFill>
              <a:effectLst/>
              <a:latin typeface="Gill Sans Light"/>
            </a:endParaRPr>
          </a:p>
        </p:txBody>
      </p:sp>
      <p:sp>
        <p:nvSpPr>
          <p:cNvPr id="9" name="Rectangle 8">
            <a:extLst>
              <a:ext uri="{FF2B5EF4-FFF2-40B4-BE49-F238E27FC236}">
                <a16:creationId xmlns:a16="http://schemas.microsoft.com/office/drawing/2014/main" id="{85025C03-FC2A-4CCF-8684-4F37D94D3763}"/>
              </a:ext>
            </a:extLst>
          </p:cNvPr>
          <p:cNvSpPr/>
          <p:nvPr/>
        </p:nvSpPr>
        <p:spPr bwMode="auto">
          <a:xfrm>
            <a:off x="5009666" y="4664869"/>
            <a:ext cx="1760608" cy="973138"/>
          </a:xfrm>
          <a:prstGeom prst="rect">
            <a:avLst/>
          </a:prstGeom>
          <a:solidFill>
            <a:srgbClr val="5AAEFF"/>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Gill Sans Light"/>
              </a:rPr>
              <a:t>Memory</a:t>
            </a:r>
          </a:p>
        </p:txBody>
      </p:sp>
      <p:grpSp>
        <p:nvGrpSpPr>
          <p:cNvPr id="10" name="Group 9">
            <a:extLst>
              <a:ext uri="{FF2B5EF4-FFF2-40B4-BE49-F238E27FC236}">
                <a16:creationId xmlns:a16="http://schemas.microsoft.com/office/drawing/2014/main" id="{4C2174B6-519D-44F7-A8CB-C9D9304FB602}"/>
              </a:ext>
            </a:extLst>
          </p:cNvPr>
          <p:cNvGrpSpPr/>
          <p:nvPr/>
        </p:nvGrpSpPr>
        <p:grpSpPr>
          <a:xfrm>
            <a:off x="3244850" y="5075238"/>
            <a:ext cx="533400" cy="304800"/>
            <a:chOff x="3124200" y="3657600"/>
            <a:chExt cx="533400" cy="304800"/>
          </a:xfrm>
        </p:grpSpPr>
        <p:sp>
          <p:nvSpPr>
            <p:cNvPr id="11" name="Rectangle 10">
              <a:extLst>
                <a:ext uri="{FF2B5EF4-FFF2-40B4-BE49-F238E27FC236}">
                  <a16:creationId xmlns:a16="http://schemas.microsoft.com/office/drawing/2014/main" id="{EFBA6894-B008-4F1D-B22C-730173B3DFD4}"/>
                </a:ext>
              </a:extLst>
            </p:cNvPr>
            <p:cNvSpPr/>
            <p:nvPr/>
          </p:nvSpPr>
          <p:spPr bwMode="auto">
            <a:xfrm>
              <a:off x="3124200" y="3657600"/>
              <a:ext cx="533400" cy="304800"/>
            </a:xfrm>
            <a:prstGeom prst="rect">
              <a:avLst/>
            </a:prstGeom>
            <a:no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sp>
          <p:nvSpPr>
            <p:cNvPr id="12" name="Rectangle 11">
              <a:extLst>
                <a:ext uri="{FF2B5EF4-FFF2-40B4-BE49-F238E27FC236}">
                  <a16:creationId xmlns:a16="http://schemas.microsoft.com/office/drawing/2014/main" id="{F6B854A3-399D-4E47-BB10-B204E22F6207}"/>
                </a:ext>
              </a:extLst>
            </p:cNvPr>
            <p:cNvSpPr/>
            <p:nvPr/>
          </p:nvSpPr>
          <p:spPr bwMode="auto">
            <a:xfrm>
              <a:off x="3124200" y="3733800"/>
              <a:ext cx="533400" cy="152400"/>
            </a:xfrm>
            <a:prstGeom prst="rect">
              <a:avLst/>
            </a:prstGeom>
            <a:no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grpSp>
      <p:sp>
        <p:nvSpPr>
          <p:cNvPr id="15" name="Rectangle 14">
            <a:extLst>
              <a:ext uri="{FF2B5EF4-FFF2-40B4-BE49-F238E27FC236}">
                <a16:creationId xmlns:a16="http://schemas.microsoft.com/office/drawing/2014/main" id="{5590399D-D2AD-4FCF-BFD2-DB8D8F919509}"/>
              </a:ext>
            </a:extLst>
          </p:cNvPr>
          <p:cNvSpPr/>
          <p:nvPr/>
        </p:nvSpPr>
        <p:spPr bwMode="auto">
          <a:xfrm>
            <a:off x="5433151" y="5013315"/>
            <a:ext cx="609600" cy="381000"/>
          </a:xfrm>
          <a:prstGeom prst="rect">
            <a:avLst/>
          </a:prstGeom>
          <a:solidFill>
            <a:srgbClr val="FBBA03"/>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sp>
        <p:nvSpPr>
          <p:cNvPr id="16" name="Rectangle 15">
            <a:extLst>
              <a:ext uri="{FF2B5EF4-FFF2-40B4-BE49-F238E27FC236}">
                <a16:creationId xmlns:a16="http://schemas.microsoft.com/office/drawing/2014/main" id="{7114092D-E1CB-4952-8CAA-BD6429870DAC}"/>
              </a:ext>
            </a:extLst>
          </p:cNvPr>
          <p:cNvSpPr/>
          <p:nvPr/>
        </p:nvSpPr>
        <p:spPr bwMode="auto">
          <a:xfrm>
            <a:off x="5302250" y="5104607"/>
            <a:ext cx="609600" cy="381000"/>
          </a:xfrm>
          <a:prstGeom prst="rect">
            <a:avLst/>
          </a:prstGeom>
          <a:solidFill>
            <a:srgbClr val="CC3333"/>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sp>
        <p:nvSpPr>
          <p:cNvPr id="13" name="Rectangle 12">
            <a:extLst>
              <a:ext uri="{FF2B5EF4-FFF2-40B4-BE49-F238E27FC236}">
                <a16:creationId xmlns:a16="http://schemas.microsoft.com/office/drawing/2014/main" id="{4A1809EB-73C2-4CF6-B753-8F1B20E63381}"/>
              </a:ext>
            </a:extLst>
          </p:cNvPr>
          <p:cNvSpPr/>
          <p:nvPr/>
        </p:nvSpPr>
        <p:spPr bwMode="auto">
          <a:xfrm>
            <a:off x="5171349" y="5188015"/>
            <a:ext cx="609600" cy="396832"/>
          </a:xfrm>
          <a:prstGeom prst="rect">
            <a:avLst/>
          </a:prstGeom>
          <a:solidFill>
            <a:schemeClr val="accent2">
              <a:lumMod val="40000"/>
              <a:lumOff val="6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grpSp>
        <p:nvGrpSpPr>
          <p:cNvPr id="19" name="Group 18">
            <a:extLst>
              <a:ext uri="{FF2B5EF4-FFF2-40B4-BE49-F238E27FC236}">
                <a16:creationId xmlns:a16="http://schemas.microsoft.com/office/drawing/2014/main" id="{E3801482-024B-4578-81D6-B8D5101ACF77}"/>
              </a:ext>
            </a:extLst>
          </p:cNvPr>
          <p:cNvGrpSpPr/>
          <p:nvPr/>
        </p:nvGrpSpPr>
        <p:grpSpPr>
          <a:xfrm>
            <a:off x="4432116" y="4603105"/>
            <a:ext cx="712053" cy="710043"/>
            <a:chOff x="4121335" y="2654300"/>
            <a:chExt cx="712053" cy="828477"/>
          </a:xfrm>
        </p:grpSpPr>
        <p:sp>
          <p:nvSpPr>
            <p:cNvPr id="20" name="Rectangle 19">
              <a:extLst>
                <a:ext uri="{FF2B5EF4-FFF2-40B4-BE49-F238E27FC236}">
                  <a16:creationId xmlns:a16="http://schemas.microsoft.com/office/drawing/2014/main" id="{5E4894ED-F264-49FF-B7AB-BA4E6C68158A}"/>
                </a:ext>
              </a:extLst>
            </p:cNvPr>
            <p:cNvSpPr/>
            <p:nvPr/>
          </p:nvSpPr>
          <p:spPr bwMode="auto">
            <a:xfrm>
              <a:off x="4178300" y="2720777"/>
              <a:ext cx="609598" cy="762000"/>
            </a:xfrm>
            <a:prstGeom prst="rect">
              <a:avLst/>
            </a:prstGeom>
            <a:solidFill>
              <a:schemeClr val="bg2"/>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sp>
          <p:nvSpPr>
            <p:cNvPr id="21" name="TextBox 20">
              <a:extLst>
                <a:ext uri="{FF2B5EF4-FFF2-40B4-BE49-F238E27FC236}">
                  <a16:creationId xmlns:a16="http://schemas.microsoft.com/office/drawing/2014/main" id="{C80A16C0-CBEC-4DD9-AD38-2EB7C3ECDF3A}"/>
                </a:ext>
              </a:extLst>
            </p:cNvPr>
            <p:cNvSpPr txBox="1"/>
            <p:nvPr/>
          </p:nvSpPr>
          <p:spPr>
            <a:xfrm>
              <a:off x="4121335" y="2654300"/>
              <a:ext cx="712053" cy="610492"/>
            </a:xfrm>
            <a:prstGeom prst="rect">
              <a:avLst/>
            </a:prstGeom>
            <a:noFill/>
          </p:spPr>
          <p:txBody>
            <a:bodyPr wrap="none" rtlCol="0">
              <a:spAutoFit/>
            </a:bodyPr>
            <a:lstStyle/>
            <a:p>
              <a:pPr algn="ctr"/>
              <a:r>
                <a:rPr lang="en-US" sz="1400" dirty="0" err="1">
                  <a:latin typeface="Gill Sans Light"/>
                </a:rPr>
                <a:t>PgTbl</a:t>
              </a:r>
              <a:endParaRPr lang="en-US" sz="1400" dirty="0">
                <a:latin typeface="Gill Sans Light"/>
              </a:endParaRPr>
            </a:p>
            <a:p>
              <a:pPr algn="ctr"/>
              <a:r>
                <a:rPr lang="en-US" sz="1400" dirty="0">
                  <a:latin typeface="Gill Sans Light"/>
                </a:rPr>
                <a:t>&amp; TLB</a:t>
              </a:r>
            </a:p>
          </p:txBody>
        </p:sp>
      </p:grpSp>
      <p:cxnSp>
        <p:nvCxnSpPr>
          <p:cNvPr id="22" name="Straight Arrow Connector 21">
            <a:extLst>
              <a:ext uri="{FF2B5EF4-FFF2-40B4-BE49-F238E27FC236}">
                <a16:creationId xmlns:a16="http://schemas.microsoft.com/office/drawing/2014/main" id="{52D33204-BC10-46FF-B132-F33C746DE9B8}"/>
              </a:ext>
            </a:extLst>
          </p:cNvPr>
          <p:cNvCxnSpPr>
            <a:cxnSpLocks/>
          </p:cNvCxnSpPr>
          <p:nvPr/>
        </p:nvCxnSpPr>
        <p:spPr bwMode="auto">
          <a:xfrm flipV="1">
            <a:off x="3930650" y="5232303"/>
            <a:ext cx="1273102" cy="2471"/>
          </a:xfrm>
          <a:prstGeom prst="straightConnector1">
            <a:avLst/>
          </a:prstGeom>
          <a:solidFill>
            <a:schemeClr val="accent1"/>
          </a:solidFill>
          <a:ln w="57150" cap="flat" cmpd="sng" algn="ctr">
            <a:solidFill>
              <a:schemeClr val="tx1"/>
            </a:solidFill>
            <a:prstDash val="solid"/>
            <a:round/>
            <a:headEnd type="triangle" w="med" len="med"/>
            <a:tailEnd type="triangle"/>
          </a:ln>
          <a:effectLst/>
        </p:spPr>
      </p:cxnSp>
      <p:cxnSp>
        <p:nvCxnSpPr>
          <p:cNvPr id="17" name="Curved Connector 54">
            <a:extLst>
              <a:ext uri="{FF2B5EF4-FFF2-40B4-BE49-F238E27FC236}">
                <a16:creationId xmlns:a16="http://schemas.microsoft.com/office/drawing/2014/main" id="{1C7D6572-FBEF-45D3-B9EB-4A6924279104}"/>
              </a:ext>
            </a:extLst>
          </p:cNvPr>
          <p:cNvCxnSpPr>
            <a:cxnSpLocks/>
          </p:cNvCxnSpPr>
          <p:nvPr/>
        </p:nvCxnSpPr>
        <p:spPr bwMode="auto">
          <a:xfrm>
            <a:off x="3600451" y="5265655"/>
            <a:ext cx="1775551" cy="217481"/>
          </a:xfrm>
          <a:prstGeom prst="curvedConnector3">
            <a:avLst>
              <a:gd name="adj1" fmla="val 23535"/>
            </a:avLst>
          </a:prstGeom>
          <a:solidFill>
            <a:schemeClr val="accent1"/>
          </a:solidFill>
          <a:ln w="22225" cap="flat" cmpd="sng" algn="ctr">
            <a:solidFill>
              <a:schemeClr val="tx1"/>
            </a:solidFill>
            <a:prstDash val="solid"/>
            <a:round/>
            <a:headEnd type="triangle" w="sm" len="sm"/>
            <a:tailEnd type="triangle"/>
          </a:ln>
          <a:effectLst/>
        </p:spPr>
      </p:cxnSp>
      <p:sp>
        <p:nvSpPr>
          <p:cNvPr id="26" name="Can 38">
            <a:extLst>
              <a:ext uri="{FF2B5EF4-FFF2-40B4-BE49-F238E27FC236}">
                <a16:creationId xmlns:a16="http://schemas.microsoft.com/office/drawing/2014/main" id="{2D66A6BA-E078-4243-A542-4EDF0004EFC1}"/>
              </a:ext>
            </a:extLst>
          </p:cNvPr>
          <p:cNvSpPr/>
          <p:nvPr/>
        </p:nvSpPr>
        <p:spPr bwMode="auto">
          <a:xfrm>
            <a:off x="6978098" y="4601091"/>
            <a:ext cx="977900" cy="973138"/>
          </a:xfrm>
          <a:prstGeom prst="can">
            <a:avLst/>
          </a:prstGeom>
          <a:solidFill>
            <a:srgbClr val="5AAEFF"/>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600" dirty="0">
                <a:latin typeface="Gill Sans Light"/>
              </a:rPr>
              <a:t>Storage</a:t>
            </a:r>
            <a:endParaRPr kumimoji="0" lang="en-US" sz="1600" b="0" i="0" u="none" strike="noStrike" cap="none" normalizeH="0" baseline="0" dirty="0">
              <a:ln>
                <a:noFill/>
              </a:ln>
              <a:solidFill>
                <a:schemeClr val="tx1"/>
              </a:solidFill>
              <a:effectLst/>
              <a:latin typeface="Gill Sans Light"/>
            </a:endParaRPr>
          </a:p>
        </p:txBody>
      </p:sp>
      <p:pic>
        <p:nvPicPr>
          <p:cNvPr id="27" name="Picture 26">
            <a:extLst>
              <a:ext uri="{FF2B5EF4-FFF2-40B4-BE49-F238E27FC236}">
                <a16:creationId xmlns:a16="http://schemas.microsoft.com/office/drawing/2014/main" id="{57205715-3232-4739-82EE-E1D9E0C153A6}"/>
              </a:ext>
            </a:extLst>
          </p:cNvPr>
          <p:cNvPicPr>
            <a:picLocks noChangeAspect="1"/>
          </p:cNvPicPr>
          <p:nvPr/>
        </p:nvPicPr>
        <p:blipFill>
          <a:blip r:embed="rId2">
            <a:clrChange>
              <a:clrFrom>
                <a:srgbClr val="FFFFFF"/>
              </a:clrFrom>
              <a:clrTo>
                <a:srgbClr val="FFFFFF">
                  <a:alpha val="0"/>
                </a:srgbClr>
              </a:clrTo>
            </a:clrChange>
          </a:blip>
          <a:stretch>
            <a:fillRect/>
          </a:stretch>
        </p:blipFill>
        <p:spPr>
          <a:xfrm flipH="1">
            <a:off x="8302804" y="4559299"/>
            <a:ext cx="1270482" cy="1270482"/>
          </a:xfrm>
          <a:prstGeom prst="rect">
            <a:avLst/>
          </a:prstGeom>
        </p:spPr>
      </p:pic>
      <p:sp>
        <p:nvSpPr>
          <p:cNvPr id="31" name="TextBox 30">
            <a:extLst>
              <a:ext uri="{FF2B5EF4-FFF2-40B4-BE49-F238E27FC236}">
                <a16:creationId xmlns:a16="http://schemas.microsoft.com/office/drawing/2014/main" id="{A8A63F55-8F57-4FCF-A466-B7ABFA7D293F}"/>
              </a:ext>
            </a:extLst>
          </p:cNvPr>
          <p:cNvSpPr txBox="1"/>
          <p:nvPr/>
        </p:nvSpPr>
        <p:spPr>
          <a:xfrm>
            <a:off x="8315784" y="4518076"/>
            <a:ext cx="1107996" cy="338554"/>
          </a:xfrm>
          <a:prstGeom prst="rect">
            <a:avLst/>
          </a:prstGeom>
          <a:noFill/>
        </p:spPr>
        <p:txBody>
          <a:bodyPr wrap="none" rtlCol="0">
            <a:spAutoFit/>
          </a:bodyPr>
          <a:lstStyle/>
          <a:p>
            <a:pPr algn="ctr"/>
            <a:r>
              <a:rPr lang="en-US" sz="1600" dirty="0">
                <a:latin typeface="Gill Sans Light"/>
              </a:rPr>
              <a:t>Networks</a:t>
            </a:r>
          </a:p>
        </p:txBody>
      </p:sp>
      <p:sp>
        <p:nvSpPr>
          <p:cNvPr id="34" name="TextBox 33">
            <a:extLst>
              <a:ext uri="{FF2B5EF4-FFF2-40B4-BE49-F238E27FC236}">
                <a16:creationId xmlns:a16="http://schemas.microsoft.com/office/drawing/2014/main" id="{5A2B64A6-5DE4-40BC-B41E-052C2DBBB4E8}"/>
              </a:ext>
            </a:extLst>
          </p:cNvPr>
          <p:cNvSpPr txBox="1"/>
          <p:nvPr/>
        </p:nvSpPr>
        <p:spPr>
          <a:xfrm>
            <a:off x="631271" y="4919941"/>
            <a:ext cx="1353256" cy="400110"/>
          </a:xfrm>
          <a:prstGeom prst="rect">
            <a:avLst/>
          </a:prstGeom>
          <a:noFill/>
        </p:spPr>
        <p:txBody>
          <a:bodyPr wrap="none" rtlCol="0">
            <a:spAutoFit/>
          </a:bodyPr>
          <a:lstStyle/>
          <a:p>
            <a:r>
              <a:rPr lang="en-US" sz="2000" dirty="0">
                <a:latin typeface="Gill Sans Light"/>
              </a:rPr>
              <a:t>Hardware</a:t>
            </a:r>
          </a:p>
        </p:txBody>
      </p:sp>
      <p:cxnSp>
        <p:nvCxnSpPr>
          <p:cNvPr id="39" name="Straight Arrow Connector 38">
            <a:extLst>
              <a:ext uri="{FF2B5EF4-FFF2-40B4-BE49-F238E27FC236}">
                <a16:creationId xmlns:a16="http://schemas.microsoft.com/office/drawing/2014/main" id="{44B237A5-A629-47CA-A0F4-6D264547B1E9}"/>
              </a:ext>
            </a:extLst>
          </p:cNvPr>
          <p:cNvCxnSpPr>
            <a:cxnSpLocks/>
            <a:endCxn id="26" idx="3"/>
          </p:cNvCxnSpPr>
          <p:nvPr/>
        </p:nvCxnSpPr>
        <p:spPr>
          <a:xfrm flipV="1">
            <a:off x="7467048" y="5574229"/>
            <a:ext cx="0" cy="331271"/>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AC006469-8BAB-4F3E-A8D9-EB19E5DDCFD3}"/>
              </a:ext>
            </a:extLst>
          </p:cNvPr>
          <p:cNvCxnSpPr>
            <a:cxnSpLocks/>
          </p:cNvCxnSpPr>
          <p:nvPr/>
        </p:nvCxnSpPr>
        <p:spPr>
          <a:xfrm flipV="1">
            <a:off x="8891831" y="5584848"/>
            <a:ext cx="0" cy="320652"/>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800CF464-6799-4EF1-A173-649974B69470}"/>
              </a:ext>
            </a:extLst>
          </p:cNvPr>
          <p:cNvCxnSpPr>
            <a:cxnSpLocks/>
          </p:cNvCxnSpPr>
          <p:nvPr/>
        </p:nvCxnSpPr>
        <p:spPr>
          <a:xfrm flipV="1">
            <a:off x="4308999" y="5234774"/>
            <a:ext cx="0" cy="670726"/>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077FE5F6-6698-44C8-949A-3B1FFA12825F}"/>
              </a:ext>
            </a:extLst>
          </p:cNvPr>
          <p:cNvCxnSpPr>
            <a:cxnSpLocks/>
            <a:endCxn id="56" idx="1"/>
          </p:cNvCxnSpPr>
          <p:nvPr/>
        </p:nvCxnSpPr>
        <p:spPr>
          <a:xfrm>
            <a:off x="4105518" y="5911715"/>
            <a:ext cx="1091231" cy="0"/>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56" name="Rectangle 55">
            <a:extLst>
              <a:ext uri="{FF2B5EF4-FFF2-40B4-BE49-F238E27FC236}">
                <a16:creationId xmlns:a16="http://schemas.microsoft.com/office/drawing/2014/main" id="{0182EB5C-4F86-416A-B81D-EA223AEB393C}"/>
              </a:ext>
            </a:extLst>
          </p:cNvPr>
          <p:cNvSpPr/>
          <p:nvPr/>
        </p:nvSpPr>
        <p:spPr bwMode="auto">
          <a:xfrm>
            <a:off x="5196749" y="5765133"/>
            <a:ext cx="1044306" cy="293164"/>
          </a:xfrm>
          <a:prstGeom prst="rect">
            <a:avLst/>
          </a:prstGeom>
          <a:no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400" b="0" i="0" u="none" strike="noStrike" cap="none" normalizeH="0" baseline="0" dirty="0">
                <a:ln>
                  <a:noFill/>
                </a:ln>
                <a:solidFill>
                  <a:schemeClr val="tx1"/>
                </a:solidFill>
                <a:effectLst/>
                <a:latin typeface="Gill Sans Light"/>
              </a:rPr>
              <a:t>I/O </a:t>
            </a:r>
            <a:r>
              <a:rPr kumimoji="0" lang="en-US" sz="1400" b="0" i="0" u="none" strike="noStrike" cap="none" normalizeH="0" baseline="0" dirty="0" err="1">
                <a:ln>
                  <a:noFill/>
                </a:ln>
                <a:solidFill>
                  <a:schemeClr val="tx1"/>
                </a:solidFill>
                <a:effectLst/>
                <a:latin typeface="Gill Sans Light"/>
              </a:rPr>
              <a:t>Ctrlr</a:t>
            </a:r>
            <a:endParaRPr kumimoji="0" lang="en-US" sz="1400" b="0" i="0" u="none" strike="noStrike" cap="none" normalizeH="0" baseline="0" dirty="0">
              <a:ln>
                <a:noFill/>
              </a:ln>
              <a:solidFill>
                <a:schemeClr val="tx1"/>
              </a:solidFill>
              <a:effectLst/>
              <a:latin typeface="Gill Sans Light"/>
            </a:endParaRPr>
          </a:p>
        </p:txBody>
      </p:sp>
      <p:cxnSp>
        <p:nvCxnSpPr>
          <p:cNvPr id="59" name="Straight Arrow Connector 58">
            <a:extLst>
              <a:ext uri="{FF2B5EF4-FFF2-40B4-BE49-F238E27FC236}">
                <a16:creationId xmlns:a16="http://schemas.microsoft.com/office/drawing/2014/main" id="{7CEF80FD-C99C-4106-86FD-C44623EF6D66}"/>
              </a:ext>
            </a:extLst>
          </p:cNvPr>
          <p:cNvCxnSpPr>
            <a:cxnSpLocks/>
            <a:stCxn id="56" idx="3"/>
          </p:cNvCxnSpPr>
          <p:nvPr/>
        </p:nvCxnSpPr>
        <p:spPr>
          <a:xfrm flipV="1">
            <a:off x="6241055" y="5905500"/>
            <a:ext cx="5145949" cy="0"/>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8C42E879-B352-4CB0-9045-9528A742E94C}"/>
              </a:ext>
            </a:extLst>
          </p:cNvPr>
          <p:cNvSpPr txBox="1"/>
          <p:nvPr/>
        </p:nvSpPr>
        <p:spPr>
          <a:xfrm>
            <a:off x="861699" y="4314038"/>
            <a:ext cx="1494531" cy="338554"/>
          </a:xfrm>
          <a:prstGeom prst="rect">
            <a:avLst/>
          </a:prstGeom>
          <a:solidFill>
            <a:srgbClr val="EFE683"/>
          </a:solidFill>
          <a:ln>
            <a:solidFill>
              <a:schemeClr val="tx1"/>
            </a:solidFill>
          </a:ln>
        </p:spPr>
        <p:txBody>
          <a:bodyPr wrap="square" rtlCol="0">
            <a:spAutoFit/>
          </a:bodyPr>
          <a:lstStyle/>
          <a:p>
            <a:pPr algn="ctr"/>
            <a:r>
              <a:rPr lang="en-US" sz="1600" b="1" i="1" dirty="0">
                <a:latin typeface="Gill Sans Light"/>
              </a:rPr>
              <a:t>ISA</a:t>
            </a:r>
          </a:p>
        </p:txBody>
      </p:sp>
      <p:sp>
        <p:nvSpPr>
          <p:cNvPr id="63" name="Rectangle 62">
            <a:extLst>
              <a:ext uri="{FF2B5EF4-FFF2-40B4-BE49-F238E27FC236}">
                <a16:creationId xmlns:a16="http://schemas.microsoft.com/office/drawing/2014/main" id="{CA91FAA7-997F-463D-B0E7-ECB8FF4BD25C}"/>
              </a:ext>
            </a:extLst>
          </p:cNvPr>
          <p:cNvSpPr/>
          <p:nvPr/>
        </p:nvSpPr>
        <p:spPr>
          <a:xfrm>
            <a:off x="1955800" y="3595554"/>
            <a:ext cx="9753601" cy="936847"/>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latin typeface="Gill Sans Light"/>
              </a:rPr>
              <a:t>Operating System</a:t>
            </a:r>
          </a:p>
        </p:txBody>
      </p:sp>
      <p:sp>
        <p:nvSpPr>
          <p:cNvPr id="80" name="Rectangle 79">
            <a:extLst>
              <a:ext uri="{FF2B5EF4-FFF2-40B4-BE49-F238E27FC236}">
                <a16:creationId xmlns:a16="http://schemas.microsoft.com/office/drawing/2014/main" id="{4838629E-2E3E-4207-99FE-90E9B77B1C43}"/>
              </a:ext>
            </a:extLst>
          </p:cNvPr>
          <p:cNvSpPr/>
          <p:nvPr/>
        </p:nvSpPr>
        <p:spPr>
          <a:xfrm>
            <a:off x="2201858" y="2710529"/>
            <a:ext cx="9436099" cy="936847"/>
          </a:xfrm>
          <a:prstGeom prst="rect">
            <a:avLst/>
          </a:prstGeom>
          <a:solidFill>
            <a:srgbClr val="A1862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1" dirty="0">
                <a:solidFill>
                  <a:schemeClr val="tx1"/>
                </a:solidFill>
                <a:latin typeface="Gill Sans Light"/>
              </a:rPr>
              <a:t>Process: Execution environment with restricted rights provided by OS</a:t>
            </a:r>
          </a:p>
          <a:p>
            <a:pPr algn="ctr"/>
            <a:endParaRPr lang="en-US" sz="1200" dirty="0">
              <a:solidFill>
                <a:schemeClr val="tx1"/>
              </a:solidFill>
              <a:latin typeface="Gill Sans Light"/>
            </a:endParaRPr>
          </a:p>
        </p:txBody>
      </p:sp>
      <p:sp>
        <p:nvSpPr>
          <p:cNvPr id="73" name="Rectangle 72">
            <a:extLst>
              <a:ext uri="{FF2B5EF4-FFF2-40B4-BE49-F238E27FC236}">
                <a16:creationId xmlns:a16="http://schemas.microsoft.com/office/drawing/2014/main" id="{1F630E64-216C-4D30-9C27-5AEDDDA28456}"/>
              </a:ext>
            </a:extLst>
          </p:cNvPr>
          <p:cNvSpPr/>
          <p:nvPr/>
        </p:nvSpPr>
        <p:spPr bwMode="auto">
          <a:xfrm>
            <a:off x="6098451" y="5075238"/>
            <a:ext cx="631346" cy="480009"/>
          </a:xfrm>
          <a:prstGeom prst="rect">
            <a:avLst/>
          </a:prstGeom>
          <a:solidFill>
            <a:schemeClr val="bg2">
              <a:lumMod val="60000"/>
              <a:lumOff val="4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Gill Sans Light"/>
              </a:rPr>
              <a:t>OS Mem</a:t>
            </a:r>
          </a:p>
        </p:txBody>
      </p:sp>
      <p:sp>
        <p:nvSpPr>
          <p:cNvPr id="81" name="Rectangle: Folded Corner 80">
            <a:extLst>
              <a:ext uri="{FF2B5EF4-FFF2-40B4-BE49-F238E27FC236}">
                <a16:creationId xmlns:a16="http://schemas.microsoft.com/office/drawing/2014/main" id="{19183BC7-FF86-4959-8312-523AE576C3AF}"/>
              </a:ext>
            </a:extLst>
          </p:cNvPr>
          <p:cNvSpPr/>
          <p:nvPr/>
        </p:nvSpPr>
        <p:spPr>
          <a:xfrm>
            <a:off x="5533299" y="1372394"/>
            <a:ext cx="2014336" cy="1471720"/>
          </a:xfrm>
          <a:prstGeom prst="foldedCorner">
            <a:avLst>
              <a:gd name="adj" fmla="val 21333"/>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2000" dirty="0">
                <a:solidFill>
                  <a:schemeClr val="tx1"/>
                </a:solidFill>
                <a:latin typeface="Gill Sans Light"/>
              </a:rPr>
              <a:t>Compiled</a:t>
            </a:r>
          </a:p>
          <a:p>
            <a:pPr algn="ctr"/>
            <a:r>
              <a:rPr lang="en-US" sz="2000" dirty="0">
                <a:solidFill>
                  <a:schemeClr val="tx1"/>
                </a:solidFill>
                <a:latin typeface="Gill Sans Light"/>
              </a:rPr>
              <a:t>Program</a:t>
            </a:r>
          </a:p>
        </p:txBody>
      </p:sp>
      <p:sp>
        <p:nvSpPr>
          <p:cNvPr id="83" name="Rectangle 82">
            <a:extLst>
              <a:ext uri="{FF2B5EF4-FFF2-40B4-BE49-F238E27FC236}">
                <a16:creationId xmlns:a16="http://schemas.microsoft.com/office/drawing/2014/main" id="{DCEED07B-2876-4266-8889-B6933456A2AD}"/>
              </a:ext>
            </a:extLst>
          </p:cNvPr>
          <p:cNvSpPr/>
          <p:nvPr/>
        </p:nvSpPr>
        <p:spPr>
          <a:xfrm>
            <a:off x="5780949" y="2322568"/>
            <a:ext cx="1343751" cy="464249"/>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Gill Sans Light"/>
              </a:rPr>
              <a:t>System Libs</a:t>
            </a:r>
          </a:p>
        </p:txBody>
      </p:sp>
      <p:cxnSp>
        <p:nvCxnSpPr>
          <p:cNvPr id="86" name="Straight Arrow Connector 85">
            <a:extLst>
              <a:ext uri="{FF2B5EF4-FFF2-40B4-BE49-F238E27FC236}">
                <a16:creationId xmlns:a16="http://schemas.microsoft.com/office/drawing/2014/main" id="{473344DE-150C-48E1-8B18-C5C21A140188}"/>
              </a:ext>
            </a:extLst>
          </p:cNvPr>
          <p:cNvCxnSpPr>
            <a:cxnSpLocks/>
            <a:endCxn id="72" idx="2"/>
          </p:cNvCxnSpPr>
          <p:nvPr/>
        </p:nvCxnSpPr>
        <p:spPr>
          <a:xfrm flipV="1">
            <a:off x="3527724" y="3726290"/>
            <a:ext cx="0" cy="91440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9" name="Straight Arrow Connector 88">
            <a:extLst>
              <a:ext uri="{FF2B5EF4-FFF2-40B4-BE49-F238E27FC236}">
                <a16:creationId xmlns:a16="http://schemas.microsoft.com/office/drawing/2014/main" id="{FD3737F0-3CFC-4168-9F6E-83512438F226}"/>
              </a:ext>
            </a:extLst>
          </p:cNvPr>
          <p:cNvCxnSpPr>
            <a:cxnSpLocks/>
            <a:endCxn id="74" idx="2"/>
          </p:cNvCxnSpPr>
          <p:nvPr/>
        </p:nvCxnSpPr>
        <p:spPr>
          <a:xfrm flipV="1">
            <a:off x="5660486" y="3729000"/>
            <a:ext cx="0" cy="91440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2" name="Straight Arrow Connector 91">
            <a:extLst>
              <a:ext uri="{FF2B5EF4-FFF2-40B4-BE49-F238E27FC236}">
                <a16:creationId xmlns:a16="http://schemas.microsoft.com/office/drawing/2014/main" id="{CAC55CD2-CE5F-4C43-BA56-7E0797FC6363}"/>
              </a:ext>
            </a:extLst>
          </p:cNvPr>
          <p:cNvCxnSpPr>
            <a:cxnSpLocks/>
            <a:endCxn id="75" idx="2"/>
          </p:cNvCxnSpPr>
          <p:nvPr/>
        </p:nvCxnSpPr>
        <p:spPr>
          <a:xfrm flipV="1">
            <a:off x="7472979" y="3728232"/>
            <a:ext cx="0" cy="91440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6" name="Straight Arrow Connector 95">
            <a:extLst>
              <a:ext uri="{FF2B5EF4-FFF2-40B4-BE49-F238E27FC236}">
                <a16:creationId xmlns:a16="http://schemas.microsoft.com/office/drawing/2014/main" id="{ED2027F6-02F0-4F88-AFB8-0786442C29E4}"/>
              </a:ext>
            </a:extLst>
          </p:cNvPr>
          <p:cNvCxnSpPr>
            <a:cxnSpLocks/>
            <a:endCxn id="76" idx="2"/>
          </p:cNvCxnSpPr>
          <p:nvPr/>
        </p:nvCxnSpPr>
        <p:spPr>
          <a:xfrm flipV="1">
            <a:off x="8814029" y="3728232"/>
            <a:ext cx="0" cy="91440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2" name="TextBox 71">
            <a:extLst>
              <a:ext uri="{FF2B5EF4-FFF2-40B4-BE49-F238E27FC236}">
                <a16:creationId xmlns:a16="http://schemas.microsoft.com/office/drawing/2014/main" id="{E4897103-5196-4D83-8C50-ED908C0B63F9}"/>
              </a:ext>
            </a:extLst>
          </p:cNvPr>
          <p:cNvSpPr txBox="1"/>
          <p:nvPr/>
        </p:nvSpPr>
        <p:spPr>
          <a:xfrm>
            <a:off x="2724436" y="3326180"/>
            <a:ext cx="1606576" cy="338554"/>
          </a:xfrm>
          <a:prstGeom prst="rect">
            <a:avLst/>
          </a:prstGeom>
          <a:solidFill>
            <a:srgbClr val="EFE683"/>
          </a:solidFill>
          <a:ln>
            <a:solidFill>
              <a:schemeClr val="tx1"/>
            </a:solidFill>
          </a:ln>
        </p:spPr>
        <p:txBody>
          <a:bodyPr wrap="square" rtlCol="0">
            <a:spAutoFit/>
          </a:bodyPr>
          <a:lstStyle/>
          <a:p>
            <a:pPr algn="ctr"/>
            <a:r>
              <a:rPr lang="en-US" sz="1600" b="1" i="1" dirty="0">
                <a:latin typeface="Gill Sans Light"/>
              </a:rPr>
              <a:t>Threads</a:t>
            </a:r>
          </a:p>
        </p:txBody>
      </p:sp>
      <p:sp>
        <p:nvSpPr>
          <p:cNvPr id="74" name="TextBox 73">
            <a:extLst>
              <a:ext uri="{FF2B5EF4-FFF2-40B4-BE49-F238E27FC236}">
                <a16:creationId xmlns:a16="http://schemas.microsoft.com/office/drawing/2014/main" id="{903AC2DB-5960-4CF0-B972-E1CDF92622A2}"/>
              </a:ext>
            </a:extLst>
          </p:cNvPr>
          <p:cNvSpPr txBox="1"/>
          <p:nvPr/>
        </p:nvSpPr>
        <p:spPr>
          <a:xfrm>
            <a:off x="4695968" y="3328890"/>
            <a:ext cx="1929036" cy="338554"/>
          </a:xfrm>
          <a:prstGeom prst="rect">
            <a:avLst/>
          </a:prstGeom>
          <a:solidFill>
            <a:srgbClr val="EFE683"/>
          </a:solidFill>
          <a:ln>
            <a:solidFill>
              <a:schemeClr val="tx1"/>
            </a:solidFill>
          </a:ln>
        </p:spPr>
        <p:txBody>
          <a:bodyPr wrap="square" rtlCol="0">
            <a:spAutoFit/>
          </a:bodyPr>
          <a:lstStyle/>
          <a:p>
            <a:pPr algn="ctr"/>
            <a:r>
              <a:rPr lang="en-US" sz="1600" b="1" i="1" dirty="0">
                <a:latin typeface="Gill Sans Light"/>
              </a:rPr>
              <a:t>Address Spaces</a:t>
            </a:r>
          </a:p>
        </p:txBody>
      </p:sp>
      <p:sp>
        <p:nvSpPr>
          <p:cNvPr id="75" name="TextBox 74">
            <a:extLst>
              <a:ext uri="{FF2B5EF4-FFF2-40B4-BE49-F238E27FC236}">
                <a16:creationId xmlns:a16="http://schemas.microsoft.com/office/drawing/2014/main" id="{AD4C368E-047B-4BC3-8012-71A6CC7B5378}"/>
              </a:ext>
            </a:extLst>
          </p:cNvPr>
          <p:cNvSpPr txBox="1"/>
          <p:nvPr/>
        </p:nvSpPr>
        <p:spPr>
          <a:xfrm>
            <a:off x="6989960" y="3328122"/>
            <a:ext cx="966038" cy="338554"/>
          </a:xfrm>
          <a:prstGeom prst="rect">
            <a:avLst/>
          </a:prstGeom>
          <a:solidFill>
            <a:srgbClr val="EFE683"/>
          </a:solidFill>
          <a:ln>
            <a:solidFill>
              <a:schemeClr val="tx1"/>
            </a:solidFill>
          </a:ln>
        </p:spPr>
        <p:txBody>
          <a:bodyPr wrap="square" rtlCol="0">
            <a:spAutoFit/>
          </a:bodyPr>
          <a:lstStyle/>
          <a:p>
            <a:pPr algn="ctr"/>
            <a:r>
              <a:rPr lang="en-US" sz="1600" b="1" i="1" dirty="0">
                <a:latin typeface="Gill Sans Light"/>
              </a:rPr>
              <a:t>Files</a:t>
            </a:r>
          </a:p>
        </p:txBody>
      </p:sp>
      <p:sp>
        <p:nvSpPr>
          <p:cNvPr id="76" name="TextBox 75">
            <a:extLst>
              <a:ext uri="{FF2B5EF4-FFF2-40B4-BE49-F238E27FC236}">
                <a16:creationId xmlns:a16="http://schemas.microsoft.com/office/drawing/2014/main" id="{8ED3D70A-C8B7-4AAE-8DB5-86A5FF23DEF3}"/>
              </a:ext>
            </a:extLst>
          </p:cNvPr>
          <p:cNvSpPr txBox="1"/>
          <p:nvPr/>
        </p:nvSpPr>
        <p:spPr>
          <a:xfrm>
            <a:off x="8320954" y="3328122"/>
            <a:ext cx="986150" cy="338554"/>
          </a:xfrm>
          <a:prstGeom prst="rect">
            <a:avLst/>
          </a:prstGeom>
          <a:solidFill>
            <a:srgbClr val="EFE683"/>
          </a:solidFill>
          <a:ln>
            <a:solidFill>
              <a:schemeClr val="tx1"/>
            </a:solidFill>
          </a:ln>
        </p:spPr>
        <p:txBody>
          <a:bodyPr wrap="square" rtlCol="0">
            <a:spAutoFit/>
          </a:bodyPr>
          <a:lstStyle/>
          <a:p>
            <a:pPr algn="ctr"/>
            <a:r>
              <a:rPr lang="en-US" sz="1600" b="1" i="1" dirty="0">
                <a:latin typeface="Gill Sans Light"/>
              </a:rPr>
              <a:t>Sockets</a:t>
            </a:r>
          </a:p>
        </p:txBody>
      </p:sp>
    </p:spTree>
    <p:extLst>
      <p:ext uri="{BB962C8B-B14F-4D97-AF65-F5344CB8AC3E}">
        <p14:creationId xmlns:p14="http://schemas.microsoft.com/office/powerpoint/2010/main" val="305654503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6"/>
                                        </p:tgtEl>
                                        <p:attrNameLst>
                                          <p:attrName>style.visibility</p:attrName>
                                        </p:attrNameLst>
                                      </p:cBhvr>
                                      <p:to>
                                        <p:strVal val="visible"/>
                                      </p:to>
                                    </p:set>
                                  </p:childTnLst>
                                </p:cTn>
                              </p:par>
                              <p:par>
                                <p:cTn id="11" presetID="10" presetClass="entr" presetSubtype="0" fill="hold" grpId="0" nodeType="withEffect">
                                  <p:stCondLst>
                                    <p:cond delay="0"/>
                                  </p:stCondLst>
                                  <p:childTnLst>
                                    <p:set>
                                      <p:cBhvr>
                                        <p:cTn id="12" dur="1" fill="hold">
                                          <p:stCondLst>
                                            <p:cond delay="0"/>
                                          </p:stCondLst>
                                        </p:cTn>
                                        <p:tgtEl>
                                          <p:spTgt spid="72"/>
                                        </p:tgtEl>
                                        <p:attrNameLst>
                                          <p:attrName>style.visibility</p:attrName>
                                        </p:attrNameLst>
                                      </p:cBhvr>
                                      <p:to>
                                        <p:strVal val="visible"/>
                                      </p:to>
                                    </p:set>
                                    <p:animEffect transition="in" filter="fade">
                                      <p:cBhvr>
                                        <p:cTn id="13" dur="500"/>
                                        <p:tgtEl>
                                          <p:spTgt spid="72"/>
                                        </p:tgtEl>
                                      </p:cBhvr>
                                    </p:animEffect>
                                  </p:childTnLst>
                                </p:cTn>
                              </p:par>
                              <p:par>
                                <p:cTn id="14" presetID="42" presetClass="path" presetSubtype="0" fill="hold" grpId="1" nodeType="withEffect">
                                  <p:stCondLst>
                                    <p:cond delay="0"/>
                                  </p:stCondLst>
                                  <p:childTnLst>
                                    <p:animMotion origin="layout" path="M -2.91667E-6 -7.40741E-7 L -2.91667E-6 0.25 " pathEditMode="relative" rAng="0" ptsTypes="AA">
                                      <p:cBhvr>
                                        <p:cTn id="15" dur="1000" spd="-100000" fill="hold"/>
                                        <p:tgtEl>
                                          <p:spTgt spid="72"/>
                                        </p:tgtEl>
                                        <p:attrNameLst>
                                          <p:attrName>ppt_x</p:attrName>
                                          <p:attrName>ppt_y</p:attrName>
                                        </p:attrNameLst>
                                      </p:cBhvr>
                                      <p:rCtr x="0" y="12500"/>
                                    </p:animMotion>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89"/>
                                        </p:tgtEl>
                                        <p:attrNameLst>
                                          <p:attrName>style.visibility</p:attrName>
                                        </p:attrNameLst>
                                      </p:cBhvr>
                                      <p:to>
                                        <p:strVal val="visible"/>
                                      </p:to>
                                    </p:set>
                                  </p:childTnLst>
                                </p:cTn>
                              </p:par>
                              <p:par>
                                <p:cTn id="20" presetID="10" presetClass="entr" presetSubtype="0" fill="hold" grpId="1" nodeType="withEffect">
                                  <p:stCondLst>
                                    <p:cond delay="0"/>
                                  </p:stCondLst>
                                  <p:childTnLst>
                                    <p:set>
                                      <p:cBhvr>
                                        <p:cTn id="21" dur="1" fill="hold">
                                          <p:stCondLst>
                                            <p:cond delay="0"/>
                                          </p:stCondLst>
                                        </p:cTn>
                                        <p:tgtEl>
                                          <p:spTgt spid="74"/>
                                        </p:tgtEl>
                                        <p:attrNameLst>
                                          <p:attrName>style.visibility</p:attrName>
                                        </p:attrNameLst>
                                      </p:cBhvr>
                                      <p:to>
                                        <p:strVal val="visible"/>
                                      </p:to>
                                    </p:set>
                                    <p:animEffect transition="in" filter="fade">
                                      <p:cBhvr>
                                        <p:cTn id="22" dur="500"/>
                                        <p:tgtEl>
                                          <p:spTgt spid="74"/>
                                        </p:tgtEl>
                                      </p:cBhvr>
                                    </p:animEffect>
                                  </p:childTnLst>
                                </p:cTn>
                              </p:par>
                              <p:par>
                                <p:cTn id="23" presetID="42" presetClass="path" presetSubtype="0" fill="hold" grpId="0" nodeType="withEffect">
                                  <p:stCondLst>
                                    <p:cond delay="0"/>
                                  </p:stCondLst>
                                  <p:childTnLst>
                                    <p:animMotion origin="layout" path="M -2.70833E-6 -3.7037E-6 L -2.70833E-6 0.25 " pathEditMode="relative" rAng="0" ptsTypes="AA">
                                      <p:cBhvr>
                                        <p:cTn id="24" dur="1000" spd="-100000" fill="hold"/>
                                        <p:tgtEl>
                                          <p:spTgt spid="74"/>
                                        </p:tgtEl>
                                        <p:attrNameLst>
                                          <p:attrName>ppt_x</p:attrName>
                                          <p:attrName>ppt_y</p:attrName>
                                        </p:attrNameLst>
                                      </p:cBhvr>
                                      <p:rCtr x="0" y="12500"/>
                                    </p:animMotion>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92"/>
                                        </p:tgtEl>
                                        <p:attrNameLst>
                                          <p:attrName>style.visibility</p:attrName>
                                        </p:attrNameLst>
                                      </p:cBhvr>
                                      <p:to>
                                        <p:strVal val="visible"/>
                                      </p:to>
                                    </p:set>
                                  </p:childTnLst>
                                </p:cTn>
                              </p:par>
                              <p:par>
                                <p:cTn id="29" presetID="10" presetClass="entr" presetSubtype="0" fill="hold" grpId="0" nodeType="withEffect">
                                  <p:stCondLst>
                                    <p:cond delay="0"/>
                                  </p:stCondLst>
                                  <p:childTnLst>
                                    <p:set>
                                      <p:cBhvr>
                                        <p:cTn id="30" dur="1" fill="hold">
                                          <p:stCondLst>
                                            <p:cond delay="0"/>
                                          </p:stCondLst>
                                        </p:cTn>
                                        <p:tgtEl>
                                          <p:spTgt spid="75"/>
                                        </p:tgtEl>
                                        <p:attrNameLst>
                                          <p:attrName>style.visibility</p:attrName>
                                        </p:attrNameLst>
                                      </p:cBhvr>
                                      <p:to>
                                        <p:strVal val="visible"/>
                                      </p:to>
                                    </p:set>
                                    <p:animEffect transition="in" filter="fade">
                                      <p:cBhvr>
                                        <p:cTn id="31" dur="500"/>
                                        <p:tgtEl>
                                          <p:spTgt spid="75"/>
                                        </p:tgtEl>
                                      </p:cBhvr>
                                    </p:animEffect>
                                  </p:childTnLst>
                                </p:cTn>
                              </p:par>
                              <p:par>
                                <p:cTn id="32" presetID="42" presetClass="path" presetSubtype="0" fill="hold" grpId="1" nodeType="withEffect">
                                  <p:stCondLst>
                                    <p:cond delay="0"/>
                                  </p:stCondLst>
                                  <p:childTnLst>
                                    <p:animMotion origin="layout" path="M -6.25E-7 -3.7037E-6 L -6.25E-7 0.25 " pathEditMode="relative" rAng="0" ptsTypes="AA">
                                      <p:cBhvr>
                                        <p:cTn id="33" dur="1000" spd="-100000" fill="hold"/>
                                        <p:tgtEl>
                                          <p:spTgt spid="75"/>
                                        </p:tgtEl>
                                        <p:attrNameLst>
                                          <p:attrName>ppt_x</p:attrName>
                                          <p:attrName>ppt_y</p:attrName>
                                        </p:attrNameLst>
                                      </p:cBhvr>
                                      <p:rCtr x="0" y="12500"/>
                                    </p:animMotion>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96"/>
                                        </p:tgtEl>
                                        <p:attrNameLst>
                                          <p:attrName>style.visibility</p:attrName>
                                        </p:attrNameLst>
                                      </p:cBhvr>
                                      <p:to>
                                        <p:strVal val="visible"/>
                                      </p:to>
                                    </p:set>
                                  </p:childTnLst>
                                </p:cTn>
                              </p:par>
                              <p:par>
                                <p:cTn id="38" presetID="10" presetClass="entr" presetSubtype="0" fill="hold" grpId="0" nodeType="withEffect">
                                  <p:stCondLst>
                                    <p:cond delay="0"/>
                                  </p:stCondLst>
                                  <p:childTnLst>
                                    <p:set>
                                      <p:cBhvr>
                                        <p:cTn id="39" dur="1" fill="hold">
                                          <p:stCondLst>
                                            <p:cond delay="0"/>
                                          </p:stCondLst>
                                        </p:cTn>
                                        <p:tgtEl>
                                          <p:spTgt spid="76"/>
                                        </p:tgtEl>
                                        <p:attrNameLst>
                                          <p:attrName>style.visibility</p:attrName>
                                        </p:attrNameLst>
                                      </p:cBhvr>
                                      <p:to>
                                        <p:strVal val="visible"/>
                                      </p:to>
                                    </p:set>
                                    <p:animEffect transition="in" filter="fade">
                                      <p:cBhvr>
                                        <p:cTn id="40" dur="500"/>
                                        <p:tgtEl>
                                          <p:spTgt spid="76"/>
                                        </p:tgtEl>
                                      </p:cBhvr>
                                    </p:animEffect>
                                  </p:childTnLst>
                                </p:cTn>
                              </p:par>
                              <p:par>
                                <p:cTn id="41" presetID="42" presetClass="path" presetSubtype="0" fill="hold" grpId="1" nodeType="withEffect">
                                  <p:stCondLst>
                                    <p:cond delay="0"/>
                                  </p:stCondLst>
                                  <p:childTnLst>
                                    <p:animMotion origin="layout" path="M 3.33333E-6 -3.7037E-6 L 3.33333E-6 0.25 " pathEditMode="relative" rAng="0" ptsTypes="AA">
                                      <p:cBhvr>
                                        <p:cTn id="42" dur="1000" spd="-100000" fill="hold"/>
                                        <p:tgtEl>
                                          <p:spTgt spid="76"/>
                                        </p:tgtEl>
                                        <p:attrNameLst>
                                          <p:attrName>ppt_x</p:attrName>
                                          <p:attrName>ppt_y</p:attrName>
                                        </p:attrNameLst>
                                      </p:cBhvr>
                                      <p:rCtr x="0" y="12500"/>
                                    </p:animMotion>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8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8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8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 grpId="0" animBg="1"/>
      <p:bldP spid="80" grpId="0" animBg="1"/>
      <p:bldP spid="81" grpId="0" animBg="1"/>
      <p:bldP spid="83" grpId="0" animBg="1"/>
      <p:bldP spid="72" grpId="0" animBg="1"/>
      <p:bldP spid="72" grpId="1" animBg="1"/>
      <p:bldP spid="74" grpId="0" animBg="1"/>
      <p:bldP spid="74" grpId="1" animBg="1"/>
      <p:bldP spid="75" grpId="0" animBg="1"/>
      <p:bldP spid="75" grpId="1" animBg="1"/>
      <p:bldP spid="76" grpId="0" animBg="1"/>
      <p:bldP spid="76" grpId="1"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3193DD4-304A-4B76-81C9-FBF787FE779B}"/>
              </a:ext>
            </a:extLst>
          </p:cNvPr>
          <p:cNvSpPr/>
          <p:nvPr/>
        </p:nvSpPr>
        <p:spPr bwMode="auto">
          <a:xfrm>
            <a:off x="654050" y="4470400"/>
            <a:ext cx="11118850" cy="1689099"/>
          </a:xfrm>
          <a:prstGeom prst="rect">
            <a:avLst/>
          </a:prstGeom>
          <a:pattFill prst="horzBrick">
            <a:fgClr>
              <a:schemeClr val="bg2">
                <a:lumMod val="40000"/>
                <a:lumOff val="60000"/>
              </a:schemeClr>
            </a:fgClr>
            <a:bgClr>
              <a:prstClr val="white"/>
            </a:bgClr>
          </a:patt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dirty="0">
              <a:ln>
                <a:noFill/>
              </a:ln>
              <a:solidFill>
                <a:schemeClr val="tx1"/>
              </a:solidFill>
              <a:effectLst/>
              <a:latin typeface="Gill Sans Light"/>
            </a:endParaRPr>
          </a:p>
        </p:txBody>
      </p:sp>
      <p:sp>
        <p:nvSpPr>
          <p:cNvPr id="8" name="Rounded Rectangle 6">
            <a:extLst>
              <a:ext uri="{FF2B5EF4-FFF2-40B4-BE49-F238E27FC236}">
                <a16:creationId xmlns:a16="http://schemas.microsoft.com/office/drawing/2014/main" id="{EA9B6AFF-D750-4502-865E-E3737510EED0}"/>
              </a:ext>
            </a:extLst>
          </p:cNvPr>
          <p:cNvSpPr/>
          <p:nvPr/>
        </p:nvSpPr>
        <p:spPr bwMode="auto">
          <a:xfrm>
            <a:off x="2201858" y="4618038"/>
            <a:ext cx="1728792" cy="838200"/>
          </a:xfrm>
          <a:prstGeom prst="roundRect">
            <a:avLst/>
          </a:prstGeom>
          <a:solidFill>
            <a:schemeClr val="accent1">
              <a:lumMod val="40000"/>
              <a:lumOff val="6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Gill Sans Light"/>
              </a:rPr>
              <a:t>Processor</a:t>
            </a:r>
            <a:endParaRPr kumimoji="0" lang="en-US" sz="1400" b="0" i="0" u="none" strike="noStrike" cap="none" normalizeH="0" baseline="0" dirty="0">
              <a:ln>
                <a:noFill/>
              </a:ln>
              <a:solidFill>
                <a:schemeClr val="tx1"/>
              </a:solidFill>
              <a:effectLst/>
              <a:latin typeface="Gill Sans Light"/>
            </a:endParaRPr>
          </a:p>
        </p:txBody>
      </p:sp>
      <p:sp>
        <p:nvSpPr>
          <p:cNvPr id="9" name="Rectangle 8">
            <a:extLst>
              <a:ext uri="{FF2B5EF4-FFF2-40B4-BE49-F238E27FC236}">
                <a16:creationId xmlns:a16="http://schemas.microsoft.com/office/drawing/2014/main" id="{85025C03-FC2A-4CCF-8684-4F37D94D3763}"/>
              </a:ext>
            </a:extLst>
          </p:cNvPr>
          <p:cNvSpPr/>
          <p:nvPr/>
        </p:nvSpPr>
        <p:spPr bwMode="auto">
          <a:xfrm>
            <a:off x="5009666" y="4664869"/>
            <a:ext cx="1760608" cy="973138"/>
          </a:xfrm>
          <a:prstGeom prst="rect">
            <a:avLst/>
          </a:prstGeom>
          <a:solidFill>
            <a:srgbClr val="5AAEFF"/>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Gill Sans Light"/>
              </a:rPr>
              <a:t>Memory</a:t>
            </a:r>
          </a:p>
        </p:txBody>
      </p:sp>
      <p:grpSp>
        <p:nvGrpSpPr>
          <p:cNvPr id="10" name="Group 9">
            <a:extLst>
              <a:ext uri="{FF2B5EF4-FFF2-40B4-BE49-F238E27FC236}">
                <a16:creationId xmlns:a16="http://schemas.microsoft.com/office/drawing/2014/main" id="{4C2174B6-519D-44F7-A8CB-C9D9304FB602}"/>
              </a:ext>
            </a:extLst>
          </p:cNvPr>
          <p:cNvGrpSpPr/>
          <p:nvPr/>
        </p:nvGrpSpPr>
        <p:grpSpPr>
          <a:xfrm>
            <a:off x="3244850" y="5075238"/>
            <a:ext cx="533400" cy="304800"/>
            <a:chOff x="3124200" y="3657600"/>
            <a:chExt cx="533400" cy="304800"/>
          </a:xfrm>
        </p:grpSpPr>
        <p:sp>
          <p:nvSpPr>
            <p:cNvPr id="11" name="Rectangle 10">
              <a:extLst>
                <a:ext uri="{FF2B5EF4-FFF2-40B4-BE49-F238E27FC236}">
                  <a16:creationId xmlns:a16="http://schemas.microsoft.com/office/drawing/2014/main" id="{EFBA6894-B008-4F1D-B22C-730173B3DFD4}"/>
                </a:ext>
              </a:extLst>
            </p:cNvPr>
            <p:cNvSpPr/>
            <p:nvPr/>
          </p:nvSpPr>
          <p:spPr bwMode="auto">
            <a:xfrm>
              <a:off x="3124200" y="3657600"/>
              <a:ext cx="533400" cy="304800"/>
            </a:xfrm>
            <a:prstGeom prst="rect">
              <a:avLst/>
            </a:prstGeom>
            <a:no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sp>
          <p:nvSpPr>
            <p:cNvPr id="12" name="Rectangle 11">
              <a:extLst>
                <a:ext uri="{FF2B5EF4-FFF2-40B4-BE49-F238E27FC236}">
                  <a16:creationId xmlns:a16="http://schemas.microsoft.com/office/drawing/2014/main" id="{F6B854A3-399D-4E47-BB10-B204E22F6207}"/>
                </a:ext>
              </a:extLst>
            </p:cNvPr>
            <p:cNvSpPr/>
            <p:nvPr/>
          </p:nvSpPr>
          <p:spPr bwMode="auto">
            <a:xfrm>
              <a:off x="3124200" y="3733800"/>
              <a:ext cx="533400" cy="152400"/>
            </a:xfrm>
            <a:prstGeom prst="rect">
              <a:avLst/>
            </a:prstGeom>
            <a:no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grpSp>
      <p:sp>
        <p:nvSpPr>
          <p:cNvPr id="15" name="Rectangle 14">
            <a:extLst>
              <a:ext uri="{FF2B5EF4-FFF2-40B4-BE49-F238E27FC236}">
                <a16:creationId xmlns:a16="http://schemas.microsoft.com/office/drawing/2014/main" id="{5590399D-D2AD-4FCF-BFD2-DB8D8F919509}"/>
              </a:ext>
            </a:extLst>
          </p:cNvPr>
          <p:cNvSpPr/>
          <p:nvPr/>
        </p:nvSpPr>
        <p:spPr bwMode="auto">
          <a:xfrm>
            <a:off x="5433151" y="5013315"/>
            <a:ext cx="609600" cy="381000"/>
          </a:xfrm>
          <a:prstGeom prst="rect">
            <a:avLst/>
          </a:prstGeom>
          <a:solidFill>
            <a:srgbClr val="FBBA03"/>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sp>
        <p:nvSpPr>
          <p:cNvPr id="16" name="Rectangle 15">
            <a:extLst>
              <a:ext uri="{FF2B5EF4-FFF2-40B4-BE49-F238E27FC236}">
                <a16:creationId xmlns:a16="http://schemas.microsoft.com/office/drawing/2014/main" id="{7114092D-E1CB-4952-8CAA-BD6429870DAC}"/>
              </a:ext>
            </a:extLst>
          </p:cNvPr>
          <p:cNvSpPr/>
          <p:nvPr/>
        </p:nvSpPr>
        <p:spPr bwMode="auto">
          <a:xfrm>
            <a:off x="5302250" y="5104607"/>
            <a:ext cx="609600" cy="381000"/>
          </a:xfrm>
          <a:prstGeom prst="rect">
            <a:avLst/>
          </a:prstGeom>
          <a:solidFill>
            <a:srgbClr val="CC3333"/>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sp>
        <p:nvSpPr>
          <p:cNvPr id="13" name="Rectangle 12">
            <a:extLst>
              <a:ext uri="{FF2B5EF4-FFF2-40B4-BE49-F238E27FC236}">
                <a16:creationId xmlns:a16="http://schemas.microsoft.com/office/drawing/2014/main" id="{4A1809EB-73C2-4CF6-B753-8F1B20E63381}"/>
              </a:ext>
            </a:extLst>
          </p:cNvPr>
          <p:cNvSpPr/>
          <p:nvPr/>
        </p:nvSpPr>
        <p:spPr bwMode="auto">
          <a:xfrm>
            <a:off x="5171349" y="5188015"/>
            <a:ext cx="609600" cy="396832"/>
          </a:xfrm>
          <a:prstGeom prst="rect">
            <a:avLst/>
          </a:prstGeom>
          <a:solidFill>
            <a:schemeClr val="accent2">
              <a:lumMod val="40000"/>
              <a:lumOff val="6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grpSp>
        <p:nvGrpSpPr>
          <p:cNvPr id="19" name="Group 18">
            <a:extLst>
              <a:ext uri="{FF2B5EF4-FFF2-40B4-BE49-F238E27FC236}">
                <a16:creationId xmlns:a16="http://schemas.microsoft.com/office/drawing/2014/main" id="{E3801482-024B-4578-81D6-B8D5101ACF77}"/>
              </a:ext>
            </a:extLst>
          </p:cNvPr>
          <p:cNvGrpSpPr/>
          <p:nvPr/>
        </p:nvGrpSpPr>
        <p:grpSpPr>
          <a:xfrm>
            <a:off x="4432116" y="4603105"/>
            <a:ext cx="712053" cy="710043"/>
            <a:chOff x="4121335" y="2654300"/>
            <a:chExt cx="712053" cy="828477"/>
          </a:xfrm>
        </p:grpSpPr>
        <p:sp>
          <p:nvSpPr>
            <p:cNvPr id="20" name="Rectangle 19">
              <a:extLst>
                <a:ext uri="{FF2B5EF4-FFF2-40B4-BE49-F238E27FC236}">
                  <a16:creationId xmlns:a16="http://schemas.microsoft.com/office/drawing/2014/main" id="{5E4894ED-F264-49FF-B7AB-BA4E6C68158A}"/>
                </a:ext>
              </a:extLst>
            </p:cNvPr>
            <p:cNvSpPr/>
            <p:nvPr/>
          </p:nvSpPr>
          <p:spPr bwMode="auto">
            <a:xfrm>
              <a:off x="4178300" y="2720777"/>
              <a:ext cx="609598" cy="762000"/>
            </a:xfrm>
            <a:prstGeom prst="rect">
              <a:avLst/>
            </a:prstGeom>
            <a:solidFill>
              <a:schemeClr val="bg2"/>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sp>
          <p:nvSpPr>
            <p:cNvPr id="21" name="TextBox 20">
              <a:extLst>
                <a:ext uri="{FF2B5EF4-FFF2-40B4-BE49-F238E27FC236}">
                  <a16:creationId xmlns:a16="http://schemas.microsoft.com/office/drawing/2014/main" id="{C80A16C0-CBEC-4DD9-AD38-2EB7C3ECDF3A}"/>
                </a:ext>
              </a:extLst>
            </p:cNvPr>
            <p:cNvSpPr txBox="1"/>
            <p:nvPr/>
          </p:nvSpPr>
          <p:spPr>
            <a:xfrm>
              <a:off x="4121335" y="2654300"/>
              <a:ext cx="712053" cy="610492"/>
            </a:xfrm>
            <a:prstGeom prst="rect">
              <a:avLst/>
            </a:prstGeom>
            <a:noFill/>
          </p:spPr>
          <p:txBody>
            <a:bodyPr wrap="none" rtlCol="0">
              <a:spAutoFit/>
            </a:bodyPr>
            <a:lstStyle/>
            <a:p>
              <a:pPr algn="ctr"/>
              <a:r>
                <a:rPr lang="en-US" sz="1400" dirty="0" err="1">
                  <a:latin typeface="Gill Sans Light"/>
                </a:rPr>
                <a:t>PgTbl</a:t>
              </a:r>
              <a:endParaRPr lang="en-US" sz="1400" dirty="0">
                <a:latin typeface="Gill Sans Light"/>
              </a:endParaRPr>
            </a:p>
            <a:p>
              <a:pPr algn="ctr"/>
              <a:r>
                <a:rPr lang="en-US" sz="1400" dirty="0">
                  <a:latin typeface="Gill Sans Light"/>
                </a:rPr>
                <a:t>&amp; TLB</a:t>
              </a:r>
            </a:p>
          </p:txBody>
        </p:sp>
      </p:grpSp>
      <p:cxnSp>
        <p:nvCxnSpPr>
          <p:cNvPr id="22" name="Straight Arrow Connector 21">
            <a:extLst>
              <a:ext uri="{FF2B5EF4-FFF2-40B4-BE49-F238E27FC236}">
                <a16:creationId xmlns:a16="http://schemas.microsoft.com/office/drawing/2014/main" id="{52D33204-BC10-46FF-B132-F33C746DE9B8}"/>
              </a:ext>
            </a:extLst>
          </p:cNvPr>
          <p:cNvCxnSpPr>
            <a:cxnSpLocks/>
          </p:cNvCxnSpPr>
          <p:nvPr/>
        </p:nvCxnSpPr>
        <p:spPr bwMode="auto">
          <a:xfrm flipV="1">
            <a:off x="3930650" y="5232303"/>
            <a:ext cx="1273102" cy="2471"/>
          </a:xfrm>
          <a:prstGeom prst="straightConnector1">
            <a:avLst/>
          </a:prstGeom>
          <a:solidFill>
            <a:schemeClr val="accent1"/>
          </a:solidFill>
          <a:ln w="57150" cap="flat" cmpd="sng" algn="ctr">
            <a:solidFill>
              <a:schemeClr val="tx1"/>
            </a:solidFill>
            <a:prstDash val="solid"/>
            <a:round/>
            <a:headEnd type="triangle" w="med" len="med"/>
            <a:tailEnd type="triangle"/>
          </a:ln>
          <a:effectLst/>
        </p:spPr>
      </p:cxnSp>
      <p:cxnSp>
        <p:nvCxnSpPr>
          <p:cNvPr id="17" name="Curved Connector 54">
            <a:extLst>
              <a:ext uri="{FF2B5EF4-FFF2-40B4-BE49-F238E27FC236}">
                <a16:creationId xmlns:a16="http://schemas.microsoft.com/office/drawing/2014/main" id="{1C7D6572-FBEF-45D3-B9EB-4A6924279104}"/>
              </a:ext>
            </a:extLst>
          </p:cNvPr>
          <p:cNvCxnSpPr>
            <a:cxnSpLocks/>
          </p:cNvCxnSpPr>
          <p:nvPr/>
        </p:nvCxnSpPr>
        <p:spPr bwMode="auto">
          <a:xfrm>
            <a:off x="3600451" y="5265655"/>
            <a:ext cx="1775551" cy="217481"/>
          </a:xfrm>
          <a:prstGeom prst="curvedConnector3">
            <a:avLst>
              <a:gd name="adj1" fmla="val 23535"/>
            </a:avLst>
          </a:prstGeom>
          <a:solidFill>
            <a:schemeClr val="accent1"/>
          </a:solidFill>
          <a:ln w="22225" cap="flat" cmpd="sng" algn="ctr">
            <a:solidFill>
              <a:schemeClr val="tx1"/>
            </a:solidFill>
            <a:prstDash val="solid"/>
            <a:round/>
            <a:headEnd type="triangle" w="sm" len="sm"/>
            <a:tailEnd type="triangle"/>
          </a:ln>
          <a:effectLst/>
        </p:spPr>
      </p:cxnSp>
      <p:sp>
        <p:nvSpPr>
          <p:cNvPr id="26" name="Can 38">
            <a:extLst>
              <a:ext uri="{FF2B5EF4-FFF2-40B4-BE49-F238E27FC236}">
                <a16:creationId xmlns:a16="http://schemas.microsoft.com/office/drawing/2014/main" id="{2D66A6BA-E078-4243-A542-4EDF0004EFC1}"/>
              </a:ext>
            </a:extLst>
          </p:cNvPr>
          <p:cNvSpPr/>
          <p:nvPr/>
        </p:nvSpPr>
        <p:spPr bwMode="auto">
          <a:xfrm>
            <a:off x="6978098" y="4601091"/>
            <a:ext cx="977900" cy="973138"/>
          </a:xfrm>
          <a:prstGeom prst="can">
            <a:avLst/>
          </a:prstGeom>
          <a:solidFill>
            <a:srgbClr val="5AAEFF"/>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600" dirty="0">
                <a:latin typeface="Gill Sans Light"/>
              </a:rPr>
              <a:t>Storage</a:t>
            </a:r>
            <a:endParaRPr kumimoji="0" lang="en-US" sz="1600" b="0" i="0" u="none" strike="noStrike" cap="none" normalizeH="0" baseline="0" dirty="0">
              <a:ln>
                <a:noFill/>
              </a:ln>
              <a:solidFill>
                <a:schemeClr val="tx1"/>
              </a:solidFill>
              <a:effectLst/>
              <a:latin typeface="Gill Sans Light"/>
            </a:endParaRPr>
          </a:p>
        </p:txBody>
      </p:sp>
      <p:pic>
        <p:nvPicPr>
          <p:cNvPr id="27" name="Picture 26">
            <a:extLst>
              <a:ext uri="{FF2B5EF4-FFF2-40B4-BE49-F238E27FC236}">
                <a16:creationId xmlns:a16="http://schemas.microsoft.com/office/drawing/2014/main" id="{57205715-3232-4739-82EE-E1D9E0C153A6}"/>
              </a:ext>
            </a:extLst>
          </p:cNvPr>
          <p:cNvPicPr>
            <a:picLocks noChangeAspect="1"/>
          </p:cNvPicPr>
          <p:nvPr/>
        </p:nvPicPr>
        <p:blipFill>
          <a:blip r:embed="rId2">
            <a:clrChange>
              <a:clrFrom>
                <a:srgbClr val="FFFFFF"/>
              </a:clrFrom>
              <a:clrTo>
                <a:srgbClr val="FFFFFF">
                  <a:alpha val="0"/>
                </a:srgbClr>
              </a:clrTo>
            </a:clrChange>
          </a:blip>
          <a:stretch>
            <a:fillRect/>
          </a:stretch>
        </p:blipFill>
        <p:spPr>
          <a:xfrm flipH="1">
            <a:off x="8302804" y="4559299"/>
            <a:ext cx="1270482" cy="1270482"/>
          </a:xfrm>
          <a:prstGeom prst="rect">
            <a:avLst/>
          </a:prstGeom>
        </p:spPr>
      </p:pic>
      <p:sp>
        <p:nvSpPr>
          <p:cNvPr id="31" name="TextBox 30">
            <a:extLst>
              <a:ext uri="{FF2B5EF4-FFF2-40B4-BE49-F238E27FC236}">
                <a16:creationId xmlns:a16="http://schemas.microsoft.com/office/drawing/2014/main" id="{A8A63F55-8F57-4FCF-A466-B7ABFA7D293F}"/>
              </a:ext>
            </a:extLst>
          </p:cNvPr>
          <p:cNvSpPr txBox="1"/>
          <p:nvPr/>
        </p:nvSpPr>
        <p:spPr>
          <a:xfrm>
            <a:off x="8315784" y="4518076"/>
            <a:ext cx="1107996" cy="338554"/>
          </a:xfrm>
          <a:prstGeom prst="rect">
            <a:avLst/>
          </a:prstGeom>
          <a:noFill/>
        </p:spPr>
        <p:txBody>
          <a:bodyPr wrap="none" rtlCol="0">
            <a:spAutoFit/>
          </a:bodyPr>
          <a:lstStyle/>
          <a:p>
            <a:pPr algn="ctr"/>
            <a:r>
              <a:rPr lang="en-US" sz="1600" dirty="0">
                <a:latin typeface="Gill Sans Light"/>
              </a:rPr>
              <a:t>Networks</a:t>
            </a:r>
          </a:p>
        </p:txBody>
      </p:sp>
      <p:sp>
        <p:nvSpPr>
          <p:cNvPr id="34" name="TextBox 33">
            <a:extLst>
              <a:ext uri="{FF2B5EF4-FFF2-40B4-BE49-F238E27FC236}">
                <a16:creationId xmlns:a16="http://schemas.microsoft.com/office/drawing/2014/main" id="{5A2B64A6-5DE4-40BC-B41E-052C2DBBB4E8}"/>
              </a:ext>
            </a:extLst>
          </p:cNvPr>
          <p:cNvSpPr txBox="1"/>
          <p:nvPr/>
        </p:nvSpPr>
        <p:spPr>
          <a:xfrm>
            <a:off x="631271" y="4919941"/>
            <a:ext cx="1353256" cy="400110"/>
          </a:xfrm>
          <a:prstGeom prst="rect">
            <a:avLst/>
          </a:prstGeom>
          <a:noFill/>
        </p:spPr>
        <p:txBody>
          <a:bodyPr wrap="none" rtlCol="0">
            <a:spAutoFit/>
          </a:bodyPr>
          <a:lstStyle/>
          <a:p>
            <a:r>
              <a:rPr lang="en-US" sz="2000" dirty="0">
                <a:latin typeface="Gill Sans Light"/>
              </a:rPr>
              <a:t>Hardware</a:t>
            </a:r>
          </a:p>
        </p:txBody>
      </p:sp>
      <p:cxnSp>
        <p:nvCxnSpPr>
          <p:cNvPr id="39" name="Straight Arrow Connector 38">
            <a:extLst>
              <a:ext uri="{FF2B5EF4-FFF2-40B4-BE49-F238E27FC236}">
                <a16:creationId xmlns:a16="http://schemas.microsoft.com/office/drawing/2014/main" id="{44B237A5-A629-47CA-A0F4-6D264547B1E9}"/>
              </a:ext>
            </a:extLst>
          </p:cNvPr>
          <p:cNvCxnSpPr>
            <a:cxnSpLocks/>
            <a:endCxn id="26" idx="3"/>
          </p:cNvCxnSpPr>
          <p:nvPr/>
        </p:nvCxnSpPr>
        <p:spPr>
          <a:xfrm flipV="1">
            <a:off x="7467048" y="5574229"/>
            <a:ext cx="0" cy="331271"/>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AC006469-8BAB-4F3E-A8D9-EB19E5DDCFD3}"/>
              </a:ext>
            </a:extLst>
          </p:cNvPr>
          <p:cNvCxnSpPr>
            <a:cxnSpLocks/>
          </p:cNvCxnSpPr>
          <p:nvPr/>
        </p:nvCxnSpPr>
        <p:spPr>
          <a:xfrm flipV="1">
            <a:off x="8891831" y="5584848"/>
            <a:ext cx="0" cy="320652"/>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800CF464-6799-4EF1-A173-649974B69470}"/>
              </a:ext>
            </a:extLst>
          </p:cNvPr>
          <p:cNvCxnSpPr>
            <a:cxnSpLocks/>
          </p:cNvCxnSpPr>
          <p:nvPr/>
        </p:nvCxnSpPr>
        <p:spPr>
          <a:xfrm flipV="1">
            <a:off x="4308999" y="5234774"/>
            <a:ext cx="0" cy="670726"/>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077FE5F6-6698-44C8-949A-3B1FFA12825F}"/>
              </a:ext>
            </a:extLst>
          </p:cNvPr>
          <p:cNvCxnSpPr>
            <a:cxnSpLocks/>
            <a:endCxn id="56" idx="1"/>
          </p:cNvCxnSpPr>
          <p:nvPr/>
        </p:nvCxnSpPr>
        <p:spPr>
          <a:xfrm>
            <a:off x="4105518" y="5911715"/>
            <a:ext cx="1091231" cy="0"/>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56" name="Rectangle 55">
            <a:extLst>
              <a:ext uri="{FF2B5EF4-FFF2-40B4-BE49-F238E27FC236}">
                <a16:creationId xmlns:a16="http://schemas.microsoft.com/office/drawing/2014/main" id="{0182EB5C-4F86-416A-B81D-EA223AEB393C}"/>
              </a:ext>
            </a:extLst>
          </p:cNvPr>
          <p:cNvSpPr/>
          <p:nvPr/>
        </p:nvSpPr>
        <p:spPr bwMode="auto">
          <a:xfrm>
            <a:off x="5196749" y="5765133"/>
            <a:ext cx="1044306" cy="293164"/>
          </a:xfrm>
          <a:prstGeom prst="rect">
            <a:avLst/>
          </a:prstGeom>
          <a:no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400" b="0" i="0" u="none" strike="noStrike" cap="none" normalizeH="0" baseline="0" dirty="0">
                <a:ln>
                  <a:noFill/>
                </a:ln>
                <a:solidFill>
                  <a:schemeClr val="tx1"/>
                </a:solidFill>
                <a:effectLst/>
                <a:latin typeface="Gill Sans Light"/>
              </a:rPr>
              <a:t>I/O </a:t>
            </a:r>
            <a:r>
              <a:rPr kumimoji="0" lang="en-US" sz="1400" b="0" i="0" u="none" strike="noStrike" cap="none" normalizeH="0" baseline="0" dirty="0" err="1">
                <a:ln>
                  <a:noFill/>
                </a:ln>
                <a:solidFill>
                  <a:schemeClr val="tx1"/>
                </a:solidFill>
                <a:effectLst/>
                <a:latin typeface="Gill Sans Light"/>
              </a:rPr>
              <a:t>Ctrlr</a:t>
            </a:r>
            <a:endParaRPr kumimoji="0" lang="en-US" sz="1400" b="0" i="0" u="none" strike="noStrike" cap="none" normalizeH="0" baseline="0" dirty="0">
              <a:ln>
                <a:noFill/>
              </a:ln>
              <a:solidFill>
                <a:schemeClr val="tx1"/>
              </a:solidFill>
              <a:effectLst/>
              <a:latin typeface="Gill Sans Light"/>
            </a:endParaRPr>
          </a:p>
        </p:txBody>
      </p:sp>
      <p:cxnSp>
        <p:nvCxnSpPr>
          <p:cNvPr id="59" name="Straight Arrow Connector 58">
            <a:extLst>
              <a:ext uri="{FF2B5EF4-FFF2-40B4-BE49-F238E27FC236}">
                <a16:creationId xmlns:a16="http://schemas.microsoft.com/office/drawing/2014/main" id="{7CEF80FD-C99C-4106-86FD-C44623EF6D66}"/>
              </a:ext>
            </a:extLst>
          </p:cNvPr>
          <p:cNvCxnSpPr>
            <a:cxnSpLocks/>
            <a:stCxn id="56" idx="3"/>
          </p:cNvCxnSpPr>
          <p:nvPr/>
        </p:nvCxnSpPr>
        <p:spPr>
          <a:xfrm flipV="1">
            <a:off x="6241055" y="5905500"/>
            <a:ext cx="5145949" cy="0"/>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63" name="Rectangle 62">
            <a:extLst>
              <a:ext uri="{FF2B5EF4-FFF2-40B4-BE49-F238E27FC236}">
                <a16:creationId xmlns:a16="http://schemas.microsoft.com/office/drawing/2014/main" id="{CA91FAA7-997F-463D-B0E7-ECB8FF4BD25C}"/>
              </a:ext>
            </a:extLst>
          </p:cNvPr>
          <p:cNvSpPr/>
          <p:nvPr/>
        </p:nvSpPr>
        <p:spPr>
          <a:xfrm>
            <a:off x="1955800" y="3595554"/>
            <a:ext cx="9753601" cy="936847"/>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latin typeface="Gill Sans Light"/>
              </a:rPr>
              <a:t>Operating System</a:t>
            </a:r>
          </a:p>
        </p:txBody>
      </p:sp>
      <p:sp>
        <p:nvSpPr>
          <p:cNvPr id="73" name="Rectangle 72">
            <a:extLst>
              <a:ext uri="{FF2B5EF4-FFF2-40B4-BE49-F238E27FC236}">
                <a16:creationId xmlns:a16="http://schemas.microsoft.com/office/drawing/2014/main" id="{1F630E64-216C-4D30-9C27-5AEDDDA28456}"/>
              </a:ext>
            </a:extLst>
          </p:cNvPr>
          <p:cNvSpPr/>
          <p:nvPr/>
        </p:nvSpPr>
        <p:spPr bwMode="auto">
          <a:xfrm>
            <a:off x="6098451" y="5075238"/>
            <a:ext cx="631346" cy="480009"/>
          </a:xfrm>
          <a:prstGeom prst="rect">
            <a:avLst/>
          </a:prstGeom>
          <a:solidFill>
            <a:schemeClr val="bg2">
              <a:lumMod val="60000"/>
              <a:lumOff val="4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Gill Sans Light"/>
              </a:rPr>
              <a:t>OS Mem</a:t>
            </a:r>
          </a:p>
        </p:txBody>
      </p:sp>
      <p:sp>
        <p:nvSpPr>
          <p:cNvPr id="7" name="Rectangle 6">
            <a:extLst>
              <a:ext uri="{FF2B5EF4-FFF2-40B4-BE49-F238E27FC236}">
                <a16:creationId xmlns:a16="http://schemas.microsoft.com/office/drawing/2014/main" id="{CFD315FF-BA72-4F9E-8DED-759C799A21BF}"/>
              </a:ext>
            </a:extLst>
          </p:cNvPr>
          <p:cNvSpPr/>
          <p:nvPr/>
        </p:nvSpPr>
        <p:spPr>
          <a:xfrm>
            <a:off x="0" y="1860550"/>
            <a:ext cx="12192000" cy="4616450"/>
          </a:xfrm>
          <a:prstGeom prst="rect">
            <a:avLst/>
          </a:pr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Gill Sans Light"/>
            </a:endParaRPr>
          </a:p>
        </p:txBody>
      </p:sp>
      <p:sp>
        <p:nvSpPr>
          <p:cNvPr id="2" name="Title 1">
            <a:extLst>
              <a:ext uri="{FF2B5EF4-FFF2-40B4-BE49-F238E27FC236}">
                <a16:creationId xmlns:a16="http://schemas.microsoft.com/office/drawing/2014/main" id="{2735C77F-660A-43A3-8126-43A0F77E49F3}"/>
              </a:ext>
            </a:extLst>
          </p:cNvPr>
          <p:cNvSpPr>
            <a:spLocks noGrp="1"/>
          </p:cNvSpPr>
          <p:nvPr>
            <p:ph type="title"/>
          </p:nvPr>
        </p:nvSpPr>
        <p:spPr/>
        <p:txBody>
          <a:bodyPr/>
          <a:lstStyle/>
          <a:p>
            <a:r>
              <a:rPr lang="en-US" dirty="0">
                <a:latin typeface="Gill Sans Light"/>
              </a:rPr>
              <a:t>Compiled Program’s View of the World</a:t>
            </a:r>
          </a:p>
        </p:txBody>
      </p:sp>
      <p:sp>
        <p:nvSpPr>
          <p:cNvPr id="62" name="TextBox 61">
            <a:extLst>
              <a:ext uri="{FF2B5EF4-FFF2-40B4-BE49-F238E27FC236}">
                <a16:creationId xmlns:a16="http://schemas.microsoft.com/office/drawing/2014/main" id="{8C42E879-B352-4CB0-9045-9528A742E94C}"/>
              </a:ext>
            </a:extLst>
          </p:cNvPr>
          <p:cNvSpPr txBox="1"/>
          <p:nvPr/>
        </p:nvSpPr>
        <p:spPr>
          <a:xfrm>
            <a:off x="861699" y="4314038"/>
            <a:ext cx="1494531" cy="338554"/>
          </a:xfrm>
          <a:prstGeom prst="rect">
            <a:avLst/>
          </a:prstGeom>
          <a:solidFill>
            <a:srgbClr val="EFE683"/>
          </a:solidFill>
          <a:ln>
            <a:solidFill>
              <a:schemeClr val="tx1"/>
            </a:solidFill>
          </a:ln>
        </p:spPr>
        <p:txBody>
          <a:bodyPr wrap="square" rtlCol="0">
            <a:spAutoFit/>
          </a:bodyPr>
          <a:lstStyle/>
          <a:p>
            <a:pPr algn="ctr"/>
            <a:r>
              <a:rPr lang="en-US" sz="1600" b="1" i="1" dirty="0">
                <a:latin typeface="Gill Sans Light"/>
              </a:rPr>
              <a:t>ISA</a:t>
            </a:r>
          </a:p>
        </p:txBody>
      </p:sp>
      <p:sp>
        <p:nvSpPr>
          <p:cNvPr id="80" name="Rectangle 79">
            <a:extLst>
              <a:ext uri="{FF2B5EF4-FFF2-40B4-BE49-F238E27FC236}">
                <a16:creationId xmlns:a16="http://schemas.microsoft.com/office/drawing/2014/main" id="{4838629E-2E3E-4207-99FE-90E9B77B1C43}"/>
              </a:ext>
            </a:extLst>
          </p:cNvPr>
          <p:cNvSpPr/>
          <p:nvPr/>
        </p:nvSpPr>
        <p:spPr>
          <a:xfrm>
            <a:off x="2201858" y="2710529"/>
            <a:ext cx="9436099" cy="936847"/>
          </a:xfrm>
          <a:prstGeom prst="rect">
            <a:avLst/>
          </a:prstGeom>
          <a:solidFill>
            <a:srgbClr val="9E78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1" dirty="0">
                <a:solidFill>
                  <a:schemeClr val="tx1"/>
                </a:solidFill>
                <a:latin typeface="Gill Sans Light"/>
              </a:rPr>
              <a:t>Process: Execution environment with restricted rights provided by OS</a:t>
            </a:r>
          </a:p>
          <a:p>
            <a:pPr algn="ctr"/>
            <a:endParaRPr lang="en-US" sz="1200" dirty="0">
              <a:solidFill>
                <a:schemeClr val="tx1"/>
              </a:solidFill>
              <a:latin typeface="Gill Sans Light"/>
            </a:endParaRPr>
          </a:p>
        </p:txBody>
      </p:sp>
      <p:sp>
        <p:nvSpPr>
          <p:cNvPr id="72" name="TextBox 71">
            <a:extLst>
              <a:ext uri="{FF2B5EF4-FFF2-40B4-BE49-F238E27FC236}">
                <a16:creationId xmlns:a16="http://schemas.microsoft.com/office/drawing/2014/main" id="{E4897103-5196-4D83-8C50-ED908C0B63F9}"/>
              </a:ext>
            </a:extLst>
          </p:cNvPr>
          <p:cNvSpPr txBox="1"/>
          <p:nvPr/>
        </p:nvSpPr>
        <p:spPr>
          <a:xfrm>
            <a:off x="2724436" y="3326180"/>
            <a:ext cx="1606576" cy="338554"/>
          </a:xfrm>
          <a:prstGeom prst="rect">
            <a:avLst/>
          </a:prstGeom>
          <a:solidFill>
            <a:srgbClr val="EFE683"/>
          </a:solidFill>
          <a:ln>
            <a:solidFill>
              <a:schemeClr val="tx1"/>
            </a:solidFill>
          </a:ln>
        </p:spPr>
        <p:txBody>
          <a:bodyPr wrap="square" rtlCol="0">
            <a:spAutoFit/>
          </a:bodyPr>
          <a:lstStyle/>
          <a:p>
            <a:pPr algn="ctr"/>
            <a:r>
              <a:rPr lang="en-US" sz="1600" b="1" i="1" dirty="0">
                <a:latin typeface="Gill Sans Light"/>
              </a:rPr>
              <a:t>Threads</a:t>
            </a:r>
          </a:p>
        </p:txBody>
      </p:sp>
      <p:sp>
        <p:nvSpPr>
          <p:cNvPr id="74" name="TextBox 73">
            <a:extLst>
              <a:ext uri="{FF2B5EF4-FFF2-40B4-BE49-F238E27FC236}">
                <a16:creationId xmlns:a16="http://schemas.microsoft.com/office/drawing/2014/main" id="{903AC2DB-5960-4CF0-B972-E1CDF92622A2}"/>
              </a:ext>
            </a:extLst>
          </p:cNvPr>
          <p:cNvSpPr txBox="1"/>
          <p:nvPr/>
        </p:nvSpPr>
        <p:spPr>
          <a:xfrm>
            <a:off x="4695968" y="3328890"/>
            <a:ext cx="1929036" cy="338554"/>
          </a:xfrm>
          <a:prstGeom prst="rect">
            <a:avLst/>
          </a:prstGeom>
          <a:solidFill>
            <a:srgbClr val="EFE683"/>
          </a:solidFill>
          <a:ln>
            <a:solidFill>
              <a:schemeClr val="tx1"/>
            </a:solidFill>
          </a:ln>
        </p:spPr>
        <p:txBody>
          <a:bodyPr wrap="square" rtlCol="0">
            <a:spAutoFit/>
          </a:bodyPr>
          <a:lstStyle/>
          <a:p>
            <a:pPr algn="ctr"/>
            <a:r>
              <a:rPr lang="en-US" sz="1600" b="1" i="1" dirty="0">
                <a:latin typeface="Gill Sans Light"/>
              </a:rPr>
              <a:t>Address Spaces</a:t>
            </a:r>
          </a:p>
        </p:txBody>
      </p:sp>
      <p:sp>
        <p:nvSpPr>
          <p:cNvPr id="75" name="TextBox 74">
            <a:extLst>
              <a:ext uri="{FF2B5EF4-FFF2-40B4-BE49-F238E27FC236}">
                <a16:creationId xmlns:a16="http://schemas.microsoft.com/office/drawing/2014/main" id="{AD4C368E-047B-4BC3-8012-71A6CC7B5378}"/>
              </a:ext>
            </a:extLst>
          </p:cNvPr>
          <p:cNvSpPr txBox="1"/>
          <p:nvPr/>
        </p:nvSpPr>
        <p:spPr>
          <a:xfrm>
            <a:off x="6989960" y="3328122"/>
            <a:ext cx="966038" cy="338554"/>
          </a:xfrm>
          <a:prstGeom prst="rect">
            <a:avLst/>
          </a:prstGeom>
          <a:solidFill>
            <a:srgbClr val="EFE683"/>
          </a:solidFill>
          <a:ln>
            <a:solidFill>
              <a:schemeClr val="tx1"/>
            </a:solidFill>
          </a:ln>
        </p:spPr>
        <p:txBody>
          <a:bodyPr wrap="square" rtlCol="0">
            <a:spAutoFit/>
          </a:bodyPr>
          <a:lstStyle/>
          <a:p>
            <a:pPr algn="ctr"/>
            <a:r>
              <a:rPr lang="en-US" sz="1600" b="1" i="1" dirty="0">
                <a:latin typeface="Gill Sans Light"/>
              </a:rPr>
              <a:t>Files</a:t>
            </a:r>
          </a:p>
        </p:txBody>
      </p:sp>
      <p:sp>
        <p:nvSpPr>
          <p:cNvPr id="76" name="TextBox 75">
            <a:extLst>
              <a:ext uri="{FF2B5EF4-FFF2-40B4-BE49-F238E27FC236}">
                <a16:creationId xmlns:a16="http://schemas.microsoft.com/office/drawing/2014/main" id="{8ED3D70A-C8B7-4AAE-8DB5-86A5FF23DEF3}"/>
              </a:ext>
            </a:extLst>
          </p:cNvPr>
          <p:cNvSpPr txBox="1"/>
          <p:nvPr/>
        </p:nvSpPr>
        <p:spPr>
          <a:xfrm>
            <a:off x="8320954" y="3328122"/>
            <a:ext cx="986150" cy="338554"/>
          </a:xfrm>
          <a:prstGeom prst="rect">
            <a:avLst/>
          </a:prstGeom>
          <a:solidFill>
            <a:srgbClr val="EFE683"/>
          </a:solidFill>
          <a:ln>
            <a:solidFill>
              <a:schemeClr val="tx1"/>
            </a:solidFill>
          </a:ln>
        </p:spPr>
        <p:txBody>
          <a:bodyPr wrap="square" rtlCol="0">
            <a:spAutoFit/>
          </a:bodyPr>
          <a:lstStyle/>
          <a:p>
            <a:pPr algn="ctr"/>
            <a:r>
              <a:rPr lang="en-US" sz="1600" b="1" i="1" dirty="0">
                <a:latin typeface="Gill Sans Light"/>
              </a:rPr>
              <a:t>Sockets</a:t>
            </a:r>
          </a:p>
        </p:txBody>
      </p:sp>
      <p:sp>
        <p:nvSpPr>
          <p:cNvPr id="44" name="Rectangle: Folded Corner 43">
            <a:extLst>
              <a:ext uri="{FF2B5EF4-FFF2-40B4-BE49-F238E27FC236}">
                <a16:creationId xmlns:a16="http://schemas.microsoft.com/office/drawing/2014/main" id="{AC49EB89-57FD-4DB8-AD44-B263F841CDDD}"/>
              </a:ext>
            </a:extLst>
          </p:cNvPr>
          <p:cNvSpPr/>
          <p:nvPr/>
        </p:nvSpPr>
        <p:spPr>
          <a:xfrm>
            <a:off x="5533299" y="1372394"/>
            <a:ext cx="2014336" cy="1471720"/>
          </a:xfrm>
          <a:prstGeom prst="foldedCorner">
            <a:avLst>
              <a:gd name="adj" fmla="val 21333"/>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2000" dirty="0">
                <a:solidFill>
                  <a:schemeClr val="tx1"/>
                </a:solidFill>
                <a:latin typeface="Gill Sans Light"/>
              </a:rPr>
              <a:t>Compiled</a:t>
            </a:r>
          </a:p>
          <a:p>
            <a:pPr algn="ctr"/>
            <a:r>
              <a:rPr lang="en-US" sz="2000" dirty="0">
                <a:solidFill>
                  <a:schemeClr val="tx1"/>
                </a:solidFill>
                <a:latin typeface="Gill Sans Light"/>
              </a:rPr>
              <a:t>Program</a:t>
            </a:r>
          </a:p>
        </p:txBody>
      </p:sp>
      <p:sp>
        <p:nvSpPr>
          <p:cNvPr id="45" name="Rectangle 44">
            <a:extLst>
              <a:ext uri="{FF2B5EF4-FFF2-40B4-BE49-F238E27FC236}">
                <a16:creationId xmlns:a16="http://schemas.microsoft.com/office/drawing/2014/main" id="{3984D05F-9DB9-4ABB-8A01-48C0FE934CC6}"/>
              </a:ext>
            </a:extLst>
          </p:cNvPr>
          <p:cNvSpPr/>
          <p:nvPr/>
        </p:nvSpPr>
        <p:spPr>
          <a:xfrm>
            <a:off x="5780949" y="2322568"/>
            <a:ext cx="1343751" cy="464249"/>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Gill Sans Light"/>
              </a:rPr>
              <a:t>System Libs</a:t>
            </a:r>
          </a:p>
        </p:txBody>
      </p:sp>
      <p:sp>
        <p:nvSpPr>
          <p:cNvPr id="14" name="TextBox 13">
            <a:extLst>
              <a:ext uri="{FF2B5EF4-FFF2-40B4-BE49-F238E27FC236}">
                <a16:creationId xmlns:a16="http://schemas.microsoft.com/office/drawing/2014/main" id="{78D1B142-975C-4C22-BD16-8854D8EDC6A1}"/>
              </a:ext>
            </a:extLst>
          </p:cNvPr>
          <p:cNvSpPr txBox="1"/>
          <p:nvPr/>
        </p:nvSpPr>
        <p:spPr>
          <a:xfrm>
            <a:off x="2438400" y="4260929"/>
            <a:ext cx="9053164" cy="1015663"/>
          </a:xfrm>
          <a:prstGeom prst="rect">
            <a:avLst/>
          </a:prstGeom>
          <a:solidFill>
            <a:schemeClr val="bg1"/>
          </a:solidFill>
          <a:ln>
            <a:solidFill>
              <a:schemeClr val="tx1"/>
            </a:solidFill>
          </a:ln>
        </p:spPr>
        <p:txBody>
          <a:bodyPr wrap="square" rtlCol="0">
            <a:spAutoFit/>
          </a:bodyPr>
          <a:lstStyle/>
          <a:p>
            <a:pPr marL="285750" indent="-285750">
              <a:buFont typeface="Arial" panose="020B0604020202020204" pitchFamily="34" charset="0"/>
              <a:buChar char="•"/>
            </a:pPr>
            <a:r>
              <a:rPr lang="en-US" sz="2000" b="1" dirty="0">
                <a:latin typeface="Gill Sans Light"/>
              </a:rPr>
              <a:t>Application’s “machine” </a:t>
            </a:r>
            <a:r>
              <a:rPr lang="en-US" sz="2000" b="1" i="1" dirty="0">
                <a:latin typeface="Gill Sans Light"/>
              </a:rPr>
              <a:t>is</a:t>
            </a:r>
            <a:r>
              <a:rPr lang="en-US" sz="2000" b="1" dirty="0">
                <a:latin typeface="Gill Sans Light"/>
              </a:rPr>
              <a:t> the process abstraction provided by the OS</a:t>
            </a:r>
          </a:p>
          <a:p>
            <a:pPr marL="285750" indent="-285750">
              <a:buFont typeface="Arial" panose="020B0604020202020204" pitchFamily="34" charset="0"/>
              <a:buChar char="•"/>
            </a:pPr>
            <a:r>
              <a:rPr lang="en-US" sz="2000" b="1" dirty="0">
                <a:latin typeface="Gill Sans Light"/>
              </a:rPr>
              <a:t>Each running program runs in its own process</a:t>
            </a:r>
          </a:p>
          <a:p>
            <a:pPr marL="285750" indent="-285750">
              <a:buFont typeface="Arial" panose="020B0604020202020204" pitchFamily="34" charset="0"/>
              <a:buChar char="•"/>
            </a:pPr>
            <a:r>
              <a:rPr lang="en-US" sz="2000" b="1" dirty="0">
                <a:latin typeface="Gill Sans Light"/>
              </a:rPr>
              <a:t>Processes provide nicer interfaces than raw hardware</a:t>
            </a:r>
          </a:p>
        </p:txBody>
      </p:sp>
    </p:spTree>
    <p:extLst>
      <p:ext uri="{BB962C8B-B14F-4D97-AF65-F5344CB8AC3E}">
        <p14:creationId xmlns:p14="http://schemas.microsoft.com/office/powerpoint/2010/main" val="3332888978"/>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3193DD4-304A-4B76-81C9-FBF787FE779B}"/>
              </a:ext>
            </a:extLst>
          </p:cNvPr>
          <p:cNvSpPr/>
          <p:nvPr/>
        </p:nvSpPr>
        <p:spPr bwMode="auto">
          <a:xfrm>
            <a:off x="654050" y="4470400"/>
            <a:ext cx="11118850" cy="1689099"/>
          </a:xfrm>
          <a:prstGeom prst="rect">
            <a:avLst/>
          </a:prstGeom>
          <a:pattFill prst="horzBrick">
            <a:fgClr>
              <a:schemeClr val="bg2">
                <a:lumMod val="40000"/>
                <a:lumOff val="60000"/>
              </a:schemeClr>
            </a:fgClr>
            <a:bgClr>
              <a:prstClr val="white"/>
            </a:bgClr>
          </a:patt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dirty="0">
              <a:ln>
                <a:noFill/>
              </a:ln>
              <a:solidFill>
                <a:schemeClr val="tx1"/>
              </a:solidFill>
              <a:effectLst/>
              <a:latin typeface="Gill Sans Light"/>
            </a:endParaRPr>
          </a:p>
        </p:txBody>
      </p:sp>
      <p:sp>
        <p:nvSpPr>
          <p:cNvPr id="8" name="Rounded Rectangle 6">
            <a:extLst>
              <a:ext uri="{FF2B5EF4-FFF2-40B4-BE49-F238E27FC236}">
                <a16:creationId xmlns:a16="http://schemas.microsoft.com/office/drawing/2014/main" id="{EA9B6AFF-D750-4502-865E-E3737510EED0}"/>
              </a:ext>
            </a:extLst>
          </p:cNvPr>
          <p:cNvSpPr/>
          <p:nvPr/>
        </p:nvSpPr>
        <p:spPr bwMode="auto">
          <a:xfrm>
            <a:off x="2201858" y="4618038"/>
            <a:ext cx="1728792" cy="838200"/>
          </a:xfrm>
          <a:prstGeom prst="roundRect">
            <a:avLst/>
          </a:prstGeom>
          <a:solidFill>
            <a:schemeClr val="accent1">
              <a:lumMod val="40000"/>
              <a:lumOff val="6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Gill Sans Light"/>
              </a:rPr>
              <a:t>Processor</a:t>
            </a:r>
            <a:endParaRPr kumimoji="0" lang="en-US" sz="1400" b="0" i="0" u="none" strike="noStrike" cap="none" normalizeH="0" baseline="0" dirty="0">
              <a:ln>
                <a:noFill/>
              </a:ln>
              <a:solidFill>
                <a:schemeClr val="tx1"/>
              </a:solidFill>
              <a:effectLst/>
              <a:latin typeface="Gill Sans Light"/>
            </a:endParaRPr>
          </a:p>
        </p:txBody>
      </p:sp>
      <p:sp>
        <p:nvSpPr>
          <p:cNvPr id="9" name="Rectangle 8">
            <a:extLst>
              <a:ext uri="{FF2B5EF4-FFF2-40B4-BE49-F238E27FC236}">
                <a16:creationId xmlns:a16="http://schemas.microsoft.com/office/drawing/2014/main" id="{85025C03-FC2A-4CCF-8684-4F37D94D3763}"/>
              </a:ext>
            </a:extLst>
          </p:cNvPr>
          <p:cNvSpPr/>
          <p:nvPr/>
        </p:nvSpPr>
        <p:spPr bwMode="auto">
          <a:xfrm>
            <a:off x="5009666" y="4664869"/>
            <a:ext cx="1760608" cy="973138"/>
          </a:xfrm>
          <a:prstGeom prst="rect">
            <a:avLst/>
          </a:prstGeom>
          <a:solidFill>
            <a:srgbClr val="5AAEFF"/>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Gill Sans Light"/>
              </a:rPr>
              <a:t>Memory</a:t>
            </a:r>
          </a:p>
        </p:txBody>
      </p:sp>
      <p:grpSp>
        <p:nvGrpSpPr>
          <p:cNvPr id="10" name="Group 9">
            <a:extLst>
              <a:ext uri="{FF2B5EF4-FFF2-40B4-BE49-F238E27FC236}">
                <a16:creationId xmlns:a16="http://schemas.microsoft.com/office/drawing/2014/main" id="{4C2174B6-519D-44F7-A8CB-C9D9304FB602}"/>
              </a:ext>
            </a:extLst>
          </p:cNvPr>
          <p:cNvGrpSpPr/>
          <p:nvPr/>
        </p:nvGrpSpPr>
        <p:grpSpPr>
          <a:xfrm>
            <a:off x="3244850" y="5075238"/>
            <a:ext cx="533400" cy="304800"/>
            <a:chOff x="3124200" y="3657600"/>
            <a:chExt cx="533400" cy="304800"/>
          </a:xfrm>
        </p:grpSpPr>
        <p:sp>
          <p:nvSpPr>
            <p:cNvPr id="11" name="Rectangle 10">
              <a:extLst>
                <a:ext uri="{FF2B5EF4-FFF2-40B4-BE49-F238E27FC236}">
                  <a16:creationId xmlns:a16="http://schemas.microsoft.com/office/drawing/2014/main" id="{EFBA6894-B008-4F1D-B22C-730173B3DFD4}"/>
                </a:ext>
              </a:extLst>
            </p:cNvPr>
            <p:cNvSpPr/>
            <p:nvPr/>
          </p:nvSpPr>
          <p:spPr bwMode="auto">
            <a:xfrm>
              <a:off x="3124200" y="3657600"/>
              <a:ext cx="533400" cy="304800"/>
            </a:xfrm>
            <a:prstGeom prst="rect">
              <a:avLst/>
            </a:prstGeom>
            <a:no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sp>
          <p:nvSpPr>
            <p:cNvPr id="12" name="Rectangle 11">
              <a:extLst>
                <a:ext uri="{FF2B5EF4-FFF2-40B4-BE49-F238E27FC236}">
                  <a16:creationId xmlns:a16="http://schemas.microsoft.com/office/drawing/2014/main" id="{F6B854A3-399D-4E47-BB10-B204E22F6207}"/>
                </a:ext>
              </a:extLst>
            </p:cNvPr>
            <p:cNvSpPr/>
            <p:nvPr/>
          </p:nvSpPr>
          <p:spPr bwMode="auto">
            <a:xfrm>
              <a:off x="3124200" y="3733800"/>
              <a:ext cx="533400" cy="152400"/>
            </a:xfrm>
            <a:prstGeom prst="rect">
              <a:avLst/>
            </a:prstGeom>
            <a:no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grpSp>
      <p:sp>
        <p:nvSpPr>
          <p:cNvPr id="15" name="Rectangle 14">
            <a:extLst>
              <a:ext uri="{FF2B5EF4-FFF2-40B4-BE49-F238E27FC236}">
                <a16:creationId xmlns:a16="http://schemas.microsoft.com/office/drawing/2014/main" id="{5590399D-D2AD-4FCF-BFD2-DB8D8F919509}"/>
              </a:ext>
            </a:extLst>
          </p:cNvPr>
          <p:cNvSpPr/>
          <p:nvPr/>
        </p:nvSpPr>
        <p:spPr bwMode="auto">
          <a:xfrm>
            <a:off x="5433151" y="5013315"/>
            <a:ext cx="609600" cy="381000"/>
          </a:xfrm>
          <a:prstGeom prst="rect">
            <a:avLst/>
          </a:prstGeom>
          <a:solidFill>
            <a:srgbClr val="FBBA03"/>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sp>
        <p:nvSpPr>
          <p:cNvPr id="16" name="Rectangle 15">
            <a:extLst>
              <a:ext uri="{FF2B5EF4-FFF2-40B4-BE49-F238E27FC236}">
                <a16:creationId xmlns:a16="http://schemas.microsoft.com/office/drawing/2014/main" id="{7114092D-E1CB-4952-8CAA-BD6429870DAC}"/>
              </a:ext>
            </a:extLst>
          </p:cNvPr>
          <p:cNvSpPr/>
          <p:nvPr/>
        </p:nvSpPr>
        <p:spPr bwMode="auto">
          <a:xfrm>
            <a:off x="5302250" y="5104607"/>
            <a:ext cx="609600" cy="381000"/>
          </a:xfrm>
          <a:prstGeom prst="rect">
            <a:avLst/>
          </a:prstGeom>
          <a:solidFill>
            <a:srgbClr val="CC3333"/>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sp>
        <p:nvSpPr>
          <p:cNvPr id="13" name="Rectangle 12">
            <a:extLst>
              <a:ext uri="{FF2B5EF4-FFF2-40B4-BE49-F238E27FC236}">
                <a16:creationId xmlns:a16="http://schemas.microsoft.com/office/drawing/2014/main" id="{4A1809EB-73C2-4CF6-B753-8F1B20E63381}"/>
              </a:ext>
            </a:extLst>
          </p:cNvPr>
          <p:cNvSpPr/>
          <p:nvPr/>
        </p:nvSpPr>
        <p:spPr bwMode="auto">
          <a:xfrm>
            <a:off x="5171349" y="5188015"/>
            <a:ext cx="609600" cy="396832"/>
          </a:xfrm>
          <a:prstGeom prst="rect">
            <a:avLst/>
          </a:prstGeom>
          <a:solidFill>
            <a:schemeClr val="accent2">
              <a:lumMod val="40000"/>
              <a:lumOff val="6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grpSp>
        <p:nvGrpSpPr>
          <p:cNvPr id="19" name="Group 18">
            <a:extLst>
              <a:ext uri="{FF2B5EF4-FFF2-40B4-BE49-F238E27FC236}">
                <a16:creationId xmlns:a16="http://schemas.microsoft.com/office/drawing/2014/main" id="{E3801482-024B-4578-81D6-B8D5101ACF77}"/>
              </a:ext>
            </a:extLst>
          </p:cNvPr>
          <p:cNvGrpSpPr/>
          <p:nvPr/>
        </p:nvGrpSpPr>
        <p:grpSpPr>
          <a:xfrm>
            <a:off x="4432116" y="4603105"/>
            <a:ext cx="712053" cy="710043"/>
            <a:chOff x="4121335" y="2654300"/>
            <a:chExt cx="712053" cy="828477"/>
          </a:xfrm>
        </p:grpSpPr>
        <p:sp>
          <p:nvSpPr>
            <p:cNvPr id="20" name="Rectangle 19">
              <a:extLst>
                <a:ext uri="{FF2B5EF4-FFF2-40B4-BE49-F238E27FC236}">
                  <a16:creationId xmlns:a16="http://schemas.microsoft.com/office/drawing/2014/main" id="{5E4894ED-F264-49FF-B7AB-BA4E6C68158A}"/>
                </a:ext>
              </a:extLst>
            </p:cNvPr>
            <p:cNvSpPr/>
            <p:nvPr/>
          </p:nvSpPr>
          <p:spPr bwMode="auto">
            <a:xfrm>
              <a:off x="4178300" y="2720777"/>
              <a:ext cx="609598" cy="762000"/>
            </a:xfrm>
            <a:prstGeom prst="rect">
              <a:avLst/>
            </a:prstGeom>
            <a:solidFill>
              <a:schemeClr val="bg2"/>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sp>
          <p:nvSpPr>
            <p:cNvPr id="21" name="TextBox 20">
              <a:extLst>
                <a:ext uri="{FF2B5EF4-FFF2-40B4-BE49-F238E27FC236}">
                  <a16:creationId xmlns:a16="http://schemas.microsoft.com/office/drawing/2014/main" id="{C80A16C0-CBEC-4DD9-AD38-2EB7C3ECDF3A}"/>
                </a:ext>
              </a:extLst>
            </p:cNvPr>
            <p:cNvSpPr txBox="1"/>
            <p:nvPr/>
          </p:nvSpPr>
          <p:spPr>
            <a:xfrm>
              <a:off x="4121335" y="2654300"/>
              <a:ext cx="712053" cy="610492"/>
            </a:xfrm>
            <a:prstGeom prst="rect">
              <a:avLst/>
            </a:prstGeom>
            <a:noFill/>
          </p:spPr>
          <p:txBody>
            <a:bodyPr wrap="none" rtlCol="0">
              <a:spAutoFit/>
            </a:bodyPr>
            <a:lstStyle/>
            <a:p>
              <a:pPr algn="ctr"/>
              <a:r>
                <a:rPr lang="en-US" sz="1400" dirty="0" err="1">
                  <a:latin typeface="Gill Sans Light"/>
                </a:rPr>
                <a:t>PgTbl</a:t>
              </a:r>
              <a:endParaRPr lang="en-US" sz="1400" dirty="0">
                <a:latin typeface="Gill Sans Light"/>
              </a:endParaRPr>
            </a:p>
            <a:p>
              <a:pPr algn="ctr"/>
              <a:r>
                <a:rPr lang="en-US" sz="1400" dirty="0">
                  <a:latin typeface="Gill Sans Light"/>
                </a:rPr>
                <a:t>&amp; TLB</a:t>
              </a:r>
            </a:p>
          </p:txBody>
        </p:sp>
      </p:grpSp>
      <p:cxnSp>
        <p:nvCxnSpPr>
          <p:cNvPr id="22" name="Straight Arrow Connector 21">
            <a:extLst>
              <a:ext uri="{FF2B5EF4-FFF2-40B4-BE49-F238E27FC236}">
                <a16:creationId xmlns:a16="http://schemas.microsoft.com/office/drawing/2014/main" id="{52D33204-BC10-46FF-B132-F33C746DE9B8}"/>
              </a:ext>
            </a:extLst>
          </p:cNvPr>
          <p:cNvCxnSpPr>
            <a:cxnSpLocks/>
          </p:cNvCxnSpPr>
          <p:nvPr/>
        </p:nvCxnSpPr>
        <p:spPr bwMode="auto">
          <a:xfrm flipV="1">
            <a:off x="3930650" y="5232303"/>
            <a:ext cx="1273102" cy="2471"/>
          </a:xfrm>
          <a:prstGeom prst="straightConnector1">
            <a:avLst/>
          </a:prstGeom>
          <a:solidFill>
            <a:schemeClr val="accent1"/>
          </a:solidFill>
          <a:ln w="57150" cap="flat" cmpd="sng" algn="ctr">
            <a:solidFill>
              <a:schemeClr val="tx1"/>
            </a:solidFill>
            <a:prstDash val="solid"/>
            <a:round/>
            <a:headEnd type="triangle" w="med" len="med"/>
            <a:tailEnd type="triangle"/>
          </a:ln>
          <a:effectLst/>
        </p:spPr>
      </p:cxnSp>
      <p:cxnSp>
        <p:nvCxnSpPr>
          <p:cNvPr id="17" name="Curved Connector 54">
            <a:extLst>
              <a:ext uri="{FF2B5EF4-FFF2-40B4-BE49-F238E27FC236}">
                <a16:creationId xmlns:a16="http://schemas.microsoft.com/office/drawing/2014/main" id="{1C7D6572-FBEF-45D3-B9EB-4A6924279104}"/>
              </a:ext>
            </a:extLst>
          </p:cNvPr>
          <p:cNvCxnSpPr>
            <a:cxnSpLocks/>
          </p:cNvCxnSpPr>
          <p:nvPr/>
        </p:nvCxnSpPr>
        <p:spPr bwMode="auto">
          <a:xfrm>
            <a:off x="3600451" y="5265655"/>
            <a:ext cx="1775551" cy="217481"/>
          </a:xfrm>
          <a:prstGeom prst="curvedConnector3">
            <a:avLst>
              <a:gd name="adj1" fmla="val 23535"/>
            </a:avLst>
          </a:prstGeom>
          <a:solidFill>
            <a:schemeClr val="accent1"/>
          </a:solidFill>
          <a:ln w="22225" cap="flat" cmpd="sng" algn="ctr">
            <a:solidFill>
              <a:schemeClr val="tx1"/>
            </a:solidFill>
            <a:prstDash val="solid"/>
            <a:round/>
            <a:headEnd type="triangle" w="sm" len="sm"/>
            <a:tailEnd type="triangle"/>
          </a:ln>
          <a:effectLst/>
        </p:spPr>
      </p:cxnSp>
      <p:sp>
        <p:nvSpPr>
          <p:cNvPr id="26" name="Can 38">
            <a:extLst>
              <a:ext uri="{FF2B5EF4-FFF2-40B4-BE49-F238E27FC236}">
                <a16:creationId xmlns:a16="http://schemas.microsoft.com/office/drawing/2014/main" id="{2D66A6BA-E078-4243-A542-4EDF0004EFC1}"/>
              </a:ext>
            </a:extLst>
          </p:cNvPr>
          <p:cNvSpPr/>
          <p:nvPr/>
        </p:nvSpPr>
        <p:spPr bwMode="auto">
          <a:xfrm>
            <a:off x="6978098" y="4601091"/>
            <a:ext cx="977900" cy="973138"/>
          </a:xfrm>
          <a:prstGeom prst="can">
            <a:avLst/>
          </a:prstGeom>
          <a:solidFill>
            <a:srgbClr val="5AAEFF"/>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600" dirty="0">
                <a:latin typeface="Gill Sans Light"/>
              </a:rPr>
              <a:t>Storage</a:t>
            </a:r>
            <a:endParaRPr kumimoji="0" lang="en-US" sz="1600" b="0" i="0" u="none" strike="noStrike" cap="none" normalizeH="0" baseline="0" dirty="0">
              <a:ln>
                <a:noFill/>
              </a:ln>
              <a:solidFill>
                <a:schemeClr val="tx1"/>
              </a:solidFill>
              <a:effectLst/>
              <a:latin typeface="Gill Sans Light"/>
            </a:endParaRPr>
          </a:p>
        </p:txBody>
      </p:sp>
      <p:pic>
        <p:nvPicPr>
          <p:cNvPr id="27" name="Picture 26">
            <a:extLst>
              <a:ext uri="{FF2B5EF4-FFF2-40B4-BE49-F238E27FC236}">
                <a16:creationId xmlns:a16="http://schemas.microsoft.com/office/drawing/2014/main" id="{57205715-3232-4739-82EE-E1D9E0C153A6}"/>
              </a:ext>
            </a:extLst>
          </p:cNvPr>
          <p:cNvPicPr>
            <a:picLocks noChangeAspect="1"/>
          </p:cNvPicPr>
          <p:nvPr/>
        </p:nvPicPr>
        <p:blipFill>
          <a:blip r:embed="rId2">
            <a:clrChange>
              <a:clrFrom>
                <a:srgbClr val="FFFFFF"/>
              </a:clrFrom>
              <a:clrTo>
                <a:srgbClr val="FFFFFF">
                  <a:alpha val="0"/>
                </a:srgbClr>
              </a:clrTo>
            </a:clrChange>
          </a:blip>
          <a:stretch>
            <a:fillRect/>
          </a:stretch>
        </p:blipFill>
        <p:spPr>
          <a:xfrm flipH="1">
            <a:off x="8302804" y="4559299"/>
            <a:ext cx="1270482" cy="1270482"/>
          </a:xfrm>
          <a:prstGeom prst="rect">
            <a:avLst/>
          </a:prstGeom>
        </p:spPr>
      </p:pic>
      <p:sp>
        <p:nvSpPr>
          <p:cNvPr id="31" name="TextBox 30">
            <a:extLst>
              <a:ext uri="{FF2B5EF4-FFF2-40B4-BE49-F238E27FC236}">
                <a16:creationId xmlns:a16="http://schemas.microsoft.com/office/drawing/2014/main" id="{A8A63F55-8F57-4FCF-A466-B7ABFA7D293F}"/>
              </a:ext>
            </a:extLst>
          </p:cNvPr>
          <p:cNvSpPr txBox="1"/>
          <p:nvPr/>
        </p:nvSpPr>
        <p:spPr>
          <a:xfrm>
            <a:off x="8315784" y="4518076"/>
            <a:ext cx="1107996" cy="338554"/>
          </a:xfrm>
          <a:prstGeom prst="rect">
            <a:avLst/>
          </a:prstGeom>
          <a:noFill/>
        </p:spPr>
        <p:txBody>
          <a:bodyPr wrap="none" rtlCol="0">
            <a:spAutoFit/>
          </a:bodyPr>
          <a:lstStyle/>
          <a:p>
            <a:pPr algn="ctr"/>
            <a:r>
              <a:rPr lang="en-US" sz="1600" dirty="0">
                <a:latin typeface="Gill Sans Light"/>
              </a:rPr>
              <a:t>Networks</a:t>
            </a:r>
          </a:p>
        </p:txBody>
      </p:sp>
      <p:sp>
        <p:nvSpPr>
          <p:cNvPr id="34" name="TextBox 33">
            <a:extLst>
              <a:ext uri="{FF2B5EF4-FFF2-40B4-BE49-F238E27FC236}">
                <a16:creationId xmlns:a16="http://schemas.microsoft.com/office/drawing/2014/main" id="{5A2B64A6-5DE4-40BC-B41E-052C2DBBB4E8}"/>
              </a:ext>
            </a:extLst>
          </p:cNvPr>
          <p:cNvSpPr txBox="1"/>
          <p:nvPr/>
        </p:nvSpPr>
        <p:spPr>
          <a:xfrm>
            <a:off x="631271" y="4919941"/>
            <a:ext cx="1353256" cy="400110"/>
          </a:xfrm>
          <a:prstGeom prst="rect">
            <a:avLst/>
          </a:prstGeom>
          <a:noFill/>
        </p:spPr>
        <p:txBody>
          <a:bodyPr wrap="none" rtlCol="0">
            <a:spAutoFit/>
          </a:bodyPr>
          <a:lstStyle/>
          <a:p>
            <a:r>
              <a:rPr lang="en-US" sz="2000" dirty="0">
                <a:latin typeface="Gill Sans Light"/>
              </a:rPr>
              <a:t>Hardware</a:t>
            </a:r>
          </a:p>
        </p:txBody>
      </p:sp>
      <p:cxnSp>
        <p:nvCxnSpPr>
          <p:cNvPr id="39" name="Straight Arrow Connector 38">
            <a:extLst>
              <a:ext uri="{FF2B5EF4-FFF2-40B4-BE49-F238E27FC236}">
                <a16:creationId xmlns:a16="http://schemas.microsoft.com/office/drawing/2014/main" id="{44B237A5-A629-47CA-A0F4-6D264547B1E9}"/>
              </a:ext>
            </a:extLst>
          </p:cNvPr>
          <p:cNvCxnSpPr>
            <a:cxnSpLocks/>
            <a:endCxn id="26" idx="3"/>
          </p:cNvCxnSpPr>
          <p:nvPr/>
        </p:nvCxnSpPr>
        <p:spPr>
          <a:xfrm flipV="1">
            <a:off x="7467048" y="5574229"/>
            <a:ext cx="0" cy="331271"/>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AC006469-8BAB-4F3E-A8D9-EB19E5DDCFD3}"/>
              </a:ext>
            </a:extLst>
          </p:cNvPr>
          <p:cNvCxnSpPr>
            <a:cxnSpLocks/>
          </p:cNvCxnSpPr>
          <p:nvPr/>
        </p:nvCxnSpPr>
        <p:spPr>
          <a:xfrm flipV="1">
            <a:off x="8891831" y="5584848"/>
            <a:ext cx="0" cy="320652"/>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800CF464-6799-4EF1-A173-649974B69470}"/>
              </a:ext>
            </a:extLst>
          </p:cNvPr>
          <p:cNvCxnSpPr>
            <a:cxnSpLocks/>
          </p:cNvCxnSpPr>
          <p:nvPr/>
        </p:nvCxnSpPr>
        <p:spPr>
          <a:xfrm flipV="1">
            <a:off x="4308999" y="5234774"/>
            <a:ext cx="0" cy="670726"/>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077FE5F6-6698-44C8-949A-3B1FFA12825F}"/>
              </a:ext>
            </a:extLst>
          </p:cNvPr>
          <p:cNvCxnSpPr>
            <a:cxnSpLocks/>
            <a:endCxn id="56" idx="1"/>
          </p:cNvCxnSpPr>
          <p:nvPr/>
        </p:nvCxnSpPr>
        <p:spPr>
          <a:xfrm>
            <a:off x="4105518" y="5911715"/>
            <a:ext cx="1091231" cy="0"/>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56" name="Rectangle 55">
            <a:extLst>
              <a:ext uri="{FF2B5EF4-FFF2-40B4-BE49-F238E27FC236}">
                <a16:creationId xmlns:a16="http://schemas.microsoft.com/office/drawing/2014/main" id="{0182EB5C-4F86-416A-B81D-EA223AEB393C}"/>
              </a:ext>
            </a:extLst>
          </p:cNvPr>
          <p:cNvSpPr/>
          <p:nvPr/>
        </p:nvSpPr>
        <p:spPr bwMode="auto">
          <a:xfrm>
            <a:off x="5196749" y="5765133"/>
            <a:ext cx="1044306" cy="293164"/>
          </a:xfrm>
          <a:prstGeom prst="rect">
            <a:avLst/>
          </a:prstGeom>
          <a:no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400" b="0" i="0" u="none" strike="noStrike" cap="none" normalizeH="0" baseline="0" dirty="0">
                <a:ln>
                  <a:noFill/>
                </a:ln>
                <a:solidFill>
                  <a:schemeClr val="tx1"/>
                </a:solidFill>
                <a:effectLst/>
                <a:latin typeface="Gill Sans Light"/>
              </a:rPr>
              <a:t>I/O </a:t>
            </a:r>
            <a:r>
              <a:rPr kumimoji="0" lang="en-US" sz="1400" b="0" i="0" u="none" strike="noStrike" cap="none" normalizeH="0" baseline="0" dirty="0" err="1">
                <a:ln>
                  <a:noFill/>
                </a:ln>
                <a:solidFill>
                  <a:schemeClr val="tx1"/>
                </a:solidFill>
                <a:effectLst/>
                <a:latin typeface="Gill Sans Light"/>
              </a:rPr>
              <a:t>Ctrlr</a:t>
            </a:r>
            <a:endParaRPr kumimoji="0" lang="en-US" sz="1400" b="0" i="0" u="none" strike="noStrike" cap="none" normalizeH="0" baseline="0" dirty="0">
              <a:ln>
                <a:noFill/>
              </a:ln>
              <a:solidFill>
                <a:schemeClr val="tx1"/>
              </a:solidFill>
              <a:effectLst/>
              <a:latin typeface="Gill Sans Light"/>
            </a:endParaRPr>
          </a:p>
        </p:txBody>
      </p:sp>
      <p:cxnSp>
        <p:nvCxnSpPr>
          <p:cNvPr id="59" name="Straight Arrow Connector 58">
            <a:extLst>
              <a:ext uri="{FF2B5EF4-FFF2-40B4-BE49-F238E27FC236}">
                <a16:creationId xmlns:a16="http://schemas.microsoft.com/office/drawing/2014/main" id="{7CEF80FD-C99C-4106-86FD-C44623EF6D66}"/>
              </a:ext>
            </a:extLst>
          </p:cNvPr>
          <p:cNvCxnSpPr>
            <a:cxnSpLocks/>
            <a:stCxn id="56" idx="3"/>
          </p:cNvCxnSpPr>
          <p:nvPr/>
        </p:nvCxnSpPr>
        <p:spPr>
          <a:xfrm flipV="1">
            <a:off x="6241055" y="5905500"/>
            <a:ext cx="5145949" cy="0"/>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63" name="Rectangle 62">
            <a:extLst>
              <a:ext uri="{FF2B5EF4-FFF2-40B4-BE49-F238E27FC236}">
                <a16:creationId xmlns:a16="http://schemas.microsoft.com/office/drawing/2014/main" id="{CA91FAA7-997F-463D-B0E7-ECB8FF4BD25C}"/>
              </a:ext>
            </a:extLst>
          </p:cNvPr>
          <p:cNvSpPr/>
          <p:nvPr/>
        </p:nvSpPr>
        <p:spPr>
          <a:xfrm>
            <a:off x="1955800" y="3595554"/>
            <a:ext cx="9753601" cy="936847"/>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latin typeface="Gill Sans Light"/>
              </a:rPr>
              <a:t>Operating System</a:t>
            </a:r>
          </a:p>
        </p:txBody>
      </p:sp>
      <p:sp>
        <p:nvSpPr>
          <p:cNvPr id="73" name="Rectangle 72">
            <a:extLst>
              <a:ext uri="{FF2B5EF4-FFF2-40B4-BE49-F238E27FC236}">
                <a16:creationId xmlns:a16="http://schemas.microsoft.com/office/drawing/2014/main" id="{1F630E64-216C-4D30-9C27-5AEDDDA28456}"/>
              </a:ext>
            </a:extLst>
          </p:cNvPr>
          <p:cNvSpPr/>
          <p:nvPr/>
        </p:nvSpPr>
        <p:spPr bwMode="auto">
          <a:xfrm>
            <a:off x="6098451" y="5075238"/>
            <a:ext cx="631346" cy="480009"/>
          </a:xfrm>
          <a:prstGeom prst="rect">
            <a:avLst/>
          </a:prstGeom>
          <a:solidFill>
            <a:schemeClr val="bg2">
              <a:lumMod val="60000"/>
              <a:lumOff val="4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Gill Sans Light"/>
              </a:rPr>
              <a:t>OS Mem</a:t>
            </a:r>
          </a:p>
        </p:txBody>
      </p:sp>
      <p:sp>
        <p:nvSpPr>
          <p:cNvPr id="62" name="TextBox 61">
            <a:extLst>
              <a:ext uri="{FF2B5EF4-FFF2-40B4-BE49-F238E27FC236}">
                <a16:creationId xmlns:a16="http://schemas.microsoft.com/office/drawing/2014/main" id="{8C42E879-B352-4CB0-9045-9528A742E94C}"/>
              </a:ext>
            </a:extLst>
          </p:cNvPr>
          <p:cNvSpPr txBox="1"/>
          <p:nvPr/>
        </p:nvSpPr>
        <p:spPr>
          <a:xfrm>
            <a:off x="861699" y="4314038"/>
            <a:ext cx="1494531" cy="338554"/>
          </a:xfrm>
          <a:prstGeom prst="rect">
            <a:avLst/>
          </a:prstGeom>
          <a:solidFill>
            <a:srgbClr val="EFE683"/>
          </a:solidFill>
          <a:ln>
            <a:solidFill>
              <a:schemeClr val="tx1"/>
            </a:solidFill>
          </a:ln>
        </p:spPr>
        <p:txBody>
          <a:bodyPr wrap="square" rtlCol="0">
            <a:spAutoFit/>
          </a:bodyPr>
          <a:lstStyle/>
          <a:p>
            <a:pPr algn="ctr"/>
            <a:r>
              <a:rPr lang="en-US" sz="1600" b="1" i="1" dirty="0">
                <a:latin typeface="Gill Sans Light"/>
              </a:rPr>
              <a:t>ISA</a:t>
            </a:r>
          </a:p>
        </p:txBody>
      </p:sp>
      <p:sp>
        <p:nvSpPr>
          <p:cNvPr id="7" name="Rectangle 6">
            <a:extLst>
              <a:ext uri="{FF2B5EF4-FFF2-40B4-BE49-F238E27FC236}">
                <a16:creationId xmlns:a16="http://schemas.microsoft.com/office/drawing/2014/main" id="{CFD315FF-BA72-4F9E-8DED-759C799A21BF}"/>
              </a:ext>
            </a:extLst>
          </p:cNvPr>
          <p:cNvSpPr/>
          <p:nvPr/>
        </p:nvSpPr>
        <p:spPr>
          <a:xfrm>
            <a:off x="0" y="1860550"/>
            <a:ext cx="12192000" cy="4616450"/>
          </a:xfrm>
          <a:prstGeom prst="rect">
            <a:avLst/>
          </a:pr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Gill Sans Light"/>
            </a:endParaRPr>
          </a:p>
        </p:txBody>
      </p:sp>
      <p:sp>
        <p:nvSpPr>
          <p:cNvPr id="2" name="Title 1">
            <a:extLst>
              <a:ext uri="{FF2B5EF4-FFF2-40B4-BE49-F238E27FC236}">
                <a16:creationId xmlns:a16="http://schemas.microsoft.com/office/drawing/2014/main" id="{2735C77F-660A-43A3-8126-43A0F77E49F3}"/>
              </a:ext>
            </a:extLst>
          </p:cNvPr>
          <p:cNvSpPr>
            <a:spLocks noGrp="1"/>
          </p:cNvSpPr>
          <p:nvPr>
            <p:ph type="title"/>
          </p:nvPr>
        </p:nvSpPr>
        <p:spPr/>
        <p:txBody>
          <a:bodyPr/>
          <a:lstStyle/>
          <a:p>
            <a:r>
              <a:rPr lang="en-US" dirty="0">
                <a:latin typeface="Gill Sans Light"/>
              </a:rPr>
              <a:t>System Programmer’s View of the World</a:t>
            </a:r>
          </a:p>
        </p:txBody>
      </p:sp>
      <p:sp>
        <p:nvSpPr>
          <p:cNvPr id="80" name="Rectangle 79">
            <a:extLst>
              <a:ext uri="{FF2B5EF4-FFF2-40B4-BE49-F238E27FC236}">
                <a16:creationId xmlns:a16="http://schemas.microsoft.com/office/drawing/2014/main" id="{4838629E-2E3E-4207-99FE-90E9B77B1C43}"/>
              </a:ext>
            </a:extLst>
          </p:cNvPr>
          <p:cNvSpPr/>
          <p:nvPr/>
        </p:nvSpPr>
        <p:spPr>
          <a:xfrm>
            <a:off x="2201858" y="2710529"/>
            <a:ext cx="9436099" cy="936847"/>
          </a:xfrm>
          <a:prstGeom prst="rect">
            <a:avLst/>
          </a:prstGeom>
          <a:solidFill>
            <a:srgbClr val="C495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1" dirty="0">
                <a:solidFill>
                  <a:schemeClr val="tx1"/>
                </a:solidFill>
                <a:latin typeface="Gill Sans Light"/>
              </a:rPr>
              <a:t>Process: Execution environment with restricted rights provided by OS</a:t>
            </a:r>
          </a:p>
          <a:p>
            <a:pPr algn="ctr"/>
            <a:endParaRPr lang="en-US" sz="1200" dirty="0">
              <a:solidFill>
                <a:schemeClr val="tx1"/>
              </a:solidFill>
              <a:latin typeface="Gill Sans Light"/>
            </a:endParaRPr>
          </a:p>
        </p:txBody>
      </p:sp>
      <p:sp>
        <p:nvSpPr>
          <p:cNvPr id="72" name="TextBox 71">
            <a:extLst>
              <a:ext uri="{FF2B5EF4-FFF2-40B4-BE49-F238E27FC236}">
                <a16:creationId xmlns:a16="http://schemas.microsoft.com/office/drawing/2014/main" id="{E4897103-5196-4D83-8C50-ED908C0B63F9}"/>
              </a:ext>
            </a:extLst>
          </p:cNvPr>
          <p:cNvSpPr txBox="1"/>
          <p:nvPr/>
        </p:nvSpPr>
        <p:spPr>
          <a:xfrm>
            <a:off x="2724436" y="3326180"/>
            <a:ext cx="1606576" cy="338554"/>
          </a:xfrm>
          <a:prstGeom prst="rect">
            <a:avLst/>
          </a:prstGeom>
          <a:solidFill>
            <a:srgbClr val="EFE683"/>
          </a:solidFill>
          <a:ln>
            <a:solidFill>
              <a:schemeClr val="tx1"/>
            </a:solidFill>
          </a:ln>
        </p:spPr>
        <p:txBody>
          <a:bodyPr wrap="square" rtlCol="0">
            <a:spAutoFit/>
          </a:bodyPr>
          <a:lstStyle/>
          <a:p>
            <a:pPr algn="ctr"/>
            <a:r>
              <a:rPr lang="en-US" sz="1600" b="1" i="1" dirty="0">
                <a:latin typeface="Gill Sans Light"/>
              </a:rPr>
              <a:t>Threads</a:t>
            </a:r>
          </a:p>
        </p:txBody>
      </p:sp>
      <p:sp>
        <p:nvSpPr>
          <p:cNvPr id="74" name="TextBox 73">
            <a:extLst>
              <a:ext uri="{FF2B5EF4-FFF2-40B4-BE49-F238E27FC236}">
                <a16:creationId xmlns:a16="http://schemas.microsoft.com/office/drawing/2014/main" id="{903AC2DB-5960-4CF0-B972-E1CDF92622A2}"/>
              </a:ext>
            </a:extLst>
          </p:cNvPr>
          <p:cNvSpPr txBox="1"/>
          <p:nvPr/>
        </p:nvSpPr>
        <p:spPr>
          <a:xfrm>
            <a:off x="4695968" y="3328890"/>
            <a:ext cx="1929036" cy="338554"/>
          </a:xfrm>
          <a:prstGeom prst="rect">
            <a:avLst/>
          </a:prstGeom>
          <a:solidFill>
            <a:srgbClr val="EFE683"/>
          </a:solidFill>
          <a:ln>
            <a:solidFill>
              <a:schemeClr val="tx1"/>
            </a:solidFill>
          </a:ln>
        </p:spPr>
        <p:txBody>
          <a:bodyPr wrap="square" rtlCol="0">
            <a:spAutoFit/>
          </a:bodyPr>
          <a:lstStyle/>
          <a:p>
            <a:pPr algn="ctr"/>
            <a:r>
              <a:rPr lang="en-US" sz="1600" b="1" i="1" dirty="0">
                <a:latin typeface="Gill Sans Light"/>
              </a:rPr>
              <a:t>Address Spaces</a:t>
            </a:r>
          </a:p>
        </p:txBody>
      </p:sp>
      <p:sp>
        <p:nvSpPr>
          <p:cNvPr id="75" name="TextBox 74">
            <a:extLst>
              <a:ext uri="{FF2B5EF4-FFF2-40B4-BE49-F238E27FC236}">
                <a16:creationId xmlns:a16="http://schemas.microsoft.com/office/drawing/2014/main" id="{AD4C368E-047B-4BC3-8012-71A6CC7B5378}"/>
              </a:ext>
            </a:extLst>
          </p:cNvPr>
          <p:cNvSpPr txBox="1"/>
          <p:nvPr/>
        </p:nvSpPr>
        <p:spPr>
          <a:xfrm>
            <a:off x="6989960" y="3328122"/>
            <a:ext cx="966038" cy="338554"/>
          </a:xfrm>
          <a:prstGeom prst="rect">
            <a:avLst/>
          </a:prstGeom>
          <a:solidFill>
            <a:srgbClr val="EFE683"/>
          </a:solidFill>
          <a:ln>
            <a:solidFill>
              <a:schemeClr val="tx1"/>
            </a:solidFill>
          </a:ln>
        </p:spPr>
        <p:txBody>
          <a:bodyPr wrap="square" rtlCol="0">
            <a:spAutoFit/>
          </a:bodyPr>
          <a:lstStyle/>
          <a:p>
            <a:pPr algn="ctr"/>
            <a:r>
              <a:rPr lang="en-US" sz="1600" b="1" i="1" dirty="0">
                <a:latin typeface="Gill Sans Light"/>
              </a:rPr>
              <a:t>Files</a:t>
            </a:r>
          </a:p>
        </p:txBody>
      </p:sp>
      <p:sp>
        <p:nvSpPr>
          <p:cNvPr id="76" name="TextBox 75">
            <a:extLst>
              <a:ext uri="{FF2B5EF4-FFF2-40B4-BE49-F238E27FC236}">
                <a16:creationId xmlns:a16="http://schemas.microsoft.com/office/drawing/2014/main" id="{8ED3D70A-C8B7-4AAE-8DB5-86A5FF23DEF3}"/>
              </a:ext>
            </a:extLst>
          </p:cNvPr>
          <p:cNvSpPr txBox="1"/>
          <p:nvPr/>
        </p:nvSpPr>
        <p:spPr>
          <a:xfrm>
            <a:off x="8320954" y="3328122"/>
            <a:ext cx="986150" cy="338554"/>
          </a:xfrm>
          <a:prstGeom prst="rect">
            <a:avLst/>
          </a:prstGeom>
          <a:solidFill>
            <a:srgbClr val="EFE683"/>
          </a:solidFill>
          <a:ln>
            <a:solidFill>
              <a:schemeClr val="tx1"/>
            </a:solidFill>
          </a:ln>
        </p:spPr>
        <p:txBody>
          <a:bodyPr wrap="square" rtlCol="0">
            <a:spAutoFit/>
          </a:bodyPr>
          <a:lstStyle/>
          <a:p>
            <a:pPr algn="ctr"/>
            <a:r>
              <a:rPr lang="en-US" sz="1600" b="1" i="1" dirty="0">
                <a:latin typeface="Gill Sans Light"/>
              </a:rPr>
              <a:t>Sockets</a:t>
            </a:r>
          </a:p>
        </p:txBody>
      </p:sp>
      <p:sp>
        <p:nvSpPr>
          <p:cNvPr id="81" name="Rectangle: Folded Corner 80">
            <a:extLst>
              <a:ext uri="{FF2B5EF4-FFF2-40B4-BE49-F238E27FC236}">
                <a16:creationId xmlns:a16="http://schemas.microsoft.com/office/drawing/2014/main" id="{19183BC7-FF86-4959-8312-523AE576C3AF}"/>
              </a:ext>
            </a:extLst>
          </p:cNvPr>
          <p:cNvSpPr/>
          <p:nvPr/>
        </p:nvSpPr>
        <p:spPr>
          <a:xfrm>
            <a:off x="5533299" y="1372394"/>
            <a:ext cx="2014336" cy="1284975"/>
          </a:xfrm>
          <a:prstGeom prst="foldedCorner">
            <a:avLst>
              <a:gd name="adj" fmla="val 21333"/>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2000" dirty="0">
                <a:solidFill>
                  <a:schemeClr val="tx1"/>
                </a:solidFill>
                <a:latin typeface="Gill Sans Light"/>
              </a:rPr>
              <a:t>Program</a:t>
            </a:r>
          </a:p>
        </p:txBody>
      </p:sp>
      <p:sp>
        <p:nvSpPr>
          <p:cNvPr id="14" name="Rectangle 13">
            <a:extLst>
              <a:ext uri="{FF2B5EF4-FFF2-40B4-BE49-F238E27FC236}">
                <a16:creationId xmlns:a16="http://schemas.microsoft.com/office/drawing/2014/main" id="{39E666D2-456F-4701-8AC9-C49B9D049976}"/>
              </a:ext>
            </a:extLst>
          </p:cNvPr>
          <p:cNvSpPr/>
          <p:nvPr/>
        </p:nvSpPr>
        <p:spPr>
          <a:xfrm>
            <a:off x="419100" y="2710529"/>
            <a:ext cx="1417802" cy="1493074"/>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Gill Sans Light"/>
              </a:rPr>
              <a:t>Compiler</a:t>
            </a:r>
          </a:p>
        </p:txBody>
      </p:sp>
      <p:pic>
        <p:nvPicPr>
          <p:cNvPr id="23" name="Picture 22" descr="A picture containing table, knife&#10;&#10;Description automatically generated">
            <a:extLst>
              <a:ext uri="{FF2B5EF4-FFF2-40B4-BE49-F238E27FC236}">
                <a16:creationId xmlns:a16="http://schemas.microsoft.com/office/drawing/2014/main" id="{2B6FFED1-7622-447D-9915-C78791703212}"/>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5663634" y="1825672"/>
            <a:ext cx="1628278" cy="793566"/>
          </a:xfrm>
          <a:prstGeom prst="rect">
            <a:avLst/>
          </a:prstGeom>
        </p:spPr>
      </p:pic>
      <p:sp>
        <p:nvSpPr>
          <p:cNvPr id="47" name="Rectangle 46">
            <a:extLst>
              <a:ext uri="{FF2B5EF4-FFF2-40B4-BE49-F238E27FC236}">
                <a16:creationId xmlns:a16="http://schemas.microsoft.com/office/drawing/2014/main" id="{7723B142-2A94-49C8-866E-A67772D37692}"/>
              </a:ext>
            </a:extLst>
          </p:cNvPr>
          <p:cNvSpPr/>
          <p:nvPr/>
        </p:nvSpPr>
        <p:spPr>
          <a:xfrm>
            <a:off x="2987261" y="1793873"/>
            <a:ext cx="1343751" cy="464249"/>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Gill Sans Light"/>
              </a:rPr>
              <a:t>System Libs</a:t>
            </a:r>
          </a:p>
        </p:txBody>
      </p:sp>
      <p:cxnSp>
        <p:nvCxnSpPr>
          <p:cNvPr id="25" name="Straight Arrow Connector 24">
            <a:extLst>
              <a:ext uri="{FF2B5EF4-FFF2-40B4-BE49-F238E27FC236}">
                <a16:creationId xmlns:a16="http://schemas.microsoft.com/office/drawing/2014/main" id="{79D305A1-51B1-4982-AED3-3EBFD5A82406}"/>
              </a:ext>
            </a:extLst>
          </p:cNvPr>
          <p:cNvCxnSpPr>
            <a:cxnSpLocks/>
          </p:cNvCxnSpPr>
          <p:nvPr/>
        </p:nvCxnSpPr>
        <p:spPr>
          <a:xfrm>
            <a:off x="4423299" y="2034166"/>
            <a:ext cx="1052850" cy="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sp>
        <p:nvSpPr>
          <p:cNvPr id="28" name="TextBox 27">
            <a:extLst>
              <a:ext uri="{FF2B5EF4-FFF2-40B4-BE49-F238E27FC236}">
                <a16:creationId xmlns:a16="http://schemas.microsoft.com/office/drawing/2014/main" id="{07F0615B-834E-43D1-856B-5EBE38CDCAC4}"/>
              </a:ext>
            </a:extLst>
          </p:cNvPr>
          <p:cNvSpPr txBox="1"/>
          <p:nvPr/>
        </p:nvSpPr>
        <p:spPr>
          <a:xfrm>
            <a:off x="4474955" y="1684643"/>
            <a:ext cx="914400" cy="338554"/>
          </a:xfrm>
          <a:prstGeom prst="rect">
            <a:avLst/>
          </a:prstGeom>
          <a:noFill/>
        </p:spPr>
        <p:txBody>
          <a:bodyPr wrap="square" rtlCol="0">
            <a:spAutoFit/>
          </a:bodyPr>
          <a:lstStyle/>
          <a:p>
            <a:pPr algn="ctr"/>
            <a:r>
              <a:rPr lang="en-US" sz="1600" dirty="0">
                <a:latin typeface="Gill Sans Light"/>
              </a:rPr>
              <a:t>Linker</a:t>
            </a:r>
          </a:p>
        </p:txBody>
      </p:sp>
      <p:sp>
        <p:nvSpPr>
          <p:cNvPr id="48" name="TextBox 47">
            <a:extLst>
              <a:ext uri="{FF2B5EF4-FFF2-40B4-BE49-F238E27FC236}">
                <a16:creationId xmlns:a16="http://schemas.microsoft.com/office/drawing/2014/main" id="{78D1B142-975C-4C22-BD16-8854D8EDC6A1}"/>
              </a:ext>
            </a:extLst>
          </p:cNvPr>
          <p:cNvSpPr txBox="1"/>
          <p:nvPr/>
        </p:nvSpPr>
        <p:spPr>
          <a:xfrm>
            <a:off x="2438400" y="4260929"/>
            <a:ext cx="9053164" cy="1015663"/>
          </a:xfrm>
          <a:prstGeom prst="rect">
            <a:avLst/>
          </a:prstGeom>
          <a:solidFill>
            <a:schemeClr val="bg1"/>
          </a:solidFill>
          <a:ln>
            <a:solidFill>
              <a:schemeClr val="tx1"/>
            </a:solidFill>
          </a:ln>
        </p:spPr>
        <p:txBody>
          <a:bodyPr wrap="square" rtlCol="0">
            <a:spAutoFit/>
          </a:bodyPr>
          <a:lstStyle/>
          <a:p>
            <a:pPr marL="285750" indent="-285750">
              <a:buFont typeface="Arial" panose="020B0604020202020204" pitchFamily="34" charset="0"/>
              <a:buChar char="•"/>
            </a:pPr>
            <a:r>
              <a:rPr lang="en-US" sz="2000" b="1" dirty="0">
                <a:latin typeface="Gill Sans Light"/>
              </a:rPr>
              <a:t>Application’s “machine” </a:t>
            </a:r>
            <a:r>
              <a:rPr lang="en-US" sz="2000" b="1" i="1" dirty="0">
                <a:latin typeface="Gill Sans Light"/>
              </a:rPr>
              <a:t>is</a:t>
            </a:r>
            <a:r>
              <a:rPr lang="en-US" sz="2000" b="1" dirty="0">
                <a:latin typeface="Gill Sans Light"/>
              </a:rPr>
              <a:t> the process abstraction provided by the OS</a:t>
            </a:r>
          </a:p>
          <a:p>
            <a:pPr marL="285750" indent="-285750">
              <a:buFont typeface="Arial" panose="020B0604020202020204" pitchFamily="34" charset="0"/>
              <a:buChar char="•"/>
            </a:pPr>
            <a:r>
              <a:rPr lang="en-US" sz="2000" b="1" dirty="0">
                <a:latin typeface="Gill Sans Light"/>
              </a:rPr>
              <a:t>Each running program runs in its own process</a:t>
            </a:r>
          </a:p>
          <a:p>
            <a:pPr marL="285750" indent="-285750">
              <a:buFont typeface="Arial" panose="020B0604020202020204" pitchFamily="34" charset="0"/>
              <a:buChar char="•"/>
            </a:pPr>
            <a:r>
              <a:rPr lang="en-US" sz="2000" b="1" dirty="0">
                <a:latin typeface="Gill Sans Light"/>
              </a:rPr>
              <a:t>Processes provide nicer interfaces than raw hardware</a:t>
            </a:r>
          </a:p>
        </p:txBody>
      </p:sp>
    </p:spTree>
    <p:extLst>
      <p:ext uri="{BB962C8B-B14F-4D97-AF65-F5344CB8AC3E}">
        <p14:creationId xmlns:p14="http://schemas.microsoft.com/office/powerpoint/2010/main" val="305225340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42E57F-5EDE-41A9-A434-BCB74FF40209}"/>
              </a:ext>
            </a:extLst>
          </p:cNvPr>
          <p:cNvSpPr>
            <a:spLocks noGrp="1"/>
          </p:cNvSpPr>
          <p:nvPr>
            <p:ph type="title"/>
          </p:nvPr>
        </p:nvSpPr>
        <p:spPr/>
        <p:txBody>
          <a:bodyPr/>
          <a:lstStyle/>
          <a:p>
            <a:r>
              <a:rPr lang="en-US" dirty="0"/>
              <a:t>What’s in a Process?</a:t>
            </a:r>
          </a:p>
        </p:txBody>
      </p:sp>
      <p:sp>
        <p:nvSpPr>
          <p:cNvPr id="3" name="Content Placeholder 2">
            <a:extLst>
              <a:ext uri="{FF2B5EF4-FFF2-40B4-BE49-F238E27FC236}">
                <a16:creationId xmlns:a16="http://schemas.microsoft.com/office/drawing/2014/main" id="{092203CE-FA9F-4A69-8715-F472952BE715}"/>
              </a:ext>
            </a:extLst>
          </p:cNvPr>
          <p:cNvSpPr>
            <a:spLocks noGrp="1"/>
          </p:cNvSpPr>
          <p:nvPr>
            <p:ph idx="1"/>
          </p:nvPr>
        </p:nvSpPr>
        <p:spPr/>
        <p:txBody>
          <a:bodyPr/>
          <a:lstStyle/>
          <a:p>
            <a:pPr marL="0" indent="0">
              <a:buNone/>
            </a:pPr>
            <a:r>
              <a:rPr lang="en-US" b="1" dirty="0"/>
              <a:t>A process consists of:</a:t>
            </a:r>
          </a:p>
          <a:p>
            <a:r>
              <a:rPr lang="en-US" dirty="0"/>
              <a:t>Address Space</a:t>
            </a:r>
          </a:p>
          <a:p>
            <a:r>
              <a:rPr lang="en-US" dirty="0"/>
              <a:t>One or more threads of control executing in that address space</a:t>
            </a:r>
          </a:p>
          <a:p>
            <a:r>
              <a:rPr lang="en-US" dirty="0"/>
              <a:t>Additional system state associated with it</a:t>
            </a:r>
          </a:p>
          <a:p>
            <a:pPr lvl="1"/>
            <a:r>
              <a:rPr lang="en-US" dirty="0"/>
              <a:t>Open files</a:t>
            </a:r>
          </a:p>
          <a:p>
            <a:pPr lvl="1"/>
            <a:r>
              <a:rPr lang="en-US" dirty="0"/>
              <a:t>Open sockets (network connections)</a:t>
            </a:r>
          </a:p>
          <a:p>
            <a:pPr lvl="1"/>
            <a:r>
              <a:rPr lang="en-US" dirty="0"/>
              <a:t>…</a:t>
            </a:r>
          </a:p>
        </p:txBody>
      </p:sp>
    </p:spTree>
    <p:extLst>
      <p:ext uri="{BB962C8B-B14F-4D97-AF65-F5344CB8AC3E}">
        <p14:creationId xmlns:p14="http://schemas.microsoft.com/office/powerpoint/2010/main" val="2081969448"/>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Rectangle 83">
            <a:extLst>
              <a:ext uri="{FF2B5EF4-FFF2-40B4-BE49-F238E27FC236}">
                <a16:creationId xmlns:a16="http://schemas.microsoft.com/office/drawing/2014/main" id="{87B4BF93-F38E-482C-92DA-97BF83D39E26}"/>
              </a:ext>
            </a:extLst>
          </p:cNvPr>
          <p:cNvSpPr/>
          <p:nvPr/>
        </p:nvSpPr>
        <p:spPr>
          <a:xfrm>
            <a:off x="419100" y="2710529"/>
            <a:ext cx="1417802" cy="1493074"/>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Gill Sans Light"/>
              </a:rPr>
              <a:t>Compiler</a:t>
            </a:r>
          </a:p>
        </p:txBody>
      </p:sp>
      <p:sp>
        <p:nvSpPr>
          <p:cNvPr id="45" name="Rectangle 44">
            <a:extLst>
              <a:ext uri="{FF2B5EF4-FFF2-40B4-BE49-F238E27FC236}">
                <a16:creationId xmlns:a16="http://schemas.microsoft.com/office/drawing/2014/main" id="{3EFB73E7-29AB-4311-90E8-B9325E17083A}"/>
              </a:ext>
            </a:extLst>
          </p:cNvPr>
          <p:cNvSpPr/>
          <p:nvPr/>
        </p:nvSpPr>
        <p:spPr>
          <a:xfrm>
            <a:off x="0" y="1860550"/>
            <a:ext cx="12192000" cy="4616450"/>
          </a:xfrm>
          <a:prstGeom prst="rect">
            <a:avLst/>
          </a:pr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Gill Sans Light"/>
            </a:endParaRPr>
          </a:p>
        </p:txBody>
      </p:sp>
      <p:sp>
        <p:nvSpPr>
          <p:cNvPr id="2" name="Title 1">
            <a:extLst>
              <a:ext uri="{FF2B5EF4-FFF2-40B4-BE49-F238E27FC236}">
                <a16:creationId xmlns:a16="http://schemas.microsoft.com/office/drawing/2014/main" id="{2735C77F-660A-43A3-8126-43A0F77E49F3}"/>
              </a:ext>
            </a:extLst>
          </p:cNvPr>
          <p:cNvSpPr>
            <a:spLocks noGrp="1"/>
          </p:cNvSpPr>
          <p:nvPr>
            <p:ph type="title"/>
          </p:nvPr>
        </p:nvSpPr>
        <p:spPr/>
        <p:txBody>
          <a:bodyPr/>
          <a:lstStyle/>
          <a:p>
            <a:r>
              <a:rPr lang="en-US" dirty="0">
                <a:latin typeface="Gill Sans Light"/>
              </a:rPr>
              <a:t>Operating System’s View of the World</a:t>
            </a:r>
          </a:p>
        </p:txBody>
      </p:sp>
      <p:sp>
        <p:nvSpPr>
          <p:cNvPr id="6" name="Rectangle 5">
            <a:extLst>
              <a:ext uri="{FF2B5EF4-FFF2-40B4-BE49-F238E27FC236}">
                <a16:creationId xmlns:a16="http://schemas.microsoft.com/office/drawing/2014/main" id="{73193DD4-304A-4B76-81C9-FBF787FE779B}"/>
              </a:ext>
            </a:extLst>
          </p:cNvPr>
          <p:cNvSpPr/>
          <p:nvPr/>
        </p:nvSpPr>
        <p:spPr bwMode="auto">
          <a:xfrm>
            <a:off x="654050" y="4470400"/>
            <a:ext cx="11118850" cy="1689099"/>
          </a:xfrm>
          <a:prstGeom prst="rect">
            <a:avLst/>
          </a:prstGeom>
          <a:pattFill prst="horzBrick">
            <a:fgClr>
              <a:schemeClr val="bg2">
                <a:lumMod val="40000"/>
                <a:lumOff val="60000"/>
              </a:schemeClr>
            </a:fgClr>
            <a:bgClr>
              <a:prstClr val="white"/>
            </a:bgClr>
          </a:patt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dirty="0">
              <a:ln>
                <a:noFill/>
              </a:ln>
              <a:solidFill>
                <a:schemeClr val="tx1"/>
              </a:solidFill>
              <a:effectLst/>
              <a:latin typeface="Gill Sans Light"/>
            </a:endParaRPr>
          </a:p>
        </p:txBody>
      </p:sp>
      <p:sp>
        <p:nvSpPr>
          <p:cNvPr id="8" name="Rounded Rectangle 6">
            <a:extLst>
              <a:ext uri="{FF2B5EF4-FFF2-40B4-BE49-F238E27FC236}">
                <a16:creationId xmlns:a16="http://schemas.microsoft.com/office/drawing/2014/main" id="{EA9B6AFF-D750-4502-865E-E3737510EED0}"/>
              </a:ext>
            </a:extLst>
          </p:cNvPr>
          <p:cNvSpPr/>
          <p:nvPr/>
        </p:nvSpPr>
        <p:spPr bwMode="auto">
          <a:xfrm>
            <a:off x="2201858" y="4618038"/>
            <a:ext cx="1728792" cy="838200"/>
          </a:xfrm>
          <a:prstGeom prst="roundRect">
            <a:avLst/>
          </a:prstGeom>
          <a:solidFill>
            <a:schemeClr val="accent1">
              <a:lumMod val="40000"/>
              <a:lumOff val="6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Gill Sans Light"/>
              </a:rPr>
              <a:t>Processor</a:t>
            </a:r>
            <a:endParaRPr kumimoji="0" lang="en-US" sz="1400" b="0" i="0" u="none" strike="noStrike" cap="none" normalizeH="0" baseline="0" dirty="0">
              <a:ln>
                <a:noFill/>
              </a:ln>
              <a:solidFill>
                <a:schemeClr val="tx1"/>
              </a:solidFill>
              <a:effectLst/>
              <a:latin typeface="Gill Sans Light"/>
            </a:endParaRPr>
          </a:p>
        </p:txBody>
      </p:sp>
      <p:sp>
        <p:nvSpPr>
          <p:cNvPr id="9" name="Rectangle 8">
            <a:extLst>
              <a:ext uri="{FF2B5EF4-FFF2-40B4-BE49-F238E27FC236}">
                <a16:creationId xmlns:a16="http://schemas.microsoft.com/office/drawing/2014/main" id="{85025C03-FC2A-4CCF-8684-4F37D94D3763}"/>
              </a:ext>
            </a:extLst>
          </p:cNvPr>
          <p:cNvSpPr/>
          <p:nvPr/>
        </p:nvSpPr>
        <p:spPr bwMode="auto">
          <a:xfrm>
            <a:off x="5009666" y="4664869"/>
            <a:ext cx="1760608" cy="973138"/>
          </a:xfrm>
          <a:prstGeom prst="rect">
            <a:avLst/>
          </a:prstGeom>
          <a:solidFill>
            <a:srgbClr val="5AAEFF"/>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Gill Sans Light"/>
              </a:rPr>
              <a:t>Memory</a:t>
            </a:r>
          </a:p>
        </p:txBody>
      </p:sp>
      <p:grpSp>
        <p:nvGrpSpPr>
          <p:cNvPr id="10" name="Group 9">
            <a:extLst>
              <a:ext uri="{FF2B5EF4-FFF2-40B4-BE49-F238E27FC236}">
                <a16:creationId xmlns:a16="http://schemas.microsoft.com/office/drawing/2014/main" id="{4C2174B6-519D-44F7-A8CB-C9D9304FB602}"/>
              </a:ext>
            </a:extLst>
          </p:cNvPr>
          <p:cNvGrpSpPr/>
          <p:nvPr/>
        </p:nvGrpSpPr>
        <p:grpSpPr>
          <a:xfrm>
            <a:off x="3244850" y="5075238"/>
            <a:ext cx="533400" cy="304800"/>
            <a:chOff x="3124200" y="3657600"/>
            <a:chExt cx="533400" cy="304800"/>
          </a:xfrm>
        </p:grpSpPr>
        <p:sp>
          <p:nvSpPr>
            <p:cNvPr id="11" name="Rectangle 10">
              <a:extLst>
                <a:ext uri="{FF2B5EF4-FFF2-40B4-BE49-F238E27FC236}">
                  <a16:creationId xmlns:a16="http://schemas.microsoft.com/office/drawing/2014/main" id="{EFBA6894-B008-4F1D-B22C-730173B3DFD4}"/>
                </a:ext>
              </a:extLst>
            </p:cNvPr>
            <p:cNvSpPr/>
            <p:nvPr/>
          </p:nvSpPr>
          <p:spPr bwMode="auto">
            <a:xfrm>
              <a:off x="3124200" y="3657600"/>
              <a:ext cx="533400" cy="304800"/>
            </a:xfrm>
            <a:prstGeom prst="rect">
              <a:avLst/>
            </a:prstGeom>
            <a:no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sp>
          <p:nvSpPr>
            <p:cNvPr id="12" name="Rectangle 11">
              <a:extLst>
                <a:ext uri="{FF2B5EF4-FFF2-40B4-BE49-F238E27FC236}">
                  <a16:creationId xmlns:a16="http://schemas.microsoft.com/office/drawing/2014/main" id="{F6B854A3-399D-4E47-BB10-B204E22F6207}"/>
                </a:ext>
              </a:extLst>
            </p:cNvPr>
            <p:cNvSpPr/>
            <p:nvPr/>
          </p:nvSpPr>
          <p:spPr bwMode="auto">
            <a:xfrm>
              <a:off x="3124200" y="3733800"/>
              <a:ext cx="533400" cy="152400"/>
            </a:xfrm>
            <a:prstGeom prst="rect">
              <a:avLst/>
            </a:prstGeom>
            <a:no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grpSp>
      <p:sp>
        <p:nvSpPr>
          <p:cNvPr id="15" name="Rectangle 14">
            <a:extLst>
              <a:ext uri="{FF2B5EF4-FFF2-40B4-BE49-F238E27FC236}">
                <a16:creationId xmlns:a16="http://schemas.microsoft.com/office/drawing/2014/main" id="{5590399D-D2AD-4FCF-BFD2-DB8D8F919509}"/>
              </a:ext>
            </a:extLst>
          </p:cNvPr>
          <p:cNvSpPr/>
          <p:nvPr/>
        </p:nvSpPr>
        <p:spPr bwMode="auto">
          <a:xfrm>
            <a:off x="5433151" y="5013315"/>
            <a:ext cx="609600" cy="381000"/>
          </a:xfrm>
          <a:prstGeom prst="rect">
            <a:avLst/>
          </a:prstGeom>
          <a:solidFill>
            <a:srgbClr val="FBBA03"/>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sp>
        <p:nvSpPr>
          <p:cNvPr id="16" name="Rectangle 15">
            <a:extLst>
              <a:ext uri="{FF2B5EF4-FFF2-40B4-BE49-F238E27FC236}">
                <a16:creationId xmlns:a16="http://schemas.microsoft.com/office/drawing/2014/main" id="{7114092D-E1CB-4952-8CAA-BD6429870DAC}"/>
              </a:ext>
            </a:extLst>
          </p:cNvPr>
          <p:cNvSpPr/>
          <p:nvPr/>
        </p:nvSpPr>
        <p:spPr bwMode="auto">
          <a:xfrm>
            <a:off x="5302250" y="5104607"/>
            <a:ext cx="609600" cy="381000"/>
          </a:xfrm>
          <a:prstGeom prst="rect">
            <a:avLst/>
          </a:prstGeom>
          <a:solidFill>
            <a:srgbClr val="CC3333"/>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sp>
        <p:nvSpPr>
          <p:cNvPr id="13" name="Rectangle 12">
            <a:extLst>
              <a:ext uri="{FF2B5EF4-FFF2-40B4-BE49-F238E27FC236}">
                <a16:creationId xmlns:a16="http://schemas.microsoft.com/office/drawing/2014/main" id="{4A1809EB-73C2-4CF6-B753-8F1B20E63381}"/>
              </a:ext>
            </a:extLst>
          </p:cNvPr>
          <p:cNvSpPr/>
          <p:nvPr/>
        </p:nvSpPr>
        <p:spPr bwMode="auto">
          <a:xfrm>
            <a:off x="5171349" y="5188015"/>
            <a:ext cx="609600" cy="396832"/>
          </a:xfrm>
          <a:prstGeom prst="rect">
            <a:avLst/>
          </a:prstGeom>
          <a:solidFill>
            <a:schemeClr val="accent2">
              <a:lumMod val="40000"/>
              <a:lumOff val="6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grpSp>
        <p:nvGrpSpPr>
          <p:cNvPr id="19" name="Group 18">
            <a:extLst>
              <a:ext uri="{FF2B5EF4-FFF2-40B4-BE49-F238E27FC236}">
                <a16:creationId xmlns:a16="http://schemas.microsoft.com/office/drawing/2014/main" id="{E3801482-024B-4578-81D6-B8D5101ACF77}"/>
              </a:ext>
            </a:extLst>
          </p:cNvPr>
          <p:cNvGrpSpPr/>
          <p:nvPr/>
        </p:nvGrpSpPr>
        <p:grpSpPr>
          <a:xfrm>
            <a:off x="4432116" y="4603105"/>
            <a:ext cx="712053" cy="710043"/>
            <a:chOff x="4121335" y="2654300"/>
            <a:chExt cx="712053" cy="828477"/>
          </a:xfrm>
        </p:grpSpPr>
        <p:sp>
          <p:nvSpPr>
            <p:cNvPr id="20" name="Rectangle 19">
              <a:extLst>
                <a:ext uri="{FF2B5EF4-FFF2-40B4-BE49-F238E27FC236}">
                  <a16:creationId xmlns:a16="http://schemas.microsoft.com/office/drawing/2014/main" id="{5E4894ED-F264-49FF-B7AB-BA4E6C68158A}"/>
                </a:ext>
              </a:extLst>
            </p:cNvPr>
            <p:cNvSpPr/>
            <p:nvPr/>
          </p:nvSpPr>
          <p:spPr bwMode="auto">
            <a:xfrm>
              <a:off x="4178300" y="2720777"/>
              <a:ext cx="609598" cy="762000"/>
            </a:xfrm>
            <a:prstGeom prst="rect">
              <a:avLst/>
            </a:prstGeom>
            <a:solidFill>
              <a:schemeClr val="bg2"/>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sp>
          <p:nvSpPr>
            <p:cNvPr id="21" name="TextBox 20">
              <a:extLst>
                <a:ext uri="{FF2B5EF4-FFF2-40B4-BE49-F238E27FC236}">
                  <a16:creationId xmlns:a16="http://schemas.microsoft.com/office/drawing/2014/main" id="{C80A16C0-CBEC-4DD9-AD38-2EB7C3ECDF3A}"/>
                </a:ext>
              </a:extLst>
            </p:cNvPr>
            <p:cNvSpPr txBox="1"/>
            <p:nvPr/>
          </p:nvSpPr>
          <p:spPr>
            <a:xfrm>
              <a:off x="4121335" y="2654300"/>
              <a:ext cx="712053" cy="610492"/>
            </a:xfrm>
            <a:prstGeom prst="rect">
              <a:avLst/>
            </a:prstGeom>
            <a:noFill/>
          </p:spPr>
          <p:txBody>
            <a:bodyPr wrap="none" rtlCol="0">
              <a:spAutoFit/>
            </a:bodyPr>
            <a:lstStyle/>
            <a:p>
              <a:pPr algn="ctr"/>
              <a:r>
                <a:rPr lang="en-US" sz="1400" dirty="0" err="1">
                  <a:latin typeface="Gill Sans Light"/>
                </a:rPr>
                <a:t>PgTbl</a:t>
              </a:r>
              <a:endParaRPr lang="en-US" sz="1400" dirty="0">
                <a:latin typeface="Gill Sans Light"/>
              </a:endParaRPr>
            </a:p>
            <a:p>
              <a:pPr algn="ctr"/>
              <a:r>
                <a:rPr lang="en-US" sz="1400" dirty="0">
                  <a:latin typeface="Gill Sans Light"/>
                </a:rPr>
                <a:t>&amp; TLB</a:t>
              </a:r>
            </a:p>
          </p:txBody>
        </p:sp>
      </p:grpSp>
      <p:cxnSp>
        <p:nvCxnSpPr>
          <p:cNvPr id="22" name="Straight Arrow Connector 21">
            <a:extLst>
              <a:ext uri="{FF2B5EF4-FFF2-40B4-BE49-F238E27FC236}">
                <a16:creationId xmlns:a16="http://schemas.microsoft.com/office/drawing/2014/main" id="{52D33204-BC10-46FF-B132-F33C746DE9B8}"/>
              </a:ext>
            </a:extLst>
          </p:cNvPr>
          <p:cNvCxnSpPr>
            <a:cxnSpLocks/>
          </p:cNvCxnSpPr>
          <p:nvPr/>
        </p:nvCxnSpPr>
        <p:spPr bwMode="auto">
          <a:xfrm flipV="1">
            <a:off x="3930650" y="5232303"/>
            <a:ext cx="1273102" cy="2471"/>
          </a:xfrm>
          <a:prstGeom prst="straightConnector1">
            <a:avLst/>
          </a:prstGeom>
          <a:solidFill>
            <a:schemeClr val="accent1"/>
          </a:solidFill>
          <a:ln w="57150" cap="flat" cmpd="sng" algn="ctr">
            <a:solidFill>
              <a:schemeClr val="tx1"/>
            </a:solidFill>
            <a:prstDash val="solid"/>
            <a:round/>
            <a:headEnd type="triangle" w="med" len="med"/>
            <a:tailEnd type="triangle"/>
          </a:ln>
          <a:effectLst/>
        </p:spPr>
      </p:cxnSp>
      <p:cxnSp>
        <p:nvCxnSpPr>
          <p:cNvPr id="17" name="Curved Connector 54">
            <a:extLst>
              <a:ext uri="{FF2B5EF4-FFF2-40B4-BE49-F238E27FC236}">
                <a16:creationId xmlns:a16="http://schemas.microsoft.com/office/drawing/2014/main" id="{1C7D6572-FBEF-45D3-B9EB-4A6924279104}"/>
              </a:ext>
            </a:extLst>
          </p:cNvPr>
          <p:cNvCxnSpPr>
            <a:cxnSpLocks/>
          </p:cNvCxnSpPr>
          <p:nvPr/>
        </p:nvCxnSpPr>
        <p:spPr bwMode="auto">
          <a:xfrm>
            <a:off x="3600451" y="5265655"/>
            <a:ext cx="1775551" cy="217481"/>
          </a:xfrm>
          <a:prstGeom prst="curvedConnector3">
            <a:avLst>
              <a:gd name="adj1" fmla="val 23535"/>
            </a:avLst>
          </a:prstGeom>
          <a:solidFill>
            <a:schemeClr val="accent1"/>
          </a:solidFill>
          <a:ln w="22225" cap="flat" cmpd="sng" algn="ctr">
            <a:solidFill>
              <a:schemeClr val="tx1"/>
            </a:solidFill>
            <a:prstDash val="solid"/>
            <a:round/>
            <a:headEnd type="triangle" w="sm" len="sm"/>
            <a:tailEnd type="triangle"/>
          </a:ln>
          <a:effectLst/>
        </p:spPr>
      </p:cxnSp>
      <p:sp>
        <p:nvSpPr>
          <p:cNvPr id="26" name="Can 38">
            <a:extLst>
              <a:ext uri="{FF2B5EF4-FFF2-40B4-BE49-F238E27FC236}">
                <a16:creationId xmlns:a16="http://schemas.microsoft.com/office/drawing/2014/main" id="{2D66A6BA-E078-4243-A542-4EDF0004EFC1}"/>
              </a:ext>
            </a:extLst>
          </p:cNvPr>
          <p:cNvSpPr/>
          <p:nvPr/>
        </p:nvSpPr>
        <p:spPr bwMode="auto">
          <a:xfrm>
            <a:off x="6978098" y="4601091"/>
            <a:ext cx="977900" cy="973138"/>
          </a:xfrm>
          <a:prstGeom prst="can">
            <a:avLst/>
          </a:prstGeom>
          <a:solidFill>
            <a:srgbClr val="5AAEFF"/>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600" dirty="0">
                <a:latin typeface="Gill Sans Light"/>
              </a:rPr>
              <a:t>Storage</a:t>
            </a:r>
            <a:endParaRPr kumimoji="0" lang="en-US" sz="1600" b="0" i="0" u="none" strike="noStrike" cap="none" normalizeH="0" baseline="0" dirty="0">
              <a:ln>
                <a:noFill/>
              </a:ln>
              <a:solidFill>
                <a:schemeClr val="tx1"/>
              </a:solidFill>
              <a:effectLst/>
              <a:latin typeface="Gill Sans Light"/>
            </a:endParaRPr>
          </a:p>
        </p:txBody>
      </p:sp>
      <p:pic>
        <p:nvPicPr>
          <p:cNvPr id="27" name="Picture 26">
            <a:extLst>
              <a:ext uri="{FF2B5EF4-FFF2-40B4-BE49-F238E27FC236}">
                <a16:creationId xmlns:a16="http://schemas.microsoft.com/office/drawing/2014/main" id="{57205715-3232-4739-82EE-E1D9E0C153A6}"/>
              </a:ext>
            </a:extLst>
          </p:cNvPr>
          <p:cNvPicPr>
            <a:picLocks noChangeAspect="1"/>
          </p:cNvPicPr>
          <p:nvPr/>
        </p:nvPicPr>
        <p:blipFill>
          <a:blip r:embed="rId2">
            <a:clrChange>
              <a:clrFrom>
                <a:srgbClr val="FFFFFF"/>
              </a:clrFrom>
              <a:clrTo>
                <a:srgbClr val="FFFFFF">
                  <a:alpha val="0"/>
                </a:srgbClr>
              </a:clrTo>
            </a:clrChange>
          </a:blip>
          <a:stretch>
            <a:fillRect/>
          </a:stretch>
        </p:blipFill>
        <p:spPr>
          <a:xfrm flipH="1">
            <a:off x="8302804" y="4559299"/>
            <a:ext cx="1270482" cy="1270482"/>
          </a:xfrm>
          <a:prstGeom prst="rect">
            <a:avLst/>
          </a:prstGeom>
        </p:spPr>
      </p:pic>
      <p:sp>
        <p:nvSpPr>
          <p:cNvPr id="31" name="TextBox 30">
            <a:extLst>
              <a:ext uri="{FF2B5EF4-FFF2-40B4-BE49-F238E27FC236}">
                <a16:creationId xmlns:a16="http://schemas.microsoft.com/office/drawing/2014/main" id="{A8A63F55-8F57-4FCF-A466-B7ABFA7D293F}"/>
              </a:ext>
            </a:extLst>
          </p:cNvPr>
          <p:cNvSpPr txBox="1"/>
          <p:nvPr/>
        </p:nvSpPr>
        <p:spPr>
          <a:xfrm>
            <a:off x="8315784" y="4518076"/>
            <a:ext cx="1107996" cy="338554"/>
          </a:xfrm>
          <a:prstGeom prst="rect">
            <a:avLst/>
          </a:prstGeom>
          <a:noFill/>
        </p:spPr>
        <p:txBody>
          <a:bodyPr wrap="none" rtlCol="0">
            <a:spAutoFit/>
          </a:bodyPr>
          <a:lstStyle/>
          <a:p>
            <a:pPr algn="ctr"/>
            <a:r>
              <a:rPr lang="en-US" sz="1600" dirty="0">
                <a:latin typeface="Gill Sans Light"/>
              </a:rPr>
              <a:t>Networks</a:t>
            </a:r>
          </a:p>
        </p:txBody>
      </p:sp>
      <p:sp>
        <p:nvSpPr>
          <p:cNvPr id="34" name="TextBox 33">
            <a:extLst>
              <a:ext uri="{FF2B5EF4-FFF2-40B4-BE49-F238E27FC236}">
                <a16:creationId xmlns:a16="http://schemas.microsoft.com/office/drawing/2014/main" id="{5A2B64A6-5DE4-40BC-B41E-052C2DBBB4E8}"/>
              </a:ext>
            </a:extLst>
          </p:cNvPr>
          <p:cNvSpPr txBox="1"/>
          <p:nvPr/>
        </p:nvSpPr>
        <p:spPr>
          <a:xfrm>
            <a:off x="631271" y="4919941"/>
            <a:ext cx="1353256" cy="400110"/>
          </a:xfrm>
          <a:prstGeom prst="rect">
            <a:avLst/>
          </a:prstGeom>
          <a:noFill/>
        </p:spPr>
        <p:txBody>
          <a:bodyPr wrap="none" rtlCol="0">
            <a:spAutoFit/>
          </a:bodyPr>
          <a:lstStyle/>
          <a:p>
            <a:r>
              <a:rPr lang="en-US" sz="2000" dirty="0">
                <a:latin typeface="Gill Sans Light"/>
              </a:rPr>
              <a:t>Hardware</a:t>
            </a:r>
          </a:p>
        </p:txBody>
      </p:sp>
      <p:cxnSp>
        <p:nvCxnSpPr>
          <p:cNvPr id="39" name="Straight Arrow Connector 38">
            <a:extLst>
              <a:ext uri="{FF2B5EF4-FFF2-40B4-BE49-F238E27FC236}">
                <a16:creationId xmlns:a16="http://schemas.microsoft.com/office/drawing/2014/main" id="{44B237A5-A629-47CA-A0F4-6D264547B1E9}"/>
              </a:ext>
            </a:extLst>
          </p:cNvPr>
          <p:cNvCxnSpPr>
            <a:cxnSpLocks/>
            <a:endCxn id="26" idx="3"/>
          </p:cNvCxnSpPr>
          <p:nvPr/>
        </p:nvCxnSpPr>
        <p:spPr>
          <a:xfrm flipV="1">
            <a:off x="7467048" y="5574229"/>
            <a:ext cx="0" cy="331271"/>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AC006469-8BAB-4F3E-A8D9-EB19E5DDCFD3}"/>
              </a:ext>
            </a:extLst>
          </p:cNvPr>
          <p:cNvCxnSpPr>
            <a:cxnSpLocks/>
          </p:cNvCxnSpPr>
          <p:nvPr/>
        </p:nvCxnSpPr>
        <p:spPr>
          <a:xfrm flipV="1">
            <a:off x="8891831" y="5584848"/>
            <a:ext cx="0" cy="320652"/>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800CF464-6799-4EF1-A173-649974B69470}"/>
              </a:ext>
            </a:extLst>
          </p:cNvPr>
          <p:cNvCxnSpPr>
            <a:cxnSpLocks/>
          </p:cNvCxnSpPr>
          <p:nvPr/>
        </p:nvCxnSpPr>
        <p:spPr>
          <a:xfrm flipV="1">
            <a:off x="4308999" y="5234774"/>
            <a:ext cx="0" cy="670726"/>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077FE5F6-6698-44C8-949A-3B1FFA12825F}"/>
              </a:ext>
            </a:extLst>
          </p:cNvPr>
          <p:cNvCxnSpPr>
            <a:cxnSpLocks/>
            <a:endCxn id="56" idx="1"/>
          </p:cNvCxnSpPr>
          <p:nvPr/>
        </p:nvCxnSpPr>
        <p:spPr>
          <a:xfrm>
            <a:off x="4105518" y="5911715"/>
            <a:ext cx="1091231" cy="0"/>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56" name="Rectangle 55">
            <a:extLst>
              <a:ext uri="{FF2B5EF4-FFF2-40B4-BE49-F238E27FC236}">
                <a16:creationId xmlns:a16="http://schemas.microsoft.com/office/drawing/2014/main" id="{0182EB5C-4F86-416A-B81D-EA223AEB393C}"/>
              </a:ext>
            </a:extLst>
          </p:cNvPr>
          <p:cNvSpPr/>
          <p:nvPr/>
        </p:nvSpPr>
        <p:spPr bwMode="auto">
          <a:xfrm>
            <a:off x="5196749" y="5765133"/>
            <a:ext cx="1044306" cy="293164"/>
          </a:xfrm>
          <a:prstGeom prst="rect">
            <a:avLst/>
          </a:prstGeom>
          <a:no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400" b="0" i="0" u="none" strike="noStrike" cap="none" normalizeH="0" baseline="0" dirty="0">
                <a:ln>
                  <a:noFill/>
                </a:ln>
                <a:solidFill>
                  <a:schemeClr val="tx1"/>
                </a:solidFill>
                <a:effectLst/>
                <a:latin typeface="Gill Sans Light"/>
              </a:rPr>
              <a:t>I/O </a:t>
            </a:r>
            <a:r>
              <a:rPr kumimoji="0" lang="en-US" sz="1400" b="0" i="0" u="none" strike="noStrike" cap="none" normalizeH="0" baseline="0" dirty="0" err="1">
                <a:ln>
                  <a:noFill/>
                </a:ln>
                <a:solidFill>
                  <a:schemeClr val="tx1"/>
                </a:solidFill>
                <a:effectLst/>
                <a:latin typeface="Gill Sans Light"/>
              </a:rPr>
              <a:t>Ctrlr</a:t>
            </a:r>
            <a:endParaRPr kumimoji="0" lang="en-US" sz="1400" b="0" i="0" u="none" strike="noStrike" cap="none" normalizeH="0" baseline="0" dirty="0">
              <a:ln>
                <a:noFill/>
              </a:ln>
              <a:solidFill>
                <a:schemeClr val="tx1"/>
              </a:solidFill>
              <a:effectLst/>
              <a:latin typeface="Gill Sans Light"/>
            </a:endParaRPr>
          </a:p>
        </p:txBody>
      </p:sp>
      <p:cxnSp>
        <p:nvCxnSpPr>
          <p:cNvPr id="59" name="Straight Arrow Connector 58">
            <a:extLst>
              <a:ext uri="{FF2B5EF4-FFF2-40B4-BE49-F238E27FC236}">
                <a16:creationId xmlns:a16="http://schemas.microsoft.com/office/drawing/2014/main" id="{7CEF80FD-C99C-4106-86FD-C44623EF6D66}"/>
              </a:ext>
            </a:extLst>
          </p:cNvPr>
          <p:cNvCxnSpPr>
            <a:cxnSpLocks/>
            <a:stCxn id="56" idx="3"/>
          </p:cNvCxnSpPr>
          <p:nvPr/>
        </p:nvCxnSpPr>
        <p:spPr>
          <a:xfrm flipV="1">
            <a:off x="6241055" y="5905500"/>
            <a:ext cx="5145949" cy="0"/>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8C42E879-B352-4CB0-9045-9528A742E94C}"/>
              </a:ext>
            </a:extLst>
          </p:cNvPr>
          <p:cNvSpPr txBox="1"/>
          <p:nvPr/>
        </p:nvSpPr>
        <p:spPr>
          <a:xfrm>
            <a:off x="861699" y="4314038"/>
            <a:ext cx="1494531" cy="338554"/>
          </a:xfrm>
          <a:prstGeom prst="rect">
            <a:avLst/>
          </a:prstGeom>
          <a:solidFill>
            <a:srgbClr val="EFE683"/>
          </a:solidFill>
          <a:ln>
            <a:solidFill>
              <a:schemeClr val="tx1"/>
            </a:solidFill>
          </a:ln>
        </p:spPr>
        <p:txBody>
          <a:bodyPr wrap="square" rtlCol="0">
            <a:spAutoFit/>
          </a:bodyPr>
          <a:lstStyle/>
          <a:p>
            <a:pPr algn="ctr"/>
            <a:r>
              <a:rPr lang="en-US" sz="1600" b="1" i="1" dirty="0">
                <a:latin typeface="Gill Sans Light"/>
              </a:rPr>
              <a:t>ISA</a:t>
            </a:r>
          </a:p>
        </p:txBody>
      </p:sp>
      <p:sp>
        <p:nvSpPr>
          <p:cNvPr id="63" name="Rectangle 62">
            <a:extLst>
              <a:ext uri="{FF2B5EF4-FFF2-40B4-BE49-F238E27FC236}">
                <a16:creationId xmlns:a16="http://schemas.microsoft.com/office/drawing/2014/main" id="{CA91FAA7-997F-463D-B0E7-ECB8FF4BD25C}"/>
              </a:ext>
            </a:extLst>
          </p:cNvPr>
          <p:cNvSpPr/>
          <p:nvPr/>
        </p:nvSpPr>
        <p:spPr>
          <a:xfrm>
            <a:off x="1955800" y="3595554"/>
            <a:ext cx="9753601" cy="936847"/>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latin typeface="Gill Sans Light"/>
              </a:rPr>
              <a:t>Operating System</a:t>
            </a:r>
          </a:p>
        </p:txBody>
      </p:sp>
      <p:sp>
        <p:nvSpPr>
          <p:cNvPr id="80" name="Rectangle 79">
            <a:extLst>
              <a:ext uri="{FF2B5EF4-FFF2-40B4-BE49-F238E27FC236}">
                <a16:creationId xmlns:a16="http://schemas.microsoft.com/office/drawing/2014/main" id="{4838629E-2E3E-4207-99FE-90E9B77B1C43}"/>
              </a:ext>
            </a:extLst>
          </p:cNvPr>
          <p:cNvSpPr/>
          <p:nvPr/>
        </p:nvSpPr>
        <p:spPr>
          <a:xfrm>
            <a:off x="2201859" y="2710529"/>
            <a:ext cx="4568415" cy="936847"/>
          </a:xfrm>
          <a:prstGeom prst="rect">
            <a:avLst/>
          </a:prstGeom>
          <a:solidFill>
            <a:srgbClr val="9E78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1" dirty="0">
                <a:solidFill>
                  <a:schemeClr val="tx1"/>
                </a:solidFill>
                <a:latin typeface="Gill Sans Light"/>
              </a:rPr>
              <a:t>Process 1</a:t>
            </a:r>
          </a:p>
          <a:p>
            <a:pPr algn="ctr"/>
            <a:endParaRPr lang="en-US" sz="1200" dirty="0">
              <a:solidFill>
                <a:schemeClr val="tx1"/>
              </a:solidFill>
              <a:latin typeface="Gill Sans Light"/>
            </a:endParaRPr>
          </a:p>
        </p:txBody>
      </p:sp>
      <p:sp>
        <p:nvSpPr>
          <p:cNvPr id="72" name="TextBox 71">
            <a:extLst>
              <a:ext uri="{FF2B5EF4-FFF2-40B4-BE49-F238E27FC236}">
                <a16:creationId xmlns:a16="http://schemas.microsoft.com/office/drawing/2014/main" id="{E4897103-5196-4D83-8C50-ED908C0B63F9}"/>
              </a:ext>
            </a:extLst>
          </p:cNvPr>
          <p:cNvSpPr txBox="1"/>
          <p:nvPr/>
        </p:nvSpPr>
        <p:spPr>
          <a:xfrm>
            <a:off x="2245360" y="3396030"/>
            <a:ext cx="961390"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Threads</a:t>
            </a:r>
          </a:p>
        </p:txBody>
      </p:sp>
      <p:sp>
        <p:nvSpPr>
          <p:cNvPr id="73" name="Rectangle 72">
            <a:extLst>
              <a:ext uri="{FF2B5EF4-FFF2-40B4-BE49-F238E27FC236}">
                <a16:creationId xmlns:a16="http://schemas.microsoft.com/office/drawing/2014/main" id="{1F630E64-216C-4D30-9C27-5AEDDDA28456}"/>
              </a:ext>
            </a:extLst>
          </p:cNvPr>
          <p:cNvSpPr/>
          <p:nvPr/>
        </p:nvSpPr>
        <p:spPr bwMode="auto">
          <a:xfrm>
            <a:off x="6098451" y="5075238"/>
            <a:ext cx="631346" cy="480009"/>
          </a:xfrm>
          <a:prstGeom prst="rect">
            <a:avLst/>
          </a:prstGeom>
          <a:solidFill>
            <a:schemeClr val="bg2">
              <a:lumMod val="60000"/>
              <a:lumOff val="4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Gill Sans Light"/>
              </a:rPr>
              <a:t>OS Mem</a:t>
            </a:r>
          </a:p>
        </p:txBody>
      </p:sp>
      <p:sp>
        <p:nvSpPr>
          <p:cNvPr id="74" name="TextBox 73">
            <a:extLst>
              <a:ext uri="{FF2B5EF4-FFF2-40B4-BE49-F238E27FC236}">
                <a16:creationId xmlns:a16="http://schemas.microsoft.com/office/drawing/2014/main" id="{903AC2DB-5960-4CF0-B972-E1CDF92622A2}"/>
              </a:ext>
            </a:extLst>
          </p:cNvPr>
          <p:cNvSpPr txBox="1"/>
          <p:nvPr/>
        </p:nvSpPr>
        <p:spPr>
          <a:xfrm>
            <a:off x="3325648" y="3398740"/>
            <a:ext cx="1550862"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Address Spaces</a:t>
            </a:r>
          </a:p>
        </p:txBody>
      </p:sp>
      <p:sp>
        <p:nvSpPr>
          <p:cNvPr id="75" name="TextBox 74">
            <a:extLst>
              <a:ext uri="{FF2B5EF4-FFF2-40B4-BE49-F238E27FC236}">
                <a16:creationId xmlns:a16="http://schemas.microsoft.com/office/drawing/2014/main" id="{AD4C368E-047B-4BC3-8012-71A6CC7B5378}"/>
              </a:ext>
            </a:extLst>
          </p:cNvPr>
          <p:cNvSpPr txBox="1"/>
          <p:nvPr/>
        </p:nvSpPr>
        <p:spPr>
          <a:xfrm>
            <a:off x="5000552" y="3397972"/>
            <a:ext cx="683252"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Files</a:t>
            </a:r>
          </a:p>
        </p:txBody>
      </p:sp>
      <p:sp>
        <p:nvSpPr>
          <p:cNvPr id="76" name="TextBox 75">
            <a:extLst>
              <a:ext uri="{FF2B5EF4-FFF2-40B4-BE49-F238E27FC236}">
                <a16:creationId xmlns:a16="http://schemas.microsoft.com/office/drawing/2014/main" id="{8ED3D70A-C8B7-4AAE-8DB5-86A5FF23DEF3}"/>
              </a:ext>
            </a:extLst>
          </p:cNvPr>
          <p:cNvSpPr txBox="1"/>
          <p:nvPr/>
        </p:nvSpPr>
        <p:spPr>
          <a:xfrm>
            <a:off x="5814118" y="3397972"/>
            <a:ext cx="844624"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Sockets</a:t>
            </a:r>
          </a:p>
        </p:txBody>
      </p:sp>
      <p:sp>
        <p:nvSpPr>
          <p:cNvPr id="55" name="Rectangle 54">
            <a:extLst>
              <a:ext uri="{FF2B5EF4-FFF2-40B4-BE49-F238E27FC236}">
                <a16:creationId xmlns:a16="http://schemas.microsoft.com/office/drawing/2014/main" id="{0E783A07-C148-43C9-84E9-1E9884CF721E}"/>
              </a:ext>
            </a:extLst>
          </p:cNvPr>
          <p:cNvSpPr/>
          <p:nvPr/>
        </p:nvSpPr>
        <p:spPr>
          <a:xfrm>
            <a:off x="6933883" y="2710529"/>
            <a:ext cx="4568415" cy="936847"/>
          </a:xfrm>
          <a:prstGeom prst="rect">
            <a:avLst/>
          </a:prstGeom>
          <a:solidFill>
            <a:srgbClr val="9E78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1" dirty="0">
                <a:solidFill>
                  <a:schemeClr val="tx1"/>
                </a:solidFill>
                <a:latin typeface="Gill Sans Light"/>
              </a:rPr>
              <a:t>Process 2</a:t>
            </a:r>
          </a:p>
          <a:p>
            <a:pPr algn="ctr"/>
            <a:endParaRPr lang="en-US" sz="1200" dirty="0">
              <a:solidFill>
                <a:schemeClr val="tx1"/>
              </a:solidFill>
              <a:latin typeface="Gill Sans Light"/>
            </a:endParaRPr>
          </a:p>
        </p:txBody>
      </p:sp>
      <p:sp>
        <p:nvSpPr>
          <p:cNvPr id="57" name="TextBox 56">
            <a:extLst>
              <a:ext uri="{FF2B5EF4-FFF2-40B4-BE49-F238E27FC236}">
                <a16:creationId xmlns:a16="http://schemas.microsoft.com/office/drawing/2014/main" id="{8FBCBFF2-102E-4AC2-AE4A-CC896E9B1E66}"/>
              </a:ext>
            </a:extLst>
          </p:cNvPr>
          <p:cNvSpPr txBox="1"/>
          <p:nvPr/>
        </p:nvSpPr>
        <p:spPr>
          <a:xfrm>
            <a:off x="6977384" y="3396030"/>
            <a:ext cx="961390"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Threads</a:t>
            </a:r>
          </a:p>
        </p:txBody>
      </p:sp>
      <p:sp>
        <p:nvSpPr>
          <p:cNvPr id="58" name="TextBox 57">
            <a:extLst>
              <a:ext uri="{FF2B5EF4-FFF2-40B4-BE49-F238E27FC236}">
                <a16:creationId xmlns:a16="http://schemas.microsoft.com/office/drawing/2014/main" id="{85A8239A-9FCD-46DB-B7DA-7EA11E27E672}"/>
              </a:ext>
            </a:extLst>
          </p:cNvPr>
          <p:cNvSpPr txBox="1"/>
          <p:nvPr/>
        </p:nvSpPr>
        <p:spPr>
          <a:xfrm>
            <a:off x="8057672" y="3398740"/>
            <a:ext cx="1550862"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Address Spaces</a:t>
            </a:r>
          </a:p>
        </p:txBody>
      </p:sp>
      <p:sp>
        <p:nvSpPr>
          <p:cNvPr id="60" name="TextBox 59">
            <a:extLst>
              <a:ext uri="{FF2B5EF4-FFF2-40B4-BE49-F238E27FC236}">
                <a16:creationId xmlns:a16="http://schemas.microsoft.com/office/drawing/2014/main" id="{D923F43D-F391-40F4-9D87-D4E37AAB7342}"/>
              </a:ext>
            </a:extLst>
          </p:cNvPr>
          <p:cNvSpPr txBox="1"/>
          <p:nvPr/>
        </p:nvSpPr>
        <p:spPr>
          <a:xfrm>
            <a:off x="9732576" y="3397972"/>
            <a:ext cx="683252"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Files</a:t>
            </a:r>
          </a:p>
        </p:txBody>
      </p:sp>
      <p:sp>
        <p:nvSpPr>
          <p:cNvPr id="61" name="TextBox 60">
            <a:extLst>
              <a:ext uri="{FF2B5EF4-FFF2-40B4-BE49-F238E27FC236}">
                <a16:creationId xmlns:a16="http://schemas.microsoft.com/office/drawing/2014/main" id="{9AB076CB-B81B-4687-8B6B-B76A3C75D037}"/>
              </a:ext>
            </a:extLst>
          </p:cNvPr>
          <p:cNvSpPr txBox="1"/>
          <p:nvPr/>
        </p:nvSpPr>
        <p:spPr>
          <a:xfrm>
            <a:off x="10546142" y="3397972"/>
            <a:ext cx="844624"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Sockets</a:t>
            </a:r>
          </a:p>
        </p:txBody>
      </p:sp>
      <p:sp>
        <p:nvSpPr>
          <p:cNvPr id="81" name="Rectangle: Folded Corner 80">
            <a:extLst>
              <a:ext uri="{FF2B5EF4-FFF2-40B4-BE49-F238E27FC236}">
                <a16:creationId xmlns:a16="http://schemas.microsoft.com/office/drawing/2014/main" id="{19183BC7-FF86-4959-8312-523AE576C3AF}"/>
              </a:ext>
            </a:extLst>
          </p:cNvPr>
          <p:cNvSpPr/>
          <p:nvPr/>
        </p:nvSpPr>
        <p:spPr>
          <a:xfrm>
            <a:off x="3553551" y="1372394"/>
            <a:ext cx="2014336" cy="1471720"/>
          </a:xfrm>
          <a:prstGeom prst="foldedCorner">
            <a:avLst>
              <a:gd name="adj" fmla="val 21333"/>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2000" dirty="0">
                <a:solidFill>
                  <a:schemeClr val="tx1"/>
                </a:solidFill>
                <a:latin typeface="Gill Sans Light"/>
              </a:rPr>
              <a:t>Compiled</a:t>
            </a:r>
          </a:p>
          <a:p>
            <a:pPr algn="ctr"/>
            <a:r>
              <a:rPr lang="en-US" sz="2000" dirty="0">
                <a:solidFill>
                  <a:schemeClr val="tx1"/>
                </a:solidFill>
                <a:latin typeface="Gill Sans Light"/>
              </a:rPr>
              <a:t>Program 1</a:t>
            </a:r>
          </a:p>
        </p:txBody>
      </p:sp>
      <p:sp>
        <p:nvSpPr>
          <p:cNvPr id="83" name="Rectangle 82">
            <a:extLst>
              <a:ext uri="{FF2B5EF4-FFF2-40B4-BE49-F238E27FC236}">
                <a16:creationId xmlns:a16="http://schemas.microsoft.com/office/drawing/2014/main" id="{DCEED07B-2876-4266-8889-B6933456A2AD}"/>
              </a:ext>
            </a:extLst>
          </p:cNvPr>
          <p:cNvSpPr/>
          <p:nvPr/>
        </p:nvSpPr>
        <p:spPr>
          <a:xfrm>
            <a:off x="3801201" y="2322568"/>
            <a:ext cx="1343751" cy="464249"/>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Gill Sans Light"/>
              </a:rPr>
              <a:t>System Libs</a:t>
            </a:r>
          </a:p>
        </p:txBody>
      </p:sp>
      <p:sp>
        <p:nvSpPr>
          <p:cNvPr id="65" name="Rectangle: Folded Corner 64">
            <a:extLst>
              <a:ext uri="{FF2B5EF4-FFF2-40B4-BE49-F238E27FC236}">
                <a16:creationId xmlns:a16="http://schemas.microsoft.com/office/drawing/2014/main" id="{16EECD36-F398-4299-8CCB-C7B1EBF07062}"/>
              </a:ext>
            </a:extLst>
          </p:cNvPr>
          <p:cNvSpPr/>
          <p:nvPr/>
        </p:nvSpPr>
        <p:spPr>
          <a:xfrm>
            <a:off x="8375029" y="1366340"/>
            <a:ext cx="2014336" cy="1471720"/>
          </a:xfrm>
          <a:prstGeom prst="foldedCorner">
            <a:avLst>
              <a:gd name="adj" fmla="val 21333"/>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2000" dirty="0">
                <a:solidFill>
                  <a:schemeClr val="tx1"/>
                </a:solidFill>
                <a:latin typeface="Gill Sans Light"/>
              </a:rPr>
              <a:t>Compiled</a:t>
            </a:r>
          </a:p>
          <a:p>
            <a:pPr algn="ctr"/>
            <a:r>
              <a:rPr lang="en-US" sz="2000" dirty="0">
                <a:solidFill>
                  <a:schemeClr val="tx1"/>
                </a:solidFill>
                <a:latin typeface="Gill Sans Light"/>
              </a:rPr>
              <a:t>Program 2</a:t>
            </a:r>
          </a:p>
        </p:txBody>
      </p:sp>
      <p:sp>
        <p:nvSpPr>
          <p:cNvPr id="66" name="Rectangle 65">
            <a:extLst>
              <a:ext uri="{FF2B5EF4-FFF2-40B4-BE49-F238E27FC236}">
                <a16:creationId xmlns:a16="http://schemas.microsoft.com/office/drawing/2014/main" id="{157B6B9A-A9A3-407F-951E-EECDC589195B}"/>
              </a:ext>
            </a:extLst>
          </p:cNvPr>
          <p:cNvSpPr/>
          <p:nvPr/>
        </p:nvSpPr>
        <p:spPr>
          <a:xfrm>
            <a:off x="8622679" y="2316514"/>
            <a:ext cx="1343751" cy="464249"/>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Gill Sans Light"/>
              </a:rPr>
              <a:t>System Libs</a:t>
            </a:r>
          </a:p>
        </p:txBody>
      </p:sp>
    </p:spTree>
    <p:extLst>
      <p:ext uri="{BB962C8B-B14F-4D97-AF65-F5344CB8AC3E}">
        <p14:creationId xmlns:p14="http://schemas.microsoft.com/office/powerpoint/2010/main" val="1446363521"/>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Rectangle 83">
            <a:extLst>
              <a:ext uri="{FF2B5EF4-FFF2-40B4-BE49-F238E27FC236}">
                <a16:creationId xmlns:a16="http://schemas.microsoft.com/office/drawing/2014/main" id="{87B4BF93-F38E-482C-92DA-97BF83D39E26}"/>
              </a:ext>
            </a:extLst>
          </p:cNvPr>
          <p:cNvSpPr/>
          <p:nvPr/>
        </p:nvSpPr>
        <p:spPr>
          <a:xfrm>
            <a:off x="419100" y="2710529"/>
            <a:ext cx="1417802" cy="1493074"/>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Gill Sans Light"/>
              </a:rPr>
              <a:t>Compiler</a:t>
            </a:r>
          </a:p>
        </p:txBody>
      </p:sp>
      <p:sp>
        <p:nvSpPr>
          <p:cNvPr id="45" name="Rectangle 44">
            <a:extLst>
              <a:ext uri="{FF2B5EF4-FFF2-40B4-BE49-F238E27FC236}">
                <a16:creationId xmlns:a16="http://schemas.microsoft.com/office/drawing/2014/main" id="{3EFB73E7-29AB-4311-90E8-B9325E17083A}"/>
              </a:ext>
            </a:extLst>
          </p:cNvPr>
          <p:cNvSpPr/>
          <p:nvPr/>
        </p:nvSpPr>
        <p:spPr>
          <a:xfrm>
            <a:off x="140430" y="1066800"/>
            <a:ext cx="12192000" cy="5555247"/>
          </a:xfrm>
          <a:prstGeom prst="rect">
            <a:avLst/>
          </a:pr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Gill Sans Light"/>
            </a:endParaRPr>
          </a:p>
        </p:txBody>
      </p:sp>
      <p:sp>
        <p:nvSpPr>
          <p:cNvPr id="55" name="Rectangle 54">
            <a:extLst>
              <a:ext uri="{FF2B5EF4-FFF2-40B4-BE49-F238E27FC236}">
                <a16:creationId xmlns:a16="http://schemas.microsoft.com/office/drawing/2014/main" id="{0E783A07-C148-43C9-84E9-1E9884CF721E}"/>
              </a:ext>
            </a:extLst>
          </p:cNvPr>
          <p:cNvSpPr/>
          <p:nvPr/>
        </p:nvSpPr>
        <p:spPr>
          <a:xfrm>
            <a:off x="6933883" y="2710529"/>
            <a:ext cx="4568415" cy="936847"/>
          </a:xfrm>
          <a:prstGeom prst="rect">
            <a:avLst/>
          </a:prstGeom>
          <a:solidFill>
            <a:srgbClr val="9E78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1" dirty="0">
                <a:solidFill>
                  <a:schemeClr val="tx1"/>
                </a:solidFill>
                <a:latin typeface="Gill Sans Light"/>
              </a:rPr>
              <a:t>Process 2</a:t>
            </a:r>
          </a:p>
          <a:p>
            <a:pPr algn="ctr"/>
            <a:endParaRPr lang="en-US" sz="1200" dirty="0">
              <a:solidFill>
                <a:schemeClr val="tx1"/>
              </a:solidFill>
              <a:latin typeface="Gill Sans Light"/>
            </a:endParaRPr>
          </a:p>
        </p:txBody>
      </p:sp>
      <p:sp>
        <p:nvSpPr>
          <p:cNvPr id="65" name="Rectangle: Folded Corner 64">
            <a:extLst>
              <a:ext uri="{FF2B5EF4-FFF2-40B4-BE49-F238E27FC236}">
                <a16:creationId xmlns:a16="http://schemas.microsoft.com/office/drawing/2014/main" id="{16EECD36-F398-4299-8CCB-C7B1EBF07062}"/>
              </a:ext>
            </a:extLst>
          </p:cNvPr>
          <p:cNvSpPr/>
          <p:nvPr/>
        </p:nvSpPr>
        <p:spPr>
          <a:xfrm>
            <a:off x="8375029" y="1366340"/>
            <a:ext cx="2014336" cy="1471720"/>
          </a:xfrm>
          <a:prstGeom prst="foldedCorner">
            <a:avLst>
              <a:gd name="adj" fmla="val 21333"/>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2000" dirty="0">
                <a:solidFill>
                  <a:schemeClr val="tx1"/>
                </a:solidFill>
                <a:latin typeface="Gill Sans Light"/>
              </a:rPr>
              <a:t>Running</a:t>
            </a:r>
          </a:p>
          <a:p>
            <a:pPr algn="ctr"/>
            <a:r>
              <a:rPr lang="en-US" sz="2000" dirty="0">
                <a:solidFill>
                  <a:schemeClr val="tx1"/>
                </a:solidFill>
                <a:latin typeface="Gill Sans Light"/>
              </a:rPr>
              <a:t>Program 2</a:t>
            </a:r>
          </a:p>
        </p:txBody>
      </p:sp>
      <p:sp>
        <p:nvSpPr>
          <p:cNvPr id="66" name="Rectangle 65">
            <a:extLst>
              <a:ext uri="{FF2B5EF4-FFF2-40B4-BE49-F238E27FC236}">
                <a16:creationId xmlns:a16="http://schemas.microsoft.com/office/drawing/2014/main" id="{157B6B9A-A9A3-407F-951E-EECDC589195B}"/>
              </a:ext>
            </a:extLst>
          </p:cNvPr>
          <p:cNvSpPr/>
          <p:nvPr/>
        </p:nvSpPr>
        <p:spPr>
          <a:xfrm>
            <a:off x="8622679" y="2316514"/>
            <a:ext cx="1343751" cy="464249"/>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Gill Sans Light"/>
              </a:rPr>
              <a:t>System Libs</a:t>
            </a:r>
          </a:p>
        </p:txBody>
      </p:sp>
      <p:sp>
        <p:nvSpPr>
          <p:cNvPr id="2" name="Title 1">
            <a:extLst>
              <a:ext uri="{FF2B5EF4-FFF2-40B4-BE49-F238E27FC236}">
                <a16:creationId xmlns:a16="http://schemas.microsoft.com/office/drawing/2014/main" id="{2735C77F-660A-43A3-8126-43A0F77E49F3}"/>
              </a:ext>
            </a:extLst>
          </p:cNvPr>
          <p:cNvSpPr>
            <a:spLocks noGrp="1"/>
          </p:cNvSpPr>
          <p:nvPr>
            <p:ph type="title"/>
          </p:nvPr>
        </p:nvSpPr>
        <p:spPr/>
        <p:txBody>
          <a:bodyPr/>
          <a:lstStyle/>
          <a:p>
            <a:r>
              <a:rPr lang="en-US" dirty="0">
                <a:latin typeface="Gill Sans Light"/>
              </a:rPr>
              <a:t>Operating System’s View of the World</a:t>
            </a:r>
          </a:p>
        </p:txBody>
      </p:sp>
      <p:sp>
        <p:nvSpPr>
          <p:cNvPr id="6" name="Rectangle 5">
            <a:extLst>
              <a:ext uri="{FF2B5EF4-FFF2-40B4-BE49-F238E27FC236}">
                <a16:creationId xmlns:a16="http://schemas.microsoft.com/office/drawing/2014/main" id="{73193DD4-304A-4B76-81C9-FBF787FE779B}"/>
              </a:ext>
            </a:extLst>
          </p:cNvPr>
          <p:cNvSpPr/>
          <p:nvPr/>
        </p:nvSpPr>
        <p:spPr bwMode="auto">
          <a:xfrm>
            <a:off x="654050" y="4470400"/>
            <a:ext cx="11118850" cy="1689099"/>
          </a:xfrm>
          <a:prstGeom prst="rect">
            <a:avLst/>
          </a:prstGeom>
          <a:pattFill prst="horzBrick">
            <a:fgClr>
              <a:schemeClr val="bg2">
                <a:lumMod val="40000"/>
                <a:lumOff val="60000"/>
              </a:schemeClr>
            </a:fgClr>
            <a:bgClr>
              <a:prstClr val="white"/>
            </a:bgClr>
          </a:patt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dirty="0">
              <a:ln>
                <a:noFill/>
              </a:ln>
              <a:solidFill>
                <a:schemeClr val="tx1"/>
              </a:solidFill>
              <a:effectLst/>
              <a:latin typeface="Gill Sans Light"/>
            </a:endParaRPr>
          </a:p>
        </p:txBody>
      </p:sp>
      <p:sp>
        <p:nvSpPr>
          <p:cNvPr id="8" name="Rounded Rectangle 6">
            <a:extLst>
              <a:ext uri="{FF2B5EF4-FFF2-40B4-BE49-F238E27FC236}">
                <a16:creationId xmlns:a16="http://schemas.microsoft.com/office/drawing/2014/main" id="{EA9B6AFF-D750-4502-865E-E3737510EED0}"/>
              </a:ext>
            </a:extLst>
          </p:cNvPr>
          <p:cNvSpPr/>
          <p:nvPr/>
        </p:nvSpPr>
        <p:spPr bwMode="auto">
          <a:xfrm>
            <a:off x="2201858" y="4618038"/>
            <a:ext cx="1728792" cy="838200"/>
          </a:xfrm>
          <a:prstGeom prst="roundRect">
            <a:avLst/>
          </a:prstGeom>
          <a:solidFill>
            <a:schemeClr val="accent1">
              <a:lumMod val="40000"/>
              <a:lumOff val="6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Gill Sans Light"/>
              </a:rPr>
              <a:t>Processor</a:t>
            </a:r>
            <a:endParaRPr kumimoji="0" lang="en-US" sz="1400" b="0" i="0" u="none" strike="noStrike" cap="none" normalizeH="0" baseline="0" dirty="0">
              <a:ln>
                <a:noFill/>
              </a:ln>
              <a:solidFill>
                <a:schemeClr val="tx1"/>
              </a:solidFill>
              <a:effectLst/>
              <a:latin typeface="Gill Sans Light"/>
            </a:endParaRPr>
          </a:p>
        </p:txBody>
      </p:sp>
      <p:sp>
        <p:nvSpPr>
          <p:cNvPr id="9" name="Rectangle 8">
            <a:extLst>
              <a:ext uri="{FF2B5EF4-FFF2-40B4-BE49-F238E27FC236}">
                <a16:creationId xmlns:a16="http://schemas.microsoft.com/office/drawing/2014/main" id="{85025C03-FC2A-4CCF-8684-4F37D94D3763}"/>
              </a:ext>
            </a:extLst>
          </p:cNvPr>
          <p:cNvSpPr/>
          <p:nvPr/>
        </p:nvSpPr>
        <p:spPr bwMode="auto">
          <a:xfrm>
            <a:off x="5009666" y="4664869"/>
            <a:ext cx="1760608" cy="973138"/>
          </a:xfrm>
          <a:prstGeom prst="rect">
            <a:avLst/>
          </a:prstGeom>
          <a:solidFill>
            <a:srgbClr val="5AAEFF"/>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Gill Sans Light"/>
              </a:rPr>
              <a:t>Memory</a:t>
            </a:r>
          </a:p>
        </p:txBody>
      </p:sp>
      <p:grpSp>
        <p:nvGrpSpPr>
          <p:cNvPr id="10" name="Group 9">
            <a:extLst>
              <a:ext uri="{FF2B5EF4-FFF2-40B4-BE49-F238E27FC236}">
                <a16:creationId xmlns:a16="http://schemas.microsoft.com/office/drawing/2014/main" id="{4C2174B6-519D-44F7-A8CB-C9D9304FB602}"/>
              </a:ext>
            </a:extLst>
          </p:cNvPr>
          <p:cNvGrpSpPr/>
          <p:nvPr/>
        </p:nvGrpSpPr>
        <p:grpSpPr>
          <a:xfrm>
            <a:off x="3244850" y="5075238"/>
            <a:ext cx="533400" cy="304800"/>
            <a:chOff x="3124200" y="3657600"/>
            <a:chExt cx="533400" cy="304800"/>
          </a:xfrm>
        </p:grpSpPr>
        <p:sp>
          <p:nvSpPr>
            <p:cNvPr id="11" name="Rectangle 10">
              <a:extLst>
                <a:ext uri="{FF2B5EF4-FFF2-40B4-BE49-F238E27FC236}">
                  <a16:creationId xmlns:a16="http://schemas.microsoft.com/office/drawing/2014/main" id="{EFBA6894-B008-4F1D-B22C-730173B3DFD4}"/>
                </a:ext>
              </a:extLst>
            </p:cNvPr>
            <p:cNvSpPr/>
            <p:nvPr/>
          </p:nvSpPr>
          <p:spPr bwMode="auto">
            <a:xfrm>
              <a:off x="3124200" y="3657600"/>
              <a:ext cx="533400" cy="304800"/>
            </a:xfrm>
            <a:prstGeom prst="rect">
              <a:avLst/>
            </a:prstGeom>
            <a:no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sp>
          <p:nvSpPr>
            <p:cNvPr id="12" name="Rectangle 11">
              <a:extLst>
                <a:ext uri="{FF2B5EF4-FFF2-40B4-BE49-F238E27FC236}">
                  <a16:creationId xmlns:a16="http://schemas.microsoft.com/office/drawing/2014/main" id="{F6B854A3-399D-4E47-BB10-B204E22F6207}"/>
                </a:ext>
              </a:extLst>
            </p:cNvPr>
            <p:cNvSpPr/>
            <p:nvPr/>
          </p:nvSpPr>
          <p:spPr bwMode="auto">
            <a:xfrm>
              <a:off x="3124200" y="3733800"/>
              <a:ext cx="533400" cy="152400"/>
            </a:xfrm>
            <a:prstGeom prst="rect">
              <a:avLst/>
            </a:prstGeom>
            <a:no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grpSp>
      <p:sp>
        <p:nvSpPr>
          <p:cNvPr id="15" name="Rectangle 14">
            <a:extLst>
              <a:ext uri="{FF2B5EF4-FFF2-40B4-BE49-F238E27FC236}">
                <a16:creationId xmlns:a16="http://schemas.microsoft.com/office/drawing/2014/main" id="{5590399D-D2AD-4FCF-BFD2-DB8D8F919509}"/>
              </a:ext>
            </a:extLst>
          </p:cNvPr>
          <p:cNvSpPr/>
          <p:nvPr/>
        </p:nvSpPr>
        <p:spPr bwMode="auto">
          <a:xfrm>
            <a:off x="5433151" y="5013315"/>
            <a:ext cx="609600" cy="381000"/>
          </a:xfrm>
          <a:prstGeom prst="rect">
            <a:avLst/>
          </a:prstGeom>
          <a:solidFill>
            <a:srgbClr val="FBBA03"/>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sp>
        <p:nvSpPr>
          <p:cNvPr id="16" name="Rectangle 15">
            <a:extLst>
              <a:ext uri="{FF2B5EF4-FFF2-40B4-BE49-F238E27FC236}">
                <a16:creationId xmlns:a16="http://schemas.microsoft.com/office/drawing/2014/main" id="{7114092D-E1CB-4952-8CAA-BD6429870DAC}"/>
              </a:ext>
            </a:extLst>
          </p:cNvPr>
          <p:cNvSpPr/>
          <p:nvPr/>
        </p:nvSpPr>
        <p:spPr bwMode="auto">
          <a:xfrm>
            <a:off x="5302250" y="5104607"/>
            <a:ext cx="609600" cy="381000"/>
          </a:xfrm>
          <a:prstGeom prst="rect">
            <a:avLst/>
          </a:prstGeom>
          <a:solidFill>
            <a:srgbClr val="CC3333"/>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sp>
        <p:nvSpPr>
          <p:cNvPr id="13" name="Rectangle 12">
            <a:extLst>
              <a:ext uri="{FF2B5EF4-FFF2-40B4-BE49-F238E27FC236}">
                <a16:creationId xmlns:a16="http://schemas.microsoft.com/office/drawing/2014/main" id="{4A1809EB-73C2-4CF6-B753-8F1B20E63381}"/>
              </a:ext>
            </a:extLst>
          </p:cNvPr>
          <p:cNvSpPr/>
          <p:nvPr/>
        </p:nvSpPr>
        <p:spPr bwMode="auto">
          <a:xfrm>
            <a:off x="5171349" y="5188015"/>
            <a:ext cx="609600" cy="396832"/>
          </a:xfrm>
          <a:prstGeom prst="rect">
            <a:avLst/>
          </a:prstGeom>
          <a:solidFill>
            <a:schemeClr val="accent2">
              <a:lumMod val="40000"/>
              <a:lumOff val="6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grpSp>
        <p:nvGrpSpPr>
          <p:cNvPr id="19" name="Group 18">
            <a:extLst>
              <a:ext uri="{FF2B5EF4-FFF2-40B4-BE49-F238E27FC236}">
                <a16:creationId xmlns:a16="http://schemas.microsoft.com/office/drawing/2014/main" id="{E3801482-024B-4578-81D6-B8D5101ACF77}"/>
              </a:ext>
            </a:extLst>
          </p:cNvPr>
          <p:cNvGrpSpPr/>
          <p:nvPr/>
        </p:nvGrpSpPr>
        <p:grpSpPr>
          <a:xfrm>
            <a:off x="4428910" y="4603105"/>
            <a:ext cx="718466" cy="710043"/>
            <a:chOff x="4118129" y="2654300"/>
            <a:chExt cx="718466" cy="828477"/>
          </a:xfrm>
        </p:grpSpPr>
        <p:sp>
          <p:nvSpPr>
            <p:cNvPr id="20" name="Rectangle 19">
              <a:extLst>
                <a:ext uri="{FF2B5EF4-FFF2-40B4-BE49-F238E27FC236}">
                  <a16:creationId xmlns:a16="http://schemas.microsoft.com/office/drawing/2014/main" id="{5E4894ED-F264-49FF-B7AB-BA4E6C68158A}"/>
                </a:ext>
              </a:extLst>
            </p:cNvPr>
            <p:cNvSpPr/>
            <p:nvPr/>
          </p:nvSpPr>
          <p:spPr bwMode="auto">
            <a:xfrm>
              <a:off x="4178300" y="2720777"/>
              <a:ext cx="609598" cy="762000"/>
            </a:xfrm>
            <a:prstGeom prst="rect">
              <a:avLst/>
            </a:prstGeom>
            <a:solidFill>
              <a:schemeClr val="bg2"/>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sp>
          <p:nvSpPr>
            <p:cNvPr id="21" name="TextBox 20">
              <a:extLst>
                <a:ext uri="{FF2B5EF4-FFF2-40B4-BE49-F238E27FC236}">
                  <a16:creationId xmlns:a16="http://schemas.microsoft.com/office/drawing/2014/main" id="{C80A16C0-CBEC-4DD9-AD38-2EB7C3ECDF3A}"/>
                </a:ext>
              </a:extLst>
            </p:cNvPr>
            <p:cNvSpPr txBox="1"/>
            <p:nvPr/>
          </p:nvSpPr>
          <p:spPr>
            <a:xfrm>
              <a:off x="4118129" y="2654300"/>
              <a:ext cx="718466" cy="610492"/>
            </a:xfrm>
            <a:prstGeom prst="rect">
              <a:avLst/>
            </a:prstGeom>
            <a:noFill/>
          </p:spPr>
          <p:txBody>
            <a:bodyPr wrap="none" rtlCol="0">
              <a:spAutoFit/>
            </a:bodyPr>
            <a:lstStyle/>
            <a:p>
              <a:pPr algn="ctr"/>
              <a:r>
                <a:rPr lang="en-US" sz="1400" dirty="0" err="1">
                  <a:latin typeface="Gill Sans Light"/>
                </a:rPr>
                <a:t>PgTbl</a:t>
              </a:r>
              <a:endParaRPr lang="en-US" sz="1400" dirty="0">
                <a:latin typeface="Gill Sans Light"/>
              </a:endParaRPr>
            </a:p>
            <a:p>
              <a:pPr algn="ctr"/>
              <a:r>
                <a:rPr lang="en-US" sz="1400" dirty="0">
                  <a:latin typeface="Gill Sans Light"/>
                </a:rPr>
                <a:t>&amp; TLB</a:t>
              </a:r>
            </a:p>
          </p:txBody>
        </p:sp>
      </p:grpSp>
      <p:cxnSp>
        <p:nvCxnSpPr>
          <p:cNvPr id="22" name="Straight Arrow Connector 21">
            <a:extLst>
              <a:ext uri="{FF2B5EF4-FFF2-40B4-BE49-F238E27FC236}">
                <a16:creationId xmlns:a16="http://schemas.microsoft.com/office/drawing/2014/main" id="{52D33204-BC10-46FF-B132-F33C746DE9B8}"/>
              </a:ext>
            </a:extLst>
          </p:cNvPr>
          <p:cNvCxnSpPr>
            <a:cxnSpLocks/>
          </p:cNvCxnSpPr>
          <p:nvPr/>
        </p:nvCxnSpPr>
        <p:spPr bwMode="auto">
          <a:xfrm flipV="1">
            <a:off x="3930650" y="5232303"/>
            <a:ext cx="1273102" cy="2471"/>
          </a:xfrm>
          <a:prstGeom prst="straightConnector1">
            <a:avLst/>
          </a:prstGeom>
          <a:solidFill>
            <a:schemeClr val="accent1"/>
          </a:solidFill>
          <a:ln w="57150" cap="flat" cmpd="sng" algn="ctr">
            <a:solidFill>
              <a:schemeClr val="tx1"/>
            </a:solidFill>
            <a:prstDash val="solid"/>
            <a:round/>
            <a:headEnd type="triangle" w="med" len="med"/>
            <a:tailEnd type="triangle"/>
          </a:ln>
          <a:effectLst/>
        </p:spPr>
      </p:cxnSp>
      <p:cxnSp>
        <p:nvCxnSpPr>
          <p:cNvPr id="17" name="Curved Connector 54">
            <a:extLst>
              <a:ext uri="{FF2B5EF4-FFF2-40B4-BE49-F238E27FC236}">
                <a16:creationId xmlns:a16="http://schemas.microsoft.com/office/drawing/2014/main" id="{1C7D6572-FBEF-45D3-B9EB-4A6924279104}"/>
              </a:ext>
            </a:extLst>
          </p:cNvPr>
          <p:cNvCxnSpPr>
            <a:cxnSpLocks/>
          </p:cNvCxnSpPr>
          <p:nvPr/>
        </p:nvCxnSpPr>
        <p:spPr bwMode="auto">
          <a:xfrm>
            <a:off x="3600451" y="5265655"/>
            <a:ext cx="1775551" cy="217481"/>
          </a:xfrm>
          <a:prstGeom prst="curvedConnector3">
            <a:avLst>
              <a:gd name="adj1" fmla="val 23535"/>
            </a:avLst>
          </a:prstGeom>
          <a:solidFill>
            <a:schemeClr val="accent1"/>
          </a:solidFill>
          <a:ln w="22225" cap="flat" cmpd="sng" algn="ctr">
            <a:solidFill>
              <a:schemeClr val="tx1"/>
            </a:solidFill>
            <a:prstDash val="solid"/>
            <a:round/>
            <a:headEnd type="triangle" w="sm" len="sm"/>
            <a:tailEnd type="triangle"/>
          </a:ln>
          <a:effectLst/>
        </p:spPr>
      </p:cxnSp>
      <p:sp>
        <p:nvSpPr>
          <p:cNvPr id="26" name="Can 38">
            <a:extLst>
              <a:ext uri="{FF2B5EF4-FFF2-40B4-BE49-F238E27FC236}">
                <a16:creationId xmlns:a16="http://schemas.microsoft.com/office/drawing/2014/main" id="{2D66A6BA-E078-4243-A542-4EDF0004EFC1}"/>
              </a:ext>
            </a:extLst>
          </p:cNvPr>
          <p:cNvSpPr/>
          <p:nvPr/>
        </p:nvSpPr>
        <p:spPr bwMode="auto">
          <a:xfrm>
            <a:off x="6978098" y="4601091"/>
            <a:ext cx="977900" cy="973138"/>
          </a:xfrm>
          <a:prstGeom prst="can">
            <a:avLst/>
          </a:prstGeom>
          <a:solidFill>
            <a:srgbClr val="5AAEFF"/>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600" dirty="0">
                <a:latin typeface="Gill Sans Light"/>
              </a:rPr>
              <a:t>Storage</a:t>
            </a:r>
            <a:endParaRPr kumimoji="0" lang="en-US" sz="1600" b="0" i="0" u="none" strike="noStrike" cap="none" normalizeH="0" baseline="0" dirty="0">
              <a:ln>
                <a:noFill/>
              </a:ln>
              <a:solidFill>
                <a:schemeClr val="tx1"/>
              </a:solidFill>
              <a:effectLst/>
              <a:latin typeface="Gill Sans Light"/>
            </a:endParaRPr>
          </a:p>
        </p:txBody>
      </p:sp>
      <p:pic>
        <p:nvPicPr>
          <p:cNvPr id="27" name="Picture 26">
            <a:extLst>
              <a:ext uri="{FF2B5EF4-FFF2-40B4-BE49-F238E27FC236}">
                <a16:creationId xmlns:a16="http://schemas.microsoft.com/office/drawing/2014/main" id="{57205715-3232-4739-82EE-E1D9E0C153A6}"/>
              </a:ext>
            </a:extLst>
          </p:cNvPr>
          <p:cNvPicPr>
            <a:picLocks noChangeAspect="1"/>
          </p:cNvPicPr>
          <p:nvPr/>
        </p:nvPicPr>
        <p:blipFill>
          <a:blip r:embed="rId2">
            <a:clrChange>
              <a:clrFrom>
                <a:srgbClr val="FFFFFF"/>
              </a:clrFrom>
              <a:clrTo>
                <a:srgbClr val="FFFFFF">
                  <a:alpha val="0"/>
                </a:srgbClr>
              </a:clrTo>
            </a:clrChange>
          </a:blip>
          <a:stretch>
            <a:fillRect/>
          </a:stretch>
        </p:blipFill>
        <p:spPr>
          <a:xfrm flipH="1">
            <a:off x="8302804" y="4559299"/>
            <a:ext cx="1270482" cy="1270482"/>
          </a:xfrm>
          <a:prstGeom prst="rect">
            <a:avLst/>
          </a:prstGeom>
        </p:spPr>
      </p:pic>
      <p:sp>
        <p:nvSpPr>
          <p:cNvPr id="31" name="TextBox 30">
            <a:extLst>
              <a:ext uri="{FF2B5EF4-FFF2-40B4-BE49-F238E27FC236}">
                <a16:creationId xmlns:a16="http://schemas.microsoft.com/office/drawing/2014/main" id="{A8A63F55-8F57-4FCF-A466-B7ABFA7D293F}"/>
              </a:ext>
            </a:extLst>
          </p:cNvPr>
          <p:cNvSpPr txBox="1"/>
          <p:nvPr/>
        </p:nvSpPr>
        <p:spPr>
          <a:xfrm>
            <a:off x="8309372" y="4518076"/>
            <a:ext cx="1120820" cy="338554"/>
          </a:xfrm>
          <a:prstGeom prst="rect">
            <a:avLst/>
          </a:prstGeom>
          <a:noFill/>
        </p:spPr>
        <p:txBody>
          <a:bodyPr wrap="none" rtlCol="0">
            <a:spAutoFit/>
          </a:bodyPr>
          <a:lstStyle/>
          <a:p>
            <a:pPr algn="ctr"/>
            <a:r>
              <a:rPr lang="en-US" sz="1600" dirty="0">
                <a:latin typeface="Gill Sans Light"/>
              </a:rPr>
              <a:t>Networks</a:t>
            </a:r>
          </a:p>
        </p:txBody>
      </p:sp>
      <p:sp>
        <p:nvSpPr>
          <p:cNvPr id="34" name="TextBox 33">
            <a:extLst>
              <a:ext uri="{FF2B5EF4-FFF2-40B4-BE49-F238E27FC236}">
                <a16:creationId xmlns:a16="http://schemas.microsoft.com/office/drawing/2014/main" id="{5A2B64A6-5DE4-40BC-B41E-052C2DBBB4E8}"/>
              </a:ext>
            </a:extLst>
          </p:cNvPr>
          <p:cNvSpPr txBox="1"/>
          <p:nvPr/>
        </p:nvSpPr>
        <p:spPr>
          <a:xfrm>
            <a:off x="631271" y="4919941"/>
            <a:ext cx="1382110" cy="400110"/>
          </a:xfrm>
          <a:prstGeom prst="rect">
            <a:avLst/>
          </a:prstGeom>
          <a:noFill/>
        </p:spPr>
        <p:txBody>
          <a:bodyPr wrap="none" rtlCol="0">
            <a:spAutoFit/>
          </a:bodyPr>
          <a:lstStyle/>
          <a:p>
            <a:r>
              <a:rPr lang="en-US" sz="2000" dirty="0">
                <a:latin typeface="Gill Sans Light"/>
              </a:rPr>
              <a:t>Hardware</a:t>
            </a:r>
          </a:p>
        </p:txBody>
      </p:sp>
      <p:cxnSp>
        <p:nvCxnSpPr>
          <p:cNvPr id="39" name="Straight Arrow Connector 38">
            <a:extLst>
              <a:ext uri="{FF2B5EF4-FFF2-40B4-BE49-F238E27FC236}">
                <a16:creationId xmlns:a16="http://schemas.microsoft.com/office/drawing/2014/main" id="{44B237A5-A629-47CA-A0F4-6D264547B1E9}"/>
              </a:ext>
            </a:extLst>
          </p:cNvPr>
          <p:cNvCxnSpPr>
            <a:cxnSpLocks/>
            <a:endCxn id="26" idx="3"/>
          </p:cNvCxnSpPr>
          <p:nvPr/>
        </p:nvCxnSpPr>
        <p:spPr>
          <a:xfrm flipV="1">
            <a:off x="7467048" y="5574229"/>
            <a:ext cx="0" cy="331271"/>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AC006469-8BAB-4F3E-A8D9-EB19E5DDCFD3}"/>
              </a:ext>
            </a:extLst>
          </p:cNvPr>
          <p:cNvCxnSpPr>
            <a:cxnSpLocks/>
          </p:cNvCxnSpPr>
          <p:nvPr/>
        </p:nvCxnSpPr>
        <p:spPr>
          <a:xfrm flipV="1">
            <a:off x="8891831" y="5584848"/>
            <a:ext cx="0" cy="320652"/>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800CF464-6799-4EF1-A173-649974B69470}"/>
              </a:ext>
            </a:extLst>
          </p:cNvPr>
          <p:cNvCxnSpPr>
            <a:cxnSpLocks/>
          </p:cNvCxnSpPr>
          <p:nvPr/>
        </p:nvCxnSpPr>
        <p:spPr>
          <a:xfrm flipV="1">
            <a:off x="4308999" y="5234774"/>
            <a:ext cx="0" cy="670726"/>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077FE5F6-6698-44C8-949A-3B1FFA12825F}"/>
              </a:ext>
            </a:extLst>
          </p:cNvPr>
          <p:cNvCxnSpPr>
            <a:cxnSpLocks/>
            <a:endCxn id="56" idx="1"/>
          </p:cNvCxnSpPr>
          <p:nvPr/>
        </p:nvCxnSpPr>
        <p:spPr>
          <a:xfrm>
            <a:off x="4105518" y="5911715"/>
            <a:ext cx="1091231" cy="0"/>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56" name="Rectangle 55">
            <a:extLst>
              <a:ext uri="{FF2B5EF4-FFF2-40B4-BE49-F238E27FC236}">
                <a16:creationId xmlns:a16="http://schemas.microsoft.com/office/drawing/2014/main" id="{0182EB5C-4F86-416A-B81D-EA223AEB393C}"/>
              </a:ext>
            </a:extLst>
          </p:cNvPr>
          <p:cNvSpPr/>
          <p:nvPr/>
        </p:nvSpPr>
        <p:spPr bwMode="auto">
          <a:xfrm>
            <a:off x="5196749" y="5765133"/>
            <a:ext cx="1044306" cy="293164"/>
          </a:xfrm>
          <a:prstGeom prst="rect">
            <a:avLst/>
          </a:prstGeom>
          <a:no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400" b="0" i="0" u="none" strike="noStrike" cap="none" normalizeH="0" baseline="0" dirty="0">
                <a:ln>
                  <a:noFill/>
                </a:ln>
                <a:solidFill>
                  <a:schemeClr val="tx1"/>
                </a:solidFill>
                <a:effectLst/>
                <a:latin typeface="Gill Sans Light"/>
              </a:rPr>
              <a:t>I/O </a:t>
            </a:r>
            <a:r>
              <a:rPr kumimoji="0" lang="en-US" sz="1400" b="0" i="0" u="none" strike="noStrike" cap="none" normalizeH="0" baseline="0" dirty="0" err="1">
                <a:ln>
                  <a:noFill/>
                </a:ln>
                <a:solidFill>
                  <a:schemeClr val="tx1"/>
                </a:solidFill>
                <a:effectLst/>
                <a:latin typeface="Gill Sans Light"/>
              </a:rPr>
              <a:t>Ctrlr</a:t>
            </a:r>
            <a:endParaRPr kumimoji="0" lang="en-US" sz="1400" b="0" i="0" u="none" strike="noStrike" cap="none" normalizeH="0" baseline="0" dirty="0">
              <a:ln>
                <a:noFill/>
              </a:ln>
              <a:solidFill>
                <a:schemeClr val="tx1"/>
              </a:solidFill>
              <a:effectLst/>
              <a:latin typeface="Gill Sans Light"/>
            </a:endParaRPr>
          </a:p>
        </p:txBody>
      </p:sp>
      <p:cxnSp>
        <p:nvCxnSpPr>
          <p:cNvPr id="59" name="Straight Arrow Connector 58">
            <a:extLst>
              <a:ext uri="{FF2B5EF4-FFF2-40B4-BE49-F238E27FC236}">
                <a16:creationId xmlns:a16="http://schemas.microsoft.com/office/drawing/2014/main" id="{7CEF80FD-C99C-4106-86FD-C44623EF6D66}"/>
              </a:ext>
            </a:extLst>
          </p:cNvPr>
          <p:cNvCxnSpPr>
            <a:cxnSpLocks/>
            <a:stCxn id="56" idx="3"/>
          </p:cNvCxnSpPr>
          <p:nvPr/>
        </p:nvCxnSpPr>
        <p:spPr>
          <a:xfrm flipV="1">
            <a:off x="6241055" y="5905500"/>
            <a:ext cx="5145949" cy="0"/>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8C42E879-B352-4CB0-9045-9528A742E94C}"/>
              </a:ext>
            </a:extLst>
          </p:cNvPr>
          <p:cNvSpPr txBox="1"/>
          <p:nvPr/>
        </p:nvSpPr>
        <p:spPr>
          <a:xfrm>
            <a:off x="861699" y="4314038"/>
            <a:ext cx="1494531" cy="338554"/>
          </a:xfrm>
          <a:prstGeom prst="rect">
            <a:avLst/>
          </a:prstGeom>
          <a:solidFill>
            <a:srgbClr val="EFE683"/>
          </a:solidFill>
          <a:ln>
            <a:solidFill>
              <a:schemeClr val="tx1"/>
            </a:solidFill>
          </a:ln>
        </p:spPr>
        <p:txBody>
          <a:bodyPr wrap="square" rtlCol="0">
            <a:spAutoFit/>
          </a:bodyPr>
          <a:lstStyle/>
          <a:p>
            <a:pPr algn="ctr"/>
            <a:r>
              <a:rPr lang="en-US" sz="1600" b="1" i="1" dirty="0">
                <a:latin typeface="Gill Sans Light"/>
              </a:rPr>
              <a:t>ISA</a:t>
            </a:r>
          </a:p>
        </p:txBody>
      </p:sp>
      <p:sp>
        <p:nvSpPr>
          <p:cNvPr id="63" name="Rectangle 62">
            <a:extLst>
              <a:ext uri="{FF2B5EF4-FFF2-40B4-BE49-F238E27FC236}">
                <a16:creationId xmlns:a16="http://schemas.microsoft.com/office/drawing/2014/main" id="{CA91FAA7-997F-463D-B0E7-ECB8FF4BD25C}"/>
              </a:ext>
            </a:extLst>
          </p:cNvPr>
          <p:cNvSpPr/>
          <p:nvPr/>
        </p:nvSpPr>
        <p:spPr>
          <a:xfrm>
            <a:off x="1955800" y="3595554"/>
            <a:ext cx="9753601" cy="936847"/>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latin typeface="Gill Sans Light"/>
              </a:rPr>
              <a:t>Operating System</a:t>
            </a:r>
          </a:p>
        </p:txBody>
      </p:sp>
      <p:sp>
        <p:nvSpPr>
          <p:cNvPr id="80" name="Rectangle 79">
            <a:extLst>
              <a:ext uri="{FF2B5EF4-FFF2-40B4-BE49-F238E27FC236}">
                <a16:creationId xmlns:a16="http://schemas.microsoft.com/office/drawing/2014/main" id="{4838629E-2E3E-4207-99FE-90E9B77B1C43}"/>
              </a:ext>
            </a:extLst>
          </p:cNvPr>
          <p:cNvSpPr/>
          <p:nvPr/>
        </p:nvSpPr>
        <p:spPr>
          <a:xfrm>
            <a:off x="2201859" y="2710529"/>
            <a:ext cx="4568415" cy="936847"/>
          </a:xfrm>
          <a:prstGeom prst="rect">
            <a:avLst/>
          </a:prstGeom>
          <a:solidFill>
            <a:srgbClr val="9E78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1" dirty="0">
                <a:solidFill>
                  <a:schemeClr val="tx1"/>
                </a:solidFill>
                <a:latin typeface="Gill Sans Light"/>
              </a:rPr>
              <a:t>Process 1</a:t>
            </a:r>
          </a:p>
          <a:p>
            <a:pPr algn="ctr"/>
            <a:endParaRPr lang="en-US" sz="1200" dirty="0">
              <a:solidFill>
                <a:schemeClr val="tx1"/>
              </a:solidFill>
              <a:latin typeface="Gill Sans Light"/>
            </a:endParaRPr>
          </a:p>
        </p:txBody>
      </p:sp>
      <p:sp>
        <p:nvSpPr>
          <p:cNvPr id="72" name="TextBox 71">
            <a:extLst>
              <a:ext uri="{FF2B5EF4-FFF2-40B4-BE49-F238E27FC236}">
                <a16:creationId xmlns:a16="http://schemas.microsoft.com/office/drawing/2014/main" id="{E4897103-5196-4D83-8C50-ED908C0B63F9}"/>
              </a:ext>
            </a:extLst>
          </p:cNvPr>
          <p:cNvSpPr txBox="1"/>
          <p:nvPr/>
        </p:nvSpPr>
        <p:spPr>
          <a:xfrm>
            <a:off x="2245360" y="3396030"/>
            <a:ext cx="961390"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Threads</a:t>
            </a:r>
          </a:p>
        </p:txBody>
      </p:sp>
      <p:sp>
        <p:nvSpPr>
          <p:cNvPr id="73" name="Rectangle 72">
            <a:extLst>
              <a:ext uri="{FF2B5EF4-FFF2-40B4-BE49-F238E27FC236}">
                <a16:creationId xmlns:a16="http://schemas.microsoft.com/office/drawing/2014/main" id="{1F630E64-216C-4D30-9C27-5AEDDDA28456}"/>
              </a:ext>
            </a:extLst>
          </p:cNvPr>
          <p:cNvSpPr/>
          <p:nvPr/>
        </p:nvSpPr>
        <p:spPr bwMode="auto">
          <a:xfrm>
            <a:off x="6098451" y="5075238"/>
            <a:ext cx="631346" cy="480009"/>
          </a:xfrm>
          <a:prstGeom prst="rect">
            <a:avLst/>
          </a:prstGeom>
          <a:solidFill>
            <a:schemeClr val="bg2">
              <a:lumMod val="60000"/>
              <a:lumOff val="4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Gill Sans Light"/>
              </a:rPr>
              <a:t>OS Mem</a:t>
            </a:r>
          </a:p>
        </p:txBody>
      </p:sp>
      <p:sp>
        <p:nvSpPr>
          <p:cNvPr id="74" name="TextBox 73">
            <a:extLst>
              <a:ext uri="{FF2B5EF4-FFF2-40B4-BE49-F238E27FC236}">
                <a16:creationId xmlns:a16="http://schemas.microsoft.com/office/drawing/2014/main" id="{903AC2DB-5960-4CF0-B972-E1CDF92622A2}"/>
              </a:ext>
            </a:extLst>
          </p:cNvPr>
          <p:cNvSpPr txBox="1"/>
          <p:nvPr/>
        </p:nvSpPr>
        <p:spPr>
          <a:xfrm>
            <a:off x="3325648" y="3398740"/>
            <a:ext cx="1550862"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Address Spaces</a:t>
            </a:r>
          </a:p>
        </p:txBody>
      </p:sp>
      <p:sp>
        <p:nvSpPr>
          <p:cNvPr id="75" name="TextBox 74">
            <a:extLst>
              <a:ext uri="{FF2B5EF4-FFF2-40B4-BE49-F238E27FC236}">
                <a16:creationId xmlns:a16="http://schemas.microsoft.com/office/drawing/2014/main" id="{AD4C368E-047B-4BC3-8012-71A6CC7B5378}"/>
              </a:ext>
            </a:extLst>
          </p:cNvPr>
          <p:cNvSpPr txBox="1"/>
          <p:nvPr/>
        </p:nvSpPr>
        <p:spPr>
          <a:xfrm>
            <a:off x="5000552" y="3397972"/>
            <a:ext cx="683252"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Files</a:t>
            </a:r>
          </a:p>
        </p:txBody>
      </p:sp>
      <p:sp>
        <p:nvSpPr>
          <p:cNvPr id="76" name="TextBox 75">
            <a:extLst>
              <a:ext uri="{FF2B5EF4-FFF2-40B4-BE49-F238E27FC236}">
                <a16:creationId xmlns:a16="http://schemas.microsoft.com/office/drawing/2014/main" id="{8ED3D70A-C8B7-4AAE-8DB5-86A5FF23DEF3}"/>
              </a:ext>
            </a:extLst>
          </p:cNvPr>
          <p:cNvSpPr txBox="1"/>
          <p:nvPr/>
        </p:nvSpPr>
        <p:spPr>
          <a:xfrm>
            <a:off x="5814118" y="3397972"/>
            <a:ext cx="844624"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Sockets</a:t>
            </a:r>
          </a:p>
        </p:txBody>
      </p:sp>
      <p:sp>
        <p:nvSpPr>
          <p:cNvPr id="57" name="TextBox 56">
            <a:extLst>
              <a:ext uri="{FF2B5EF4-FFF2-40B4-BE49-F238E27FC236}">
                <a16:creationId xmlns:a16="http://schemas.microsoft.com/office/drawing/2014/main" id="{8FBCBFF2-102E-4AC2-AE4A-CC896E9B1E66}"/>
              </a:ext>
            </a:extLst>
          </p:cNvPr>
          <p:cNvSpPr txBox="1"/>
          <p:nvPr/>
        </p:nvSpPr>
        <p:spPr>
          <a:xfrm>
            <a:off x="6977384" y="3396030"/>
            <a:ext cx="961390"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Threads</a:t>
            </a:r>
          </a:p>
        </p:txBody>
      </p:sp>
      <p:sp>
        <p:nvSpPr>
          <p:cNvPr id="58" name="TextBox 57">
            <a:extLst>
              <a:ext uri="{FF2B5EF4-FFF2-40B4-BE49-F238E27FC236}">
                <a16:creationId xmlns:a16="http://schemas.microsoft.com/office/drawing/2014/main" id="{85A8239A-9FCD-46DB-B7DA-7EA11E27E672}"/>
              </a:ext>
            </a:extLst>
          </p:cNvPr>
          <p:cNvSpPr txBox="1"/>
          <p:nvPr/>
        </p:nvSpPr>
        <p:spPr>
          <a:xfrm>
            <a:off x="8057672" y="3398740"/>
            <a:ext cx="1550862"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Address Spaces</a:t>
            </a:r>
          </a:p>
        </p:txBody>
      </p:sp>
      <p:sp>
        <p:nvSpPr>
          <p:cNvPr id="60" name="TextBox 59">
            <a:extLst>
              <a:ext uri="{FF2B5EF4-FFF2-40B4-BE49-F238E27FC236}">
                <a16:creationId xmlns:a16="http://schemas.microsoft.com/office/drawing/2014/main" id="{D923F43D-F391-40F4-9D87-D4E37AAB7342}"/>
              </a:ext>
            </a:extLst>
          </p:cNvPr>
          <p:cNvSpPr txBox="1"/>
          <p:nvPr/>
        </p:nvSpPr>
        <p:spPr>
          <a:xfrm>
            <a:off x="9732576" y="3397972"/>
            <a:ext cx="683252"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Files</a:t>
            </a:r>
          </a:p>
        </p:txBody>
      </p:sp>
      <p:sp>
        <p:nvSpPr>
          <p:cNvPr id="61" name="TextBox 60">
            <a:extLst>
              <a:ext uri="{FF2B5EF4-FFF2-40B4-BE49-F238E27FC236}">
                <a16:creationId xmlns:a16="http://schemas.microsoft.com/office/drawing/2014/main" id="{9AB076CB-B81B-4687-8B6B-B76A3C75D037}"/>
              </a:ext>
            </a:extLst>
          </p:cNvPr>
          <p:cNvSpPr txBox="1"/>
          <p:nvPr/>
        </p:nvSpPr>
        <p:spPr>
          <a:xfrm>
            <a:off x="10546142" y="3397972"/>
            <a:ext cx="844624"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Sockets</a:t>
            </a:r>
          </a:p>
        </p:txBody>
      </p:sp>
      <p:sp>
        <p:nvSpPr>
          <p:cNvPr id="81" name="Rectangle: Folded Corner 80">
            <a:extLst>
              <a:ext uri="{FF2B5EF4-FFF2-40B4-BE49-F238E27FC236}">
                <a16:creationId xmlns:a16="http://schemas.microsoft.com/office/drawing/2014/main" id="{19183BC7-FF86-4959-8312-523AE576C3AF}"/>
              </a:ext>
            </a:extLst>
          </p:cNvPr>
          <p:cNvSpPr/>
          <p:nvPr/>
        </p:nvSpPr>
        <p:spPr>
          <a:xfrm>
            <a:off x="3553551" y="1372394"/>
            <a:ext cx="2014336" cy="1471720"/>
          </a:xfrm>
          <a:prstGeom prst="foldedCorner">
            <a:avLst>
              <a:gd name="adj" fmla="val 21333"/>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2000" dirty="0">
                <a:solidFill>
                  <a:schemeClr val="tx1"/>
                </a:solidFill>
                <a:latin typeface="Gill Sans Light"/>
              </a:rPr>
              <a:t>Running</a:t>
            </a:r>
          </a:p>
          <a:p>
            <a:pPr algn="ctr"/>
            <a:r>
              <a:rPr lang="en-US" sz="2000" dirty="0">
                <a:solidFill>
                  <a:schemeClr val="tx1"/>
                </a:solidFill>
                <a:latin typeface="Gill Sans Light"/>
              </a:rPr>
              <a:t>Program 1</a:t>
            </a:r>
          </a:p>
        </p:txBody>
      </p:sp>
      <p:sp>
        <p:nvSpPr>
          <p:cNvPr id="83" name="Rectangle 82">
            <a:extLst>
              <a:ext uri="{FF2B5EF4-FFF2-40B4-BE49-F238E27FC236}">
                <a16:creationId xmlns:a16="http://schemas.microsoft.com/office/drawing/2014/main" id="{DCEED07B-2876-4266-8889-B6933456A2AD}"/>
              </a:ext>
            </a:extLst>
          </p:cNvPr>
          <p:cNvSpPr/>
          <p:nvPr/>
        </p:nvSpPr>
        <p:spPr>
          <a:xfrm>
            <a:off x="3801201" y="2322568"/>
            <a:ext cx="1343751" cy="464249"/>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Gill Sans Light"/>
              </a:rPr>
              <a:t>System Libs</a:t>
            </a:r>
          </a:p>
        </p:txBody>
      </p:sp>
      <p:sp>
        <p:nvSpPr>
          <p:cNvPr id="49" name="TextBox 48">
            <a:extLst>
              <a:ext uri="{FF2B5EF4-FFF2-40B4-BE49-F238E27FC236}">
                <a16:creationId xmlns:a16="http://schemas.microsoft.com/office/drawing/2014/main" id="{62BE982C-9240-4229-8D46-05D147D5B366}"/>
              </a:ext>
            </a:extLst>
          </p:cNvPr>
          <p:cNvSpPr txBox="1"/>
          <p:nvPr/>
        </p:nvSpPr>
        <p:spPr>
          <a:xfrm>
            <a:off x="1504950" y="1460478"/>
            <a:ext cx="9848849" cy="707886"/>
          </a:xfrm>
          <a:prstGeom prst="rect">
            <a:avLst/>
          </a:prstGeom>
          <a:solidFill>
            <a:schemeClr val="bg1"/>
          </a:solidFill>
          <a:ln>
            <a:solidFill>
              <a:schemeClr val="tx1"/>
            </a:solidFill>
          </a:ln>
        </p:spPr>
        <p:txBody>
          <a:bodyPr wrap="square" rtlCol="0">
            <a:spAutoFit/>
          </a:bodyPr>
          <a:lstStyle/>
          <a:p>
            <a:pPr marL="285750" indent="-285750">
              <a:buFont typeface="Arial" panose="020B0604020202020204" pitchFamily="34" charset="0"/>
              <a:buChar char="•"/>
            </a:pPr>
            <a:r>
              <a:rPr lang="en-US" sz="2000" b="1" dirty="0">
                <a:latin typeface="Gill Sans Light"/>
              </a:rPr>
              <a:t>OS translates from hardware interface to application interface</a:t>
            </a:r>
          </a:p>
          <a:p>
            <a:pPr marL="285750" indent="-285750">
              <a:buFont typeface="Arial" panose="020B0604020202020204" pitchFamily="34" charset="0"/>
              <a:buChar char="•"/>
            </a:pPr>
            <a:r>
              <a:rPr lang="en-US" sz="2000" b="1" dirty="0">
                <a:latin typeface="Gill Sans Light"/>
              </a:rPr>
              <a:t>OS provides each running program with its own process</a:t>
            </a:r>
          </a:p>
        </p:txBody>
      </p:sp>
    </p:spTree>
    <p:extLst>
      <p:ext uri="{BB962C8B-B14F-4D97-AF65-F5344CB8AC3E}">
        <p14:creationId xmlns:p14="http://schemas.microsoft.com/office/powerpoint/2010/main" val="1555156291"/>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0FFBD-86D7-4430-8623-1A5A496FA90C}"/>
              </a:ext>
            </a:extLst>
          </p:cNvPr>
          <p:cNvSpPr>
            <a:spLocks noGrp="1"/>
          </p:cNvSpPr>
          <p:nvPr>
            <p:ph type="title"/>
          </p:nvPr>
        </p:nvSpPr>
        <p:spPr/>
        <p:txBody>
          <a:bodyPr/>
          <a:lstStyle/>
          <a:p>
            <a:r>
              <a:rPr lang="en-US" dirty="0"/>
              <a:t>What is an Operating System?</a:t>
            </a:r>
          </a:p>
        </p:txBody>
      </p:sp>
      <p:sp>
        <p:nvSpPr>
          <p:cNvPr id="3" name="Content Placeholder 2">
            <a:extLst>
              <a:ext uri="{FF2B5EF4-FFF2-40B4-BE49-F238E27FC236}">
                <a16:creationId xmlns:a16="http://schemas.microsoft.com/office/drawing/2014/main" id="{3045FBDC-6D09-4175-BD95-8438526B950F}"/>
              </a:ext>
            </a:extLst>
          </p:cNvPr>
          <p:cNvSpPr>
            <a:spLocks noGrp="1"/>
          </p:cNvSpPr>
          <p:nvPr>
            <p:ph idx="1"/>
          </p:nvPr>
        </p:nvSpPr>
        <p:spPr>
          <a:xfrm>
            <a:off x="2239617" y="1825625"/>
            <a:ext cx="9114183" cy="4351338"/>
          </a:xfrm>
        </p:spPr>
        <p:txBody>
          <a:bodyPr/>
          <a:lstStyle/>
          <a:p>
            <a:r>
              <a:rPr lang="en-US" dirty="0"/>
              <a:t>Illusionist</a:t>
            </a:r>
          </a:p>
          <a:p>
            <a:pPr lvl="1"/>
            <a:r>
              <a:rPr lang="en-US" dirty="0"/>
              <a:t>Provide clean, easy-to-use abstractions of physical resources</a:t>
            </a:r>
          </a:p>
          <a:p>
            <a:pPr lvl="2"/>
            <a:r>
              <a:rPr lang="en-US" dirty="0"/>
              <a:t>Infinite memory, dedicated machine</a:t>
            </a:r>
          </a:p>
          <a:p>
            <a:pPr lvl="2"/>
            <a:r>
              <a:rPr lang="en-US" dirty="0"/>
              <a:t>Higher level objects: files, users, messages</a:t>
            </a:r>
          </a:p>
          <a:p>
            <a:pPr lvl="2"/>
            <a:r>
              <a:rPr lang="en-US" dirty="0"/>
              <a:t>Masking limitations, virtualization</a:t>
            </a:r>
          </a:p>
          <a:p>
            <a:r>
              <a:rPr lang="en-US" dirty="0">
                <a:solidFill>
                  <a:srgbClr val="FF0000"/>
                </a:solidFill>
              </a:rPr>
              <a:t>Referee</a:t>
            </a:r>
          </a:p>
          <a:p>
            <a:pPr lvl="1"/>
            <a:r>
              <a:rPr lang="en-US" dirty="0">
                <a:solidFill>
                  <a:srgbClr val="FF0000"/>
                </a:solidFill>
              </a:rPr>
              <a:t>Manage protection, isolation, and sharing of resources</a:t>
            </a:r>
          </a:p>
          <a:p>
            <a:pPr lvl="2"/>
            <a:r>
              <a:rPr lang="en-US" dirty="0">
                <a:solidFill>
                  <a:srgbClr val="FF0000"/>
                </a:solidFill>
              </a:rPr>
              <a:t>Resource allocation and communication</a:t>
            </a:r>
          </a:p>
        </p:txBody>
      </p:sp>
      <p:pic>
        <p:nvPicPr>
          <p:cNvPr id="7" name="Picture 6">
            <a:extLst>
              <a:ext uri="{FF2B5EF4-FFF2-40B4-BE49-F238E27FC236}">
                <a16:creationId xmlns:a16="http://schemas.microsoft.com/office/drawing/2014/main" id="{65C00F34-1D9D-426C-8D4D-28C7ACFC9737}"/>
              </a:ext>
            </a:extLst>
          </p:cNvPr>
          <p:cNvPicPr>
            <a:picLocks noChangeAspect="1"/>
          </p:cNvPicPr>
          <p:nvPr/>
        </p:nvPicPr>
        <p:blipFill>
          <a:blip r:embed="rId2"/>
          <a:stretch>
            <a:fillRect/>
          </a:stretch>
        </p:blipFill>
        <p:spPr>
          <a:xfrm>
            <a:off x="676835" y="3502459"/>
            <a:ext cx="1291665" cy="1066800"/>
          </a:xfrm>
          <a:prstGeom prst="rect">
            <a:avLst/>
          </a:prstGeom>
        </p:spPr>
      </p:pic>
      <p:pic>
        <p:nvPicPr>
          <p:cNvPr id="8" name="Picture 7">
            <a:extLst>
              <a:ext uri="{FF2B5EF4-FFF2-40B4-BE49-F238E27FC236}">
                <a16:creationId xmlns:a16="http://schemas.microsoft.com/office/drawing/2014/main" id="{A7E627E2-ECD5-465A-AECF-F32DDB1B5287}"/>
              </a:ext>
            </a:extLst>
          </p:cNvPr>
          <p:cNvPicPr>
            <a:picLocks noChangeAspect="1"/>
          </p:cNvPicPr>
          <p:nvPr/>
        </p:nvPicPr>
        <p:blipFill>
          <a:blip r:embed="rId3"/>
          <a:stretch>
            <a:fillRect/>
          </a:stretch>
        </p:blipFill>
        <p:spPr>
          <a:xfrm>
            <a:off x="404208" y="2092722"/>
            <a:ext cx="1411469" cy="1130300"/>
          </a:xfrm>
          <a:prstGeom prst="rect">
            <a:avLst/>
          </a:prstGeom>
        </p:spPr>
      </p:pic>
    </p:spTree>
    <p:extLst>
      <p:ext uri="{BB962C8B-B14F-4D97-AF65-F5344CB8AC3E}">
        <p14:creationId xmlns:p14="http://schemas.microsoft.com/office/powerpoint/2010/main" val="199049160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3193DD4-304A-4B76-81C9-FBF787FE779B}"/>
              </a:ext>
            </a:extLst>
          </p:cNvPr>
          <p:cNvSpPr/>
          <p:nvPr/>
        </p:nvSpPr>
        <p:spPr bwMode="auto">
          <a:xfrm>
            <a:off x="654050" y="4470400"/>
            <a:ext cx="11118850" cy="1689099"/>
          </a:xfrm>
          <a:prstGeom prst="rect">
            <a:avLst/>
          </a:prstGeom>
          <a:pattFill prst="horzBrick">
            <a:fgClr>
              <a:schemeClr val="bg2">
                <a:lumMod val="40000"/>
                <a:lumOff val="60000"/>
              </a:schemeClr>
            </a:fgClr>
            <a:bgClr>
              <a:prstClr val="white"/>
            </a:bgClr>
          </a:patt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dirty="0">
              <a:ln>
                <a:noFill/>
              </a:ln>
              <a:solidFill>
                <a:schemeClr val="tx1"/>
              </a:solidFill>
              <a:effectLst/>
              <a:latin typeface="Gill Sans Light"/>
            </a:endParaRPr>
          </a:p>
        </p:txBody>
      </p:sp>
      <p:grpSp>
        <p:nvGrpSpPr>
          <p:cNvPr id="19" name="Group 18">
            <a:extLst>
              <a:ext uri="{FF2B5EF4-FFF2-40B4-BE49-F238E27FC236}">
                <a16:creationId xmlns:a16="http://schemas.microsoft.com/office/drawing/2014/main" id="{E3801482-024B-4578-81D6-B8D5101ACF77}"/>
              </a:ext>
            </a:extLst>
          </p:cNvPr>
          <p:cNvGrpSpPr/>
          <p:nvPr/>
        </p:nvGrpSpPr>
        <p:grpSpPr>
          <a:xfrm>
            <a:off x="4432116" y="4603105"/>
            <a:ext cx="712053" cy="710043"/>
            <a:chOff x="4121335" y="2654300"/>
            <a:chExt cx="712053" cy="828477"/>
          </a:xfrm>
        </p:grpSpPr>
        <p:sp>
          <p:nvSpPr>
            <p:cNvPr id="20" name="Rectangle 19">
              <a:extLst>
                <a:ext uri="{FF2B5EF4-FFF2-40B4-BE49-F238E27FC236}">
                  <a16:creationId xmlns:a16="http://schemas.microsoft.com/office/drawing/2014/main" id="{5E4894ED-F264-49FF-B7AB-BA4E6C68158A}"/>
                </a:ext>
              </a:extLst>
            </p:cNvPr>
            <p:cNvSpPr/>
            <p:nvPr/>
          </p:nvSpPr>
          <p:spPr bwMode="auto">
            <a:xfrm>
              <a:off x="4178300" y="2720777"/>
              <a:ext cx="609598" cy="762000"/>
            </a:xfrm>
            <a:prstGeom prst="rect">
              <a:avLst/>
            </a:prstGeom>
            <a:solidFill>
              <a:schemeClr val="bg2"/>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sp>
          <p:nvSpPr>
            <p:cNvPr id="21" name="TextBox 20">
              <a:extLst>
                <a:ext uri="{FF2B5EF4-FFF2-40B4-BE49-F238E27FC236}">
                  <a16:creationId xmlns:a16="http://schemas.microsoft.com/office/drawing/2014/main" id="{C80A16C0-CBEC-4DD9-AD38-2EB7C3ECDF3A}"/>
                </a:ext>
              </a:extLst>
            </p:cNvPr>
            <p:cNvSpPr txBox="1"/>
            <p:nvPr/>
          </p:nvSpPr>
          <p:spPr>
            <a:xfrm>
              <a:off x="4121335" y="2654300"/>
              <a:ext cx="712053" cy="610492"/>
            </a:xfrm>
            <a:prstGeom prst="rect">
              <a:avLst/>
            </a:prstGeom>
            <a:noFill/>
          </p:spPr>
          <p:txBody>
            <a:bodyPr wrap="none" rtlCol="0">
              <a:spAutoFit/>
            </a:bodyPr>
            <a:lstStyle/>
            <a:p>
              <a:pPr algn="ctr"/>
              <a:r>
                <a:rPr lang="en-US" sz="1400" dirty="0" err="1">
                  <a:latin typeface="Gill Sans Light"/>
                </a:rPr>
                <a:t>PgTbl</a:t>
              </a:r>
              <a:endParaRPr lang="en-US" sz="1400" dirty="0">
                <a:latin typeface="Gill Sans Light"/>
              </a:endParaRPr>
            </a:p>
            <a:p>
              <a:pPr algn="ctr"/>
              <a:r>
                <a:rPr lang="en-US" sz="1400" dirty="0">
                  <a:latin typeface="Gill Sans Light"/>
                </a:rPr>
                <a:t>&amp; TLB</a:t>
              </a:r>
            </a:p>
          </p:txBody>
        </p:sp>
      </p:grpSp>
      <p:cxnSp>
        <p:nvCxnSpPr>
          <p:cNvPr id="22" name="Straight Arrow Connector 21">
            <a:extLst>
              <a:ext uri="{FF2B5EF4-FFF2-40B4-BE49-F238E27FC236}">
                <a16:creationId xmlns:a16="http://schemas.microsoft.com/office/drawing/2014/main" id="{52D33204-BC10-46FF-B132-F33C746DE9B8}"/>
              </a:ext>
            </a:extLst>
          </p:cNvPr>
          <p:cNvCxnSpPr>
            <a:cxnSpLocks/>
          </p:cNvCxnSpPr>
          <p:nvPr/>
        </p:nvCxnSpPr>
        <p:spPr bwMode="auto">
          <a:xfrm flipV="1">
            <a:off x="3930650" y="5232303"/>
            <a:ext cx="1273102" cy="2471"/>
          </a:xfrm>
          <a:prstGeom prst="straightConnector1">
            <a:avLst/>
          </a:prstGeom>
          <a:solidFill>
            <a:schemeClr val="accent1"/>
          </a:solidFill>
          <a:ln w="57150" cap="flat" cmpd="sng" algn="ctr">
            <a:solidFill>
              <a:schemeClr val="tx1"/>
            </a:solidFill>
            <a:prstDash val="solid"/>
            <a:round/>
            <a:headEnd type="triangle" w="med" len="med"/>
            <a:tailEnd type="triangle"/>
          </a:ln>
          <a:effectLst/>
        </p:spPr>
      </p:cxnSp>
      <p:sp>
        <p:nvSpPr>
          <p:cNvPr id="26" name="Can 38">
            <a:extLst>
              <a:ext uri="{FF2B5EF4-FFF2-40B4-BE49-F238E27FC236}">
                <a16:creationId xmlns:a16="http://schemas.microsoft.com/office/drawing/2014/main" id="{2D66A6BA-E078-4243-A542-4EDF0004EFC1}"/>
              </a:ext>
            </a:extLst>
          </p:cNvPr>
          <p:cNvSpPr/>
          <p:nvPr/>
        </p:nvSpPr>
        <p:spPr bwMode="auto">
          <a:xfrm>
            <a:off x="6978098" y="4601091"/>
            <a:ext cx="977900" cy="973138"/>
          </a:xfrm>
          <a:prstGeom prst="can">
            <a:avLst/>
          </a:prstGeom>
          <a:solidFill>
            <a:srgbClr val="5AAEFF"/>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600" dirty="0">
                <a:latin typeface="Gill Sans Light"/>
              </a:rPr>
              <a:t>Storage</a:t>
            </a:r>
            <a:endParaRPr kumimoji="0" lang="en-US" sz="1600" b="0" i="0" u="none" strike="noStrike" cap="none" normalizeH="0" baseline="0" dirty="0">
              <a:ln>
                <a:noFill/>
              </a:ln>
              <a:solidFill>
                <a:schemeClr val="tx1"/>
              </a:solidFill>
              <a:effectLst/>
              <a:latin typeface="Gill Sans Light"/>
            </a:endParaRPr>
          </a:p>
        </p:txBody>
      </p:sp>
      <p:pic>
        <p:nvPicPr>
          <p:cNvPr id="27" name="Picture 26">
            <a:extLst>
              <a:ext uri="{FF2B5EF4-FFF2-40B4-BE49-F238E27FC236}">
                <a16:creationId xmlns:a16="http://schemas.microsoft.com/office/drawing/2014/main" id="{57205715-3232-4739-82EE-E1D9E0C153A6}"/>
              </a:ext>
            </a:extLst>
          </p:cNvPr>
          <p:cNvPicPr>
            <a:picLocks noChangeAspect="1"/>
          </p:cNvPicPr>
          <p:nvPr/>
        </p:nvPicPr>
        <p:blipFill>
          <a:blip r:embed="rId2">
            <a:clrChange>
              <a:clrFrom>
                <a:srgbClr val="FFFFFF"/>
              </a:clrFrom>
              <a:clrTo>
                <a:srgbClr val="FFFFFF">
                  <a:alpha val="0"/>
                </a:srgbClr>
              </a:clrTo>
            </a:clrChange>
          </a:blip>
          <a:stretch>
            <a:fillRect/>
          </a:stretch>
        </p:blipFill>
        <p:spPr>
          <a:xfrm flipH="1">
            <a:off x="8302804" y="4559299"/>
            <a:ext cx="1270482" cy="1270482"/>
          </a:xfrm>
          <a:prstGeom prst="rect">
            <a:avLst/>
          </a:prstGeom>
        </p:spPr>
      </p:pic>
      <p:sp>
        <p:nvSpPr>
          <p:cNvPr id="31" name="TextBox 30">
            <a:extLst>
              <a:ext uri="{FF2B5EF4-FFF2-40B4-BE49-F238E27FC236}">
                <a16:creationId xmlns:a16="http://schemas.microsoft.com/office/drawing/2014/main" id="{A8A63F55-8F57-4FCF-A466-B7ABFA7D293F}"/>
              </a:ext>
            </a:extLst>
          </p:cNvPr>
          <p:cNvSpPr txBox="1"/>
          <p:nvPr/>
        </p:nvSpPr>
        <p:spPr>
          <a:xfrm>
            <a:off x="8315784" y="4518076"/>
            <a:ext cx="1107996" cy="338554"/>
          </a:xfrm>
          <a:prstGeom prst="rect">
            <a:avLst/>
          </a:prstGeom>
          <a:noFill/>
        </p:spPr>
        <p:txBody>
          <a:bodyPr wrap="none" rtlCol="0">
            <a:spAutoFit/>
          </a:bodyPr>
          <a:lstStyle/>
          <a:p>
            <a:pPr algn="ctr"/>
            <a:r>
              <a:rPr lang="en-US" sz="1600" dirty="0">
                <a:latin typeface="Gill Sans Light"/>
              </a:rPr>
              <a:t>Networks</a:t>
            </a:r>
          </a:p>
        </p:txBody>
      </p:sp>
      <p:sp>
        <p:nvSpPr>
          <p:cNvPr id="34" name="TextBox 33">
            <a:extLst>
              <a:ext uri="{FF2B5EF4-FFF2-40B4-BE49-F238E27FC236}">
                <a16:creationId xmlns:a16="http://schemas.microsoft.com/office/drawing/2014/main" id="{5A2B64A6-5DE4-40BC-B41E-052C2DBBB4E8}"/>
              </a:ext>
            </a:extLst>
          </p:cNvPr>
          <p:cNvSpPr txBox="1"/>
          <p:nvPr/>
        </p:nvSpPr>
        <p:spPr>
          <a:xfrm>
            <a:off x="631271" y="4919941"/>
            <a:ext cx="1353256" cy="400110"/>
          </a:xfrm>
          <a:prstGeom prst="rect">
            <a:avLst/>
          </a:prstGeom>
          <a:noFill/>
        </p:spPr>
        <p:txBody>
          <a:bodyPr wrap="none" rtlCol="0">
            <a:spAutoFit/>
          </a:bodyPr>
          <a:lstStyle/>
          <a:p>
            <a:r>
              <a:rPr lang="en-US" sz="2000" dirty="0">
                <a:latin typeface="Gill Sans Light"/>
              </a:rPr>
              <a:t>Hardware</a:t>
            </a:r>
          </a:p>
        </p:txBody>
      </p:sp>
      <p:cxnSp>
        <p:nvCxnSpPr>
          <p:cNvPr id="39" name="Straight Arrow Connector 38">
            <a:extLst>
              <a:ext uri="{FF2B5EF4-FFF2-40B4-BE49-F238E27FC236}">
                <a16:creationId xmlns:a16="http://schemas.microsoft.com/office/drawing/2014/main" id="{44B237A5-A629-47CA-A0F4-6D264547B1E9}"/>
              </a:ext>
            </a:extLst>
          </p:cNvPr>
          <p:cNvCxnSpPr>
            <a:cxnSpLocks/>
            <a:endCxn id="26" idx="3"/>
          </p:cNvCxnSpPr>
          <p:nvPr/>
        </p:nvCxnSpPr>
        <p:spPr>
          <a:xfrm flipV="1">
            <a:off x="7467048" y="5574229"/>
            <a:ext cx="0" cy="331271"/>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AC006469-8BAB-4F3E-A8D9-EB19E5DDCFD3}"/>
              </a:ext>
            </a:extLst>
          </p:cNvPr>
          <p:cNvCxnSpPr>
            <a:cxnSpLocks/>
          </p:cNvCxnSpPr>
          <p:nvPr/>
        </p:nvCxnSpPr>
        <p:spPr>
          <a:xfrm flipV="1">
            <a:off x="8891831" y="5584848"/>
            <a:ext cx="0" cy="320652"/>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800CF464-6799-4EF1-A173-649974B69470}"/>
              </a:ext>
            </a:extLst>
          </p:cNvPr>
          <p:cNvCxnSpPr>
            <a:cxnSpLocks/>
          </p:cNvCxnSpPr>
          <p:nvPr/>
        </p:nvCxnSpPr>
        <p:spPr>
          <a:xfrm flipV="1">
            <a:off x="4308999" y="5234774"/>
            <a:ext cx="0" cy="670726"/>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077FE5F6-6698-44C8-949A-3B1FFA12825F}"/>
              </a:ext>
            </a:extLst>
          </p:cNvPr>
          <p:cNvCxnSpPr>
            <a:cxnSpLocks/>
            <a:endCxn id="56" idx="1"/>
          </p:cNvCxnSpPr>
          <p:nvPr/>
        </p:nvCxnSpPr>
        <p:spPr>
          <a:xfrm>
            <a:off x="4105518" y="5911715"/>
            <a:ext cx="1091231" cy="0"/>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56" name="Rectangle 55">
            <a:extLst>
              <a:ext uri="{FF2B5EF4-FFF2-40B4-BE49-F238E27FC236}">
                <a16:creationId xmlns:a16="http://schemas.microsoft.com/office/drawing/2014/main" id="{0182EB5C-4F86-416A-B81D-EA223AEB393C}"/>
              </a:ext>
            </a:extLst>
          </p:cNvPr>
          <p:cNvSpPr/>
          <p:nvPr/>
        </p:nvSpPr>
        <p:spPr bwMode="auto">
          <a:xfrm>
            <a:off x="5196749" y="5765133"/>
            <a:ext cx="1044306" cy="293164"/>
          </a:xfrm>
          <a:prstGeom prst="rect">
            <a:avLst/>
          </a:prstGeom>
          <a:no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400" b="0" i="0" u="none" strike="noStrike" cap="none" normalizeH="0" baseline="0" dirty="0">
                <a:ln>
                  <a:noFill/>
                </a:ln>
                <a:solidFill>
                  <a:schemeClr val="tx1"/>
                </a:solidFill>
                <a:effectLst/>
                <a:latin typeface="Gill Sans Light"/>
              </a:rPr>
              <a:t>I/O </a:t>
            </a:r>
            <a:r>
              <a:rPr kumimoji="0" lang="en-US" sz="1400" b="0" i="0" u="none" strike="noStrike" cap="none" normalizeH="0" baseline="0" dirty="0" err="1">
                <a:ln>
                  <a:noFill/>
                </a:ln>
                <a:solidFill>
                  <a:schemeClr val="tx1"/>
                </a:solidFill>
                <a:effectLst/>
                <a:latin typeface="Gill Sans Light"/>
              </a:rPr>
              <a:t>Ctrlr</a:t>
            </a:r>
            <a:endParaRPr kumimoji="0" lang="en-US" sz="1400" b="0" i="0" u="none" strike="noStrike" cap="none" normalizeH="0" baseline="0" dirty="0">
              <a:ln>
                <a:noFill/>
              </a:ln>
              <a:solidFill>
                <a:schemeClr val="tx1"/>
              </a:solidFill>
              <a:effectLst/>
              <a:latin typeface="Gill Sans Light"/>
            </a:endParaRPr>
          </a:p>
        </p:txBody>
      </p:sp>
      <p:cxnSp>
        <p:nvCxnSpPr>
          <p:cNvPr id="59" name="Straight Arrow Connector 58">
            <a:extLst>
              <a:ext uri="{FF2B5EF4-FFF2-40B4-BE49-F238E27FC236}">
                <a16:creationId xmlns:a16="http://schemas.microsoft.com/office/drawing/2014/main" id="{7CEF80FD-C99C-4106-86FD-C44623EF6D66}"/>
              </a:ext>
            </a:extLst>
          </p:cNvPr>
          <p:cNvCxnSpPr>
            <a:cxnSpLocks/>
            <a:stCxn id="56" idx="3"/>
          </p:cNvCxnSpPr>
          <p:nvPr/>
        </p:nvCxnSpPr>
        <p:spPr>
          <a:xfrm flipV="1">
            <a:off x="6241055" y="5905500"/>
            <a:ext cx="5145949" cy="0"/>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8C42E879-B352-4CB0-9045-9528A742E94C}"/>
              </a:ext>
            </a:extLst>
          </p:cNvPr>
          <p:cNvSpPr txBox="1"/>
          <p:nvPr/>
        </p:nvSpPr>
        <p:spPr>
          <a:xfrm>
            <a:off x="861699" y="4314038"/>
            <a:ext cx="1494531" cy="338554"/>
          </a:xfrm>
          <a:prstGeom prst="rect">
            <a:avLst/>
          </a:prstGeom>
          <a:solidFill>
            <a:srgbClr val="EFE683"/>
          </a:solidFill>
          <a:ln>
            <a:solidFill>
              <a:schemeClr val="tx1"/>
            </a:solidFill>
          </a:ln>
        </p:spPr>
        <p:txBody>
          <a:bodyPr wrap="square" rtlCol="0">
            <a:spAutoFit/>
          </a:bodyPr>
          <a:lstStyle/>
          <a:p>
            <a:pPr algn="ctr"/>
            <a:r>
              <a:rPr lang="en-US" sz="1600" b="1" i="1" dirty="0">
                <a:latin typeface="Gill Sans Light"/>
              </a:rPr>
              <a:t>ISA</a:t>
            </a:r>
          </a:p>
        </p:txBody>
      </p:sp>
      <p:sp>
        <p:nvSpPr>
          <p:cNvPr id="63" name="Rectangle 62">
            <a:extLst>
              <a:ext uri="{FF2B5EF4-FFF2-40B4-BE49-F238E27FC236}">
                <a16:creationId xmlns:a16="http://schemas.microsoft.com/office/drawing/2014/main" id="{CA91FAA7-997F-463D-B0E7-ECB8FF4BD25C}"/>
              </a:ext>
            </a:extLst>
          </p:cNvPr>
          <p:cNvSpPr/>
          <p:nvPr/>
        </p:nvSpPr>
        <p:spPr>
          <a:xfrm>
            <a:off x="1955800" y="3595554"/>
            <a:ext cx="9753601" cy="936847"/>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latin typeface="Gill Sans Light"/>
              </a:rPr>
              <a:t>Operating System</a:t>
            </a:r>
          </a:p>
        </p:txBody>
      </p:sp>
      <p:sp>
        <p:nvSpPr>
          <p:cNvPr id="84" name="Rectangle 83">
            <a:extLst>
              <a:ext uri="{FF2B5EF4-FFF2-40B4-BE49-F238E27FC236}">
                <a16:creationId xmlns:a16="http://schemas.microsoft.com/office/drawing/2014/main" id="{87B4BF93-F38E-482C-92DA-97BF83D39E26}"/>
              </a:ext>
            </a:extLst>
          </p:cNvPr>
          <p:cNvSpPr/>
          <p:nvPr/>
        </p:nvSpPr>
        <p:spPr>
          <a:xfrm>
            <a:off x="419100" y="2710529"/>
            <a:ext cx="1417802" cy="1493074"/>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Gill Sans Light"/>
              </a:rPr>
              <a:t>Compiler</a:t>
            </a:r>
          </a:p>
        </p:txBody>
      </p:sp>
      <p:sp>
        <p:nvSpPr>
          <p:cNvPr id="45" name="Rectangle 44">
            <a:extLst>
              <a:ext uri="{FF2B5EF4-FFF2-40B4-BE49-F238E27FC236}">
                <a16:creationId xmlns:a16="http://schemas.microsoft.com/office/drawing/2014/main" id="{3EFB73E7-29AB-4311-90E8-B9325E17083A}"/>
              </a:ext>
            </a:extLst>
          </p:cNvPr>
          <p:cNvSpPr/>
          <p:nvPr/>
        </p:nvSpPr>
        <p:spPr>
          <a:xfrm>
            <a:off x="0" y="1860550"/>
            <a:ext cx="12192000" cy="4692650"/>
          </a:xfrm>
          <a:prstGeom prst="rect">
            <a:avLst/>
          </a:pr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Gill Sans Light"/>
            </a:endParaRPr>
          </a:p>
        </p:txBody>
      </p:sp>
      <p:sp>
        <p:nvSpPr>
          <p:cNvPr id="2" name="Title 1">
            <a:extLst>
              <a:ext uri="{FF2B5EF4-FFF2-40B4-BE49-F238E27FC236}">
                <a16:creationId xmlns:a16="http://schemas.microsoft.com/office/drawing/2014/main" id="{2735C77F-660A-43A3-8126-43A0F77E49F3}"/>
              </a:ext>
            </a:extLst>
          </p:cNvPr>
          <p:cNvSpPr>
            <a:spLocks noGrp="1"/>
          </p:cNvSpPr>
          <p:nvPr>
            <p:ph type="title"/>
          </p:nvPr>
        </p:nvSpPr>
        <p:spPr/>
        <p:txBody>
          <a:bodyPr/>
          <a:lstStyle/>
          <a:p>
            <a:r>
              <a:rPr lang="en-US" dirty="0">
                <a:latin typeface="Gill Sans Light"/>
              </a:rPr>
              <a:t>OS Basics: Running a Process</a:t>
            </a:r>
          </a:p>
        </p:txBody>
      </p:sp>
      <p:sp>
        <p:nvSpPr>
          <p:cNvPr id="8" name="Rounded Rectangle 6">
            <a:extLst>
              <a:ext uri="{FF2B5EF4-FFF2-40B4-BE49-F238E27FC236}">
                <a16:creationId xmlns:a16="http://schemas.microsoft.com/office/drawing/2014/main" id="{EA9B6AFF-D750-4502-865E-E3737510EED0}"/>
              </a:ext>
            </a:extLst>
          </p:cNvPr>
          <p:cNvSpPr/>
          <p:nvPr/>
        </p:nvSpPr>
        <p:spPr bwMode="auto">
          <a:xfrm>
            <a:off x="2201858" y="4618038"/>
            <a:ext cx="1728792" cy="838200"/>
          </a:xfrm>
          <a:prstGeom prst="roundRect">
            <a:avLst/>
          </a:prstGeom>
          <a:solidFill>
            <a:schemeClr val="accent1">
              <a:lumMod val="40000"/>
              <a:lumOff val="6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Gill Sans Light"/>
              </a:rPr>
              <a:t>Processor</a:t>
            </a:r>
            <a:endParaRPr kumimoji="0" lang="en-US" sz="1400" b="0" i="0" u="none" strike="noStrike" cap="none" normalizeH="0" baseline="0" dirty="0">
              <a:ln>
                <a:noFill/>
              </a:ln>
              <a:solidFill>
                <a:schemeClr val="tx1"/>
              </a:solidFill>
              <a:effectLst/>
              <a:latin typeface="Gill Sans Light"/>
            </a:endParaRPr>
          </a:p>
        </p:txBody>
      </p:sp>
      <p:sp>
        <p:nvSpPr>
          <p:cNvPr id="9" name="Rectangle 8">
            <a:extLst>
              <a:ext uri="{FF2B5EF4-FFF2-40B4-BE49-F238E27FC236}">
                <a16:creationId xmlns:a16="http://schemas.microsoft.com/office/drawing/2014/main" id="{85025C03-FC2A-4CCF-8684-4F37D94D3763}"/>
              </a:ext>
            </a:extLst>
          </p:cNvPr>
          <p:cNvSpPr/>
          <p:nvPr/>
        </p:nvSpPr>
        <p:spPr bwMode="auto">
          <a:xfrm>
            <a:off x="5009666" y="4664869"/>
            <a:ext cx="1760608" cy="973138"/>
          </a:xfrm>
          <a:prstGeom prst="rect">
            <a:avLst/>
          </a:prstGeom>
          <a:solidFill>
            <a:srgbClr val="5AAEFF"/>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Gill Sans Light"/>
              </a:rPr>
              <a:t>Memory</a:t>
            </a:r>
          </a:p>
        </p:txBody>
      </p:sp>
      <p:grpSp>
        <p:nvGrpSpPr>
          <p:cNvPr id="10" name="Group 9">
            <a:extLst>
              <a:ext uri="{FF2B5EF4-FFF2-40B4-BE49-F238E27FC236}">
                <a16:creationId xmlns:a16="http://schemas.microsoft.com/office/drawing/2014/main" id="{4C2174B6-519D-44F7-A8CB-C9D9304FB602}"/>
              </a:ext>
            </a:extLst>
          </p:cNvPr>
          <p:cNvGrpSpPr/>
          <p:nvPr/>
        </p:nvGrpSpPr>
        <p:grpSpPr>
          <a:xfrm>
            <a:off x="3244850" y="5075238"/>
            <a:ext cx="533400" cy="304800"/>
            <a:chOff x="3124200" y="3657600"/>
            <a:chExt cx="533400" cy="304800"/>
          </a:xfrm>
          <a:solidFill>
            <a:srgbClr val="C49500"/>
          </a:solidFill>
        </p:grpSpPr>
        <p:sp>
          <p:nvSpPr>
            <p:cNvPr id="11" name="Rectangle 10">
              <a:extLst>
                <a:ext uri="{FF2B5EF4-FFF2-40B4-BE49-F238E27FC236}">
                  <a16:creationId xmlns:a16="http://schemas.microsoft.com/office/drawing/2014/main" id="{EFBA6894-B008-4F1D-B22C-730173B3DFD4}"/>
                </a:ext>
              </a:extLst>
            </p:cNvPr>
            <p:cNvSpPr/>
            <p:nvPr/>
          </p:nvSpPr>
          <p:spPr bwMode="auto">
            <a:xfrm>
              <a:off x="3124200" y="3657600"/>
              <a:ext cx="533400" cy="304800"/>
            </a:xfrm>
            <a:prstGeom prst="rect">
              <a:avLst/>
            </a:prstGeom>
            <a:grp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sp>
          <p:nvSpPr>
            <p:cNvPr id="12" name="Rectangle 11">
              <a:extLst>
                <a:ext uri="{FF2B5EF4-FFF2-40B4-BE49-F238E27FC236}">
                  <a16:creationId xmlns:a16="http://schemas.microsoft.com/office/drawing/2014/main" id="{F6B854A3-399D-4E47-BB10-B204E22F6207}"/>
                </a:ext>
              </a:extLst>
            </p:cNvPr>
            <p:cNvSpPr/>
            <p:nvPr/>
          </p:nvSpPr>
          <p:spPr bwMode="auto">
            <a:xfrm>
              <a:off x="3124200" y="3733800"/>
              <a:ext cx="533400" cy="152400"/>
            </a:xfrm>
            <a:prstGeom prst="rect">
              <a:avLst/>
            </a:prstGeom>
            <a:grp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grpSp>
      <p:sp>
        <p:nvSpPr>
          <p:cNvPr id="13" name="Rectangle 12">
            <a:extLst>
              <a:ext uri="{FF2B5EF4-FFF2-40B4-BE49-F238E27FC236}">
                <a16:creationId xmlns:a16="http://schemas.microsoft.com/office/drawing/2014/main" id="{4A1809EB-73C2-4CF6-B753-8F1B20E63381}"/>
              </a:ext>
            </a:extLst>
          </p:cNvPr>
          <p:cNvSpPr/>
          <p:nvPr/>
        </p:nvSpPr>
        <p:spPr bwMode="auto">
          <a:xfrm>
            <a:off x="5171349" y="5188015"/>
            <a:ext cx="447915" cy="396832"/>
          </a:xfrm>
          <a:prstGeom prst="rect">
            <a:avLst/>
          </a:prstGeom>
          <a:solidFill>
            <a:srgbClr val="C49500"/>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cxnSp>
        <p:nvCxnSpPr>
          <p:cNvPr id="17" name="Curved Connector 54">
            <a:extLst>
              <a:ext uri="{FF2B5EF4-FFF2-40B4-BE49-F238E27FC236}">
                <a16:creationId xmlns:a16="http://schemas.microsoft.com/office/drawing/2014/main" id="{1C7D6572-FBEF-45D3-B9EB-4A6924279104}"/>
              </a:ext>
            </a:extLst>
          </p:cNvPr>
          <p:cNvCxnSpPr>
            <a:cxnSpLocks/>
          </p:cNvCxnSpPr>
          <p:nvPr/>
        </p:nvCxnSpPr>
        <p:spPr bwMode="auto">
          <a:xfrm>
            <a:off x="3600451" y="5265655"/>
            <a:ext cx="1775551" cy="217481"/>
          </a:xfrm>
          <a:prstGeom prst="curvedConnector3">
            <a:avLst>
              <a:gd name="adj1" fmla="val 23535"/>
            </a:avLst>
          </a:prstGeom>
          <a:solidFill>
            <a:schemeClr val="accent1"/>
          </a:solidFill>
          <a:ln w="22225" cap="flat" cmpd="sng" algn="ctr">
            <a:solidFill>
              <a:schemeClr val="tx1"/>
            </a:solidFill>
            <a:prstDash val="solid"/>
            <a:round/>
            <a:headEnd type="triangle" w="sm" len="sm"/>
            <a:tailEnd type="triangle"/>
          </a:ln>
          <a:effectLst/>
        </p:spPr>
      </p:cxnSp>
      <p:sp>
        <p:nvSpPr>
          <p:cNvPr id="80" name="Rectangle 79">
            <a:extLst>
              <a:ext uri="{FF2B5EF4-FFF2-40B4-BE49-F238E27FC236}">
                <a16:creationId xmlns:a16="http://schemas.microsoft.com/office/drawing/2014/main" id="{4838629E-2E3E-4207-99FE-90E9B77B1C43}"/>
              </a:ext>
            </a:extLst>
          </p:cNvPr>
          <p:cNvSpPr/>
          <p:nvPr/>
        </p:nvSpPr>
        <p:spPr>
          <a:xfrm>
            <a:off x="2187471" y="2710529"/>
            <a:ext cx="4568415" cy="936847"/>
          </a:xfrm>
          <a:prstGeom prst="rect">
            <a:avLst/>
          </a:prstGeom>
          <a:solidFill>
            <a:srgbClr val="9E78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1" dirty="0">
                <a:solidFill>
                  <a:schemeClr val="tx1"/>
                </a:solidFill>
                <a:latin typeface="Gill Sans Light"/>
              </a:rPr>
              <a:t>Process 1</a:t>
            </a:r>
          </a:p>
          <a:p>
            <a:pPr algn="ctr"/>
            <a:endParaRPr lang="en-US" sz="1200" dirty="0">
              <a:solidFill>
                <a:schemeClr val="tx1"/>
              </a:solidFill>
              <a:latin typeface="Gill Sans Light"/>
            </a:endParaRPr>
          </a:p>
        </p:txBody>
      </p:sp>
      <p:sp>
        <p:nvSpPr>
          <p:cNvPr id="72" name="TextBox 71">
            <a:extLst>
              <a:ext uri="{FF2B5EF4-FFF2-40B4-BE49-F238E27FC236}">
                <a16:creationId xmlns:a16="http://schemas.microsoft.com/office/drawing/2014/main" id="{E4897103-5196-4D83-8C50-ED908C0B63F9}"/>
              </a:ext>
            </a:extLst>
          </p:cNvPr>
          <p:cNvSpPr txBox="1"/>
          <p:nvPr/>
        </p:nvSpPr>
        <p:spPr>
          <a:xfrm>
            <a:off x="2245360" y="3396030"/>
            <a:ext cx="961390"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Threads</a:t>
            </a:r>
          </a:p>
        </p:txBody>
      </p:sp>
      <p:sp>
        <p:nvSpPr>
          <p:cNvPr id="74" name="TextBox 73">
            <a:extLst>
              <a:ext uri="{FF2B5EF4-FFF2-40B4-BE49-F238E27FC236}">
                <a16:creationId xmlns:a16="http://schemas.microsoft.com/office/drawing/2014/main" id="{903AC2DB-5960-4CF0-B972-E1CDF92622A2}"/>
              </a:ext>
            </a:extLst>
          </p:cNvPr>
          <p:cNvSpPr txBox="1"/>
          <p:nvPr/>
        </p:nvSpPr>
        <p:spPr>
          <a:xfrm>
            <a:off x="3325648" y="3398740"/>
            <a:ext cx="1550862"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Address Spaces</a:t>
            </a:r>
          </a:p>
        </p:txBody>
      </p:sp>
      <p:sp>
        <p:nvSpPr>
          <p:cNvPr id="75" name="TextBox 74">
            <a:extLst>
              <a:ext uri="{FF2B5EF4-FFF2-40B4-BE49-F238E27FC236}">
                <a16:creationId xmlns:a16="http://schemas.microsoft.com/office/drawing/2014/main" id="{AD4C368E-047B-4BC3-8012-71A6CC7B5378}"/>
              </a:ext>
            </a:extLst>
          </p:cNvPr>
          <p:cNvSpPr txBox="1"/>
          <p:nvPr/>
        </p:nvSpPr>
        <p:spPr>
          <a:xfrm>
            <a:off x="5000552" y="3397972"/>
            <a:ext cx="683252"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Files</a:t>
            </a:r>
          </a:p>
        </p:txBody>
      </p:sp>
      <p:sp>
        <p:nvSpPr>
          <p:cNvPr id="76" name="TextBox 75">
            <a:extLst>
              <a:ext uri="{FF2B5EF4-FFF2-40B4-BE49-F238E27FC236}">
                <a16:creationId xmlns:a16="http://schemas.microsoft.com/office/drawing/2014/main" id="{8ED3D70A-C8B7-4AAE-8DB5-86A5FF23DEF3}"/>
              </a:ext>
            </a:extLst>
          </p:cNvPr>
          <p:cNvSpPr txBox="1"/>
          <p:nvPr/>
        </p:nvSpPr>
        <p:spPr>
          <a:xfrm>
            <a:off x="5814118" y="3397972"/>
            <a:ext cx="844624"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Sockets</a:t>
            </a:r>
          </a:p>
        </p:txBody>
      </p:sp>
      <p:sp>
        <p:nvSpPr>
          <p:cNvPr id="55" name="Rectangle 54">
            <a:extLst>
              <a:ext uri="{FF2B5EF4-FFF2-40B4-BE49-F238E27FC236}">
                <a16:creationId xmlns:a16="http://schemas.microsoft.com/office/drawing/2014/main" id="{0E783A07-C148-43C9-84E9-1E9884CF721E}"/>
              </a:ext>
            </a:extLst>
          </p:cNvPr>
          <p:cNvSpPr/>
          <p:nvPr/>
        </p:nvSpPr>
        <p:spPr>
          <a:xfrm>
            <a:off x="6933883" y="2710529"/>
            <a:ext cx="4568415" cy="936847"/>
          </a:xfrm>
          <a:prstGeom prst="rect">
            <a:avLst/>
          </a:prstGeom>
          <a:solidFill>
            <a:schemeClr val="accent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1" dirty="0">
                <a:solidFill>
                  <a:schemeClr val="tx1"/>
                </a:solidFill>
                <a:latin typeface="Gill Sans Light"/>
              </a:rPr>
              <a:t>Process 2</a:t>
            </a:r>
          </a:p>
          <a:p>
            <a:pPr algn="ctr"/>
            <a:endParaRPr lang="en-US" sz="1200" dirty="0">
              <a:solidFill>
                <a:schemeClr val="tx1"/>
              </a:solidFill>
              <a:latin typeface="Gill Sans Light"/>
            </a:endParaRPr>
          </a:p>
        </p:txBody>
      </p:sp>
      <p:sp>
        <p:nvSpPr>
          <p:cNvPr id="57" name="TextBox 56">
            <a:extLst>
              <a:ext uri="{FF2B5EF4-FFF2-40B4-BE49-F238E27FC236}">
                <a16:creationId xmlns:a16="http://schemas.microsoft.com/office/drawing/2014/main" id="{8FBCBFF2-102E-4AC2-AE4A-CC896E9B1E66}"/>
              </a:ext>
            </a:extLst>
          </p:cNvPr>
          <p:cNvSpPr txBox="1"/>
          <p:nvPr/>
        </p:nvSpPr>
        <p:spPr>
          <a:xfrm>
            <a:off x="6977384" y="3396030"/>
            <a:ext cx="961390"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Threads</a:t>
            </a:r>
          </a:p>
        </p:txBody>
      </p:sp>
      <p:sp>
        <p:nvSpPr>
          <p:cNvPr id="58" name="TextBox 57">
            <a:extLst>
              <a:ext uri="{FF2B5EF4-FFF2-40B4-BE49-F238E27FC236}">
                <a16:creationId xmlns:a16="http://schemas.microsoft.com/office/drawing/2014/main" id="{85A8239A-9FCD-46DB-B7DA-7EA11E27E672}"/>
              </a:ext>
            </a:extLst>
          </p:cNvPr>
          <p:cNvSpPr txBox="1"/>
          <p:nvPr/>
        </p:nvSpPr>
        <p:spPr>
          <a:xfrm>
            <a:off x="8057672" y="3398740"/>
            <a:ext cx="1550862"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Address Spaces</a:t>
            </a:r>
          </a:p>
        </p:txBody>
      </p:sp>
      <p:sp>
        <p:nvSpPr>
          <p:cNvPr id="60" name="TextBox 59">
            <a:extLst>
              <a:ext uri="{FF2B5EF4-FFF2-40B4-BE49-F238E27FC236}">
                <a16:creationId xmlns:a16="http://schemas.microsoft.com/office/drawing/2014/main" id="{D923F43D-F391-40F4-9D87-D4E37AAB7342}"/>
              </a:ext>
            </a:extLst>
          </p:cNvPr>
          <p:cNvSpPr txBox="1"/>
          <p:nvPr/>
        </p:nvSpPr>
        <p:spPr>
          <a:xfrm>
            <a:off x="9732576" y="3397972"/>
            <a:ext cx="683252"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Files</a:t>
            </a:r>
          </a:p>
        </p:txBody>
      </p:sp>
      <p:sp>
        <p:nvSpPr>
          <p:cNvPr id="61" name="TextBox 60">
            <a:extLst>
              <a:ext uri="{FF2B5EF4-FFF2-40B4-BE49-F238E27FC236}">
                <a16:creationId xmlns:a16="http://schemas.microsoft.com/office/drawing/2014/main" id="{9AB076CB-B81B-4687-8B6B-B76A3C75D037}"/>
              </a:ext>
            </a:extLst>
          </p:cNvPr>
          <p:cNvSpPr txBox="1"/>
          <p:nvPr/>
        </p:nvSpPr>
        <p:spPr>
          <a:xfrm>
            <a:off x="10546142" y="3397972"/>
            <a:ext cx="844624"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Sockets</a:t>
            </a:r>
          </a:p>
        </p:txBody>
      </p:sp>
      <p:sp>
        <p:nvSpPr>
          <p:cNvPr id="81" name="Rectangle: Folded Corner 80">
            <a:extLst>
              <a:ext uri="{FF2B5EF4-FFF2-40B4-BE49-F238E27FC236}">
                <a16:creationId xmlns:a16="http://schemas.microsoft.com/office/drawing/2014/main" id="{19183BC7-FF86-4959-8312-523AE576C3AF}"/>
              </a:ext>
            </a:extLst>
          </p:cNvPr>
          <p:cNvSpPr/>
          <p:nvPr/>
        </p:nvSpPr>
        <p:spPr>
          <a:xfrm>
            <a:off x="3539163" y="1372394"/>
            <a:ext cx="2014336" cy="1471720"/>
          </a:xfrm>
          <a:prstGeom prst="foldedCorner">
            <a:avLst>
              <a:gd name="adj" fmla="val 21333"/>
            </a:avLst>
          </a:prstGeom>
          <a:solidFill>
            <a:srgbClr val="9E7800"/>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2000" dirty="0">
                <a:solidFill>
                  <a:schemeClr val="tx1"/>
                </a:solidFill>
                <a:latin typeface="Gill Sans Light"/>
              </a:rPr>
              <a:t>Compiled</a:t>
            </a:r>
          </a:p>
          <a:p>
            <a:pPr algn="ctr"/>
            <a:r>
              <a:rPr lang="en-US" sz="2000" dirty="0">
                <a:solidFill>
                  <a:schemeClr val="tx1"/>
                </a:solidFill>
                <a:latin typeface="Gill Sans Light"/>
              </a:rPr>
              <a:t>Program 1</a:t>
            </a:r>
          </a:p>
        </p:txBody>
      </p:sp>
      <p:sp>
        <p:nvSpPr>
          <p:cNvPr id="83" name="Rectangle 82">
            <a:extLst>
              <a:ext uri="{FF2B5EF4-FFF2-40B4-BE49-F238E27FC236}">
                <a16:creationId xmlns:a16="http://schemas.microsoft.com/office/drawing/2014/main" id="{DCEED07B-2876-4266-8889-B6933456A2AD}"/>
              </a:ext>
            </a:extLst>
          </p:cNvPr>
          <p:cNvSpPr/>
          <p:nvPr/>
        </p:nvSpPr>
        <p:spPr>
          <a:xfrm>
            <a:off x="3801201" y="2322568"/>
            <a:ext cx="1343751" cy="464249"/>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Gill Sans Light"/>
              </a:rPr>
              <a:t>System Libs</a:t>
            </a:r>
          </a:p>
        </p:txBody>
      </p:sp>
      <p:sp>
        <p:nvSpPr>
          <p:cNvPr id="65" name="Rectangle: Folded Corner 64">
            <a:extLst>
              <a:ext uri="{FF2B5EF4-FFF2-40B4-BE49-F238E27FC236}">
                <a16:creationId xmlns:a16="http://schemas.microsoft.com/office/drawing/2014/main" id="{16EECD36-F398-4299-8CCB-C7B1EBF07062}"/>
              </a:ext>
            </a:extLst>
          </p:cNvPr>
          <p:cNvSpPr/>
          <p:nvPr/>
        </p:nvSpPr>
        <p:spPr>
          <a:xfrm>
            <a:off x="8375029" y="1366340"/>
            <a:ext cx="2014336" cy="1471720"/>
          </a:xfrm>
          <a:prstGeom prst="foldedCorner">
            <a:avLst>
              <a:gd name="adj" fmla="val 21333"/>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2000" dirty="0">
                <a:solidFill>
                  <a:schemeClr val="tx1"/>
                </a:solidFill>
                <a:latin typeface="Gill Sans Light"/>
              </a:rPr>
              <a:t>Compiled</a:t>
            </a:r>
          </a:p>
          <a:p>
            <a:pPr algn="ctr"/>
            <a:r>
              <a:rPr lang="en-US" sz="2000" dirty="0">
                <a:solidFill>
                  <a:schemeClr val="tx1"/>
                </a:solidFill>
                <a:latin typeface="Gill Sans Light"/>
              </a:rPr>
              <a:t>Program 2</a:t>
            </a:r>
          </a:p>
        </p:txBody>
      </p:sp>
      <p:sp>
        <p:nvSpPr>
          <p:cNvPr id="66" name="Rectangle 65">
            <a:extLst>
              <a:ext uri="{FF2B5EF4-FFF2-40B4-BE49-F238E27FC236}">
                <a16:creationId xmlns:a16="http://schemas.microsoft.com/office/drawing/2014/main" id="{157B6B9A-A9A3-407F-951E-EECDC589195B}"/>
              </a:ext>
            </a:extLst>
          </p:cNvPr>
          <p:cNvSpPr/>
          <p:nvPr/>
        </p:nvSpPr>
        <p:spPr>
          <a:xfrm>
            <a:off x="8622679" y="2316514"/>
            <a:ext cx="1343751" cy="464249"/>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Gill Sans Light"/>
              </a:rPr>
              <a:t>System Libs</a:t>
            </a:r>
          </a:p>
        </p:txBody>
      </p:sp>
    </p:spTree>
    <p:extLst>
      <p:ext uri="{BB962C8B-B14F-4D97-AF65-F5344CB8AC3E}">
        <p14:creationId xmlns:p14="http://schemas.microsoft.com/office/powerpoint/2010/main" val="3820277334"/>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3193DD4-304A-4B76-81C9-FBF787FE779B}"/>
              </a:ext>
            </a:extLst>
          </p:cNvPr>
          <p:cNvSpPr/>
          <p:nvPr/>
        </p:nvSpPr>
        <p:spPr bwMode="auto">
          <a:xfrm>
            <a:off x="654050" y="4470400"/>
            <a:ext cx="11118850" cy="1689099"/>
          </a:xfrm>
          <a:prstGeom prst="rect">
            <a:avLst/>
          </a:prstGeom>
          <a:pattFill prst="horzBrick">
            <a:fgClr>
              <a:schemeClr val="bg2">
                <a:lumMod val="40000"/>
                <a:lumOff val="60000"/>
              </a:schemeClr>
            </a:fgClr>
            <a:bgClr>
              <a:prstClr val="white"/>
            </a:bgClr>
          </a:patt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dirty="0">
              <a:ln>
                <a:noFill/>
              </a:ln>
              <a:solidFill>
                <a:schemeClr val="tx1"/>
              </a:solidFill>
              <a:effectLst/>
              <a:latin typeface="Gill Sans Light"/>
            </a:endParaRPr>
          </a:p>
        </p:txBody>
      </p:sp>
      <p:grpSp>
        <p:nvGrpSpPr>
          <p:cNvPr id="19" name="Group 18">
            <a:extLst>
              <a:ext uri="{FF2B5EF4-FFF2-40B4-BE49-F238E27FC236}">
                <a16:creationId xmlns:a16="http://schemas.microsoft.com/office/drawing/2014/main" id="{E3801482-024B-4578-81D6-B8D5101ACF77}"/>
              </a:ext>
            </a:extLst>
          </p:cNvPr>
          <p:cNvGrpSpPr/>
          <p:nvPr/>
        </p:nvGrpSpPr>
        <p:grpSpPr>
          <a:xfrm>
            <a:off x="4432116" y="4603105"/>
            <a:ext cx="712053" cy="710043"/>
            <a:chOff x="4121335" y="2654300"/>
            <a:chExt cx="712053" cy="828477"/>
          </a:xfrm>
        </p:grpSpPr>
        <p:sp>
          <p:nvSpPr>
            <p:cNvPr id="20" name="Rectangle 19">
              <a:extLst>
                <a:ext uri="{FF2B5EF4-FFF2-40B4-BE49-F238E27FC236}">
                  <a16:creationId xmlns:a16="http://schemas.microsoft.com/office/drawing/2014/main" id="{5E4894ED-F264-49FF-B7AB-BA4E6C68158A}"/>
                </a:ext>
              </a:extLst>
            </p:cNvPr>
            <p:cNvSpPr/>
            <p:nvPr/>
          </p:nvSpPr>
          <p:spPr bwMode="auto">
            <a:xfrm>
              <a:off x="4178300" y="2720777"/>
              <a:ext cx="609598" cy="762000"/>
            </a:xfrm>
            <a:prstGeom prst="rect">
              <a:avLst/>
            </a:prstGeom>
            <a:solidFill>
              <a:schemeClr val="bg2"/>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sp>
          <p:nvSpPr>
            <p:cNvPr id="21" name="TextBox 20">
              <a:extLst>
                <a:ext uri="{FF2B5EF4-FFF2-40B4-BE49-F238E27FC236}">
                  <a16:creationId xmlns:a16="http://schemas.microsoft.com/office/drawing/2014/main" id="{C80A16C0-CBEC-4DD9-AD38-2EB7C3ECDF3A}"/>
                </a:ext>
              </a:extLst>
            </p:cNvPr>
            <p:cNvSpPr txBox="1"/>
            <p:nvPr/>
          </p:nvSpPr>
          <p:spPr>
            <a:xfrm>
              <a:off x="4121335" y="2654300"/>
              <a:ext cx="712053" cy="610492"/>
            </a:xfrm>
            <a:prstGeom prst="rect">
              <a:avLst/>
            </a:prstGeom>
            <a:noFill/>
          </p:spPr>
          <p:txBody>
            <a:bodyPr wrap="none" rtlCol="0">
              <a:spAutoFit/>
            </a:bodyPr>
            <a:lstStyle/>
            <a:p>
              <a:pPr algn="ctr"/>
              <a:r>
                <a:rPr lang="en-US" sz="1400" dirty="0" err="1">
                  <a:latin typeface="Gill Sans Light"/>
                </a:rPr>
                <a:t>PgTbl</a:t>
              </a:r>
              <a:endParaRPr lang="en-US" sz="1400" dirty="0">
                <a:latin typeface="Gill Sans Light"/>
              </a:endParaRPr>
            </a:p>
            <a:p>
              <a:pPr algn="ctr"/>
              <a:r>
                <a:rPr lang="en-US" sz="1400" dirty="0">
                  <a:latin typeface="Gill Sans Light"/>
                </a:rPr>
                <a:t>&amp; TLB</a:t>
              </a:r>
            </a:p>
          </p:txBody>
        </p:sp>
      </p:grpSp>
      <p:cxnSp>
        <p:nvCxnSpPr>
          <p:cNvPr id="22" name="Straight Arrow Connector 21">
            <a:extLst>
              <a:ext uri="{FF2B5EF4-FFF2-40B4-BE49-F238E27FC236}">
                <a16:creationId xmlns:a16="http://schemas.microsoft.com/office/drawing/2014/main" id="{52D33204-BC10-46FF-B132-F33C746DE9B8}"/>
              </a:ext>
            </a:extLst>
          </p:cNvPr>
          <p:cNvCxnSpPr>
            <a:cxnSpLocks/>
          </p:cNvCxnSpPr>
          <p:nvPr/>
        </p:nvCxnSpPr>
        <p:spPr bwMode="auto">
          <a:xfrm flipV="1">
            <a:off x="3930650" y="5232303"/>
            <a:ext cx="1273102" cy="2471"/>
          </a:xfrm>
          <a:prstGeom prst="straightConnector1">
            <a:avLst/>
          </a:prstGeom>
          <a:solidFill>
            <a:schemeClr val="accent1"/>
          </a:solidFill>
          <a:ln w="57150" cap="flat" cmpd="sng" algn="ctr">
            <a:solidFill>
              <a:schemeClr val="tx1"/>
            </a:solidFill>
            <a:prstDash val="solid"/>
            <a:round/>
            <a:headEnd type="triangle" w="med" len="med"/>
            <a:tailEnd type="triangle"/>
          </a:ln>
          <a:effectLst/>
        </p:spPr>
      </p:cxnSp>
      <p:sp>
        <p:nvSpPr>
          <p:cNvPr id="26" name="Can 38">
            <a:extLst>
              <a:ext uri="{FF2B5EF4-FFF2-40B4-BE49-F238E27FC236}">
                <a16:creationId xmlns:a16="http://schemas.microsoft.com/office/drawing/2014/main" id="{2D66A6BA-E078-4243-A542-4EDF0004EFC1}"/>
              </a:ext>
            </a:extLst>
          </p:cNvPr>
          <p:cNvSpPr/>
          <p:nvPr/>
        </p:nvSpPr>
        <p:spPr bwMode="auto">
          <a:xfrm>
            <a:off x="6978098" y="4601091"/>
            <a:ext cx="977900" cy="973138"/>
          </a:xfrm>
          <a:prstGeom prst="can">
            <a:avLst/>
          </a:prstGeom>
          <a:solidFill>
            <a:srgbClr val="5AAEFF"/>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600" dirty="0">
                <a:latin typeface="Gill Sans Light"/>
              </a:rPr>
              <a:t>Storage</a:t>
            </a:r>
            <a:endParaRPr kumimoji="0" lang="en-US" sz="1600" b="0" i="0" u="none" strike="noStrike" cap="none" normalizeH="0" baseline="0" dirty="0">
              <a:ln>
                <a:noFill/>
              </a:ln>
              <a:solidFill>
                <a:schemeClr val="tx1"/>
              </a:solidFill>
              <a:effectLst/>
              <a:latin typeface="Gill Sans Light"/>
            </a:endParaRPr>
          </a:p>
        </p:txBody>
      </p:sp>
      <p:pic>
        <p:nvPicPr>
          <p:cNvPr id="27" name="Picture 26">
            <a:extLst>
              <a:ext uri="{FF2B5EF4-FFF2-40B4-BE49-F238E27FC236}">
                <a16:creationId xmlns:a16="http://schemas.microsoft.com/office/drawing/2014/main" id="{57205715-3232-4739-82EE-E1D9E0C153A6}"/>
              </a:ext>
            </a:extLst>
          </p:cNvPr>
          <p:cNvPicPr>
            <a:picLocks noChangeAspect="1"/>
          </p:cNvPicPr>
          <p:nvPr/>
        </p:nvPicPr>
        <p:blipFill>
          <a:blip r:embed="rId2">
            <a:clrChange>
              <a:clrFrom>
                <a:srgbClr val="FFFFFF"/>
              </a:clrFrom>
              <a:clrTo>
                <a:srgbClr val="FFFFFF">
                  <a:alpha val="0"/>
                </a:srgbClr>
              </a:clrTo>
            </a:clrChange>
          </a:blip>
          <a:stretch>
            <a:fillRect/>
          </a:stretch>
        </p:blipFill>
        <p:spPr>
          <a:xfrm flipH="1">
            <a:off x="8302804" y="4559299"/>
            <a:ext cx="1270482" cy="1270482"/>
          </a:xfrm>
          <a:prstGeom prst="rect">
            <a:avLst/>
          </a:prstGeom>
        </p:spPr>
      </p:pic>
      <p:sp>
        <p:nvSpPr>
          <p:cNvPr id="31" name="TextBox 30">
            <a:extLst>
              <a:ext uri="{FF2B5EF4-FFF2-40B4-BE49-F238E27FC236}">
                <a16:creationId xmlns:a16="http://schemas.microsoft.com/office/drawing/2014/main" id="{A8A63F55-8F57-4FCF-A466-B7ABFA7D293F}"/>
              </a:ext>
            </a:extLst>
          </p:cNvPr>
          <p:cNvSpPr txBox="1"/>
          <p:nvPr/>
        </p:nvSpPr>
        <p:spPr>
          <a:xfrm>
            <a:off x="8315784" y="4518076"/>
            <a:ext cx="1107996" cy="338554"/>
          </a:xfrm>
          <a:prstGeom prst="rect">
            <a:avLst/>
          </a:prstGeom>
          <a:noFill/>
        </p:spPr>
        <p:txBody>
          <a:bodyPr wrap="none" rtlCol="0">
            <a:spAutoFit/>
          </a:bodyPr>
          <a:lstStyle/>
          <a:p>
            <a:pPr algn="ctr"/>
            <a:r>
              <a:rPr lang="en-US" sz="1600" dirty="0">
                <a:latin typeface="Gill Sans Light"/>
              </a:rPr>
              <a:t>Networks</a:t>
            </a:r>
          </a:p>
        </p:txBody>
      </p:sp>
      <p:sp>
        <p:nvSpPr>
          <p:cNvPr id="34" name="TextBox 33">
            <a:extLst>
              <a:ext uri="{FF2B5EF4-FFF2-40B4-BE49-F238E27FC236}">
                <a16:creationId xmlns:a16="http://schemas.microsoft.com/office/drawing/2014/main" id="{5A2B64A6-5DE4-40BC-B41E-052C2DBBB4E8}"/>
              </a:ext>
            </a:extLst>
          </p:cNvPr>
          <p:cNvSpPr txBox="1"/>
          <p:nvPr/>
        </p:nvSpPr>
        <p:spPr>
          <a:xfrm>
            <a:off x="631271" y="4919941"/>
            <a:ext cx="1353256" cy="400110"/>
          </a:xfrm>
          <a:prstGeom prst="rect">
            <a:avLst/>
          </a:prstGeom>
          <a:noFill/>
        </p:spPr>
        <p:txBody>
          <a:bodyPr wrap="none" rtlCol="0">
            <a:spAutoFit/>
          </a:bodyPr>
          <a:lstStyle/>
          <a:p>
            <a:r>
              <a:rPr lang="en-US" sz="2000" dirty="0">
                <a:latin typeface="Gill Sans Light"/>
              </a:rPr>
              <a:t>Hardware</a:t>
            </a:r>
          </a:p>
        </p:txBody>
      </p:sp>
      <p:cxnSp>
        <p:nvCxnSpPr>
          <p:cNvPr id="39" name="Straight Arrow Connector 38">
            <a:extLst>
              <a:ext uri="{FF2B5EF4-FFF2-40B4-BE49-F238E27FC236}">
                <a16:creationId xmlns:a16="http://schemas.microsoft.com/office/drawing/2014/main" id="{44B237A5-A629-47CA-A0F4-6D264547B1E9}"/>
              </a:ext>
            </a:extLst>
          </p:cNvPr>
          <p:cNvCxnSpPr>
            <a:cxnSpLocks/>
            <a:endCxn id="26" idx="3"/>
          </p:cNvCxnSpPr>
          <p:nvPr/>
        </p:nvCxnSpPr>
        <p:spPr>
          <a:xfrm flipV="1">
            <a:off x="7467048" y="5574229"/>
            <a:ext cx="0" cy="331271"/>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AC006469-8BAB-4F3E-A8D9-EB19E5DDCFD3}"/>
              </a:ext>
            </a:extLst>
          </p:cNvPr>
          <p:cNvCxnSpPr>
            <a:cxnSpLocks/>
          </p:cNvCxnSpPr>
          <p:nvPr/>
        </p:nvCxnSpPr>
        <p:spPr>
          <a:xfrm flipV="1">
            <a:off x="8891831" y="5584848"/>
            <a:ext cx="0" cy="320652"/>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800CF464-6799-4EF1-A173-649974B69470}"/>
              </a:ext>
            </a:extLst>
          </p:cNvPr>
          <p:cNvCxnSpPr>
            <a:cxnSpLocks/>
          </p:cNvCxnSpPr>
          <p:nvPr/>
        </p:nvCxnSpPr>
        <p:spPr>
          <a:xfrm flipV="1">
            <a:off x="4308999" y="5234774"/>
            <a:ext cx="0" cy="670726"/>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077FE5F6-6698-44C8-949A-3B1FFA12825F}"/>
              </a:ext>
            </a:extLst>
          </p:cNvPr>
          <p:cNvCxnSpPr>
            <a:cxnSpLocks/>
            <a:endCxn id="56" idx="1"/>
          </p:cNvCxnSpPr>
          <p:nvPr/>
        </p:nvCxnSpPr>
        <p:spPr>
          <a:xfrm>
            <a:off x="4105518" y="5911715"/>
            <a:ext cx="1091231" cy="0"/>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56" name="Rectangle 55">
            <a:extLst>
              <a:ext uri="{FF2B5EF4-FFF2-40B4-BE49-F238E27FC236}">
                <a16:creationId xmlns:a16="http://schemas.microsoft.com/office/drawing/2014/main" id="{0182EB5C-4F86-416A-B81D-EA223AEB393C}"/>
              </a:ext>
            </a:extLst>
          </p:cNvPr>
          <p:cNvSpPr/>
          <p:nvPr/>
        </p:nvSpPr>
        <p:spPr bwMode="auto">
          <a:xfrm>
            <a:off x="5196749" y="5765133"/>
            <a:ext cx="1044306" cy="293164"/>
          </a:xfrm>
          <a:prstGeom prst="rect">
            <a:avLst/>
          </a:prstGeom>
          <a:no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400" b="0" i="0" u="none" strike="noStrike" cap="none" normalizeH="0" baseline="0" dirty="0">
                <a:ln>
                  <a:noFill/>
                </a:ln>
                <a:solidFill>
                  <a:schemeClr val="tx1"/>
                </a:solidFill>
                <a:effectLst/>
                <a:latin typeface="Gill Sans Light"/>
              </a:rPr>
              <a:t>I/O </a:t>
            </a:r>
            <a:r>
              <a:rPr kumimoji="0" lang="en-US" sz="1400" b="0" i="0" u="none" strike="noStrike" cap="none" normalizeH="0" baseline="0" dirty="0" err="1">
                <a:ln>
                  <a:noFill/>
                </a:ln>
                <a:solidFill>
                  <a:schemeClr val="tx1"/>
                </a:solidFill>
                <a:effectLst/>
                <a:latin typeface="Gill Sans Light"/>
              </a:rPr>
              <a:t>Ctrlr</a:t>
            </a:r>
            <a:endParaRPr kumimoji="0" lang="en-US" sz="1400" b="0" i="0" u="none" strike="noStrike" cap="none" normalizeH="0" baseline="0" dirty="0">
              <a:ln>
                <a:noFill/>
              </a:ln>
              <a:solidFill>
                <a:schemeClr val="tx1"/>
              </a:solidFill>
              <a:effectLst/>
              <a:latin typeface="Gill Sans Light"/>
            </a:endParaRPr>
          </a:p>
        </p:txBody>
      </p:sp>
      <p:cxnSp>
        <p:nvCxnSpPr>
          <p:cNvPr id="59" name="Straight Arrow Connector 58">
            <a:extLst>
              <a:ext uri="{FF2B5EF4-FFF2-40B4-BE49-F238E27FC236}">
                <a16:creationId xmlns:a16="http://schemas.microsoft.com/office/drawing/2014/main" id="{7CEF80FD-C99C-4106-86FD-C44623EF6D66}"/>
              </a:ext>
            </a:extLst>
          </p:cNvPr>
          <p:cNvCxnSpPr>
            <a:cxnSpLocks/>
            <a:stCxn id="56" idx="3"/>
          </p:cNvCxnSpPr>
          <p:nvPr/>
        </p:nvCxnSpPr>
        <p:spPr>
          <a:xfrm flipV="1">
            <a:off x="6241055" y="5905500"/>
            <a:ext cx="5145949" cy="0"/>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8C42E879-B352-4CB0-9045-9528A742E94C}"/>
              </a:ext>
            </a:extLst>
          </p:cNvPr>
          <p:cNvSpPr txBox="1"/>
          <p:nvPr/>
        </p:nvSpPr>
        <p:spPr>
          <a:xfrm>
            <a:off x="861699" y="4314038"/>
            <a:ext cx="1494531" cy="338554"/>
          </a:xfrm>
          <a:prstGeom prst="rect">
            <a:avLst/>
          </a:prstGeom>
          <a:solidFill>
            <a:srgbClr val="EFE683"/>
          </a:solidFill>
          <a:ln>
            <a:solidFill>
              <a:schemeClr val="tx1"/>
            </a:solidFill>
          </a:ln>
        </p:spPr>
        <p:txBody>
          <a:bodyPr wrap="square" rtlCol="0">
            <a:spAutoFit/>
          </a:bodyPr>
          <a:lstStyle/>
          <a:p>
            <a:pPr algn="ctr"/>
            <a:r>
              <a:rPr lang="en-US" sz="1600" b="1" i="1" dirty="0">
                <a:latin typeface="Gill Sans Light"/>
              </a:rPr>
              <a:t>ISA</a:t>
            </a:r>
          </a:p>
        </p:txBody>
      </p:sp>
      <p:sp>
        <p:nvSpPr>
          <p:cNvPr id="63" name="Rectangle 62">
            <a:extLst>
              <a:ext uri="{FF2B5EF4-FFF2-40B4-BE49-F238E27FC236}">
                <a16:creationId xmlns:a16="http://schemas.microsoft.com/office/drawing/2014/main" id="{CA91FAA7-997F-463D-B0E7-ECB8FF4BD25C}"/>
              </a:ext>
            </a:extLst>
          </p:cNvPr>
          <p:cNvSpPr/>
          <p:nvPr/>
        </p:nvSpPr>
        <p:spPr>
          <a:xfrm>
            <a:off x="1955800" y="3595554"/>
            <a:ext cx="9753601" cy="936847"/>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latin typeface="Gill Sans Light"/>
              </a:rPr>
              <a:t>Operating System</a:t>
            </a:r>
          </a:p>
        </p:txBody>
      </p:sp>
      <p:sp>
        <p:nvSpPr>
          <p:cNvPr id="84" name="Rectangle 83">
            <a:extLst>
              <a:ext uri="{FF2B5EF4-FFF2-40B4-BE49-F238E27FC236}">
                <a16:creationId xmlns:a16="http://schemas.microsoft.com/office/drawing/2014/main" id="{87B4BF93-F38E-482C-92DA-97BF83D39E26}"/>
              </a:ext>
            </a:extLst>
          </p:cNvPr>
          <p:cNvSpPr/>
          <p:nvPr/>
        </p:nvSpPr>
        <p:spPr>
          <a:xfrm>
            <a:off x="419100" y="2710529"/>
            <a:ext cx="1417802" cy="1493074"/>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Gill Sans Light"/>
              </a:rPr>
              <a:t>Compiler</a:t>
            </a:r>
          </a:p>
        </p:txBody>
      </p:sp>
      <p:sp>
        <p:nvSpPr>
          <p:cNvPr id="45" name="Rectangle 44">
            <a:extLst>
              <a:ext uri="{FF2B5EF4-FFF2-40B4-BE49-F238E27FC236}">
                <a16:creationId xmlns:a16="http://schemas.microsoft.com/office/drawing/2014/main" id="{3EFB73E7-29AB-4311-90E8-B9325E17083A}"/>
              </a:ext>
            </a:extLst>
          </p:cNvPr>
          <p:cNvSpPr/>
          <p:nvPr/>
        </p:nvSpPr>
        <p:spPr>
          <a:xfrm>
            <a:off x="0" y="1860550"/>
            <a:ext cx="12192000" cy="4616450"/>
          </a:xfrm>
          <a:prstGeom prst="rect">
            <a:avLst/>
          </a:pr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Gill Sans Light"/>
            </a:endParaRPr>
          </a:p>
        </p:txBody>
      </p:sp>
      <p:sp>
        <p:nvSpPr>
          <p:cNvPr id="2" name="Title 1">
            <a:extLst>
              <a:ext uri="{FF2B5EF4-FFF2-40B4-BE49-F238E27FC236}">
                <a16:creationId xmlns:a16="http://schemas.microsoft.com/office/drawing/2014/main" id="{2735C77F-660A-43A3-8126-43A0F77E49F3}"/>
              </a:ext>
            </a:extLst>
          </p:cNvPr>
          <p:cNvSpPr>
            <a:spLocks noGrp="1"/>
          </p:cNvSpPr>
          <p:nvPr>
            <p:ph type="title"/>
          </p:nvPr>
        </p:nvSpPr>
        <p:spPr/>
        <p:txBody>
          <a:bodyPr/>
          <a:lstStyle/>
          <a:p>
            <a:r>
              <a:rPr lang="en-US" dirty="0">
                <a:latin typeface="Gill Sans Light"/>
              </a:rPr>
              <a:t>OS Basics: Switching Processes</a:t>
            </a:r>
          </a:p>
        </p:txBody>
      </p:sp>
      <p:sp>
        <p:nvSpPr>
          <p:cNvPr id="8" name="Rounded Rectangle 6">
            <a:extLst>
              <a:ext uri="{FF2B5EF4-FFF2-40B4-BE49-F238E27FC236}">
                <a16:creationId xmlns:a16="http://schemas.microsoft.com/office/drawing/2014/main" id="{EA9B6AFF-D750-4502-865E-E3737510EED0}"/>
              </a:ext>
            </a:extLst>
          </p:cNvPr>
          <p:cNvSpPr/>
          <p:nvPr/>
        </p:nvSpPr>
        <p:spPr bwMode="auto">
          <a:xfrm>
            <a:off x="2201858" y="4618038"/>
            <a:ext cx="1728792" cy="838200"/>
          </a:xfrm>
          <a:prstGeom prst="roundRect">
            <a:avLst/>
          </a:prstGeom>
          <a:solidFill>
            <a:schemeClr val="accent1">
              <a:lumMod val="40000"/>
              <a:lumOff val="6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Gill Sans Light"/>
              </a:rPr>
              <a:t>Processor</a:t>
            </a:r>
            <a:endParaRPr kumimoji="0" lang="en-US" sz="1400" b="0" i="0" u="none" strike="noStrike" cap="none" normalizeH="0" baseline="0" dirty="0">
              <a:ln>
                <a:noFill/>
              </a:ln>
              <a:solidFill>
                <a:schemeClr val="tx1"/>
              </a:solidFill>
              <a:effectLst/>
              <a:latin typeface="Gill Sans Light"/>
            </a:endParaRPr>
          </a:p>
        </p:txBody>
      </p:sp>
      <p:sp>
        <p:nvSpPr>
          <p:cNvPr id="9" name="Rectangle 8">
            <a:extLst>
              <a:ext uri="{FF2B5EF4-FFF2-40B4-BE49-F238E27FC236}">
                <a16:creationId xmlns:a16="http://schemas.microsoft.com/office/drawing/2014/main" id="{85025C03-FC2A-4CCF-8684-4F37D94D3763}"/>
              </a:ext>
            </a:extLst>
          </p:cNvPr>
          <p:cNvSpPr/>
          <p:nvPr/>
        </p:nvSpPr>
        <p:spPr bwMode="auto">
          <a:xfrm>
            <a:off x="5009666" y="4664869"/>
            <a:ext cx="1760608" cy="973138"/>
          </a:xfrm>
          <a:prstGeom prst="rect">
            <a:avLst/>
          </a:prstGeom>
          <a:solidFill>
            <a:srgbClr val="5AAEFF"/>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Gill Sans Light"/>
              </a:rPr>
              <a:t>Memory</a:t>
            </a:r>
          </a:p>
        </p:txBody>
      </p:sp>
      <p:grpSp>
        <p:nvGrpSpPr>
          <p:cNvPr id="10" name="Group 9">
            <a:extLst>
              <a:ext uri="{FF2B5EF4-FFF2-40B4-BE49-F238E27FC236}">
                <a16:creationId xmlns:a16="http://schemas.microsoft.com/office/drawing/2014/main" id="{4C2174B6-519D-44F7-A8CB-C9D9304FB602}"/>
              </a:ext>
            </a:extLst>
          </p:cNvPr>
          <p:cNvGrpSpPr/>
          <p:nvPr/>
        </p:nvGrpSpPr>
        <p:grpSpPr>
          <a:xfrm>
            <a:off x="3244850" y="5075238"/>
            <a:ext cx="533400" cy="304800"/>
            <a:chOff x="3124200" y="3657600"/>
            <a:chExt cx="533400" cy="304800"/>
          </a:xfrm>
          <a:solidFill>
            <a:srgbClr val="9E7800"/>
          </a:solidFill>
        </p:grpSpPr>
        <p:sp>
          <p:nvSpPr>
            <p:cNvPr id="11" name="Rectangle 10">
              <a:extLst>
                <a:ext uri="{FF2B5EF4-FFF2-40B4-BE49-F238E27FC236}">
                  <a16:creationId xmlns:a16="http://schemas.microsoft.com/office/drawing/2014/main" id="{EFBA6894-B008-4F1D-B22C-730173B3DFD4}"/>
                </a:ext>
              </a:extLst>
            </p:cNvPr>
            <p:cNvSpPr/>
            <p:nvPr/>
          </p:nvSpPr>
          <p:spPr bwMode="auto">
            <a:xfrm>
              <a:off x="3124200" y="3657600"/>
              <a:ext cx="533400" cy="304800"/>
            </a:xfrm>
            <a:prstGeom prst="rect">
              <a:avLst/>
            </a:prstGeom>
            <a:grp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sp>
          <p:nvSpPr>
            <p:cNvPr id="12" name="Rectangle 11">
              <a:extLst>
                <a:ext uri="{FF2B5EF4-FFF2-40B4-BE49-F238E27FC236}">
                  <a16:creationId xmlns:a16="http://schemas.microsoft.com/office/drawing/2014/main" id="{F6B854A3-399D-4E47-BB10-B204E22F6207}"/>
                </a:ext>
              </a:extLst>
            </p:cNvPr>
            <p:cNvSpPr/>
            <p:nvPr/>
          </p:nvSpPr>
          <p:spPr bwMode="auto">
            <a:xfrm>
              <a:off x="3124200" y="3733800"/>
              <a:ext cx="533400" cy="152400"/>
            </a:xfrm>
            <a:prstGeom prst="rect">
              <a:avLst/>
            </a:prstGeom>
            <a:grp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grpSp>
      <p:sp>
        <p:nvSpPr>
          <p:cNvPr id="16" name="Rectangle 15">
            <a:extLst>
              <a:ext uri="{FF2B5EF4-FFF2-40B4-BE49-F238E27FC236}">
                <a16:creationId xmlns:a16="http://schemas.microsoft.com/office/drawing/2014/main" id="{7114092D-E1CB-4952-8CAA-BD6429870DAC}"/>
              </a:ext>
            </a:extLst>
          </p:cNvPr>
          <p:cNvSpPr/>
          <p:nvPr/>
        </p:nvSpPr>
        <p:spPr bwMode="auto">
          <a:xfrm>
            <a:off x="5683893" y="5188015"/>
            <a:ext cx="412153" cy="387428"/>
          </a:xfrm>
          <a:prstGeom prst="rect">
            <a:avLst/>
          </a:prstGeom>
          <a:solidFill>
            <a:schemeClr val="accent6"/>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sp>
        <p:nvSpPr>
          <p:cNvPr id="13" name="Rectangle 12">
            <a:extLst>
              <a:ext uri="{FF2B5EF4-FFF2-40B4-BE49-F238E27FC236}">
                <a16:creationId xmlns:a16="http://schemas.microsoft.com/office/drawing/2014/main" id="{4A1809EB-73C2-4CF6-B753-8F1B20E63381}"/>
              </a:ext>
            </a:extLst>
          </p:cNvPr>
          <p:cNvSpPr/>
          <p:nvPr/>
        </p:nvSpPr>
        <p:spPr bwMode="auto">
          <a:xfrm>
            <a:off x="5171349" y="5188015"/>
            <a:ext cx="447915" cy="396832"/>
          </a:xfrm>
          <a:prstGeom prst="rect">
            <a:avLst/>
          </a:prstGeom>
          <a:solidFill>
            <a:srgbClr val="9E7800"/>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cxnSp>
        <p:nvCxnSpPr>
          <p:cNvPr id="17" name="Curved Connector 54">
            <a:extLst>
              <a:ext uri="{FF2B5EF4-FFF2-40B4-BE49-F238E27FC236}">
                <a16:creationId xmlns:a16="http://schemas.microsoft.com/office/drawing/2014/main" id="{1C7D6572-FBEF-45D3-B9EB-4A6924279104}"/>
              </a:ext>
            </a:extLst>
          </p:cNvPr>
          <p:cNvCxnSpPr>
            <a:cxnSpLocks/>
          </p:cNvCxnSpPr>
          <p:nvPr/>
        </p:nvCxnSpPr>
        <p:spPr bwMode="auto">
          <a:xfrm>
            <a:off x="3600451" y="5265655"/>
            <a:ext cx="1775551" cy="217481"/>
          </a:xfrm>
          <a:prstGeom prst="curvedConnector3">
            <a:avLst>
              <a:gd name="adj1" fmla="val 23535"/>
            </a:avLst>
          </a:prstGeom>
          <a:solidFill>
            <a:schemeClr val="accent1"/>
          </a:solidFill>
          <a:ln w="22225" cap="flat" cmpd="sng" algn="ctr">
            <a:solidFill>
              <a:schemeClr val="tx1"/>
            </a:solidFill>
            <a:prstDash val="solid"/>
            <a:round/>
            <a:headEnd type="triangle" w="sm" len="sm"/>
            <a:tailEnd type="triangle"/>
          </a:ln>
          <a:effectLst/>
        </p:spPr>
      </p:cxnSp>
      <p:sp>
        <p:nvSpPr>
          <p:cNvPr id="80" name="Rectangle 79">
            <a:extLst>
              <a:ext uri="{FF2B5EF4-FFF2-40B4-BE49-F238E27FC236}">
                <a16:creationId xmlns:a16="http://schemas.microsoft.com/office/drawing/2014/main" id="{4838629E-2E3E-4207-99FE-90E9B77B1C43}"/>
              </a:ext>
            </a:extLst>
          </p:cNvPr>
          <p:cNvSpPr/>
          <p:nvPr/>
        </p:nvSpPr>
        <p:spPr>
          <a:xfrm>
            <a:off x="2187471" y="2710529"/>
            <a:ext cx="4568415" cy="936847"/>
          </a:xfrm>
          <a:prstGeom prst="rect">
            <a:avLst/>
          </a:prstGeom>
          <a:solidFill>
            <a:srgbClr val="9E78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1" dirty="0">
                <a:solidFill>
                  <a:schemeClr val="tx1"/>
                </a:solidFill>
                <a:latin typeface="Gill Sans Light"/>
              </a:rPr>
              <a:t>Process 1</a:t>
            </a:r>
          </a:p>
          <a:p>
            <a:pPr algn="ctr"/>
            <a:endParaRPr lang="en-US" sz="1200" dirty="0">
              <a:solidFill>
                <a:schemeClr val="tx1"/>
              </a:solidFill>
              <a:latin typeface="Gill Sans Light"/>
            </a:endParaRPr>
          </a:p>
        </p:txBody>
      </p:sp>
      <p:sp>
        <p:nvSpPr>
          <p:cNvPr id="72" name="TextBox 71">
            <a:extLst>
              <a:ext uri="{FF2B5EF4-FFF2-40B4-BE49-F238E27FC236}">
                <a16:creationId xmlns:a16="http://schemas.microsoft.com/office/drawing/2014/main" id="{E4897103-5196-4D83-8C50-ED908C0B63F9}"/>
              </a:ext>
            </a:extLst>
          </p:cNvPr>
          <p:cNvSpPr txBox="1"/>
          <p:nvPr/>
        </p:nvSpPr>
        <p:spPr>
          <a:xfrm>
            <a:off x="2245360" y="3396030"/>
            <a:ext cx="961390"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Threads</a:t>
            </a:r>
          </a:p>
        </p:txBody>
      </p:sp>
      <p:sp>
        <p:nvSpPr>
          <p:cNvPr id="73" name="Rectangle 72">
            <a:extLst>
              <a:ext uri="{FF2B5EF4-FFF2-40B4-BE49-F238E27FC236}">
                <a16:creationId xmlns:a16="http://schemas.microsoft.com/office/drawing/2014/main" id="{1F630E64-216C-4D30-9C27-5AEDDDA28456}"/>
              </a:ext>
            </a:extLst>
          </p:cNvPr>
          <p:cNvSpPr/>
          <p:nvPr/>
        </p:nvSpPr>
        <p:spPr bwMode="auto">
          <a:xfrm>
            <a:off x="6160675" y="5188015"/>
            <a:ext cx="470617" cy="380268"/>
          </a:xfrm>
          <a:prstGeom prst="rect">
            <a:avLst/>
          </a:prstGeom>
          <a:solidFill>
            <a:schemeClr val="bg2">
              <a:lumMod val="60000"/>
              <a:lumOff val="40000"/>
            </a:schemeClr>
          </a:solidFill>
          <a:ln w="12700" cap="flat" cmpd="sng" algn="ctr">
            <a:solidFill>
              <a:schemeClr val="tx1"/>
            </a:solidFill>
            <a:prstDash val="solid"/>
            <a:round/>
            <a:headEnd type="none" w="sm" len="sm"/>
            <a:tailEnd type="none" w="sm" len="sm"/>
          </a:ln>
          <a:effectLst/>
        </p:spPr>
        <p:txBody>
          <a:bodyPr vert="horz" wrap="square" lIns="0" tIns="45720" rIns="0" bIns="45720" numCol="1" rtlCol="0" anchor="ctr" anchorCtr="0" compatLnSpc="1">
            <a:prstTxWarp prst="textNoShape">
              <a:avLst/>
            </a:prstTxWarp>
          </a:bodyPr>
          <a:lstStyle/>
          <a:p>
            <a:pPr marL="0" marR="0" indent="0" algn="ctr" defTabSz="914400" rtl="0" eaLnBrk="0" fontAlgn="base" latinLnBrk="0" hangingPunct="0">
              <a:lnSpc>
                <a:spcPts val="16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Gill Sans Light"/>
              </a:rPr>
              <a:t>OS</a:t>
            </a:r>
          </a:p>
          <a:p>
            <a:pPr marL="0" marR="0" indent="0" algn="ctr" defTabSz="914400" rtl="0" eaLnBrk="0" fontAlgn="base" latinLnBrk="0" hangingPunct="0">
              <a:lnSpc>
                <a:spcPts val="1600"/>
              </a:lnSpc>
              <a:spcBef>
                <a:spcPct val="0"/>
              </a:spcBef>
              <a:spcAft>
                <a:spcPct val="0"/>
              </a:spcAft>
              <a:buClrTx/>
              <a:buSzTx/>
              <a:buFontTx/>
              <a:buNone/>
              <a:tabLst/>
            </a:pPr>
            <a:r>
              <a:rPr lang="en-US" sz="1200" dirty="0">
                <a:latin typeface="Gill Sans Light"/>
              </a:rPr>
              <a:t>Mem</a:t>
            </a:r>
            <a:endParaRPr kumimoji="0" lang="en-US" sz="1200" b="0" i="0" u="none" strike="noStrike" cap="none" normalizeH="0" baseline="0" dirty="0">
              <a:ln>
                <a:noFill/>
              </a:ln>
              <a:solidFill>
                <a:schemeClr val="tx1"/>
              </a:solidFill>
              <a:effectLst/>
              <a:latin typeface="Gill Sans Light"/>
            </a:endParaRPr>
          </a:p>
        </p:txBody>
      </p:sp>
      <p:sp>
        <p:nvSpPr>
          <p:cNvPr id="74" name="TextBox 73">
            <a:extLst>
              <a:ext uri="{FF2B5EF4-FFF2-40B4-BE49-F238E27FC236}">
                <a16:creationId xmlns:a16="http://schemas.microsoft.com/office/drawing/2014/main" id="{903AC2DB-5960-4CF0-B972-E1CDF92622A2}"/>
              </a:ext>
            </a:extLst>
          </p:cNvPr>
          <p:cNvSpPr txBox="1"/>
          <p:nvPr/>
        </p:nvSpPr>
        <p:spPr>
          <a:xfrm>
            <a:off x="3325648" y="3398740"/>
            <a:ext cx="1550862"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Address Spaces</a:t>
            </a:r>
          </a:p>
        </p:txBody>
      </p:sp>
      <p:sp>
        <p:nvSpPr>
          <p:cNvPr id="75" name="TextBox 74">
            <a:extLst>
              <a:ext uri="{FF2B5EF4-FFF2-40B4-BE49-F238E27FC236}">
                <a16:creationId xmlns:a16="http://schemas.microsoft.com/office/drawing/2014/main" id="{AD4C368E-047B-4BC3-8012-71A6CC7B5378}"/>
              </a:ext>
            </a:extLst>
          </p:cNvPr>
          <p:cNvSpPr txBox="1"/>
          <p:nvPr/>
        </p:nvSpPr>
        <p:spPr>
          <a:xfrm>
            <a:off x="5000552" y="3397972"/>
            <a:ext cx="683252"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Files</a:t>
            </a:r>
          </a:p>
        </p:txBody>
      </p:sp>
      <p:sp>
        <p:nvSpPr>
          <p:cNvPr id="76" name="TextBox 75">
            <a:extLst>
              <a:ext uri="{FF2B5EF4-FFF2-40B4-BE49-F238E27FC236}">
                <a16:creationId xmlns:a16="http://schemas.microsoft.com/office/drawing/2014/main" id="{8ED3D70A-C8B7-4AAE-8DB5-86A5FF23DEF3}"/>
              </a:ext>
            </a:extLst>
          </p:cNvPr>
          <p:cNvSpPr txBox="1"/>
          <p:nvPr/>
        </p:nvSpPr>
        <p:spPr>
          <a:xfrm>
            <a:off x="5814118" y="3397972"/>
            <a:ext cx="844624"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Sockets</a:t>
            </a:r>
          </a:p>
        </p:txBody>
      </p:sp>
      <p:sp>
        <p:nvSpPr>
          <p:cNvPr id="55" name="Rectangle 54">
            <a:extLst>
              <a:ext uri="{FF2B5EF4-FFF2-40B4-BE49-F238E27FC236}">
                <a16:creationId xmlns:a16="http://schemas.microsoft.com/office/drawing/2014/main" id="{0E783A07-C148-43C9-84E9-1E9884CF721E}"/>
              </a:ext>
            </a:extLst>
          </p:cNvPr>
          <p:cNvSpPr/>
          <p:nvPr/>
        </p:nvSpPr>
        <p:spPr>
          <a:xfrm>
            <a:off x="6933883" y="2710529"/>
            <a:ext cx="4568415" cy="936847"/>
          </a:xfrm>
          <a:prstGeom prst="rect">
            <a:avLst/>
          </a:prstGeom>
          <a:solidFill>
            <a:schemeClr val="accent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1" dirty="0">
                <a:solidFill>
                  <a:schemeClr val="tx1"/>
                </a:solidFill>
                <a:latin typeface="Gill Sans Light"/>
              </a:rPr>
              <a:t>Process 2</a:t>
            </a:r>
          </a:p>
          <a:p>
            <a:pPr algn="ctr"/>
            <a:endParaRPr lang="en-US" sz="1200" dirty="0">
              <a:solidFill>
                <a:schemeClr val="tx1"/>
              </a:solidFill>
              <a:latin typeface="Gill Sans Light"/>
            </a:endParaRPr>
          </a:p>
        </p:txBody>
      </p:sp>
      <p:sp>
        <p:nvSpPr>
          <p:cNvPr id="57" name="TextBox 56">
            <a:extLst>
              <a:ext uri="{FF2B5EF4-FFF2-40B4-BE49-F238E27FC236}">
                <a16:creationId xmlns:a16="http://schemas.microsoft.com/office/drawing/2014/main" id="{8FBCBFF2-102E-4AC2-AE4A-CC896E9B1E66}"/>
              </a:ext>
            </a:extLst>
          </p:cNvPr>
          <p:cNvSpPr txBox="1"/>
          <p:nvPr/>
        </p:nvSpPr>
        <p:spPr>
          <a:xfrm>
            <a:off x="6977384" y="3396030"/>
            <a:ext cx="961390"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Threads</a:t>
            </a:r>
          </a:p>
        </p:txBody>
      </p:sp>
      <p:sp>
        <p:nvSpPr>
          <p:cNvPr id="58" name="TextBox 57">
            <a:extLst>
              <a:ext uri="{FF2B5EF4-FFF2-40B4-BE49-F238E27FC236}">
                <a16:creationId xmlns:a16="http://schemas.microsoft.com/office/drawing/2014/main" id="{85A8239A-9FCD-46DB-B7DA-7EA11E27E672}"/>
              </a:ext>
            </a:extLst>
          </p:cNvPr>
          <p:cNvSpPr txBox="1"/>
          <p:nvPr/>
        </p:nvSpPr>
        <p:spPr>
          <a:xfrm>
            <a:off x="8057672" y="3398740"/>
            <a:ext cx="1550862"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Address Spaces</a:t>
            </a:r>
          </a:p>
        </p:txBody>
      </p:sp>
      <p:sp>
        <p:nvSpPr>
          <p:cNvPr id="60" name="TextBox 59">
            <a:extLst>
              <a:ext uri="{FF2B5EF4-FFF2-40B4-BE49-F238E27FC236}">
                <a16:creationId xmlns:a16="http://schemas.microsoft.com/office/drawing/2014/main" id="{D923F43D-F391-40F4-9D87-D4E37AAB7342}"/>
              </a:ext>
            </a:extLst>
          </p:cNvPr>
          <p:cNvSpPr txBox="1"/>
          <p:nvPr/>
        </p:nvSpPr>
        <p:spPr>
          <a:xfrm>
            <a:off x="9732576" y="3397972"/>
            <a:ext cx="683252"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Files</a:t>
            </a:r>
          </a:p>
        </p:txBody>
      </p:sp>
      <p:sp>
        <p:nvSpPr>
          <p:cNvPr id="61" name="TextBox 60">
            <a:extLst>
              <a:ext uri="{FF2B5EF4-FFF2-40B4-BE49-F238E27FC236}">
                <a16:creationId xmlns:a16="http://schemas.microsoft.com/office/drawing/2014/main" id="{9AB076CB-B81B-4687-8B6B-B76A3C75D037}"/>
              </a:ext>
            </a:extLst>
          </p:cNvPr>
          <p:cNvSpPr txBox="1"/>
          <p:nvPr/>
        </p:nvSpPr>
        <p:spPr>
          <a:xfrm>
            <a:off x="10546142" y="3397972"/>
            <a:ext cx="844624"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Sockets</a:t>
            </a:r>
          </a:p>
        </p:txBody>
      </p:sp>
      <p:sp>
        <p:nvSpPr>
          <p:cNvPr id="81" name="Rectangle: Folded Corner 80">
            <a:extLst>
              <a:ext uri="{FF2B5EF4-FFF2-40B4-BE49-F238E27FC236}">
                <a16:creationId xmlns:a16="http://schemas.microsoft.com/office/drawing/2014/main" id="{19183BC7-FF86-4959-8312-523AE576C3AF}"/>
              </a:ext>
            </a:extLst>
          </p:cNvPr>
          <p:cNvSpPr/>
          <p:nvPr/>
        </p:nvSpPr>
        <p:spPr>
          <a:xfrm>
            <a:off x="3539163" y="1372394"/>
            <a:ext cx="2014336" cy="1471720"/>
          </a:xfrm>
          <a:prstGeom prst="foldedCorner">
            <a:avLst>
              <a:gd name="adj" fmla="val 21333"/>
            </a:avLst>
          </a:prstGeom>
          <a:solidFill>
            <a:srgbClr val="9E7800"/>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2000" dirty="0">
                <a:solidFill>
                  <a:schemeClr val="tx1"/>
                </a:solidFill>
                <a:latin typeface="Gill Sans Light"/>
              </a:rPr>
              <a:t>Compiled</a:t>
            </a:r>
          </a:p>
          <a:p>
            <a:pPr algn="ctr"/>
            <a:r>
              <a:rPr lang="en-US" sz="2000" dirty="0">
                <a:solidFill>
                  <a:schemeClr val="tx1"/>
                </a:solidFill>
                <a:latin typeface="Gill Sans Light"/>
              </a:rPr>
              <a:t>Program 1</a:t>
            </a:r>
          </a:p>
        </p:txBody>
      </p:sp>
      <p:sp>
        <p:nvSpPr>
          <p:cNvPr id="83" name="Rectangle 82">
            <a:extLst>
              <a:ext uri="{FF2B5EF4-FFF2-40B4-BE49-F238E27FC236}">
                <a16:creationId xmlns:a16="http://schemas.microsoft.com/office/drawing/2014/main" id="{DCEED07B-2876-4266-8889-B6933456A2AD}"/>
              </a:ext>
            </a:extLst>
          </p:cNvPr>
          <p:cNvSpPr/>
          <p:nvPr/>
        </p:nvSpPr>
        <p:spPr>
          <a:xfrm>
            <a:off x="3801201" y="2322568"/>
            <a:ext cx="1343751" cy="464249"/>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Gill Sans Light"/>
              </a:rPr>
              <a:t>System Libs</a:t>
            </a:r>
          </a:p>
        </p:txBody>
      </p:sp>
      <p:sp>
        <p:nvSpPr>
          <p:cNvPr id="65" name="Rectangle: Folded Corner 64">
            <a:extLst>
              <a:ext uri="{FF2B5EF4-FFF2-40B4-BE49-F238E27FC236}">
                <a16:creationId xmlns:a16="http://schemas.microsoft.com/office/drawing/2014/main" id="{16EECD36-F398-4299-8CCB-C7B1EBF07062}"/>
              </a:ext>
            </a:extLst>
          </p:cNvPr>
          <p:cNvSpPr/>
          <p:nvPr/>
        </p:nvSpPr>
        <p:spPr>
          <a:xfrm>
            <a:off x="8375029" y="1366340"/>
            <a:ext cx="2014336" cy="1471720"/>
          </a:xfrm>
          <a:prstGeom prst="foldedCorner">
            <a:avLst>
              <a:gd name="adj" fmla="val 21333"/>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2000" dirty="0">
                <a:solidFill>
                  <a:schemeClr val="tx1"/>
                </a:solidFill>
                <a:latin typeface="Gill Sans Light"/>
              </a:rPr>
              <a:t>Compiled</a:t>
            </a:r>
          </a:p>
          <a:p>
            <a:pPr algn="ctr"/>
            <a:r>
              <a:rPr lang="en-US" sz="2000" dirty="0">
                <a:solidFill>
                  <a:schemeClr val="tx1"/>
                </a:solidFill>
                <a:latin typeface="Gill Sans Light"/>
              </a:rPr>
              <a:t>Program 2</a:t>
            </a:r>
          </a:p>
        </p:txBody>
      </p:sp>
      <p:sp>
        <p:nvSpPr>
          <p:cNvPr id="66" name="Rectangle 65">
            <a:extLst>
              <a:ext uri="{FF2B5EF4-FFF2-40B4-BE49-F238E27FC236}">
                <a16:creationId xmlns:a16="http://schemas.microsoft.com/office/drawing/2014/main" id="{157B6B9A-A9A3-407F-951E-EECDC589195B}"/>
              </a:ext>
            </a:extLst>
          </p:cNvPr>
          <p:cNvSpPr/>
          <p:nvPr/>
        </p:nvSpPr>
        <p:spPr>
          <a:xfrm>
            <a:off x="8622679" y="2316514"/>
            <a:ext cx="1343751" cy="464249"/>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Gill Sans Light"/>
              </a:rPr>
              <a:t>System Libs</a:t>
            </a:r>
          </a:p>
        </p:txBody>
      </p:sp>
      <p:cxnSp>
        <p:nvCxnSpPr>
          <p:cNvPr id="14" name="Straight Arrow Connector 13">
            <a:extLst>
              <a:ext uri="{FF2B5EF4-FFF2-40B4-BE49-F238E27FC236}">
                <a16:creationId xmlns:a16="http://schemas.microsoft.com/office/drawing/2014/main" id="{C1C7397D-AD7D-42C8-AC9C-B5CDBFBAF9AE}"/>
              </a:ext>
            </a:extLst>
          </p:cNvPr>
          <p:cNvCxnSpPr>
            <a:stCxn id="74" idx="2"/>
            <a:endCxn id="13" idx="0"/>
          </p:cNvCxnSpPr>
          <p:nvPr/>
        </p:nvCxnSpPr>
        <p:spPr>
          <a:xfrm>
            <a:off x="4101079" y="3737294"/>
            <a:ext cx="1294228" cy="1450721"/>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7FF8490D-0418-4507-9F82-CDBB506D280C}"/>
              </a:ext>
            </a:extLst>
          </p:cNvPr>
          <p:cNvCxnSpPr>
            <a:cxnSpLocks/>
            <a:stCxn id="58" idx="2"/>
            <a:endCxn id="16" idx="0"/>
          </p:cNvCxnSpPr>
          <p:nvPr/>
        </p:nvCxnSpPr>
        <p:spPr>
          <a:xfrm flipH="1">
            <a:off x="5889970" y="3737294"/>
            <a:ext cx="2943133" cy="1450721"/>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2460644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73"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3193DD4-304A-4B76-81C9-FBF787FE779B}"/>
              </a:ext>
            </a:extLst>
          </p:cNvPr>
          <p:cNvSpPr/>
          <p:nvPr/>
        </p:nvSpPr>
        <p:spPr bwMode="auto">
          <a:xfrm>
            <a:off x="654050" y="4470400"/>
            <a:ext cx="11118850" cy="1689099"/>
          </a:xfrm>
          <a:prstGeom prst="rect">
            <a:avLst/>
          </a:prstGeom>
          <a:pattFill prst="horzBrick">
            <a:fgClr>
              <a:schemeClr val="bg2">
                <a:lumMod val="40000"/>
                <a:lumOff val="60000"/>
              </a:schemeClr>
            </a:fgClr>
            <a:bgClr>
              <a:prstClr val="white"/>
            </a:bgClr>
          </a:patt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dirty="0">
              <a:ln>
                <a:noFill/>
              </a:ln>
              <a:solidFill>
                <a:schemeClr val="tx1"/>
              </a:solidFill>
              <a:effectLst/>
              <a:latin typeface="Gill Sans Light"/>
            </a:endParaRPr>
          </a:p>
        </p:txBody>
      </p:sp>
      <p:grpSp>
        <p:nvGrpSpPr>
          <p:cNvPr id="19" name="Group 18">
            <a:extLst>
              <a:ext uri="{FF2B5EF4-FFF2-40B4-BE49-F238E27FC236}">
                <a16:creationId xmlns:a16="http://schemas.microsoft.com/office/drawing/2014/main" id="{E3801482-024B-4578-81D6-B8D5101ACF77}"/>
              </a:ext>
            </a:extLst>
          </p:cNvPr>
          <p:cNvGrpSpPr/>
          <p:nvPr/>
        </p:nvGrpSpPr>
        <p:grpSpPr>
          <a:xfrm>
            <a:off x="4432116" y="4603105"/>
            <a:ext cx="712053" cy="710043"/>
            <a:chOff x="4121335" y="2654300"/>
            <a:chExt cx="712053" cy="828477"/>
          </a:xfrm>
        </p:grpSpPr>
        <p:sp>
          <p:nvSpPr>
            <p:cNvPr id="20" name="Rectangle 19">
              <a:extLst>
                <a:ext uri="{FF2B5EF4-FFF2-40B4-BE49-F238E27FC236}">
                  <a16:creationId xmlns:a16="http://schemas.microsoft.com/office/drawing/2014/main" id="{5E4894ED-F264-49FF-B7AB-BA4E6C68158A}"/>
                </a:ext>
              </a:extLst>
            </p:cNvPr>
            <p:cNvSpPr/>
            <p:nvPr/>
          </p:nvSpPr>
          <p:spPr bwMode="auto">
            <a:xfrm>
              <a:off x="4178300" y="2720777"/>
              <a:ext cx="609598" cy="762000"/>
            </a:xfrm>
            <a:prstGeom prst="rect">
              <a:avLst/>
            </a:prstGeom>
            <a:solidFill>
              <a:schemeClr val="bg2"/>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sp>
          <p:nvSpPr>
            <p:cNvPr id="21" name="TextBox 20">
              <a:extLst>
                <a:ext uri="{FF2B5EF4-FFF2-40B4-BE49-F238E27FC236}">
                  <a16:creationId xmlns:a16="http://schemas.microsoft.com/office/drawing/2014/main" id="{C80A16C0-CBEC-4DD9-AD38-2EB7C3ECDF3A}"/>
                </a:ext>
              </a:extLst>
            </p:cNvPr>
            <p:cNvSpPr txBox="1"/>
            <p:nvPr/>
          </p:nvSpPr>
          <p:spPr>
            <a:xfrm>
              <a:off x="4121335" y="2654300"/>
              <a:ext cx="712053" cy="610492"/>
            </a:xfrm>
            <a:prstGeom prst="rect">
              <a:avLst/>
            </a:prstGeom>
            <a:noFill/>
          </p:spPr>
          <p:txBody>
            <a:bodyPr wrap="none" rtlCol="0">
              <a:spAutoFit/>
            </a:bodyPr>
            <a:lstStyle/>
            <a:p>
              <a:pPr algn="ctr"/>
              <a:r>
                <a:rPr lang="en-US" sz="1400" dirty="0" err="1">
                  <a:latin typeface="Gill Sans Light"/>
                </a:rPr>
                <a:t>PgTbl</a:t>
              </a:r>
              <a:endParaRPr lang="en-US" sz="1400" dirty="0">
                <a:latin typeface="Gill Sans Light"/>
              </a:endParaRPr>
            </a:p>
            <a:p>
              <a:pPr algn="ctr"/>
              <a:r>
                <a:rPr lang="en-US" sz="1400" dirty="0">
                  <a:latin typeface="Gill Sans Light"/>
                </a:rPr>
                <a:t>&amp; TLB</a:t>
              </a:r>
            </a:p>
          </p:txBody>
        </p:sp>
      </p:grpSp>
      <p:cxnSp>
        <p:nvCxnSpPr>
          <p:cNvPr id="22" name="Straight Arrow Connector 21">
            <a:extLst>
              <a:ext uri="{FF2B5EF4-FFF2-40B4-BE49-F238E27FC236}">
                <a16:creationId xmlns:a16="http://schemas.microsoft.com/office/drawing/2014/main" id="{52D33204-BC10-46FF-B132-F33C746DE9B8}"/>
              </a:ext>
            </a:extLst>
          </p:cNvPr>
          <p:cNvCxnSpPr>
            <a:cxnSpLocks/>
          </p:cNvCxnSpPr>
          <p:nvPr/>
        </p:nvCxnSpPr>
        <p:spPr bwMode="auto">
          <a:xfrm flipV="1">
            <a:off x="3930650" y="5232303"/>
            <a:ext cx="1273102" cy="2471"/>
          </a:xfrm>
          <a:prstGeom prst="straightConnector1">
            <a:avLst/>
          </a:prstGeom>
          <a:solidFill>
            <a:schemeClr val="accent1"/>
          </a:solidFill>
          <a:ln w="57150" cap="flat" cmpd="sng" algn="ctr">
            <a:solidFill>
              <a:schemeClr val="tx1"/>
            </a:solidFill>
            <a:prstDash val="solid"/>
            <a:round/>
            <a:headEnd type="triangle" w="med" len="med"/>
            <a:tailEnd type="triangle"/>
          </a:ln>
          <a:effectLst/>
        </p:spPr>
      </p:cxnSp>
      <p:sp>
        <p:nvSpPr>
          <p:cNvPr id="26" name="Can 38">
            <a:extLst>
              <a:ext uri="{FF2B5EF4-FFF2-40B4-BE49-F238E27FC236}">
                <a16:creationId xmlns:a16="http://schemas.microsoft.com/office/drawing/2014/main" id="{2D66A6BA-E078-4243-A542-4EDF0004EFC1}"/>
              </a:ext>
            </a:extLst>
          </p:cNvPr>
          <p:cNvSpPr/>
          <p:nvPr/>
        </p:nvSpPr>
        <p:spPr bwMode="auto">
          <a:xfrm>
            <a:off x="6978098" y="4601091"/>
            <a:ext cx="977900" cy="973138"/>
          </a:xfrm>
          <a:prstGeom prst="can">
            <a:avLst/>
          </a:prstGeom>
          <a:solidFill>
            <a:srgbClr val="5AAEFF"/>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600" dirty="0">
                <a:latin typeface="Gill Sans Light"/>
              </a:rPr>
              <a:t>Storage</a:t>
            </a:r>
            <a:endParaRPr kumimoji="0" lang="en-US" sz="1600" b="0" i="0" u="none" strike="noStrike" cap="none" normalizeH="0" baseline="0" dirty="0">
              <a:ln>
                <a:noFill/>
              </a:ln>
              <a:solidFill>
                <a:schemeClr val="tx1"/>
              </a:solidFill>
              <a:effectLst/>
              <a:latin typeface="Gill Sans Light"/>
            </a:endParaRPr>
          </a:p>
        </p:txBody>
      </p:sp>
      <p:pic>
        <p:nvPicPr>
          <p:cNvPr id="27" name="Picture 26">
            <a:extLst>
              <a:ext uri="{FF2B5EF4-FFF2-40B4-BE49-F238E27FC236}">
                <a16:creationId xmlns:a16="http://schemas.microsoft.com/office/drawing/2014/main" id="{57205715-3232-4739-82EE-E1D9E0C153A6}"/>
              </a:ext>
            </a:extLst>
          </p:cNvPr>
          <p:cNvPicPr>
            <a:picLocks noChangeAspect="1"/>
          </p:cNvPicPr>
          <p:nvPr/>
        </p:nvPicPr>
        <p:blipFill>
          <a:blip r:embed="rId2">
            <a:clrChange>
              <a:clrFrom>
                <a:srgbClr val="FFFFFF"/>
              </a:clrFrom>
              <a:clrTo>
                <a:srgbClr val="FFFFFF">
                  <a:alpha val="0"/>
                </a:srgbClr>
              </a:clrTo>
            </a:clrChange>
          </a:blip>
          <a:stretch>
            <a:fillRect/>
          </a:stretch>
        </p:blipFill>
        <p:spPr>
          <a:xfrm flipH="1">
            <a:off x="8302804" y="4559299"/>
            <a:ext cx="1270482" cy="1270482"/>
          </a:xfrm>
          <a:prstGeom prst="rect">
            <a:avLst/>
          </a:prstGeom>
        </p:spPr>
      </p:pic>
      <p:sp>
        <p:nvSpPr>
          <p:cNvPr id="31" name="TextBox 30">
            <a:extLst>
              <a:ext uri="{FF2B5EF4-FFF2-40B4-BE49-F238E27FC236}">
                <a16:creationId xmlns:a16="http://schemas.microsoft.com/office/drawing/2014/main" id="{A8A63F55-8F57-4FCF-A466-B7ABFA7D293F}"/>
              </a:ext>
            </a:extLst>
          </p:cNvPr>
          <p:cNvSpPr txBox="1"/>
          <p:nvPr/>
        </p:nvSpPr>
        <p:spPr>
          <a:xfrm>
            <a:off x="8315784" y="4518076"/>
            <a:ext cx="1107996" cy="338554"/>
          </a:xfrm>
          <a:prstGeom prst="rect">
            <a:avLst/>
          </a:prstGeom>
          <a:noFill/>
        </p:spPr>
        <p:txBody>
          <a:bodyPr wrap="none" rtlCol="0">
            <a:spAutoFit/>
          </a:bodyPr>
          <a:lstStyle/>
          <a:p>
            <a:pPr algn="ctr"/>
            <a:r>
              <a:rPr lang="en-US" sz="1600" dirty="0">
                <a:latin typeface="Gill Sans Light"/>
              </a:rPr>
              <a:t>Networks</a:t>
            </a:r>
          </a:p>
        </p:txBody>
      </p:sp>
      <p:sp>
        <p:nvSpPr>
          <p:cNvPr id="34" name="TextBox 33">
            <a:extLst>
              <a:ext uri="{FF2B5EF4-FFF2-40B4-BE49-F238E27FC236}">
                <a16:creationId xmlns:a16="http://schemas.microsoft.com/office/drawing/2014/main" id="{5A2B64A6-5DE4-40BC-B41E-052C2DBBB4E8}"/>
              </a:ext>
            </a:extLst>
          </p:cNvPr>
          <p:cNvSpPr txBox="1"/>
          <p:nvPr/>
        </p:nvSpPr>
        <p:spPr>
          <a:xfrm>
            <a:off x="631271" y="4919941"/>
            <a:ext cx="1353256" cy="400110"/>
          </a:xfrm>
          <a:prstGeom prst="rect">
            <a:avLst/>
          </a:prstGeom>
          <a:noFill/>
        </p:spPr>
        <p:txBody>
          <a:bodyPr wrap="none" rtlCol="0">
            <a:spAutoFit/>
          </a:bodyPr>
          <a:lstStyle/>
          <a:p>
            <a:r>
              <a:rPr lang="en-US" sz="2000" dirty="0">
                <a:latin typeface="Gill Sans Light"/>
              </a:rPr>
              <a:t>Hardware</a:t>
            </a:r>
          </a:p>
        </p:txBody>
      </p:sp>
      <p:cxnSp>
        <p:nvCxnSpPr>
          <p:cNvPr id="39" name="Straight Arrow Connector 38">
            <a:extLst>
              <a:ext uri="{FF2B5EF4-FFF2-40B4-BE49-F238E27FC236}">
                <a16:creationId xmlns:a16="http://schemas.microsoft.com/office/drawing/2014/main" id="{44B237A5-A629-47CA-A0F4-6D264547B1E9}"/>
              </a:ext>
            </a:extLst>
          </p:cNvPr>
          <p:cNvCxnSpPr>
            <a:cxnSpLocks/>
            <a:endCxn id="26" idx="3"/>
          </p:cNvCxnSpPr>
          <p:nvPr/>
        </p:nvCxnSpPr>
        <p:spPr>
          <a:xfrm flipV="1">
            <a:off x="7467048" y="5574229"/>
            <a:ext cx="0" cy="331271"/>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AC006469-8BAB-4F3E-A8D9-EB19E5DDCFD3}"/>
              </a:ext>
            </a:extLst>
          </p:cNvPr>
          <p:cNvCxnSpPr>
            <a:cxnSpLocks/>
          </p:cNvCxnSpPr>
          <p:nvPr/>
        </p:nvCxnSpPr>
        <p:spPr>
          <a:xfrm flipV="1">
            <a:off x="8891831" y="5584848"/>
            <a:ext cx="0" cy="320652"/>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800CF464-6799-4EF1-A173-649974B69470}"/>
              </a:ext>
            </a:extLst>
          </p:cNvPr>
          <p:cNvCxnSpPr>
            <a:cxnSpLocks/>
          </p:cNvCxnSpPr>
          <p:nvPr/>
        </p:nvCxnSpPr>
        <p:spPr>
          <a:xfrm flipV="1">
            <a:off x="4308999" y="5234774"/>
            <a:ext cx="0" cy="670726"/>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077FE5F6-6698-44C8-949A-3B1FFA12825F}"/>
              </a:ext>
            </a:extLst>
          </p:cNvPr>
          <p:cNvCxnSpPr>
            <a:cxnSpLocks/>
            <a:endCxn id="56" idx="1"/>
          </p:cNvCxnSpPr>
          <p:nvPr/>
        </p:nvCxnSpPr>
        <p:spPr>
          <a:xfrm>
            <a:off x="4105518" y="5911715"/>
            <a:ext cx="1091231" cy="0"/>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56" name="Rectangle 55">
            <a:extLst>
              <a:ext uri="{FF2B5EF4-FFF2-40B4-BE49-F238E27FC236}">
                <a16:creationId xmlns:a16="http://schemas.microsoft.com/office/drawing/2014/main" id="{0182EB5C-4F86-416A-B81D-EA223AEB393C}"/>
              </a:ext>
            </a:extLst>
          </p:cNvPr>
          <p:cNvSpPr/>
          <p:nvPr/>
        </p:nvSpPr>
        <p:spPr bwMode="auto">
          <a:xfrm>
            <a:off x="5196749" y="5765133"/>
            <a:ext cx="1044306" cy="293164"/>
          </a:xfrm>
          <a:prstGeom prst="rect">
            <a:avLst/>
          </a:prstGeom>
          <a:no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400" b="0" i="0" u="none" strike="noStrike" cap="none" normalizeH="0" baseline="0" dirty="0">
                <a:ln>
                  <a:noFill/>
                </a:ln>
                <a:solidFill>
                  <a:schemeClr val="tx1"/>
                </a:solidFill>
                <a:effectLst/>
                <a:latin typeface="Gill Sans Light"/>
              </a:rPr>
              <a:t>I/O </a:t>
            </a:r>
            <a:r>
              <a:rPr kumimoji="0" lang="en-US" sz="1400" b="0" i="0" u="none" strike="noStrike" cap="none" normalizeH="0" baseline="0" dirty="0" err="1">
                <a:ln>
                  <a:noFill/>
                </a:ln>
                <a:solidFill>
                  <a:schemeClr val="tx1"/>
                </a:solidFill>
                <a:effectLst/>
                <a:latin typeface="Gill Sans Light"/>
              </a:rPr>
              <a:t>Ctrlr</a:t>
            </a:r>
            <a:endParaRPr kumimoji="0" lang="en-US" sz="1400" b="0" i="0" u="none" strike="noStrike" cap="none" normalizeH="0" baseline="0" dirty="0">
              <a:ln>
                <a:noFill/>
              </a:ln>
              <a:solidFill>
                <a:schemeClr val="tx1"/>
              </a:solidFill>
              <a:effectLst/>
              <a:latin typeface="Gill Sans Light"/>
            </a:endParaRPr>
          </a:p>
        </p:txBody>
      </p:sp>
      <p:cxnSp>
        <p:nvCxnSpPr>
          <p:cNvPr id="59" name="Straight Arrow Connector 58">
            <a:extLst>
              <a:ext uri="{FF2B5EF4-FFF2-40B4-BE49-F238E27FC236}">
                <a16:creationId xmlns:a16="http://schemas.microsoft.com/office/drawing/2014/main" id="{7CEF80FD-C99C-4106-86FD-C44623EF6D66}"/>
              </a:ext>
            </a:extLst>
          </p:cNvPr>
          <p:cNvCxnSpPr>
            <a:cxnSpLocks/>
            <a:stCxn id="56" idx="3"/>
          </p:cNvCxnSpPr>
          <p:nvPr/>
        </p:nvCxnSpPr>
        <p:spPr>
          <a:xfrm flipV="1">
            <a:off x="6241055" y="5905500"/>
            <a:ext cx="5145949" cy="0"/>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8C42E879-B352-4CB0-9045-9528A742E94C}"/>
              </a:ext>
            </a:extLst>
          </p:cNvPr>
          <p:cNvSpPr txBox="1"/>
          <p:nvPr/>
        </p:nvSpPr>
        <p:spPr>
          <a:xfrm>
            <a:off x="861699" y="4314038"/>
            <a:ext cx="1494531" cy="338554"/>
          </a:xfrm>
          <a:prstGeom prst="rect">
            <a:avLst/>
          </a:prstGeom>
          <a:solidFill>
            <a:srgbClr val="EFE683"/>
          </a:solidFill>
          <a:ln>
            <a:solidFill>
              <a:schemeClr val="tx1"/>
            </a:solidFill>
          </a:ln>
        </p:spPr>
        <p:txBody>
          <a:bodyPr wrap="square" rtlCol="0">
            <a:spAutoFit/>
          </a:bodyPr>
          <a:lstStyle/>
          <a:p>
            <a:pPr algn="ctr"/>
            <a:r>
              <a:rPr lang="en-US" sz="1600" b="1" i="1" dirty="0">
                <a:latin typeface="Gill Sans Light"/>
              </a:rPr>
              <a:t>ISA</a:t>
            </a:r>
          </a:p>
        </p:txBody>
      </p:sp>
      <p:sp>
        <p:nvSpPr>
          <p:cNvPr id="63" name="Rectangle 62">
            <a:extLst>
              <a:ext uri="{FF2B5EF4-FFF2-40B4-BE49-F238E27FC236}">
                <a16:creationId xmlns:a16="http://schemas.microsoft.com/office/drawing/2014/main" id="{CA91FAA7-997F-463D-B0E7-ECB8FF4BD25C}"/>
              </a:ext>
            </a:extLst>
          </p:cNvPr>
          <p:cNvSpPr/>
          <p:nvPr/>
        </p:nvSpPr>
        <p:spPr>
          <a:xfrm>
            <a:off x="1955800" y="3595554"/>
            <a:ext cx="9753601" cy="936847"/>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latin typeface="Gill Sans Light"/>
              </a:rPr>
              <a:t>Operating System</a:t>
            </a:r>
          </a:p>
        </p:txBody>
      </p:sp>
      <p:sp>
        <p:nvSpPr>
          <p:cNvPr id="84" name="Rectangle 83">
            <a:extLst>
              <a:ext uri="{FF2B5EF4-FFF2-40B4-BE49-F238E27FC236}">
                <a16:creationId xmlns:a16="http://schemas.microsoft.com/office/drawing/2014/main" id="{87B4BF93-F38E-482C-92DA-97BF83D39E26}"/>
              </a:ext>
            </a:extLst>
          </p:cNvPr>
          <p:cNvSpPr/>
          <p:nvPr/>
        </p:nvSpPr>
        <p:spPr>
          <a:xfrm>
            <a:off x="419100" y="2710529"/>
            <a:ext cx="1417802" cy="1493074"/>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Gill Sans Light"/>
              </a:rPr>
              <a:t>Compiler</a:t>
            </a:r>
          </a:p>
        </p:txBody>
      </p:sp>
      <p:sp>
        <p:nvSpPr>
          <p:cNvPr id="45" name="Rectangle 44">
            <a:extLst>
              <a:ext uri="{FF2B5EF4-FFF2-40B4-BE49-F238E27FC236}">
                <a16:creationId xmlns:a16="http://schemas.microsoft.com/office/drawing/2014/main" id="{3EFB73E7-29AB-4311-90E8-B9325E17083A}"/>
              </a:ext>
            </a:extLst>
          </p:cNvPr>
          <p:cNvSpPr/>
          <p:nvPr/>
        </p:nvSpPr>
        <p:spPr>
          <a:xfrm>
            <a:off x="0" y="1860550"/>
            <a:ext cx="12192000" cy="4692650"/>
          </a:xfrm>
          <a:prstGeom prst="rect">
            <a:avLst/>
          </a:pr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Gill Sans Light"/>
            </a:endParaRPr>
          </a:p>
        </p:txBody>
      </p:sp>
      <p:sp>
        <p:nvSpPr>
          <p:cNvPr id="2" name="Title 1">
            <a:extLst>
              <a:ext uri="{FF2B5EF4-FFF2-40B4-BE49-F238E27FC236}">
                <a16:creationId xmlns:a16="http://schemas.microsoft.com/office/drawing/2014/main" id="{2735C77F-660A-43A3-8126-43A0F77E49F3}"/>
              </a:ext>
            </a:extLst>
          </p:cNvPr>
          <p:cNvSpPr>
            <a:spLocks noGrp="1"/>
          </p:cNvSpPr>
          <p:nvPr>
            <p:ph type="title"/>
          </p:nvPr>
        </p:nvSpPr>
        <p:spPr/>
        <p:txBody>
          <a:bodyPr/>
          <a:lstStyle/>
          <a:p>
            <a:r>
              <a:rPr lang="en-US" dirty="0">
                <a:latin typeface="Gill Sans Light"/>
              </a:rPr>
              <a:t>OS Basics: Switching Processes</a:t>
            </a:r>
          </a:p>
        </p:txBody>
      </p:sp>
      <p:sp>
        <p:nvSpPr>
          <p:cNvPr id="8" name="Rounded Rectangle 6">
            <a:extLst>
              <a:ext uri="{FF2B5EF4-FFF2-40B4-BE49-F238E27FC236}">
                <a16:creationId xmlns:a16="http://schemas.microsoft.com/office/drawing/2014/main" id="{EA9B6AFF-D750-4502-865E-E3737510EED0}"/>
              </a:ext>
            </a:extLst>
          </p:cNvPr>
          <p:cNvSpPr/>
          <p:nvPr/>
        </p:nvSpPr>
        <p:spPr bwMode="auto">
          <a:xfrm>
            <a:off x="2201858" y="4618038"/>
            <a:ext cx="1728792" cy="838200"/>
          </a:xfrm>
          <a:prstGeom prst="roundRect">
            <a:avLst/>
          </a:prstGeom>
          <a:solidFill>
            <a:schemeClr val="accent1">
              <a:lumMod val="40000"/>
              <a:lumOff val="6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Gill Sans Light"/>
              </a:rPr>
              <a:t>Processor</a:t>
            </a:r>
            <a:endParaRPr kumimoji="0" lang="en-US" sz="1400" b="0" i="0" u="none" strike="noStrike" cap="none" normalizeH="0" baseline="0" dirty="0">
              <a:ln>
                <a:noFill/>
              </a:ln>
              <a:solidFill>
                <a:schemeClr val="tx1"/>
              </a:solidFill>
              <a:effectLst/>
              <a:latin typeface="Gill Sans Light"/>
            </a:endParaRPr>
          </a:p>
        </p:txBody>
      </p:sp>
      <p:sp>
        <p:nvSpPr>
          <p:cNvPr id="9" name="Rectangle 8">
            <a:extLst>
              <a:ext uri="{FF2B5EF4-FFF2-40B4-BE49-F238E27FC236}">
                <a16:creationId xmlns:a16="http://schemas.microsoft.com/office/drawing/2014/main" id="{85025C03-FC2A-4CCF-8684-4F37D94D3763}"/>
              </a:ext>
            </a:extLst>
          </p:cNvPr>
          <p:cNvSpPr/>
          <p:nvPr/>
        </p:nvSpPr>
        <p:spPr bwMode="auto">
          <a:xfrm>
            <a:off x="5009666" y="4664869"/>
            <a:ext cx="1760608" cy="973138"/>
          </a:xfrm>
          <a:prstGeom prst="rect">
            <a:avLst/>
          </a:prstGeom>
          <a:solidFill>
            <a:srgbClr val="5AAEFF"/>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Gill Sans Light"/>
              </a:rPr>
              <a:t>Memory</a:t>
            </a:r>
          </a:p>
        </p:txBody>
      </p:sp>
      <p:grpSp>
        <p:nvGrpSpPr>
          <p:cNvPr id="10" name="Group 9">
            <a:extLst>
              <a:ext uri="{FF2B5EF4-FFF2-40B4-BE49-F238E27FC236}">
                <a16:creationId xmlns:a16="http://schemas.microsoft.com/office/drawing/2014/main" id="{4C2174B6-519D-44F7-A8CB-C9D9304FB602}"/>
              </a:ext>
            </a:extLst>
          </p:cNvPr>
          <p:cNvGrpSpPr/>
          <p:nvPr/>
        </p:nvGrpSpPr>
        <p:grpSpPr>
          <a:xfrm>
            <a:off x="3244850" y="5075238"/>
            <a:ext cx="533400" cy="304800"/>
            <a:chOff x="3124200" y="3657600"/>
            <a:chExt cx="533400" cy="304800"/>
          </a:xfrm>
          <a:solidFill>
            <a:srgbClr val="9E7800"/>
          </a:solidFill>
        </p:grpSpPr>
        <p:sp>
          <p:nvSpPr>
            <p:cNvPr id="11" name="Rectangle 10">
              <a:extLst>
                <a:ext uri="{FF2B5EF4-FFF2-40B4-BE49-F238E27FC236}">
                  <a16:creationId xmlns:a16="http://schemas.microsoft.com/office/drawing/2014/main" id="{EFBA6894-B008-4F1D-B22C-730173B3DFD4}"/>
                </a:ext>
              </a:extLst>
            </p:cNvPr>
            <p:cNvSpPr/>
            <p:nvPr/>
          </p:nvSpPr>
          <p:spPr bwMode="auto">
            <a:xfrm>
              <a:off x="3124200" y="3657600"/>
              <a:ext cx="533400" cy="304800"/>
            </a:xfrm>
            <a:prstGeom prst="rect">
              <a:avLst/>
            </a:prstGeom>
            <a:grp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sp>
          <p:nvSpPr>
            <p:cNvPr id="12" name="Rectangle 11">
              <a:extLst>
                <a:ext uri="{FF2B5EF4-FFF2-40B4-BE49-F238E27FC236}">
                  <a16:creationId xmlns:a16="http://schemas.microsoft.com/office/drawing/2014/main" id="{F6B854A3-399D-4E47-BB10-B204E22F6207}"/>
                </a:ext>
              </a:extLst>
            </p:cNvPr>
            <p:cNvSpPr/>
            <p:nvPr/>
          </p:nvSpPr>
          <p:spPr bwMode="auto">
            <a:xfrm>
              <a:off x="3124200" y="3733800"/>
              <a:ext cx="533400" cy="152400"/>
            </a:xfrm>
            <a:prstGeom prst="rect">
              <a:avLst/>
            </a:prstGeom>
            <a:grp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grpSp>
      <p:sp>
        <p:nvSpPr>
          <p:cNvPr id="16" name="Rectangle 15">
            <a:extLst>
              <a:ext uri="{FF2B5EF4-FFF2-40B4-BE49-F238E27FC236}">
                <a16:creationId xmlns:a16="http://schemas.microsoft.com/office/drawing/2014/main" id="{7114092D-E1CB-4952-8CAA-BD6429870DAC}"/>
              </a:ext>
            </a:extLst>
          </p:cNvPr>
          <p:cNvSpPr/>
          <p:nvPr/>
        </p:nvSpPr>
        <p:spPr bwMode="auto">
          <a:xfrm>
            <a:off x="5683893" y="5188015"/>
            <a:ext cx="412153" cy="387428"/>
          </a:xfrm>
          <a:prstGeom prst="rect">
            <a:avLst/>
          </a:prstGeom>
          <a:solidFill>
            <a:schemeClr val="accent6"/>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sp>
        <p:nvSpPr>
          <p:cNvPr id="13" name="Rectangle 12">
            <a:extLst>
              <a:ext uri="{FF2B5EF4-FFF2-40B4-BE49-F238E27FC236}">
                <a16:creationId xmlns:a16="http://schemas.microsoft.com/office/drawing/2014/main" id="{4A1809EB-73C2-4CF6-B753-8F1B20E63381}"/>
              </a:ext>
            </a:extLst>
          </p:cNvPr>
          <p:cNvSpPr/>
          <p:nvPr/>
        </p:nvSpPr>
        <p:spPr bwMode="auto">
          <a:xfrm>
            <a:off x="5171349" y="5188015"/>
            <a:ext cx="447915" cy="396832"/>
          </a:xfrm>
          <a:prstGeom prst="rect">
            <a:avLst/>
          </a:prstGeom>
          <a:solidFill>
            <a:srgbClr val="9E7800"/>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cxnSp>
        <p:nvCxnSpPr>
          <p:cNvPr id="17" name="Curved Connector 54">
            <a:extLst>
              <a:ext uri="{FF2B5EF4-FFF2-40B4-BE49-F238E27FC236}">
                <a16:creationId xmlns:a16="http://schemas.microsoft.com/office/drawing/2014/main" id="{1C7D6572-FBEF-45D3-B9EB-4A6924279104}"/>
              </a:ext>
            </a:extLst>
          </p:cNvPr>
          <p:cNvCxnSpPr>
            <a:cxnSpLocks/>
          </p:cNvCxnSpPr>
          <p:nvPr/>
        </p:nvCxnSpPr>
        <p:spPr bwMode="auto">
          <a:xfrm>
            <a:off x="3600451" y="5265655"/>
            <a:ext cx="1775551" cy="217481"/>
          </a:xfrm>
          <a:prstGeom prst="curvedConnector3">
            <a:avLst>
              <a:gd name="adj1" fmla="val 23535"/>
            </a:avLst>
          </a:prstGeom>
          <a:solidFill>
            <a:schemeClr val="accent1"/>
          </a:solidFill>
          <a:ln w="22225" cap="flat" cmpd="sng" algn="ctr">
            <a:solidFill>
              <a:schemeClr val="tx1"/>
            </a:solidFill>
            <a:prstDash val="solid"/>
            <a:round/>
            <a:headEnd type="triangle" w="sm" len="sm"/>
            <a:tailEnd type="triangle"/>
          </a:ln>
          <a:effectLst/>
        </p:spPr>
      </p:cxnSp>
      <p:sp>
        <p:nvSpPr>
          <p:cNvPr id="80" name="Rectangle 79">
            <a:extLst>
              <a:ext uri="{FF2B5EF4-FFF2-40B4-BE49-F238E27FC236}">
                <a16:creationId xmlns:a16="http://schemas.microsoft.com/office/drawing/2014/main" id="{4838629E-2E3E-4207-99FE-90E9B77B1C43}"/>
              </a:ext>
            </a:extLst>
          </p:cNvPr>
          <p:cNvSpPr/>
          <p:nvPr/>
        </p:nvSpPr>
        <p:spPr>
          <a:xfrm>
            <a:off x="2187471" y="2710529"/>
            <a:ext cx="4568415" cy="936847"/>
          </a:xfrm>
          <a:prstGeom prst="rect">
            <a:avLst/>
          </a:prstGeom>
          <a:solidFill>
            <a:srgbClr val="9E78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1" dirty="0">
                <a:solidFill>
                  <a:schemeClr val="tx1"/>
                </a:solidFill>
                <a:latin typeface="Gill Sans Light"/>
              </a:rPr>
              <a:t>Process 1</a:t>
            </a:r>
          </a:p>
          <a:p>
            <a:pPr algn="ctr"/>
            <a:endParaRPr lang="en-US" sz="1200" dirty="0">
              <a:solidFill>
                <a:schemeClr val="tx1"/>
              </a:solidFill>
              <a:latin typeface="Gill Sans Light"/>
            </a:endParaRPr>
          </a:p>
        </p:txBody>
      </p:sp>
      <p:sp>
        <p:nvSpPr>
          <p:cNvPr id="72" name="TextBox 71">
            <a:extLst>
              <a:ext uri="{FF2B5EF4-FFF2-40B4-BE49-F238E27FC236}">
                <a16:creationId xmlns:a16="http://schemas.microsoft.com/office/drawing/2014/main" id="{E4897103-5196-4D83-8C50-ED908C0B63F9}"/>
              </a:ext>
            </a:extLst>
          </p:cNvPr>
          <p:cNvSpPr txBox="1"/>
          <p:nvPr/>
        </p:nvSpPr>
        <p:spPr>
          <a:xfrm>
            <a:off x="2245360" y="3396030"/>
            <a:ext cx="961390"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Threads</a:t>
            </a:r>
          </a:p>
        </p:txBody>
      </p:sp>
      <p:sp>
        <p:nvSpPr>
          <p:cNvPr id="73" name="Rectangle 72">
            <a:extLst>
              <a:ext uri="{FF2B5EF4-FFF2-40B4-BE49-F238E27FC236}">
                <a16:creationId xmlns:a16="http://schemas.microsoft.com/office/drawing/2014/main" id="{1F630E64-216C-4D30-9C27-5AEDDDA28456}"/>
              </a:ext>
            </a:extLst>
          </p:cNvPr>
          <p:cNvSpPr/>
          <p:nvPr/>
        </p:nvSpPr>
        <p:spPr bwMode="auto">
          <a:xfrm>
            <a:off x="6160675" y="5188015"/>
            <a:ext cx="470617" cy="380268"/>
          </a:xfrm>
          <a:prstGeom prst="rect">
            <a:avLst/>
          </a:prstGeom>
          <a:solidFill>
            <a:schemeClr val="bg2">
              <a:lumMod val="60000"/>
              <a:lumOff val="40000"/>
            </a:schemeClr>
          </a:solidFill>
          <a:ln w="12700" cap="flat" cmpd="sng" algn="ctr">
            <a:solidFill>
              <a:schemeClr val="tx1"/>
            </a:solidFill>
            <a:prstDash val="solid"/>
            <a:round/>
            <a:headEnd type="none" w="sm" len="sm"/>
            <a:tailEnd type="none" w="sm" len="sm"/>
          </a:ln>
          <a:effectLst/>
        </p:spPr>
        <p:txBody>
          <a:bodyPr vert="horz" wrap="square" lIns="0" tIns="45720" rIns="0" bIns="45720" numCol="1" rtlCol="0" anchor="ctr" anchorCtr="0" compatLnSpc="1">
            <a:prstTxWarp prst="textNoShape">
              <a:avLst/>
            </a:prstTxWarp>
          </a:bodyPr>
          <a:lstStyle/>
          <a:p>
            <a:pPr marL="0" marR="0" indent="0" algn="ctr" defTabSz="914400" rtl="0" eaLnBrk="0" fontAlgn="base" latinLnBrk="0" hangingPunct="0">
              <a:lnSpc>
                <a:spcPts val="16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Gill Sans Light"/>
              </a:rPr>
              <a:t>OS</a:t>
            </a:r>
          </a:p>
          <a:p>
            <a:pPr marL="0" marR="0" indent="0" algn="ctr" defTabSz="914400" rtl="0" eaLnBrk="0" fontAlgn="base" latinLnBrk="0" hangingPunct="0">
              <a:lnSpc>
                <a:spcPts val="1600"/>
              </a:lnSpc>
              <a:spcBef>
                <a:spcPct val="0"/>
              </a:spcBef>
              <a:spcAft>
                <a:spcPct val="0"/>
              </a:spcAft>
              <a:buClrTx/>
              <a:buSzTx/>
              <a:buFontTx/>
              <a:buNone/>
              <a:tabLst/>
            </a:pPr>
            <a:r>
              <a:rPr lang="en-US" sz="1200" dirty="0">
                <a:latin typeface="Gill Sans Light"/>
              </a:rPr>
              <a:t>Mem</a:t>
            </a:r>
            <a:endParaRPr kumimoji="0" lang="en-US" sz="1200" b="0" i="0" u="none" strike="noStrike" cap="none" normalizeH="0" baseline="0" dirty="0">
              <a:ln>
                <a:noFill/>
              </a:ln>
              <a:solidFill>
                <a:schemeClr val="tx1"/>
              </a:solidFill>
              <a:effectLst/>
              <a:latin typeface="Gill Sans Light"/>
            </a:endParaRPr>
          </a:p>
        </p:txBody>
      </p:sp>
      <p:sp>
        <p:nvSpPr>
          <p:cNvPr id="74" name="TextBox 73">
            <a:extLst>
              <a:ext uri="{FF2B5EF4-FFF2-40B4-BE49-F238E27FC236}">
                <a16:creationId xmlns:a16="http://schemas.microsoft.com/office/drawing/2014/main" id="{903AC2DB-5960-4CF0-B972-E1CDF92622A2}"/>
              </a:ext>
            </a:extLst>
          </p:cNvPr>
          <p:cNvSpPr txBox="1"/>
          <p:nvPr/>
        </p:nvSpPr>
        <p:spPr>
          <a:xfrm>
            <a:off x="3325648" y="3398740"/>
            <a:ext cx="1550862"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Address Spaces</a:t>
            </a:r>
          </a:p>
        </p:txBody>
      </p:sp>
      <p:sp>
        <p:nvSpPr>
          <p:cNvPr id="75" name="TextBox 74">
            <a:extLst>
              <a:ext uri="{FF2B5EF4-FFF2-40B4-BE49-F238E27FC236}">
                <a16:creationId xmlns:a16="http://schemas.microsoft.com/office/drawing/2014/main" id="{AD4C368E-047B-4BC3-8012-71A6CC7B5378}"/>
              </a:ext>
            </a:extLst>
          </p:cNvPr>
          <p:cNvSpPr txBox="1"/>
          <p:nvPr/>
        </p:nvSpPr>
        <p:spPr>
          <a:xfrm>
            <a:off x="5000552" y="3397972"/>
            <a:ext cx="683252"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Files</a:t>
            </a:r>
          </a:p>
        </p:txBody>
      </p:sp>
      <p:sp>
        <p:nvSpPr>
          <p:cNvPr id="76" name="TextBox 75">
            <a:extLst>
              <a:ext uri="{FF2B5EF4-FFF2-40B4-BE49-F238E27FC236}">
                <a16:creationId xmlns:a16="http://schemas.microsoft.com/office/drawing/2014/main" id="{8ED3D70A-C8B7-4AAE-8DB5-86A5FF23DEF3}"/>
              </a:ext>
            </a:extLst>
          </p:cNvPr>
          <p:cNvSpPr txBox="1"/>
          <p:nvPr/>
        </p:nvSpPr>
        <p:spPr>
          <a:xfrm>
            <a:off x="5814118" y="3397972"/>
            <a:ext cx="844624"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Sockets</a:t>
            </a:r>
          </a:p>
        </p:txBody>
      </p:sp>
      <p:sp>
        <p:nvSpPr>
          <p:cNvPr id="55" name="Rectangle 54">
            <a:extLst>
              <a:ext uri="{FF2B5EF4-FFF2-40B4-BE49-F238E27FC236}">
                <a16:creationId xmlns:a16="http://schemas.microsoft.com/office/drawing/2014/main" id="{0E783A07-C148-43C9-84E9-1E9884CF721E}"/>
              </a:ext>
            </a:extLst>
          </p:cNvPr>
          <p:cNvSpPr/>
          <p:nvPr/>
        </p:nvSpPr>
        <p:spPr>
          <a:xfrm>
            <a:off x="6933883" y="2710529"/>
            <a:ext cx="4568415" cy="936847"/>
          </a:xfrm>
          <a:prstGeom prst="rect">
            <a:avLst/>
          </a:prstGeom>
          <a:solidFill>
            <a:schemeClr val="accent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1" dirty="0">
                <a:solidFill>
                  <a:schemeClr val="tx1"/>
                </a:solidFill>
                <a:latin typeface="Gill Sans Light"/>
              </a:rPr>
              <a:t>Process 2</a:t>
            </a:r>
          </a:p>
          <a:p>
            <a:pPr algn="ctr"/>
            <a:endParaRPr lang="en-US" sz="1200" dirty="0">
              <a:solidFill>
                <a:schemeClr val="tx1"/>
              </a:solidFill>
              <a:latin typeface="Gill Sans Light"/>
            </a:endParaRPr>
          </a:p>
        </p:txBody>
      </p:sp>
      <p:sp>
        <p:nvSpPr>
          <p:cNvPr id="57" name="TextBox 56">
            <a:extLst>
              <a:ext uri="{FF2B5EF4-FFF2-40B4-BE49-F238E27FC236}">
                <a16:creationId xmlns:a16="http://schemas.microsoft.com/office/drawing/2014/main" id="{8FBCBFF2-102E-4AC2-AE4A-CC896E9B1E66}"/>
              </a:ext>
            </a:extLst>
          </p:cNvPr>
          <p:cNvSpPr txBox="1"/>
          <p:nvPr/>
        </p:nvSpPr>
        <p:spPr>
          <a:xfrm>
            <a:off x="6977384" y="3396030"/>
            <a:ext cx="961390"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Threads</a:t>
            </a:r>
          </a:p>
        </p:txBody>
      </p:sp>
      <p:sp>
        <p:nvSpPr>
          <p:cNvPr id="58" name="TextBox 57">
            <a:extLst>
              <a:ext uri="{FF2B5EF4-FFF2-40B4-BE49-F238E27FC236}">
                <a16:creationId xmlns:a16="http://schemas.microsoft.com/office/drawing/2014/main" id="{85A8239A-9FCD-46DB-B7DA-7EA11E27E672}"/>
              </a:ext>
            </a:extLst>
          </p:cNvPr>
          <p:cNvSpPr txBox="1"/>
          <p:nvPr/>
        </p:nvSpPr>
        <p:spPr>
          <a:xfrm>
            <a:off x="8057672" y="3398740"/>
            <a:ext cx="1550862"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Address Spaces</a:t>
            </a:r>
          </a:p>
        </p:txBody>
      </p:sp>
      <p:sp>
        <p:nvSpPr>
          <p:cNvPr id="60" name="TextBox 59">
            <a:extLst>
              <a:ext uri="{FF2B5EF4-FFF2-40B4-BE49-F238E27FC236}">
                <a16:creationId xmlns:a16="http://schemas.microsoft.com/office/drawing/2014/main" id="{D923F43D-F391-40F4-9D87-D4E37AAB7342}"/>
              </a:ext>
            </a:extLst>
          </p:cNvPr>
          <p:cNvSpPr txBox="1"/>
          <p:nvPr/>
        </p:nvSpPr>
        <p:spPr>
          <a:xfrm>
            <a:off x="9732576" y="3397972"/>
            <a:ext cx="683252"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Files</a:t>
            </a:r>
          </a:p>
        </p:txBody>
      </p:sp>
      <p:sp>
        <p:nvSpPr>
          <p:cNvPr id="61" name="TextBox 60">
            <a:extLst>
              <a:ext uri="{FF2B5EF4-FFF2-40B4-BE49-F238E27FC236}">
                <a16:creationId xmlns:a16="http://schemas.microsoft.com/office/drawing/2014/main" id="{9AB076CB-B81B-4687-8B6B-B76A3C75D037}"/>
              </a:ext>
            </a:extLst>
          </p:cNvPr>
          <p:cNvSpPr txBox="1"/>
          <p:nvPr/>
        </p:nvSpPr>
        <p:spPr>
          <a:xfrm>
            <a:off x="10546142" y="3397972"/>
            <a:ext cx="844624"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Sockets</a:t>
            </a:r>
          </a:p>
        </p:txBody>
      </p:sp>
      <p:sp>
        <p:nvSpPr>
          <p:cNvPr id="81" name="Rectangle: Folded Corner 80">
            <a:extLst>
              <a:ext uri="{FF2B5EF4-FFF2-40B4-BE49-F238E27FC236}">
                <a16:creationId xmlns:a16="http://schemas.microsoft.com/office/drawing/2014/main" id="{19183BC7-FF86-4959-8312-523AE576C3AF}"/>
              </a:ext>
            </a:extLst>
          </p:cNvPr>
          <p:cNvSpPr/>
          <p:nvPr/>
        </p:nvSpPr>
        <p:spPr>
          <a:xfrm>
            <a:off x="3539163" y="1372394"/>
            <a:ext cx="2014336" cy="1471720"/>
          </a:xfrm>
          <a:prstGeom prst="foldedCorner">
            <a:avLst>
              <a:gd name="adj" fmla="val 21333"/>
            </a:avLst>
          </a:prstGeom>
          <a:solidFill>
            <a:srgbClr val="9E7800"/>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2000" dirty="0">
                <a:solidFill>
                  <a:schemeClr val="tx1"/>
                </a:solidFill>
                <a:latin typeface="Gill Sans Light"/>
              </a:rPr>
              <a:t>Compiled</a:t>
            </a:r>
          </a:p>
          <a:p>
            <a:pPr algn="ctr"/>
            <a:r>
              <a:rPr lang="en-US" sz="2000" dirty="0">
                <a:solidFill>
                  <a:schemeClr val="tx1"/>
                </a:solidFill>
                <a:latin typeface="Gill Sans Light"/>
              </a:rPr>
              <a:t>Program 1</a:t>
            </a:r>
          </a:p>
        </p:txBody>
      </p:sp>
      <p:sp>
        <p:nvSpPr>
          <p:cNvPr id="83" name="Rectangle 82">
            <a:extLst>
              <a:ext uri="{FF2B5EF4-FFF2-40B4-BE49-F238E27FC236}">
                <a16:creationId xmlns:a16="http://schemas.microsoft.com/office/drawing/2014/main" id="{DCEED07B-2876-4266-8889-B6933456A2AD}"/>
              </a:ext>
            </a:extLst>
          </p:cNvPr>
          <p:cNvSpPr/>
          <p:nvPr/>
        </p:nvSpPr>
        <p:spPr>
          <a:xfrm>
            <a:off x="3801201" y="2322568"/>
            <a:ext cx="1343751" cy="464249"/>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Gill Sans Light"/>
              </a:rPr>
              <a:t>System Libs</a:t>
            </a:r>
          </a:p>
        </p:txBody>
      </p:sp>
      <p:sp>
        <p:nvSpPr>
          <p:cNvPr id="65" name="Rectangle: Folded Corner 64">
            <a:extLst>
              <a:ext uri="{FF2B5EF4-FFF2-40B4-BE49-F238E27FC236}">
                <a16:creationId xmlns:a16="http://schemas.microsoft.com/office/drawing/2014/main" id="{16EECD36-F398-4299-8CCB-C7B1EBF07062}"/>
              </a:ext>
            </a:extLst>
          </p:cNvPr>
          <p:cNvSpPr/>
          <p:nvPr/>
        </p:nvSpPr>
        <p:spPr>
          <a:xfrm>
            <a:off x="8375029" y="1366340"/>
            <a:ext cx="2014336" cy="1471720"/>
          </a:xfrm>
          <a:prstGeom prst="foldedCorner">
            <a:avLst>
              <a:gd name="adj" fmla="val 21333"/>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2000" dirty="0">
                <a:solidFill>
                  <a:schemeClr val="tx1"/>
                </a:solidFill>
                <a:latin typeface="Gill Sans Light"/>
              </a:rPr>
              <a:t>Compiled</a:t>
            </a:r>
          </a:p>
          <a:p>
            <a:pPr algn="ctr"/>
            <a:r>
              <a:rPr lang="en-US" sz="2000" dirty="0">
                <a:solidFill>
                  <a:schemeClr val="tx1"/>
                </a:solidFill>
                <a:latin typeface="Gill Sans Light"/>
              </a:rPr>
              <a:t>Program 2</a:t>
            </a:r>
          </a:p>
        </p:txBody>
      </p:sp>
      <p:sp>
        <p:nvSpPr>
          <p:cNvPr id="66" name="Rectangle 65">
            <a:extLst>
              <a:ext uri="{FF2B5EF4-FFF2-40B4-BE49-F238E27FC236}">
                <a16:creationId xmlns:a16="http://schemas.microsoft.com/office/drawing/2014/main" id="{157B6B9A-A9A3-407F-951E-EECDC589195B}"/>
              </a:ext>
            </a:extLst>
          </p:cNvPr>
          <p:cNvSpPr/>
          <p:nvPr/>
        </p:nvSpPr>
        <p:spPr>
          <a:xfrm>
            <a:off x="8622679" y="2316514"/>
            <a:ext cx="1343751" cy="464249"/>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Gill Sans Light"/>
              </a:rPr>
              <a:t>System Libs</a:t>
            </a:r>
          </a:p>
        </p:txBody>
      </p:sp>
    </p:spTree>
    <p:extLst>
      <p:ext uri="{BB962C8B-B14F-4D97-AF65-F5344CB8AC3E}">
        <p14:creationId xmlns:p14="http://schemas.microsoft.com/office/powerpoint/2010/main" val="203737351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4" presetClass="path" presetSubtype="0" fill="hold" nodeType="clickEffect">
                                  <p:stCondLst>
                                    <p:cond delay="0"/>
                                  </p:stCondLst>
                                  <p:childTnLst>
                                    <p:animMotion origin="layout" path="M 0 0 L 0.067 -0.04 C 0.081 -0.049 0.102 -0.054 0.124 -0.054 C 0.149 -0.054 0.169 -0.049 0.183 -0.04 L 0.25 0 E" pathEditMode="relative" ptsTypes="">
                                      <p:cBhvr>
                                        <p:cTn id="6" dur="1000" fill="hold"/>
                                        <p:tgtEl>
                                          <p:spTgt spid="10"/>
                                        </p:tgtEl>
                                        <p:attrNameLst>
                                          <p:attrName>ppt_x</p:attrName>
                                          <p:attrName>ppt_y</p:attrName>
                                        </p:attrNameLst>
                                      </p:cBhvr>
                                    </p:animMotion>
                                  </p:childTnLst>
                                </p:cTn>
                              </p:par>
                              <p:par>
                                <p:cTn id="7" presetID="53" presetClass="exit" presetSubtype="32" fill="hold" nodeType="withEffect">
                                  <p:stCondLst>
                                    <p:cond delay="0"/>
                                  </p:stCondLst>
                                  <p:childTnLst>
                                    <p:anim calcmode="lin" valueType="num">
                                      <p:cBhvr>
                                        <p:cTn id="8" dur="1000"/>
                                        <p:tgtEl>
                                          <p:spTgt spid="10"/>
                                        </p:tgtEl>
                                        <p:attrNameLst>
                                          <p:attrName>ppt_w</p:attrName>
                                        </p:attrNameLst>
                                      </p:cBhvr>
                                      <p:tavLst>
                                        <p:tav tm="0">
                                          <p:val>
                                            <p:strVal val="ppt_w"/>
                                          </p:val>
                                        </p:tav>
                                        <p:tav tm="100000">
                                          <p:val>
                                            <p:fltVal val="0"/>
                                          </p:val>
                                        </p:tav>
                                      </p:tavLst>
                                    </p:anim>
                                    <p:anim calcmode="lin" valueType="num">
                                      <p:cBhvr>
                                        <p:cTn id="9" dur="1000"/>
                                        <p:tgtEl>
                                          <p:spTgt spid="10"/>
                                        </p:tgtEl>
                                        <p:attrNameLst>
                                          <p:attrName>ppt_h</p:attrName>
                                        </p:attrNameLst>
                                      </p:cBhvr>
                                      <p:tavLst>
                                        <p:tav tm="0">
                                          <p:val>
                                            <p:strVal val="ppt_h"/>
                                          </p:val>
                                        </p:tav>
                                        <p:tav tm="100000">
                                          <p:val>
                                            <p:fltVal val="0"/>
                                          </p:val>
                                        </p:tav>
                                      </p:tavLst>
                                    </p:anim>
                                    <p:animEffect transition="out" filter="fade">
                                      <p:cBhvr>
                                        <p:cTn id="10" dur="1000"/>
                                        <p:tgtEl>
                                          <p:spTgt spid="10"/>
                                        </p:tgtEl>
                                      </p:cBhvr>
                                    </p:animEffect>
                                    <p:set>
                                      <p:cBhvr>
                                        <p:cTn id="11" dur="1" fill="hold">
                                          <p:stCondLst>
                                            <p:cond delay="999"/>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3193DD4-304A-4B76-81C9-FBF787FE779B}"/>
              </a:ext>
            </a:extLst>
          </p:cNvPr>
          <p:cNvSpPr/>
          <p:nvPr/>
        </p:nvSpPr>
        <p:spPr bwMode="auto">
          <a:xfrm>
            <a:off x="654050" y="4470400"/>
            <a:ext cx="11118850" cy="1689099"/>
          </a:xfrm>
          <a:prstGeom prst="rect">
            <a:avLst/>
          </a:prstGeom>
          <a:pattFill prst="horzBrick">
            <a:fgClr>
              <a:schemeClr val="bg2">
                <a:lumMod val="40000"/>
                <a:lumOff val="60000"/>
              </a:schemeClr>
            </a:fgClr>
            <a:bgClr>
              <a:prstClr val="white"/>
            </a:bgClr>
          </a:patt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dirty="0">
              <a:ln>
                <a:noFill/>
              </a:ln>
              <a:solidFill>
                <a:schemeClr val="tx1"/>
              </a:solidFill>
              <a:effectLst/>
              <a:latin typeface="Gill Sans Light"/>
            </a:endParaRPr>
          </a:p>
        </p:txBody>
      </p:sp>
      <p:grpSp>
        <p:nvGrpSpPr>
          <p:cNvPr id="19" name="Group 18">
            <a:extLst>
              <a:ext uri="{FF2B5EF4-FFF2-40B4-BE49-F238E27FC236}">
                <a16:creationId xmlns:a16="http://schemas.microsoft.com/office/drawing/2014/main" id="{E3801482-024B-4578-81D6-B8D5101ACF77}"/>
              </a:ext>
            </a:extLst>
          </p:cNvPr>
          <p:cNvGrpSpPr/>
          <p:nvPr/>
        </p:nvGrpSpPr>
        <p:grpSpPr>
          <a:xfrm>
            <a:off x="4432116" y="4603105"/>
            <a:ext cx="712053" cy="710043"/>
            <a:chOff x="4121335" y="2654300"/>
            <a:chExt cx="712053" cy="828477"/>
          </a:xfrm>
        </p:grpSpPr>
        <p:sp>
          <p:nvSpPr>
            <p:cNvPr id="20" name="Rectangle 19">
              <a:extLst>
                <a:ext uri="{FF2B5EF4-FFF2-40B4-BE49-F238E27FC236}">
                  <a16:creationId xmlns:a16="http://schemas.microsoft.com/office/drawing/2014/main" id="{5E4894ED-F264-49FF-B7AB-BA4E6C68158A}"/>
                </a:ext>
              </a:extLst>
            </p:cNvPr>
            <p:cNvSpPr/>
            <p:nvPr/>
          </p:nvSpPr>
          <p:spPr bwMode="auto">
            <a:xfrm>
              <a:off x="4178300" y="2720777"/>
              <a:ext cx="609598" cy="762000"/>
            </a:xfrm>
            <a:prstGeom prst="rect">
              <a:avLst/>
            </a:prstGeom>
            <a:solidFill>
              <a:schemeClr val="bg2"/>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sp>
          <p:nvSpPr>
            <p:cNvPr id="21" name="TextBox 20">
              <a:extLst>
                <a:ext uri="{FF2B5EF4-FFF2-40B4-BE49-F238E27FC236}">
                  <a16:creationId xmlns:a16="http://schemas.microsoft.com/office/drawing/2014/main" id="{C80A16C0-CBEC-4DD9-AD38-2EB7C3ECDF3A}"/>
                </a:ext>
              </a:extLst>
            </p:cNvPr>
            <p:cNvSpPr txBox="1"/>
            <p:nvPr/>
          </p:nvSpPr>
          <p:spPr>
            <a:xfrm>
              <a:off x="4121335" y="2654300"/>
              <a:ext cx="712053" cy="610492"/>
            </a:xfrm>
            <a:prstGeom prst="rect">
              <a:avLst/>
            </a:prstGeom>
            <a:noFill/>
          </p:spPr>
          <p:txBody>
            <a:bodyPr wrap="none" rtlCol="0">
              <a:spAutoFit/>
            </a:bodyPr>
            <a:lstStyle/>
            <a:p>
              <a:pPr algn="ctr"/>
              <a:r>
                <a:rPr lang="en-US" sz="1400" dirty="0" err="1">
                  <a:latin typeface="Gill Sans Light"/>
                </a:rPr>
                <a:t>PgTbl</a:t>
              </a:r>
              <a:endParaRPr lang="en-US" sz="1400" dirty="0">
                <a:latin typeface="Gill Sans Light"/>
              </a:endParaRPr>
            </a:p>
            <a:p>
              <a:pPr algn="ctr"/>
              <a:r>
                <a:rPr lang="en-US" sz="1400" dirty="0">
                  <a:latin typeface="Gill Sans Light"/>
                </a:rPr>
                <a:t>&amp; TLB</a:t>
              </a:r>
            </a:p>
          </p:txBody>
        </p:sp>
      </p:grpSp>
      <p:cxnSp>
        <p:nvCxnSpPr>
          <p:cNvPr id="22" name="Straight Arrow Connector 21">
            <a:extLst>
              <a:ext uri="{FF2B5EF4-FFF2-40B4-BE49-F238E27FC236}">
                <a16:creationId xmlns:a16="http://schemas.microsoft.com/office/drawing/2014/main" id="{52D33204-BC10-46FF-B132-F33C746DE9B8}"/>
              </a:ext>
            </a:extLst>
          </p:cNvPr>
          <p:cNvCxnSpPr>
            <a:cxnSpLocks/>
          </p:cNvCxnSpPr>
          <p:nvPr/>
        </p:nvCxnSpPr>
        <p:spPr bwMode="auto">
          <a:xfrm flipV="1">
            <a:off x="3930650" y="5232303"/>
            <a:ext cx="1273102" cy="2471"/>
          </a:xfrm>
          <a:prstGeom prst="straightConnector1">
            <a:avLst/>
          </a:prstGeom>
          <a:solidFill>
            <a:schemeClr val="accent1"/>
          </a:solidFill>
          <a:ln w="57150" cap="flat" cmpd="sng" algn="ctr">
            <a:solidFill>
              <a:schemeClr val="tx1"/>
            </a:solidFill>
            <a:prstDash val="solid"/>
            <a:round/>
            <a:headEnd type="triangle" w="med" len="med"/>
            <a:tailEnd type="triangle"/>
          </a:ln>
          <a:effectLst/>
        </p:spPr>
      </p:cxnSp>
      <p:sp>
        <p:nvSpPr>
          <p:cNvPr id="26" name="Can 38">
            <a:extLst>
              <a:ext uri="{FF2B5EF4-FFF2-40B4-BE49-F238E27FC236}">
                <a16:creationId xmlns:a16="http://schemas.microsoft.com/office/drawing/2014/main" id="{2D66A6BA-E078-4243-A542-4EDF0004EFC1}"/>
              </a:ext>
            </a:extLst>
          </p:cNvPr>
          <p:cNvSpPr/>
          <p:nvPr/>
        </p:nvSpPr>
        <p:spPr bwMode="auto">
          <a:xfrm>
            <a:off x="6978098" y="4601091"/>
            <a:ext cx="977900" cy="973138"/>
          </a:xfrm>
          <a:prstGeom prst="can">
            <a:avLst/>
          </a:prstGeom>
          <a:solidFill>
            <a:srgbClr val="5AAEFF"/>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600" dirty="0">
                <a:latin typeface="Gill Sans Light"/>
              </a:rPr>
              <a:t>Storage</a:t>
            </a:r>
            <a:endParaRPr kumimoji="0" lang="en-US" sz="1600" b="0" i="0" u="none" strike="noStrike" cap="none" normalizeH="0" baseline="0" dirty="0">
              <a:ln>
                <a:noFill/>
              </a:ln>
              <a:solidFill>
                <a:schemeClr val="tx1"/>
              </a:solidFill>
              <a:effectLst/>
              <a:latin typeface="Gill Sans Light"/>
            </a:endParaRPr>
          </a:p>
        </p:txBody>
      </p:sp>
      <p:pic>
        <p:nvPicPr>
          <p:cNvPr id="27" name="Picture 26">
            <a:extLst>
              <a:ext uri="{FF2B5EF4-FFF2-40B4-BE49-F238E27FC236}">
                <a16:creationId xmlns:a16="http://schemas.microsoft.com/office/drawing/2014/main" id="{57205715-3232-4739-82EE-E1D9E0C153A6}"/>
              </a:ext>
            </a:extLst>
          </p:cNvPr>
          <p:cNvPicPr>
            <a:picLocks noChangeAspect="1"/>
          </p:cNvPicPr>
          <p:nvPr/>
        </p:nvPicPr>
        <p:blipFill>
          <a:blip r:embed="rId2">
            <a:clrChange>
              <a:clrFrom>
                <a:srgbClr val="FFFFFF"/>
              </a:clrFrom>
              <a:clrTo>
                <a:srgbClr val="FFFFFF">
                  <a:alpha val="0"/>
                </a:srgbClr>
              </a:clrTo>
            </a:clrChange>
          </a:blip>
          <a:stretch>
            <a:fillRect/>
          </a:stretch>
        </p:blipFill>
        <p:spPr>
          <a:xfrm flipH="1">
            <a:off x="8302804" y="4559299"/>
            <a:ext cx="1270482" cy="1270482"/>
          </a:xfrm>
          <a:prstGeom prst="rect">
            <a:avLst/>
          </a:prstGeom>
        </p:spPr>
      </p:pic>
      <p:sp>
        <p:nvSpPr>
          <p:cNvPr id="31" name="TextBox 30">
            <a:extLst>
              <a:ext uri="{FF2B5EF4-FFF2-40B4-BE49-F238E27FC236}">
                <a16:creationId xmlns:a16="http://schemas.microsoft.com/office/drawing/2014/main" id="{A8A63F55-8F57-4FCF-A466-B7ABFA7D293F}"/>
              </a:ext>
            </a:extLst>
          </p:cNvPr>
          <p:cNvSpPr txBox="1"/>
          <p:nvPr/>
        </p:nvSpPr>
        <p:spPr>
          <a:xfrm>
            <a:off x="8315784" y="4518076"/>
            <a:ext cx="1107996" cy="338554"/>
          </a:xfrm>
          <a:prstGeom prst="rect">
            <a:avLst/>
          </a:prstGeom>
          <a:noFill/>
        </p:spPr>
        <p:txBody>
          <a:bodyPr wrap="none" rtlCol="0">
            <a:spAutoFit/>
          </a:bodyPr>
          <a:lstStyle/>
          <a:p>
            <a:pPr algn="ctr"/>
            <a:r>
              <a:rPr lang="en-US" sz="1600" dirty="0">
                <a:latin typeface="Gill Sans Light"/>
              </a:rPr>
              <a:t>Networks</a:t>
            </a:r>
          </a:p>
        </p:txBody>
      </p:sp>
      <p:sp>
        <p:nvSpPr>
          <p:cNvPr id="34" name="TextBox 33">
            <a:extLst>
              <a:ext uri="{FF2B5EF4-FFF2-40B4-BE49-F238E27FC236}">
                <a16:creationId xmlns:a16="http://schemas.microsoft.com/office/drawing/2014/main" id="{5A2B64A6-5DE4-40BC-B41E-052C2DBBB4E8}"/>
              </a:ext>
            </a:extLst>
          </p:cNvPr>
          <p:cNvSpPr txBox="1"/>
          <p:nvPr/>
        </p:nvSpPr>
        <p:spPr>
          <a:xfrm>
            <a:off x="631271" y="4919941"/>
            <a:ext cx="1353256" cy="400110"/>
          </a:xfrm>
          <a:prstGeom prst="rect">
            <a:avLst/>
          </a:prstGeom>
          <a:noFill/>
        </p:spPr>
        <p:txBody>
          <a:bodyPr wrap="none" rtlCol="0">
            <a:spAutoFit/>
          </a:bodyPr>
          <a:lstStyle/>
          <a:p>
            <a:r>
              <a:rPr lang="en-US" sz="2000" dirty="0">
                <a:latin typeface="Gill Sans Light"/>
              </a:rPr>
              <a:t>Hardware</a:t>
            </a:r>
          </a:p>
        </p:txBody>
      </p:sp>
      <p:cxnSp>
        <p:nvCxnSpPr>
          <p:cNvPr id="39" name="Straight Arrow Connector 38">
            <a:extLst>
              <a:ext uri="{FF2B5EF4-FFF2-40B4-BE49-F238E27FC236}">
                <a16:creationId xmlns:a16="http://schemas.microsoft.com/office/drawing/2014/main" id="{44B237A5-A629-47CA-A0F4-6D264547B1E9}"/>
              </a:ext>
            </a:extLst>
          </p:cNvPr>
          <p:cNvCxnSpPr>
            <a:cxnSpLocks/>
            <a:endCxn id="26" idx="3"/>
          </p:cNvCxnSpPr>
          <p:nvPr/>
        </p:nvCxnSpPr>
        <p:spPr>
          <a:xfrm flipV="1">
            <a:off x="7467048" y="5574229"/>
            <a:ext cx="0" cy="331271"/>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AC006469-8BAB-4F3E-A8D9-EB19E5DDCFD3}"/>
              </a:ext>
            </a:extLst>
          </p:cNvPr>
          <p:cNvCxnSpPr>
            <a:cxnSpLocks/>
          </p:cNvCxnSpPr>
          <p:nvPr/>
        </p:nvCxnSpPr>
        <p:spPr>
          <a:xfrm flipV="1">
            <a:off x="8891831" y="5584848"/>
            <a:ext cx="0" cy="320652"/>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800CF464-6799-4EF1-A173-649974B69470}"/>
              </a:ext>
            </a:extLst>
          </p:cNvPr>
          <p:cNvCxnSpPr>
            <a:cxnSpLocks/>
          </p:cNvCxnSpPr>
          <p:nvPr/>
        </p:nvCxnSpPr>
        <p:spPr>
          <a:xfrm flipV="1">
            <a:off x="4308999" y="5234774"/>
            <a:ext cx="0" cy="670726"/>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077FE5F6-6698-44C8-949A-3B1FFA12825F}"/>
              </a:ext>
            </a:extLst>
          </p:cNvPr>
          <p:cNvCxnSpPr>
            <a:cxnSpLocks/>
            <a:endCxn id="56" idx="1"/>
          </p:cNvCxnSpPr>
          <p:nvPr/>
        </p:nvCxnSpPr>
        <p:spPr>
          <a:xfrm>
            <a:off x="4105518" y="5911715"/>
            <a:ext cx="1091231" cy="0"/>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56" name="Rectangle 55">
            <a:extLst>
              <a:ext uri="{FF2B5EF4-FFF2-40B4-BE49-F238E27FC236}">
                <a16:creationId xmlns:a16="http://schemas.microsoft.com/office/drawing/2014/main" id="{0182EB5C-4F86-416A-B81D-EA223AEB393C}"/>
              </a:ext>
            </a:extLst>
          </p:cNvPr>
          <p:cNvSpPr/>
          <p:nvPr/>
        </p:nvSpPr>
        <p:spPr bwMode="auto">
          <a:xfrm>
            <a:off x="5196749" y="5765133"/>
            <a:ext cx="1044306" cy="293164"/>
          </a:xfrm>
          <a:prstGeom prst="rect">
            <a:avLst/>
          </a:prstGeom>
          <a:no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400" b="0" i="0" u="none" strike="noStrike" cap="none" normalizeH="0" baseline="0" dirty="0">
                <a:ln>
                  <a:noFill/>
                </a:ln>
                <a:solidFill>
                  <a:schemeClr val="tx1"/>
                </a:solidFill>
                <a:effectLst/>
                <a:latin typeface="Gill Sans Light"/>
              </a:rPr>
              <a:t>I/O </a:t>
            </a:r>
            <a:r>
              <a:rPr kumimoji="0" lang="en-US" sz="1400" b="0" i="0" u="none" strike="noStrike" cap="none" normalizeH="0" baseline="0" dirty="0" err="1">
                <a:ln>
                  <a:noFill/>
                </a:ln>
                <a:solidFill>
                  <a:schemeClr val="tx1"/>
                </a:solidFill>
                <a:effectLst/>
                <a:latin typeface="Gill Sans Light"/>
              </a:rPr>
              <a:t>Ctrlr</a:t>
            </a:r>
            <a:endParaRPr kumimoji="0" lang="en-US" sz="1400" b="0" i="0" u="none" strike="noStrike" cap="none" normalizeH="0" baseline="0" dirty="0">
              <a:ln>
                <a:noFill/>
              </a:ln>
              <a:solidFill>
                <a:schemeClr val="tx1"/>
              </a:solidFill>
              <a:effectLst/>
              <a:latin typeface="Gill Sans Light"/>
            </a:endParaRPr>
          </a:p>
        </p:txBody>
      </p:sp>
      <p:cxnSp>
        <p:nvCxnSpPr>
          <p:cNvPr id="59" name="Straight Arrow Connector 58">
            <a:extLst>
              <a:ext uri="{FF2B5EF4-FFF2-40B4-BE49-F238E27FC236}">
                <a16:creationId xmlns:a16="http://schemas.microsoft.com/office/drawing/2014/main" id="{7CEF80FD-C99C-4106-86FD-C44623EF6D66}"/>
              </a:ext>
            </a:extLst>
          </p:cNvPr>
          <p:cNvCxnSpPr>
            <a:cxnSpLocks/>
            <a:stCxn id="56" idx="3"/>
          </p:cNvCxnSpPr>
          <p:nvPr/>
        </p:nvCxnSpPr>
        <p:spPr>
          <a:xfrm flipV="1">
            <a:off x="6241055" y="5905500"/>
            <a:ext cx="5145949" cy="0"/>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8C42E879-B352-4CB0-9045-9528A742E94C}"/>
              </a:ext>
            </a:extLst>
          </p:cNvPr>
          <p:cNvSpPr txBox="1"/>
          <p:nvPr/>
        </p:nvSpPr>
        <p:spPr>
          <a:xfrm>
            <a:off x="861699" y="4314038"/>
            <a:ext cx="1494531" cy="338554"/>
          </a:xfrm>
          <a:prstGeom prst="rect">
            <a:avLst/>
          </a:prstGeom>
          <a:solidFill>
            <a:srgbClr val="EFE683"/>
          </a:solidFill>
          <a:ln>
            <a:solidFill>
              <a:schemeClr val="tx1"/>
            </a:solidFill>
          </a:ln>
        </p:spPr>
        <p:txBody>
          <a:bodyPr wrap="square" rtlCol="0">
            <a:spAutoFit/>
          </a:bodyPr>
          <a:lstStyle/>
          <a:p>
            <a:pPr algn="ctr"/>
            <a:r>
              <a:rPr lang="en-US" sz="1600" b="1" i="1" dirty="0">
                <a:latin typeface="Gill Sans Light"/>
              </a:rPr>
              <a:t>ISA</a:t>
            </a:r>
          </a:p>
        </p:txBody>
      </p:sp>
      <p:sp>
        <p:nvSpPr>
          <p:cNvPr id="63" name="Rectangle 62">
            <a:extLst>
              <a:ext uri="{FF2B5EF4-FFF2-40B4-BE49-F238E27FC236}">
                <a16:creationId xmlns:a16="http://schemas.microsoft.com/office/drawing/2014/main" id="{CA91FAA7-997F-463D-B0E7-ECB8FF4BD25C}"/>
              </a:ext>
            </a:extLst>
          </p:cNvPr>
          <p:cNvSpPr/>
          <p:nvPr/>
        </p:nvSpPr>
        <p:spPr>
          <a:xfrm>
            <a:off x="1955800" y="3595554"/>
            <a:ext cx="9753601" cy="936847"/>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latin typeface="Gill Sans Light"/>
              </a:rPr>
              <a:t>Operating System</a:t>
            </a:r>
          </a:p>
        </p:txBody>
      </p:sp>
      <p:sp>
        <p:nvSpPr>
          <p:cNvPr id="84" name="Rectangle 83">
            <a:extLst>
              <a:ext uri="{FF2B5EF4-FFF2-40B4-BE49-F238E27FC236}">
                <a16:creationId xmlns:a16="http://schemas.microsoft.com/office/drawing/2014/main" id="{87B4BF93-F38E-482C-92DA-97BF83D39E26}"/>
              </a:ext>
            </a:extLst>
          </p:cNvPr>
          <p:cNvSpPr/>
          <p:nvPr/>
        </p:nvSpPr>
        <p:spPr>
          <a:xfrm>
            <a:off x="419100" y="2710529"/>
            <a:ext cx="1417802" cy="1493074"/>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Gill Sans Light"/>
              </a:rPr>
              <a:t>Compiler</a:t>
            </a:r>
          </a:p>
        </p:txBody>
      </p:sp>
      <p:sp>
        <p:nvSpPr>
          <p:cNvPr id="45" name="Rectangle 44">
            <a:extLst>
              <a:ext uri="{FF2B5EF4-FFF2-40B4-BE49-F238E27FC236}">
                <a16:creationId xmlns:a16="http://schemas.microsoft.com/office/drawing/2014/main" id="{3EFB73E7-29AB-4311-90E8-B9325E17083A}"/>
              </a:ext>
            </a:extLst>
          </p:cNvPr>
          <p:cNvSpPr/>
          <p:nvPr/>
        </p:nvSpPr>
        <p:spPr>
          <a:xfrm>
            <a:off x="0" y="1860550"/>
            <a:ext cx="12192000" cy="4692650"/>
          </a:xfrm>
          <a:prstGeom prst="rect">
            <a:avLst/>
          </a:pr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Gill Sans Light"/>
            </a:endParaRPr>
          </a:p>
        </p:txBody>
      </p:sp>
      <p:sp>
        <p:nvSpPr>
          <p:cNvPr id="2" name="Title 1">
            <a:extLst>
              <a:ext uri="{FF2B5EF4-FFF2-40B4-BE49-F238E27FC236}">
                <a16:creationId xmlns:a16="http://schemas.microsoft.com/office/drawing/2014/main" id="{2735C77F-660A-43A3-8126-43A0F77E49F3}"/>
              </a:ext>
            </a:extLst>
          </p:cNvPr>
          <p:cNvSpPr>
            <a:spLocks noGrp="1"/>
          </p:cNvSpPr>
          <p:nvPr>
            <p:ph type="title"/>
          </p:nvPr>
        </p:nvSpPr>
        <p:spPr/>
        <p:txBody>
          <a:bodyPr/>
          <a:lstStyle/>
          <a:p>
            <a:r>
              <a:rPr lang="en-US" dirty="0"/>
              <a:t>OS Basics: Switching Processes</a:t>
            </a:r>
          </a:p>
        </p:txBody>
      </p:sp>
      <p:sp>
        <p:nvSpPr>
          <p:cNvPr id="8" name="Rounded Rectangle 6">
            <a:extLst>
              <a:ext uri="{FF2B5EF4-FFF2-40B4-BE49-F238E27FC236}">
                <a16:creationId xmlns:a16="http://schemas.microsoft.com/office/drawing/2014/main" id="{EA9B6AFF-D750-4502-865E-E3737510EED0}"/>
              </a:ext>
            </a:extLst>
          </p:cNvPr>
          <p:cNvSpPr/>
          <p:nvPr/>
        </p:nvSpPr>
        <p:spPr bwMode="auto">
          <a:xfrm>
            <a:off x="2201858" y="4618038"/>
            <a:ext cx="1728792" cy="838200"/>
          </a:xfrm>
          <a:prstGeom prst="roundRect">
            <a:avLst/>
          </a:prstGeom>
          <a:solidFill>
            <a:schemeClr val="accent1">
              <a:lumMod val="40000"/>
              <a:lumOff val="6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Gill Sans Light"/>
              </a:rPr>
              <a:t>Processor</a:t>
            </a:r>
            <a:endParaRPr kumimoji="0" lang="en-US" sz="1400" b="0" i="0" u="none" strike="noStrike" cap="none" normalizeH="0" baseline="0" dirty="0">
              <a:ln>
                <a:noFill/>
              </a:ln>
              <a:solidFill>
                <a:schemeClr val="tx1"/>
              </a:solidFill>
              <a:effectLst/>
              <a:latin typeface="Gill Sans Light"/>
            </a:endParaRPr>
          </a:p>
        </p:txBody>
      </p:sp>
      <p:sp>
        <p:nvSpPr>
          <p:cNvPr id="9" name="Rectangle 8">
            <a:extLst>
              <a:ext uri="{FF2B5EF4-FFF2-40B4-BE49-F238E27FC236}">
                <a16:creationId xmlns:a16="http://schemas.microsoft.com/office/drawing/2014/main" id="{85025C03-FC2A-4CCF-8684-4F37D94D3763}"/>
              </a:ext>
            </a:extLst>
          </p:cNvPr>
          <p:cNvSpPr/>
          <p:nvPr/>
        </p:nvSpPr>
        <p:spPr bwMode="auto">
          <a:xfrm>
            <a:off x="5009666" y="4664869"/>
            <a:ext cx="1760608" cy="973138"/>
          </a:xfrm>
          <a:prstGeom prst="rect">
            <a:avLst/>
          </a:prstGeom>
          <a:solidFill>
            <a:srgbClr val="5AAEFF"/>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Gill Sans Light"/>
              </a:rPr>
              <a:t>Memory</a:t>
            </a:r>
          </a:p>
        </p:txBody>
      </p:sp>
      <p:grpSp>
        <p:nvGrpSpPr>
          <p:cNvPr id="10" name="Group 9">
            <a:extLst>
              <a:ext uri="{FF2B5EF4-FFF2-40B4-BE49-F238E27FC236}">
                <a16:creationId xmlns:a16="http://schemas.microsoft.com/office/drawing/2014/main" id="{4C2174B6-519D-44F7-A8CB-C9D9304FB602}"/>
              </a:ext>
            </a:extLst>
          </p:cNvPr>
          <p:cNvGrpSpPr/>
          <p:nvPr/>
        </p:nvGrpSpPr>
        <p:grpSpPr>
          <a:xfrm>
            <a:off x="3244850" y="5075238"/>
            <a:ext cx="533400" cy="304800"/>
            <a:chOff x="3124200" y="3657600"/>
            <a:chExt cx="533400" cy="304800"/>
          </a:xfrm>
          <a:solidFill>
            <a:schemeClr val="accent6"/>
          </a:solidFill>
        </p:grpSpPr>
        <p:sp>
          <p:nvSpPr>
            <p:cNvPr id="11" name="Rectangle 10">
              <a:extLst>
                <a:ext uri="{FF2B5EF4-FFF2-40B4-BE49-F238E27FC236}">
                  <a16:creationId xmlns:a16="http://schemas.microsoft.com/office/drawing/2014/main" id="{EFBA6894-B008-4F1D-B22C-730173B3DFD4}"/>
                </a:ext>
              </a:extLst>
            </p:cNvPr>
            <p:cNvSpPr/>
            <p:nvPr/>
          </p:nvSpPr>
          <p:spPr bwMode="auto">
            <a:xfrm>
              <a:off x="3124200" y="3657600"/>
              <a:ext cx="533400" cy="304800"/>
            </a:xfrm>
            <a:prstGeom prst="rect">
              <a:avLst/>
            </a:prstGeom>
            <a:grp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sp>
          <p:nvSpPr>
            <p:cNvPr id="12" name="Rectangle 11">
              <a:extLst>
                <a:ext uri="{FF2B5EF4-FFF2-40B4-BE49-F238E27FC236}">
                  <a16:creationId xmlns:a16="http://schemas.microsoft.com/office/drawing/2014/main" id="{F6B854A3-399D-4E47-BB10-B204E22F6207}"/>
                </a:ext>
              </a:extLst>
            </p:cNvPr>
            <p:cNvSpPr/>
            <p:nvPr/>
          </p:nvSpPr>
          <p:spPr bwMode="auto">
            <a:xfrm>
              <a:off x="3124200" y="3733800"/>
              <a:ext cx="533400" cy="152400"/>
            </a:xfrm>
            <a:prstGeom prst="rect">
              <a:avLst/>
            </a:prstGeom>
            <a:grp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grpSp>
      <p:sp>
        <p:nvSpPr>
          <p:cNvPr id="16" name="Rectangle 15">
            <a:extLst>
              <a:ext uri="{FF2B5EF4-FFF2-40B4-BE49-F238E27FC236}">
                <a16:creationId xmlns:a16="http://schemas.microsoft.com/office/drawing/2014/main" id="{7114092D-E1CB-4952-8CAA-BD6429870DAC}"/>
              </a:ext>
            </a:extLst>
          </p:cNvPr>
          <p:cNvSpPr/>
          <p:nvPr/>
        </p:nvSpPr>
        <p:spPr bwMode="auto">
          <a:xfrm>
            <a:off x="5683893" y="5188015"/>
            <a:ext cx="412153" cy="387428"/>
          </a:xfrm>
          <a:prstGeom prst="rect">
            <a:avLst/>
          </a:prstGeom>
          <a:solidFill>
            <a:schemeClr val="accent6"/>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sp>
        <p:nvSpPr>
          <p:cNvPr id="13" name="Rectangle 12">
            <a:extLst>
              <a:ext uri="{FF2B5EF4-FFF2-40B4-BE49-F238E27FC236}">
                <a16:creationId xmlns:a16="http://schemas.microsoft.com/office/drawing/2014/main" id="{4A1809EB-73C2-4CF6-B753-8F1B20E63381}"/>
              </a:ext>
            </a:extLst>
          </p:cNvPr>
          <p:cNvSpPr/>
          <p:nvPr/>
        </p:nvSpPr>
        <p:spPr bwMode="auto">
          <a:xfrm>
            <a:off x="5171349" y="5188015"/>
            <a:ext cx="447915" cy="396832"/>
          </a:xfrm>
          <a:prstGeom prst="rect">
            <a:avLst/>
          </a:prstGeom>
          <a:solidFill>
            <a:srgbClr val="9E7800"/>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cxnSp>
        <p:nvCxnSpPr>
          <p:cNvPr id="17" name="Curved Connector 54">
            <a:extLst>
              <a:ext uri="{FF2B5EF4-FFF2-40B4-BE49-F238E27FC236}">
                <a16:creationId xmlns:a16="http://schemas.microsoft.com/office/drawing/2014/main" id="{1C7D6572-FBEF-45D3-B9EB-4A6924279104}"/>
              </a:ext>
            </a:extLst>
          </p:cNvPr>
          <p:cNvCxnSpPr>
            <a:cxnSpLocks/>
          </p:cNvCxnSpPr>
          <p:nvPr/>
        </p:nvCxnSpPr>
        <p:spPr bwMode="auto">
          <a:xfrm>
            <a:off x="3600451" y="5265655"/>
            <a:ext cx="1775551" cy="217481"/>
          </a:xfrm>
          <a:prstGeom prst="curvedConnector3">
            <a:avLst>
              <a:gd name="adj1" fmla="val 23535"/>
            </a:avLst>
          </a:prstGeom>
          <a:solidFill>
            <a:schemeClr val="accent1"/>
          </a:solidFill>
          <a:ln w="22225" cap="flat" cmpd="sng" algn="ctr">
            <a:solidFill>
              <a:schemeClr val="tx1"/>
            </a:solidFill>
            <a:prstDash val="solid"/>
            <a:round/>
            <a:headEnd type="triangle" w="sm" len="sm"/>
            <a:tailEnd type="triangle"/>
          </a:ln>
          <a:effectLst/>
        </p:spPr>
      </p:cxnSp>
      <p:sp>
        <p:nvSpPr>
          <p:cNvPr id="80" name="Rectangle 79">
            <a:extLst>
              <a:ext uri="{FF2B5EF4-FFF2-40B4-BE49-F238E27FC236}">
                <a16:creationId xmlns:a16="http://schemas.microsoft.com/office/drawing/2014/main" id="{4838629E-2E3E-4207-99FE-90E9B77B1C43}"/>
              </a:ext>
            </a:extLst>
          </p:cNvPr>
          <p:cNvSpPr/>
          <p:nvPr/>
        </p:nvSpPr>
        <p:spPr>
          <a:xfrm>
            <a:off x="2187471" y="2710529"/>
            <a:ext cx="4568415" cy="936847"/>
          </a:xfrm>
          <a:prstGeom prst="rect">
            <a:avLst/>
          </a:prstGeom>
          <a:solidFill>
            <a:srgbClr val="9E78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1" dirty="0">
                <a:solidFill>
                  <a:schemeClr val="tx1"/>
                </a:solidFill>
                <a:latin typeface="Gill Sans Light"/>
              </a:rPr>
              <a:t>Process 1</a:t>
            </a:r>
          </a:p>
          <a:p>
            <a:pPr algn="ctr"/>
            <a:endParaRPr lang="en-US" sz="1200" dirty="0">
              <a:solidFill>
                <a:schemeClr val="tx1"/>
              </a:solidFill>
              <a:latin typeface="Gill Sans Light"/>
            </a:endParaRPr>
          </a:p>
        </p:txBody>
      </p:sp>
      <p:sp>
        <p:nvSpPr>
          <p:cNvPr id="72" name="TextBox 71">
            <a:extLst>
              <a:ext uri="{FF2B5EF4-FFF2-40B4-BE49-F238E27FC236}">
                <a16:creationId xmlns:a16="http://schemas.microsoft.com/office/drawing/2014/main" id="{E4897103-5196-4D83-8C50-ED908C0B63F9}"/>
              </a:ext>
            </a:extLst>
          </p:cNvPr>
          <p:cNvSpPr txBox="1"/>
          <p:nvPr/>
        </p:nvSpPr>
        <p:spPr>
          <a:xfrm>
            <a:off x="2245360" y="3396030"/>
            <a:ext cx="961390"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Threads</a:t>
            </a:r>
          </a:p>
        </p:txBody>
      </p:sp>
      <p:sp>
        <p:nvSpPr>
          <p:cNvPr id="73" name="Rectangle 72">
            <a:extLst>
              <a:ext uri="{FF2B5EF4-FFF2-40B4-BE49-F238E27FC236}">
                <a16:creationId xmlns:a16="http://schemas.microsoft.com/office/drawing/2014/main" id="{1F630E64-216C-4D30-9C27-5AEDDDA28456}"/>
              </a:ext>
            </a:extLst>
          </p:cNvPr>
          <p:cNvSpPr/>
          <p:nvPr/>
        </p:nvSpPr>
        <p:spPr bwMode="auto">
          <a:xfrm>
            <a:off x="6160675" y="5188015"/>
            <a:ext cx="470617" cy="380268"/>
          </a:xfrm>
          <a:prstGeom prst="rect">
            <a:avLst/>
          </a:prstGeom>
          <a:solidFill>
            <a:schemeClr val="bg2">
              <a:lumMod val="60000"/>
              <a:lumOff val="40000"/>
            </a:schemeClr>
          </a:solidFill>
          <a:ln w="12700" cap="flat" cmpd="sng" algn="ctr">
            <a:solidFill>
              <a:schemeClr val="tx1"/>
            </a:solidFill>
            <a:prstDash val="solid"/>
            <a:round/>
            <a:headEnd type="none" w="sm" len="sm"/>
            <a:tailEnd type="none" w="sm" len="sm"/>
          </a:ln>
          <a:effectLst/>
        </p:spPr>
        <p:txBody>
          <a:bodyPr vert="horz" wrap="square" lIns="0" tIns="45720" rIns="0" bIns="45720" numCol="1" rtlCol="0" anchor="ctr" anchorCtr="0" compatLnSpc="1">
            <a:prstTxWarp prst="textNoShape">
              <a:avLst/>
            </a:prstTxWarp>
          </a:bodyPr>
          <a:lstStyle/>
          <a:p>
            <a:pPr marL="0" marR="0" indent="0" algn="ctr" defTabSz="914400" rtl="0" eaLnBrk="0" fontAlgn="base" latinLnBrk="0" hangingPunct="0">
              <a:lnSpc>
                <a:spcPts val="16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Gill Sans Light"/>
              </a:rPr>
              <a:t>OS</a:t>
            </a:r>
          </a:p>
          <a:p>
            <a:pPr marL="0" marR="0" indent="0" algn="ctr" defTabSz="914400" rtl="0" eaLnBrk="0" fontAlgn="base" latinLnBrk="0" hangingPunct="0">
              <a:lnSpc>
                <a:spcPts val="1600"/>
              </a:lnSpc>
              <a:spcBef>
                <a:spcPct val="0"/>
              </a:spcBef>
              <a:spcAft>
                <a:spcPct val="0"/>
              </a:spcAft>
              <a:buClrTx/>
              <a:buSzTx/>
              <a:buFontTx/>
              <a:buNone/>
              <a:tabLst/>
            </a:pPr>
            <a:r>
              <a:rPr lang="en-US" sz="1200" dirty="0">
                <a:latin typeface="Gill Sans Light"/>
              </a:rPr>
              <a:t>Mem</a:t>
            </a:r>
            <a:endParaRPr kumimoji="0" lang="en-US" sz="1200" b="0" i="0" u="none" strike="noStrike" cap="none" normalizeH="0" baseline="0" dirty="0">
              <a:ln>
                <a:noFill/>
              </a:ln>
              <a:solidFill>
                <a:schemeClr val="tx1"/>
              </a:solidFill>
              <a:effectLst/>
              <a:latin typeface="Gill Sans Light"/>
            </a:endParaRPr>
          </a:p>
        </p:txBody>
      </p:sp>
      <p:sp>
        <p:nvSpPr>
          <p:cNvPr id="74" name="TextBox 73">
            <a:extLst>
              <a:ext uri="{FF2B5EF4-FFF2-40B4-BE49-F238E27FC236}">
                <a16:creationId xmlns:a16="http://schemas.microsoft.com/office/drawing/2014/main" id="{903AC2DB-5960-4CF0-B972-E1CDF92622A2}"/>
              </a:ext>
            </a:extLst>
          </p:cNvPr>
          <p:cNvSpPr txBox="1"/>
          <p:nvPr/>
        </p:nvSpPr>
        <p:spPr>
          <a:xfrm>
            <a:off x="3325648" y="3398740"/>
            <a:ext cx="1550862"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Address Spaces</a:t>
            </a:r>
          </a:p>
        </p:txBody>
      </p:sp>
      <p:sp>
        <p:nvSpPr>
          <p:cNvPr id="75" name="TextBox 74">
            <a:extLst>
              <a:ext uri="{FF2B5EF4-FFF2-40B4-BE49-F238E27FC236}">
                <a16:creationId xmlns:a16="http://schemas.microsoft.com/office/drawing/2014/main" id="{AD4C368E-047B-4BC3-8012-71A6CC7B5378}"/>
              </a:ext>
            </a:extLst>
          </p:cNvPr>
          <p:cNvSpPr txBox="1"/>
          <p:nvPr/>
        </p:nvSpPr>
        <p:spPr>
          <a:xfrm>
            <a:off x="5000552" y="3397972"/>
            <a:ext cx="683252"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Files</a:t>
            </a:r>
          </a:p>
        </p:txBody>
      </p:sp>
      <p:sp>
        <p:nvSpPr>
          <p:cNvPr id="76" name="TextBox 75">
            <a:extLst>
              <a:ext uri="{FF2B5EF4-FFF2-40B4-BE49-F238E27FC236}">
                <a16:creationId xmlns:a16="http://schemas.microsoft.com/office/drawing/2014/main" id="{8ED3D70A-C8B7-4AAE-8DB5-86A5FF23DEF3}"/>
              </a:ext>
            </a:extLst>
          </p:cNvPr>
          <p:cNvSpPr txBox="1"/>
          <p:nvPr/>
        </p:nvSpPr>
        <p:spPr>
          <a:xfrm>
            <a:off x="5814118" y="3397972"/>
            <a:ext cx="844624"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Sockets</a:t>
            </a:r>
          </a:p>
        </p:txBody>
      </p:sp>
      <p:sp>
        <p:nvSpPr>
          <p:cNvPr id="55" name="Rectangle 54">
            <a:extLst>
              <a:ext uri="{FF2B5EF4-FFF2-40B4-BE49-F238E27FC236}">
                <a16:creationId xmlns:a16="http://schemas.microsoft.com/office/drawing/2014/main" id="{0E783A07-C148-43C9-84E9-1E9884CF721E}"/>
              </a:ext>
            </a:extLst>
          </p:cNvPr>
          <p:cNvSpPr/>
          <p:nvPr/>
        </p:nvSpPr>
        <p:spPr>
          <a:xfrm>
            <a:off x="6933883" y="2710529"/>
            <a:ext cx="4568415" cy="936847"/>
          </a:xfrm>
          <a:prstGeom prst="rect">
            <a:avLst/>
          </a:prstGeom>
          <a:solidFill>
            <a:schemeClr val="accent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1" dirty="0">
                <a:solidFill>
                  <a:schemeClr val="tx1"/>
                </a:solidFill>
                <a:latin typeface="Gill Sans Light"/>
              </a:rPr>
              <a:t>Process 2</a:t>
            </a:r>
          </a:p>
          <a:p>
            <a:pPr algn="ctr"/>
            <a:endParaRPr lang="en-US" sz="1200" dirty="0">
              <a:solidFill>
                <a:schemeClr val="tx1"/>
              </a:solidFill>
              <a:latin typeface="Gill Sans Light"/>
            </a:endParaRPr>
          </a:p>
        </p:txBody>
      </p:sp>
      <p:sp>
        <p:nvSpPr>
          <p:cNvPr id="57" name="TextBox 56">
            <a:extLst>
              <a:ext uri="{FF2B5EF4-FFF2-40B4-BE49-F238E27FC236}">
                <a16:creationId xmlns:a16="http://schemas.microsoft.com/office/drawing/2014/main" id="{8FBCBFF2-102E-4AC2-AE4A-CC896E9B1E66}"/>
              </a:ext>
            </a:extLst>
          </p:cNvPr>
          <p:cNvSpPr txBox="1"/>
          <p:nvPr/>
        </p:nvSpPr>
        <p:spPr>
          <a:xfrm>
            <a:off x="6977384" y="3396030"/>
            <a:ext cx="961390"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Threads</a:t>
            </a:r>
          </a:p>
        </p:txBody>
      </p:sp>
      <p:sp>
        <p:nvSpPr>
          <p:cNvPr id="58" name="TextBox 57">
            <a:extLst>
              <a:ext uri="{FF2B5EF4-FFF2-40B4-BE49-F238E27FC236}">
                <a16:creationId xmlns:a16="http://schemas.microsoft.com/office/drawing/2014/main" id="{85A8239A-9FCD-46DB-B7DA-7EA11E27E672}"/>
              </a:ext>
            </a:extLst>
          </p:cNvPr>
          <p:cNvSpPr txBox="1"/>
          <p:nvPr/>
        </p:nvSpPr>
        <p:spPr>
          <a:xfrm>
            <a:off x="8057672" y="3398740"/>
            <a:ext cx="1550862"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Address Spaces</a:t>
            </a:r>
          </a:p>
        </p:txBody>
      </p:sp>
      <p:sp>
        <p:nvSpPr>
          <p:cNvPr id="60" name="TextBox 59">
            <a:extLst>
              <a:ext uri="{FF2B5EF4-FFF2-40B4-BE49-F238E27FC236}">
                <a16:creationId xmlns:a16="http://schemas.microsoft.com/office/drawing/2014/main" id="{D923F43D-F391-40F4-9D87-D4E37AAB7342}"/>
              </a:ext>
            </a:extLst>
          </p:cNvPr>
          <p:cNvSpPr txBox="1"/>
          <p:nvPr/>
        </p:nvSpPr>
        <p:spPr>
          <a:xfrm>
            <a:off x="9732576" y="3397972"/>
            <a:ext cx="683252"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Files</a:t>
            </a:r>
          </a:p>
        </p:txBody>
      </p:sp>
      <p:sp>
        <p:nvSpPr>
          <p:cNvPr id="61" name="TextBox 60">
            <a:extLst>
              <a:ext uri="{FF2B5EF4-FFF2-40B4-BE49-F238E27FC236}">
                <a16:creationId xmlns:a16="http://schemas.microsoft.com/office/drawing/2014/main" id="{9AB076CB-B81B-4687-8B6B-B76A3C75D037}"/>
              </a:ext>
            </a:extLst>
          </p:cNvPr>
          <p:cNvSpPr txBox="1"/>
          <p:nvPr/>
        </p:nvSpPr>
        <p:spPr>
          <a:xfrm>
            <a:off x="10546142" y="3397972"/>
            <a:ext cx="844624"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Sockets</a:t>
            </a:r>
          </a:p>
        </p:txBody>
      </p:sp>
      <p:sp>
        <p:nvSpPr>
          <p:cNvPr id="81" name="Rectangle: Folded Corner 80">
            <a:extLst>
              <a:ext uri="{FF2B5EF4-FFF2-40B4-BE49-F238E27FC236}">
                <a16:creationId xmlns:a16="http://schemas.microsoft.com/office/drawing/2014/main" id="{19183BC7-FF86-4959-8312-523AE576C3AF}"/>
              </a:ext>
            </a:extLst>
          </p:cNvPr>
          <p:cNvSpPr/>
          <p:nvPr/>
        </p:nvSpPr>
        <p:spPr>
          <a:xfrm>
            <a:off x="3539163" y="1372394"/>
            <a:ext cx="2014336" cy="1471720"/>
          </a:xfrm>
          <a:prstGeom prst="foldedCorner">
            <a:avLst>
              <a:gd name="adj" fmla="val 21333"/>
            </a:avLst>
          </a:prstGeom>
          <a:solidFill>
            <a:srgbClr val="9E7800"/>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2000" dirty="0">
                <a:solidFill>
                  <a:schemeClr val="tx1"/>
                </a:solidFill>
                <a:latin typeface="Gill Sans Light"/>
              </a:rPr>
              <a:t>Compiled</a:t>
            </a:r>
          </a:p>
          <a:p>
            <a:pPr algn="ctr"/>
            <a:r>
              <a:rPr lang="en-US" sz="2000" dirty="0">
                <a:solidFill>
                  <a:schemeClr val="tx1"/>
                </a:solidFill>
                <a:latin typeface="Gill Sans Light"/>
              </a:rPr>
              <a:t>Program 1</a:t>
            </a:r>
          </a:p>
        </p:txBody>
      </p:sp>
      <p:sp>
        <p:nvSpPr>
          <p:cNvPr id="83" name="Rectangle 82">
            <a:extLst>
              <a:ext uri="{FF2B5EF4-FFF2-40B4-BE49-F238E27FC236}">
                <a16:creationId xmlns:a16="http://schemas.microsoft.com/office/drawing/2014/main" id="{DCEED07B-2876-4266-8889-B6933456A2AD}"/>
              </a:ext>
            </a:extLst>
          </p:cNvPr>
          <p:cNvSpPr/>
          <p:nvPr/>
        </p:nvSpPr>
        <p:spPr>
          <a:xfrm>
            <a:off x="3801201" y="2322568"/>
            <a:ext cx="1343751" cy="464249"/>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Gill Sans Light"/>
              </a:rPr>
              <a:t>System Libs</a:t>
            </a:r>
          </a:p>
        </p:txBody>
      </p:sp>
      <p:sp>
        <p:nvSpPr>
          <p:cNvPr id="65" name="Rectangle: Folded Corner 64">
            <a:extLst>
              <a:ext uri="{FF2B5EF4-FFF2-40B4-BE49-F238E27FC236}">
                <a16:creationId xmlns:a16="http://schemas.microsoft.com/office/drawing/2014/main" id="{16EECD36-F398-4299-8CCB-C7B1EBF07062}"/>
              </a:ext>
            </a:extLst>
          </p:cNvPr>
          <p:cNvSpPr/>
          <p:nvPr/>
        </p:nvSpPr>
        <p:spPr>
          <a:xfrm>
            <a:off x="8375029" y="1366340"/>
            <a:ext cx="2014336" cy="1471720"/>
          </a:xfrm>
          <a:prstGeom prst="foldedCorner">
            <a:avLst>
              <a:gd name="adj" fmla="val 21333"/>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2000" dirty="0">
                <a:solidFill>
                  <a:schemeClr val="tx1"/>
                </a:solidFill>
                <a:latin typeface="Gill Sans Light"/>
              </a:rPr>
              <a:t>Compiled</a:t>
            </a:r>
          </a:p>
          <a:p>
            <a:pPr algn="ctr"/>
            <a:r>
              <a:rPr lang="en-US" sz="2000" dirty="0">
                <a:solidFill>
                  <a:schemeClr val="tx1"/>
                </a:solidFill>
                <a:latin typeface="Gill Sans Light"/>
              </a:rPr>
              <a:t>Program 2</a:t>
            </a:r>
          </a:p>
        </p:txBody>
      </p:sp>
      <p:sp>
        <p:nvSpPr>
          <p:cNvPr id="66" name="Rectangle 65">
            <a:extLst>
              <a:ext uri="{FF2B5EF4-FFF2-40B4-BE49-F238E27FC236}">
                <a16:creationId xmlns:a16="http://schemas.microsoft.com/office/drawing/2014/main" id="{157B6B9A-A9A3-407F-951E-EECDC589195B}"/>
              </a:ext>
            </a:extLst>
          </p:cNvPr>
          <p:cNvSpPr/>
          <p:nvPr/>
        </p:nvSpPr>
        <p:spPr>
          <a:xfrm>
            <a:off x="8622679" y="2316514"/>
            <a:ext cx="1343751" cy="464249"/>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Gill Sans Light"/>
              </a:rPr>
              <a:t>System Libs</a:t>
            </a:r>
          </a:p>
        </p:txBody>
      </p:sp>
    </p:spTree>
    <p:extLst>
      <p:ext uri="{BB962C8B-B14F-4D97-AF65-F5344CB8AC3E}">
        <p14:creationId xmlns:p14="http://schemas.microsoft.com/office/powerpoint/2010/main" val="343023661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1000" fill="hold"/>
                                        <p:tgtEl>
                                          <p:spTgt spid="10"/>
                                        </p:tgtEl>
                                        <p:attrNameLst>
                                          <p:attrName>ppt_w</p:attrName>
                                        </p:attrNameLst>
                                      </p:cBhvr>
                                      <p:tavLst>
                                        <p:tav tm="0">
                                          <p:val>
                                            <p:fltVal val="0"/>
                                          </p:val>
                                        </p:tav>
                                        <p:tav tm="100000">
                                          <p:val>
                                            <p:strVal val="#ppt_w"/>
                                          </p:val>
                                        </p:tav>
                                      </p:tavLst>
                                    </p:anim>
                                    <p:anim calcmode="lin" valueType="num">
                                      <p:cBhvr>
                                        <p:cTn id="8" dur="1000" fill="hold"/>
                                        <p:tgtEl>
                                          <p:spTgt spid="10"/>
                                        </p:tgtEl>
                                        <p:attrNameLst>
                                          <p:attrName>ppt_h</p:attrName>
                                        </p:attrNameLst>
                                      </p:cBhvr>
                                      <p:tavLst>
                                        <p:tav tm="0">
                                          <p:val>
                                            <p:fltVal val="0"/>
                                          </p:val>
                                        </p:tav>
                                        <p:tav tm="100000">
                                          <p:val>
                                            <p:strVal val="#ppt_h"/>
                                          </p:val>
                                        </p:tav>
                                      </p:tavLst>
                                    </p:anim>
                                    <p:animEffect transition="in" filter="fade">
                                      <p:cBhvr>
                                        <p:cTn id="9" dur="1000"/>
                                        <p:tgtEl>
                                          <p:spTgt spid="10"/>
                                        </p:tgtEl>
                                      </p:cBhvr>
                                    </p:animEffect>
                                  </p:childTnLst>
                                </p:cTn>
                              </p:par>
                              <p:par>
                                <p:cTn id="10" presetID="44" presetClass="path" presetSubtype="0" fill="hold" nodeType="withEffect">
                                  <p:stCondLst>
                                    <p:cond delay="0"/>
                                  </p:stCondLst>
                                  <p:childTnLst>
                                    <p:animMotion origin="layout" path="M 0 0 L 0.067 -0.04 C 0.081 -0.049 0.102 -0.054 0.124 -0.054 C 0.149 -0.054 0.169 -0.049 0.183 -0.04 L 0.25 0 E" pathEditMode="relative" ptsTypes="">
                                      <p:cBhvr>
                                        <p:cTn id="11" dur="1000" spd="-100000" fill="hold"/>
                                        <p:tgtEl>
                                          <p:spTgt spid="10"/>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3193DD4-304A-4B76-81C9-FBF787FE779B}"/>
              </a:ext>
            </a:extLst>
          </p:cNvPr>
          <p:cNvSpPr/>
          <p:nvPr/>
        </p:nvSpPr>
        <p:spPr bwMode="auto">
          <a:xfrm>
            <a:off x="654050" y="4470400"/>
            <a:ext cx="11118850" cy="1689099"/>
          </a:xfrm>
          <a:prstGeom prst="rect">
            <a:avLst/>
          </a:prstGeom>
          <a:pattFill prst="horzBrick">
            <a:fgClr>
              <a:schemeClr val="bg2">
                <a:lumMod val="40000"/>
                <a:lumOff val="60000"/>
              </a:schemeClr>
            </a:fgClr>
            <a:bgClr>
              <a:prstClr val="white"/>
            </a:bgClr>
          </a:patt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dirty="0">
              <a:ln>
                <a:noFill/>
              </a:ln>
              <a:solidFill>
                <a:schemeClr val="tx1"/>
              </a:solidFill>
              <a:effectLst/>
              <a:latin typeface="Gill Sans Light"/>
            </a:endParaRPr>
          </a:p>
        </p:txBody>
      </p:sp>
      <p:grpSp>
        <p:nvGrpSpPr>
          <p:cNvPr id="19" name="Group 18">
            <a:extLst>
              <a:ext uri="{FF2B5EF4-FFF2-40B4-BE49-F238E27FC236}">
                <a16:creationId xmlns:a16="http://schemas.microsoft.com/office/drawing/2014/main" id="{E3801482-024B-4578-81D6-B8D5101ACF77}"/>
              </a:ext>
            </a:extLst>
          </p:cNvPr>
          <p:cNvGrpSpPr/>
          <p:nvPr/>
        </p:nvGrpSpPr>
        <p:grpSpPr>
          <a:xfrm>
            <a:off x="4432116" y="4603105"/>
            <a:ext cx="712053" cy="710043"/>
            <a:chOff x="4121335" y="2654300"/>
            <a:chExt cx="712053" cy="828477"/>
          </a:xfrm>
        </p:grpSpPr>
        <p:sp>
          <p:nvSpPr>
            <p:cNvPr id="20" name="Rectangle 19">
              <a:extLst>
                <a:ext uri="{FF2B5EF4-FFF2-40B4-BE49-F238E27FC236}">
                  <a16:creationId xmlns:a16="http://schemas.microsoft.com/office/drawing/2014/main" id="{5E4894ED-F264-49FF-B7AB-BA4E6C68158A}"/>
                </a:ext>
              </a:extLst>
            </p:cNvPr>
            <p:cNvSpPr/>
            <p:nvPr/>
          </p:nvSpPr>
          <p:spPr bwMode="auto">
            <a:xfrm>
              <a:off x="4178300" y="2720777"/>
              <a:ext cx="609598" cy="762000"/>
            </a:xfrm>
            <a:prstGeom prst="rect">
              <a:avLst/>
            </a:prstGeom>
            <a:solidFill>
              <a:schemeClr val="bg2"/>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sp>
          <p:nvSpPr>
            <p:cNvPr id="21" name="TextBox 20">
              <a:extLst>
                <a:ext uri="{FF2B5EF4-FFF2-40B4-BE49-F238E27FC236}">
                  <a16:creationId xmlns:a16="http://schemas.microsoft.com/office/drawing/2014/main" id="{C80A16C0-CBEC-4DD9-AD38-2EB7C3ECDF3A}"/>
                </a:ext>
              </a:extLst>
            </p:cNvPr>
            <p:cNvSpPr txBox="1"/>
            <p:nvPr/>
          </p:nvSpPr>
          <p:spPr>
            <a:xfrm>
              <a:off x="4121335" y="2654300"/>
              <a:ext cx="712053" cy="610492"/>
            </a:xfrm>
            <a:prstGeom prst="rect">
              <a:avLst/>
            </a:prstGeom>
            <a:noFill/>
          </p:spPr>
          <p:txBody>
            <a:bodyPr wrap="none" rtlCol="0">
              <a:spAutoFit/>
            </a:bodyPr>
            <a:lstStyle/>
            <a:p>
              <a:pPr algn="ctr"/>
              <a:r>
                <a:rPr lang="en-US" sz="1400" dirty="0" err="1">
                  <a:latin typeface="Gill Sans Light"/>
                </a:rPr>
                <a:t>PgTbl</a:t>
              </a:r>
              <a:endParaRPr lang="en-US" sz="1400" dirty="0">
                <a:latin typeface="Gill Sans Light"/>
              </a:endParaRPr>
            </a:p>
            <a:p>
              <a:pPr algn="ctr"/>
              <a:r>
                <a:rPr lang="en-US" sz="1400" dirty="0">
                  <a:latin typeface="Gill Sans Light"/>
                </a:rPr>
                <a:t>&amp; TLB</a:t>
              </a:r>
            </a:p>
          </p:txBody>
        </p:sp>
      </p:grpSp>
      <p:cxnSp>
        <p:nvCxnSpPr>
          <p:cNvPr id="22" name="Straight Arrow Connector 21">
            <a:extLst>
              <a:ext uri="{FF2B5EF4-FFF2-40B4-BE49-F238E27FC236}">
                <a16:creationId xmlns:a16="http://schemas.microsoft.com/office/drawing/2014/main" id="{52D33204-BC10-46FF-B132-F33C746DE9B8}"/>
              </a:ext>
            </a:extLst>
          </p:cNvPr>
          <p:cNvCxnSpPr>
            <a:cxnSpLocks/>
          </p:cNvCxnSpPr>
          <p:nvPr/>
        </p:nvCxnSpPr>
        <p:spPr bwMode="auto">
          <a:xfrm flipV="1">
            <a:off x="3930650" y="5232303"/>
            <a:ext cx="1273102" cy="2471"/>
          </a:xfrm>
          <a:prstGeom prst="straightConnector1">
            <a:avLst/>
          </a:prstGeom>
          <a:solidFill>
            <a:schemeClr val="accent1"/>
          </a:solidFill>
          <a:ln w="57150" cap="flat" cmpd="sng" algn="ctr">
            <a:solidFill>
              <a:schemeClr val="tx1"/>
            </a:solidFill>
            <a:prstDash val="solid"/>
            <a:round/>
            <a:headEnd type="triangle" w="med" len="med"/>
            <a:tailEnd type="triangle"/>
          </a:ln>
          <a:effectLst/>
        </p:spPr>
      </p:cxnSp>
      <p:sp>
        <p:nvSpPr>
          <p:cNvPr id="26" name="Can 38">
            <a:extLst>
              <a:ext uri="{FF2B5EF4-FFF2-40B4-BE49-F238E27FC236}">
                <a16:creationId xmlns:a16="http://schemas.microsoft.com/office/drawing/2014/main" id="{2D66A6BA-E078-4243-A542-4EDF0004EFC1}"/>
              </a:ext>
            </a:extLst>
          </p:cNvPr>
          <p:cNvSpPr/>
          <p:nvPr/>
        </p:nvSpPr>
        <p:spPr bwMode="auto">
          <a:xfrm>
            <a:off x="6978098" y="4601091"/>
            <a:ext cx="977900" cy="973138"/>
          </a:xfrm>
          <a:prstGeom prst="can">
            <a:avLst/>
          </a:prstGeom>
          <a:solidFill>
            <a:srgbClr val="5AAEFF"/>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600" dirty="0">
                <a:latin typeface="Gill Sans Light"/>
              </a:rPr>
              <a:t>Storage</a:t>
            </a:r>
            <a:endParaRPr kumimoji="0" lang="en-US" sz="1600" b="0" i="0" u="none" strike="noStrike" cap="none" normalizeH="0" baseline="0" dirty="0">
              <a:ln>
                <a:noFill/>
              </a:ln>
              <a:solidFill>
                <a:schemeClr val="tx1"/>
              </a:solidFill>
              <a:effectLst/>
              <a:latin typeface="Gill Sans Light"/>
            </a:endParaRPr>
          </a:p>
        </p:txBody>
      </p:sp>
      <p:pic>
        <p:nvPicPr>
          <p:cNvPr id="27" name="Picture 26">
            <a:extLst>
              <a:ext uri="{FF2B5EF4-FFF2-40B4-BE49-F238E27FC236}">
                <a16:creationId xmlns:a16="http://schemas.microsoft.com/office/drawing/2014/main" id="{57205715-3232-4739-82EE-E1D9E0C153A6}"/>
              </a:ext>
            </a:extLst>
          </p:cNvPr>
          <p:cNvPicPr>
            <a:picLocks noChangeAspect="1"/>
          </p:cNvPicPr>
          <p:nvPr/>
        </p:nvPicPr>
        <p:blipFill>
          <a:blip r:embed="rId2">
            <a:clrChange>
              <a:clrFrom>
                <a:srgbClr val="FFFFFF"/>
              </a:clrFrom>
              <a:clrTo>
                <a:srgbClr val="FFFFFF">
                  <a:alpha val="0"/>
                </a:srgbClr>
              </a:clrTo>
            </a:clrChange>
          </a:blip>
          <a:stretch>
            <a:fillRect/>
          </a:stretch>
        </p:blipFill>
        <p:spPr>
          <a:xfrm flipH="1">
            <a:off x="8302804" y="4559299"/>
            <a:ext cx="1270482" cy="1270482"/>
          </a:xfrm>
          <a:prstGeom prst="rect">
            <a:avLst/>
          </a:prstGeom>
        </p:spPr>
      </p:pic>
      <p:sp>
        <p:nvSpPr>
          <p:cNvPr id="31" name="TextBox 30">
            <a:extLst>
              <a:ext uri="{FF2B5EF4-FFF2-40B4-BE49-F238E27FC236}">
                <a16:creationId xmlns:a16="http://schemas.microsoft.com/office/drawing/2014/main" id="{A8A63F55-8F57-4FCF-A466-B7ABFA7D293F}"/>
              </a:ext>
            </a:extLst>
          </p:cNvPr>
          <p:cNvSpPr txBox="1"/>
          <p:nvPr/>
        </p:nvSpPr>
        <p:spPr>
          <a:xfrm>
            <a:off x="8315784" y="4518076"/>
            <a:ext cx="1107996" cy="338554"/>
          </a:xfrm>
          <a:prstGeom prst="rect">
            <a:avLst/>
          </a:prstGeom>
          <a:noFill/>
        </p:spPr>
        <p:txBody>
          <a:bodyPr wrap="none" rtlCol="0">
            <a:spAutoFit/>
          </a:bodyPr>
          <a:lstStyle/>
          <a:p>
            <a:pPr algn="ctr"/>
            <a:r>
              <a:rPr lang="en-US" sz="1600" dirty="0">
                <a:latin typeface="Gill Sans Light"/>
              </a:rPr>
              <a:t>Networks</a:t>
            </a:r>
          </a:p>
        </p:txBody>
      </p:sp>
      <p:sp>
        <p:nvSpPr>
          <p:cNvPr id="34" name="TextBox 33">
            <a:extLst>
              <a:ext uri="{FF2B5EF4-FFF2-40B4-BE49-F238E27FC236}">
                <a16:creationId xmlns:a16="http://schemas.microsoft.com/office/drawing/2014/main" id="{5A2B64A6-5DE4-40BC-B41E-052C2DBBB4E8}"/>
              </a:ext>
            </a:extLst>
          </p:cNvPr>
          <p:cNvSpPr txBox="1"/>
          <p:nvPr/>
        </p:nvSpPr>
        <p:spPr>
          <a:xfrm>
            <a:off x="631271" y="4919941"/>
            <a:ext cx="1353256" cy="400110"/>
          </a:xfrm>
          <a:prstGeom prst="rect">
            <a:avLst/>
          </a:prstGeom>
          <a:noFill/>
        </p:spPr>
        <p:txBody>
          <a:bodyPr wrap="none" rtlCol="0">
            <a:spAutoFit/>
          </a:bodyPr>
          <a:lstStyle/>
          <a:p>
            <a:r>
              <a:rPr lang="en-US" sz="2000" dirty="0">
                <a:latin typeface="Gill Sans Light"/>
              </a:rPr>
              <a:t>Hardware</a:t>
            </a:r>
          </a:p>
        </p:txBody>
      </p:sp>
      <p:cxnSp>
        <p:nvCxnSpPr>
          <p:cNvPr id="39" name="Straight Arrow Connector 38">
            <a:extLst>
              <a:ext uri="{FF2B5EF4-FFF2-40B4-BE49-F238E27FC236}">
                <a16:creationId xmlns:a16="http://schemas.microsoft.com/office/drawing/2014/main" id="{44B237A5-A629-47CA-A0F4-6D264547B1E9}"/>
              </a:ext>
            </a:extLst>
          </p:cNvPr>
          <p:cNvCxnSpPr>
            <a:cxnSpLocks/>
            <a:endCxn id="26" idx="3"/>
          </p:cNvCxnSpPr>
          <p:nvPr/>
        </p:nvCxnSpPr>
        <p:spPr>
          <a:xfrm flipV="1">
            <a:off x="7467048" y="5574229"/>
            <a:ext cx="0" cy="331271"/>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AC006469-8BAB-4F3E-A8D9-EB19E5DDCFD3}"/>
              </a:ext>
            </a:extLst>
          </p:cNvPr>
          <p:cNvCxnSpPr>
            <a:cxnSpLocks/>
          </p:cNvCxnSpPr>
          <p:nvPr/>
        </p:nvCxnSpPr>
        <p:spPr>
          <a:xfrm flipV="1">
            <a:off x="8891831" y="5584848"/>
            <a:ext cx="0" cy="320652"/>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800CF464-6799-4EF1-A173-649974B69470}"/>
              </a:ext>
            </a:extLst>
          </p:cNvPr>
          <p:cNvCxnSpPr>
            <a:cxnSpLocks/>
          </p:cNvCxnSpPr>
          <p:nvPr/>
        </p:nvCxnSpPr>
        <p:spPr>
          <a:xfrm flipV="1">
            <a:off x="4308999" y="5234774"/>
            <a:ext cx="0" cy="670726"/>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077FE5F6-6698-44C8-949A-3B1FFA12825F}"/>
              </a:ext>
            </a:extLst>
          </p:cNvPr>
          <p:cNvCxnSpPr>
            <a:cxnSpLocks/>
            <a:endCxn id="56" idx="1"/>
          </p:cNvCxnSpPr>
          <p:nvPr/>
        </p:nvCxnSpPr>
        <p:spPr>
          <a:xfrm>
            <a:off x="4105518" y="5911715"/>
            <a:ext cx="1091231" cy="0"/>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56" name="Rectangle 55">
            <a:extLst>
              <a:ext uri="{FF2B5EF4-FFF2-40B4-BE49-F238E27FC236}">
                <a16:creationId xmlns:a16="http://schemas.microsoft.com/office/drawing/2014/main" id="{0182EB5C-4F86-416A-B81D-EA223AEB393C}"/>
              </a:ext>
            </a:extLst>
          </p:cNvPr>
          <p:cNvSpPr/>
          <p:nvPr/>
        </p:nvSpPr>
        <p:spPr bwMode="auto">
          <a:xfrm>
            <a:off x="5196749" y="5765133"/>
            <a:ext cx="1044306" cy="293164"/>
          </a:xfrm>
          <a:prstGeom prst="rect">
            <a:avLst/>
          </a:prstGeom>
          <a:no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400" b="0" i="0" u="none" strike="noStrike" cap="none" normalizeH="0" baseline="0" dirty="0">
                <a:ln>
                  <a:noFill/>
                </a:ln>
                <a:solidFill>
                  <a:schemeClr val="tx1"/>
                </a:solidFill>
                <a:effectLst/>
                <a:latin typeface="Gill Sans Light"/>
              </a:rPr>
              <a:t>I/O </a:t>
            </a:r>
            <a:r>
              <a:rPr kumimoji="0" lang="en-US" sz="1400" b="0" i="0" u="none" strike="noStrike" cap="none" normalizeH="0" baseline="0" dirty="0" err="1">
                <a:ln>
                  <a:noFill/>
                </a:ln>
                <a:solidFill>
                  <a:schemeClr val="tx1"/>
                </a:solidFill>
                <a:effectLst/>
                <a:latin typeface="Gill Sans Light"/>
              </a:rPr>
              <a:t>Ctrlr</a:t>
            </a:r>
            <a:endParaRPr kumimoji="0" lang="en-US" sz="1400" b="0" i="0" u="none" strike="noStrike" cap="none" normalizeH="0" baseline="0" dirty="0">
              <a:ln>
                <a:noFill/>
              </a:ln>
              <a:solidFill>
                <a:schemeClr val="tx1"/>
              </a:solidFill>
              <a:effectLst/>
              <a:latin typeface="Gill Sans Light"/>
            </a:endParaRPr>
          </a:p>
        </p:txBody>
      </p:sp>
      <p:cxnSp>
        <p:nvCxnSpPr>
          <p:cNvPr id="59" name="Straight Arrow Connector 58">
            <a:extLst>
              <a:ext uri="{FF2B5EF4-FFF2-40B4-BE49-F238E27FC236}">
                <a16:creationId xmlns:a16="http://schemas.microsoft.com/office/drawing/2014/main" id="{7CEF80FD-C99C-4106-86FD-C44623EF6D66}"/>
              </a:ext>
            </a:extLst>
          </p:cNvPr>
          <p:cNvCxnSpPr>
            <a:cxnSpLocks/>
            <a:stCxn id="56" idx="3"/>
          </p:cNvCxnSpPr>
          <p:nvPr/>
        </p:nvCxnSpPr>
        <p:spPr>
          <a:xfrm flipV="1">
            <a:off x="6241055" y="5905500"/>
            <a:ext cx="5145949" cy="0"/>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8C42E879-B352-4CB0-9045-9528A742E94C}"/>
              </a:ext>
            </a:extLst>
          </p:cNvPr>
          <p:cNvSpPr txBox="1"/>
          <p:nvPr/>
        </p:nvSpPr>
        <p:spPr>
          <a:xfrm>
            <a:off x="861699" y="4314038"/>
            <a:ext cx="1494531" cy="338554"/>
          </a:xfrm>
          <a:prstGeom prst="rect">
            <a:avLst/>
          </a:prstGeom>
          <a:solidFill>
            <a:srgbClr val="EFE683"/>
          </a:solidFill>
          <a:ln>
            <a:solidFill>
              <a:schemeClr val="tx1"/>
            </a:solidFill>
          </a:ln>
        </p:spPr>
        <p:txBody>
          <a:bodyPr wrap="square" rtlCol="0">
            <a:spAutoFit/>
          </a:bodyPr>
          <a:lstStyle/>
          <a:p>
            <a:pPr algn="ctr"/>
            <a:r>
              <a:rPr lang="en-US" sz="1600" b="1" i="1" dirty="0">
                <a:latin typeface="Gill Sans Light"/>
              </a:rPr>
              <a:t>ISA</a:t>
            </a:r>
          </a:p>
        </p:txBody>
      </p:sp>
      <p:sp>
        <p:nvSpPr>
          <p:cNvPr id="63" name="Rectangle 62">
            <a:extLst>
              <a:ext uri="{FF2B5EF4-FFF2-40B4-BE49-F238E27FC236}">
                <a16:creationId xmlns:a16="http://schemas.microsoft.com/office/drawing/2014/main" id="{CA91FAA7-997F-463D-B0E7-ECB8FF4BD25C}"/>
              </a:ext>
            </a:extLst>
          </p:cNvPr>
          <p:cNvSpPr/>
          <p:nvPr/>
        </p:nvSpPr>
        <p:spPr>
          <a:xfrm>
            <a:off x="1955800" y="3595554"/>
            <a:ext cx="9753601" cy="936847"/>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latin typeface="Gill Sans Light"/>
              </a:rPr>
              <a:t>Operating System</a:t>
            </a:r>
          </a:p>
        </p:txBody>
      </p:sp>
      <p:sp>
        <p:nvSpPr>
          <p:cNvPr id="84" name="Rectangle 83">
            <a:extLst>
              <a:ext uri="{FF2B5EF4-FFF2-40B4-BE49-F238E27FC236}">
                <a16:creationId xmlns:a16="http://schemas.microsoft.com/office/drawing/2014/main" id="{87B4BF93-F38E-482C-92DA-97BF83D39E26}"/>
              </a:ext>
            </a:extLst>
          </p:cNvPr>
          <p:cNvSpPr/>
          <p:nvPr/>
        </p:nvSpPr>
        <p:spPr>
          <a:xfrm>
            <a:off x="419100" y="2710529"/>
            <a:ext cx="1417802" cy="1493074"/>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Gill Sans Light"/>
              </a:rPr>
              <a:t>Compiler</a:t>
            </a:r>
          </a:p>
        </p:txBody>
      </p:sp>
      <p:sp>
        <p:nvSpPr>
          <p:cNvPr id="45" name="Rectangle 44">
            <a:extLst>
              <a:ext uri="{FF2B5EF4-FFF2-40B4-BE49-F238E27FC236}">
                <a16:creationId xmlns:a16="http://schemas.microsoft.com/office/drawing/2014/main" id="{3EFB73E7-29AB-4311-90E8-B9325E17083A}"/>
              </a:ext>
            </a:extLst>
          </p:cNvPr>
          <p:cNvSpPr/>
          <p:nvPr/>
        </p:nvSpPr>
        <p:spPr>
          <a:xfrm>
            <a:off x="0" y="1860550"/>
            <a:ext cx="12192000" cy="4692650"/>
          </a:xfrm>
          <a:prstGeom prst="rect">
            <a:avLst/>
          </a:pr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Gill Sans Light"/>
            </a:endParaRPr>
          </a:p>
        </p:txBody>
      </p:sp>
      <p:sp>
        <p:nvSpPr>
          <p:cNvPr id="2" name="Title 1">
            <a:extLst>
              <a:ext uri="{FF2B5EF4-FFF2-40B4-BE49-F238E27FC236}">
                <a16:creationId xmlns:a16="http://schemas.microsoft.com/office/drawing/2014/main" id="{2735C77F-660A-43A3-8126-43A0F77E49F3}"/>
              </a:ext>
            </a:extLst>
          </p:cNvPr>
          <p:cNvSpPr>
            <a:spLocks noGrp="1"/>
          </p:cNvSpPr>
          <p:nvPr>
            <p:ph type="title"/>
          </p:nvPr>
        </p:nvSpPr>
        <p:spPr/>
        <p:txBody>
          <a:bodyPr/>
          <a:lstStyle/>
          <a:p>
            <a:r>
              <a:rPr lang="en-US" dirty="0"/>
              <a:t>OS Basics: Switching Processes</a:t>
            </a:r>
          </a:p>
        </p:txBody>
      </p:sp>
      <p:sp>
        <p:nvSpPr>
          <p:cNvPr id="8" name="Rounded Rectangle 6">
            <a:extLst>
              <a:ext uri="{FF2B5EF4-FFF2-40B4-BE49-F238E27FC236}">
                <a16:creationId xmlns:a16="http://schemas.microsoft.com/office/drawing/2014/main" id="{EA9B6AFF-D750-4502-865E-E3737510EED0}"/>
              </a:ext>
            </a:extLst>
          </p:cNvPr>
          <p:cNvSpPr/>
          <p:nvPr/>
        </p:nvSpPr>
        <p:spPr bwMode="auto">
          <a:xfrm>
            <a:off x="2201858" y="4618038"/>
            <a:ext cx="1728792" cy="838200"/>
          </a:xfrm>
          <a:prstGeom prst="roundRect">
            <a:avLst/>
          </a:prstGeom>
          <a:solidFill>
            <a:schemeClr val="accent1">
              <a:lumMod val="40000"/>
              <a:lumOff val="6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Gill Sans Light"/>
              </a:rPr>
              <a:t>Processor</a:t>
            </a:r>
            <a:endParaRPr kumimoji="0" lang="en-US" sz="1400" b="0" i="0" u="none" strike="noStrike" cap="none" normalizeH="0" baseline="0" dirty="0">
              <a:ln>
                <a:noFill/>
              </a:ln>
              <a:solidFill>
                <a:schemeClr val="tx1"/>
              </a:solidFill>
              <a:effectLst/>
              <a:latin typeface="Gill Sans Light"/>
            </a:endParaRPr>
          </a:p>
        </p:txBody>
      </p:sp>
      <p:sp>
        <p:nvSpPr>
          <p:cNvPr id="9" name="Rectangle 8">
            <a:extLst>
              <a:ext uri="{FF2B5EF4-FFF2-40B4-BE49-F238E27FC236}">
                <a16:creationId xmlns:a16="http://schemas.microsoft.com/office/drawing/2014/main" id="{85025C03-FC2A-4CCF-8684-4F37D94D3763}"/>
              </a:ext>
            </a:extLst>
          </p:cNvPr>
          <p:cNvSpPr/>
          <p:nvPr/>
        </p:nvSpPr>
        <p:spPr bwMode="auto">
          <a:xfrm>
            <a:off x="5009666" y="4664869"/>
            <a:ext cx="1760608" cy="973138"/>
          </a:xfrm>
          <a:prstGeom prst="rect">
            <a:avLst/>
          </a:prstGeom>
          <a:solidFill>
            <a:srgbClr val="5AAEFF"/>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Gill Sans Light"/>
              </a:rPr>
              <a:t>Memory</a:t>
            </a:r>
          </a:p>
        </p:txBody>
      </p:sp>
      <p:grpSp>
        <p:nvGrpSpPr>
          <p:cNvPr id="10" name="Group 9">
            <a:extLst>
              <a:ext uri="{FF2B5EF4-FFF2-40B4-BE49-F238E27FC236}">
                <a16:creationId xmlns:a16="http://schemas.microsoft.com/office/drawing/2014/main" id="{4C2174B6-519D-44F7-A8CB-C9D9304FB602}"/>
              </a:ext>
            </a:extLst>
          </p:cNvPr>
          <p:cNvGrpSpPr/>
          <p:nvPr/>
        </p:nvGrpSpPr>
        <p:grpSpPr>
          <a:xfrm>
            <a:off x="3244850" y="5075238"/>
            <a:ext cx="533400" cy="304800"/>
            <a:chOff x="3124200" y="3657600"/>
            <a:chExt cx="533400" cy="304800"/>
          </a:xfrm>
          <a:solidFill>
            <a:schemeClr val="accent6"/>
          </a:solidFill>
        </p:grpSpPr>
        <p:sp>
          <p:nvSpPr>
            <p:cNvPr id="11" name="Rectangle 10">
              <a:extLst>
                <a:ext uri="{FF2B5EF4-FFF2-40B4-BE49-F238E27FC236}">
                  <a16:creationId xmlns:a16="http://schemas.microsoft.com/office/drawing/2014/main" id="{EFBA6894-B008-4F1D-B22C-730173B3DFD4}"/>
                </a:ext>
              </a:extLst>
            </p:cNvPr>
            <p:cNvSpPr/>
            <p:nvPr/>
          </p:nvSpPr>
          <p:spPr bwMode="auto">
            <a:xfrm>
              <a:off x="3124200" y="3657600"/>
              <a:ext cx="533400" cy="304800"/>
            </a:xfrm>
            <a:prstGeom prst="rect">
              <a:avLst/>
            </a:prstGeom>
            <a:grp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sp>
          <p:nvSpPr>
            <p:cNvPr id="12" name="Rectangle 11">
              <a:extLst>
                <a:ext uri="{FF2B5EF4-FFF2-40B4-BE49-F238E27FC236}">
                  <a16:creationId xmlns:a16="http://schemas.microsoft.com/office/drawing/2014/main" id="{F6B854A3-399D-4E47-BB10-B204E22F6207}"/>
                </a:ext>
              </a:extLst>
            </p:cNvPr>
            <p:cNvSpPr/>
            <p:nvPr/>
          </p:nvSpPr>
          <p:spPr bwMode="auto">
            <a:xfrm>
              <a:off x="3124200" y="3733800"/>
              <a:ext cx="533400" cy="152400"/>
            </a:xfrm>
            <a:prstGeom prst="rect">
              <a:avLst/>
            </a:prstGeom>
            <a:grp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grpSp>
      <p:sp>
        <p:nvSpPr>
          <p:cNvPr id="16" name="Rectangle 15">
            <a:extLst>
              <a:ext uri="{FF2B5EF4-FFF2-40B4-BE49-F238E27FC236}">
                <a16:creationId xmlns:a16="http://schemas.microsoft.com/office/drawing/2014/main" id="{7114092D-E1CB-4952-8CAA-BD6429870DAC}"/>
              </a:ext>
            </a:extLst>
          </p:cNvPr>
          <p:cNvSpPr/>
          <p:nvPr/>
        </p:nvSpPr>
        <p:spPr bwMode="auto">
          <a:xfrm>
            <a:off x="5683893" y="5188015"/>
            <a:ext cx="412153" cy="387428"/>
          </a:xfrm>
          <a:prstGeom prst="rect">
            <a:avLst/>
          </a:prstGeom>
          <a:solidFill>
            <a:schemeClr val="accent6"/>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sp>
        <p:nvSpPr>
          <p:cNvPr id="13" name="Rectangle 12">
            <a:extLst>
              <a:ext uri="{FF2B5EF4-FFF2-40B4-BE49-F238E27FC236}">
                <a16:creationId xmlns:a16="http://schemas.microsoft.com/office/drawing/2014/main" id="{4A1809EB-73C2-4CF6-B753-8F1B20E63381}"/>
              </a:ext>
            </a:extLst>
          </p:cNvPr>
          <p:cNvSpPr/>
          <p:nvPr/>
        </p:nvSpPr>
        <p:spPr bwMode="auto">
          <a:xfrm>
            <a:off x="5171349" y="5188015"/>
            <a:ext cx="447915" cy="396832"/>
          </a:xfrm>
          <a:prstGeom prst="rect">
            <a:avLst/>
          </a:prstGeom>
          <a:solidFill>
            <a:srgbClr val="9E7800"/>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cxnSp>
        <p:nvCxnSpPr>
          <p:cNvPr id="17" name="Curved Connector 54">
            <a:extLst>
              <a:ext uri="{FF2B5EF4-FFF2-40B4-BE49-F238E27FC236}">
                <a16:creationId xmlns:a16="http://schemas.microsoft.com/office/drawing/2014/main" id="{1C7D6572-FBEF-45D3-B9EB-4A6924279104}"/>
              </a:ext>
            </a:extLst>
          </p:cNvPr>
          <p:cNvCxnSpPr>
            <a:cxnSpLocks/>
          </p:cNvCxnSpPr>
          <p:nvPr/>
        </p:nvCxnSpPr>
        <p:spPr bwMode="auto">
          <a:xfrm>
            <a:off x="3600451" y="5265655"/>
            <a:ext cx="2324099" cy="177506"/>
          </a:xfrm>
          <a:prstGeom prst="curvedConnector3">
            <a:avLst>
              <a:gd name="adj1" fmla="val 50000"/>
            </a:avLst>
          </a:prstGeom>
          <a:solidFill>
            <a:schemeClr val="accent1"/>
          </a:solidFill>
          <a:ln w="22225" cap="flat" cmpd="sng" algn="ctr">
            <a:solidFill>
              <a:schemeClr val="tx1"/>
            </a:solidFill>
            <a:prstDash val="solid"/>
            <a:round/>
            <a:headEnd type="triangle" w="sm" len="sm"/>
            <a:tailEnd type="triangle"/>
          </a:ln>
          <a:effectLst/>
        </p:spPr>
      </p:cxnSp>
      <p:sp>
        <p:nvSpPr>
          <p:cNvPr id="80" name="Rectangle 79">
            <a:extLst>
              <a:ext uri="{FF2B5EF4-FFF2-40B4-BE49-F238E27FC236}">
                <a16:creationId xmlns:a16="http://schemas.microsoft.com/office/drawing/2014/main" id="{4838629E-2E3E-4207-99FE-90E9B77B1C43}"/>
              </a:ext>
            </a:extLst>
          </p:cNvPr>
          <p:cNvSpPr/>
          <p:nvPr/>
        </p:nvSpPr>
        <p:spPr>
          <a:xfrm>
            <a:off x="2187471" y="2710529"/>
            <a:ext cx="4568415" cy="936847"/>
          </a:xfrm>
          <a:prstGeom prst="rect">
            <a:avLst/>
          </a:prstGeom>
          <a:solidFill>
            <a:srgbClr val="9E78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1" dirty="0">
                <a:solidFill>
                  <a:schemeClr val="tx1"/>
                </a:solidFill>
                <a:latin typeface="Gill Sans Light"/>
              </a:rPr>
              <a:t>Process 1</a:t>
            </a:r>
          </a:p>
          <a:p>
            <a:pPr algn="ctr"/>
            <a:endParaRPr lang="en-US" sz="1200" dirty="0">
              <a:solidFill>
                <a:schemeClr val="tx1"/>
              </a:solidFill>
              <a:latin typeface="Gill Sans Light"/>
            </a:endParaRPr>
          </a:p>
        </p:txBody>
      </p:sp>
      <p:sp>
        <p:nvSpPr>
          <p:cNvPr id="72" name="TextBox 71">
            <a:extLst>
              <a:ext uri="{FF2B5EF4-FFF2-40B4-BE49-F238E27FC236}">
                <a16:creationId xmlns:a16="http://schemas.microsoft.com/office/drawing/2014/main" id="{E4897103-5196-4D83-8C50-ED908C0B63F9}"/>
              </a:ext>
            </a:extLst>
          </p:cNvPr>
          <p:cNvSpPr txBox="1"/>
          <p:nvPr/>
        </p:nvSpPr>
        <p:spPr>
          <a:xfrm>
            <a:off x="2245360" y="3396030"/>
            <a:ext cx="961390"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Threads</a:t>
            </a:r>
          </a:p>
        </p:txBody>
      </p:sp>
      <p:sp>
        <p:nvSpPr>
          <p:cNvPr id="73" name="Rectangle 72">
            <a:extLst>
              <a:ext uri="{FF2B5EF4-FFF2-40B4-BE49-F238E27FC236}">
                <a16:creationId xmlns:a16="http://schemas.microsoft.com/office/drawing/2014/main" id="{1F630E64-216C-4D30-9C27-5AEDDDA28456}"/>
              </a:ext>
            </a:extLst>
          </p:cNvPr>
          <p:cNvSpPr/>
          <p:nvPr/>
        </p:nvSpPr>
        <p:spPr bwMode="auto">
          <a:xfrm>
            <a:off x="6160675" y="5188015"/>
            <a:ext cx="470617" cy="380268"/>
          </a:xfrm>
          <a:prstGeom prst="rect">
            <a:avLst/>
          </a:prstGeom>
          <a:solidFill>
            <a:schemeClr val="bg2">
              <a:lumMod val="60000"/>
              <a:lumOff val="40000"/>
            </a:schemeClr>
          </a:solidFill>
          <a:ln w="12700" cap="flat" cmpd="sng" algn="ctr">
            <a:solidFill>
              <a:schemeClr val="tx1"/>
            </a:solidFill>
            <a:prstDash val="solid"/>
            <a:round/>
            <a:headEnd type="none" w="sm" len="sm"/>
            <a:tailEnd type="none" w="sm" len="sm"/>
          </a:ln>
          <a:effectLst/>
        </p:spPr>
        <p:txBody>
          <a:bodyPr vert="horz" wrap="square" lIns="0" tIns="45720" rIns="0" bIns="45720" numCol="1" rtlCol="0" anchor="ctr" anchorCtr="0" compatLnSpc="1">
            <a:prstTxWarp prst="textNoShape">
              <a:avLst/>
            </a:prstTxWarp>
          </a:bodyPr>
          <a:lstStyle/>
          <a:p>
            <a:pPr marL="0" marR="0" indent="0" algn="ctr" defTabSz="914400" rtl="0" eaLnBrk="0" fontAlgn="base" latinLnBrk="0" hangingPunct="0">
              <a:lnSpc>
                <a:spcPts val="16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Gill Sans Light"/>
              </a:rPr>
              <a:t>OS</a:t>
            </a:r>
          </a:p>
          <a:p>
            <a:pPr marL="0" marR="0" indent="0" algn="ctr" defTabSz="914400" rtl="0" eaLnBrk="0" fontAlgn="base" latinLnBrk="0" hangingPunct="0">
              <a:lnSpc>
                <a:spcPts val="1600"/>
              </a:lnSpc>
              <a:spcBef>
                <a:spcPct val="0"/>
              </a:spcBef>
              <a:spcAft>
                <a:spcPct val="0"/>
              </a:spcAft>
              <a:buClrTx/>
              <a:buSzTx/>
              <a:buFontTx/>
              <a:buNone/>
              <a:tabLst/>
            </a:pPr>
            <a:r>
              <a:rPr lang="en-US" sz="1200" dirty="0">
                <a:latin typeface="Gill Sans Light"/>
              </a:rPr>
              <a:t>Mem</a:t>
            </a:r>
            <a:endParaRPr kumimoji="0" lang="en-US" sz="1200" b="0" i="0" u="none" strike="noStrike" cap="none" normalizeH="0" baseline="0" dirty="0">
              <a:ln>
                <a:noFill/>
              </a:ln>
              <a:solidFill>
                <a:schemeClr val="tx1"/>
              </a:solidFill>
              <a:effectLst/>
              <a:latin typeface="Gill Sans Light"/>
            </a:endParaRPr>
          </a:p>
        </p:txBody>
      </p:sp>
      <p:sp>
        <p:nvSpPr>
          <p:cNvPr id="74" name="TextBox 73">
            <a:extLst>
              <a:ext uri="{FF2B5EF4-FFF2-40B4-BE49-F238E27FC236}">
                <a16:creationId xmlns:a16="http://schemas.microsoft.com/office/drawing/2014/main" id="{903AC2DB-5960-4CF0-B972-E1CDF92622A2}"/>
              </a:ext>
            </a:extLst>
          </p:cNvPr>
          <p:cNvSpPr txBox="1"/>
          <p:nvPr/>
        </p:nvSpPr>
        <p:spPr>
          <a:xfrm>
            <a:off x="3325648" y="3398740"/>
            <a:ext cx="1550862"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Address Spaces</a:t>
            </a:r>
          </a:p>
        </p:txBody>
      </p:sp>
      <p:sp>
        <p:nvSpPr>
          <p:cNvPr id="75" name="TextBox 74">
            <a:extLst>
              <a:ext uri="{FF2B5EF4-FFF2-40B4-BE49-F238E27FC236}">
                <a16:creationId xmlns:a16="http://schemas.microsoft.com/office/drawing/2014/main" id="{AD4C368E-047B-4BC3-8012-71A6CC7B5378}"/>
              </a:ext>
            </a:extLst>
          </p:cNvPr>
          <p:cNvSpPr txBox="1"/>
          <p:nvPr/>
        </p:nvSpPr>
        <p:spPr>
          <a:xfrm>
            <a:off x="5000552" y="3397972"/>
            <a:ext cx="683252"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Files</a:t>
            </a:r>
          </a:p>
        </p:txBody>
      </p:sp>
      <p:sp>
        <p:nvSpPr>
          <p:cNvPr id="76" name="TextBox 75">
            <a:extLst>
              <a:ext uri="{FF2B5EF4-FFF2-40B4-BE49-F238E27FC236}">
                <a16:creationId xmlns:a16="http://schemas.microsoft.com/office/drawing/2014/main" id="{8ED3D70A-C8B7-4AAE-8DB5-86A5FF23DEF3}"/>
              </a:ext>
            </a:extLst>
          </p:cNvPr>
          <p:cNvSpPr txBox="1"/>
          <p:nvPr/>
        </p:nvSpPr>
        <p:spPr>
          <a:xfrm>
            <a:off x="5814118" y="3397972"/>
            <a:ext cx="844624"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Sockets</a:t>
            </a:r>
          </a:p>
        </p:txBody>
      </p:sp>
      <p:sp>
        <p:nvSpPr>
          <p:cNvPr id="55" name="Rectangle 54">
            <a:extLst>
              <a:ext uri="{FF2B5EF4-FFF2-40B4-BE49-F238E27FC236}">
                <a16:creationId xmlns:a16="http://schemas.microsoft.com/office/drawing/2014/main" id="{0E783A07-C148-43C9-84E9-1E9884CF721E}"/>
              </a:ext>
            </a:extLst>
          </p:cNvPr>
          <p:cNvSpPr/>
          <p:nvPr/>
        </p:nvSpPr>
        <p:spPr>
          <a:xfrm>
            <a:off x="6933883" y="2710529"/>
            <a:ext cx="4568415" cy="936847"/>
          </a:xfrm>
          <a:prstGeom prst="rect">
            <a:avLst/>
          </a:prstGeom>
          <a:solidFill>
            <a:schemeClr val="accent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1" dirty="0">
                <a:solidFill>
                  <a:schemeClr val="tx1"/>
                </a:solidFill>
                <a:latin typeface="Gill Sans Light"/>
              </a:rPr>
              <a:t>Process 2</a:t>
            </a:r>
          </a:p>
          <a:p>
            <a:pPr algn="ctr"/>
            <a:endParaRPr lang="en-US" sz="1200" dirty="0">
              <a:solidFill>
                <a:schemeClr val="tx1"/>
              </a:solidFill>
              <a:latin typeface="Gill Sans Light"/>
            </a:endParaRPr>
          </a:p>
        </p:txBody>
      </p:sp>
      <p:sp>
        <p:nvSpPr>
          <p:cNvPr id="57" name="TextBox 56">
            <a:extLst>
              <a:ext uri="{FF2B5EF4-FFF2-40B4-BE49-F238E27FC236}">
                <a16:creationId xmlns:a16="http://schemas.microsoft.com/office/drawing/2014/main" id="{8FBCBFF2-102E-4AC2-AE4A-CC896E9B1E66}"/>
              </a:ext>
            </a:extLst>
          </p:cNvPr>
          <p:cNvSpPr txBox="1"/>
          <p:nvPr/>
        </p:nvSpPr>
        <p:spPr>
          <a:xfrm>
            <a:off x="6977384" y="3396030"/>
            <a:ext cx="961390"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Threads</a:t>
            </a:r>
          </a:p>
        </p:txBody>
      </p:sp>
      <p:sp>
        <p:nvSpPr>
          <p:cNvPr id="58" name="TextBox 57">
            <a:extLst>
              <a:ext uri="{FF2B5EF4-FFF2-40B4-BE49-F238E27FC236}">
                <a16:creationId xmlns:a16="http://schemas.microsoft.com/office/drawing/2014/main" id="{85A8239A-9FCD-46DB-B7DA-7EA11E27E672}"/>
              </a:ext>
            </a:extLst>
          </p:cNvPr>
          <p:cNvSpPr txBox="1"/>
          <p:nvPr/>
        </p:nvSpPr>
        <p:spPr>
          <a:xfrm>
            <a:off x="8057672" y="3398740"/>
            <a:ext cx="1550862"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Address Spaces</a:t>
            </a:r>
          </a:p>
        </p:txBody>
      </p:sp>
      <p:sp>
        <p:nvSpPr>
          <p:cNvPr id="60" name="TextBox 59">
            <a:extLst>
              <a:ext uri="{FF2B5EF4-FFF2-40B4-BE49-F238E27FC236}">
                <a16:creationId xmlns:a16="http://schemas.microsoft.com/office/drawing/2014/main" id="{D923F43D-F391-40F4-9D87-D4E37AAB7342}"/>
              </a:ext>
            </a:extLst>
          </p:cNvPr>
          <p:cNvSpPr txBox="1"/>
          <p:nvPr/>
        </p:nvSpPr>
        <p:spPr>
          <a:xfrm>
            <a:off x="9732576" y="3397972"/>
            <a:ext cx="683252"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Files</a:t>
            </a:r>
          </a:p>
        </p:txBody>
      </p:sp>
      <p:sp>
        <p:nvSpPr>
          <p:cNvPr id="61" name="TextBox 60">
            <a:extLst>
              <a:ext uri="{FF2B5EF4-FFF2-40B4-BE49-F238E27FC236}">
                <a16:creationId xmlns:a16="http://schemas.microsoft.com/office/drawing/2014/main" id="{9AB076CB-B81B-4687-8B6B-B76A3C75D037}"/>
              </a:ext>
            </a:extLst>
          </p:cNvPr>
          <p:cNvSpPr txBox="1"/>
          <p:nvPr/>
        </p:nvSpPr>
        <p:spPr>
          <a:xfrm>
            <a:off x="10546142" y="3397972"/>
            <a:ext cx="844624"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Sockets</a:t>
            </a:r>
          </a:p>
        </p:txBody>
      </p:sp>
      <p:sp>
        <p:nvSpPr>
          <p:cNvPr id="81" name="Rectangle: Folded Corner 80">
            <a:extLst>
              <a:ext uri="{FF2B5EF4-FFF2-40B4-BE49-F238E27FC236}">
                <a16:creationId xmlns:a16="http://schemas.microsoft.com/office/drawing/2014/main" id="{19183BC7-FF86-4959-8312-523AE576C3AF}"/>
              </a:ext>
            </a:extLst>
          </p:cNvPr>
          <p:cNvSpPr/>
          <p:nvPr/>
        </p:nvSpPr>
        <p:spPr>
          <a:xfrm>
            <a:off x="3539163" y="1372394"/>
            <a:ext cx="2014336" cy="1471720"/>
          </a:xfrm>
          <a:prstGeom prst="foldedCorner">
            <a:avLst>
              <a:gd name="adj" fmla="val 21333"/>
            </a:avLst>
          </a:prstGeom>
          <a:solidFill>
            <a:srgbClr val="9E7800"/>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2000" dirty="0">
                <a:solidFill>
                  <a:schemeClr val="tx1"/>
                </a:solidFill>
                <a:latin typeface="Gill Sans Light"/>
              </a:rPr>
              <a:t>Compiled</a:t>
            </a:r>
          </a:p>
          <a:p>
            <a:pPr algn="ctr"/>
            <a:r>
              <a:rPr lang="en-US" sz="2000" dirty="0">
                <a:solidFill>
                  <a:schemeClr val="tx1"/>
                </a:solidFill>
                <a:latin typeface="Gill Sans Light"/>
              </a:rPr>
              <a:t>Program 1</a:t>
            </a:r>
          </a:p>
        </p:txBody>
      </p:sp>
      <p:sp>
        <p:nvSpPr>
          <p:cNvPr id="83" name="Rectangle 82">
            <a:extLst>
              <a:ext uri="{FF2B5EF4-FFF2-40B4-BE49-F238E27FC236}">
                <a16:creationId xmlns:a16="http://schemas.microsoft.com/office/drawing/2014/main" id="{DCEED07B-2876-4266-8889-B6933456A2AD}"/>
              </a:ext>
            </a:extLst>
          </p:cNvPr>
          <p:cNvSpPr/>
          <p:nvPr/>
        </p:nvSpPr>
        <p:spPr>
          <a:xfrm>
            <a:off x="3801201" y="2322568"/>
            <a:ext cx="1343751" cy="464249"/>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Gill Sans Light"/>
              </a:rPr>
              <a:t>System Libs</a:t>
            </a:r>
          </a:p>
        </p:txBody>
      </p:sp>
      <p:sp>
        <p:nvSpPr>
          <p:cNvPr id="65" name="Rectangle: Folded Corner 64">
            <a:extLst>
              <a:ext uri="{FF2B5EF4-FFF2-40B4-BE49-F238E27FC236}">
                <a16:creationId xmlns:a16="http://schemas.microsoft.com/office/drawing/2014/main" id="{16EECD36-F398-4299-8CCB-C7B1EBF07062}"/>
              </a:ext>
            </a:extLst>
          </p:cNvPr>
          <p:cNvSpPr/>
          <p:nvPr/>
        </p:nvSpPr>
        <p:spPr>
          <a:xfrm>
            <a:off x="8375029" y="1366340"/>
            <a:ext cx="2014336" cy="1471720"/>
          </a:xfrm>
          <a:prstGeom prst="foldedCorner">
            <a:avLst>
              <a:gd name="adj" fmla="val 21333"/>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2000" dirty="0">
                <a:solidFill>
                  <a:schemeClr val="tx1"/>
                </a:solidFill>
                <a:latin typeface="Gill Sans Light"/>
              </a:rPr>
              <a:t>Compiled</a:t>
            </a:r>
          </a:p>
          <a:p>
            <a:pPr algn="ctr"/>
            <a:r>
              <a:rPr lang="en-US" sz="2000" dirty="0">
                <a:solidFill>
                  <a:schemeClr val="tx1"/>
                </a:solidFill>
                <a:latin typeface="Gill Sans Light"/>
              </a:rPr>
              <a:t>Program 2</a:t>
            </a:r>
          </a:p>
        </p:txBody>
      </p:sp>
      <p:sp>
        <p:nvSpPr>
          <p:cNvPr id="66" name="Rectangle 65">
            <a:extLst>
              <a:ext uri="{FF2B5EF4-FFF2-40B4-BE49-F238E27FC236}">
                <a16:creationId xmlns:a16="http://schemas.microsoft.com/office/drawing/2014/main" id="{157B6B9A-A9A3-407F-951E-EECDC589195B}"/>
              </a:ext>
            </a:extLst>
          </p:cNvPr>
          <p:cNvSpPr/>
          <p:nvPr/>
        </p:nvSpPr>
        <p:spPr>
          <a:xfrm>
            <a:off x="8622679" y="2316514"/>
            <a:ext cx="1343751" cy="464249"/>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Gill Sans Light"/>
              </a:rPr>
              <a:t>System Libs</a:t>
            </a:r>
          </a:p>
        </p:txBody>
      </p:sp>
    </p:spTree>
    <p:extLst>
      <p:ext uri="{BB962C8B-B14F-4D97-AF65-F5344CB8AC3E}">
        <p14:creationId xmlns:p14="http://schemas.microsoft.com/office/powerpoint/2010/main" val="702161308"/>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3193DD4-304A-4B76-81C9-FBF787FE779B}"/>
              </a:ext>
            </a:extLst>
          </p:cNvPr>
          <p:cNvSpPr/>
          <p:nvPr/>
        </p:nvSpPr>
        <p:spPr bwMode="auto">
          <a:xfrm>
            <a:off x="654050" y="4470400"/>
            <a:ext cx="11118850" cy="1689099"/>
          </a:xfrm>
          <a:prstGeom prst="rect">
            <a:avLst/>
          </a:prstGeom>
          <a:pattFill prst="horzBrick">
            <a:fgClr>
              <a:schemeClr val="bg2">
                <a:lumMod val="40000"/>
                <a:lumOff val="60000"/>
              </a:schemeClr>
            </a:fgClr>
            <a:bgClr>
              <a:prstClr val="white"/>
            </a:bgClr>
          </a:patt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dirty="0">
              <a:ln>
                <a:noFill/>
              </a:ln>
              <a:solidFill>
                <a:schemeClr val="tx1"/>
              </a:solidFill>
              <a:effectLst/>
              <a:latin typeface="Gill Sans Light"/>
            </a:endParaRPr>
          </a:p>
        </p:txBody>
      </p:sp>
      <p:grpSp>
        <p:nvGrpSpPr>
          <p:cNvPr id="19" name="Group 18">
            <a:extLst>
              <a:ext uri="{FF2B5EF4-FFF2-40B4-BE49-F238E27FC236}">
                <a16:creationId xmlns:a16="http://schemas.microsoft.com/office/drawing/2014/main" id="{E3801482-024B-4578-81D6-B8D5101ACF77}"/>
              </a:ext>
            </a:extLst>
          </p:cNvPr>
          <p:cNvGrpSpPr/>
          <p:nvPr/>
        </p:nvGrpSpPr>
        <p:grpSpPr>
          <a:xfrm>
            <a:off x="4432116" y="4603105"/>
            <a:ext cx="712053" cy="710043"/>
            <a:chOff x="4121335" y="2654300"/>
            <a:chExt cx="712053" cy="828477"/>
          </a:xfrm>
        </p:grpSpPr>
        <p:sp>
          <p:nvSpPr>
            <p:cNvPr id="20" name="Rectangle 19">
              <a:extLst>
                <a:ext uri="{FF2B5EF4-FFF2-40B4-BE49-F238E27FC236}">
                  <a16:creationId xmlns:a16="http://schemas.microsoft.com/office/drawing/2014/main" id="{5E4894ED-F264-49FF-B7AB-BA4E6C68158A}"/>
                </a:ext>
              </a:extLst>
            </p:cNvPr>
            <p:cNvSpPr/>
            <p:nvPr/>
          </p:nvSpPr>
          <p:spPr bwMode="auto">
            <a:xfrm>
              <a:off x="4178300" y="2720777"/>
              <a:ext cx="609598" cy="762000"/>
            </a:xfrm>
            <a:prstGeom prst="rect">
              <a:avLst/>
            </a:prstGeom>
            <a:solidFill>
              <a:schemeClr val="bg2"/>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sp>
          <p:nvSpPr>
            <p:cNvPr id="21" name="TextBox 20">
              <a:extLst>
                <a:ext uri="{FF2B5EF4-FFF2-40B4-BE49-F238E27FC236}">
                  <a16:creationId xmlns:a16="http://schemas.microsoft.com/office/drawing/2014/main" id="{C80A16C0-CBEC-4DD9-AD38-2EB7C3ECDF3A}"/>
                </a:ext>
              </a:extLst>
            </p:cNvPr>
            <p:cNvSpPr txBox="1"/>
            <p:nvPr/>
          </p:nvSpPr>
          <p:spPr>
            <a:xfrm>
              <a:off x="4121335" y="2654300"/>
              <a:ext cx="712053" cy="610492"/>
            </a:xfrm>
            <a:prstGeom prst="rect">
              <a:avLst/>
            </a:prstGeom>
            <a:noFill/>
          </p:spPr>
          <p:txBody>
            <a:bodyPr wrap="none" rtlCol="0">
              <a:spAutoFit/>
            </a:bodyPr>
            <a:lstStyle/>
            <a:p>
              <a:pPr algn="ctr"/>
              <a:r>
                <a:rPr lang="en-US" sz="1400" dirty="0" err="1">
                  <a:latin typeface="Gill Sans Light"/>
                </a:rPr>
                <a:t>PgTbl</a:t>
              </a:r>
              <a:endParaRPr lang="en-US" sz="1400" dirty="0">
                <a:latin typeface="Gill Sans Light"/>
              </a:endParaRPr>
            </a:p>
            <a:p>
              <a:pPr algn="ctr"/>
              <a:r>
                <a:rPr lang="en-US" sz="1400" dirty="0">
                  <a:latin typeface="Gill Sans Light"/>
                </a:rPr>
                <a:t>&amp; TLB</a:t>
              </a:r>
            </a:p>
          </p:txBody>
        </p:sp>
      </p:grpSp>
      <p:cxnSp>
        <p:nvCxnSpPr>
          <p:cNvPr id="22" name="Straight Arrow Connector 21">
            <a:extLst>
              <a:ext uri="{FF2B5EF4-FFF2-40B4-BE49-F238E27FC236}">
                <a16:creationId xmlns:a16="http://schemas.microsoft.com/office/drawing/2014/main" id="{52D33204-BC10-46FF-B132-F33C746DE9B8}"/>
              </a:ext>
            </a:extLst>
          </p:cNvPr>
          <p:cNvCxnSpPr>
            <a:cxnSpLocks/>
          </p:cNvCxnSpPr>
          <p:nvPr/>
        </p:nvCxnSpPr>
        <p:spPr bwMode="auto">
          <a:xfrm flipV="1">
            <a:off x="3930650" y="5232303"/>
            <a:ext cx="1273102" cy="2471"/>
          </a:xfrm>
          <a:prstGeom prst="straightConnector1">
            <a:avLst/>
          </a:prstGeom>
          <a:solidFill>
            <a:schemeClr val="accent1"/>
          </a:solidFill>
          <a:ln w="57150" cap="flat" cmpd="sng" algn="ctr">
            <a:solidFill>
              <a:schemeClr val="tx1"/>
            </a:solidFill>
            <a:prstDash val="solid"/>
            <a:round/>
            <a:headEnd type="triangle" w="med" len="med"/>
            <a:tailEnd type="triangle"/>
          </a:ln>
          <a:effectLst/>
        </p:spPr>
      </p:cxnSp>
      <p:sp>
        <p:nvSpPr>
          <p:cNvPr id="26" name="Can 38">
            <a:extLst>
              <a:ext uri="{FF2B5EF4-FFF2-40B4-BE49-F238E27FC236}">
                <a16:creationId xmlns:a16="http://schemas.microsoft.com/office/drawing/2014/main" id="{2D66A6BA-E078-4243-A542-4EDF0004EFC1}"/>
              </a:ext>
            </a:extLst>
          </p:cNvPr>
          <p:cNvSpPr/>
          <p:nvPr/>
        </p:nvSpPr>
        <p:spPr bwMode="auto">
          <a:xfrm>
            <a:off x="6978098" y="4601091"/>
            <a:ext cx="977900" cy="973138"/>
          </a:xfrm>
          <a:prstGeom prst="can">
            <a:avLst/>
          </a:prstGeom>
          <a:solidFill>
            <a:srgbClr val="5AAEFF"/>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600" dirty="0">
                <a:latin typeface="Gill Sans Light"/>
              </a:rPr>
              <a:t>Storage</a:t>
            </a:r>
            <a:endParaRPr kumimoji="0" lang="en-US" sz="1600" b="0" i="0" u="none" strike="noStrike" cap="none" normalizeH="0" baseline="0" dirty="0">
              <a:ln>
                <a:noFill/>
              </a:ln>
              <a:solidFill>
                <a:schemeClr val="tx1"/>
              </a:solidFill>
              <a:effectLst/>
              <a:latin typeface="Gill Sans Light"/>
            </a:endParaRPr>
          </a:p>
        </p:txBody>
      </p:sp>
      <p:pic>
        <p:nvPicPr>
          <p:cNvPr id="27" name="Picture 26">
            <a:extLst>
              <a:ext uri="{FF2B5EF4-FFF2-40B4-BE49-F238E27FC236}">
                <a16:creationId xmlns:a16="http://schemas.microsoft.com/office/drawing/2014/main" id="{57205715-3232-4739-82EE-E1D9E0C153A6}"/>
              </a:ext>
            </a:extLst>
          </p:cNvPr>
          <p:cNvPicPr>
            <a:picLocks noChangeAspect="1"/>
          </p:cNvPicPr>
          <p:nvPr/>
        </p:nvPicPr>
        <p:blipFill>
          <a:blip r:embed="rId2">
            <a:clrChange>
              <a:clrFrom>
                <a:srgbClr val="FFFFFF"/>
              </a:clrFrom>
              <a:clrTo>
                <a:srgbClr val="FFFFFF">
                  <a:alpha val="0"/>
                </a:srgbClr>
              </a:clrTo>
            </a:clrChange>
          </a:blip>
          <a:stretch>
            <a:fillRect/>
          </a:stretch>
        </p:blipFill>
        <p:spPr>
          <a:xfrm flipH="1">
            <a:off x="8302804" y="4559299"/>
            <a:ext cx="1270482" cy="1270482"/>
          </a:xfrm>
          <a:prstGeom prst="rect">
            <a:avLst/>
          </a:prstGeom>
        </p:spPr>
      </p:pic>
      <p:sp>
        <p:nvSpPr>
          <p:cNvPr id="31" name="TextBox 30">
            <a:extLst>
              <a:ext uri="{FF2B5EF4-FFF2-40B4-BE49-F238E27FC236}">
                <a16:creationId xmlns:a16="http://schemas.microsoft.com/office/drawing/2014/main" id="{A8A63F55-8F57-4FCF-A466-B7ABFA7D293F}"/>
              </a:ext>
            </a:extLst>
          </p:cNvPr>
          <p:cNvSpPr txBox="1"/>
          <p:nvPr/>
        </p:nvSpPr>
        <p:spPr>
          <a:xfrm>
            <a:off x="8315784" y="4518076"/>
            <a:ext cx="1107996" cy="338554"/>
          </a:xfrm>
          <a:prstGeom prst="rect">
            <a:avLst/>
          </a:prstGeom>
          <a:noFill/>
        </p:spPr>
        <p:txBody>
          <a:bodyPr wrap="none" rtlCol="0">
            <a:spAutoFit/>
          </a:bodyPr>
          <a:lstStyle/>
          <a:p>
            <a:pPr algn="ctr"/>
            <a:r>
              <a:rPr lang="en-US" sz="1600" dirty="0">
                <a:latin typeface="Gill Sans Light"/>
              </a:rPr>
              <a:t>Networks</a:t>
            </a:r>
          </a:p>
        </p:txBody>
      </p:sp>
      <p:sp>
        <p:nvSpPr>
          <p:cNvPr id="34" name="TextBox 33">
            <a:extLst>
              <a:ext uri="{FF2B5EF4-FFF2-40B4-BE49-F238E27FC236}">
                <a16:creationId xmlns:a16="http://schemas.microsoft.com/office/drawing/2014/main" id="{5A2B64A6-5DE4-40BC-B41E-052C2DBBB4E8}"/>
              </a:ext>
            </a:extLst>
          </p:cNvPr>
          <p:cNvSpPr txBox="1"/>
          <p:nvPr/>
        </p:nvSpPr>
        <p:spPr>
          <a:xfrm>
            <a:off x="631271" y="4919941"/>
            <a:ext cx="1353256" cy="400110"/>
          </a:xfrm>
          <a:prstGeom prst="rect">
            <a:avLst/>
          </a:prstGeom>
          <a:noFill/>
        </p:spPr>
        <p:txBody>
          <a:bodyPr wrap="none" rtlCol="0">
            <a:spAutoFit/>
          </a:bodyPr>
          <a:lstStyle/>
          <a:p>
            <a:r>
              <a:rPr lang="en-US" sz="2000" dirty="0">
                <a:latin typeface="Gill Sans Light"/>
              </a:rPr>
              <a:t>Hardware</a:t>
            </a:r>
          </a:p>
        </p:txBody>
      </p:sp>
      <p:cxnSp>
        <p:nvCxnSpPr>
          <p:cNvPr id="39" name="Straight Arrow Connector 38">
            <a:extLst>
              <a:ext uri="{FF2B5EF4-FFF2-40B4-BE49-F238E27FC236}">
                <a16:creationId xmlns:a16="http://schemas.microsoft.com/office/drawing/2014/main" id="{44B237A5-A629-47CA-A0F4-6D264547B1E9}"/>
              </a:ext>
            </a:extLst>
          </p:cNvPr>
          <p:cNvCxnSpPr>
            <a:cxnSpLocks/>
            <a:endCxn id="26" idx="3"/>
          </p:cNvCxnSpPr>
          <p:nvPr/>
        </p:nvCxnSpPr>
        <p:spPr>
          <a:xfrm flipV="1">
            <a:off x="7467048" y="5574229"/>
            <a:ext cx="0" cy="331271"/>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AC006469-8BAB-4F3E-A8D9-EB19E5DDCFD3}"/>
              </a:ext>
            </a:extLst>
          </p:cNvPr>
          <p:cNvCxnSpPr>
            <a:cxnSpLocks/>
          </p:cNvCxnSpPr>
          <p:nvPr/>
        </p:nvCxnSpPr>
        <p:spPr>
          <a:xfrm flipV="1">
            <a:off x="8891831" y="5584848"/>
            <a:ext cx="0" cy="320652"/>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800CF464-6799-4EF1-A173-649974B69470}"/>
              </a:ext>
            </a:extLst>
          </p:cNvPr>
          <p:cNvCxnSpPr>
            <a:cxnSpLocks/>
          </p:cNvCxnSpPr>
          <p:nvPr/>
        </p:nvCxnSpPr>
        <p:spPr>
          <a:xfrm flipV="1">
            <a:off x="4308999" y="5234774"/>
            <a:ext cx="0" cy="670726"/>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077FE5F6-6698-44C8-949A-3B1FFA12825F}"/>
              </a:ext>
            </a:extLst>
          </p:cNvPr>
          <p:cNvCxnSpPr>
            <a:cxnSpLocks/>
            <a:endCxn id="56" idx="1"/>
          </p:cNvCxnSpPr>
          <p:nvPr/>
        </p:nvCxnSpPr>
        <p:spPr>
          <a:xfrm>
            <a:off x="4105518" y="5911715"/>
            <a:ext cx="1091231" cy="0"/>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56" name="Rectangle 55">
            <a:extLst>
              <a:ext uri="{FF2B5EF4-FFF2-40B4-BE49-F238E27FC236}">
                <a16:creationId xmlns:a16="http://schemas.microsoft.com/office/drawing/2014/main" id="{0182EB5C-4F86-416A-B81D-EA223AEB393C}"/>
              </a:ext>
            </a:extLst>
          </p:cNvPr>
          <p:cNvSpPr/>
          <p:nvPr/>
        </p:nvSpPr>
        <p:spPr bwMode="auto">
          <a:xfrm>
            <a:off x="5196749" y="5765133"/>
            <a:ext cx="1044306" cy="293164"/>
          </a:xfrm>
          <a:prstGeom prst="rect">
            <a:avLst/>
          </a:prstGeom>
          <a:no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400" b="0" i="0" u="none" strike="noStrike" cap="none" normalizeH="0" baseline="0" dirty="0">
                <a:ln>
                  <a:noFill/>
                </a:ln>
                <a:solidFill>
                  <a:schemeClr val="tx1"/>
                </a:solidFill>
                <a:effectLst/>
                <a:latin typeface="Gill Sans Light"/>
              </a:rPr>
              <a:t>I/O </a:t>
            </a:r>
            <a:r>
              <a:rPr kumimoji="0" lang="en-US" sz="1400" b="0" i="0" u="none" strike="noStrike" cap="none" normalizeH="0" baseline="0" dirty="0" err="1">
                <a:ln>
                  <a:noFill/>
                </a:ln>
                <a:solidFill>
                  <a:schemeClr val="tx1"/>
                </a:solidFill>
                <a:effectLst/>
                <a:latin typeface="Gill Sans Light"/>
              </a:rPr>
              <a:t>Ctrlr</a:t>
            </a:r>
            <a:endParaRPr kumimoji="0" lang="en-US" sz="1400" b="0" i="0" u="none" strike="noStrike" cap="none" normalizeH="0" baseline="0" dirty="0">
              <a:ln>
                <a:noFill/>
              </a:ln>
              <a:solidFill>
                <a:schemeClr val="tx1"/>
              </a:solidFill>
              <a:effectLst/>
              <a:latin typeface="Gill Sans Light"/>
            </a:endParaRPr>
          </a:p>
        </p:txBody>
      </p:sp>
      <p:cxnSp>
        <p:nvCxnSpPr>
          <p:cNvPr id="59" name="Straight Arrow Connector 58">
            <a:extLst>
              <a:ext uri="{FF2B5EF4-FFF2-40B4-BE49-F238E27FC236}">
                <a16:creationId xmlns:a16="http://schemas.microsoft.com/office/drawing/2014/main" id="{7CEF80FD-C99C-4106-86FD-C44623EF6D66}"/>
              </a:ext>
            </a:extLst>
          </p:cNvPr>
          <p:cNvCxnSpPr>
            <a:cxnSpLocks/>
            <a:stCxn id="56" idx="3"/>
          </p:cNvCxnSpPr>
          <p:nvPr/>
        </p:nvCxnSpPr>
        <p:spPr>
          <a:xfrm flipV="1">
            <a:off x="6241055" y="5905500"/>
            <a:ext cx="5145949" cy="0"/>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8C42E879-B352-4CB0-9045-9528A742E94C}"/>
              </a:ext>
            </a:extLst>
          </p:cNvPr>
          <p:cNvSpPr txBox="1"/>
          <p:nvPr/>
        </p:nvSpPr>
        <p:spPr>
          <a:xfrm>
            <a:off x="861699" y="4314038"/>
            <a:ext cx="1494531" cy="338554"/>
          </a:xfrm>
          <a:prstGeom prst="rect">
            <a:avLst/>
          </a:prstGeom>
          <a:solidFill>
            <a:srgbClr val="EFE683"/>
          </a:solidFill>
          <a:ln>
            <a:solidFill>
              <a:schemeClr val="tx1"/>
            </a:solidFill>
          </a:ln>
        </p:spPr>
        <p:txBody>
          <a:bodyPr wrap="square" rtlCol="0">
            <a:spAutoFit/>
          </a:bodyPr>
          <a:lstStyle/>
          <a:p>
            <a:pPr algn="ctr"/>
            <a:r>
              <a:rPr lang="en-US" sz="1600" b="1" i="1" dirty="0">
                <a:latin typeface="Gill Sans Light"/>
              </a:rPr>
              <a:t>ISA</a:t>
            </a:r>
          </a:p>
        </p:txBody>
      </p:sp>
      <p:sp>
        <p:nvSpPr>
          <p:cNvPr id="63" name="Rectangle 62">
            <a:extLst>
              <a:ext uri="{FF2B5EF4-FFF2-40B4-BE49-F238E27FC236}">
                <a16:creationId xmlns:a16="http://schemas.microsoft.com/office/drawing/2014/main" id="{CA91FAA7-997F-463D-B0E7-ECB8FF4BD25C}"/>
              </a:ext>
            </a:extLst>
          </p:cNvPr>
          <p:cNvSpPr/>
          <p:nvPr/>
        </p:nvSpPr>
        <p:spPr>
          <a:xfrm>
            <a:off x="1955800" y="3595554"/>
            <a:ext cx="9753601" cy="936847"/>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latin typeface="Gill Sans Light"/>
              </a:rPr>
              <a:t>Operating System</a:t>
            </a:r>
          </a:p>
        </p:txBody>
      </p:sp>
      <p:sp>
        <p:nvSpPr>
          <p:cNvPr id="84" name="Rectangle 83">
            <a:extLst>
              <a:ext uri="{FF2B5EF4-FFF2-40B4-BE49-F238E27FC236}">
                <a16:creationId xmlns:a16="http://schemas.microsoft.com/office/drawing/2014/main" id="{87B4BF93-F38E-482C-92DA-97BF83D39E26}"/>
              </a:ext>
            </a:extLst>
          </p:cNvPr>
          <p:cNvSpPr/>
          <p:nvPr/>
        </p:nvSpPr>
        <p:spPr>
          <a:xfrm>
            <a:off x="419100" y="2710529"/>
            <a:ext cx="1417802" cy="1493074"/>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Gill Sans Light"/>
              </a:rPr>
              <a:t>Compiler</a:t>
            </a:r>
          </a:p>
        </p:txBody>
      </p:sp>
      <p:sp>
        <p:nvSpPr>
          <p:cNvPr id="45" name="Rectangle 44">
            <a:extLst>
              <a:ext uri="{FF2B5EF4-FFF2-40B4-BE49-F238E27FC236}">
                <a16:creationId xmlns:a16="http://schemas.microsoft.com/office/drawing/2014/main" id="{3EFB73E7-29AB-4311-90E8-B9325E17083A}"/>
              </a:ext>
            </a:extLst>
          </p:cNvPr>
          <p:cNvSpPr/>
          <p:nvPr/>
        </p:nvSpPr>
        <p:spPr>
          <a:xfrm>
            <a:off x="0" y="1860550"/>
            <a:ext cx="12192000" cy="4692650"/>
          </a:xfrm>
          <a:prstGeom prst="rect">
            <a:avLst/>
          </a:pr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Gill Sans Light"/>
            </a:endParaRPr>
          </a:p>
        </p:txBody>
      </p:sp>
      <p:sp>
        <p:nvSpPr>
          <p:cNvPr id="2" name="Title 1">
            <a:extLst>
              <a:ext uri="{FF2B5EF4-FFF2-40B4-BE49-F238E27FC236}">
                <a16:creationId xmlns:a16="http://schemas.microsoft.com/office/drawing/2014/main" id="{2735C77F-660A-43A3-8126-43A0F77E49F3}"/>
              </a:ext>
            </a:extLst>
          </p:cNvPr>
          <p:cNvSpPr>
            <a:spLocks noGrp="1"/>
          </p:cNvSpPr>
          <p:nvPr>
            <p:ph type="title"/>
          </p:nvPr>
        </p:nvSpPr>
        <p:spPr/>
        <p:txBody>
          <a:bodyPr/>
          <a:lstStyle/>
          <a:p>
            <a:r>
              <a:rPr lang="en-US" dirty="0"/>
              <a:t>OS Basics: Protection</a:t>
            </a:r>
          </a:p>
        </p:txBody>
      </p:sp>
      <p:sp>
        <p:nvSpPr>
          <p:cNvPr id="8" name="Rounded Rectangle 6">
            <a:extLst>
              <a:ext uri="{FF2B5EF4-FFF2-40B4-BE49-F238E27FC236}">
                <a16:creationId xmlns:a16="http://schemas.microsoft.com/office/drawing/2014/main" id="{EA9B6AFF-D750-4502-865E-E3737510EED0}"/>
              </a:ext>
            </a:extLst>
          </p:cNvPr>
          <p:cNvSpPr/>
          <p:nvPr/>
        </p:nvSpPr>
        <p:spPr bwMode="auto">
          <a:xfrm>
            <a:off x="2201858" y="4618038"/>
            <a:ext cx="1728792" cy="838200"/>
          </a:xfrm>
          <a:prstGeom prst="roundRect">
            <a:avLst/>
          </a:prstGeom>
          <a:solidFill>
            <a:schemeClr val="accent1">
              <a:lumMod val="40000"/>
              <a:lumOff val="6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Gill Sans Light"/>
              </a:rPr>
              <a:t>Processor</a:t>
            </a:r>
            <a:endParaRPr kumimoji="0" lang="en-US" sz="1400" b="0" i="0" u="none" strike="noStrike" cap="none" normalizeH="0" baseline="0" dirty="0">
              <a:ln>
                <a:noFill/>
              </a:ln>
              <a:solidFill>
                <a:schemeClr val="tx1"/>
              </a:solidFill>
              <a:effectLst/>
              <a:latin typeface="Gill Sans Light"/>
            </a:endParaRPr>
          </a:p>
        </p:txBody>
      </p:sp>
      <p:sp>
        <p:nvSpPr>
          <p:cNvPr id="9" name="Rectangle 8">
            <a:extLst>
              <a:ext uri="{FF2B5EF4-FFF2-40B4-BE49-F238E27FC236}">
                <a16:creationId xmlns:a16="http://schemas.microsoft.com/office/drawing/2014/main" id="{85025C03-FC2A-4CCF-8684-4F37D94D3763}"/>
              </a:ext>
            </a:extLst>
          </p:cNvPr>
          <p:cNvSpPr/>
          <p:nvPr/>
        </p:nvSpPr>
        <p:spPr bwMode="auto">
          <a:xfrm>
            <a:off x="5009666" y="4664869"/>
            <a:ext cx="1760608" cy="973138"/>
          </a:xfrm>
          <a:prstGeom prst="rect">
            <a:avLst/>
          </a:prstGeom>
          <a:solidFill>
            <a:srgbClr val="5AAEFF"/>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Gill Sans Light"/>
              </a:rPr>
              <a:t>Memory</a:t>
            </a:r>
          </a:p>
        </p:txBody>
      </p:sp>
      <p:grpSp>
        <p:nvGrpSpPr>
          <p:cNvPr id="10" name="Group 9">
            <a:extLst>
              <a:ext uri="{FF2B5EF4-FFF2-40B4-BE49-F238E27FC236}">
                <a16:creationId xmlns:a16="http://schemas.microsoft.com/office/drawing/2014/main" id="{4C2174B6-519D-44F7-A8CB-C9D9304FB602}"/>
              </a:ext>
            </a:extLst>
          </p:cNvPr>
          <p:cNvGrpSpPr/>
          <p:nvPr/>
        </p:nvGrpSpPr>
        <p:grpSpPr>
          <a:xfrm>
            <a:off x="3244850" y="5075238"/>
            <a:ext cx="533400" cy="304800"/>
            <a:chOff x="3124200" y="3657600"/>
            <a:chExt cx="533400" cy="304800"/>
          </a:xfrm>
          <a:solidFill>
            <a:schemeClr val="accent6"/>
          </a:solidFill>
        </p:grpSpPr>
        <p:sp>
          <p:nvSpPr>
            <p:cNvPr id="11" name="Rectangle 10">
              <a:extLst>
                <a:ext uri="{FF2B5EF4-FFF2-40B4-BE49-F238E27FC236}">
                  <a16:creationId xmlns:a16="http://schemas.microsoft.com/office/drawing/2014/main" id="{EFBA6894-B008-4F1D-B22C-730173B3DFD4}"/>
                </a:ext>
              </a:extLst>
            </p:cNvPr>
            <p:cNvSpPr/>
            <p:nvPr/>
          </p:nvSpPr>
          <p:spPr bwMode="auto">
            <a:xfrm>
              <a:off x="3124200" y="3657600"/>
              <a:ext cx="533400" cy="304800"/>
            </a:xfrm>
            <a:prstGeom prst="rect">
              <a:avLst/>
            </a:prstGeom>
            <a:grp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sp>
          <p:nvSpPr>
            <p:cNvPr id="12" name="Rectangle 11">
              <a:extLst>
                <a:ext uri="{FF2B5EF4-FFF2-40B4-BE49-F238E27FC236}">
                  <a16:creationId xmlns:a16="http://schemas.microsoft.com/office/drawing/2014/main" id="{F6B854A3-399D-4E47-BB10-B204E22F6207}"/>
                </a:ext>
              </a:extLst>
            </p:cNvPr>
            <p:cNvSpPr/>
            <p:nvPr/>
          </p:nvSpPr>
          <p:spPr bwMode="auto">
            <a:xfrm>
              <a:off x="3124200" y="3733800"/>
              <a:ext cx="533400" cy="152400"/>
            </a:xfrm>
            <a:prstGeom prst="rect">
              <a:avLst/>
            </a:prstGeom>
            <a:grp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grpSp>
      <p:sp>
        <p:nvSpPr>
          <p:cNvPr id="16" name="Rectangle 15">
            <a:extLst>
              <a:ext uri="{FF2B5EF4-FFF2-40B4-BE49-F238E27FC236}">
                <a16:creationId xmlns:a16="http://schemas.microsoft.com/office/drawing/2014/main" id="{7114092D-E1CB-4952-8CAA-BD6429870DAC}"/>
              </a:ext>
            </a:extLst>
          </p:cNvPr>
          <p:cNvSpPr/>
          <p:nvPr/>
        </p:nvSpPr>
        <p:spPr bwMode="auto">
          <a:xfrm>
            <a:off x="5683893" y="5188015"/>
            <a:ext cx="412153" cy="387428"/>
          </a:xfrm>
          <a:prstGeom prst="rect">
            <a:avLst/>
          </a:prstGeom>
          <a:solidFill>
            <a:schemeClr val="accent6"/>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sp>
        <p:nvSpPr>
          <p:cNvPr id="13" name="Rectangle 12">
            <a:extLst>
              <a:ext uri="{FF2B5EF4-FFF2-40B4-BE49-F238E27FC236}">
                <a16:creationId xmlns:a16="http://schemas.microsoft.com/office/drawing/2014/main" id="{4A1809EB-73C2-4CF6-B753-8F1B20E63381}"/>
              </a:ext>
            </a:extLst>
          </p:cNvPr>
          <p:cNvSpPr/>
          <p:nvPr/>
        </p:nvSpPr>
        <p:spPr bwMode="auto">
          <a:xfrm>
            <a:off x="5171349" y="5188015"/>
            <a:ext cx="447915" cy="396832"/>
          </a:xfrm>
          <a:prstGeom prst="rect">
            <a:avLst/>
          </a:prstGeom>
          <a:solidFill>
            <a:srgbClr val="9E7800"/>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cxnSp>
        <p:nvCxnSpPr>
          <p:cNvPr id="17" name="Curved Connector 54">
            <a:extLst>
              <a:ext uri="{FF2B5EF4-FFF2-40B4-BE49-F238E27FC236}">
                <a16:creationId xmlns:a16="http://schemas.microsoft.com/office/drawing/2014/main" id="{1C7D6572-FBEF-45D3-B9EB-4A6924279104}"/>
              </a:ext>
            </a:extLst>
          </p:cNvPr>
          <p:cNvCxnSpPr>
            <a:cxnSpLocks/>
          </p:cNvCxnSpPr>
          <p:nvPr/>
        </p:nvCxnSpPr>
        <p:spPr bwMode="auto">
          <a:xfrm>
            <a:off x="3600451" y="5265655"/>
            <a:ext cx="2324099" cy="177506"/>
          </a:xfrm>
          <a:prstGeom prst="curvedConnector3">
            <a:avLst>
              <a:gd name="adj1" fmla="val 50000"/>
            </a:avLst>
          </a:prstGeom>
          <a:solidFill>
            <a:schemeClr val="accent1"/>
          </a:solidFill>
          <a:ln w="22225" cap="flat" cmpd="sng" algn="ctr">
            <a:solidFill>
              <a:schemeClr val="tx1"/>
            </a:solidFill>
            <a:prstDash val="solid"/>
            <a:round/>
            <a:headEnd type="triangle" w="sm" len="sm"/>
            <a:tailEnd type="triangle"/>
          </a:ln>
          <a:effectLst/>
        </p:spPr>
      </p:cxnSp>
      <p:sp>
        <p:nvSpPr>
          <p:cNvPr id="80" name="Rectangle 79">
            <a:extLst>
              <a:ext uri="{FF2B5EF4-FFF2-40B4-BE49-F238E27FC236}">
                <a16:creationId xmlns:a16="http://schemas.microsoft.com/office/drawing/2014/main" id="{4838629E-2E3E-4207-99FE-90E9B77B1C43}"/>
              </a:ext>
            </a:extLst>
          </p:cNvPr>
          <p:cNvSpPr/>
          <p:nvPr/>
        </p:nvSpPr>
        <p:spPr>
          <a:xfrm>
            <a:off x="2187471" y="2710529"/>
            <a:ext cx="4568415" cy="936847"/>
          </a:xfrm>
          <a:prstGeom prst="rect">
            <a:avLst/>
          </a:prstGeom>
          <a:solidFill>
            <a:srgbClr val="9E78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1" dirty="0">
                <a:solidFill>
                  <a:schemeClr val="tx1"/>
                </a:solidFill>
                <a:latin typeface="Gill Sans Light"/>
              </a:rPr>
              <a:t>Process 1</a:t>
            </a:r>
          </a:p>
          <a:p>
            <a:pPr algn="ctr"/>
            <a:endParaRPr lang="en-US" sz="1200" dirty="0">
              <a:solidFill>
                <a:schemeClr val="tx1"/>
              </a:solidFill>
              <a:latin typeface="Gill Sans Light"/>
            </a:endParaRPr>
          </a:p>
        </p:txBody>
      </p:sp>
      <p:sp>
        <p:nvSpPr>
          <p:cNvPr id="72" name="TextBox 71">
            <a:extLst>
              <a:ext uri="{FF2B5EF4-FFF2-40B4-BE49-F238E27FC236}">
                <a16:creationId xmlns:a16="http://schemas.microsoft.com/office/drawing/2014/main" id="{E4897103-5196-4D83-8C50-ED908C0B63F9}"/>
              </a:ext>
            </a:extLst>
          </p:cNvPr>
          <p:cNvSpPr txBox="1"/>
          <p:nvPr/>
        </p:nvSpPr>
        <p:spPr>
          <a:xfrm>
            <a:off x="2245360" y="3396030"/>
            <a:ext cx="961390"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Threads</a:t>
            </a:r>
          </a:p>
        </p:txBody>
      </p:sp>
      <p:sp>
        <p:nvSpPr>
          <p:cNvPr id="73" name="Rectangle 72">
            <a:extLst>
              <a:ext uri="{FF2B5EF4-FFF2-40B4-BE49-F238E27FC236}">
                <a16:creationId xmlns:a16="http://schemas.microsoft.com/office/drawing/2014/main" id="{1F630E64-216C-4D30-9C27-5AEDDDA28456}"/>
              </a:ext>
            </a:extLst>
          </p:cNvPr>
          <p:cNvSpPr/>
          <p:nvPr/>
        </p:nvSpPr>
        <p:spPr bwMode="auto">
          <a:xfrm>
            <a:off x="6160675" y="5188015"/>
            <a:ext cx="470617" cy="380268"/>
          </a:xfrm>
          <a:prstGeom prst="rect">
            <a:avLst/>
          </a:prstGeom>
          <a:solidFill>
            <a:schemeClr val="bg2">
              <a:lumMod val="60000"/>
              <a:lumOff val="40000"/>
            </a:schemeClr>
          </a:solidFill>
          <a:ln w="12700" cap="flat" cmpd="sng" algn="ctr">
            <a:solidFill>
              <a:schemeClr val="tx1"/>
            </a:solidFill>
            <a:prstDash val="solid"/>
            <a:round/>
            <a:headEnd type="none" w="sm" len="sm"/>
            <a:tailEnd type="none" w="sm" len="sm"/>
          </a:ln>
          <a:effectLst/>
        </p:spPr>
        <p:txBody>
          <a:bodyPr vert="horz" wrap="square" lIns="0" tIns="45720" rIns="0" bIns="45720" numCol="1" rtlCol="0" anchor="ctr" anchorCtr="0" compatLnSpc="1">
            <a:prstTxWarp prst="textNoShape">
              <a:avLst/>
            </a:prstTxWarp>
          </a:bodyPr>
          <a:lstStyle/>
          <a:p>
            <a:pPr marL="0" marR="0" indent="0" algn="ctr" defTabSz="914400" rtl="0" eaLnBrk="0" fontAlgn="base" latinLnBrk="0" hangingPunct="0">
              <a:lnSpc>
                <a:spcPts val="16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Gill Sans Light"/>
              </a:rPr>
              <a:t>OS</a:t>
            </a:r>
          </a:p>
          <a:p>
            <a:pPr marL="0" marR="0" indent="0" algn="ctr" defTabSz="914400" rtl="0" eaLnBrk="0" fontAlgn="base" latinLnBrk="0" hangingPunct="0">
              <a:lnSpc>
                <a:spcPts val="1600"/>
              </a:lnSpc>
              <a:spcBef>
                <a:spcPct val="0"/>
              </a:spcBef>
              <a:spcAft>
                <a:spcPct val="0"/>
              </a:spcAft>
              <a:buClrTx/>
              <a:buSzTx/>
              <a:buFontTx/>
              <a:buNone/>
              <a:tabLst/>
            </a:pPr>
            <a:r>
              <a:rPr lang="en-US" sz="1200" dirty="0">
                <a:latin typeface="Gill Sans Light"/>
              </a:rPr>
              <a:t>Mem</a:t>
            </a:r>
            <a:endParaRPr kumimoji="0" lang="en-US" sz="1200" b="0" i="0" u="none" strike="noStrike" cap="none" normalizeH="0" baseline="0" dirty="0">
              <a:ln>
                <a:noFill/>
              </a:ln>
              <a:solidFill>
                <a:schemeClr val="tx1"/>
              </a:solidFill>
              <a:effectLst/>
              <a:latin typeface="Gill Sans Light"/>
            </a:endParaRPr>
          </a:p>
        </p:txBody>
      </p:sp>
      <p:sp>
        <p:nvSpPr>
          <p:cNvPr id="74" name="TextBox 73">
            <a:extLst>
              <a:ext uri="{FF2B5EF4-FFF2-40B4-BE49-F238E27FC236}">
                <a16:creationId xmlns:a16="http://schemas.microsoft.com/office/drawing/2014/main" id="{903AC2DB-5960-4CF0-B972-E1CDF92622A2}"/>
              </a:ext>
            </a:extLst>
          </p:cNvPr>
          <p:cNvSpPr txBox="1"/>
          <p:nvPr/>
        </p:nvSpPr>
        <p:spPr>
          <a:xfrm>
            <a:off x="3325648" y="3398740"/>
            <a:ext cx="1550862"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Address Spaces</a:t>
            </a:r>
          </a:p>
        </p:txBody>
      </p:sp>
      <p:sp>
        <p:nvSpPr>
          <p:cNvPr id="75" name="TextBox 74">
            <a:extLst>
              <a:ext uri="{FF2B5EF4-FFF2-40B4-BE49-F238E27FC236}">
                <a16:creationId xmlns:a16="http://schemas.microsoft.com/office/drawing/2014/main" id="{AD4C368E-047B-4BC3-8012-71A6CC7B5378}"/>
              </a:ext>
            </a:extLst>
          </p:cNvPr>
          <p:cNvSpPr txBox="1"/>
          <p:nvPr/>
        </p:nvSpPr>
        <p:spPr>
          <a:xfrm>
            <a:off x="5000552" y="3397972"/>
            <a:ext cx="683252"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Files</a:t>
            </a:r>
          </a:p>
        </p:txBody>
      </p:sp>
      <p:sp>
        <p:nvSpPr>
          <p:cNvPr id="76" name="TextBox 75">
            <a:extLst>
              <a:ext uri="{FF2B5EF4-FFF2-40B4-BE49-F238E27FC236}">
                <a16:creationId xmlns:a16="http://schemas.microsoft.com/office/drawing/2014/main" id="{8ED3D70A-C8B7-4AAE-8DB5-86A5FF23DEF3}"/>
              </a:ext>
            </a:extLst>
          </p:cNvPr>
          <p:cNvSpPr txBox="1"/>
          <p:nvPr/>
        </p:nvSpPr>
        <p:spPr>
          <a:xfrm>
            <a:off x="5814118" y="3397972"/>
            <a:ext cx="844624"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Sockets</a:t>
            </a:r>
          </a:p>
        </p:txBody>
      </p:sp>
      <p:sp>
        <p:nvSpPr>
          <p:cNvPr id="55" name="Rectangle 54">
            <a:extLst>
              <a:ext uri="{FF2B5EF4-FFF2-40B4-BE49-F238E27FC236}">
                <a16:creationId xmlns:a16="http://schemas.microsoft.com/office/drawing/2014/main" id="{0E783A07-C148-43C9-84E9-1E9884CF721E}"/>
              </a:ext>
            </a:extLst>
          </p:cNvPr>
          <p:cNvSpPr/>
          <p:nvPr/>
        </p:nvSpPr>
        <p:spPr>
          <a:xfrm>
            <a:off x="6933883" y="2710529"/>
            <a:ext cx="4568415" cy="936847"/>
          </a:xfrm>
          <a:prstGeom prst="rect">
            <a:avLst/>
          </a:prstGeom>
          <a:solidFill>
            <a:schemeClr val="accent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1" dirty="0">
                <a:solidFill>
                  <a:schemeClr val="tx1"/>
                </a:solidFill>
                <a:latin typeface="Gill Sans Light"/>
              </a:rPr>
              <a:t>Process 2</a:t>
            </a:r>
          </a:p>
          <a:p>
            <a:pPr algn="ctr"/>
            <a:endParaRPr lang="en-US" sz="1200" dirty="0">
              <a:solidFill>
                <a:schemeClr val="tx1"/>
              </a:solidFill>
              <a:latin typeface="Gill Sans Light"/>
            </a:endParaRPr>
          </a:p>
        </p:txBody>
      </p:sp>
      <p:sp>
        <p:nvSpPr>
          <p:cNvPr id="57" name="TextBox 56">
            <a:extLst>
              <a:ext uri="{FF2B5EF4-FFF2-40B4-BE49-F238E27FC236}">
                <a16:creationId xmlns:a16="http://schemas.microsoft.com/office/drawing/2014/main" id="{8FBCBFF2-102E-4AC2-AE4A-CC896E9B1E66}"/>
              </a:ext>
            </a:extLst>
          </p:cNvPr>
          <p:cNvSpPr txBox="1"/>
          <p:nvPr/>
        </p:nvSpPr>
        <p:spPr>
          <a:xfrm>
            <a:off x="6977384" y="3396030"/>
            <a:ext cx="961390"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Threads</a:t>
            </a:r>
          </a:p>
        </p:txBody>
      </p:sp>
      <p:sp>
        <p:nvSpPr>
          <p:cNvPr id="58" name="TextBox 57">
            <a:extLst>
              <a:ext uri="{FF2B5EF4-FFF2-40B4-BE49-F238E27FC236}">
                <a16:creationId xmlns:a16="http://schemas.microsoft.com/office/drawing/2014/main" id="{85A8239A-9FCD-46DB-B7DA-7EA11E27E672}"/>
              </a:ext>
            </a:extLst>
          </p:cNvPr>
          <p:cNvSpPr txBox="1"/>
          <p:nvPr/>
        </p:nvSpPr>
        <p:spPr>
          <a:xfrm>
            <a:off x="8057672" y="3398740"/>
            <a:ext cx="1550862"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Address Spaces</a:t>
            </a:r>
          </a:p>
        </p:txBody>
      </p:sp>
      <p:sp>
        <p:nvSpPr>
          <p:cNvPr id="60" name="TextBox 59">
            <a:extLst>
              <a:ext uri="{FF2B5EF4-FFF2-40B4-BE49-F238E27FC236}">
                <a16:creationId xmlns:a16="http://schemas.microsoft.com/office/drawing/2014/main" id="{D923F43D-F391-40F4-9D87-D4E37AAB7342}"/>
              </a:ext>
            </a:extLst>
          </p:cNvPr>
          <p:cNvSpPr txBox="1"/>
          <p:nvPr/>
        </p:nvSpPr>
        <p:spPr>
          <a:xfrm>
            <a:off x="9732576" y="3397972"/>
            <a:ext cx="683252"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Files</a:t>
            </a:r>
          </a:p>
        </p:txBody>
      </p:sp>
      <p:sp>
        <p:nvSpPr>
          <p:cNvPr id="61" name="TextBox 60">
            <a:extLst>
              <a:ext uri="{FF2B5EF4-FFF2-40B4-BE49-F238E27FC236}">
                <a16:creationId xmlns:a16="http://schemas.microsoft.com/office/drawing/2014/main" id="{9AB076CB-B81B-4687-8B6B-B76A3C75D037}"/>
              </a:ext>
            </a:extLst>
          </p:cNvPr>
          <p:cNvSpPr txBox="1"/>
          <p:nvPr/>
        </p:nvSpPr>
        <p:spPr>
          <a:xfrm>
            <a:off x="10546142" y="3397972"/>
            <a:ext cx="844624"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Sockets</a:t>
            </a:r>
          </a:p>
        </p:txBody>
      </p:sp>
      <p:sp>
        <p:nvSpPr>
          <p:cNvPr id="81" name="Rectangle: Folded Corner 80">
            <a:extLst>
              <a:ext uri="{FF2B5EF4-FFF2-40B4-BE49-F238E27FC236}">
                <a16:creationId xmlns:a16="http://schemas.microsoft.com/office/drawing/2014/main" id="{19183BC7-FF86-4959-8312-523AE576C3AF}"/>
              </a:ext>
            </a:extLst>
          </p:cNvPr>
          <p:cNvSpPr/>
          <p:nvPr/>
        </p:nvSpPr>
        <p:spPr>
          <a:xfrm>
            <a:off x="3539163" y="1372394"/>
            <a:ext cx="2014336" cy="1471720"/>
          </a:xfrm>
          <a:prstGeom prst="foldedCorner">
            <a:avLst>
              <a:gd name="adj" fmla="val 21333"/>
            </a:avLst>
          </a:prstGeom>
          <a:solidFill>
            <a:srgbClr val="9E7800"/>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2000" dirty="0">
                <a:solidFill>
                  <a:schemeClr val="tx1"/>
                </a:solidFill>
                <a:latin typeface="Gill Sans Light"/>
              </a:rPr>
              <a:t>Compiled</a:t>
            </a:r>
          </a:p>
          <a:p>
            <a:pPr algn="ctr"/>
            <a:r>
              <a:rPr lang="en-US" sz="2000" dirty="0">
                <a:solidFill>
                  <a:schemeClr val="tx1"/>
                </a:solidFill>
                <a:latin typeface="Gill Sans Light"/>
              </a:rPr>
              <a:t>Program 1</a:t>
            </a:r>
          </a:p>
        </p:txBody>
      </p:sp>
      <p:sp>
        <p:nvSpPr>
          <p:cNvPr id="83" name="Rectangle 82">
            <a:extLst>
              <a:ext uri="{FF2B5EF4-FFF2-40B4-BE49-F238E27FC236}">
                <a16:creationId xmlns:a16="http://schemas.microsoft.com/office/drawing/2014/main" id="{DCEED07B-2876-4266-8889-B6933456A2AD}"/>
              </a:ext>
            </a:extLst>
          </p:cNvPr>
          <p:cNvSpPr/>
          <p:nvPr/>
        </p:nvSpPr>
        <p:spPr>
          <a:xfrm>
            <a:off x="3801201" y="2322568"/>
            <a:ext cx="1343751" cy="464249"/>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Gill Sans Light"/>
              </a:rPr>
              <a:t>System Libs</a:t>
            </a:r>
          </a:p>
        </p:txBody>
      </p:sp>
      <p:sp>
        <p:nvSpPr>
          <p:cNvPr id="65" name="Rectangle: Folded Corner 64">
            <a:extLst>
              <a:ext uri="{FF2B5EF4-FFF2-40B4-BE49-F238E27FC236}">
                <a16:creationId xmlns:a16="http://schemas.microsoft.com/office/drawing/2014/main" id="{16EECD36-F398-4299-8CCB-C7B1EBF07062}"/>
              </a:ext>
            </a:extLst>
          </p:cNvPr>
          <p:cNvSpPr/>
          <p:nvPr/>
        </p:nvSpPr>
        <p:spPr>
          <a:xfrm>
            <a:off x="8375029" y="1366340"/>
            <a:ext cx="2014336" cy="1471720"/>
          </a:xfrm>
          <a:prstGeom prst="foldedCorner">
            <a:avLst>
              <a:gd name="adj" fmla="val 21333"/>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2000" dirty="0">
                <a:solidFill>
                  <a:schemeClr val="tx1"/>
                </a:solidFill>
                <a:latin typeface="Gill Sans Light"/>
              </a:rPr>
              <a:t>Compiled</a:t>
            </a:r>
          </a:p>
          <a:p>
            <a:pPr algn="ctr"/>
            <a:r>
              <a:rPr lang="en-US" sz="2000" dirty="0">
                <a:solidFill>
                  <a:schemeClr val="tx1"/>
                </a:solidFill>
                <a:latin typeface="Gill Sans Light"/>
              </a:rPr>
              <a:t>Program 2</a:t>
            </a:r>
          </a:p>
        </p:txBody>
      </p:sp>
      <p:sp>
        <p:nvSpPr>
          <p:cNvPr id="66" name="Rectangle 65">
            <a:extLst>
              <a:ext uri="{FF2B5EF4-FFF2-40B4-BE49-F238E27FC236}">
                <a16:creationId xmlns:a16="http://schemas.microsoft.com/office/drawing/2014/main" id="{157B6B9A-A9A3-407F-951E-EECDC589195B}"/>
              </a:ext>
            </a:extLst>
          </p:cNvPr>
          <p:cNvSpPr/>
          <p:nvPr/>
        </p:nvSpPr>
        <p:spPr>
          <a:xfrm>
            <a:off x="8622679" y="2316514"/>
            <a:ext cx="1343751" cy="464249"/>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Gill Sans Light"/>
              </a:rPr>
              <a:t>System Libs</a:t>
            </a:r>
          </a:p>
        </p:txBody>
      </p:sp>
      <p:cxnSp>
        <p:nvCxnSpPr>
          <p:cNvPr id="48" name="Straight Arrow Connector 47">
            <a:extLst>
              <a:ext uri="{FF2B5EF4-FFF2-40B4-BE49-F238E27FC236}">
                <a16:creationId xmlns:a16="http://schemas.microsoft.com/office/drawing/2014/main" id="{BE858DB2-7003-40D8-8AF5-0334EED7323F}"/>
              </a:ext>
            </a:extLst>
          </p:cNvPr>
          <p:cNvCxnSpPr>
            <a:cxnSpLocks/>
          </p:cNvCxnSpPr>
          <p:nvPr/>
        </p:nvCxnSpPr>
        <p:spPr>
          <a:xfrm flipH="1">
            <a:off x="5443637" y="3262446"/>
            <a:ext cx="3070450" cy="2051440"/>
          </a:xfrm>
          <a:prstGeom prst="straightConnector1">
            <a:avLst/>
          </a:prstGeom>
          <a:ln w="76200" cmpd="tri">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2D16E4B0-8FE9-4933-B3E2-BA4B33591A3B}"/>
              </a:ext>
            </a:extLst>
          </p:cNvPr>
          <p:cNvCxnSpPr>
            <a:cxnSpLocks/>
          </p:cNvCxnSpPr>
          <p:nvPr/>
        </p:nvCxnSpPr>
        <p:spPr>
          <a:xfrm flipH="1">
            <a:off x="6358944" y="3276270"/>
            <a:ext cx="2518629" cy="2064514"/>
          </a:xfrm>
          <a:prstGeom prst="straightConnector1">
            <a:avLst/>
          </a:prstGeom>
          <a:ln w="76200" cmpd="tri">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FE61B105-AE19-4057-9F4B-4CD31B8FB69B}"/>
              </a:ext>
            </a:extLst>
          </p:cNvPr>
          <p:cNvCxnSpPr>
            <a:cxnSpLocks/>
          </p:cNvCxnSpPr>
          <p:nvPr/>
        </p:nvCxnSpPr>
        <p:spPr>
          <a:xfrm flipH="1">
            <a:off x="7266087" y="3263196"/>
            <a:ext cx="2058605" cy="1931344"/>
          </a:xfrm>
          <a:prstGeom prst="straightConnector1">
            <a:avLst/>
          </a:prstGeom>
          <a:ln w="76200" cmpd="tri">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6861304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3193DD4-304A-4B76-81C9-FBF787FE779B}"/>
              </a:ext>
            </a:extLst>
          </p:cNvPr>
          <p:cNvSpPr/>
          <p:nvPr/>
        </p:nvSpPr>
        <p:spPr bwMode="auto">
          <a:xfrm>
            <a:off x="654050" y="4470400"/>
            <a:ext cx="11118850" cy="1689099"/>
          </a:xfrm>
          <a:prstGeom prst="rect">
            <a:avLst/>
          </a:prstGeom>
          <a:pattFill prst="horzBrick">
            <a:fgClr>
              <a:schemeClr val="bg2">
                <a:lumMod val="40000"/>
                <a:lumOff val="60000"/>
              </a:schemeClr>
            </a:fgClr>
            <a:bgClr>
              <a:prstClr val="white"/>
            </a:bgClr>
          </a:patt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dirty="0">
              <a:ln>
                <a:noFill/>
              </a:ln>
              <a:solidFill>
                <a:schemeClr val="tx1"/>
              </a:solidFill>
              <a:effectLst/>
              <a:latin typeface="Gill Sans Light"/>
            </a:endParaRPr>
          </a:p>
        </p:txBody>
      </p:sp>
      <p:grpSp>
        <p:nvGrpSpPr>
          <p:cNvPr id="19" name="Group 18">
            <a:extLst>
              <a:ext uri="{FF2B5EF4-FFF2-40B4-BE49-F238E27FC236}">
                <a16:creationId xmlns:a16="http://schemas.microsoft.com/office/drawing/2014/main" id="{E3801482-024B-4578-81D6-B8D5101ACF77}"/>
              </a:ext>
            </a:extLst>
          </p:cNvPr>
          <p:cNvGrpSpPr/>
          <p:nvPr/>
        </p:nvGrpSpPr>
        <p:grpSpPr>
          <a:xfrm>
            <a:off x="4432116" y="4603105"/>
            <a:ext cx="712053" cy="710043"/>
            <a:chOff x="4121335" y="2654300"/>
            <a:chExt cx="712053" cy="828477"/>
          </a:xfrm>
        </p:grpSpPr>
        <p:sp>
          <p:nvSpPr>
            <p:cNvPr id="20" name="Rectangle 19">
              <a:extLst>
                <a:ext uri="{FF2B5EF4-FFF2-40B4-BE49-F238E27FC236}">
                  <a16:creationId xmlns:a16="http://schemas.microsoft.com/office/drawing/2014/main" id="{5E4894ED-F264-49FF-B7AB-BA4E6C68158A}"/>
                </a:ext>
              </a:extLst>
            </p:cNvPr>
            <p:cNvSpPr/>
            <p:nvPr/>
          </p:nvSpPr>
          <p:spPr bwMode="auto">
            <a:xfrm>
              <a:off x="4178300" y="2720777"/>
              <a:ext cx="609598" cy="762000"/>
            </a:xfrm>
            <a:prstGeom prst="rect">
              <a:avLst/>
            </a:prstGeom>
            <a:solidFill>
              <a:schemeClr val="bg2"/>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sp>
          <p:nvSpPr>
            <p:cNvPr id="21" name="TextBox 20">
              <a:extLst>
                <a:ext uri="{FF2B5EF4-FFF2-40B4-BE49-F238E27FC236}">
                  <a16:creationId xmlns:a16="http://schemas.microsoft.com/office/drawing/2014/main" id="{C80A16C0-CBEC-4DD9-AD38-2EB7C3ECDF3A}"/>
                </a:ext>
              </a:extLst>
            </p:cNvPr>
            <p:cNvSpPr txBox="1"/>
            <p:nvPr/>
          </p:nvSpPr>
          <p:spPr>
            <a:xfrm>
              <a:off x="4121335" y="2654300"/>
              <a:ext cx="712053" cy="610492"/>
            </a:xfrm>
            <a:prstGeom prst="rect">
              <a:avLst/>
            </a:prstGeom>
            <a:noFill/>
          </p:spPr>
          <p:txBody>
            <a:bodyPr wrap="none" rtlCol="0">
              <a:spAutoFit/>
            </a:bodyPr>
            <a:lstStyle/>
            <a:p>
              <a:pPr algn="ctr"/>
              <a:r>
                <a:rPr lang="en-US" sz="1400" dirty="0" err="1">
                  <a:latin typeface="Gill Sans Light"/>
                </a:rPr>
                <a:t>PgTbl</a:t>
              </a:r>
              <a:endParaRPr lang="en-US" sz="1400" dirty="0">
                <a:latin typeface="Gill Sans Light"/>
              </a:endParaRPr>
            </a:p>
            <a:p>
              <a:pPr algn="ctr"/>
              <a:r>
                <a:rPr lang="en-US" sz="1400" dirty="0">
                  <a:latin typeface="Gill Sans Light"/>
                </a:rPr>
                <a:t>&amp; TLB</a:t>
              </a:r>
            </a:p>
          </p:txBody>
        </p:sp>
      </p:grpSp>
      <p:cxnSp>
        <p:nvCxnSpPr>
          <p:cNvPr id="22" name="Straight Arrow Connector 21">
            <a:extLst>
              <a:ext uri="{FF2B5EF4-FFF2-40B4-BE49-F238E27FC236}">
                <a16:creationId xmlns:a16="http://schemas.microsoft.com/office/drawing/2014/main" id="{52D33204-BC10-46FF-B132-F33C746DE9B8}"/>
              </a:ext>
            </a:extLst>
          </p:cNvPr>
          <p:cNvCxnSpPr>
            <a:cxnSpLocks/>
          </p:cNvCxnSpPr>
          <p:nvPr/>
        </p:nvCxnSpPr>
        <p:spPr bwMode="auto">
          <a:xfrm flipV="1">
            <a:off x="3930650" y="5232303"/>
            <a:ext cx="1273102" cy="2471"/>
          </a:xfrm>
          <a:prstGeom prst="straightConnector1">
            <a:avLst/>
          </a:prstGeom>
          <a:solidFill>
            <a:schemeClr val="accent1"/>
          </a:solidFill>
          <a:ln w="57150" cap="flat" cmpd="sng" algn="ctr">
            <a:solidFill>
              <a:schemeClr val="tx1"/>
            </a:solidFill>
            <a:prstDash val="solid"/>
            <a:round/>
            <a:headEnd type="triangle" w="med" len="med"/>
            <a:tailEnd type="triangle"/>
          </a:ln>
          <a:effectLst/>
        </p:spPr>
      </p:cxnSp>
      <p:sp>
        <p:nvSpPr>
          <p:cNvPr id="26" name="Can 38">
            <a:extLst>
              <a:ext uri="{FF2B5EF4-FFF2-40B4-BE49-F238E27FC236}">
                <a16:creationId xmlns:a16="http://schemas.microsoft.com/office/drawing/2014/main" id="{2D66A6BA-E078-4243-A542-4EDF0004EFC1}"/>
              </a:ext>
            </a:extLst>
          </p:cNvPr>
          <p:cNvSpPr/>
          <p:nvPr/>
        </p:nvSpPr>
        <p:spPr bwMode="auto">
          <a:xfrm>
            <a:off x="6978098" y="4601091"/>
            <a:ext cx="977900" cy="973138"/>
          </a:xfrm>
          <a:prstGeom prst="can">
            <a:avLst/>
          </a:prstGeom>
          <a:solidFill>
            <a:srgbClr val="5AAEFF"/>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600" dirty="0">
                <a:latin typeface="Gill Sans Light"/>
              </a:rPr>
              <a:t>Storage</a:t>
            </a:r>
            <a:endParaRPr kumimoji="0" lang="en-US" sz="1600" b="0" i="0" u="none" strike="noStrike" cap="none" normalizeH="0" baseline="0" dirty="0">
              <a:ln>
                <a:noFill/>
              </a:ln>
              <a:solidFill>
                <a:schemeClr val="tx1"/>
              </a:solidFill>
              <a:effectLst/>
              <a:latin typeface="Gill Sans Light"/>
            </a:endParaRPr>
          </a:p>
        </p:txBody>
      </p:sp>
      <p:pic>
        <p:nvPicPr>
          <p:cNvPr id="27" name="Picture 26">
            <a:extLst>
              <a:ext uri="{FF2B5EF4-FFF2-40B4-BE49-F238E27FC236}">
                <a16:creationId xmlns:a16="http://schemas.microsoft.com/office/drawing/2014/main" id="{57205715-3232-4739-82EE-E1D9E0C153A6}"/>
              </a:ext>
            </a:extLst>
          </p:cNvPr>
          <p:cNvPicPr>
            <a:picLocks noChangeAspect="1"/>
          </p:cNvPicPr>
          <p:nvPr/>
        </p:nvPicPr>
        <p:blipFill>
          <a:blip r:embed="rId2">
            <a:clrChange>
              <a:clrFrom>
                <a:srgbClr val="FFFFFF"/>
              </a:clrFrom>
              <a:clrTo>
                <a:srgbClr val="FFFFFF">
                  <a:alpha val="0"/>
                </a:srgbClr>
              </a:clrTo>
            </a:clrChange>
          </a:blip>
          <a:stretch>
            <a:fillRect/>
          </a:stretch>
        </p:blipFill>
        <p:spPr>
          <a:xfrm flipH="1">
            <a:off x="8302804" y="4559299"/>
            <a:ext cx="1270482" cy="1270482"/>
          </a:xfrm>
          <a:prstGeom prst="rect">
            <a:avLst/>
          </a:prstGeom>
        </p:spPr>
      </p:pic>
      <p:sp>
        <p:nvSpPr>
          <p:cNvPr id="31" name="TextBox 30">
            <a:extLst>
              <a:ext uri="{FF2B5EF4-FFF2-40B4-BE49-F238E27FC236}">
                <a16:creationId xmlns:a16="http://schemas.microsoft.com/office/drawing/2014/main" id="{A8A63F55-8F57-4FCF-A466-B7ABFA7D293F}"/>
              </a:ext>
            </a:extLst>
          </p:cNvPr>
          <p:cNvSpPr txBox="1"/>
          <p:nvPr/>
        </p:nvSpPr>
        <p:spPr>
          <a:xfrm>
            <a:off x="8315784" y="4518076"/>
            <a:ext cx="1107996" cy="338554"/>
          </a:xfrm>
          <a:prstGeom prst="rect">
            <a:avLst/>
          </a:prstGeom>
          <a:noFill/>
        </p:spPr>
        <p:txBody>
          <a:bodyPr wrap="none" rtlCol="0">
            <a:spAutoFit/>
          </a:bodyPr>
          <a:lstStyle/>
          <a:p>
            <a:pPr algn="ctr"/>
            <a:r>
              <a:rPr lang="en-US" sz="1600" dirty="0">
                <a:latin typeface="Gill Sans Light"/>
              </a:rPr>
              <a:t>Networks</a:t>
            </a:r>
          </a:p>
        </p:txBody>
      </p:sp>
      <p:sp>
        <p:nvSpPr>
          <p:cNvPr id="34" name="TextBox 33">
            <a:extLst>
              <a:ext uri="{FF2B5EF4-FFF2-40B4-BE49-F238E27FC236}">
                <a16:creationId xmlns:a16="http://schemas.microsoft.com/office/drawing/2014/main" id="{5A2B64A6-5DE4-40BC-B41E-052C2DBBB4E8}"/>
              </a:ext>
            </a:extLst>
          </p:cNvPr>
          <p:cNvSpPr txBox="1"/>
          <p:nvPr/>
        </p:nvSpPr>
        <p:spPr>
          <a:xfrm>
            <a:off x="631271" y="4919941"/>
            <a:ext cx="1353256" cy="400110"/>
          </a:xfrm>
          <a:prstGeom prst="rect">
            <a:avLst/>
          </a:prstGeom>
          <a:noFill/>
        </p:spPr>
        <p:txBody>
          <a:bodyPr wrap="none" rtlCol="0">
            <a:spAutoFit/>
          </a:bodyPr>
          <a:lstStyle/>
          <a:p>
            <a:r>
              <a:rPr lang="en-US" sz="2000" dirty="0">
                <a:latin typeface="Gill Sans Light"/>
              </a:rPr>
              <a:t>Hardware</a:t>
            </a:r>
          </a:p>
        </p:txBody>
      </p:sp>
      <p:cxnSp>
        <p:nvCxnSpPr>
          <p:cNvPr id="39" name="Straight Arrow Connector 38">
            <a:extLst>
              <a:ext uri="{FF2B5EF4-FFF2-40B4-BE49-F238E27FC236}">
                <a16:creationId xmlns:a16="http://schemas.microsoft.com/office/drawing/2014/main" id="{44B237A5-A629-47CA-A0F4-6D264547B1E9}"/>
              </a:ext>
            </a:extLst>
          </p:cNvPr>
          <p:cNvCxnSpPr>
            <a:cxnSpLocks/>
            <a:endCxn id="26" idx="3"/>
          </p:cNvCxnSpPr>
          <p:nvPr/>
        </p:nvCxnSpPr>
        <p:spPr>
          <a:xfrm flipV="1">
            <a:off x="7467048" y="5574229"/>
            <a:ext cx="0" cy="331271"/>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AC006469-8BAB-4F3E-A8D9-EB19E5DDCFD3}"/>
              </a:ext>
            </a:extLst>
          </p:cNvPr>
          <p:cNvCxnSpPr>
            <a:cxnSpLocks/>
          </p:cNvCxnSpPr>
          <p:nvPr/>
        </p:nvCxnSpPr>
        <p:spPr>
          <a:xfrm flipV="1">
            <a:off x="8891831" y="5584848"/>
            <a:ext cx="0" cy="320652"/>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800CF464-6799-4EF1-A173-649974B69470}"/>
              </a:ext>
            </a:extLst>
          </p:cNvPr>
          <p:cNvCxnSpPr>
            <a:cxnSpLocks/>
          </p:cNvCxnSpPr>
          <p:nvPr/>
        </p:nvCxnSpPr>
        <p:spPr>
          <a:xfrm flipV="1">
            <a:off x="4308999" y="5234774"/>
            <a:ext cx="0" cy="670726"/>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077FE5F6-6698-44C8-949A-3B1FFA12825F}"/>
              </a:ext>
            </a:extLst>
          </p:cNvPr>
          <p:cNvCxnSpPr>
            <a:cxnSpLocks/>
            <a:endCxn id="56" idx="1"/>
          </p:cNvCxnSpPr>
          <p:nvPr/>
        </p:nvCxnSpPr>
        <p:spPr>
          <a:xfrm>
            <a:off x="4105518" y="5911715"/>
            <a:ext cx="1091231" cy="0"/>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56" name="Rectangle 55">
            <a:extLst>
              <a:ext uri="{FF2B5EF4-FFF2-40B4-BE49-F238E27FC236}">
                <a16:creationId xmlns:a16="http://schemas.microsoft.com/office/drawing/2014/main" id="{0182EB5C-4F86-416A-B81D-EA223AEB393C}"/>
              </a:ext>
            </a:extLst>
          </p:cNvPr>
          <p:cNvSpPr/>
          <p:nvPr/>
        </p:nvSpPr>
        <p:spPr bwMode="auto">
          <a:xfrm>
            <a:off x="5196749" y="5765133"/>
            <a:ext cx="1044306" cy="293164"/>
          </a:xfrm>
          <a:prstGeom prst="rect">
            <a:avLst/>
          </a:prstGeom>
          <a:no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400" b="0" i="0" u="none" strike="noStrike" cap="none" normalizeH="0" baseline="0" dirty="0">
                <a:ln>
                  <a:noFill/>
                </a:ln>
                <a:solidFill>
                  <a:schemeClr val="tx1"/>
                </a:solidFill>
                <a:effectLst/>
                <a:latin typeface="Gill Sans Light"/>
              </a:rPr>
              <a:t>I/O </a:t>
            </a:r>
            <a:r>
              <a:rPr kumimoji="0" lang="en-US" sz="1400" b="0" i="0" u="none" strike="noStrike" cap="none" normalizeH="0" baseline="0" dirty="0" err="1">
                <a:ln>
                  <a:noFill/>
                </a:ln>
                <a:solidFill>
                  <a:schemeClr val="tx1"/>
                </a:solidFill>
                <a:effectLst/>
                <a:latin typeface="Gill Sans Light"/>
              </a:rPr>
              <a:t>Ctrlr</a:t>
            </a:r>
            <a:endParaRPr kumimoji="0" lang="en-US" sz="1400" b="0" i="0" u="none" strike="noStrike" cap="none" normalizeH="0" baseline="0" dirty="0">
              <a:ln>
                <a:noFill/>
              </a:ln>
              <a:solidFill>
                <a:schemeClr val="tx1"/>
              </a:solidFill>
              <a:effectLst/>
              <a:latin typeface="Gill Sans Light"/>
            </a:endParaRPr>
          </a:p>
        </p:txBody>
      </p:sp>
      <p:cxnSp>
        <p:nvCxnSpPr>
          <p:cNvPr id="59" name="Straight Arrow Connector 58">
            <a:extLst>
              <a:ext uri="{FF2B5EF4-FFF2-40B4-BE49-F238E27FC236}">
                <a16:creationId xmlns:a16="http://schemas.microsoft.com/office/drawing/2014/main" id="{7CEF80FD-C99C-4106-86FD-C44623EF6D66}"/>
              </a:ext>
            </a:extLst>
          </p:cNvPr>
          <p:cNvCxnSpPr>
            <a:cxnSpLocks/>
            <a:stCxn id="56" idx="3"/>
          </p:cNvCxnSpPr>
          <p:nvPr/>
        </p:nvCxnSpPr>
        <p:spPr>
          <a:xfrm flipV="1">
            <a:off x="6241055" y="5905500"/>
            <a:ext cx="5145949" cy="0"/>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8C42E879-B352-4CB0-9045-9528A742E94C}"/>
              </a:ext>
            </a:extLst>
          </p:cNvPr>
          <p:cNvSpPr txBox="1"/>
          <p:nvPr/>
        </p:nvSpPr>
        <p:spPr>
          <a:xfrm>
            <a:off x="861699" y="4314038"/>
            <a:ext cx="1494531" cy="338554"/>
          </a:xfrm>
          <a:prstGeom prst="rect">
            <a:avLst/>
          </a:prstGeom>
          <a:solidFill>
            <a:srgbClr val="EFE683"/>
          </a:solidFill>
          <a:ln>
            <a:solidFill>
              <a:schemeClr val="tx1"/>
            </a:solidFill>
          </a:ln>
        </p:spPr>
        <p:txBody>
          <a:bodyPr wrap="square" rtlCol="0">
            <a:spAutoFit/>
          </a:bodyPr>
          <a:lstStyle/>
          <a:p>
            <a:pPr algn="ctr"/>
            <a:r>
              <a:rPr lang="en-US" sz="1600" b="1" i="1" dirty="0">
                <a:latin typeface="Gill Sans Light"/>
              </a:rPr>
              <a:t>ISA</a:t>
            </a:r>
          </a:p>
        </p:txBody>
      </p:sp>
      <p:sp>
        <p:nvSpPr>
          <p:cNvPr id="84" name="Rectangle 83">
            <a:extLst>
              <a:ext uri="{FF2B5EF4-FFF2-40B4-BE49-F238E27FC236}">
                <a16:creationId xmlns:a16="http://schemas.microsoft.com/office/drawing/2014/main" id="{87B4BF93-F38E-482C-92DA-97BF83D39E26}"/>
              </a:ext>
            </a:extLst>
          </p:cNvPr>
          <p:cNvSpPr/>
          <p:nvPr/>
        </p:nvSpPr>
        <p:spPr>
          <a:xfrm>
            <a:off x="419100" y="2710529"/>
            <a:ext cx="1417802" cy="1493074"/>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Gill Sans Light"/>
              </a:rPr>
              <a:t>Compiler</a:t>
            </a:r>
          </a:p>
        </p:txBody>
      </p:sp>
      <p:sp>
        <p:nvSpPr>
          <p:cNvPr id="45" name="Rectangle 44">
            <a:extLst>
              <a:ext uri="{FF2B5EF4-FFF2-40B4-BE49-F238E27FC236}">
                <a16:creationId xmlns:a16="http://schemas.microsoft.com/office/drawing/2014/main" id="{3EFB73E7-29AB-4311-90E8-B9325E17083A}"/>
              </a:ext>
            </a:extLst>
          </p:cNvPr>
          <p:cNvSpPr/>
          <p:nvPr/>
        </p:nvSpPr>
        <p:spPr>
          <a:xfrm>
            <a:off x="0" y="1860550"/>
            <a:ext cx="12192000" cy="4692650"/>
          </a:xfrm>
          <a:prstGeom prst="rect">
            <a:avLst/>
          </a:pr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Gill Sans Light"/>
            </a:endParaRPr>
          </a:p>
        </p:txBody>
      </p:sp>
      <p:sp>
        <p:nvSpPr>
          <p:cNvPr id="63" name="Rectangle 62">
            <a:extLst>
              <a:ext uri="{FF2B5EF4-FFF2-40B4-BE49-F238E27FC236}">
                <a16:creationId xmlns:a16="http://schemas.microsoft.com/office/drawing/2014/main" id="{CA91FAA7-997F-463D-B0E7-ECB8FF4BD25C}"/>
              </a:ext>
            </a:extLst>
          </p:cNvPr>
          <p:cNvSpPr/>
          <p:nvPr/>
        </p:nvSpPr>
        <p:spPr>
          <a:xfrm>
            <a:off x="1955800" y="3595554"/>
            <a:ext cx="9753601" cy="936847"/>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latin typeface="Gill Sans Light"/>
              </a:rPr>
              <a:t>Operating System</a:t>
            </a:r>
          </a:p>
        </p:txBody>
      </p:sp>
      <p:sp>
        <p:nvSpPr>
          <p:cNvPr id="2" name="Title 1">
            <a:extLst>
              <a:ext uri="{FF2B5EF4-FFF2-40B4-BE49-F238E27FC236}">
                <a16:creationId xmlns:a16="http://schemas.microsoft.com/office/drawing/2014/main" id="{2735C77F-660A-43A3-8126-43A0F77E49F3}"/>
              </a:ext>
            </a:extLst>
          </p:cNvPr>
          <p:cNvSpPr>
            <a:spLocks noGrp="1"/>
          </p:cNvSpPr>
          <p:nvPr>
            <p:ph type="title"/>
          </p:nvPr>
        </p:nvSpPr>
        <p:spPr/>
        <p:txBody>
          <a:bodyPr/>
          <a:lstStyle/>
          <a:p>
            <a:r>
              <a:rPr lang="en-US" dirty="0"/>
              <a:t>OS Basics: Protection</a:t>
            </a:r>
          </a:p>
        </p:txBody>
      </p:sp>
      <p:sp>
        <p:nvSpPr>
          <p:cNvPr id="8" name="Rounded Rectangle 6">
            <a:extLst>
              <a:ext uri="{FF2B5EF4-FFF2-40B4-BE49-F238E27FC236}">
                <a16:creationId xmlns:a16="http://schemas.microsoft.com/office/drawing/2014/main" id="{EA9B6AFF-D750-4502-865E-E3737510EED0}"/>
              </a:ext>
            </a:extLst>
          </p:cNvPr>
          <p:cNvSpPr/>
          <p:nvPr/>
        </p:nvSpPr>
        <p:spPr bwMode="auto">
          <a:xfrm>
            <a:off x="2201858" y="4618038"/>
            <a:ext cx="1728792" cy="838200"/>
          </a:xfrm>
          <a:prstGeom prst="roundRect">
            <a:avLst/>
          </a:prstGeom>
          <a:solidFill>
            <a:schemeClr val="accent1">
              <a:lumMod val="40000"/>
              <a:lumOff val="6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Gill Sans Light"/>
              </a:rPr>
              <a:t>Processor</a:t>
            </a:r>
            <a:endParaRPr kumimoji="0" lang="en-US" sz="1400" b="0" i="0" u="none" strike="noStrike" cap="none" normalizeH="0" baseline="0" dirty="0">
              <a:ln>
                <a:noFill/>
              </a:ln>
              <a:solidFill>
                <a:schemeClr val="tx1"/>
              </a:solidFill>
              <a:effectLst/>
              <a:latin typeface="Gill Sans Light"/>
            </a:endParaRPr>
          </a:p>
        </p:txBody>
      </p:sp>
      <p:sp>
        <p:nvSpPr>
          <p:cNvPr id="9" name="Rectangle 8">
            <a:extLst>
              <a:ext uri="{FF2B5EF4-FFF2-40B4-BE49-F238E27FC236}">
                <a16:creationId xmlns:a16="http://schemas.microsoft.com/office/drawing/2014/main" id="{85025C03-FC2A-4CCF-8684-4F37D94D3763}"/>
              </a:ext>
            </a:extLst>
          </p:cNvPr>
          <p:cNvSpPr/>
          <p:nvPr/>
        </p:nvSpPr>
        <p:spPr bwMode="auto">
          <a:xfrm>
            <a:off x="5009666" y="4664869"/>
            <a:ext cx="1760608" cy="973138"/>
          </a:xfrm>
          <a:prstGeom prst="rect">
            <a:avLst/>
          </a:prstGeom>
          <a:solidFill>
            <a:srgbClr val="5AAEFF"/>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Gill Sans Light"/>
              </a:rPr>
              <a:t>Memory</a:t>
            </a:r>
          </a:p>
        </p:txBody>
      </p:sp>
      <p:grpSp>
        <p:nvGrpSpPr>
          <p:cNvPr id="10" name="Group 9">
            <a:extLst>
              <a:ext uri="{FF2B5EF4-FFF2-40B4-BE49-F238E27FC236}">
                <a16:creationId xmlns:a16="http://schemas.microsoft.com/office/drawing/2014/main" id="{4C2174B6-519D-44F7-A8CB-C9D9304FB602}"/>
              </a:ext>
            </a:extLst>
          </p:cNvPr>
          <p:cNvGrpSpPr/>
          <p:nvPr/>
        </p:nvGrpSpPr>
        <p:grpSpPr>
          <a:xfrm>
            <a:off x="3244850" y="5075238"/>
            <a:ext cx="533400" cy="304800"/>
            <a:chOff x="3124200" y="3657600"/>
            <a:chExt cx="533400" cy="304800"/>
          </a:xfrm>
          <a:solidFill>
            <a:schemeClr val="accent6"/>
          </a:solidFill>
        </p:grpSpPr>
        <p:sp>
          <p:nvSpPr>
            <p:cNvPr id="11" name="Rectangle 10">
              <a:extLst>
                <a:ext uri="{FF2B5EF4-FFF2-40B4-BE49-F238E27FC236}">
                  <a16:creationId xmlns:a16="http://schemas.microsoft.com/office/drawing/2014/main" id="{EFBA6894-B008-4F1D-B22C-730173B3DFD4}"/>
                </a:ext>
              </a:extLst>
            </p:cNvPr>
            <p:cNvSpPr/>
            <p:nvPr/>
          </p:nvSpPr>
          <p:spPr bwMode="auto">
            <a:xfrm>
              <a:off x="3124200" y="3657600"/>
              <a:ext cx="533400" cy="304800"/>
            </a:xfrm>
            <a:prstGeom prst="rect">
              <a:avLst/>
            </a:prstGeom>
            <a:grp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sp>
          <p:nvSpPr>
            <p:cNvPr id="12" name="Rectangle 11">
              <a:extLst>
                <a:ext uri="{FF2B5EF4-FFF2-40B4-BE49-F238E27FC236}">
                  <a16:creationId xmlns:a16="http://schemas.microsoft.com/office/drawing/2014/main" id="{F6B854A3-399D-4E47-BB10-B204E22F6207}"/>
                </a:ext>
              </a:extLst>
            </p:cNvPr>
            <p:cNvSpPr/>
            <p:nvPr/>
          </p:nvSpPr>
          <p:spPr bwMode="auto">
            <a:xfrm>
              <a:off x="3124200" y="3733800"/>
              <a:ext cx="533400" cy="152400"/>
            </a:xfrm>
            <a:prstGeom prst="rect">
              <a:avLst/>
            </a:prstGeom>
            <a:grp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grpSp>
      <p:sp>
        <p:nvSpPr>
          <p:cNvPr id="16" name="Rectangle 15">
            <a:extLst>
              <a:ext uri="{FF2B5EF4-FFF2-40B4-BE49-F238E27FC236}">
                <a16:creationId xmlns:a16="http://schemas.microsoft.com/office/drawing/2014/main" id="{7114092D-E1CB-4952-8CAA-BD6429870DAC}"/>
              </a:ext>
            </a:extLst>
          </p:cNvPr>
          <p:cNvSpPr/>
          <p:nvPr/>
        </p:nvSpPr>
        <p:spPr bwMode="auto">
          <a:xfrm>
            <a:off x="5683893" y="5188015"/>
            <a:ext cx="412153" cy="387428"/>
          </a:xfrm>
          <a:prstGeom prst="rect">
            <a:avLst/>
          </a:prstGeom>
          <a:solidFill>
            <a:schemeClr val="accent6"/>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sp>
        <p:nvSpPr>
          <p:cNvPr id="13" name="Rectangle 12">
            <a:extLst>
              <a:ext uri="{FF2B5EF4-FFF2-40B4-BE49-F238E27FC236}">
                <a16:creationId xmlns:a16="http://schemas.microsoft.com/office/drawing/2014/main" id="{4A1809EB-73C2-4CF6-B753-8F1B20E63381}"/>
              </a:ext>
            </a:extLst>
          </p:cNvPr>
          <p:cNvSpPr/>
          <p:nvPr/>
        </p:nvSpPr>
        <p:spPr bwMode="auto">
          <a:xfrm>
            <a:off x="5171349" y="5188015"/>
            <a:ext cx="447915" cy="396832"/>
          </a:xfrm>
          <a:prstGeom prst="rect">
            <a:avLst/>
          </a:prstGeom>
          <a:solidFill>
            <a:srgbClr val="9E7800"/>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cxnSp>
        <p:nvCxnSpPr>
          <p:cNvPr id="17" name="Curved Connector 54">
            <a:extLst>
              <a:ext uri="{FF2B5EF4-FFF2-40B4-BE49-F238E27FC236}">
                <a16:creationId xmlns:a16="http://schemas.microsoft.com/office/drawing/2014/main" id="{1C7D6572-FBEF-45D3-B9EB-4A6924279104}"/>
              </a:ext>
            </a:extLst>
          </p:cNvPr>
          <p:cNvCxnSpPr>
            <a:cxnSpLocks/>
          </p:cNvCxnSpPr>
          <p:nvPr/>
        </p:nvCxnSpPr>
        <p:spPr bwMode="auto">
          <a:xfrm>
            <a:off x="3600451" y="5265655"/>
            <a:ext cx="2324099" cy="177506"/>
          </a:xfrm>
          <a:prstGeom prst="curvedConnector3">
            <a:avLst>
              <a:gd name="adj1" fmla="val 50000"/>
            </a:avLst>
          </a:prstGeom>
          <a:solidFill>
            <a:schemeClr val="accent1"/>
          </a:solidFill>
          <a:ln w="22225" cap="flat" cmpd="sng" algn="ctr">
            <a:solidFill>
              <a:schemeClr val="tx1"/>
            </a:solidFill>
            <a:prstDash val="solid"/>
            <a:round/>
            <a:headEnd type="triangle" w="sm" len="sm"/>
            <a:tailEnd type="triangle"/>
          </a:ln>
          <a:effectLst/>
        </p:spPr>
      </p:cxnSp>
      <p:sp>
        <p:nvSpPr>
          <p:cNvPr id="80" name="Rectangle 79">
            <a:extLst>
              <a:ext uri="{FF2B5EF4-FFF2-40B4-BE49-F238E27FC236}">
                <a16:creationId xmlns:a16="http://schemas.microsoft.com/office/drawing/2014/main" id="{4838629E-2E3E-4207-99FE-90E9B77B1C43}"/>
              </a:ext>
            </a:extLst>
          </p:cNvPr>
          <p:cNvSpPr/>
          <p:nvPr/>
        </p:nvSpPr>
        <p:spPr>
          <a:xfrm>
            <a:off x="2187471" y="2710529"/>
            <a:ext cx="4568415" cy="936847"/>
          </a:xfrm>
          <a:prstGeom prst="rect">
            <a:avLst/>
          </a:prstGeom>
          <a:solidFill>
            <a:srgbClr val="9E78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1" dirty="0">
                <a:solidFill>
                  <a:schemeClr val="tx1"/>
                </a:solidFill>
                <a:latin typeface="Gill Sans Light"/>
              </a:rPr>
              <a:t>Process 1</a:t>
            </a:r>
          </a:p>
          <a:p>
            <a:pPr algn="ctr"/>
            <a:endParaRPr lang="en-US" sz="1200" dirty="0">
              <a:solidFill>
                <a:schemeClr val="tx1"/>
              </a:solidFill>
              <a:latin typeface="Gill Sans Light"/>
            </a:endParaRPr>
          </a:p>
        </p:txBody>
      </p:sp>
      <p:sp>
        <p:nvSpPr>
          <p:cNvPr id="72" name="TextBox 71">
            <a:extLst>
              <a:ext uri="{FF2B5EF4-FFF2-40B4-BE49-F238E27FC236}">
                <a16:creationId xmlns:a16="http://schemas.microsoft.com/office/drawing/2014/main" id="{E4897103-5196-4D83-8C50-ED908C0B63F9}"/>
              </a:ext>
            </a:extLst>
          </p:cNvPr>
          <p:cNvSpPr txBox="1"/>
          <p:nvPr/>
        </p:nvSpPr>
        <p:spPr>
          <a:xfrm>
            <a:off x="2245360" y="3396030"/>
            <a:ext cx="961390"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Threads</a:t>
            </a:r>
          </a:p>
        </p:txBody>
      </p:sp>
      <p:sp>
        <p:nvSpPr>
          <p:cNvPr id="73" name="Rectangle 72">
            <a:extLst>
              <a:ext uri="{FF2B5EF4-FFF2-40B4-BE49-F238E27FC236}">
                <a16:creationId xmlns:a16="http://schemas.microsoft.com/office/drawing/2014/main" id="{1F630E64-216C-4D30-9C27-5AEDDDA28456}"/>
              </a:ext>
            </a:extLst>
          </p:cNvPr>
          <p:cNvSpPr/>
          <p:nvPr/>
        </p:nvSpPr>
        <p:spPr bwMode="auto">
          <a:xfrm>
            <a:off x="6160675" y="5188015"/>
            <a:ext cx="470617" cy="380268"/>
          </a:xfrm>
          <a:prstGeom prst="rect">
            <a:avLst/>
          </a:prstGeom>
          <a:solidFill>
            <a:schemeClr val="bg2">
              <a:lumMod val="60000"/>
              <a:lumOff val="40000"/>
            </a:schemeClr>
          </a:solidFill>
          <a:ln w="12700" cap="flat" cmpd="sng" algn="ctr">
            <a:solidFill>
              <a:schemeClr val="tx1"/>
            </a:solidFill>
            <a:prstDash val="solid"/>
            <a:round/>
            <a:headEnd type="none" w="sm" len="sm"/>
            <a:tailEnd type="none" w="sm" len="sm"/>
          </a:ln>
          <a:effectLst/>
        </p:spPr>
        <p:txBody>
          <a:bodyPr vert="horz" wrap="square" lIns="0" tIns="45720" rIns="0" bIns="45720" numCol="1" rtlCol="0" anchor="ctr" anchorCtr="0" compatLnSpc="1">
            <a:prstTxWarp prst="textNoShape">
              <a:avLst/>
            </a:prstTxWarp>
          </a:bodyPr>
          <a:lstStyle/>
          <a:p>
            <a:pPr marL="0" marR="0" indent="0" algn="ctr" defTabSz="914400" rtl="0" eaLnBrk="0" fontAlgn="base" latinLnBrk="0" hangingPunct="0">
              <a:lnSpc>
                <a:spcPts val="16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Gill Sans Light"/>
              </a:rPr>
              <a:t>OS</a:t>
            </a:r>
          </a:p>
          <a:p>
            <a:pPr marL="0" marR="0" indent="0" algn="ctr" defTabSz="914400" rtl="0" eaLnBrk="0" fontAlgn="base" latinLnBrk="0" hangingPunct="0">
              <a:lnSpc>
                <a:spcPts val="1600"/>
              </a:lnSpc>
              <a:spcBef>
                <a:spcPct val="0"/>
              </a:spcBef>
              <a:spcAft>
                <a:spcPct val="0"/>
              </a:spcAft>
              <a:buClrTx/>
              <a:buSzTx/>
              <a:buFontTx/>
              <a:buNone/>
              <a:tabLst/>
            </a:pPr>
            <a:r>
              <a:rPr lang="en-US" sz="1200" dirty="0">
                <a:latin typeface="Gill Sans Light"/>
              </a:rPr>
              <a:t>Mem</a:t>
            </a:r>
            <a:endParaRPr kumimoji="0" lang="en-US" sz="1200" b="0" i="0" u="none" strike="noStrike" cap="none" normalizeH="0" baseline="0" dirty="0">
              <a:ln>
                <a:noFill/>
              </a:ln>
              <a:solidFill>
                <a:schemeClr val="tx1"/>
              </a:solidFill>
              <a:effectLst/>
              <a:latin typeface="Gill Sans Light"/>
            </a:endParaRPr>
          </a:p>
        </p:txBody>
      </p:sp>
      <p:sp>
        <p:nvSpPr>
          <p:cNvPr id="74" name="TextBox 73">
            <a:extLst>
              <a:ext uri="{FF2B5EF4-FFF2-40B4-BE49-F238E27FC236}">
                <a16:creationId xmlns:a16="http://schemas.microsoft.com/office/drawing/2014/main" id="{903AC2DB-5960-4CF0-B972-E1CDF92622A2}"/>
              </a:ext>
            </a:extLst>
          </p:cNvPr>
          <p:cNvSpPr txBox="1"/>
          <p:nvPr/>
        </p:nvSpPr>
        <p:spPr>
          <a:xfrm>
            <a:off x="3325648" y="3398740"/>
            <a:ext cx="1550862"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Address Spaces</a:t>
            </a:r>
          </a:p>
        </p:txBody>
      </p:sp>
      <p:sp>
        <p:nvSpPr>
          <p:cNvPr id="75" name="TextBox 74">
            <a:extLst>
              <a:ext uri="{FF2B5EF4-FFF2-40B4-BE49-F238E27FC236}">
                <a16:creationId xmlns:a16="http://schemas.microsoft.com/office/drawing/2014/main" id="{AD4C368E-047B-4BC3-8012-71A6CC7B5378}"/>
              </a:ext>
            </a:extLst>
          </p:cNvPr>
          <p:cNvSpPr txBox="1"/>
          <p:nvPr/>
        </p:nvSpPr>
        <p:spPr>
          <a:xfrm>
            <a:off x="5000552" y="3397972"/>
            <a:ext cx="683252"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Files</a:t>
            </a:r>
          </a:p>
        </p:txBody>
      </p:sp>
      <p:sp>
        <p:nvSpPr>
          <p:cNvPr id="76" name="TextBox 75">
            <a:extLst>
              <a:ext uri="{FF2B5EF4-FFF2-40B4-BE49-F238E27FC236}">
                <a16:creationId xmlns:a16="http://schemas.microsoft.com/office/drawing/2014/main" id="{8ED3D70A-C8B7-4AAE-8DB5-86A5FF23DEF3}"/>
              </a:ext>
            </a:extLst>
          </p:cNvPr>
          <p:cNvSpPr txBox="1"/>
          <p:nvPr/>
        </p:nvSpPr>
        <p:spPr>
          <a:xfrm>
            <a:off x="5814118" y="3397972"/>
            <a:ext cx="844624"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Sockets</a:t>
            </a:r>
          </a:p>
        </p:txBody>
      </p:sp>
      <p:sp>
        <p:nvSpPr>
          <p:cNvPr id="55" name="Rectangle 54">
            <a:extLst>
              <a:ext uri="{FF2B5EF4-FFF2-40B4-BE49-F238E27FC236}">
                <a16:creationId xmlns:a16="http://schemas.microsoft.com/office/drawing/2014/main" id="{0E783A07-C148-43C9-84E9-1E9884CF721E}"/>
              </a:ext>
            </a:extLst>
          </p:cNvPr>
          <p:cNvSpPr/>
          <p:nvPr/>
        </p:nvSpPr>
        <p:spPr>
          <a:xfrm>
            <a:off x="6933883" y="2710529"/>
            <a:ext cx="4568415" cy="936847"/>
          </a:xfrm>
          <a:prstGeom prst="rect">
            <a:avLst/>
          </a:prstGeom>
          <a:solidFill>
            <a:schemeClr val="accent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1" dirty="0">
                <a:solidFill>
                  <a:schemeClr val="tx1"/>
                </a:solidFill>
                <a:latin typeface="Gill Sans Light"/>
              </a:rPr>
              <a:t>Process 2</a:t>
            </a:r>
          </a:p>
          <a:p>
            <a:pPr algn="ctr"/>
            <a:endParaRPr lang="en-US" sz="1200" dirty="0">
              <a:solidFill>
                <a:schemeClr val="tx1"/>
              </a:solidFill>
              <a:latin typeface="Gill Sans Light"/>
            </a:endParaRPr>
          </a:p>
        </p:txBody>
      </p:sp>
      <p:sp>
        <p:nvSpPr>
          <p:cNvPr id="57" name="TextBox 56">
            <a:extLst>
              <a:ext uri="{FF2B5EF4-FFF2-40B4-BE49-F238E27FC236}">
                <a16:creationId xmlns:a16="http://schemas.microsoft.com/office/drawing/2014/main" id="{8FBCBFF2-102E-4AC2-AE4A-CC896E9B1E66}"/>
              </a:ext>
            </a:extLst>
          </p:cNvPr>
          <p:cNvSpPr txBox="1"/>
          <p:nvPr/>
        </p:nvSpPr>
        <p:spPr>
          <a:xfrm>
            <a:off x="6977384" y="3396030"/>
            <a:ext cx="961390"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Threads</a:t>
            </a:r>
          </a:p>
        </p:txBody>
      </p:sp>
      <p:sp>
        <p:nvSpPr>
          <p:cNvPr id="58" name="TextBox 57">
            <a:extLst>
              <a:ext uri="{FF2B5EF4-FFF2-40B4-BE49-F238E27FC236}">
                <a16:creationId xmlns:a16="http://schemas.microsoft.com/office/drawing/2014/main" id="{85A8239A-9FCD-46DB-B7DA-7EA11E27E672}"/>
              </a:ext>
            </a:extLst>
          </p:cNvPr>
          <p:cNvSpPr txBox="1"/>
          <p:nvPr/>
        </p:nvSpPr>
        <p:spPr>
          <a:xfrm>
            <a:off x="8057672" y="3398740"/>
            <a:ext cx="1550862"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Address Spaces</a:t>
            </a:r>
          </a:p>
        </p:txBody>
      </p:sp>
      <p:sp>
        <p:nvSpPr>
          <p:cNvPr id="60" name="TextBox 59">
            <a:extLst>
              <a:ext uri="{FF2B5EF4-FFF2-40B4-BE49-F238E27FC236}">
                <a16:creationId xmlns:a16="http://schemas.microsoft.com/office/drawing/2014/main" id="{D923F43D-F391-40F4-9D87-D4E37AAB7342}"/>
              </a:ext>
            </a:extLst>
          </p:cNvPr>
          <p:cNvSpPr txBox="1"/>
          <p:nvPr/>
        </p:nvSpPr>
        <p:spPr>
          <a:xfrm>
            <a:off x="9732576" y="3397972"/>
            <a:ext cx="683252"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Files</a:t>
            </a:r>
          </a:p>
        </p:txBody>
      </p:sp>
      <p:sp>
        <p:nvSpPr>
          <p:cNvPr id="61" name="TextBox 60">
            <a:extLst>
              <a:ext uri="{FF2B5EF4-FFF2-40B4-BE49-F238E27FC236}">
                <a16:creationId xmlns:a16="http://schemas.microsoft.com/office/drawing/2014/main" id="{9AB076CB-B81B-4687-8B6B-B76A3C75D037}"/>
              </a:ext>
            </a:extLst>
          </p:cNvPr>
          <p:cNvSpPr txBox="1"/>
          <p:nvPr/>
        </p:nvSpPr>
        <p:spPr>
          <a:xfrm>
            <a:off x="10546142" y="3397972"/>
            <a:ext cx="844624" cy="276999"/>
          </a:xfrm>
          <a:prstGeom prst="rect">
            <a:avLst/>
          </a:prstGeom>
          <a:solidFill>
            <a:srgbClr val="EFE683"/>
          </a:solidFill>
          <a:ln>
            <a:solidFill>
              <a:schemeClr val="tx1"/>
            </a:solidFill>
          </a:ln>
        </p:spPr>
        <p:txBody>
          <a:bodyPr wrap="square" rtlCol="0">
            <a:spAutoFit/>
          </a:bodyPr>
          <a:lstStyle/>
          <a:p>
            <a:pPr algn="ctr"/>
            <a:r>
              <a:rPr lang="en-US" sz="1200" b="1" i="1" dirty="0">
                <a:latin typeface="Gill Sans Light"/>
              </a:rPr>
              <a:t>Sockets</a:t>
            </a:r>
          </a:p>
        </p:txBody>
      </p:sp>
      <p:sp>
        <p:nvSpPr>
          <p:cNvPr id="81" name="Rectangle: Folded Corner 80">
            <a:extLst>
              <a:ext uri="{FF2B5EF4-FFF2-40B4-BE49-F238E27FC236}">
                <a16:creationId xmlns:a16="http://schemas.microsoft.com/office/drawing/2014/main" id="{19183BC7-FF86-4959-8312-523AE576C3AF}"/>
              </a:ext>
            </a:extLst>
          </p:cNvPr>
          <p:cNvSpPr/>
          <p:nvPr/>
        </p:nvSpPr>
        <p:spPr>
          <a:xfrm>
            <a:off x="3539163" y="1372394"/>
            <a:ext cx="2014336" cy="1471720"/>
          </a:xfrm>
          <a:prstGeom prst="foldedCorner">
            <a:avLst>
              <a:gd name="adj" fmla="val 21333"/>
            </a:avLst>
          </a:prstGeom>
          <a:solidFill>
            <a:srgbClr val="9E7800"/>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2000" dirty="0">
                <a:solidFill>
                  <a:schemeClr val="tx1"/>
                </a:solidFill>
                <a:latin typeface="Gill Sans Light"/>
              </a:rPr>
              <a:t>Compiled</a:t>
            </a:r>
          </a:p>
          <a:p>
            <a:pPr algn="ctr"/>
            <a:r>
              <a:rPr lang="en-US" sz="2000" dirty="0">
                <a:solidFill>
                  <a:schemeClr val="tx1"/>
                </a:solidFill>
                <a:latin typeface="Gill Sans Light"/>
              </a:rPr>
              <a:t>Program 1</a:t>
            </a:r>
          </a:p>
        </p:txBody>
      </p:sp>
      <p:sp>
        <p:nvSpPr>
          <p:cNvPr id="83" name="Rectangle 82">
            <a:extLst>
              <a:ext uri="{FF2B5EF4-FFF2-40B4-BE49-F238E27FC236}">
                <a16:creationId xmlns:a16="http://schemas.microsoft.com/office/drawing/2014/main" id="{DCEED07B-2876-4266-8889-B6933456A2AD}"/>
              </a:ext>
            </a:extLst>
          </p:cNvPr>
          <p:cNvSpPr/>
          <p:nvPr/>
        </p:nvSpPr>
        <p:spPr>
          <a:xfrm>
            <a:off x="3801201" y="2322568"/>
            <a:ext cx="1343751" cy="464249"/>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Gill Sans Light"/>
              </a:rPr>
              <a:t>System Libs</a:t>
            </a:r>
          </a:p>
        </p:txBody>
      </p:sp>
      <p:sp>
        <p:nvSpPr>
          <p:cNvPr id="65" name="Rectangle: Folded Corner 64">
            <a:extLst>
              <a:ext uri="{FF2B5EF4-FFF2-40B4-BE49-F238E27FC236}">
                <a16:creationId xmlns:a16="http://schemas.microsoft.com/office/drawing/2014/main" id="{16EECD36-F398-4299-8CCB-C7B1EBF07062}"/>
              </a:ext>
            </a:extLst>
          </p:cNvPr>
          <p:cNvSpPr/>
          <p:nvPr/>
        </p:nvSpPr>
        <p:spPr>
          <a:xfrm>
            <a:off x="8375029" y="1366340"/>
            <a:ext cx="2014336" cy="1471720"/>
          </a:xfrm>
          <a:prstGeom prst="foldedCorner">
            <a:avLst>
              <a:gd name="adj" fmla="val 21333"/>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2000" dirty="0">
                <a:solidFill>
                  <a:schemeClr val="tx1"/>
                </a:solidFill>
                <a:latin typeface="Gill Sans Light"/>
              </a:rPr>
              <a:t>Compiled</a:t>
            </a:r>
          </a:p>
          <a:p>
            <a:pPr algn="ctr"/>
            <a:r>
              <a:rPr lang="en-US" sz="2000" dirty="0">
                <a:solidFill>
                  <a:schemeClr val="tx1"/>
                </a:solidFill>
                <a:latin typeface="Gill Sans Light"/>
              </a:rPr>
              <a:t>Program 2</a:t>
            </a:r>
          </a:p>
        </p:txBody>
      </p:sp>
      <p:sp>
        <p:nvSpPr>
          <p:cNvPr id="66" name="Rectangle 65">
            <a:extLst>
              <a:ext uri="{FF2B5EF4-FFF2-40B4-BE49-F238E27FC236}">
                <a16:creationId xmlns:a16="http://schemas.microsoft.com/office/drawing/2014/main" id="{157B6B9A-A9A3-407F-951E-EECDC589195B}"/>
              </a:ext>
            </a:extLst>
          </p:cNvPr>
          <p:cNvSpPr/>
          <p:nvPr/>
        </p:nvSpPr>
        <p:spPr>
          <a:xfrm>
            <a:off x="8622679" y="2316514"/>
            <a:ext cx="1343751" cy="464249"/>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Gill Sans Light"/>
              </a:rPr>
              <a:t>System Libs</a:t>
            </a:r>
          </a:p>
        </p:txBody>
      </p:sp>
      <p:cxnSp>
        <p:nvCxnSpPr>
          <p:cNvPr id="48" name="Straight Arrow Connector 47">
            <a:extLst>
              <a:ext uri="{FF2B5EF4-FFF2-40B4-BE49-F238E27FC236}">
                <a16:creationId xmlns:a16="http://schemas.microsoft.com/office/drawing/2014/main" id="{BE858DB2-7003-40D8-8AF5-0334EED7323F}"/>
              </a:ext>
            </a:extLst>
          </p:cNvPr>
          <p:cNvCxnSpPr>
            <a:cxnSpLocks/>
          </p:cNvCxnSpPr>
          <p:nvPr/>
        </p:nvCxnSpPr>
        <p:spPr>
          <a:xfrm flipH="1">
            <a:off x="5443637" y="3262446"/>
            <a:ext cx="3070450" cy="2051440"/>
          </a:xfrm>
          <a:prstGeom prst="straightConnector1">
            <a:avLst/>
          </a:prstGeom>
          <a:ln w="76200" cmpd="tri">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2D16E4B0-8FE9-4933-B3E2-BA4B33591A3B}"/>
              </a:ext>
            </a:extLst>
          </p:cNvPr>
          <p:cNvCxnSpPr>
            <a:cxnSpLocks/>
          </p:cNvCxnSpPr>
          <p:nvPr/>
        </p:nvCxnSpPr>
        <p:spPr>
          <a:xfrm flipH="1">
            <a:off x="6358944" y="3276270"/>
            <a:ext cx="2518629" cy="2064514"/>
          </a:xfrm>
          <a:prstGeom prst="straightConnector1">
            <a:avLst/>
          </a:prstGeom>
          <a:ln w="76200" cmpd="tri">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FE61B105-AE19-4057-9F4B-4CD31B8FB69B}"/>
              </a:ext>
            </a:extLst>
          </p:cNvPr>
          <p:cNvCxnSpPr>
            <a:cxnSpLocks/>
          </p:cNvCxnSpPr>
          <p:nvPr/>
        </p:nvCxnSpPr>
        <p:spPr>
          <a:xfrm flipH="1">
            <a:off x="7266087" y="3263196"/>
            <a:ext cx="2058605" cy="1931344"/>
          </a:xfrm>
          <a:prstGeom prst="straightConnector1">
            <a:avLst/>
          </a:prstGeom>
          <a:ln w="76200" cmpd="tri">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 name="Multiplication Sign 6">
            <a:extLst>
              <a:ext uri="{FF2B5EF4-FFF2-40B4-BE49-F238E27FC236}">
                <a16:creationId xmlns:a16="http://schemas.microsoft.com/office/drawing/2014/main" id="{8837E5CD-DDBD-4E19-BCED-8F23EE8A3189}"/>
              </a:ext>
            </a:extLst>
          </p:cNvPr>
          <p:cNvSpPr/>
          <p:nvPr/>
        </p:nvSpPr>
        <p:spPr>
          <a:xfrm>
            <a:off x="7721761" y="627806"/>
            <a:ext cx="3398938" cy="3398938"/>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Gill Sans Light"/>
            </a:endParaRPr>
          </a:p>
        </p:txBody>
      </p:sp>
      <p:sp>
        <p:nvSpPr>
          <p:cNvPr id="14" name="Speech Bubble: Rectangle with Corners Rounded 13">
            <a:extLst>
              <a:ext uri="{FF2B5EF4-FFF2-40B4-BE49-F238E27FC236}">
                <a16:creationId xmlns:a16="http://schemas.microsoft.com/office/drawing/2014/main" id="{BEC9F446-3A35-4EA9-9C60-D67D844BB544}"/>
              </a:ext>
            </a:extLst>
          </p:cNvPr>
          <p:cNvSpPr/>
          <p:nvPr/>
        </p:nvSpPr>
        <p:spPr>
          <a:xfrm>
            <a:off x="6096000" y="703457"/>
            <a:ext cx="2459609" cy="1298869"/>
          </a:xfrm>
          <a:prstGeom prst="wedgeRoundRectCallout">
            <a:avLst>
              <a:gd name="adj1" fmla="val -19074"/>
              <a:gd name="adj2" fmla="val 186742"/>
              <a:gd name="adj3" fmla="val 16667"/>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dirty="0">
                <a:latin typeface="Consolas" panose="020B0609020204030204" pitchFamily="49" charset="0"/>
              </a:rPr>
              <a:t>Segmentation fault (core dumped)</a:t>
            </a:r>
          </a:p>
        </p:txBody>
      </p:sp>
    </p:spTree>
    <p:extLst>
      <p:ext uri="{BB962C8B-B14F-4D97-AF65-F5344CB8AC3E}">
        <p14:creationId xmlns:p14="http://schemas.microsoft.com/office/powerpoint/2010/main" val="67161271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4"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C79C7B-540E-47BF-80E6-833652732F8B}"/>
              </a:ext>
            </a:extLst>
          </p:cNvPr>
          <p:cNvSpPr>
            <a:spLocks noGrp="1"/>
          </p:cNvSpPr>
          <p:nvPr>
            <p:ph type="title"/>
          </p:nvPr>
        </p:nvSpPr>
        <p:spPr/>
        <p:txBody>
          <a:bodyPr/>
          <a:lstStyle/>
          <a:p>
            <a:r>
              <a:rPr lang="en-US" dirty="0">
                <a:latin typeface="Gill Sans Light"/>
              </a:rPr>
              <a:t>OS Basics: Protection</a:t>
            </a:r>
          </a:p>
        </p:txBody>
      </p:sp>
      <p:sp>
        <p:nvSpPr>
          <p:cNvPr id="6" name="Rectangle 5">
            <a:extLst>
              <a:ext uri="{FF2B5EF4-FFF2-40B4-BE49-F238E27FC236}">
                <a16:creationId xmlns:a16="http://schemas.microsoft.com/office/drawing/2014/main" id="{8A53B99E-1B81-4494-AF3F-20A5844B930F}"/>
              </a:ext>
            </a:extLst>
          </p:cNvPr>
          <p:cNvSpPr/>
          <p:nvPr/>
        </p:nvSpPr>
        <p:spPr bwMode="auto">
          <a:xfrm>
            <a:off x="768790" y="2364551"/>
            <a:ext cx="6705600" cy="3822700"/>
          </a:xfrm>
          <a:prstGeom prst="rect">
            <a:avLst/>
          </a:prstGeom>
          <a:pattFill prst="horzBrick">
            <a:fgClr>
              <a:schemeClr val="bg2">
                <a:lumMod val="40000"/>
                <a:lumOff val="60000"/>
              </a:schemeClr>
            </a:fgClr>
            <a:bgClr>
              <a:prstClr val="white"/>
            </a:bgClr>
          </a:patt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Gill Sans Light"/>
            </a:endParaRPr>
          </a:p>
        </p:txBody>
      </p:sp>
      <p:cxnSp>
        <p:nvCxnSpPr>
          <p:cNvPr id="7" name="Straight Arrow Connector 6">
            <a:extLst>
              <a:ext uri="{FF2B5EF4-FFF2-40B4-BE49-F238E27FC236}">
                <a16:creationId xmlns:a16="http://schemas.microsoft.com/office/drawing/2014/main" id="{39EE30BA-81E5-4EDA-B0FE-308380E49D11}"/>
              </a:ext>
            </a:extLst>
          </p:cNvPr>
          <p:cNvCxnSpPr>
            <a:stCxn id="11" idx="3"/>
          </p:cNvCxnSpPr>
          <p:nvPr/>
        </p:nvCxnSpPr>
        <p:spPr bwMode="auto">
          <a:xfrm flipV="1">
            <a:off x="3054790" y="3610700"/>
            <a:ext cx="914400" cy="11151"/>
          </a:xfrm>
          <a:prstGeom prst="straightConnector1">
            <a:avLst/>
          </a:prstGeom>
          <a:solidFill>
            <a:schemeClr val="accent1"/>
          </a:solidFill>
          <a:ln w="57150" cap="flat" cmpd="sng" algn="ctr">
            <a:solidFill>
              <a:schemeClr val="tx1"/>
            </a:solidFill>
            <a:prstDash val="solid"/>
            <a:round/>
            <a:headEnd type="triangle" w="med" len="med"/>
            <a:tailEnd type="triangle"/>
          </a:ln>
          <a:effectLst/>
        </p:spPr>
      </p:cxnSp>
      <p:cxnSp>
        <p:nvCxnSpPr>
          <p:cNvPr id="8" name="Straight Arrow Connector 7">
            <a:extLst>
              <a:ext uri="{FF2B5EF4-FFF2-40B4-BE49-F238E27FC236}">
                <a16:creationId xmlns:a16="http://schemas.microsoft.com/office/drawing/2014/main" id="{79275DEE-4BC1-4DDF-A6AC-C60E35601B6A}"/>
              </a:ext>
            </a:extLst>
          </p:cNvPr>
          <p:cNvCxnSpPr/>
          <p:nvPr/>
        </p:nvCxnSpPr>
        <p:spPr bwMode="auto">
          <a:xfrm>
            <a:off x="3435790" y="3583751"/>
            <a:ext cx="0" cy="685800"/>
          </a:xfrm>
          <a:prstGeom prst="straightConnector1">
            <a:avLst/>
          </a:prstGeom>
          <a:solidFill>
            <a:schemeClr val="accent1"/>
          </a:solidFill>
          <a:ln w="12700" cap="flat" cmpd="sng" algn="ctr">
            <a:solidFill>
              <a:schemeClr val="tx1"/>
            </a:solidFill>
            <a:prstDash val="solid"/>
            <a:round/>
            <a:headEnd type="arrow"/>
            <a:tailEnd type="arrow"/>
          </a:ln>
          <a:effectLst/>
        </p:spPr>
      </p:cxnSp>
      <p:sp>
        <p:nvSpPr>
          <p:cNvPr id="9" name="Can 38">
            <a:extLst>
              <a:ext uri="{FF2B5EF4-FFF2-40B4-BE49-F238E27FC236}">
                <a16:creationId xmlns:a16="http://schemas.microsoft.com/office/drawing/2014/main" id="{F931CDB6-7A54-411C-85D3-C83026204322}"/>
              </a:ext>
            </a:extLst>
          </p:cNvPr>
          <p:cNvSpPr/>
          <p:nvPr/>
        </p:nvSpPr>
        <p:spPr bwMode="auto">
          <a:xfrm>
            <a:off x="1606990" y="4574351"/>
            <a:ext cx="1143000" cy="1295400"/>
          </a:xfrm>
          <a:prstGeom prst="can">
            <a:avLst/>
          </a:prstGeom>
          <a:solidFill>
            <a:srgbClr val="5AAEFF"/>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600" dirty="0">
                <a:latin typeface="Gill Sans Light"/>
              </a:rPr>
              <a:t>Storage</a:t>
            </a:r>
            <a:endParaRPr kumimoji="0" lang="en-US" sz="1600" b="0" i="0" u="none" strike="noStrike" cap="none" normalizeH="0" baseline="0" dirty="0">
              <a:ln>
                <a:noFill/>
              </a:ln>
              <a:solidFill>
                <a:schemeClr val="tx1"/>
              </a:solidFill>
              <a:effectLst/>
              <a:latin typeface="Gill Sans Light"/>
            </a:endParaRPr>
          </a:p>
        </p:txBody>
      </p:sp>
      <p:sp>
        <p:nvSpPr>
          <p:cNvPr id="11" name="Rounded Rectangle 6">
            <a:extLst>
              <a:ext uri="{FF2B5EF4-FFF2-40B4-BE49-F238E27FC236}">
                <a16:creationId xmlns:a16="http://schemas.microsoft.com/office/drawing/2014/main" id="{73EA3BF9-2DFB-45FE-9506-BB19DF8C5A11}"/>
              </a:ext>
            </a:extLst>
          </p:cNvPr>
          <p:cNvSpPr/>
          <p:nvPr/>
        </p:nvSpPr>
        <p:spPr bwMode="auto">
          <a:xfrm>
            <a:off x="1454590" y="3202751"/>
            <a:ext cx="1600200" cy="838200"/>
          </a:xfrm>
          <a:prstGeom prst="roundRect">
            <a:avLst/>
          </a:prstGeom>
          <a:solidFill>
            <a:schemeClr val="accent1">
              <a:lumMod val="40000"/>
              <a:lumOff val="6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Gill Sans Light"/>
              </a:rPr>
              <a:t>Processor</a:t>
            </a:r>
          </a:p>
        </p:txBody>
      </p:sp>
      <p:sp>
        <p:nvSpPr>
          <p:cNvPr id="12" name="Rectangle 11">
            <a:extLst>
              <a:ext uri="{FF2B5EF4-FFF2-40B4-BE49-F238E27FC236}">
                <a16:creationId xmlns:a16="http://schemas.microsoft.com/office/drawing/2014/main" id="{CD8B724A-5F8E-4271-9E5E-1A90A4EDC9D8}"/>
              </a:ext>
            </a:extLst>
          </p:cNvPr>
          <p:cNvSpPr/>
          <p:nvPr/>
        </p:nvSpPr>
        <p:spPr bwMode="auto">
          <a:xfrm>
            <a:off x="2292790" y="2212151"/>
            <a:ext cx="4572000" cy="152400"/>
          </a:xfrm>
          <a:prstGeom prst="rect">
            <a:avLst/>
          </a:prstGeom>
          <a:solidFill>
            <a:schemeClr val="accent1"/>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Gill Sans Light"/>
            </a:endParaRPr>
          </a:p>
        </p:txBody>
      </p:sp>
      <p:sp>
        <p:nvSpPr>
          <p:cNvPr id="13" name="TextBox 12">
            <a:extLst>
              <a:ext uri="{FF2B5EF4-FFF2-40B4-BE49-F238E27FC236}">
                <a16:creationId xmlns:a16="http://schemas.microsoft.com/office/drawing/2014/main" id="{2D818A1D-0774-4E2E-B2C2-A1AE60B5F59F}"/>
              </a:ext>
            </a:extLst>
          </p:cNvPr>
          <p:cNvSpPr txBox="1"/>
          <p:nvPr/>
        </p:nvSpPr>
        <p:spPr>
          <a:xfrm>
            <a:off x="3130990" y="1907351"/>
            <a:ext cx="2817887" cy="338554"/>
          </a:xfrm>
          <a:prstGeom prst="rect">
            <a:avLst/>
          </a:prstGeom>
          <a:noFill/>
        </p:spPr>
        <p:txBody>
          <a:bodyPr wrap="none" rtlCol="0">
            <a:spAutoFit/>
          </a:bodyPr>
          <a:lstStyle/>
          <a:p>
            <a:r>
              <a:rPr lang="en-US" sz="1600" dirty="0">
                <a:latin typeface="Gill Sans Light"/>
              </a:rPr>
              <a:t>OS Hardware Virtualization</a:t>
            </a:r>
          </a:p>
        </p:txBody>
      </p:sp>
      <p:sp>
        <p:nvSpPr>
          <p:cNvPr id="14" name="Rectangle 13">
            <a:extLst>
              <a:ext uri="{FF2B5EF4-FFF2-40B4-BE49-F238E27FC236}">
                <a16:creationId xmlns:a16="http://schemas.microsoft.com/office/drawing/2014/main" id="{8C7D1D8C-9A58-4B86-AA62-808D4497E6E9}"/>
              </a:ext>
            </a:extLst>
          </p:cNvPr>
          <p:cNvSpPr/>
          <p:nvPr/>
        </p:nvSpPr>
        <p:spPr>
          <a:xfrm>
            <a:off x="768790" y="2364551"/>
            <a:ext cx="1119217" cy="338554"/>
          </a:xfrm>
          <a:prstGeom prst="rect">
            <a:avLst/>
          </a:prstGeom>
        </p:spPr>
        <p:txBody>
          <a:bodyPr wrap="none">
            <a:spAutoFit/>
          </a:bodyPr>
          <a:lstStyle/>
          <a:p>
            <a:r>
              <a:rPr lang="en-US" sz="1600" dirty="0">
                <a:latin typeface="Gill Sans Light"/>
              </a:rPr>
              <a:t>Hardware</a:t>
            </a:r>
          </a:p>
        </p:txBody>
      </p:sp>
      <p:sp>
        <p:nvSpPr>
          <p:cNvPr id="15" name="Rectangle 14">
            <a:extLst>
              <a:ext uri="{FF2B5EF4-FFF2-40B4-BE49-F238E27FC236}">
                <a16:creationId xmlns:a16="http://schemas.microsoft.com/office/drawing/2014/main" id="{D6E49782-3C7E-4A2F-8C69-EF30E404E2F8}"/>
              </a:ext>
            </a:extLst>
          </p:cNvPr>
          <p:cNvSpPr/>
          <p:nvPr/>
        </p:nvSpPr>
        <p:spPr>
          <a:xfrm>
            <a:off x="768790" y="1983551"/>
            <a:ext cx="1051891" cy="338554"/>
          </a:xfrm>
          <a:prstGeom prst="rect">
            <a:avLst/>
          </a:prstGeom>
        </p:spPr>
        <p:txBody>
          <a:bodyPr wrap="none">
            <a:spAutoFit/>
          </a:bodyPr>
          <a:lstStyle/>
          <a:p>
            <a:r>
              <a:rPr lang="en-US" sz="1600" dirty="0">
                <a:latin typeface="Gill Sans Light"/>
              </a:rPr>
              <a:t>Software</a:t>
            </a:r>
          </a:p>
        </p:txBody>
      </p:sp>
      <p:sp>
        <p:nvSpPr>
          <p:cNvPr id="16" name="Rectangle 15">
            <a:extLst>
              <a:ext uri="{FF2B5EF4-FFF2-40B4-BE49-F238E27FC236}">
                <a16:creationId xmlns:a16="http://schemas.microsoft.com/office/drawing/2014/main" id="{3D53F5D6-0363-47AD-87A6-F1F9E92216DF}"/>
              </a:ext>
            </a:extLst>
          </p:cNvPr>
          <p:cNvSpPr/>
          <p:nvPr/>
        </p:nvSpPr>
        <p:spPr bwMode="auto">
          <a:xfrm>
            <a:off x="3969190" y="2440751"/>
            <a:ext cx="1752600" cy="1676400"/>
          </a:xfrm>
          <a:prstGeom prst="rect">
            <a:avLst/>
          </a:prstGeom>
          <a:solidFill>
            <a:srgbClr val="5AAEFF"/>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Gill Sans Light"/>
              </a:rPr>
              <a:t>Memory</a:t>
            </a:r>
          </a:p>
        </p:txBody>
      </p:sp>
      <p:sp>
        <p:nvSpPr>
          <p:cNvPr id="17" name="TextBox 16">
            <a:extLst>
              <a:ext uri="{FF2B5EF4-FFF2-40B4-BE49-F238E27FC236}">
                <a16:creationId xmlns:a16="http://schemas.microsoft.com/office/drawing/2014/main" id="{9BF36F96-6A2C-4201-8DFF-E279883EE5E5}"/>
              </a:ext>
            </a:extLst>
          </p:cNvPr>
          <p:cNvSpPr txBox="1"/>
          <p:nvPr/>
        </p:nvSpPr>
        <p:spPr>
          <a:xfrm>
            <a:off x="2624527" y="1517513"/>
            <a:ext cx="1152880" cy="338554"/>
          </a:xfrm>
          <a:prstGeom prst="rect">
            <a:avLst/>
          </a:prstGeom>
          <a:solidFill>
            <a:srgbClr val="A18623"/>
          </a:solidFill>
          <a:ln>
            <a:solidFill>
              <a:schemeClr val="tx1"/>
            </a:solidFill>
          </a:ln>
        </p:spPr>
        <p:txBody>
          <a:bodyPr wrap="none" rtlCol="0">
            <a:spAutoFit/>
          </a:bodyPr>
          <a:lstStyle/>
          <a:p>
            <a:r>
              <a:rPr lang="en-US" sz="1600" i="1" dirty="0">
                <a:latin typeface="Gill Sans Light"/>
              </a:rPr>
              <a:t>Process 1</a:t>
            </a:r>
          </a:p>
        </p:txBody>
      </p:sp>
      <p:sp>
        <p:nvSpPr>
          <p:cNvPr id="20" name="TextBox 19">
            <a:extLst>
              <a:ext uri="{FF2B5EF4-FFF2-40B4-BE49-F238E27FC236}">
                <a16:creationId xmlns:a16="http://schemas.microsoft.com/office/drawing/2014/main" id="{27DBA43E-DF7C-4D3C-B70C-D2D06A4934B5}"/>
              </a:ext>
            </a:extLst>
          </p:cNvPr>
          <p:cNvSpPr txBox="1"/>
          <p:nvPr/>
        </p:nvSpPr>
        <p:spPr>
          <a:xfrm>
            <a:off x="1911790" y="2364551"/>
            <a:ext cx="441146" cy="276999"/>
          </a:xfrm>
          <a:prstGeom prst="rect">
            <a:avLst/>
          </a:prstGeom>
          <a:solidFill>
            <a:srgbClr val="EFE683"/>
          </a:solidFill>
          <a:ln>
            <a:solidFill>
              <a:schemeClr val="accent1">
                <a:lumMod val="60000"/>
                <a:lumOff val="40000"/>
              </a:schemeClr>
            </a:solidFill>
          </a:ln>
        </p:spPr>
        <p:txBody>
          <a:bodyPr wrap="none" rtlCol="0">
            <a:spAutoFit/>
          </a:bodyPr>
          <a:lstStyle/>
          <a:p>
            <a:r>
              <a:rPr lang="en-US" sz="1200" i="1" dirty="0">
                <a:latin typeface="Gill Sans Light"/>
              </a:rPr>
              <a:t>ISA</a:t>
            </a:r>
          </a:p>
        </p:txBody>
      </p:sp>
      <p:grpSp>
        <p:nvGrpSpPr>
          <p:cNvPr id="23" name="Group 22">
            <a:extLst>
              <a:ext uri="{FF2B5EF4-FFF2-40B4-BE49-F238E27FC236}">
                <a16:creationId xmlns:a16="http://schemas.microsoft.com/office/drawing/2014/main" id="{871B7B07-C2C7-4DFD-8E78-B7F2B12E79E1}"/>
              </a:ext>
            </a:extLst>
          </p:cNvPr>
          <p:cNvGrpSpPr/>
          <p:nvPr/>
        </p:nvGrpSpPr>
        <p:grpSpPr>
          <a:xfrm>
            <a:off x="2368990" y="3659951"/>
            <a:ext cx="533400" cy="304800"/>
            <a:chOff x="3124200" y="3657600"/>
            <a:chExt cx="533400" cy="304800"/>
          </a:xfrm>
          <a:solidFill>
            <a:schemeClr val="accent6"/>
          </a:solidFill>
        </p:grpSpPr>
        <p:sp>
          <p:nvSpPr>
            <p:cNvPr id="24" name="Rectangle 23">
              <a:extLst>
                <a:ext uri="{FF2B5EF4-FFF2-40B4-BE49-F238E27FC236}">
                  <a16:creationId xmlns:a16="http://schemas.microsoft.com/office/drawing/2014/main" id="{2BE7592F-8692-459A-87BD-175BF63741CB}"/>
                </a:ext>
              </a:extLst>
            </p:cNvPr>
            <p:cNvSpPr/>
            <p:nvPr/>
          </p:nvSpPr>
          <p:spPr bwMode="auto">
            <a:xfrm>
              <a:off x="3124200" y="3657600"/>
              <a:ext cx="533400" cy="304800"/>
            </a:xfrm>
            <a:prstGeom prst="rect">
              <a:avLst/>
            </a:prstGeom>
            <a:grp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Gill Sans Light"/>
              </a:endParaRPr>
            </a:p>
          </p:txBody>
        </p:sp>
        <p:sp>
          <p:nvSpPr>
            <p:cNvPr id="25" name="Rectangle 24">
              <a:extLst>
                <a:ext uri="{FF2B5EF4-FFF2-40B4-BE49-F238E27FC236}">
                  <a16:creationId xmlns:a16="http://schemas.microsoft.com/office/drawing/2014/main" id="{45B552A2-E623-4298-9D2C-E8DA7CFA0619}"/>
                </a:ext>
              </a:extLst>
            </p:cNvPr>
            <p:cNvSpPr/>
            <p:nvPr/>
          </p:nvSpPr>
          <p:spPr bwMode="auto">
            <a:xfrm>
              <a:off x="3124200" y="3733800"/>
              <a:ext cx="533400" cy="152400"/>
            </a:xfrm>
            <a:prstGeom prst="rect">
              <a:avLst/>
            </a:prstGeom>
            <a:grp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Gill Sans Light"/>
              </a:endParaRPr>
            </a:p>
          </p:txBody>
        </p:sp>
      </p:grpSp>
      <p:sp>
        <p:nvSpPr>
          <p:cNvPr id="26" name="Rectangle 25">
            <a:extLst>
              <a:ext uri="{FF2B5EF4-FFF2-40B4-BE49-F238E27FC236}">
                <a16:creationId xmlns:a16="http://schemas.microsoft.com/office/drawing/2014/main" id="{570BE518-A41A-44C8-BE5B-384793DEB01A}"/>
              </a:ext>
            </a:extLst>
          </p:cNvPr>
          <p:cNvSpPr/>
          <p:nvPr/>
        </p:nvSpPr>
        <p:spPr bwMode="auto">
          <a:xfrm>
            <a:off x="4045390" y="2897951"/>
            <a:ext cx="838200" cy="685800"/>
          </a:xfrm>
          <a:prstGeom prst="rect">
            <a:avLst/>
          </a:prstGeom>
          <a:solidFill>
            <a:schemeClr val="accent6"/>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Gill Sans Light"/>
            </a:endParaRPr>
          </a:p>
        </p:txBody>
      </p:sp>
      <p:sp>
        <p:nvSpPr>
          <p:cNvPr id="27" name="Rectangle 26">
            <a:extLst>
              <a:ext uri="{FF2B5EF4-FFF2-40B4-BE49-F238E27FC236}">
                <a16:creationId xmlns:a16="http://schemas.microsoft.com/office/drawing/2014/main" id="{01CDF013-B14B-4959-AB17-68E3D9F1B2A5}"/>
              </a:ext>
            </a:extLst>
          </p:cNvPr>
          <p:cNvSpPr/>
          <p:nvPr/>
        </p:nvSpPr>
        <p:spPr bwMode="auto">
          <a:xfrm>
            <a:off x="4121590" y="3736151"/>
            <a:ext cx="1524000" cy="304800"/>
          </a:xfrm>
          <a:prstGeom prst="rect">
            <a:avLst/>
          </a:prstGeom>
          <a:solidFill>
            <a:schemeClr val="bg2">
              <a:lumMod val="60000"/>
              <a:lumOff val="4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400" b="0" i="0" u="none" strike="noStrike" cap="none" normalizeH="0" baseline="0" dirty="0">
                <a:ln>
                  <a:noFill/>
                </a:ln>
                <a:solidFill>
                  <a:schemeClr val="tx1"/>
                </a:solidFill>
                <a:effectLst/>
                <a:latin typeface="Gill Sans Light"/>
              </a:rPr>
              <a:t>OS Memory</a:t>
            </a:r>
          </a:p>
        </p:txBody>
      </p:sp>
      <p:sp>
        <p:nvSpPr>
          <p:cNvPr id="28" name="Rectangle 27">
            <a:extLst>
              <a:ext uri="{FF2B5EF4-FFF2-40B4-BE49-F238E27FC236}">
                <a16:creationId xmlns:a16="http://schemas.microsoft.com/office/drawing/2014/main" id="{2511BE6E-F6D9-4B14-96C6-46DCA6D9A73A}"/>
              </a:ext>
            </a:extLst>
          </p:cNvPr>
          <p:cNvSpPr/>
          <p:nvPr/>
        </p:nvSpPr>
        <p:spPr bwMode="auto">
          <a:xfrm>
            <a:off x="5035990" y="2897951"/>
            <a:ext cx="609600" cy="381000"/>
          </a:xfrm>
          <a:prstGeom prst="rect">
            <a:avLst/>
          </a:prstGeom>
          <a:solidFill>
            <a:srgbClr val="C00000"/>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Gill Sans Light"/>
            </a:endParaRPr>
          </a:p>
        </p:txBody>
      </p:sp>
      <p:sp>
        <p:nvSpPr>
          <p:cNvPr id="29" name="Rectangle 28">
            <a:extLst>
              <a:ext uri="{FF2B5EF4-FFF2-40B4-BE49-F238E27FC236}">
                <a16:creationId xmlns:a16="http://schemas.microsoft.com/office/drawing/2014/main" id="{7119B6C9-A14B-486D-BDD1-070DF9283C04}"/>
              </a:ext>
            </a:extLst>
          </p:cNvPr>
          <p:cNvSpPr/>
          <p:nvPr/>
        </p:nvSpPr>
        <p:spPr bwMode="auto">
          <a:xfrm>
            <a:off x="4959790" y="3126551"/>
            <a:ext cx="609600" cy="381000"/>
          </a:xfrm>
          <a:prstGeom prst="rect">
            <a:avLst/>
          </a:prstGeom>
          <a:solidFill>
            <a:srgbClr val="A18623"/>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Gill Sans Light"/>
            </a:endParaRPr>
          </a:p>
        </p:txBody>
      </p:sp>
      <p:cxnSp>
        <p:nvCxnSpPr>
          <p:cNvPr id="30" name="Curved Connector 54">
            <a:extLst>
              <a:ext uri="{FF2B5EF4-FFF2-40B4-BE49-F238E27FC236}">
                <a16:creationId xmlns:a16="http://schemas.microsoft.com/office/drawing/2014/main" id="{A2D966F5-4258-4B9B-A57C-EB7585E46D3D}"/>
              </a:ext>
            </a:extLst>
          </p:cNvPr>
          <p:cNvCxnSpPr/>
          <p:nvPr/>
        </p:nvCxnSpPr>
        <p:spPr bwMode="auto">
          <a:xfrm rot="5400000" flipH="1" flipV="1">
            <a:off x="3111940" y="2688401"/>
            <a:ext cx="609600" cy="1638300"/>
          </a:xfrm>
          <a:prstGeom prst="curvedConnector2">
            <a:avLst/>
          </a:prstGeom>
          <a:solidFill>
            <a:schemeClr val="accent1"/>
          </a:solidFill>
          <a:ln w="12700" cap="flat" cmpd="sng" algn="ctr">
            <a:solidFill>
              <a:schemeClr val="tx1"/>
            </a:solidFill>
            <a:prstDash val="solid"/>
            <a:round/>
            <a:headEnd type="none" w="sm" len="sm"/>
            <a:tailEnd type="arrow"/>
          </a:ln>
          <a:effectLst/>
        </p:spPr>
      </p:cxnSp>
      <p:grpSp>
        <p:nvGrpSpPr>
          <p:cNvPr id="32" name="Group 31">
            <a:extLst>
              <a:ext uri="{FF2B5EF4-FFF2-40B4-BE49-F238E27FC236}">
                <a16:creationId xmlns:a16="http://schemas.microsoft.com/office/drawing/2014/main" id="{A71511FA-E8D9-4781-9765-9BFF7CF69C2C}"/>
              </a:ext>
            </a:extLst>
          </p:cNvPr>
          <p:cNvGrpSpPr/>
          <p:nvPr/>
        </p:nvGrpSpPr>
        <p:grpSpPr>
          <a:xfrm>
            <a:off x="1104585" y="3278951"/>
            <a:ext cx="6293605" cy="1418553"/>
            <a:chOff x="1707395" y="3276600"/>
            <a:chExt cx="6293605" cy="1418553"/>
          </a:xfrm>
        </p:grpSpPr>
        <p:sp>
          <p:nvSpPr>
            <p:cNvPr id="33" name="Arc 32">
              <a:extLst>
                <a:ext uri="{FF2B5EF4-FFF2-40B4-BE49-F238E27FC236}">
                  <a16:creationId xmlns:a16="http://schemas.microsoft.com/office/drawing/2014/main" id="{7B9C69FD-EDF9-41E4-B4E2-A20DE25E7631}"/>
                </a:ext>
              </a:extLst>
            </p:cNvPr>
            <p:cNvSpPr/>
            <p:nvPr/>
          </p:nvSpPr>
          <p:spPr bwMode="auto">
            <a:xfrm rot="21036509">
              <a:off x="1707395" y="3819625"/>
              <a:ext cx="6034009" cy="875528"/>
            </a:xfrm>
            <a:prstGeom prst="arc">
              <a:avLst>
                <a:gd name="adj1" fmla="val 10911104"/>
                <a:gd name="adj2" fmla="val 0"/>
              </a:avLst>
            </a:prstGeom>
            <a:noFill/>
            <a:ln w="57150" cap="flat" cmpd="sng" algn="ctr">
              <a:solidFill>
                <a:srgbClr val="FF0000"/>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Gill Sans Light"/>
              </a:endParaRPr>
            </a:p>
          </p:txBody>
        </p:sp>
        <p:sp>
          <p:nvSpPr>
            <p:cNvPr id="34" name="TextBox 33">
              <a:extLst>
                <a:ext uri="{FF2B5EF4-FFF2-40B4-BE49-F238E27FC236}">
                  <a16:creationId xmlns:a16="http://schemas.microsoft.com/office/drawing/2014/main" id="{D49CCC1A-0869-48FB-B8DD-A459E52B4240}"/>
                </a:ext>
              </a:extLst>
            </p:cNvPr>
            <p:cNvSpPr txBox="1"/>
            <p:nvPr/>
          </p:nvSpPr>
          <p:spPr>
            <a:xfrm>
              <a:off x="6553200" y="3276600"/>
              <a:ext cx="1447800" cy="584775"/>
            </a:xfrm>
            <a:prstGeom prst="rect">
              <a:avLst/>
            </a:prstGeom>
            <a:noFill/>
          </p:spPr>
          <p:txBody>
            <a:bodyPr wrap="square" rtlCol="0">
              <a:spAutoFit/>
            </a:bodyPr>
            <a:lstStyle/>
            <a:p>
              <a:r>
                <a:rPr lang="en-US" sz="1600" dirty="0">
                  <a:latin typeface="Gill Sans Light"/>
                </a:rPr>
                <a:t>Protection Boundary</a:t>
              </a:r>
            </a:p>
          </p:txBody>
        </p:sp>
      </p:grpSp>
      <p:pic>
        <p:nvPicPr>
          <p:cNvPr id="35" name="Picture 34">
            <a:extLst>
              <a:ext uri="{FF2B5EF4-FFF2-40B4-BE49-F238E27FC236}">
                <a16:creationId xmlns:a16="http://schemas.microsoft.com/office/drawing/2014/main" id="{24B984E5-2500-4631-A5D8-74ECB63F9208}"/>
              </a:ext>
            </a:extLst>
          </p:cNvPr>
          <p:cNvPicPr>
            <a:picLocks noChangeAspect="1"/>
          </p:cNvPicPr>
          <p:nvPr/>
        </p:nvPicPr>
        <p:blipFill>
          <a:blip r:embed="rId2">
            <a:clrChange>
              <a:clrFrom>
                <a:srgbClr val="FFFFFF"/>
              </a:clrFrom>
              <a:clrTo>
                <a:srgbClr val="FFFFFF">
                  <a:alpha val="0"/>
                </a:srgbClr>
              </a:clrTo>
            </a:clrChange>
          </a:blip>
          <a:stretch>
            <a:fillRect/>
          </a:stretch>
        </p:blipFill>
        <p:spPr>
          <a:xfrm flipH="1">
            <a:off x="4220604" y="4597165"/>
            <a:ext cx="967786" cy="967786"/>
          </a:xfrm>
          <a:prstGeom prst="rect">
            <a:avLst/>
          </a:prstGeom>
        </p:spPr>
      </p:pic>
      <p:pic>
        <p:nvPicPr>
          <p:cNvPr id="36" name="Picture 35">
            <a:extLst>
              <a:ext uri="{FF2B5EF4-FFF2-40B4-BE49-F238E27FC236}">
                <a16:creationId xmlns:a16="http://schemas.microsoft.com/office/drawing/2014/main" id="{F05E90D5-68EB-458D-A2A0-1843C8D6597D}"/>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5897004" y="4850149"/>
            <a:ext cx="1237948" cy="876300"/>
          </a:xfrm>
          <a:prstGeom prst="rect">
            <a:avLst/>
          </a:prstGeom>
        </p:spPr>
      </p:pic>
      <p:pic>
        <p:nvPicPr>
          <p:cNvPr id="37" name="Picture 36">
            <a:extLst>
              <a:ext uri="{FF2B5EF4-FFF2-40B4-BE49-F238E27FC236}">
                <a16:creationId xmlns:a16="http://schemas.microsoft.com/office/drawing/2014/main" id="{37C68F0A-8BC2-412B-8D79-B8178EA29E84}"/>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4273990" y="5603051"/>
            <a:ext cx="723900" cy="455315"/>
          </a:xfrm>
          <a:prstGeom prst="rect">
            <a:avLst/>
          </a:prstGeom>
        </p:spPr>
      </p:pic>
      <p:sp>
        <p:nvSpPr>
          <p:cNvPr id="38" name="TextBox 37">
            <a:extLst>
              <a:ext uri="{FF2B5EF4-FFF2-40B4-BE49-F238E27FC236}">
                <a16:creationId xmlns:a16="http://schemas.microsoft.com/office/drawing/2014/main" id="{FA1D82C4-E5D5-464F-820A-27D6D114EAC5}"/>
              </a:ext>
            </a:extLst>
          </p:cNvPr>
          <p:cNvSpPr txBox="1"/>
          <p:nvPr/>
        </p:nvSpPr>
        <p:spPr>
          <a:xfrm>
            <a:off x="4624108" y="4437899"/>
            <a:ext cx="1107996" cy="338554"/>
          </a:xfrm>
          <a:prstGeom prst="rect">
            <a:avLst/>
          </a:prstGeom>
          <a:noFill/>
        </p:spPr>
        <p:txBody>
          <a:bodyPr wrap="none" rtlCol="0">
            <a:spAutoFit/>
          </a:bodyPr>
          <a:lstStyle/>
          <a:p>
            <a:r>
              <a:rPr lang="en-US" sz="1600" dirty="0">
                <a:latin typeface="Gill Sans Light"/>
              </a:rPr>
              <a:t>Networks</a:t>
            </a:r>
          </a:p>
        </p:txBody>
      </p:sp>
      <p:sp>
        <p:nvSpPr>
          <p:cNvPr id="39" name="TextBox 38">
            <a:extLst>
              <a:ext uri="{FF2B5EF4-FFF2-40B4-BE49-F238E27FC236}">
                <a16:creationId xmlns:a16="http://schemas.microsoft.com/office/drawing/2014/main" id="{51954E79-7F89-4809-BD76-698021570D0D}"/>
              </a:ext>
            </a:extLst>
          </p:cNvPr>
          <p:cNvSpPr txBox="1"/>
          <p:nvPr/>
        </p:nvSpPr>
        <p:spPr>
          <a:xfrm>
            <a:off x="5943059" y="4412499"/>
            <a:ext cx="1027845" cy="338554"/>
          </a:xfrm>
          <a:prstGeom prst="rect">
            <a:avLst/>
          </a:prstGeom>
          <a:noFill/>
        </p:spPr>
        <p:txBody>
          <a:bodyPr wrap="none" rtlCol="0">
            <a:spAutoFit/>
          </a:bodyPr>
          <a:lstStyle/>
          <a:p>
            <a:r>
              <a:rPr lang="en-US" sz="1600" dirty="0">
                <a:latin typeface="Gill Sans Light"/>
              </a:rPr>
              <a:t>Displays</a:t>
            </a:r>
          </a:p>
        </p:txBody>
      </p:sp>
      <p:sp>
        <p:nvSpPr>
          <p:cNvPr id="40" name="TextBox 39">
            <a:extLst>
              <a:ext uri="{FF2B5EF4-FFF2-40B4-BE49-F238E27FC236}">
                <a16:creationId xmlns:a16="http://schemas.microsoft.com/office/drawing/2014/main" id="{31A4AEF2-4F69-48B6-90F5-74FD3AE60D36}"/>
              </a:ext>
            </a:extLst>
          </p:cNvPr>
          <p:cNvSpPr txBox="1"/>
          <p:nvPr/>
        </p:nvSpPr>
        <p:spPr>
          <a:xfrm>
            <a:off x="5111168" y="5614719"/>
            <a:ext cx="800219" cy="338554"/>
          </a:xfrm>
          <a:prstGeom prst="rect">
            <a:avLst/>
          </a:prstGeom>
          <a:noFill/>
        </p:spPr>
        <p:txBody>
          <a:bodyPr wrap="none" rtlCol="0">
            <a:spAutoFit/>
          </a:bodyPr>
          <a:lstStyle/>
          <a:p>
            <a:r>
              <a:rPr lang="en-US" sz="1600" dirty="0">
                <a:latin typeface="Gill Sans Light"/>
              </a:rPr>
              <a:t>Inputs</a:t>
            </a:r>
          </a:p>
        </p:txBody>
      </p:sp>
      <p:sp>
        <p:nvSpPr>
          <p:cNvPr id="53" name="TextBox 52">
            <a:extLst>
              <a:ext uri="{FF2B5EF4-FFF2-40B4-BE49-F238E27FC236}">
                <a16:creationId xmlns:a16="http://schemas.microsoft.com/office/drawing/2014/main" id="{9F717BDA-9465-43DF-B246-65C26E7F81A1}"/>
              </a:ext>
            </a:extLst>
          </p:cNvPr>
          <p:cNvSpPr txBox="1"/>
          <p:nvPr/>
        </p:nvSpPr>
        <p:spPr>
          <a:xfrm>
            <a:off x="3980765" y="1511262"/>
            <a:ext cx="1152880" cy="338554"/>
          </a:xfrm>
          <a:prstGeom prst="rect">
            <a:avLst/>
          </a:prstGeom>
          <a:solidFill>
            <a:schemeClr val="accent6"/>
          </a:solidFill>
          <a:ln>
            <a:solidFill>
              <a:schemeClr val="tx1"/>
            </a:solidFill>
          </a:ln>
        </p:spPr>
        <p:txBody>
          <a:bodyPr wrap="none" rtlCol="0">
            <a:spAutoFit/>
          </a:bodyPr>
          <a:lstStyle/>
          <a:p>
            <a:r>
              <a:rPr lang="en-US" sz="1600" i="1" dirty="0">
                <a:latin typeface="Gill Sans Light"/>
              </a:rPr>
              <a:t>Process 2</a:t>
            </a:r>
          </a:p>
        </p:txBody>
      </p:sp>
      <p:sp>
        <p:nvSpPr>
          <p:cNvPr id="54" name="TextBox 53">
            <a:extLst>
              <a:ext uri="{FF2B5EF4-FFF2-40B4-BE49-F238E27FC236}">
                <a16:creationId xmlns:a16="http://schemas.microsoft.com/office/drawing/2014/main" id="{49859802-B6D8-4A45-BDAA-80EF3A1B8AC6}"/>
              </a:ext>
            </a:extLst>
          </p:cNvPr>
          <p:cNvSpPr txBox="1"/>
          <p:nvPr/>
        </p:nvSpPr>
        <p:spPr>
          <a:xfrm>
            <a:off x="5337003" y="1511559"/>
            <a:ext cx="1152880" cy="338554"/>
          </a:xfrm>
          <a:prstGeom prst="rect">
            <a:avLst/>
          </a:prstGeom>
          <a:solidFill>
            <a:srgbClr val="C00000"/>
          </a:solidFill>
          <a:ln>
            <a:solidFill>
              <a:schemeClr val="tx1"/>
            </a:solidFill>
          </a:ln>
        </p:spPr>
        <p:txBody>
          <a:bodyPr wrap="none" rtlCol="0">
            <a:spAutoFit/>
          </a:bodyPr>
          <a:lstStyle/>
          <a:p>
            <a:r>
              <a:rPr lang="en-US" sz="1600" i="1" dirty="0">
                <a:latin typeface="Gill Sans Light"/>
              </a:rPr>
              <a:t>Process 3</a:t>
            </a:r>
          </a:p>
        </p:txBody>
      </p:sp>
      <p:sp>
        <p:nvSpPr>
          <p:cNvPr id="55" name="TextBox 54">
            <a:extLst>
              <a:ext uri="{FF2B5EF4-FFF2-40B4-BE49-F238E27FC236}">
                <a16:creationId xmlns:a16="http://schemas.microsoft.com/office/drawing/2014/main" id="{4AE921AD-3768-4905-8CD5-E6AB355C13CD}"/>
              </a:ext>
            </a:extLst>
          </p:cNvPr>
          <p:cNvSpPr txBox="1"/>
          <p:nvPr/>
        </p:nvSpPr>
        <p:spPr>
          <a:xfrm>
            <a:off x="7626791" y="1662936"/>
            <a:ext cx="4555636" cy="3970318"/>
          </a:xfrm>
          <a:prstGeom prst="rect">
            <a:avLst/>
          </a:prstGeom>
          <a:noFill/>
        </p:spPr>
        <p:txBody>
          <a:bodyPr wrap="square" rtlCol="0">
            <a:spAutoFit/>
          </a:bodyPr>
          <a:lstStyle/>
          <a:p>
            <a:pPr marL="457200" indent="-457200">
              <a:buFont typeface="Arial" panose="020B0604020202020204" pitchFamily="34" charset="0"/>
              <a:buChar char="•"/>
            </a:pPr>
            <a:r>
              <a:rPr lang="en-US" sz="2800" b="1" dirty="0">
                <a:latin typeface="Gill Sans Light"/>
              </a:rPr>
              <a:t>OS </a:t>
            </a:r>
            <a:r>
              <a:rPr lang="en-US" sz="2800" b="1" i="1" dirty="0">
                <a:latin typeface="Gill Sans Light"/>
              </a:rPr>
              <a:t>isolates</a:t>
            </a:r>
            <a:r>
              <a:rPr lang="en-US" sz="2800" b="1" dirty="0">
                <a:latin typeface="Gill Sans Light"/>
              </a:rPr>
              <a:t> processes from each other</a:t>
            </a:r>
            <a:br>
              <a:rPr lang="en-US" sz="2800" b="1" dirty="0">
                <a:latin typeface="Gill Sans Light"/>
              </a:rPr>
            </a:br>
            <a:endParaRPr lang="en-US" sz="2800" b="1" dirty="0">
              <a:latin typeface="Gill Sans Light"/>
            </a:endParaRPr>
          </a:p>
          <a:p>
            <a:pPr marL="457200" indent="-457200">
              <a:buFont typeface="Arial" panose="020B0604020202020204" pitchFamily="34" charset="0"/>
              <a:buChar char="•"/>
            </a:pPr>
            <a:r>
              <a:rPr lang="en-US" sz="2800" b="1" dirty="0">
                <a:latin typeface="Gill Sans Light"/>
              </a:rPr>
              <a:t>OS </a:t>
            </a:r>
            <a:r>
              <a:rPr lang="en-US" sz="2800" b="1" i="1" dirty="0">
                <a:latin typeface="Gill Sans Light"/>
              </a:rPr>
              <a:t>isolates</a:t>
            </a:r>
            <a:r>
              <a:rPr lang="en-US" sz="2800" b="1" dirty="0">
                <a:latin typeface="Gill Sans Light"/>
              </a:rPr>
              <a:t> itself from other processes</a:t>
            </a:r>
          </a:p>
          <a:p>
            <a:pPr marL="457200" indent="-457200">
              <a:buFont typeface="Arial" panose="020B0604020202020204" pitchFamily="34" charset="0"/>
              <a:buChar char="•"/>
            </a:pPr>
            <a:endParaRPr lang="en-US" sz="2800" b="1" dirty="0">
              <a:latin typeface="Gill Sans Light"/>
            </a:endParaRPr>
          </a:p>
          <a:p>
            <a:pPr marL="457200" indent="-457200">
              <a:buFont typeface="Arial" panose="020B0604020202020204" pitchFamily="34" charset="0"/>
              <a:buChar char="•"/>
            </a:pPr>
            <a:r>
              <a:rPr lang="en-US" sz="2800" b="1" dirty="0">
                <a:latin typeface="Gill Sans Light"/>
              </a:rPr>
              <a:t>… even though they are actually running on the same hardware!</a:t>
            </a:r>
          </a:p>
        </p:txBody>
      </p:sp>
      <p:grpSp>
        <p:nvGrpSpPr>
          <p:cNvPr id="41" name="Group 40">
            <a:extLst>
              <a:ext uri="{FF2B5EF4-FFF2-40B4-BE49-F238E27FC236}">
                <a16:creationId xmlns:a16="http://schemas.microsoft.com/office/drawing/2014/main" id="{59264C3C-1BB0-4A0E-A7E3-5AAEB4D94534}"/>
              </a:ext>
            </a:extLst>
          </p:cNvPr>
          <p:cNvGrpSpPr/>
          <p:nvPr/>
        </p:nvGrpSpPr>
        <p:grpSpPr>
          <a:xfrm>
            <a:off x="2756828" y="4251765"/>
            <a:ext cx="1371600" cy="1848422"/>
            <a:chOff x="3505200" y="4267200"/>
            <a:chExt cx="1371600" cy="2286000"/>
          </a:xfrm>
        </p:grpSpPr>
        <p:sp>
          <p:nvSpPr>
            <p:cNvPr id="42" name="Rectangle 41">
              <a:extLst>
                <a:ext uri="{FF2B5EF4-FFF2-40B4-BE49-F238E27FC236}">
                  <a16:creationId xmlns:a16="http://schemas.microsoft.com/office/drawing/2014/main" id="{DDB212D1-9299-41C2-9B1B-B4F39A4FDF5F}"/>
                </a:ext>
              </a:extLst>
            </p:cNvPr>
            <p:cNvSpPr/>
            <p:nvPr/>
          </p:nvSpPr>
          <p:spPr bwMode="auto">
            <a:xfrm>
              <a:off x="3810000" y="4267200"/>
              <a:ext cx="685800" cy="533400"/>
            </a:xfrm>
            <a:prstGeom prst="rect">
              <a:avLst/>
            </a:prstGeom>
            <a:no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err="1">
                  <a:ln>
                    <a:noFill/>
                  </a:ln>
                  <a:solidFill>
                    <a:schemeClr val="tx1"/>
                  </a:solidFill>
                  <a:effectLst/>
                  <a:latin typeface="Gill Sans Light"/>
                </a:rPr>
                <a:t>Ctrlr</a:t>
              </a:r>
              <a:endParaRPr kumimoji="0" lang="en-US" sz="1600" b="0" i="0" u="none" strike="noStrike" cap="none" normalizeH="0" baseline="0" dirty="0">
                <a:ln>
                  <a:noFill/>
                </a:ln>
                <a:solidFill>
                  <a:schemeClr val="tx1"/>
                </a:solidFill>
                <a:effectLst/>
                <a:latin typeface="Gill Sans Light"/>
              </a:endParaRPr>
            </a:p>
          </p:txBody>
        </p:sp>
        <p:cxnSp>
          <p:nvCxnSpPr>
            <p:cNvPr id="43" name="Straight Arrow Connector 42">
              <a:extLst>
                <a:ext uri="{FF2B5EF4-FFF2-40B4-BE49-F238E27FC236}">
                  <a16:creationId xmlns:a16="http://schemas.microsoft.com/office/drawing/2014/main" id="{655DD045-D05D-45FF-B2FB-8B8DD928E4B8}"/>
                </a:ext>
              </a:extLst>
            </p:cNvPr>
            <p:cNvCxnSpPr/>
            <p:nvPr/>
          </p:nvCxnSpPr>
          <p:spPr bwMode="auto">
            <a:xfrm>
              <a:off x="4191000" y="4800600"/>
              <a:ext cx="0" cy="762000"/>
            </a:xfrm>
            <a:prstGeom prst="straightConnector1">
              <a:avLst/>
            </a:prstGeom>
            <a:solidFill>
              <a:schemeClr val="accent1"/>
            </a:solidFill>
            <a:ln w="12700" cap="flat" cmpd="sng" algn="ctr">
              <a:solidFill>
                <a:schemeClr val="tx1"/>
              </a:solidFill>
              <a:prstDash val="solid"/>
              <a:round/>
              <a:headEnd type="arrow"/>
              <a:tailEnd type="arrow"/>
            </a:ln>
            <a:effectLst/>
          </p:spPr>
        </p:cxnSp>
        <p:cxnSp>
          <p:nvCxnSpPr>
            <p:cNvPr id="44" name="Straight Arrow Connector 43">
              <a:extLst>
                <a:ext uri="{FF2B5EF4-FFF2-40B4-BE49-F238E27FC236}">
                  <a16:creationId xmlns:a16="http://schemas.microsoft.com/office/drawing/2014/main" id="{19E31743-3C12-4E63-B396-94897C50535B}"/>
                </a:ext>
              </a:extLst>
            </p:cNvPr>
            <p:cNvCxnSpPr/>
            <p:nvPr/>
          </p:nvCxnSpPr>
          <p:spPr bwMode="auto">
            <a:xfrm>
              <a:off x="4191000" y="5029200"/>
              <a:ext cx="685800" cy="0"/>
            </a:xfrm>
            <a:prstGeom prst="straightConnector1">
              <a:avLst/>
            </a:prstGeom>
            <a:solidFill>
              <a:schemeClr val="accent1"/>
            </a:solidFill>
            <a:ln w="12700" cap="flat" cmpd="sng" algn="ctr">
              <a:solidFill>
                <a:schemeClr val="tx1"/>
              </a:solidFill>
              <a:prstDash val="solid"/>
              <a:round/>
              <a:headEnd type="arrow"/>
              <a:tailEnd type="arrow"/>
            </a:ln>
            <a:effectLst/>
          </p:spPr>
        </p:cxnSp>
        <p:cxnSp>
          <p:nvCxnSpPr>
            <p:cNvPr id="45" name="Straight Arrow Connector 44">
              <a:extLst>
                <a:ext uri="{FF2B5EF4-FFF2-40B4-BE49-F238E27FC236}">
                  <a16:creationId xmlns:a16="http://schemas.microsoft.com/office/drawing/2014/main" id="{7C39D10C-CEF4-4142-B046-FE30CAD1AE10}"/>
                </a:ext>
              </a:extLst>
            </p:cNvPr>
            <p:cNvCxnSpPr/>
            <p:nvPr/>
          </p:nvCxnSpPr>
          <p:spPr bwMode="auto">
            <a:xfrm>
              <a:off x="4191000" y="5334000"/>
              <a:ext cx="685800" cy="0"/>
            </a:xfrm>
            <a:prstGeom prst="straightConnector1">
              <a:avLst/>
            </a:prstGeom>
            <a:solidFill>
              <a:schemeClr val="accent1"/>
            </a:solidFill>
            <a:ln w="12700" cap="flat" cmpd="sng" algn="ctr">
              <a:solidFill>
                <a:schemeClr val="tx1"/>
              </a:solidFill>
              <a:prstDash val="solid"/>
              <a:round/>
              <a:headEnd type="arrow"/>
              <a:tailEnd type="arrow"/>
            </a:ln>
            <a:effectLst/>
          </p:spPr>
        </p:cxnSp>
        <p:cxnSp>
          <p:nvCxnSpPr>
            <p:cNvPr id="46" name="Straight Arrow Connector 45">
              <a:extLst>
                <a:ext uri="{FF2B5EF4-FFF2-40B4-BE49-F238E27FC236}">
                  <a16:creationId xmlns:a16="http://schemas.microsoft.com/office/drawing/2014/main" id="{5464393B-A890-44C7-9CD8-0772A9EA9D73}"/>
                </a:ext>
              </a:extLst>
            </p:cNvPr>
            <p:cNvCxnSpPr/>
            <p:nvPr/>
          </p:nvCxnSpPr>
          <p:spPr bwMode="auto">
            <a:xfrm>
              <a:off x="3505200" y="5105400"/>
              <a:ext cx="685800" cy="0"/>
            </a:xfrm>
            <a:prstGeom prst="straightConnector1">
              <a:avLst/>
            </a:prstGeom>
            <a:solidFill>
              <a:schemeClr val="accent1"/>
            </a:solidFill>
            <a:ln w="12700" cap="flat" cmpd="sng" algn="ctr">
              <a:solidFill>
                <a:schemeClr val="tx1"/>
              </a:solidFill>
              <a:prstDash val="solid"/>
              <a:round/>
              <a:headEnd type="arrow"/>
              <a:tailEnd type="arrow"/>
            </a:ln>
            <a:effectLst/>
          </p:spPr>
        </p:cxnSp>
        <p:sp>
          <p:nvSpPr>
            <p:cNvPr id="47" name="Rectangle 46">
              <a:extLst>
                <a:ext uri="{FF2B5EF4-FFF2-40B4-BE49-F238E27FC236}">
                  <a16:creationId xmlns:a16="http://schemas.microsoft.com/office/drawing/2014/main" id="{4047B4F1-BE00-4EC3-BD55-72D9311B27EE}"/>
                </a:ext>
              </a:extLst>
            </p:cNvPr>
            <p:cNvSpPr/>
            <p:nvPr/>
          </p:nvSpPr>
          <p:spPr bwMode="auto">
            <a:xfrm>
              <a:off x="3886200" y="5562600"/>
              <a:ext cx="533400" cy="304800"/>
            </a:xfrm>
            <a:prstGeom prst="rect">
              <a:avLst/>
            </a:prstGeom>
            <a:no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Gill Sans Light"/>
              </a:endParaRPr>
            </a:p>
          </p:txBody>
        </p:sp>
        <p:cxnSp>
          <p:nvCxnSpPr>
            <p:cNvPr id="48" name="Straight Arrow Connector 47">
              <a:extLst>
                <a:ext uri="{FF2B5EF4-FFF2-40B4-BE49-F238E27FC236}">
                  <a16:creationId xmlns:a16="http://schemas.microsoft.com/office/drawing/2014/main" id="{27F51095-FE36-46CF-AC63-0B06A595CBD5}"/>
                </a:ext>
              </a:extLst>
            </p:cNvPr>
            <p:cNvCxnSpPr/>
            <p:nvPr/>
          </p:nvCxnSpPr>
          <p:spPr bwMode="auto">
            <a:xfrm>
              <a:off x="4191000" y="5867400"/>
              <a:ext cx="0" cy="685800"/>
            </a:xfrm>
            <a:prstGeom prst="straightConnector1">
              <a:avLst/>
            </a:prstGeom>
            <a:solidFill>
              <a:schemeClr val="accent1"/>
            </a:solidFill>
            <a:ln w="12700" cap="flat" cmpd="sng" algn="ctr">
              <a:solidFill>
                <a:schemeClr val="tx1"/>
              </a:solidFill>
              <a:prstDash val="solid"/>
              <a:round/>
              <a:headEnd type="arrow"/>
              <a:tailEnd type="arrow"/>
            </a:ln>
            <a:effectLst/>
          </p:spPr>
        </p:cxnSp>
        <p:cxnSp>
          <p:nvCxnSpPr>
            <p:cNvPr id="49" name="Straight Arrow Connector 48">
              <a:extLst>
                <a:ext uri="{FF2B5EF4-FFF2-40B4-BE49-F238E27FC236}">
                  <a16:creationId xmlns:a16="http://schemas.microsoft.com/office/drawing/2014/main" id="{41B2320C-FD77-4624-A661-05D11C84E414}"/>
                </a:ext>
              </a:extLst>
            </p:cNvPr>
            <p:cNvCxnSpPr/>
            <p:nvPr/>
          </p:nvCxnSpPr>
          <p:spPr bwMode="auto">
            <a:xfrm>
              <a:off x="4191000" y="6096000"/>
              <a:ext cx="685800" cy="0"/>
            </a:xfrm>
            <a:prstGeom prst="straightConnector1">
              <a:avLst/>
            </a:prstGeom>
            <a:solidFill>
              <a:schemeClr val="accent1"/>
            </a:solidFill>
            <a:ln w="12700" cap="flat" cmpd="sng" algn="ctr">
              <a:solidFill>
                <a:schemeClr val="tx1"/>
              </a:solidFill>
              <a:prstDash val="solid"/>
              <a:round/>
              <a:headEnd type="arrow"/>
              <a:tailEnd type="arrow"/>
            </a:ln>
            <a:effectLst/>
          </p:spPr>
        </p:cxnSp>
        <p:cxnSp>
          <p:nvCxnSpPr>
            <p:cNvPr id="50" name="Straight Arrow Connector 49">
              <a:extLst>
                <a:ext uri="{FF2B5EF4-FFF2-40B4-BE49-F238E27FC236}">
                  <a16:creationId xmlns:a16="http://schemas.microsoft.com/office/drawing/2014/main" id="{DA97E38A-5EB2-44E8-986F-B27ED4288FEF}"/>
                </a:ext>
              </a:extLst>
            </p:cNvPr>
            <p:cNvCxnSpPr/>
            <p:nvPr/>
          </p:nvCxnSpPr>
          <p:spPr bwMode="auto">
            <a:xfrm>
              <a:off x="4191000" y="6248400"/>
              <a:ext cx="685800" cy="0"/>
            </a:xfrm>
            <a:prstGeom prst="straightConnector1">
              <a:avLst/>
            </a:prstGeom>
            <a:solidFill>
              <a:schemeClr val="accent1"/>
            </a:solidFill>
            <a:ln w="12700" cap="flat" cmpd="sng" algn="ctr">
              <a:solidFill>
                <a:schemeClr val="tx1"/>
              </a:solidFill>
              <a:prstDash val="solid"/>
              <a:round/>
              <a:headEnd type="arrow"/>
              <a:tailEnd type="arrow"/>
            </a:ln>
            <a:effectLst/>
          </p:spPr>
        </p:cxnSp>
      </p:grpSp>
    </p:spTree>
    <p:extLst>
      <p:ext uri="{BB962C8B-B14F-4D97-AF65-F5344CB8AC3E}">
        <p14:creationId xmlns:p14="http://schemas.microsoft.com/office/powerpoint/2010/main" val="371556600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fade">
                                      <p:cBhvr>
                                        <p:cTn id="7" dur="500"/>
                                        <p:tgtEl>
                                          <p:spTgt spid="3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5">
                                            <p:txEl>
                                              <p:pRg st="0" end="0"/>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55">
                                            <p:txEl>
                                              <p:pRg st="1" end="1"/>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5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0FFBD-86D7-4430-8623-1A5A496FA90C}"/>
              </a:ext>
            </a:extLst>
          </p:cNvPr>
          <p:cNvSpPr>
            <a:spLocks noGrp="1"/>
          </p:cNvSpPr>
          <p:nvPr>
            <p:ph type="title"/>
          </p:nvPr>
        </p:nvSpPr>
        <p:spPr/>
        <p:txBody>
          <a:bodyPr/>
          <a:lstStyle/>
          <a:p>
            <a:r>
              <a:rPr lang="en-US" dirty="0"/>
              <a:t>What is an Operating System?</a:t>
            </a:r>
          </a:p>
        </p:txBody>
      </p:sp>
      <p:sp>
        <p:nvSpPr>
          <p:cNvPr id="3" name="Content Placeholder 2">
            <a:extLst>
              <a:ext uri="{FF2B5EF4-FFF2-40B4-BE49-F238E27FC236}">
                <a16:creationId xmlns:a16="http://schemas.microsoft.com/office/drawing/2014/main" id="{3045FBDC-6D09-4175-BD95-8438526B950F}"/>
              </a:ext>
            </a:extLst>
          </p:cNvPr>
          <p:cNvSpPr>
            <a:spLocks noGrp="1"/>
          </p:cNvSpPr>
          <p:nvPr>
            <p:ph idx="1"/>
          </p:nvPr>
        </p:nvSpPr>
        <p:spPr>
          <a:xfrm>
            <a:off x="2239617" y="1367738"/>
            <a:ext cx="9114183" cy="5125137"/>
          </a:xfrm>
        </p:spPr>
        <p:txBody>
          <a:bodyPr>
            <a:normAutofit/>
          </a:bodyPr>
          <a:lstStyle/>
          <a:p>
            <a:r>
              <a:rPr lang="en-US" dirty="0"/>
              <a:t>Illusionist</a:t>
            </a:r>
          </a:p>
          <a:p>
            <a:pPr lvl="1"/>
            <a:r>
              <a:rPr lang="en-US" dirty="0"/>
              <a:t>Provide clean, easy-to-use abstractions of physical resources</a:t>
            </a:r>
          </a:p>
          <a:p>
            <a:pPr lvl="2"/>
            <a:r>
              <a:rPr lang="en-US" dirty="0"/>
              <a:t>Infinite memory, dedicated machine</a:t>
            </a:r>
          </a:p>
          <a:p>
            <a:pPr lvl="2"/>
            <a:r>
              <a:rPr lang="en-US" dirty="0"/>
              <a:t>Higher level objects: files, users, messages</a:t>
            </a:r>
          </a:p>
          <a:p>
            <a:pPr lvl="2"/>
            <a:r>
              <a:rPr lang="en-US" dirty="0"/>
              <a:t>Masking limitations, virtualization</a:t>
            </a:r>
          </a:p>
          <a:p>
            <a:r>
              <a:rPr lang="en-US" dirty="0"/>
              <a:t>Referee</a:t>
            </a:r>
          </a:p>
          <a:p>
            <a:pPr lvl="1"/>
            <a:r>
              <a:rPr lang="en-US" dirty="0"/>
              <a:t>Manage protection, isolation, and sharing of resources</a:t>
            </a:r>
          </a:p>
          <a:p>
            <a:pPr lvl="2"/>
            <a:r>
              <a:rPr lang="en-US" dirty="0"/>
              <a:t>Resource allocation and communication</a:t>
            </a:r>
          </a:p>
          <a:p>
            <a:r>
              <a:rPr lang="en-US" dirty="0">
                <a:solidFill>
                  <a:srgbClr val="FF0000"/>
                </a:solidFill>
              </a:rPr>
              <a:t>Glue</a:t>
            </a:r>
          </a:p>
          <a:p>
            <a:pPr lvl="1"/>
            <a:r>
              <a:rPr lang="en-US" dirty="0">
                <a:solidFill>
                  <a:srgbClr val="FF0000"/>
                </a:solidFill>
              </a:rPr>
              <a:t>Common services</a:t>
            </a:r>
          </a:p>
          <a:p>
            <a:pPr lvl="2"/>
            <a:r>
              <a:rPr lang="en-US" dirty="0">
                <a:solidFill>
                  <a:srgbClr val="FF0000"/>
                </a:solidFill>
              </a:rPr>
              <a:t>Storage, Window system, Networking</a:t>
            </a:r>
          </a:p>
          <a:p>
            <a:pPr lvl="2"/>
            <a:r>
              <a:rPr lang="en-US" dirty="0">
                <a:solidFill>
                  <a:srgbClr val="FF0000"/>
                </a:solidFill>
              </a:rPr>
              <a:t>Sharing, Authorization</a:t>
            </a:r>
          </a:p>
          <a:p>
            <a:pPr lvl="2"/>
            <a:r>
              <a:rPr lang="en-US" dirty="0">
                <a:solidFill>
                  <a:srgbClr val="FF0000"/>
                </a:solidFill>
              </a:rPr>
              <a:t>Look and feel</a:t>
            </a:r>
          </a:p>
          <a:p>
            <a:pPr lvl="2"/>
            <a:endParaRPr lang="en-US" dirty="0"/>
          </a:p>
        </p:txBody>
      </p:sp>
      <p:pic>
        <p:nvPicPr>
          <p:cNvPr id="7" name="Picture 6">
            <a:extLst>
              <a:ext uri="{FF2B5EF4-FFF2-40B4-BE49-F238E27FC236}">
                <a16:creationId xmlns:a16="http://schemas.microsoft.com/office/drawing/2014/main" id="{65C00F34-1D9D-426C-8D4D-28C7ACFC9737}"/>
              </a:ext>
            </a:extLst>
          </p:cNvPr>
          <p:cNvPicPr>
            <a:picLocks noChangeAspect="1"/>
          </p:cNvPicPr>
          <p:nvPr/>
        </p:nvPicPr>
        <p:blipFill>
          <a:blip r:embed="rId2"/>
          <a:stretch>
            <a:fillRect/>
          </a:stretch>
        </p:blipFill>
        <p:spPr>
          <a:xfrm>
            <a:off x="676835" y="3044573"/>
            <a:ext cx="1291665" cy="1066800"/>
          </a:xfrm>
          <a:prstGeom prst="rect">
            <a:avLst/>
          </a:prstGeom>
        </p:spPr>
      </p:pic>
      <p:pic>
        <p:nvPicPr>
          <p:cNvPr id="8" name="Picture 7">
            <a:extLst>
              <a:ext uri="{FF2B5EF4-FFF2-40B4-BE49-F238E27FC236}">
                <a16:creationId xmlns:a16="http://schemas.microsoft.com/office/drawing/2014/main" id="{A7E627E2-ECD5-465A-AECF-F32DDB1B5287}"/>
              </a:ext>
            </a:extLst>
          </p:cNvPr>
          <p:cNvPicPr>
            <a:picLocks noChangeAspect="1"/>
          </p:cNvPicPr>
          <p:nvPr/>
        </p:nvPicPr>
        <p:blipFill>
          <a:blip r:embed="rId3"/>
          <a:stretch>
            <a:fillRect/>
          </a:stretch>
        </p:blipFill>
        <p:spPr>
          <a:xfrm>
            <a:off x="404208" y="1634836"/>
            <a:ext cx="1411469" cy="1130300"/>
          </a:xfrm>
          <a:prstGeom prst="rect">
            <a:avLst/>
          </a:prstGeom>
        </p:spPr>
      </p:pic>
      <p:pic>
        <p:nvPicPr>
          <p:cNvPr id="9" name="Picture 8">
            <a:extLst>
              <a:ext uri="{FF2B5EF4-FFF2-40B4-BE49-F238E27FC236}">
                <a16:creationId xmlns:a16="http://schemas.microsoft.com/office/drawing/2014/main" id="{B7B88C3A-D17E-4693-A137-D440D9027B0E}"/>
              </a:ext>
            </a:extLst>
          </p:cNvPr>
          <p:cNvPicPr>
            <a:picLocks noChangeAspect="1"/>
          </p:cNvPicPr>
          <p:nvPr/>
        </p:nvPicPr>
        <p:blipFill>
          <a:blip r:embed="rId4"/>
          <a:stretch>
            <a:fillRect/>
          </a:stretch>
        </p:blipFill>
        <p:spPr>
          <a:xfrm>
            <a:off x="439807" y="5010113"/>
            <a:ext cx="1664252" cy="1117600"/>
          </a:xfrm>
          <a:prstGeom prst="rect">
            <a:avLst/>
          </a:prstGeom>
        </p:spPr>
      </p:pic>
    </p:spTree>
    <p:extLst>
      <p:ext uri="{BB962C8B-B14F-4D97-AF65-F5344CB8AC3E}">
        <p14:creationId xmlns:p14="http://schemas.microsoft.com/office/powerpoint/2010/main" val="422033336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8" end="8"/>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9" end="9"/>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10" end="1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11" end="1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12" end="1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C79C7B-540E-47BF-80E6-833652732F8B}"/>
              </a:ext>
            </a:extLst>
          </p:cNvPr>
          <p:cNvSpPr>
            <a:spLocks noGrp="1"/>
          </p:cNvSpPr>
          <p:nvPr>
            <p:ph type="title"/>
          </p:nvPr>
        </p:nvSpPr>
        <p:spPr/>
        <p:txBody>
          <a:bodyPr/>
          <a:lstStyle/>
          <a:p>
            <a:r>
              <a:rPr lang="en-US" dirty="0">
                <a:latin typeface="Gill Sans Light"/>
              </a:rPr>
              <a:t>OS Basics: I/O</a:t>
            </a:r>
          </a:p>
        </p:txBody>
      </p:sp>
      <p:sp>
        <p:nvSpPr>
          <p:cNvPr id="6" name="Rectangle 5">
            <a:extLst>
              <a:ext uri="{FF2B5EF4-FFF2-40B4-BE49-F238E27FC236}">
                <a16:creationId xmlns:a16="http://schemas.microsoft.com/office/drawing/2014/main" id="{8A53B99E-1B81-4494-AF3F-20A5844B930F}"/>
              </a:ext>
            </a:extLst>
          </p:cNvPr>
          <p:cNvSpPr/>
          <p:nvPr/>
        </p:nvSpPr>
        <p:spPr bwMode="auto">
          <a:xfrm>
            <a:off x="768790" y="2364551"/>
            <a:ext cx="6705600" cy="3822700"/>
          </a:xfrm>
          <a:prstGeom prst="rect">
            <a:avLst/>
          </a:prstGeom>
          <a:pattFill prst="horzBrick">
            <a:fgClr>
              <a:schemeClr val="bg2">
                <a:lumMod val="40000"/>
                <a:lumOff val="60000"/>
              </a:schemeClr>
            </a:fgClr>
            <a:bgClr>
              <a:prstClr val="white"/>
            </a:bgClr>
          </a:patt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Gill Sans Light"/>
            </a:endParaRPr>
          </a:p>
        </p:txBody>
      </p:sp>
      <p:cxnSp>
        <p:nvCxnSpPr>
          <p:cNvPr id="7" name="Straight Arrow Connector 6">
            <a:extLst>
              <a:ext uri="{FF2B5EF4-FFF2-40B4-BE49-F238E27FC236}">
                <a16:creationId xmlns:a16="http://schemas.microsoft.com/office/drawing/2014/main" id="{39EE30BA-81E5-4EDA-B0FE-308380E49D11}"/>
              </a:ext>
            </a:extLst>
          </p:cNvPr>
          <p:cNvCxnSpPr>
            <a:stCxn id="11" idx="3"/>
          </p:cNvCxnSpPr>
          <p:nvPr/>
        </p:nvCxnSpPr>
        <p:spPr bwMode="auto">
          <a:xfrm flipV="1">
            <a:off x="3054790" y="3610700"/>
            <a:ext cx="914400" cy="11151"/>
          </a:xfrm>
          <a:prstGeom prst="straightConnector1">
            <a:avLst/>
          </a:prstGeom>
          <a:solidFill>
            <a:schemeClr val="accent1"/>
          </a:solidFill>
          <a:ln w="57150" cap="flat" cmpd="sng" algn="ctr">
            <a:solidFill>
              <a:schemeClr val="tx1"/>
            </a:solidFill>
            <a:prstDash val="solid"/>
            <a:round/>
            <a:headEnd type="triangle" w="med" len="med"/>
            <a:tailEnd type="triangle"/>
          </a:ln>
          <a:effectLst/>
        </p:spPr>
      </p:cxnSp>
      <p:cxnSp>
        <p:nvCxnSpPr>
          <p:cNvPr id="8" name="Straight Arrow Connector 7">
            <a:extLst>
              <a:ext uri="{FF2B5EF4-FFF2-40B4-BE49-F238E27FC236}">
                <a16:creationId xmlns:a16="http://schemas.microsoft.com/office/drawing/2014/main" id="{79275DEE-4BC1-4DDF-A6AC-C60E35601B6A}"/>
              </a:ext>
            </a:extLst>
          </p:cNvPr>
          <p:cNvCxnSpPr/>
          <p:nvPr/>
        </p:nvCxnSpPr>
        <p:spPr bwMode="auto">
          <a:xfrm>
            <a:off x="3435790" y="3583751"/>
            <a:ext cx="0" cy="685800"/>
          </a:xfrm>
          <a:prstGeom prst="straightConnector1">
            <a:avLst/>
          </a:prstGeom>
          <a:solidFill>
            <a:schemeClr val="accent1"/>
          </a:solidFill>
          <a:ln w="12700" cap="flat" cmpd="sng" algn="ctr">
            <a:solidFill>
              <a:schemeClr val="tx1"/>
            </a:solidFill>
            <a:prstDash val="solid"/>
            <a:round/>
            <a:headEnd type="arrow"/>
            <a:tailEnd type="arrow"/>
          </a:ln>
          <a:effectLst/>
        </p:spPr>
      </p:cxnSp>
      <p:sp>
        <p:nvSpPr>
          <p:cNvPr id="9" name="Can 38">
            <a:extLst>
              <a:ext uri="{FF2B5EF4-FFF2-40B4-BE49-F238E27FC236}">
                <a16:creationId xmlns:a16="http://schemas.microsoft.com/office/drawing/2014/main" id="{F931CDB6-7A54-411C-85D3-C83026204322}"/>
              </a:ext>
            </a:extLst>
          </p:cNvPr>
          <p:cNvSpPr/>
          <p:nvPr/>
        </p:nvSpPr>
        <p:spPr bwMode="auto">
          <a:xfrm>
            <a:off x="1606990" y="4574351"/>
            <a:ext cx="1143000" cy="1295400"/>
          </a:xfrm>
          <a:prstGeom prst="can">
            <a:avLst/>
          </a:prstGeom>
          <a:solidFill>
            <a:srgbClr val="5AAEFF"/>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600" dirty="0">
                <a:latin typeface="Gill Sans Light"/>
              </a:rPr>
              <a:t>Storage</a:t>
            </a:r>
            <a:endParaRPr kumimoji="0" lang="en-US" sz="1600" b="0" i="0" u="none" strike="noStrike" cap="none" normalizeH="0" baseline="0" dirty="0">
              <a:ln>
                <a:noFill/>
              </a:ln>
              <a:solidFill>
                <a:schemeClr val="tx1"/>
              </a:solidFill>
              <a:effectLst/>
              <a:latin typeface="Gill Sans Light"/>
            </a:endParaRPr>
          </a:p>
        </p:txBody>
      </p:sp>
      <p:sp>
        <p:nvSpPr>
          <p:cNvPr id="11" name="Rounded Rectangle 6">
            <a:extLst>
              <a:ext uri="{FF2B5EF4-FFF2-40B4-BE49-F238E27FC236}">
                <a16:creationId xmlns:a16="http://schemas.microsoft.com/office/drawing/2014/main" id="{73EA3BF9-2DFB-45FE-9506-BB19DF8C5A11}"/>
              </a:ext>
            </a:extLst>
          </p:cNvPr>
          <p:cNvSpPr/>
          <p:nvPr/>
        </p:nvSpPr>
        <p:spPr bwMode="auto">
          <a:xfrm>
            <a:off x="1454590" y="3202751"/>
            <a:ext cx="1600200" cy="838200"/>
          </a:xfrm>
          <a:prstGeom prst="roundRect">
            <a:avLst/>
          </a:prstGeom>
          <a:solidFill>
            <a:schemeClr val="accent1">
              <a:lumMod val="40000"/>
              <a:lumOff val="6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Gill Sans Light"/>
              </a:rPr>
              <a:t>Processor</a:t>
            </a:r>
          </a:p>
        </p:txBody>
      </p:sp>
      <p:sp>
        <p:nvSpPr>
          <p:cNvPr id="12" name="Rectangle 11">
            <a:extLst>
              <a:ext uri="{FF2B5EF4-FFF2-40B4-BE49-F238E27FC236}">
                <a16:creationId xmlns:a16="http://schemas.microsoft.com/office/drawing/2014/main" id="{CD8B724A-5F8E-4271-9E5E-1A90A4EDC9D8}"/>
              </a:ext>
            </a:extLst>
          </p:cNvPr>
          <p:cNvSpPr/>
          <p:nvPr/>
        </p:nvSpPr>
        <p:spPr bwMode="auto">
          <a:xfrm>
            <a:off x="2292790" y="2212151"/>
            <a:ext cx="4572000" cy="152400"/>
          </a:xfrm>
          <a:prstGeom prst="rect">
            <a:avLst/>
          </a:prstGeom>
          <a:solidFill>
            <a:schemeClr val="accent1"/>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Gill Sans Light"/>
            </a:endParaRPr>
          </a:p>
        </p:txBody>
      </p:sp>
      <p:sp>
        <p:nvSpPr>
          <p:cNvPr id="13" name="TextBox 12">
            <a:extLst>
              <a:ext uri="{FF2B5EF4-FFF2-40B4-BE49-F238E27FC236}">
                <a16:creationId xmlns:a16="http://schemas.microsoft.com/office/drawing/2014/main" id="{2D818A1D-0774-4E2E-B2C2-A1AE60B5F59F}"/>
              </a:ext>
            </a:extLst>
          </p:cNvPr>
          <p:cNvSpPr txBox="1"/>
          <p:nvPr/>
        </p:nvSpPr>
        <p:spPr>
          <a:xfrm>
            <a:off x="3130990" y="1907351"/>
            <a:ext cx="2817887" cy="338554"/>
          </a:xfrm>
          <a:prstGeom prst="rect">
            <a:avLst/>
          </a:prstGeom>
          <a:noFill/>
        </p:spPr>
        <p:txBody>
          <a:bodyPr wrap="none" rtlCol="0">
            <a:spAutoFit/>
          </a:bodyPr>
          <a:lstStyle/>
          <a:p>
            <a:r>
              <a:rPr lang="en-US" sz="1600" dirty="0">
                <a:latin typeface="Gill Sans Light"/>
              </a:rPr>
              <a:t>OS Hardware Virtualization</a:t>
            </a:r>
          </a:p>
        </p:txBody>
      </p:sp>
      <p:sp>
        <p:nvSpPr>
          <p:cNvPr id="14" name="Rectangle 13">
            <a:extLst>
              <a:ext uri="{FF2B5EF4-FFF2-40B4-BE49-F238E27FC236}">
                <a16:creationId xmlns:a16="http://schemas.microsoft.com/office/drawing/2014/main" id="{8C7D1D8C-9A58-4B86-AA62-808D4497E6E9}"/>
              </a:ext>
            </a:extLst>
          </p:cNvPr>
          <p:cNvSpPr/>
          <p:nvPr/>
        </p:nvSpPr>
        <p:spPr>
          <a:xfrm>
            <a:off x="768790" y="2364551"/>
            <a:ext cx="1119217" cy="338554"/>
          </a:xfrm>
          <a:prstGeom prst="rect">
            <a:avLst/>
          </a:prstGeom>
        </p:spPr>
        <p:txBody>
          <a:bodyPr wrap="none">
            <a:spAutoFit/>
          </a:bodyPr>
          <a:lstStyle/>
          <a:p>
            <a:r>
              <a:rPr lang="en-US" sz="1600" dirty="0">
                <a:latin typeface="Gill Sans Light"/>
              </a:rPr>
              <a:t>Hardware</a:t>
            </a:r>
          </a:p>
        </p:txBody>
      </p:sp>
      <p:sp>
        <p:nvSpPr>
          <p:cNvPr id="15" name="Rectangle 14">
            <a:extLst>
              <a:ext uri="{FF2B5EF4-FFF2-40B4-BE49-F238E27FC236}">
                <a16:creationId xmlns:a16="http://schemas.microsoft.com/office/drawing/2014/main" id="{D6E49782-3C7E-4A2F-8C69-EF30E404E2F8}"/>
              </a:ext>
            </a:extLst>
          </p:cNvPr>
          <p:cNvSpPr/>
          <p:nvPr/>
        </p:nvSpPr>
        <p:spPr>
          <a:xfrm>
            <a:off x="768790" y="1983551"/>
            <a:ext cx="1051891" cy="338554"/>
          </a:xfrm>
          <a:prstGeom prst="rect">
            <a:avLst/>
          </a:prstGeom>
        </p:spPr>
        <p:txBody>
          <a:bodyPr wrap="none">
            <a:spAutoFit/>
          </a:bodyPr>
          <a:lstStyle/>
          <a:p>
            <a:r>
              <a:rPr lang="en-US" sz="1600" dirty="0">
                <a:latin typeface="Gill Sans Light"/>
              </a:rPr>
              <a:t>Software</a:t>
            </a:r>
          </a:p>
        </p:txBody>
      </p:sp>
      <p:sp>
        <p:nvSpPr>
          <p:cNvPr id="16" name="Rectangle 15">
            <a:extLst>
              <a:ext uri="{FF2B5EF4-FFF2-40B4-BE49-F238E27FC236}">
                <a16:creationId xmlns:a16="http://schemas.microsoft.com/office/drawing/2014/main" id="{3D53F5D6-0363-47AD-87A6-F1F9E92216DF}"/>
              </a:ext>
            </a:extLst>
          </p:cNvPr>
          <p:cNvSpPr/>
          <p:nvPr/>
        </p:nvSpPr>
        <p:spPr bwMode="auto">
          <a:xfrm>
            <a:off x="3969190" y="2440751"/>
            <a:ext cx="1752600" cy="1676400"/>
          </a:xfrm>
          <a:prstGeom prst="rect">
            <a:avLst/>
          </a:prstGeom>
          <a:solidFill>
            <a:srgbClr val="5AAEFF"/>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Gill Sans Light"/>
              </a:rPr>
              <a:t>Memory</a:t>
            </a:r>
          </a:p>
        </p:txBody>
      </p:sp>
      <p:sp>
        <p:nvSpPr>
          <p:cNvPr id="17" name="TextBox 16">
            <a:extLst>
              <a:ext uri="{FF2B5EF4-FFF2-40B4-BE49-F238E27FC236}">
                <a16:creationId xmlns:a16="http://schemas.microsoft.com/office/drawing/2014/main" id="{9BF36F96-6A2C-4201-8DFF-E279883EE5E5}"/>
              </a:ext>
            </a:extLst>
          </p:cNvPr>
          <p:cNvSpPr txBox="1"/>
          <p:nvPr/>
        </p:nvSpPr>
        <p:spPr>
          <a:xfrm>
            <a:off x="2624527" y="1517513"/>
            <a:ext cx="1152880" cy="338554"/>
          </a:xfrm>
          <a:prstGeom prst="rect">
            <a:avLst/>
          </a:prstGeom>
          <a:solidFill>
            <a:srgbClr val="9E7800"/>
          </a:solidFill>
          <a:ln>
            <a:solidFill>
              <a:schemeClr val="tx1"/>
            </a:solidFill>
          </a:ln>
        </p:spPr>
        <p:txBody>
          <a:bodyPr wrap="none" rtlCol="0">
            <a:spAutoFit/>
          </a:bodyPr>
          <a:lstStyle/>
          <a:p>
            <a:r>
              <a:rPr lang="en-US" sz="1600" i="1" dirty="0">
                <a:latin typeface="Gill Sans Light"/>
              </a:rPr>
              <a:t>Process 1</a:t>
            </a:r>
          </a:p>
        </p:txBody>
      </p:sp>
      <p:sp>
        <p:nvSpPr>
          <p:cNvPr id="20" name="TextBox 19">
            <a:extLst>
              <a:ext uri="{FF2B5EF4-FFF2-40B4-BE49-F238E27FC236}">
                <a16:creationId xmlns:a16="http://schemas.microsoft.com/office/drawing/2014/main" id="{27DBA43E-DF7C-4D3C-B70C-D2D06A4934B5}"/>
              </a:ext>
            </a:extLst>
          </p:cNvPr>
          <p:cNvSpPr txBox="1"/>
          <p:nvPr/>
        </p:nvSpPr>
        <p:spPr>
          <a:xfrm>
            <a:off x="1911790" y="2364551"/>
            <a:ext cx="441146" cy="276999"/>
          </a:xfrm>
          <a:prstGeom prst="rect">
            <a:avLst/>
          </a:prstGeom>
          <a:solidFill>
            <a:srgbClr val="EFE683"/>
          </a:solidFill>
          <a:ln>
            <a:solidFill>
              <a:schemeClr val="accent1">
                <a:lumMod val="60000"/>
                <a:lumOff val="40000"/>
              </a:schemeClr>
            </a:solidFill>
          </a:ln>
        </p:spPr>
        <p:txBody>
          <a:bodyPr wrap="none" rtlCol="0">
            <a:spAutoFit/>
          </a:bodyPr>
          <a:lstStyle/>
          <a:p>
            <a:r>
              <a:rPr lang="en-US" sz="1200" i="1" dirty="0">
                <a:latin typeface="Gill Sans Light"/>
              </a:rPr>
              <a:t>ISA</a:t>
            </a:r>
          </a:p>
        </p:txBody>
      </p:sp>
      <p:grpSp>
        <p:nvGrpSpPr>
          <p:cNvPr id="23" name="Group 22">
            <a:extLst>
              <a:ext uri="{FF2B5EF4-FFF2-40B4-BE49-F238E27FC236}">
                <a16:creationId xmlns:a16="http://schemas.microsoft.com/office/drawing/2014/main" id="{871B7B07-C2C7-4DFD-8E78-B7F2B12E79E1}"/>
              </a:ext>
            </a:extLst>
          </p:cNvPr>
          <p:cNvGrpSpPr/>
          <p:nvPr/>
        </p:nvGrpSpPr>
        <p:grpSpPr>
          <a:xfrm>
            <a:off x="2368990" y="3659951"/>
            <a:ext cx="533400" cy="304800"/>
            <a:chOff x="3124200" y="3657600"/>
            <a:chExt cx="533400" cy="304800"/>
          </a:xfrm>
          <a:solidFill>
            <a:schemeClr val="accent6"/>
          </a:solidFill>
        </p:grpSpPr>
        <p:sp>
          <p:nvSpPr>
            <p:cNvPr id="24" name="Rectangle 23">
              <a:extLst>
                <a:ext uri="{FF2B5EF4-FFF2-40B4-BE49-F238E27FC236}">
                  <a16:creationId xmlns:a16="http://schemas.microsoft.com/office/drawing/2014/main" id="{2BE7592F-8692-459A-87BD-175BF63741CB}"/>
                </a:ext>
              </a:extLst>
            </p:cNvPr>
            <p:cNvSpPr/>
            <p:nvPr/>
          </p:nvSpPr>
          <p:spPr bwMode="auto">
            <a:xfrm>
              <a:off x="3124200" y="3657600"/>
              <a:ext cx="533400" cy="304800"/>
            </a:xfrm>
            <a:prstGeom prst="rect">
              <a:avLst/>
            </a:prstGeom>
            <a:grp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Gill Sans Light"/>
              </a:endParaRPr>
            </a:p>
          </p:txBody>
        </p:sp>
        <p:sp>
          <p:nvSpPr>
            <p:cNvPr id="25" name="Rectangle 24">
              <a:extLst>
                <a:ext uri="{FF2B5EF4-FFF2-40B4-BE49-F238E27FC236}">
                  <a16:creationId xmlns:a16="http://schemas.microsoft.com/office/drawing/2014/main" id="{45B552A2-E623-4298-9D2C-E8DA7CFA0619}"/>
                </a:ext>
              </a:extLst>
            </p:cNvPr>
            <p:cNvSpPr/>
            <p:nvPr/>
          </p:nvSpPr>
          <p:spPr bwMode="auto">
            <a:xfrm>
              <a:off x="3124200" y="3733800"/>
              <a:ext cx="533400" cy="152400"/>
            </a:xfrm>
            <a:prstGeom prst="rect">
              <a:avLst/>
            </a:prstGeom>
            <a:grp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Gill Sans Light"/>
              </a:endParaRPr>
            </a:p>
          </p:txBody>
        </p:sp>
      </p:grpSp>
      <p:sp>
        <p:nvSpPr>
          <p:cNvPr id="26" name="Rectangle 25">
            <a:extLst>
              <a:ext uri="{FF2B5EF4-FFF2-40B4-BE49-F238E27FC236}">
                <a16:creationId xmlns:a16="http://schemas.microsoft.com/office/drawing/2014/main" id="{570BE518-A41A-44C8-BE5B-384793DEB01A}"/>
              </a:ext>
            </a:extLst>
          </p:cNvPr>
          <p:cNvSpPr/>
          <p:nvPr/>
        </p:nvSpPr>
        <p:spPr bwMode="auto">
          <a:xfrm>
            <a:off x="4045390" y="2897951"/>
            <a:ext cx="838200" cy="685800"/>
          </a:xfrm>
          <a:prstGeom prst="rect">
            <a:avLst/>
          </a:prstGeom>
          <a:solidFill>
            <a:schemeClr val="accent6"/>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Gill Sans Light"/>
            </a:endParaRPr>
          </a:p>
        </p:txBody>
      </p:sp>
      <p:sp>
        <p:nvSpPr>
          <p:cNvPr id="27" name="Rectangle 26">
            <a:extLst>
              <a:ext uri="{FF2B5EF4-FFF2-40B4-BE49-F238E27FC236}">
                <a16:creationId xmlns:a16="http://schemas.microsoft.com/office/drawing/2014/main" id="{01CDF013-B14B-4959-AB17-68E3D9F1B2A5}"/>
              </a:ext>
            </a:extLst>
          </p:cNvPr>
          <p:cNvSpPr/>
          <p:nvPr/>
        </p:nvSpPr>
        <p:spPr bwMode="auto">
          <a:xfrm>
            <a:off x="4121590" y="3736151"/>
            <a:ext cx="1524000" cy="304800"/>
          </a:xfrm>
          <a:prstGeom prst="rect">
            <a:avLst/>
          </a:prstGeom>
          <a:solidFill>
            <a:schemeClr val="bg2">
              <a:lumMod val="60000"/>
              <a:lumOff val="4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400" b="0" i="0" u="none" strike="noStrike" cap="none" normalizeH="0" baseline="0" dirty="0">
                <a:ln>
                  <a:noFill/>
                </a:ln>
                <a:solidFill>
                  <a:schemeClr val="tx1"/>
                </a:solidFill>
                <a:effectLst/>
                <a:latin typeface="Gill Sans Light"/>
              </a:rPr>
              <a:t>OS Memory</a:t>
            </a:r>
          </a:p>
        </p:txBody>
      </p:sp>
      <p:sp>
        <p:nvSpPr>
          <p:cNvPr id="28" name="Rectangle 27">
            <a:extLst>
              <a:ext uri="{FF2B5EF4-FFF2-40B4-BE49-F238E27FC236}">
                <a16:creationId xmlns:a16="http://schemas.microsoft.com/office/drawing/2014/main" id="{2511BE6E-F6D9-4B14-96C6-46DCA6D9A73A}"/>
              </a:ext>
            </a:extLst>
          </p:cNvPr>
          <p:cNvSpPr/>
          <p:nvPr/>
        </p:nvSpPr>
        <p:spPr bwMode="auto">
          <a:xfrm>
            <a:off x="5035990" y="2897951"/>
            <a:ext cx="609600" cy="381000"/>
          </a:xfrm>
          <a:prstGeom prst="rect">
            <a:avLst/>
          </a:prstGeom>
          <a:solidFill>
            <a:srgbClr val="C00000"/>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Gill Sans Light"/>
            </a:endParaRPr>
          </a:p>
        </p:txBody>
      </p:sp>
      <p:sp>
        <p:nvSpPr>
          <p:cNvPr id="29" name="Rectangle 28">
            <a:extLst>
              <a:ext uri="{FF2B5EF4-FFF2-40B4-BE49-F238E27FC236}">
                <a16:creationId xmlns:a16="http://schemas.microsoft.com/office/drawing/2014/main" id="{7119B6C9-A14B-486D-BDD1-070DF9283C04}"/>
              </a:ext>
            </a:extLst>
          </p:cNvPr>
          <p:cNvSpPr/>
          <p:nvPr/>
        </p:nvSpPr>
        <p:spPr bwMode="auto">
          <a:xfrm>
            <a:off x="4959790" y="3126551"/>
            <a:ext cx="609600" cy="381000"/>
          </a:xfrm>
          <a:prstGeom prst="rect">
            <a:avLst/>
          </a:prstGeom>
          <a:solidFill>
            <a:schemeClr val="accent4"/>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Gill Sans Light"/>
            </a:endParaRPr>
          </a:p>
        </p:txBody>
      </p:sp>
      <p:cxnSp>
        <p:nvCxnSpPr>
          <p:cNvPr id="30" name="Curved Connector 54">
            <a:extLst>
              <a:ext uri="{FF2B5EF4-FFF2-40B4-BE49-F238E27FC236}">
                <a16:creationId xmlns:a16="http://schemas.microsoft.com/office/drawing/2014/main" id="{A2D966F5-4258-4B9B-A57C-EB7585E46D3D}"/>
              </a:ext>
            </a:extLst>
          </p:cNvPr>
          <p:cNvCxnSpPr/>
          <p:nvPr/>
        </p:nvCxnSpPr>
        <p:spPr bwMode="auto">
          <a:xfrm rot="5400000" flipH="1" flipV="1">
            <a:off x="3111940" y="2688401"/>
            <a:ext cx="609600" cy="1638300"/>
          </a:xfrm>
          <a:prstGeom prst="curvedConnector2">
            <a:avLst/>
          </a:prstGeom>
          <a:solidFill>
            <a:schemeClr val="accent1"/>
          </a:solidFill>
          <a:ln w="12700" cap="flat" cmpd="sng" algn="ctr">
            <a:solidFill>
              <a:schemeClr val="tx1"/>
            </a:solidFill>
            <a:prstDash val="solid"/>
            <a:round/>
            <a:headEnd type="none" w="sm" len="sm"/>
            <a:tailEnd type="arrow"/>
          </a:ln>
          <a:effectLst/>
        </p:spPr>
      </p:cxnSp>
      <p:grpSp>
        <p:nvGrpSpPr>
          <p:cNvPr id="32" name="Group 31">
            <a:extLst>
              <a:ext uri="{FF2B5EF4-FFF2-40B4-BE49-F238E27FC236}">
                <a16:creationId xmlns:a16="http://schemas.microsoft.com/office/drawing/2014/main" id="{A71511FA-E8D9-4781-9765-9BFF7CF69C2C}"/>
              </a:ext>
            </a:extLst>
          </p:cNvPr>
          <p:cNvGrpSpPr/>
          <p:nvPr/>
        </p:nvGrpSpPr>
        <p:grpSpPr>
          <a:xfrm>
            <a:off x="1104585" y="3278951"/>
            <a:ext cx="6293605" cy="1418553"/>
            <a:chOff x="1707395" y="3276600"/>
            <a:chExt cx="6293605" cy="1418553"/>
          </a:xfrm>
        </p:grpSpPr>
        <p:sp>
          <p:nvSpPr>
            <p:cNvPr id="33" name="Arc 32">
              <a:extLst>
                <a:ext uri="{FF2B5EF4-FFF2-40B4-BE49-F238E27FC236}">
                  <a16:creationId xmlns:a16="http://schemas.microsoft.com/office/drawing/2014/main" id="{7B9C69FD-EDF9-41E4-B4E2-A20DE25E7631}"/>
                </a:ext>
              </a:extLst>
            </p:cNvPr>
            <p:cNvSpPr/>
            <p:nvPr/>
          </p:nvSpPr>
          <p:spPr bwMode="auto">
            <a:xfrm rot="21036509">
              <a:off x="1707395" y="3819625"/>
              <a:ext cx="6034009" cy="875528"/>
            </a:xfrm>
            <a:prstGeom prst="arc">
              <a:avLst>
                <a:gd name="adj1" fmla="val 10911104"/>
                <a:gd name="adj2" fmla="val 0"/>
              </a:avLst>
            </a:prstGeom>
            <a:noFill/>
            <a:ln w="57150" cap="flat" cmpd="sng" algn="ctr">
              <a:solidFill>
                <a:srgbClr val="FF0000"/>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Gill Sans Light"/>
              </a:endParaRPr>
            </a:p>
          </p:txBody>
        </p:sp>
        <p:sp>
          <p:nvSpPr>
            <p:cNvPr id="34" name="TextBox 33">
              <a:extLst>
                <a:ext uri="{FF2B5EF4-FFF2-40B4-BE49-F238E27FC236}">
                  <a16:creationId xmlns:a16="http://schemas.microsoft.com/office/drawing/2014/main" id="{D49CCC1A-0869-48FB-B8DD-A459E52B4240}"/>
                </a:ext>
              </a:extLst>
            </p:cNvPr>
            <p:cNvSpPr txBox="1"/>
            <p:nvPr/>
          </p:nvSpPr>
          <p:spPr>
            <a:xfrm>
              <a:off x="6553200" y="3276600"/>
              <a:ext cx="1447800" cy="584775"/>
            </a:xfrm>
            <a:prstGeom prst="rect">
              <a:avLst/>
            </a:prstGeom>
            <a:noFill/>
          </p:spPr>
          <p:txBody>
            <a:bodyPr wrap="square" rtlCol="0">
              <a:spAutoFit/>
            </a:bodyPr>
            <a:lstStyle/>
            <a:p>
              <a:r>
                <a:rPr lang="en-US" sz="1600" dirty="0">
                  <a:latin typeface="Gill Sans Light"/>
                </a:rPr>
                <a:t>Protection Boundary</a:t>
              </a:r>
            </a:p>
          </p:txBody>
        </p:sp>
      </p:grpSp>
      <p:pic>
        <p:nvPicPr>
          <p:cNvPr id="35" name="Picture 34">
            <a:extLst>
              <a:ext uri="{FF2B5EF4-FFF2-40B4-BE49-F238E27FC236}">
                <a16:creationId xmlns:a16="http://schemas.microsoft.com/office/drawing/2014/main" id="{24B984E5-2500-4631-A5D8-74ECB63F9208}"/>
              </a:ext>
            </a:extLst>
          </p:cNvPr>
          <p:cNvPicPr>
            <a:picLocks noChangeAspect="1"/>
          </p:cNvPicPr>
          <p:nvPr/>
        </p:nvPicPr>
        <p:blipFill>
          <a:blip r:embed="rId2">
            <a:clrChange>
              <a:clrFrom>
                <a:srgbClr val="FFFFFF"/>
              </a:clrFrom>
              <a:clrTo>
                <a:srgbClr val="FFFFFF">
                  <a:alpha val="0"/>
                </a:srgbClr>
              </a:clrTo>
            </a:clrChange>
          </a:blip>
          <a:stretch>
            <a:fillRect/>
          </a:stretch>
        </p:blipFill>
        <p:spPr>
          <a:xfrm flipH="1">
            <a:off x="4220604" y="4597165"/>
            <a:ext cx="967786" cy="967786"/>
          </a:xfrm>
          <a:prstGeom prst="rect">
            <a:avLst/>
          </a:prstGeom>
        </p:spPr>
      </p:pic>
      <p:pic>
        <p:nvPicPr>
          <p:cNvPr id="36" name="Picture 35">
            <a:extLst>
              <a:ext uri="{FF2B5EF4-FFF2-40B4-BE49-F238E27FC236}">
                <a16:creationId xmlns:a16="http://schemas.microsoft.com/office/drawing/2014/main" id="{F05E90D5-68EB-458D-A2A0-1843C8D6597D}"/>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5897004" y="4850149"/>
            <a:ext cx="1237948" cy="876300"/>
          </a:xfrm>
          <a:prstGeom prst="rect">
            <a:avLst/>
          </a:prstGeom>
        </p:spPr>
      </p:pic>
      <p:pic>
        <p:nvPicPr>
          <p:cNvPr id="37" name="Picture 36">
            <a:extLst>
              <a:ext uri="{FF2B5EF4-FFF2-40B4-BE49-F238E27FC236}">
                <a16:creationId xmlns:a16="http://schemas.microsoft.com/office/drawing/2014/main" id="{37C68F0A-8BC2-412B-8D79-B8178EA29E84}"/>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4273990" y="5603051"/>
            <a:ext cx="723900" cy="455315"/>
          </a:xfrm>
          <a:prstGeom prst="rect">
            <a:avLst/>
          </a:prstGeom>
        </p:spPr>
      </p:pic>
      <p:sp>
        <p:nvSpPr>
          <p:cNvPr id="38" name="TextBox 37">
            <a:extLst>
              <a:ext uri="{FF2B5EF4-FFF2-40B4-BE49-F238E27FC236}">
                <a16:creationId xmlns:a16="http://schemas.microsoft.com/office/drawing/2014/main" id="{FA1D82C4-E5D5-464F-820A-27D6D114EAC5}"/>
              </a:ext>
            </a:extLst>
          </p:cNvPr>
          <p:cNvSpPr txBox="1"/>
          <p:nvPr/>
        </p:nvSpPr>
        <p:spPr>
          <a:xfrm>
            <a:off x="4624108" y="4437899"/>
            <a:ext cx="1107996" cy="338554"/>
          </a:xfrm>
          <a:prstGeom prst="rect">
            <a:avLst/>
          </a:prstGeom>
          <a:noFill/>
        </p:spPr>
        <p:txBody>
          <a:bodyPr wrap="none" rtlCol="0">
            <a:spAutoFit/>
          </a:bodyPr>
          <a:lstStyle/>
          <a:p>
            <a:r>
              <a:rPr lang="en-US" sz="1600" dirty="0">
                <a:latin typeface="Gill Sans Light"/>
              </a:rPr>
              <a:t>Networks</a:t>
            </a:r>
          </a:p>
        </p:txBody>
      </p:sp>
      <p:sp>
        <p:nvSpPr>
          <p:cNvPr id="39" name="TextBox 38">
            <a:extLst>
              <a:ext uri="{FF2B5EF4-FFF2-40B4-BE49-F238E27FC236}">
                <a16:creationId xmlns:a16="http://schemas.microsoft.com/office/drawing/2014/main" id="{51954E79-7F89-4809-BD76-698021570D0D}"/>
              </a:ext>
            </a:extLst>
          </p:cNvPr>
          <p:cNvSpPr txBox="1"/>
          <p:nvPr/>
        </p:nvSpPr>
        <p:spPr>
          <a:xfrm>
            <a:off x="5943059" y="4412499"/>
            <a:ext cx="1027845" cy="338554"/>
          </a:xfrm>
          <a:prstGeom prst="rect">
            <a:avLst/>
          </a:prstGeom>
          <a:noFill/>
        </p:spPr>
        <p:txBody>
          <a:bodyPr wrap="none" rtlCol="0">
            <a:spAutoFit/>
          </a:bodyPr>
          <a:lstStyle/>
          <a:p>
            <a:r>
              <a:rPr lang="en-US" sz="1600" dirty="0">
                <a:latin typeface="Gill Sans Light"/>
              </a:rPr>
              <a:t>Displays</a:t>
            </a:r>
          </a:p>
        </p:txBody>
      </p:sp>
      <p:sp>
        <p:nvSpPr>
          <p:cNvPr id="40" name="TextBox 39">
            <a:extLst>
              <a:ext uri="{FF2B5EF4-FFF2-40B4-BE49-F238E27FC236}">
                <a16:creationId xmlns:a16="http://schemas.microsoft.com/office/drawing/2014/main" id="{31A4AEF2-4F69-48B6-90F5-74FD3AE60D36}"/>
              </a:ext>
            </a:extLst>
          </p:cNvPr>
          <p:cNvSpPr txBox="1"/>
          <p:nvPr/>
        </p:nvSpPr>
        <p:spPr>
          <a:xfrm>
            <a:off x="5111168" y="5614719"/>
            <a:ext cx="800219" cy="338554"/>
          </a:xfrm>
          <a:prstGeom prst="rect">
            <a:avLst/>
          </a:prstGeom>
          <a:noFill/>
        </p:spPr>
        <p:txBody>
          <a:bodyPr wrap="none" rtlCol="0">
            <a:spAutoFit/>
          </a:bodyPr>
          <a:lstStyle/>
          <a:p>
            <a:r>
              <a:rPr lang="en-US" sz="1600" dirty="0">
                <a:latin typeface="Gill Sans Light"/>
              </a:rPr>
              <a:t>Inputs</a:t>
            </a:r>
          </a:p>
        </p:txBody>
      </p:sp>
      <p:sp>
        <p:nvSpPr>
          <p:cNvPr id="53" name="TextBox 52">
            <a:extLst>
              <a:ext uri="{FF2B5EF4-FFF2-40B4-BE49-F238E27FC236}">
                <a16:creationId xmlns:a16="http://schemas.microsoft.com/office/drawing/2014/main" id="{9F717BDA-9465-43DF-B246-65C26E7F81A1}"/>
              </a:ext>
            </a:extLst>
          </p:cNvPr>
          <p:cNvSpPr txBox="1"/>
          <p:nvPr/>
        </p:nvSpPr>
        <p:spPr>
          <a:xfrm>
            <a:off x="3980765" y="1511262"/>
            <a:ext cx="1152880" cy="338554"/>
          </a:xfrm>
          <a:prstGeom prst="rect">
            <a:avLst/>
          </a:prstGeom>
          <a:solidFill>
            <a:schemeClr val="accent6"/>
          </a:solidFill>
          <a:ln>
            <a:solidFill>
              <a:schemeClr val="tx1"/>
            </a:solidFill>
          </a:ln>
        </p:spPr>
        <p:txBody>
          <a:bodyPr wrap="none" rtlCol="0">
            <a:spAutoFit/>
          </a:bodyPr>
          <a:lstStyle/>
          <a:p>
            <a:r>
              <a:rPr lang="en-US" sz="1600" i="1" dirty="0">
                <a:latin typeface="Gill Sans Light"/>
              </a:rPr>
              <a:t>Process 2</a:t>
            </a:r>
          </a:p>
        </p:txBody>
      </p:sp>
      <p:sp>
        <p:nvSpPr>
          <p:cNvPr id="54" name="TextBox 53">
            <a:extLst>
              <a:ext uri="{FF2B5EF4-FFF2-40B4-BE49-F238E27FC236}">
                <a16:creationId xmlns:a16="http://schemas.microsoft.com/office/drawing/2014/main" id="{49859802-B6D8-4A45-BDAA-80EF3A1B8AC6}"/>
              </a:ext>
            </a:extLst>
          </p:cNvPr>
          <p:cNvSpPr txBox="1"/>
          <p:nvPr/>
        </p:nvSpPr>
        <p:spPr>
          <a:xfrm>
            <a:off x="5337003" y="1511559"/>
            <a:ext cx="1152880" cy="338554"/>
          </a:xfrm>
          <a:prstGeom prst="rect">
            <a:avLst/>
          </a:prstGeom>
          <a:solidFill>
            <a:srgbClr val="C00000"/>
          </a:solidFill>
          <a:ln>
            <a:solidFill>
              <a:schemeClr val="tx1"/>
            </a:solidFill>
          </a:ln>
        </p:spPr>
        <p:txBody>
          <a:bodyPr wrap="none" rtlCol="0">
            <a:spAutoFit/>
          </a:bodyPr>
          <a:lstStyle/>
          <a:p>
            <a:r>
              <a:rPr lang="en-US" sz="1600" i="1" dirty="0">
                <a:latin typeface="Gill Sans Light"/>
              </a:rPr>
              <a:t>Process 3</a:t>
            </a:r>
          </a:p>
        </p:txBody>
      </p:sp>
      <p:sp>
        <p:nvSpPr>
          <p:cNvPr id="55" name="TextBox 54">
            <a:extLst>
              <a:ext uri="{FF2B5EF4-FFF2-40B4-BE49-F238E27FC236}">
                <a16:creationId xmlns:a16="http://schemas.microsoft.com/office/drawing/2014/main" id="{4AE921AD-3768-4905-8CD5-E6AB355C13CD}"/>
              </a:ext>
            </a:extLst>
          </p:cNvPr>
          <p:cNvSpPr txBox="1"/>
          <p:nvPr/>
        </p:nvSpPr>
        <p:spPr>
          <a:xfrm>
            <a:off x="7626791" y="2395091"/>
            <a:ext cx="4260408" cy="1384995"/>
          </a:xfrm>
          <a:prstGeom prst="rect">
            <a:avLst/>
          </a:prstGeom>
          <a:noFill/>
        </p:spPr>
        <p:txBody>
          <a:bodyPr wrap="square" rtlCol="0">
            <a:spAutoFit/>
          </a:bodyPr>
          <a:lstStyle/>
          <a:p>
            <a:pPr marL="457200" indent="-457200">
              <a:buFont typeface="Arial" panose="020B0604020202020204" pitchFamily="34" charset="0"/>
              <a:buChar char="•"/>
            </a:pPr>
            <a:r>
              <a:rPr lang="en-US" sz="2800" b="1" dirty="0">
                <a:latin typeface="Gill Sans Light"/>
              </a:rPr>
              <a:t>OS provides common services in the form of I/O</a:t>
            </a:r>
          </a:p>
        </p:txBody>
      </p:sp>
      <p:grpSp>
        <p:nvGrpSpPr>
          <p:cNvPr id="41" name="Group 40">
            <a:extLst>
              <a:ext uri="{FF2B5EF4-FFF2-40B4-BE49-F238E27FC236}">
                <a16:creationId xmlns:a16="http://schemas.microsoft.com/office/drawing/2014/main" id="{59264C3C-1BB0-4A0E-A7E3-5AAEB4D94534}"/>
              </a:ext>
            </a:extLst>
          </p:cNvPr>
          <p:cNvGrpSpPr/>
          <p:nvPr/>
        </p:nvGrpSpPr>
        <p:grpSpPr>
          <a:xfrm>
            <a:off x="2756828" y="4251765"/>
            <a:ext cx="1371600" cy="1848422"/>
            <a:chOff x="3505200" y="4267200"/>
            <a:chExt cx="1371600" cy="2286000"/>
          </a:xfrm>
        </p:grpSpPr>
        <p:sp>
          <p:nvSpPr>
            <p:cNvPr id="42" name="Rectangle 41">
              <a:extLst>
                <a:ext uri="{FF2B5EF4-FFF2-40B4-BE49-F238E27FC236}">
                  <a16:creationId xmlns:a16="http://schemas.microsoft.com/office/drawing/2014/main" id="{DDB212D1-9299-41C2-9B1B-B4F39A4FDF5F}"/>
                </a:ext>
              </a:extLst>
            </p:cNvPr>
            <p:cNvSpPr/>
            <p:nvPr/>
          </p:nvSpPr>
          <p:spPr bwMode="auto">
            <a:xfrm>
              <a:off x="3810000" y="4267200"/>
              <a:ext cx="685800" cy="533400"/>
            </a:xfrm>
            <a:prstGeom prst="rect">
              <a:avLst/>
            </a:prstGeom>
            <a:no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err="1">
                  <a:ln>
                    <a:noFill/>
                  </a:ln>
                  <a:solidFill>
                    <a:schemeClr val="tx1"/>
                  </a:solidFill>
                  <a:effectLst/>
                  <a:latin typeface="Gill Sans Light"/>
                </a:rPr>
                <a:t>Ctrlr</a:t>
              </a:r>
              <a:endParaRPr kumimoji="0" lang="en-US" sz="1600" b="0" i="0" u="none" strike="noStrike" cap="none" normalizeH="0" baseline="0" dirty="0">
                <a:ln>
                  <a:noFill/>
                </a:ln>
                <a:solidFill>
                  <a:schemeClr val="tx1"/>
                </a:solidFill>
                <a:effectLst/>
                <a:latin typeface="Gill Sans Light"/>
              </a:endParaRPr>
            </a:p>
          </p:txBody>
        </p:sp>
        <p:cxnSp>
          <p:nvCxnSpPr>
            <p:cNvPr id="43" name="Straight Arrow Connector 42">
              <a:extLst>
                <a:ext uri="{FF2B5EF4-FFF2-40B4-BE49-F238E27FC236}">
                  <a16:creationId xmlns:a16="http://schemas.microsoft.com/office/drawing/2014/main" id="{655DD045-D05D-45FF-B2FB-8B8DD928E4B8}"/>
                </a:ext>
              </a:extLst>
            </p:cNvPr>
            <p:cNvCxnSpPr/>
            <p:nvPr/>
          </p:nvCxnSpPr>
          <p:spPr bwMode="auto">
            <a:xfrm>
              <a:off x="4191000" y="4800600"/>
              <a:ext cx="0" cy="762000"/>
            </a:xfrm>
            <a:prstGeom prst="straightConnector1">
              <a:avLst/>
            </a:prstGeom>
            <a:solidFill>
              <a:schemeClr val="accent1"/>
            </a:solidFill>
            <a:ln w="12700" cap="flat" cmpd="sng" algn="ctr">
              <a:solidFill>
                <a:schemeClr val="tx1"/>
              </a:solidFill>
              <a:prstDash val="solid"/>
              <a:round/>
              <a:headEnd type="arrow"/>
              <a:tailEnd type="arrow"/>
            </a:ln>
            <a:effectLst/>
          </p:spPr>
        </p:cxnSp>
        <p:cxnSp>
          <p:nvCxnSpPr>
            <p:cNvPr id="44" name="Straight Arrow Connector 43">
              <a:extLst>
                <a:ext uri="{FF2B5EF4-FFF2-40B4-BE49-F238E27FC236}">
                  <a16:creationId xmlns:a16="http://schemas.microsoft.com/office/drawing/2014/main" id="{19E31743-3C12-4E63-B396-94897C50535B}"/>
                </a:ext>
              </a:extLst>
            </p:cNvPr>
            <p:cNvCxnSpPr/>
            <p:nvPr/>
          </p:nvCxnSpPr>
          <p:spPr bwMode="auto">
            <a:xfrm>
              <a:off x="4191000" y="5029200"/>
              <a:ext cx="685800" cy="0"/>
            </a:xfrm>
            <a:prstGeom prst="straightConnector1">
              <a:avLst/>
            </a:prstGeom>
            <a:solidFill>
              <a:schemeClr val="accent1"/>
            </a:solidFill>
            <a:ln w="12700" cap="flat" cmpd="sng" algn="ctr">
              <a:solidFill>
                <a:schemeClr val="tx1"/>
              </a:solidFill>
              <a:prstDash val="solid"/>
              <a:round/>
              <a:headEnd type="arrow"/>
              <a:tailEnd type="arrow"/>
            </a:ln>
            <a:effectLst/>
          </p:spPr>
        </p:cxnSp>
        <p:cxnSp>
          <p:nvCxnSpPr>
            <p:cNvPr id="45" name="Straight Arrow Connector 44">
              <a:extLst>
                <a:ext uri="{FF2B5EF4-FFF2-40B4-BE49-F238E27FC236}">
                  <a16:creationId xmlns:a16="http://schemas.microsoft.com/office/drawing/2014/main" id="{7C39D10C-CEF4-4142-B046-FE30CAD1AE10}"/>
                </a:ext>
              </a:extLst>
            </p:cNvPr>
            <p:cNvCxnSpPr/>
            <p:nvPr/>
          </p:nvCxnSpPr>
          <p:spPr bwMode="auto">
            <a:xfrm>
              <a:off x="4191000" y="5334000"/>
              <a:ext cx="685800" cy="0"/>
            </a:xfrm>
            <a:prstGeom prst="straightConnector1">
              <a:avLst/>
            </a:prstGeom>
            <a:solidFill>
              <a:schemeClr val="accent1"/>
            </a:solidFill>
            <a:ln w="12700" cap="flat" cmpd="sng" algn="ctr">
              <a:solidFill>
                <a:schemeClr val="tx1"/>
              </a:solidFill>
              <a:prstDash val="solid"/>
              <a:round/>
              <a:headEnd type="arrow"/>
              <a:tailEnd type="arrow"/>
            </a:ln>
            <a:effectLst/>
          </p:spPr>
        </p:cxnSp>
        <p:cxnSp>
          <p:nvCxnSpPr>
            <p:cNvPr id="46" name="Straight Arrow Connector 45">
              <a:extLst>
                <a:ext uri="{FF2B5EF4-FFF2-40B4-BE49-F238E27FC236}">
                  <a16:creationId xmlns:a16="http://schemas.microsoft.com/office/drawing/2014/main" id="{5464393B-A890-44C7-9CD8-0772A9EA9D73}"/>
                </a:ext>
              </a:extLst>
            </p:cNvPr>
            <p:cNvCxnSpPr/>
            <p:nvPr/>
          </p:nvCxnSpPr>
          <p:spPr bwMode="auto">
            <a:xfrm>
              <a:off x="3505200" y="5105400"/>
              <a:ext cx="685800" cy="0"/>
            </a:xfrm>
            <a:prstGeom prst="straightConnector1">
              <a:avLst/>
            </a:prstGeom>
            <a:solidFill>
              <a:schemeClr val="accent1"/>
            </a:solidFill>
            <a:ln w="12700" cap="flat" cmpd="sng" algn="ctr">
              <a:solidFill>
                <a:schemeClr val="tx1"/>
              </a:solidFill>
              <a:prstDash val="solid"/>
              <a:round/>
              <a:headEnd type="arrow"/>
              <a:tailEnd type="arrow"/>
            </a:ln>
            <a:effectLst/>
          </p:spPr>
        </p:cxnSp>
        <p:sp>
          <p:nvSpPr>
            <p:cNvPr id="47" name="Rectangle 46">
              <a:extLst>
                <a:ext uri="{FF2B5EF4-FFF2-40B4-BE49-F238E27FC236}">
                  <a16:creationId xmlns:a16="http://schemas.microsoft.com/office/drawing/2014/main" id="{4047B4F1-BE00-4EC3-BD55-72D9311B27EE}"/>
                </a:ext>
              </a:extLst>
            </p:cNvPr>
            <p:cNvSpPr/>
            <p:nvPr/>
          </p:nvSpPr>
          <p:spPr bwMode="auto">
            <a:xfrm>
              <a:off x="3886200" y="5562600"/>
              <a:ext cx="533400" cy="304800"/>
            </a:xfrm>
            <a:prstGeom prst="rect">
              <a:avLst/>
            </a:prstGeom>
            <a:no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Gill Sans Light"/>
              </a:endParaRPr>
            </a:p>
          </p:txBody>
        </p:sp>
        <p:cxnSp>
          <p:nvCxnSpPr>
            <p:cNvPr id="48" name="Straight Arrow Connector 47">
              <a:extLst>
                <a:ext uri="{FF2B5EF4-FFF2-40B4-BE49-F238E27FC236}">
                  <a16:creationId xmlns:a16="http://schemas.microsoft.com/office/drawing/2014/main" id="{27F51095-FE36-46CF-AC63-0B06A595CBD5}"/>
                </a:ext>
              </a:extLst>
            </p:cNvPr>
            <p:cNvCxnSpPr/>
            <p:nvPr/>
          </p:nvCxnSpPr>
          <p:spPr bwMode="auto">
            <a:xfrm>
              <a:off x="4191000" y="5867400"/>
              <a:ext cx="0" cy="685800"/>
            </a:xfrm>
            <a:prstGeom prst="straightConnector1">
              <a:avLst/>
            </a:prstGeom>
            <a:solidFill>
              <a:schemeClr val="accent1"/>
            </a:solidFill>
            <a:ln w="12700" cap="flat" cmpd="sng" algn="ctr">
              <a:solidFill>
                <a:schemeClr val="tx1"/>
              </a:solidFill>
              <a:prstDash val="solid"/>
              <a:round/>
              <a:headEnd type="arrow"/>
              <a:tailEnd type="arrow"/>
            </a:ln>
            <a:effectLst/>
          </p:spPr>
        </p:cxnSp>
        <p:cxnSp>
          <p:nvCxnSpPr>
            <p:cNvPr id="49" name="Straight Arrow Connector 48">
              <a:extLst>
                <a:ext uri="{FF2B5EF4-FFF2-40B4-BE49-F238E27FC236}">
                  <a16:creationId xmlns:a16="http://schemas.microsoft.com/office/drawing/2014/main" id="{41B2320C-FD77-4624-A661-05D11C84E414}"/>
                </a:ext>
              </a:extLst>
            </p:cNvPr>
            <p:cNvCxnSpPr/>
            <p:nvPr/>
          </p:nvCxnSpPr>
          <p:spPr bwMode="auto">
            <a:xfrm>
              <a:off x="4191000" y="6096000"/>
              <a:ext cx="685800" cy="0"/>
            </a:xfrm>
            <a:prstGeom prst="straightConnector1">
              <a:avLst/>
            </a:prstGeom>
            <a:solidFill>
              <a:schemeClr val="accent1"/>
            </a:solidFill>
            <a:ln w="12700" cap="flat" cmpd="sng" algn="ctr">
              <a:solidFill>
                <a:schemeClr val="tx1"/>
              </a:solidFill>
              <a:prstDash val="solid"/>
              <a:round/>
              <a:headEnd type="arrow"/>
              <a:tailEnd type="arrow"/>
            </a:ln>
            <a:effectLst/>
          </p:spPr>
        </p:cxnSp>
        <p:cxnSp>
          <p:nvCxnSpPr>
            <p:cNvPr id="50" name="Straight Arrow Connector 49">
              <a:extLst>
                <a:ext uri="{FF2B5EF4-FFF2-40B4-BE49-F238E27FC236}">
                  <a16:creationId xmlns:a16="http://schemas.microsoft.com/office/drawing/2014/main" id="{DA97E38A-5EB2-44E8-986F-B27ED4288FEF}"/>
                </a:ext>
              </a:extLst>
            </p:cNvPr>
            <p:cNvCxnSpPr/>
            <p:nvPr/>
          </p:nvCxnSpPr>
          <p:spPr bwMode="auto">
            <a:xfrm>
              <a:off x="4191000" y="6248400"/>
              <a:ext cx="685800" cy="0"/>
            </a:xfrm>
            <a:prstGeom prst="straightConnector1">
              <a:avLst/>
            </a:prstGeom>
            <a:solidFill>
              <a:schemeClr val="accent1"/>
            </a:solidFill>
            <a:ln w="12700" cap="flat" cmpd="sng" algn="ctr">
              <a:solidFill>
                <a:schemeClr val="tx1"/>
              </a:solidFill>
              <a:prstDash val="solid"/>
              <a:round/>
              <a:headEnd type="arrow"/>
              <a:tailEnd type="arrow"/>
            </a:ln>
            <a:effectLst/>
          </p:spPr>
        </p:cxnSp>
      </p:grpSp>
      <p:cxnSp>
        <p:nvCxnSpPr>
          <p:cNvPr id="18" name="Connector: Curved 17">
            <a:extLst>
              <a:ext uri="{FF2B5EF4-FFF2-40B4-BE49-F238E27FC236}">
                <a16:creationId xmlns:a16="http://schemas.microsoft.com/office/drawing/2014/main" id="{2A0BE913-1429-436D-94C6-24052ACF92BB}"/>
              </a:ext>
            </a:extLst>
          </p:cNvPr>
          <p:cNvCxnSpPr>
            <a:cxnSpLocks/>
          </p:cNvCxnSpPr>
          <p:nvPr/>
        </p:nvCxnSpPr>
        <p:spPr>
          <a:xfrm flipV="1">
            <a:off x="2206487" y="3278952"/>
            <a:ext cx="2232991" cy="1835410"/>
          </a:xfrm>
          <a:prstGeom prst="curvedConnector3">
            <a:avLst>
              <a:gd name="adj1" fmla="val 50000"/>
            </a:avLst>
          </a:prstGeom>
          <a:ln w="38100">
            <a:solidFill>
              <a:schemeClr val="accent4"/>
            </a:solidFill>
            <a:prstDash val="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1" name="Connector: Curved 50">
            <a:extLst>
              <a:ext uri="{FF2B5EF4-FFF2-40B4-BE49-F238E27FC236}">
                <a16:creationId xmlns:a16="http://schemas.microsoft.com/office/drawing/2014/main" id="{E4CEB136-A8E6-4A39-99A3-3D6865766D81}"/>
              </a:ext>
            </a:extLst>
          </p:cNvPr>
          <p:cNvCxnSpPr>
            <a:cxnSpLocks/>
            <a:stCxn id="35" idx="3"/>
          </p:cNvCxnSpPr>
          <p:nvPr/>
        </p:nvCxnSpPr>
        <p:spPr>
          <a:xfrm rot="10800000" flipH="1">
            <a:off x="4220604" y="3429000"/>
            <a:ext cx="218874" cy="1652058"/>
          </a:xfrm>
          <a:prstGeom prst="curvedConnector4">
            <a:avLst>
              <a:gd name="adj1" fmla="val -267921"/>
              <a:gd name="adj2" fmla="val 99539"/>
            </a:avLst>
          </a:prstGeom>
          <a:ln w="38100">
            <a:solidFill>
              <a:schemeClr val="accent4"/>
            </a:solidFill>
            <a:prstDash val="dash"/>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6766332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randombar(horizontal)">
                                      <p:cBhvr>
                                        <p:cTn id="7" dur="500"/>
                                        <p:tgtEl>
                                          <p:spTgt spid="8"/>
                                        </p:tgtEl>
                                      </p:cBhvr>
                                    </p:animEffect>
                                  </p:childTnLst>
                                </p:cTn>
                              </p:par>
                              <p:par>
                                <p:cTn id="8" presetID="14" presetClass="entr" presetSubtype="10" fill="hold" nodeType="withEffect">
                                  <p:stCondLst>
                                    <p:cond delay="0"/>
                                  </p:stCondLst>
                                  <p:childTnLst>
                                    <p:set>
                                      <p:cBhvr>
                                        <p:cTn id="9" dur="1" fill="hold">
                                          <p:stCondLst>
                                            <p:cond delay="0"/>
                                          </p:stCondLst>
                                        </p:cTn>
                                        <p:tgtEl>
                                          <p:spTgt spid="41"/>
                                        </p:tgtEl>
                                        <p:attrNameLst>
                                          <p:attrName>style.visibility</p:attrName>
                                        </p:attrNameLst>
                                      </p:cBhvr>
                                      <p:to>
                                        <p:strVal val="visible"/>
                                      </p:to>
                                    </p:set>
                                    <p:animEffect transition="in" filter="randombar(horizontal)">
                                      <p:cBhvr>
                                        <p:cTn id="10" dur="500"/>
                                        <p:tgtEl>
                                          <p:spTgt spid="41"/>
                                        </p:tgtEl>
                                      </p:cBhvr>
                                    </p:animEffect>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randombar(horizontal)">
                                      <p:cBhvr>
                                        <p:cTn id="15" dur="500"/>
                                        <p:tgtEl>
                                          <p:spTgt spid="18"/>
                                        </p:tgtEl>
                                      </p:cBhvr>
                                    </p:animEffect>
                                  </p:childTnLst>
                                </p:cTn>
                              </p:par>
                              <p:par>
                                <p:cTn id="16" presetID="14" presetClass="entr" presetSubtype="10" fill="hold" nodeType="withEffect">
                                  <p:stCondLst>
                                    <p:cond delay="0"/>
                                  </p:stCondLst>
                                  <p:childTnLst>
                                    <p:set>
                                      <p:cBhvr>
                                        <p:cTn id="17" dur="1" fill="hold">
                                          <p:stCondLst>
                                            <p:cond delay="0"/>
                                          </p:stCondLst>
                                        </p:cTn>
                                        <p:tgtEl>
                                          <p:spTgt spid="51"/>
                                        </p:tgtEl>
                                        <p:attrNameLst>
                                          <p:attrName>style.visibility</p:attrName>
                                        </p:attrNameLst>
                                      </p:cBhvr>
                                      <p:to>
                                        <p:strVal val="visible"/>
                                      </p:to>
                                    </p:set>
                                    <p:animEffect transition="in" filter="randombar(horizontal)">
                                      <p:cBhvr>
                                        <p:cTn id="18" dur="500"/>
                                        <p:tgtEl>
                                          <p:spTgt spid="51"/>
                                        </p:tgtEl>
                                      </p:cBhvr>
                                    </p:animEffec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Rectangle 57">
            <a:extLst>
              <a:ext uri="{FF2B5EF4-FFF2-40B4-BE49-F238E27FC236}">
                <a16:creationId xmlns:a16="http://schemas.microsoft.com/office/drawing/2014/main" id="{C9E6E95A-32F0-4FC5-98AD-C0A3E3646830}"/>
              </a:ext>
            </a:extLst>
          </p:cNvPr>
          <p:cNvSpPr/>
          <p:nvPr/>
        </p:nvSpPr>
        <p:spPr>
          <a:xfrm>
            <a:off x="419100" y="2710529"/>
            <a:ext cx="1417802" cy="1493074"/>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Gill Sans Light"/>
              </a:rPr>
              <a:t>Compiler</a:t>
            </a:r>
          </a:p>
        </p:txBody>
      </p:sp>
      <p:sp>
        <p:nvSpPr>
          <p:cNvPr id="60" name="Rectangle 59">
            <a:extLst>
              <a:ext uri="{FF2B5EF4-FFF2-40B4-BE49-F238E27FC236}">
                <a16:creationId xmlns:a16="http://schemas.microsoft.com/office/drawing/2014/main" id="{6F26E660-E4F1-4D2B-8C4C-A0912E6CDF41}"/>
              </a:ext>
            </a:extLst>
          </p:cNvPr>
          <p:cNvSpPr/>
          <p:nvPr/>
        </p:nvSpPr>
        <p:spPr>
          <a:xfrm>
            <a:off x="0" y="1860550"/>
            <a:ext cx="12192000" cy="4692650"/>
          </a:xfrm>
          <a:prstGeom prst="rect">
            <a:avLst/>
          </a:pr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Gill Sans Light"/>
            </a:endParaRPr>
          </a:p>
        </p:txBody>
      </p:sp>
      <p:sp>
        <p:nvSpPr>
          <p:cNvPr id="2" name="Title 1">
            <a:extLst>
              <a:ext uri="{FF2B5EF4-FFF2-40B4-BE49-F238E27FC236}">
                <a16:creationId xmlns:a16="http://schemas.microsoft.com/office/drawing/2014/main" id="{2735C77F-660A-43A3-8126-43A0F77E49F3}"/>
              </a:ext>
            </a:extLst>
          </p:cNvPr>
          <p:cNvSpPr>
            <a:spLocks noGrp="1"/>
          </p:cNvSpPr>
          <p:nvPr>
            <p:ph type="title"/>
          </p:nvPr>
        </p:nvSpPr>
        <p:spPr/>
        <p:txBody>
          <a:bodyPr/>
          <a:lstStyle/>
          <a:p>
            <a:r>
              <a:rPr lang="en-US" dirty="0"/>
              <a:t>OS Basics: Look and Feel</a:t>
            </a:r>
          </a:p>
        </p:txBody>
      </p:sp>
      <p:sp>
        <p:nvSpPr>
          <p:cNvPr id="6" name="Rectangle 5">
            <a:extLst>
              <a:ext uri="{FF2B5EF4-FFF2-40B4-BE49-F238E27FC236}">
                <a16:creationId xmlns:a16="http://schemas.microsoft.com/office/drawing/2014/main" id="{73193DD4-304A-4B76-81C9-FBF787FE779B}"/>
              </a:ext>
            </a:extLst>
          </p:cNvPr>
          <p:cNvSpPr/>
          <p:nvPr/>
        </p:nvSpPr>
        <p:spPr bwMode="auto">
          <a:xfrm>
            <a:off x="654050" y="4470400"/>
            <a:ext cx="11118850" cy="1689099"/>
          </a:xfrm>
          <a:prstGeom prst="rect">
            <a:avLst/>
          </a:prstGeom>
          <a:pattFill prst="horzBrick">
            <a:fgClr>
              <a:schemeClr val="bg2">
                <a:lumMod val="40000"/>
                <a:lumOff val="60000"/>
              </a:schemeClr>
            </a:fgClr>
            <a:bgClr>
              <a:prstClr val="white"/>
            </a:bgClr>
          </a:patt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dirty="0">
              <a:ln>
                <a:noFill/>
              </a:ln>
              <a:solidFill>
                <a:schemeClr val="tx1"/>
              </a:solidFill>
              <a:effectLst/>
              <a:latin typeface="Gill Sans Light"/>
            </a:endParaRPr>
          </a:p>
        </p:txBody>
      </p:sp>
      <p:sp>
        <p:nvSpPr>
          <p:cNvPr id="8" name="Rounded Rectangle 6">
            <a:extLst>
              <a:ext uri="{FF2B5EF4-FFF2-40B4-BE49-F238E27FC236}">
                <a16:creationId xmlns:a16="http://schemas.microsoft.com/office/drawing/2014/main" id="{EA9B6AFF-D750-4502-865E-E3737510EED0}"/>
              </a:ext>
            </a:extLst>
          </p:cNvPr>
          <p:cNvSpPr/>
          <p:nvPr/>
        </p:nvSpPr>
        <p:spPr bwMode="auto">
          <a:xfrm>
            <a:off x="2201858" y="4618038"/>
            <a:ext cx="1728792" cy="838200"/>
          </a:xfrm>
          <a:prstGeom prst="roundRect">
            <a:avLst/>
          </a:prstGeom>
          <a:solidFill>
            <a:schemeClr val="accent1">
              <a:lumMod val="40000"/>
              <a:lumOff val="6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Gill Sans Light"/>
              </a:rPr>
              <a:t>Processor</a:t>
            </a:r>
            <a:endParaRPr kumimoji="0" lang="en-US" sz="1400" b="0" i="0" u="none" strike="noStrike" cap="none" normalizeH="0" baseline="0" dirty="0">
              <a:ln>
                <a:noFill/>
              </a:ln>
              <a:solidFill>
                <a:schemeClr val="tx1"/>
              </a:solidFill>
              <a:effectLst/>
              <a:latin typeface="Gill Sans Light"/>
            </a:endParaRPr>
          </a:p>
        </p:txBody>
      </p:sp>
      <p:sp>
        <p:nvSpPr>
          <p:cNvPr id="9" name="Rectangle 8">
            <a:extLst>
              <a:ext uri="{FF2B5EF4-FFF2-40B4-BE49-F238E27FC236}">
                <a16:creationId xmlns:a16="http://schemas.microsoft.com/office/drawing/2014/main" id="{85025C03-FC2A-4CCF-8684-4F37D94D3763}"/>
              </a:ext>
            </a:extLst>
          </p:cNvPr>
          <p:cNvSpPr/>
          <p:nvPr/>
        </p:nvSpPr>
        <p:spPr bwMode="auto">
          <a:xfrm>
            <a:off x="5009666" y="4664869"/>
            <a:ext cx="1760608" cy="973138"/>
          </a:xfrm>
          <a:prstGeom prst="rect">
            <a:avLst/>
          </a:prstGeom>
          <a:solidFill>
            <a:srgbClr val="5AAEFF"/>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Gill Sans Light"/>
              </a:rPr>
              <a:t>Memory</a:t>
            </a:r>
          </a:p>
        </p:txBody>
      </p:sp>
      <p:grpSp>
        <p:nvGrpSpPr>
          <p:cNvPr id="10" name="Group 9">
            <a:extLst>
              <a:ext uri="{FF2B5EF4-FFF2-40B4-BE49-F238E27FC236}">
                <a16:creationId xmlns:a16="http://schemas.microsoft.com/office/drawing/2014/main" id="{4C2174B6-519D-44F7-A8CB-C9D9304FB602}"/>
              </a:ext>
            </a:extLst>
          </p:cNvPr>
          <p:cNvGrpSpPr/>
          <p:nvPr/>
        </p:nvGrpSpPr>
        <p:grpSpPr>
          <a:xfrm>
            <a:off x="3244850" y="5075238"/>
            <a:ext cx="533400" cy="304800"/>
            <a:chOff x="3124200" y="3657600"/>
            <a:chExt cx="533400" cy="304800"/>
          </a:xfrm>
        </p:grpSpPr>
        <p:sp>
          <p:nvSpPr>
            <p:cNvPr id="11" name="Rectangle 10">
              <a:extLst>
                <a:ext uri="{FF2B5EF4-FFF2-40B4-BE49-F238E27FC236}">
                  <a16:creationId xmlns:a16="http://schemas.microsoft.com/office/drawing/2014/main" id="{EFBA6894-B008-4F1D-B22C-730173B3DFD4}"/>
                </a:ext>
              </a:extLst>
            </p:cNvPr>
            <p:cNvSpPr/>
            <p:nvPr/>
          </p:nvSpPr>
          <p:spPr bwMode="auto">
            <a:xfrm>
              <a:off x="3124200" y="3657600"/>
              <a:ext cx="533400" cy="304800"/>
            </a:xfrm>
            <a:prstGeom prst="rect">
              <a:avLst/>
            </a:prstGeom>
            <a:no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sp>
          <p:nvSpPr>
            <p:cNvPr id="12" name="Rectangle 11">
              <a:extLst>
                <a:ext uri="{FF2B5EF4-FFF2-40B4-BE49-F238E27FC236}">
                  <a16:creationId xmlns:a16="http://schemas.microsoft.com/office/drawing/2014/main" id="{F6B854A3-399D-4E47-BB10-B204E22F6207}"/>
                </a:ext>
              </a:extLst>
            </p:cNvPr>
            <p:cNvSpPr/>
            <p:nvPr/>
          </p:nvSpPr>
          <p:spPr bwMode="auto">
            <a:xfrm>
              <a:off x="3124200" y="3733800"/>
              <a:ext cx="533400" cy="152400"/>
            </a:xfrm>
            <a:prstGeom prst="rect">
              <a:avLst/>
            </a:prstGeom>
            <a:no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grpSp>
      <p:sp>
        <p:nvSpPr>
          <p:cNvPr id="15" name="Rectangle 14">
            <a:extLst>
              <a:ext uri="{FF2B5EF4-FFF2-40B4-BE49-F238E27FC236}">
                <a16:creationId xmlns:a16="http://schemas.microsoft.com/office/drawing/2014/main" id="{5590399D-D2AD-4FCF-BFD2-DB8D8F919509}"/>
              </a:ext>
            </a:extLst>
          </p:cNvPr>
          <p:cNvSpPr/>
          <p:nvPr/>
        </p:nvSpPr>
        <p:spPr bwMode="auto">
          <a:xfrm>
            <a:off x="5433151" y="5013315"/>
            <a:ext cx="609600" cy="381000"/>
          </a:xfrm>
          <a:prstGeom prst="rect">
            <a:avLst/>
          </a:prstGeom>
          <a:solidFill>
            <a:srgbClr val="FBBA03"/>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sp>
        <p:nvSpPr>
          <p:cNvPr id="16" name="Rectangle 15">
            <a:extLst>
              <a:ext uri="{FF2B5EF4-FFF2-40B4-BE49-F238E27FC236}">
                <a16:creationId xmlns:a16="http://schemas.microsoft.com/office/drawing/2014/main" id="{7114092D-E1CB-4952-8CAA-BD6429870DAC}"/>
              </a:ext>
            </a:extLst>
          </p:cNvPr>
          <p:cNvSpPr/>
          <p:nvPr/>
        </p:nvSpPr>
        <p:spPr bwMode="auto">
          <a:xfrm>
            <a:off x="5302250" y="5104607"/>
            <a:ext cx="609600" cy="381000"/>
          </a:xfrm>
          <a:prstGeom prst="rect">
            <a:avLst/>
          </a:prstGeom>
          <a:solidFill>
            <a:srgbClr val="CC3333"/>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sp>
        <p:nvSpPr>
          <p:cNvPr id="13" name="Rectangle 12">
            <a:extLst>
              <a:ext uri="{FF2B5EF4-FFF2-40B4-BE49-F238E27FC236}">
                <a16:creationId xmlns:a16="http://schemas.microsoft.com/office/drawing/2014/main" id="{4A1809EB-73C2-4CF6-B753-8F1B20E63381}"/>
              </a:ext>
            </a:extLst>
          </p:cNvPr>
          <p:cNvSpPr/>
          <p:nvPr/>
        </p:nvSpPr>
        <p:spPr bwMode="auto">
          <a:xfrm>
            <a:off x="5171349" y="5188015"/>
            <a:ext cx="609600" cy="396832"/>
          </a:xfrm>
          <a:prstGeom prst="rect">
            <a:avLst/>
          </a:prstGeom>
          <a:solidFill>
            <a:schemeClr val="accent2">
              <a:lumMod val="40000"/>
              <a:lumOff val="6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grpSp>
        <p:nvGrpSpPr>
          <p:cNvPr id="19" name="Group 18">
            <a:extLst>
              <a:ext uri="{FF2B5EF4-FFF2-40B4-BE49-F238E27FC236}">
                <a16:creationId xmlns:a16="http://schemas.microsoft.com/office/drawing/2014/main" id="{E3801482-024B-4578-81D6-B8D5101ACF77}"/>
              </a:ext>
            </a:extLst>
          </p:cNvPr>
          <p:cNvGrpSpPr/>
          <p:nvPr/>
        </p:nvGrpSpPr>
        <p:grpSpPr>
          <a:xfrm>
            <a:off x="4432116" y="4603105"/>
            <a:ext cx="712053" cy="710043"/>
            <a:chOff x="4121335" y="2654300"/>
            <a:chExt cx="712053" cy="828477"/>
          </a:xfrm>
        </p:grpSpPr>
        <p:sp>
          <p:nvSpPr>
            <p:cNvPr id="20" name="Rectangle 19">
              <a:extLst>
                <a:ext uri="{FF2B5EF4-FFF2-40B4-BE49-F238E27FC236}">
                  <a16:creationId xmlns:a16="http://schemas.microsoft.com/office/drawing/2014/main" id="{5E4894ED-F264-49FF-B7AB-BA4E6C68158A}"/>
                </a:ext>
              </a:extLst>
            </p:cNvPr>
            <p:cNvSpPr/>
            <p:nvPr/>
          </p:nvSpPr>
          <p:spPr bwMode="auto">
            <a:xfrm>
              <a:off x="4178300" y="2720777"/>
              <a:ext cx="609598" cy="762000"/>
            </a:xfrm>
            <a:prstGeom prst="rect">
              <a:avLst/>
            </a:prstGeom>
            <a:solidFill>
              <a:schemeClr val="bg2"/>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sp>
          <p:nvSpPr>
            <p:cNvPr id="21" name="TextBox 20">
              <a:extLst>
                <a:ext uri="{FF2B5EF4-FFF2-40B4-BE49-F238E27FC236}">
                  <a16:creationId xmlns:a16="http://schemas.microsoft.com/office/drawing/2014/main" id="{C80A16C0-CBEC-4DD9-AD38-2EB7C3ECDF3A}"/>
                </a:ext>
              </a:extLst>
            </p:cNvPr>
            <p:cNvSpPr txBox="1"/>
            <p:nvPr/>
          </p:nvSpPr>
          <p:spPr>
            <a:xfrm>
              <a:off x="4121335" y="2654300"/>
              <a:ext cx="712053" cy="610492"/>
            </a:xfrm>
            <a:prstGeom prst="rect">
              <a:avLst/>
            </a:prstGeom>
            <a:noFill/>
          </p:spPr>
          <p:txBody>
            <a:bodyPr wrap="none" rtlCol="0">
              <a:spAutoFit/>
            </a:bodyPr>
            <a:lstStyle/>
            <a:p>
              <a:pPr algn="ctr"/>
              <a:r>
                <a:rPr lang="en-US" sz="1400" dirty="0" err="1">
                  <a:latin typeface="Gill Sans Light"/>
                </a:rPr>
                <a:t>PgTbl</a:t>
              </a:r>
              <a:endParaRPr lang="en-US" sz="1400" dirty="0">
                <a:latin typeface="Gill Sans Light"/>
              </a:endParaRPr>
            </a:p>
            <a:p>
              <a:pPr algn="ctr"/>
              <a:r>
                <a:rPr lang="en-US" sz="1400" dirty="0">
                  <a:latin typeface="Gill Sans Light"/>
                </a:rPr>
                <a:t>&amp; TLB</a:t>
              </a:r>
            </a:p>
          </p:txBody>
        </p:sp>
      </p:grpSp>
      <p:cxnSp>
        <p:nvCxnSpPr>
          <p:cNvPr id="22" name="Straight Arrow Connector 21">
            <a:extLst>
              <a:ext uri="{FF2B5EF4-FFF2-40B4-BE49-F238E27FC236}">
                <a16:creationId xmlns:a16="http://schemas.microsoft.com/office/drawing/2014/main" id="{52D33204-BC10-46FF-B132-F33C746DE9B8}"/>
              </a:ext>
            </a:extLst>
          </p:cNvPr>
          <p:cNvCxnSpPr>
            <a:cxnSpLocks/>
          </p:cNvCxnSpPr>
          <p:nvPr/>
        </p:nvCxnSpPr>
        <p:spPr bwMode="auto">
          <a:xfrm flipV="1">
            <a:off x="3930650" y="5232303"/>
            <a:ext cx="1273102" cy="2471"/>
          </a:xfrm>
          <a:prstGeom prst="straightConnector1">
            <a:avLst/>
          </a:prstGeom>
          <a:solidFill>
            <a:schemeClr val="accent1"/>
          </a:solidFill>
          <a:ln w="57150" cap="flat" cmpd="sng" algn="ctr">
            <a:solidFill>
              <a:schemeClr val="tx1"/>
            </a:solidFill>
            <a:prstDash val="solid"/>
            <a:round/>
            <a:headEnd type="triangle" w="med" len="med"/>
            <a:tailEnd type="triangle"/>
          </a:ln>
          <a:effectLst/>
        </p:spPr>
      </p:cxnSp>
      <p:cxnSp>
        <p:nvCxnSpPr>
          <p:cNvPr id="17" name="Curved Connector 54">
            <a:extLst>
              <a:ext uri="{FF2B5EF4-FFF2-40B4-BE49-F238E27FC236}">
                <a16:creationId xmlns:a16="http://schemas.microsoft.com/office/drawing/2014/main" id="{1C7D6572-FBEF-45D3-B9EB-4A6924279104}"/>
              </a:ext>
            </a:extLst>
          </p:cNvPr>
          <p:cNvCxnSpPr>
            <a:cxnSpLocks/>
          </p:cNvCxnSpPr>
          <p:nvPr/>
        </p:nvCxnSpPr>
        <p:spPr bwMode="auto">
          <a:xfrm>
            <a:off x="3600451" y="5265655"/>
            <a:ext cx="1775551" cy="217481"/>
          </a:xfrm>
          <a:prstGeom prst="curvedConnector3">
            <a:avLst>
              <a:gd name="adj1" fmla="val 23535"/>
            </a:avLst>
          </a:prstGeom>
          <a:solidFill>
            <a:schemeClr val="accent1"/>
          </a:solidFill>
          <a:ln w="22225" cap="flat" cmpd="sng" algn="ctr">
            <a:solidFill>
              <a:schemeClr val="tx1"/>
            </a:solidFill>
            <a:prstDash val="solid"/>
            <a:round/>
            <a:headEnd type="triangle" w="sm" len="sm"/>
            <a:tailEnd type="triangle"/>
          </a:ln>
          <a:effectLst/>
        </p:spPr>
      </p:cxnSp>
      <p:sp>
        <p:nvSpPr>
          <p:cNvPr id="26" name="Can 38">
            <a:extLst>
              <a:ext uri="{FF2B5EF4-FFF2-40B4-BE49-F238E27FC236}">
                <a16:creationId xmlns:a16="http://schemas.microsoft.com/office/drawing/2014/main" id="{2D66A6BA-E078-4243-A542-4EDF0004EFC1}"/>
              </a:ext>
            </a:extLst>
          </p:cNvPr>
          <p:cNvSpPr/>
          <p:nvPr/>
        </p:nvSpPr>
        <p:spPr bwMode="auto">
          <a:xfrm>
            <a:off x="6978098" y="4601091"/>
            <a:ext cx="977900" cy="973138"/>
          </a:xfrm>
          <a:prstGeom prst="can">
            <a:avLst/>
          </a:prstGeom>
          <a:solidFill>
            <a:srgbClr val="5AAEFF"/>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600" dirty="0">
                <a:latin typeface="Gill Sans Light"/>
              </a:rPr>
              <a:t>Storage</a:t>
            </a:r>
            <a:endParaRPr kumimoji="0" lang="en-US" sz="1600" b="0" i="0" u="none" strike="noStrike" cap="none" normalizeH="0" baseline="0" dirty="0">
              <a:ln>
                <a:noFill/>
              </a:ln>
              <a:solidFill>
                <a:schemeClr val="tx1"/>
              </a:solidFill>
              <a:effectLst/>
              <a:latin typeface="Gill Sans Light"/>
            </a:endParaRPr>
          </a:p>
        </p:txBody>
      </p:sp>
      <p:pic>
        <p:nvPicPr>
          <p:cNvPr id="27" name="Picture 26">
            <a:extLst>
              <a:ext uri="{FF2B5EF4-FFF2-40B4-BE49-F238E27FC236}">
                <a16:creationId xmlns:a16="http://schemas.microsoft.com/office/drawing/2014/main" id="{57205715-3232-4739-82EE-E1D9E0C153A6}"/>
              </a:ext>
            </a:extLst>
          </p:cNvPr>
          <p:cNvPicPr>
            <a:picLocks noChangeAspect="1"/>
          </p:cNvPicPr>
          <p:nvPr/>
        </p:nvPicPr>
        <p:blipFill>
          <a:blip r:embed="rId2">
            <a:clrChange>
              <a:clrFrom>
                <a:srgbClr val="FFFFFF"/>
              </a:clrFrom>
              <a:clrTo>
                <a:srgbClr val="FFFFFF">
                  <a:alpha val="0"/>
                </a:srgbClr>
              </a:clrTo>
            </a:clrChange>
          </a:blip>
          <a:stretch>
            <a:fillRect/>
          </a:stretch>
        </p:blipFill>
        <p:spPr>
          <a:xfrm flipH="1">
            <a:off x="8302804" y="4559299"/>
            <a:ext cx="1270482" cy="1270482"/>
          </a:xfrm>
          <a:prstGeom prst="rect">
            <a:avLst/>
          </a:prstGeom>
        </p:spPr>
      </p:pic>
      <p:pic>
        <p:nvPicPr>
          <p:cNvPr id="29" name="Picture 28">
            <a:extLst>
              <a:ext uri="{FF2B5EF4-FFF2-40B4-BE49-F238E27FC236}">
                <a16:creationId xmlns:a16="http://schemas.microsoft.com/office/drawing/2014/main" id="{239646AE-0FBB-41A0-BB69-3C54B9834A20}"/>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9883123" y="4996701"/>
            <a:ext cx="759904" cy="537908"/>
          </a:xfrm>
          <a:prstGeom prst="rect">
            <a:avLst/>
          </a:prstGeom>
        </p:spPr>
      </p:pic>
      <p:sp>
        <p:nvSpPr>
          <p:cNvPr id="31" name="TextBox 30">
            <a:extLst>
              <a:ext uri="{FF2B5EF4-FFF2-40B4-BE49-F238E27FC236}">
                <a16:creationId xmlns:a16="http://schemas.microsoft.com/office/drawing/2014/main" id="{A8A63F55-8F57-4FCF-A466-B7ABFA7D293F}"/>
              </a:ext>
            </a:extLst>
          </p:cNvPr>
          <p:cNvSpPr txBox="1"/>
          <p:nvPr/>
        </p:nvSpPr>
        <p:spPr>
          <a:xfrm>
            <a:off x="8315784" y="4518076"/>
            <a:ext cx="1107996" cy="338554"/>
          </a:xfrm>
          <a:prstGeom prst="rect">
            <a:avLst/>
          </a:prstGeom>
          <a:noFill/>
        </p:spPr>
        <p:txBody>
          <a:bodyPr wrap="none" rtlCol="0">
            <a:spAutoFit/>
          </a:bodyPr>
          <a:lstStyle/>
          <a:p>
            <a:pPr algn="ctr"/>
            <a:r>
              <a:rPr lang="en-US" sz="1600" dirty="0">
                <a:latin typeface="Gill Sans Light"/>
              </a:rPr>
              <a:t>Networks</a:t>
            </a:r>
          </a:p>
        </p:txBody>
      </p:sp>
      <p:sp>
        <p:nvSpPr>
          <p:cNvPr id="32" name="TextBox 31">
            <a:extLst>
              <a:ext uri="{FF2B5EF4-FFF2-40B4-BE49-F238E27FC236}">
                <a16:creationId xmlns:a16="http://schemas.microsoft.com/office/drawing/2014/main" id="{B1E08F74-D518-422B-926E-1DC4B2DBA85E}"/>
              </a:ext>
            </a:extLst>
          </p:cNvPr>
          <p:cNvSpPr txBox="1"/>
          <p:nvPr/>
        </p:nvSpPr>
        <p:spPr>
          <a:xfrm>
            <a:off x="9781559" y="4524416"/>
            <a:ext cx="1027845" cy="338554"/>
          </a:xfrm>
          <a:prstGeom prst="rect">
            <a:avLst/>
          </a:prstGeom>
          <a:noFill/>
        </p:spPr>
        <p:txBody>
          <a:bodyPr wrap="none" rtlCol="0">
            <a:spAutoFit/>
          </a:bodyPr>
          <a:lstStyle/>
          <a:p>
            <a:pPr algn="ctr"/>
            <a:r>
              <a:rPr lang="en-US" sz="1600" dirty="0">
                <a:latin typeface="Gill Sans Light"/>
              </a:rPr>
              <a:t>Displays</a:t>
            </a:r>
          </a:p>
        </p:txBody>
      </p:sp>
      <p:sp>
        <p:nvSpPr>
          <p:cNvPr id="34" name="TextBox 33">
            <a:extLst>
              <a:ext uri="{FF2B5EF4-FFF2-40B4-BE49-F238E27FC236}">
                <a16:creationId xmlns:a16="http://schemas.microsoft.com/office/drawing/2014/main" id="{5A2B64A6-5DE4-40BC-B41E-052C2DBBB4E8}"/>
              </a:ext>
            </a:extLst>
          </p:cNvPr>
          <p:cNvSpPr txBox="1"/>
          <p:nvPr/>
        </p:nvSpPr>
        <p:spPr>
          <a:xfrm>
            <a:off x="631271" y="4919941"/>
            <a:ext cx="1353256" cy="400110"/>
          </a:xfrm>
          <a:prstGeom prst="rect">
            <a:avLst/>
          </a:prstGeom>
          <a:noFill/>
        </p:spPr>
        <p:txBody>
          <a:bodyPr wrap="none" rtlCol="0">
            <a:spAutoFit/>
          </a:bodyPr>
          <a:lstStyle/>
          <a:p>
            <a:r>
              <a:rPr lang="en-US" sz="2000" dirty="0">
                <a:latin typeface="Gill Sans Light"/>
              </a:rPr>
              <a:t>Hardware</a:t>
            </a:r>
          </a:p>
        </p:txBody>
      </p:sp>
      <p:cxnSp>
        <p:nvCxnSpPr>
          <p:cNvPr id="39" name="Straight Arrow Connector 38">
            <a:extLst>
              <a:ext uri="{FF2B5EF4-FFF2-40B4-BE49-F238E27FC236}">
                <a16:creationId xmlns:a16="http://schemas.microsoft.com/office/drawing/2014/main" id="{44B237A5-A629-47CA-A0F4-6D264547B1E9}"/>
              </a:ext>
            </a:extLst>
          </p:cNvPr>
          <p:cNvCxnSpPr>
            <a:cxnSpLocks/>
            <a:endCxn id="26" idx="3"/>
          </p:cNvCxnSpPr>
          <p:nvPr/>
        </p:nvCxnSpPr>
        <p:spPr>
          <a:xfrm flipV="1">
            <a:off x="7467048" y="5574229"/>
            <a:ext cx="0" cy="331271"/>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AC006469-8BAB-4F3E-A8D9-EB19E5DDCFD3}"/>
              </a:ext>
            </a:extLst>
          </p:cNvPr>
          <p:cNvCxnSpPr>
            <a:cxnSpLocks/>
          </p:cNvCxnSpPr>
          <p:nvPr/>
        </p:nvCxnSpPr>
        <p:spPr>
          <a:xfrm flipV="1">
            <a:off x="8891831" y="5584848"/>
            <a:ext cx="0" cy="320652"/>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800CF464-6799-4EF1-A173-649974B69470}"/>
              </a:ext>
            </a:extLst>
          </p:cNvPr>
          <p:cNvCxnSpPr>
            <a:cxnSpLocks/>
          </p:cNvCxnSpPr>
          <p:nvPr/>
        </p:nvCxnSpPr>
        <p:spPr>
          <a:xfrm flipV="1">
            <a:off x="4308999" y="5234774"/>
            <a:ext cx="0" cy="670726"/>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383152D4-216C-49CA-89B6-BF4FD78B32A1}"/>
              </a:ext>
            </a:extLst>
          </p:cNvPr>
          <p:cNvCxnSpPr>
            <a:cxnSpLocks/>
          </p:cNvCxnSpPr>
          <p:nvPr/>
        </p:nvCxnSpPr>
        <p:spPr>
          <a:xfrm flipV="1">
            <a:off x="10241074" y="5568661"/>
            <a:ext cx="0" cy="336839"/>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077FE5F6-6698-44C8-949A-3B1FFA12825F}"/>
              </a:ext>
            </a:extLst>
          </p:cNvPr>
          <p:cNvCxnSpPr>
            <a:cxnSpLocks/>
            <a:endCxn id="56" idx="1"/>
          </p:cNvCxnSpPr>
          <p:nvPr/>
        </p:nvCxnSpPr>
        <p:spPr>
          <a:xfrm>
            <a:off x="4105518" y="5911715"/>
            <a:ext cx="1091231" cy="0"/>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56" name="Rectangle 55">
            <a:extLst>
              <a:ext uri="{FF2B5EF4-FFF2-40B4-BE49-F238E27FC236}">
                <a16:creationId xmlns:a16="http://schemas.microsoft.com/office/drawing/2014/main" id="{0182EB5C-4F86-416A-B81D-EA223AEB393C}"/>
              </a:ext>
            </a:extLst>
          </p:cNvPr>
          <p:cNvSpPr/>
          <p:nvPr/>
        </p:nvSpPr>
        <p:spPr bwMode="auto">
          <a:xfrm>
            <a:off x="5196749" y="5765133"/>
            <a:ext cx="1044306" cy="293164"/>
          </a:xfrm>
          <a:prstGeom prst="rect">
            <a:avLst/>
          </a:prstGeom>
          <a:no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400" b="0" i="0" u="none" strike="noStrike" cap="none" normalizeH="0" baseline="0" dirty="0">
                <a:ln>
                  <a:noFill/>
                </a:ln>
                <a:solidFill>
                  <a:schemeClr val="tx1"/>
                </a:solidFill>
                <a:effectLst/>
                <a:latin typeface="Gill Sans Light"/>
              </a:rPr>
              <a:t>I/O </a:t>
            </a:r>
            <a:r>
              <a:rPr kumimoji="0" lang="en-US" sz="1400" b="0" i="0" u="none" strike="noStrike" cap="none" normalizeH="0" baseline="0" dirty="0" err="1">
                <a:ln>
                  <a:noFill/>
                </a:ln>
                <a:solidFill>
                  <a:schemeClr val="tx1"/>
                </a:solidFill>
                <a:effectLst/>
                <a:latin typeface="Gill Sans Light"/>
              </a:rPr>
              <a:t>Ctrlr</a:t>
            </a:r>
            <a:endParaRPr kumimoji="0" lang="en-US" sz="1400" b="0" i="0" u="none" strike="noStrike" cap="none" normalizeH="0" baseline="0" dirty="0">
              <a:ln>
                <a:noFill/>
              </a:ln>
              <a:solidFill>
                <a:schemeClr val="tx1"/>
              </a:solidFill>
              <a:effectLst/>
              <a:latin typeface="Gill Sans Light"/>
            </a:endParaRPr>
          </a:p>
        </p:txBody>
      </p:sp>
      <p:cxnSp>
        <p:nvCxnSpPr>
          <p:cNvPr id="59" name="Straight Arrow Connector 58">
            <a:extLst>
              <a:ext uri="{FF2B5EF4-FFF2-40B4-BE49-F238E27FC236}">
                <a16:creationId xmlns:a16="http://schemas.microsoft.com/office/drawing/2014/main" id="{7CEF80FD-C99C-4106-86FD-C44623EF6D66}"/>
              </a:ext>
            </a:extLst>
          </p:cNvPr>
          <p:cNvCxnSpPr>
            <a:cxnSpLocks/>
            <a:stCxn id="56" idx="3"/>
          </p:cNvCxnSpPr>
          <p:nvPr/>
        </p:nvCxnSpPr>
        <p:spPr>
          <a:xfrm flipV="1">
            <a:off x="6241055" y="5905500"/>
            <a:ext cx="5145949" cy="0"/>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8C42E879-B352-4CB0-9045-9528A742E94C}"/>
              </a:ext>
            </a:extLst>
          </p:cNvPr>
          <p:cNvSpPr txBox="1"/>
          <p:nvPr/>
        </p:nvSpPr>
        <p:spPr>
          <a:xfrm>
            <a:off x="861699" y="4314038"/>
            <a:ext cx="1494531" cy="338554"/>
          </a:xfrm>
          <a:prstGeom prst="rect">
            <a:avLst/>
          </a:prstGeom>
          <a:solidFill>
            <a:srgbClr val="EFE683"/>
          </a:solidFill>
          <a:ln>
            <a:solidFill>
              <a:schemeClr val="tx1"/>
            </a:solidFill>
          </a:ln>
        </p:spPr>
        <p:txBody>
          <a:bodyPr wrap="square" rtlCol="0">
            <a:spAutoFit/>
          </a:bodyPr>
          <a:lstStyle/>
          <a:p>
            <a:pPr algn="ctr"/>
            <a:r>
              <a:rPr lang="en-US" sz="1600" b="1" i="1" dirty="0">
                <a:latin typeface="Gill Sans Light"/>
              </a:rPr>
              <a:t>ISA</a:t>
            </a:r>
          </a:p>
        </p:txBody>
      </p:sp>
      <p:sp>
        <p:nvSpPr>
          <p:cNvPr id="63" name="Rectangle 62">
            <a:extLst>
              <a:ext uri="{FF2B5EF4-FFF2-40B4-BE49-F238E27FC236}">
                <a16:creationId xmlns:a16="http://schemas.microsoft.com/office/drawing/2014/main" id="{CA91FAA7-997F-463D-B0E7-ECB8FF4BD25C}"/>
              </a:ext>
            </a:extLst>
          </p:cNvPr>
          <p:cNvSpPr/>
          <p:nvPr/>
        </p:nvSpPr>
        <p:spPr>
          <a:xfrm>
            <a:off x="1955800" y="3595554"/>
            <a:ext cx="9753601" cy="936847"/>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latin typeface="Gill Sans Light"/>
              </a:rPr>
              <a:t>Operating System</a:t>
            </a:r>
          </a:p>
        </p:txBody>
      </p:sp>
      <p:sp>
        <p:nvSpPr>
          <p:cNvPr id="80" name="Rectangle 79">
            <a:extLst>
              <a:ext uri="{FF2B5EF4-FFF2-40B4-BE49-F238E27FC236}">
                <a16:creationId xmlns:a16="http://schemas.microsoft.com/office/drawing/2014/main" id="{4838629E-2E3E-4207-99FE-90E9B77B1C43}"/>
              </a:ext>
            </a:extLst>
          </p:cNvPr>
          <p:cNvSpPr/>
          <p:nvPr/>
        </p:nvSpPr>
        <p:spPr>
          <a:xfrm>
            <a:off x="2201858" y="2710529"/>
            <a:ext cx="9436099" cy="936847"/>
          </a:xfrm>
          <a:prstGeom prst="rect">
            <a:avLst/>
          </a:prstGeom>
          <a:solidFill>
            <a:srgbClr val="9E78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1" dirty="0">
                <a:solidFill>
                  <a:schemeClr val="tx1"/>
                </a:solidFill>
                <a:latin typeface="Gill Sans Light"/>
              </a:rPr>
              <a:t>Process: Execution environment with restricted rights provided by OS</a:t>
            </a:r>
          </a:p>
          <a:p>
            <a:pPr algn="ctr"/>
            <a:endParaRPr lang="en-US" sz="1200" dirty="0">
              <a:solidFill>
                <a:schemeClr val="tx1"/>
              </a:solidFill>
              <a:latin typeface="Gill Sans Light"/>
            </a:endParaRPr>
          </a:p>
        </p:txBody>
      </p:sp>
      <p:sp>
        <p:nvSpPr>
          <p:cNvPr id="73" name="Rectangle 72">
            <a:extLst>
              <a:ext uri="{FF2B5EF4-FFF2-40B4-BE49-F238E27FC236}">
                <a16:creationId xmlns:a16="http://schemas.microsoft.com/office/drawing/2014/main" id="{1F630E64-216C-4D30-9C27-5AEDDDA28456}"/>
              </a:ext>
            </a:extLst>
          </p:cNvPr>
          <p:cNvSpPr/>
          <p:nvPr/>
        </p:nvSpPr>
        <p:spPr bwMode="auto">
          <a:xfrm>
            <a:off x="6098451" y="5075238"/>
            <a:ext cx="631346" cy="480009"/>
          </a:xfrm>
          <a:prstGeom prst="rect">
            <a:avLst/>
          </a:prstGeom>
          <a:solidFill>
            <a:schemeClr val="bg2">
              <a:lumMod val="60000"/>
              <a:lumOff val="4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Gill Sans Light"/>
              </a:rPr>
              <a:t>OS Mem</a:t>
            </a:r>
          </a:p>
        </p:txBody>
      </p:sp>
      <p:sp>
        <p:nvSpPr>
          <p:cNvPr id="81" name="Rectangle: Folded Corner 80">
            <a:extLst>
              <a:ext uri="{FF2B5EF4-FFF2-40B4-BE49-F238E27FC236}">
                <a16:creationId xmlns:a16="http://schemas.microsoft.com/office/drawing/2014/main" id="{19183BC7-FF86-4959-8312-523AE576C3AF}"/>
              </a:ext>
            </a:extLst>
          </p:cNvPr>
          <p:cNvSpPr/>
          <p:nvPr/>
        </p:nvSpPr>
        <p:spPr>
          <a:xfrm>
            <a:off x="5533299" y="1372394"/>
            <a:ext cx="2014336" cy="1471720"/>
          </a:xfrm>
          <a:prstGeom prst="foldedCorner">
            <a:avLst>
              <a:gd name="adj" fmla="val 21333"/>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2000" dirty="0">
                <a:solidFill>
                  <a:schemeClr val="tx1"/>
                </a:solidFill>
                <a:latin typeface="Gill Sans Light"/>
              </a:rPr>
              <a:t>Compiled</a:t>
            </a:r>
          </a:p>
          <a:p>
            <a:pPr algn="ctr"/>
            <a:r>
              <a:rPr lang="en-US" sz="2000" dirty="0">
                <a:solidFill>
                  <a:schemeClr val="tx1"/>
                </a:solidFill>
                <a:latin typeface="Gill Sans Light"/>
              </a:rPr>
              <a:t>Program</a:t>
            </a:r>
          </a:p>
        </p:txBody>
      </p:sp>
      <p:sp>
        <p:nvSpPr>
          <p:cNvPr id="83" name="Rectangle 82">
            <a:extLst>
              <a:ext uri="{FF2B5EF4-FFF2-40B4-BE49-F238E27FC236}">
                <a16:creationId xmlns:a16="http://schemas.microsoft.com/office/drawing/2014/main" id="{DCEED07B-2876-4266-8889-B6933456A2AD}"/>
              </a:ext>
            </a:extLst>
          </p:cNvPr>
          <p:cNvSpPr/>
          <p:nvPr/>
        </p:nvSpPr>
        <p:spPr>
          <a:xfrm>
            <a:off x="5780949" y="2322568"/>
            <a:ext cx="1343751" cy="464249"/>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Gill Sans Light"/>
              </a:rPr>
              <a:t>System Libs</a:t>
            </a:r>
          </a:p>
        </p:txBody>
      </p:sp>
      <p:cxnSp>
        <p:nvCxnSpPr>
          <p:cNvPr id="86" name="Straight Arrow Connector 85">
            <a:extLst>
              <a:ext uri="{FF2B5EF4-FFF2-40B4-BE49-F238E27FC236}">
                <a16:creationId xmlns:a16="http://schemas.microsoft.com/office/drawing/2014/main" id="{473344DE-150C-48E1-8B18-C5C21A140188}"/>
              </a:ext>
            </a:extLst>
          </p:cNvPr>
          <p:cNvCxnSpPr>
            <a:cxnSpLocks/>
            <a:endCxn id="72" idx="2"/>
          </p:cNvCxnSpPr>
          <p:nvPr/>
        </p:nvCxnSpPr>
        <p:spPr>
          <a:xfrm flipV="1">
            <a:off x="3527724" y="3726290"/>
            <a:ext cx="0" cy="91440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9" name="Straight Arrow Connector 88">
            <a:extLst>
              <a:ext uri="{FF2B5EF4-FFF2-40B4-BE49-F238E27FC236}">
                <a16:creationId xmlns:a16="http://schemas.microsoft.com/office/drawing/2014/main" id="{FD3737F0-3CFC-4168-9F6E-83512438F226}"/>
              </a:ext>
            </a:extLst>
          </p:cNvPr>
          <p:cNvCxnSpPr>
            <a:cxnSpLocks/>
            <a:endCxn id="74" idx="2"/>
          </p:cNvCxnSpPr>
          <p:nvPr/>
        </p:nvCxnSpPr>
        <p:spPr>
          <a:xfrm flipV="1">
            <a:off x="5660486" y="3729000"/>
            <a:ext cx="0" cy="91440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2" name="Straight Arrow Connector 91">
            <a:extLst>
              <a:ext uri="{FF2B5EF4-FFF2-40B4-BE49-F238E27FC236}">
                <a16:creationId xmlns:a16="http://schemas.microsoft.com/office/drawing/2014/main" id="{CAC55CD2-CE5F-4C43-BA56-7E0797FC6363}"/>
              </a:ext>
            </a:extLst>
          </p:cNvPr>
          <p:cNvCxnSpPr>
            <a:cxnSpLocks/>
            <a:endCxn id="75" idx="2"/>
          </p:cNvCxnSpPr>
          <p:nvPr/>
        </p:nvCxnSpPr>
        <p:spPr>
          <a:xfrm flipV="1">
            <a:off x="7472979" y="3728232"/>
            <a:ext cx="0" cy="91440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6" name="Straight Arrow Connector 95">
            <a:extLst>
              <a:ext uri="{FF2B5EF4-FFF2-40B4-BE49-F238E27FC236}">
                <a16:creationId xmlns:a16="http://schemas.microsoft.com/office/drawing/2014/main" id="{ED2027F6-02F0-4F88-AFB8-0786442C29E4}"/>
              </a:ext>
            </a:extLst>
          </p:cNvPr>
          <p:cNvCxnSpPr>
            <a:cxnSpLocks/>
            <a:endCxn id="76" idx="2"/>
          </p:cNvCxnSpPr>
          <p:nvPr/>
        </p:nvCxnSpPr>
        <p:spPr>
          <a:xfrm flipV="1">
            <a:off x="8814029" y="3728232"/>
            <a:ext cx="0" cy="91440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CE97C817-F8C7-40F3-ACDD-3D43C22ADBA0}"/>
              </a:ext>
            </a:extLst>
          </p:cNvPr>
          <p:cNvCxnSpPr>
            <a:cxnSpLocks/>
            <a:endCxn id="77" idx="2"/>
          </p:cNvCxnSpPr>
          <p:nvPr/>
        </p:nvCxnSpPr>
        <p:spPr>
          <a:xfrm flipV="1">
            <a:off x="10268534" y="3721852"/>
            <a:ext cx="0" cy="91440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2" name="TextBox 71">
            <a:extLst>
              <a:ext uri="{FF2B5EF4-FFF2-40B4-BE49-F238E27FC236}">
                <a16:creationId xmlns:a16="http://schemas.microsoft.com/office/drawing/2014/main" id="{E4897103-5196-4D83-8C50-ED908C0B63F9}"/>
              </a:ext>
            </a:extLst>
          </p:cNvPr>
          <p:cNvSpPr txBox="1"/>
          <p:nvPr/>
        </p:nvSpPr>
        <p:spPr>
          <a:xfrm>
            <a:off x="2724436" y="3326180"/>
            <a:ext cx="1606576" cy="338554"/>
          </a:xfrm>
          <a:prstGeom prst="rect">
            <a:avLst/>
          </a:prstGeom>
          <a:solidFill>
            <a:srgbClr val="EFE683"/>
          </a:solidFill>
          <a:ln>
            <a:solidFill>
              <a:schemeClr val="tx1"/>
            </a:solidFill>
          </a:ln>
        </p:spPr>
        <p:txBody>
          <a:bodyPr wrap="square" rtlCol="0">
            <a:spAutoFit/>
          </a:bodyPr>
          <a:lstStyle/>
          <a:p>
            <a:pPr algn="ctr"/>
            <a:r>
              <a:rPr lang="en-US" sz="1600" b="1" i="1" dirty="0">
                <a:latin typeface="Gill Sans Light"/>
              </a:rPr>
              <a:t>Threads</a:t>
            </a:r>
          </a:p>
        </p:txBody>
      </p:sp>
      <p:sp>
        <p:nvSpPr>
          <p:cNvPr id="74" name="TextBox 73">
            <a:extLst>
              <a:ext uri="{FF2B5EF4-FFF2-40B4-BE49-F238E27FC236}">
                <a16:creationId xmlns:a16="http://schemas.microsoft.com/office/drawing/2014/main" id="{903AC2DB-5960-4CF0-B972-E1CDF92622A2}"/>
              </a:ext>
            </a:extLst>
          </p:cNvPr>
          <p:cNvSpPr txBox="1"/>
          <p:nvPr/>
        </p:nvSpPr>
        <p:spPr>
          <a:xfrm>
            <a:off x="4695968" y="3328890"/>
            <a:ext cx="1929036" cy="338554"/>
          </a:xfrm>
          <a:prstGeom prst="rect">
            <a:avLst/>
          </a:prstGeom>
          <a:solidFill>
            <a:srgbClr val="EFE683"/>
          </a:solidFill>
          <a:ln>
            <a:solidFill>
              <a:schemeClr val="tx1"/>
            </a:solidFill>
          </a:ln>
        </p:spPr>
        <p:txBody>
          <a:bodyPr wrap="square" rtlCol="0">
            <a:spAutoFit/>
          </a:bodyPr>
          <a:lstStyle/>
          <a:p>
            <a:pPr algn="ctr"/>
            <a:r>
              <a:rPr lang="en-US" sz="1600" b="1" i="1" dirty="0">
                <a:latin typeface="Gill Sans Light"/>
              </a:rPr>
              <a:t>Address Spaces</a:t>
            </a:r>
          </a:p>
        </p:txBody>
      </p:sp>
      <p:sp>
        <p:nvSpPr>
          <p:cNvPr id="75" name="TextBox 74">
            <a:extLst>
              <a:ext uri="{FF2B5EF4-FFF2-40B4-BE49-F238E27FC236}">
                <a16:creationId xmlns:a16="http://schemas.microsoft.com/office/drawing/2014/main" id="{AD4C368E-047B-4BC3-8012-71A6CC7B5378}"/>
              </a:ext>
            </a:extLst>
          </p:cNvPr>
          <p:cNvSpPr txBox="1"/>
          <p:nvPr/>
        </p:nvSpPr>
        <p:spPr>
          <a:xfrm>
            <a:off x="6989960" y="3328122"/>
            <a:ext cx="966038" cy="338554"/>
          </a:xfrm>
          <a:prstGeom prst="rect">
            <a:avLst/>
          </a:prstGeom>
          <a:solidFill>
            <a:srgbClr val="EFE683"/>
          </a:solidFill>
          <a:ln>
            <a:solidFill>
              <a:schemeClr val="tx1"/>
            </a:solidFill>
          </a:ln>
        </p:spPr>
        <p:txBody>
          <a:bodyPr wrap="square" rtlCol="0">
            <a:spAutoFit/>
          </a:bodyPr>
          <a:lstStyle/>
          <a:p>
            <a:pPr algn="ctr"/>
            <a:r>
              <a:rPr lang="en-US" sz="1600" b="1" i="1" dirty="0">
                <a:latin typeface="Gill Sans Light"/>
              </a:rPr>
              <a:t>Files</a:t>
            </a:r>
          </a:p>
        </p:txBody>
      </p:sp>
      <p:sp>
        <p:nvSpPr>
          <p:cNvPr id="76" name="TextBox 75">
            <a:extLst>
              <a:ext uri="{FF2B5EF4-FFF2-40B4-BE49-F238E27FC236}">
                <a16:creationId xmlns:a16="http://schemas.microsoft.com/office/drawing/2014/main" id="{8ED3D70A-C8B7-4AAE-8DB5-86A5FF23DEF3}"/>
              </a:ext>
            </a:extLst>
          </p:cNvPr>
          <p:cNvSpPr txBox="1"/>
          <p:nvPr/>
        </p:nvSpPr>
        <p:spPr>
          <a:xfrm>
            <a:off x="8320954" y="3328122"/>
            <a:ext cx="986150" cy="338554"/>
          </a:xfrm>
          <a:prstGeom prst="rect">
            <a:avLst/>
          </a:prstGeom>
          <a:solidFill>
            <a:srgbClr val="EFE683"/>
          </a:solidFill>
          <a:ln>
            <a:solidFill>
              <a:schemeClr val="tx1"/>
            </a:solidFill>
          </a:ln>
        </p:spPr>
        <p:txBody>
          <a:bodyPr wrap="square" rtlCol="0">
            <a:spAutoFit/>
          </a:bodyPr>
          <a:lstStyle/>
          <a:p>
            <a:pPr algn="ctr"/>
            <a:r>
              <a:rPr lang="en-US" sz="1600" b="1" i="1" dirty="0">
                <a:latin typeface="Gill Sans Light"/>
              </a:rPr>
              <a:t>Sockets</a:t>
            </a:r>
          </a:p>
        </p:txBody>
      </p:sp>
      <p:sp>
        <p:nvSpPr>
          <p:cNvPr id="77" name="TextBox 76">
            <a:extLst>
              <a:ext uri="{FF2B5EF4-FFF2-40B4-BE49-F238E27FC236}">
                <a16:creationId xmlns:a16="http://schemas.microsoft.com/office/drawing/2014/main" id="{F3F55CC6-C2AF-49B7-897C-3319F86A34A9}"/>
              </a:ext>
            </a:extLst>
          </p:cNvPr>
          <p:cNvSpPr txBox="1"/>
          <p:nvPr/>
        </p:nvSpPr>
        <p:spPr>
          <a:xfrm>
            <a:off x="9672060" y="3321742"/>
            <a:ext cx="1203398" cy="338554"/>
          </a:xfrm>
          <a:prstGeom prst="rect">
            <a:avLst/>
          </a:prstGeom>
          <a:solidFill>
            <a:srgbClr val="EFE683"/>
          </a:solidFill>
          <a:ln>
            <a:solidFill>
              <a:schemeClr val="tx1"/>
            </a:solidFill>
          </a:ln>
        </p:spPr>
        <p:txBody>
          <a:bodyPr wrap="square" rtlCol="0">
            <a:spAutoFit/>
          </a:bodyPr>
          <a:lstStyle/>
          <a:p>
            <a:pPr algn="ctr"/>
            <a:r>
              <a:rPr lang="en-US" sz="1600" b="1" i="1" dirty="0">
                <a:latin typeface="Gill Sans Light"/>
              </a:rPr>
              <a:t>Windows</a:t>
            </a:r>
          </a:p>
        </p:txBody>
      </p:sp>
    </p:spTree>
    <p:extLst>
      <p:ext uri="{BB962C8B-B14F-4D97-AF65-F5344CB8AC3E}">
        <p14:creationId xmlns:p14="http://schemas.microsoft.com/office/powerpoint/2010/main" val="99112764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9"/>
                                        </p:tgtEl>
                                        <p:attrNameLst>
                                          <p:attrName>style.visibility</p:attrName>
                                        </p:attrNameLst>
                                      </p:cBhvr>
                                      <p:to>
                                        <p:strVal val="visible"/>
                                      </p:to>
                                    </p:set>
                                  </p:childTnLst>
                                </p:cTn>
                              </p:par>
                              <p:par>
                                <p:cTn id="7" presetID="10" presetClass="entr" presetSubtype="0" fill="hold" grpId="0" nodeType="withEffect">
                                  <p:stCondLst>
                                    <p:cond delay="0"/>
                                  </p:stCondLst>
                                  <p:childTnLst>
                                    <p:set>
                                      <p:cBhvr>
                                        <p:cTn id="8" dur="1" fill="hold">
                                          <p:stCondLst>
                                            <p:cond delay="0"/>
                                          </p:stCondLst>
                                        </p:cTn>
                                        <p:tgtEl>
                                          <p:spTgt spid="77"/>
                                        </p:tgtEl>
                                        <p:attrNameLst>
                                          <p:attrName>style.visibility</p:attrName>
                                        </p:attrNameLst>
                                      </p:cBhvr>
                                      <p:to>
                                        <p:strVal val="visible"/>
                                      </p:to>
                                    </p:set>
                                    <p:animEffect transition="in" filter="fade">
                                      <p:cBhvr>
                                        <p:cTn id="9" dur="500"/>
                                        <p:tgtEl>
                                          <p:spTgt spid="77"/>
                                        </p:tgtEl>
                                      </p:cBhvr>
                                    </p:animEffect>
                                  </p:childTnLst>
                                </p:cTn>
                              </p:par>
                              <p:par>
                                <p:cTn id="10" presetID="42" presetClass="path" presetSubtype="0" fill="hold" grpId="1" nodeType="withEffect">
                                  <p:stCondLst>
                                    <p:cond delay="0"/>
                                  </p:stCondLst>
                                  <p:childTnLst>
                                    <p:animMotion origin="layout" path="M 1.66667E-6 2.22222E-6 L 1.66667E-6 0.25 " pathEditMode="relative" rAng="0" ptsTypes="AA">
                                      <p:cBhvr>
                                        <p:cTn id="11" dur="1000" spd="-100000" fill="hold"/>
                                        <p:tgtEl>
                                          <p:spTgt spid="77"/>
                                        </p:tgtEl>
                                        <p:attrNameLst>
                                          <p:attrName>ppt_x</p:attrName>
                                          <p:attrName>ppt_y</p:attrName>
                                        </p:attrNameLst>
                                      </p:cBhvr>
                                      <p:rCtr x="0" y="125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 grpId="0" animBg="1"/>
      <p:bldP spid="77" grpId="1"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Rectangle 59">
            <a:extLst>
              <a:ext uri="{FF2B5EF4-FFF2-40B4-BE49-F238E27FC236}">
                <a16:creationId xmlns:a16="http://schemas.microsoft.com/office/drawing/2014/main" id="{B28B7DC6-C90F-4763-AA08-2CAC00AED63F}"/>
              </a:ext>
            </a:extLst>
          </p:cNvPr>
          <p:cNvSpPr/>
          <p:nvPr/>
        </p:nvSpPr>
        <p:spPr>
          <a:xfrm>
            <a:off x="419100" y="2710529"/>
            <a:ext cx="1417802" cy="1493074"/>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Gill Sans Light"/>
              </a:rPr>
              <a:t>Compiler</a:t>
            </a:r>
          </a:p>
        </p:txBody>
      </p:sp>
      <p:sp>
        <p:nvSpPr>
          <p:cNvPr id="61" name="Rectangle 60">
            <a:extLst>
              <a:ext uri="{FF2B5EF4-FFF2-40B4-BE49-F238E27FC236}">
                <a16:creationId xmlns:a16="http://schemas.microsoft.com/office/drawing/2014/main" id="{B9458287-0189-4911-ADC7-D7257087F921}"/>
              </a:ext>
            </a:extLst>
          </p:cNvPr>
          <p:cNvSpPr/>
          <p:nvPr/>
        </p:nvSpPr>
        <p:spPr>
          <a:xfrm>
            <a:off x="0" y="1860550"/>
            <a:ext cx="12192000" cy="4616450"/>
          </a:xfrm>
          <a:prstGeom prst="rect">
            <a:avLst/>
          </a:pr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Gill Sans Light"/>
            </a:endParaRPr>
          </a:p>
        </p:txBody>
      </p:sp>
      <p:sp>
        <p:nvSpPr>
          <p:cNvPr id="2" name="Title 1">
            <a:extLst>
              <a:ext uri="{FF2B5EF4-FFF2-40B4-BE49-F238E27FC236}">
                <a16:creationId xmlns:a16="http://schemas.microsoft.com/office/drawing/2014/main" id="{2735C77F-660A-43A3-8126-43A0F77E49F3}"/>
              </a:ext>
            </a:extLst>
          </p:cNvPr>
          <p:cNvSpPr>
            <a:spLocks noGrp="1"/>
          </p:cNvSpPr>
          <p:nvPr>
            <p:ph type="title"/>
          </p:nvPr>
        </p:nvSpPr>
        <p:spPr/>
        <p:txBody>
          <a:bodyPr/>
          <a:lstStyle/>
          <a:p>
            <a:r>
              <a:rPr lang="en-US" dirty="0"/>
              <a:t>OS Basics: Background Management</a:t>
            </a:r>
          </a:p>
        </p:txBody>
      </p:sp>
      <p:sp>
        <p:nvSpPr>
          <p:cNvPr id="6" name="Rectangle 5">
            <a:extLst>
              <a:ext uri="{FF2B5EF4-FFF2-40B4-BE49-F238E27FC236}">
                <a16:creationId xmlns:a16="http://schemas.microsoft.com/office/drawing/2014/main" id="{73193DD4-304A-4B76-81C9-FBF787FE779B}"/>
              </a:ext>
            </a:extLst>
          </p:cNvPr>
          <p:cNvSpPr/>
          <p:nvPr/>
        </p:nvSpPr>
        <p:spPr bwMode="auto">
          <a:xfrm>
            <a:off x="654049" y="4470400"/>
            <a:ext cx="11458437" cy="1689099"/>
          </a:xfrm>
          <a:prstGeom prst="rect">
            <a:avLst/>
          </a:prstGeom>
          <a:pattFill prst="horzBrick">
            <a:fgClr>
              <a:schemeClr val="bg2">
                <a:lumMod val="40000"/>
                <a:lumOff val="60000"/>
              </a:schemeClr>
            </a:fgClr>
            <a:bgClr>
              <a:prstClr val="white"/>
            </a:bgClr>
          </a:patt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dirty="0">
              <a:ln>
                <a:noFill/>
              </a:ln>
              <a:solidFill>
                <a:schemeClr val="tx1"/>
              </a:solidFill>
              <a:effectLst/>
              <a:latin typeface="Gill Sans Light"/>
            </a:endParaRPr>
          </a:p>
        </p:txBody>
      </p:sp>
      <p:sp>
        <p:nvSpPr>
          <p:cNvPr id="8" name="Rounded Rectangle 6">
            <a:extLst>
              <a:ext uri="{FF2B5EF4-FFF2-40B4-BE49-F238E27FC236}">
                <a16:creationId xmlns:a16="http://schemas.microsoft.com/office/drawing/2014/main" id="{EA9B6AFF-D750-4502-865E-E3737510EED0}"/>
              </a:ext>
            </a:extLst>
          </p:cNvPr>
          <p:cNvSpPr/>
          <p:nvPr/>
        </p:nvSpPr>
        <p:spPr bwMode="auto">
          <a:xfrm>
            <a:off x="2201858" y="4618038"/>
            <a:ext cx="1728792" cy="838200"/>
          </a:xfrm>
          <a:prstGeom prst="roundRect">
            <a:avLst/>
          </a:prstGeom>
          <a:solidFill>
            <a:schemeClr val="accent1">
              <a:lumMod val="40000"/>
              <a:lumOff val="6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Gill Sans Light"/>
              </a:rPr>
              <a:t>Processor</a:t>
            </a:r>
            <a:endParaRPr kumimoji="0" lang="en-US" sz="1400" b="0" i="0" u="none" strike="noStrike" cap="none" normalizeH="0" baseline="0" dirty="0">
              <a:ln>
                <a:noFill/>
              </a:ln>
              <a:solidFill>
                <a:schemeClr val="tx1"/>
              </a:solidFill>
              <a:effectLst/>
              <a:latin typeface="Gill Sans Light"/>
            </a:endParaRPr>
          </a:p>
        </p:txBody>
      </p:sp>
      <p:sp>
        <p:nvSpPr>
          <p:cNvPr id="9" name="Rectangle 8">
            <a:extLst>
              <a:ext uri="{FF2B5EF4-FFF2-40B4-BE49-F238E27FC236}">
                <a16:creationId xmlns:a16="http://schemas.microsoft.com/office/drawing/2014/main" id="{85025C03-FC2A-4CCF-8684-4F37D94D3763}"/>
              </a:ext>
            </a:extLst>
          </p:cNvPr>
          <p:cNvSpPr/>
          <p:nvPr/>
        </p:nvSpPr>
        <p:spPr bwMode="auto">
          <a:xfrm>
            <a:off x="5009666" y="4664869"/>
            <a:ext cx="1760608" cy="973138"/>
          </a:xfrm>
          <a:prstGeom prst="rect">
            <a:avLst/>
          </a:prstGeom>
          <a:solidFill>
            <a:srgbClr val="5AAEFF"/>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Gill Sans Light"/>
              </a:rPr>
              <a:t>Memory</a:t>
            </a:r>
          </a:p>
        </p:txBody>
      </p:sp>
      <p:grpSp>
        <p:nvGrpSpPr>
          <p:cNvPr id="10" name="Group 9">
            <a:extLst>
              <a:ext uri="{FF2B5EF4-FFF2-40B4-BE49-F238E27FC236}">
                <a16:creationId xmlns:a16="http://schemas.microsoft.com/office/drawing/2014/main" id="{4C2174B6-519D-44F7-A8CB-C9D9304FB602}"/>
              </a:ext>
            </a:extLst>
          </p:cNvPr>
          <p:cNvGrpSpPr/>
          <p:nvPr/>
        </p:nvGrpSpPr>
        <p:grpSpPr>
          <a:xfrm>
            <a:off x="3244850" y="5075238"/>
            <a:ext cx="533400" cy="304800"/>
            <a:chOff x="3124200" y="3657600"/>
            <a:chExt cx="533400" cy="304800"/>
          </a:xfrm>
        </p:grpSpPr>
        <p:sp>
          <p:nvSpPr>
            <p:cNvPr id="11" name="Rectangle 10">
              <a:extLst>
                <a:ext uri="{FF2B5EF4-FFF2-40B4-BE49-F238E27FC236}">
                  <a16:creationId xmlns:a16="http://schemas.microsoft.com/office/drawing/2014/main" id="{EFBA6894-B008-4F1D-B22C-730173B3DFD4}"/>
                </a:ext>
              </a:extLst>
            </p:cNvPr>
            <p:cNvSpPr/>
            <p:nvPr/>
          </p:nvSpPr>
          <p:spPr bwMode="auto">
            <a:xfrm>
              <a:off x="3124200" y="3657600"/>
              <a:ext cx="533400" cy="304800"/>
            </a:xfrm>
            <a:prstGeom prst="rect">
              <a:avLst/>
            </a:prstGeom>
            <a:no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sp>
          <p:nvSpPr>
            <p:cNvPr id="12" name="Rectangle 11">
              <a:extLst>
                <a:ext uri="{FF2B5EF4-FFF2-40B4-BE49-F238E27FC236}">
                  <a16:creationId xmlns:a16="http://schemas.microsoft.com/office/drawing/2014/main" id="{F6B854A3-399D-4E47-BB10-B204E22F6207}"/>
                </a:ext>
              </a:extLst>
            </p:cNvPr>
            <p:cNvSpPr/>
            <p:nvPr/>
          </p:nvSpPr>
          <p:spPr bwMode="auto">
            <a:xfrm>
              <a:off x="3124200" y="3733800"/>
              <a:ext cx="533400" cy="152400"/>
            </a:xfrm>
            <a:prstGeom prst="rect">
              <a:avLst/>
            </a:prstGeom>
            <a:no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grpSp>
      <p:sp>
        <p:nvSpPr>
          <p:cNvPr id="15" name="Rectangle 14">
            <a:extLst>
              <a:ext uri="{FF2B5EF4-FFF2-40B4-BE49-F238E27FC236}">
                <a16:creationId xmlns:a16="http://schemas.microsoft.com/office/drawing/2014/main" id="{5590399D-D2AD-4FCF-BFD2-DB8D8F919509}"/>
              </a:ext>
            </a:extLst>
          </p:cNvPr>
          <p:cNvSpPr/>
          <p:nvPr/>
        </p:nvSpPr>
        <p:spPr bwMode="auto">
          <a:xfrm>
            <a:off x="5433151" y="5013315"/>
            <a:ext cx="609600" cy="381000"/>
          </a:xfrm>
          <a:prstGeom prst="rect">
            <a:avLst/>
          </a:prstGeom>
          <a:solidFill>
            <a:srgbClr val="FBBA03"/>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sp>
        <p:nvSpPr>
          <p:cNvPr id="16" name="Rectangle 15">
            <a:extLst>
              <a:ext uri="{FF2B5EF4-FFF2-40B4-BE49-F238E27FC236}">
                <a16:creationId xmlns:a16="http://schemas.microsoft.com/office/drawing/2014/main" id="{7114092D-E1CB-4952-8CAA-BD6429870DAC}"/>
              </a:ext>
            </a:extLst>
          </p:cNvPr>
          <p:cNvSpPr/>
          <p:nvPr/>
        </p:nvSpPr>
        <p:spPr bwMode="auto">
          <a:xfrm>
            <a:off x="5302250" y="5104607"/>
            <a:ext cx="609600" cy="381000"/>
          </a:xfrm>
          <a:prstGeom prst="rect">
            <a:avLst/>
          </a:prstGeom>
          <a:solidFill>
            <a:srgbClr val="CC3333"/>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sp>
        <p:nvSpPr>
          <p:cNvPr id="13" name="Rectangle 12">
            <a:extLst>
              <a:ext uri="{FF2B5EF4-FFF2-40B4-BE49-F238E27FC236}">
                <a16:creationId xmlns:a16="http://schemas.microsoft.com/office/drawing/2014/main" id="{4A1809EB-73C2-4CF6-B753-8F1B20E63381}"/>
              </a:ext>
            </a:extLst>
          </p:cNvPr>
          <p:cNvSpPr/>
          <p:nvPr/>
        </p:nvSpPr>
        <p:spPr bwMode="auto">
          <a:xfrm>
            <a:off x="5171349" y="5188015"/>
            <a:ext cx="609600" cy="396832"/>
          </a:xfrm>
          <a:prstGeom prst="rect">
            <a:avLst/>
          </a:prstGeom>
          <a:solidFill>
            <a:schemeClr val="accent2">
              <a:lumMod val="40000"/>
              <a:lumOff val="6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grpSp>
        <p:nvGrpSpPr>
          <p:cNvPr id="19" name="Group 18">
            <a:extLst>
              <a:ext uri="{FF2B5EF4-FFF2-40B4-BE49-F238E27FC236}">
                <a16:creationId xmlns:a16="http://schemas.microsoft.com/office/drawing/2014/main" id="{E3801482-024B-4578-81D6-B8D5101ACF77}"/>
              </a:ext>
            </a:extLst>
          </p:cNvPr>
          <p:cNvGrpSpPr/>
          <p:nvPr/>
        </p:nvGrpSpPr>
        <p:grpSpPr>
          <a:xfrm>
            <a:off x="4432116" y="4603105"/>
            <a:ext cx="712053" cy="710043"/>
            <a:chOff x="4121335" y="2654300"/>
            <a:chExt cx="712053" cy="828477"/>
          </a:xfrm>
        </p:grpSpPr>
        <p:sp>
          <p:nvSpPr>
            <p:cNvPr id="20" name="Rectangle 19">
              <a:extLst>
                <a:ext uri="{FF2B5EF4-FFF2-40B4-BE49-F238E27FC236}">
                  <a16:creationId xmlns:a16="http://schemas.microsoft.com/office/drawing/2014/main" id="{5E4894ED-F264-49FF-B7AB-BA4E6C68158A}"/>
                </a:ext>
              </a:extLst>
            </p:cNvPr>
            <p:cNvSpPr/>
            <p:nvPr/>
          </p:nvSpPr>
          <p:spPr bwMode="auto">
            <a:xfrm>
              <a:off x="4178300" y="2720777"/>
              <a:ext cx="609598" cy="762000"/>
            </a:xfrm>
            <a:prstGeom prst="rect">
              <a:avLst/>
            </a:prstGeom>
            <a:solidFill>
              <a:schemeClr val="bg2"/>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Gill Sans Light"/>
              </a:endParaRPr>
            </a:p>
          </p:txBody>
        </p:sp>
        <p:sp>
          <p:nvSpPr>
            <p:cNvPr id="21" name="TextBox 20">
              <a:extLst>
                <a:ext uri="{FF2B5EF4-FFF2-40B4-BE49-F238E27FC236}">
                  <a16:creationId xmlns:a16="http://schemas.microsoft.com/office/drawing/2014/main" id="{C80A16C0-CBEC-4DD9-AD38-2EB7C3ECDF3A}"/>
                </a:ext>
              </a:extLst>
            </p:cNvPr>
            <p:cNvSpPr txBox="1"/>
            <p:nvPr/>
          </p:nvSpPr>
          <p:spPr>
            <a:xfrm>
              <a:off x="4121335" y="2654300"/>
              <a:ext cx="712053" cy="610492"/>
            </a:xfrm>
            <a:prstGeom prst="rect">
              <a:avLst/>
            </a:prstGeom>
            <a:noFill/>
          </p:spPr>
          <p:txBody>
            <a:bodyPr wrap="none" rtlCol="0">
              <a:spAutoFit/>
            </a:bodyPr>
            <a:lstStyle/>
            <a:p>
              <a:pPr algn="ctr"/>
              <a:r>
                <a:rPr lang="en-US" sz="1400" dirty="0" err="1">
                  <a:latin typeface="Gill Sans Light"/>
                </a:rPr>
                <a:t>PgTbl</a:t>
              </a:r>
              <a:endParaRPr lang="en-US" sz="1400" dirty="0">
                <a:latin typeface="Gill Sans Light"/>
              </a:endParaRPr>
            </a:p>
            <a:p>
              <a:pPr algn="ctr"/>
              <a:r>
                <a:rPr lang="en-US" sz="1400" dirty="0">
                  <a:latin typeface="Gill Sans Light"/>
                </a:rPr>
                <a:t>&amp; TLB</a:t>
              </a:r>
            </a:p>
          </p:txBody>
        </p:sp>
      </p:grpSp>
      <p:cxnSp>
        <p:nvCxnSpPr>
          <p:cNvPr id="22" name="Straight Arrow Connector 21">
            <a:extLst>
              <a:ext uri="{FF2B5EF4-FFF2-40B4-BE49-F238E27FC236}">
                <a16:creationId xmlns:a16="http://schemas.microsoft.com/office/drawing/2014/main" id="{52D33204-BC10-46FF-B132-F33C746DE9B8}"/>
              </a:ext>
            </a:extLst>
          </p:cNvPr>
          <p:cNvCxnSpPr>
            <a:cxnSpLocks/>
          </p:cNvCxnSpPr>
          <p:nvPr/>
        </p:nvCxnSpPr>
        <p:spPr bwMode="auto">
          <a:xfrm flipV="1">
            <a:off x="3930650" y="5232303"/>
            <a:ext cx="1273102" cy="2471"/>
          </a:xfrm>
          <a:prstGeom prst="straightConnector1">
            <a:avLst/>
          </a:prstGeom>
          <a:solidFill>
            <a:schemeClr val="accent1"/>
          </a:solidFill>
          <a:ln w="57150" cap="flat" cmpd="sng" algn="ctr">
            <a:solidFill>
              <a:schemeClr val="tx1"/>
            </a:solidFill>
            <a:prstDash val="solid"/>
            <a:round/>
            <a:headEnd type="triangle" w="med" len="med"/>
            <a:tailEnd type="triangle"/>
          </a:ln>
          <a:effectLst/>
        </p:spPr>
      </p:cxnSp>
      <p:cxnSp>
        <p:nvCxnSpPr>
          <p:cNvPr id="17" name="Curved Connector 54">
            <a:extLst>
              <a:ext uri="{FF2B5EF4-FFF2-40B4-BE49-F238E27FC236}">
                <a16:creationId xmlns:a16="http://schemas.microsoft.com/office/drawing/2014/main" id="{1C7D6572-FBEF-45D3-B9EB-4A6924279104}"/>
              </a:ext>
            </a:extLst>
          </p:cNvPr>
          <p:cNvCxnSpPr>
            <a:cxnSpLocks/>
          </p:cNvCxnSpPr>
          <p:nvPr/>
        </p:nvCxnSpPr>
        <p:spPr bwMode="auto">
          <a:xfrm>
            <a:off x="3600451" y="5265655"/>
            <a:ext cx="1775551" cy="217481"/>
          </a:xfrm>
          <a:prstGeom prst="curvedConnector3">
            <a:avLst>
              <a:gd name="adj1" fmla="val 23535"/>
            </a:avLst>
          </a:prstGeom>
          <a:solidFill>
            <a:schemeClr val="accent1"/>
          </a:solidFill>
          <a:ln w="22225" cap="flat" cmpd="sng" algn="ctr">
            <a:solidFill>
              <a:schemeClr val="tx1"/>
            </a:solidFill>
            <a:prstDash val="solid"/>
            <a:round/>
            <a:headEnd type="triangle" w="sm" len="sm"/>
            <a:tailEnd type="triangle"/>
          </a:ln>
          <a:effectLst/>
        </p:spPr>
      </p:cxnSp>
      <p:sp>
        <p:nvSpPr>
          <p:cNvPr id="26" name="Can 38">
            <a:extLst>
              <a:ext uri="{FF2B5EF4-FFF2-40B4-BE49-F238E27FC236}">
                <a16:creationId xmlns:a16="http://schemas.microsoft.com/office/drawing/2014/main" id="{2D66A6BA-E078-4243-A542-4EDF0004EFC1}"/>
              </a:ext>
            </a:extLst>
          </p:cNvPr>
          <p:cNvSpPr/>
          <p:nvPr/>
        </p:nvSpPr>
        <p:spPr bwMode="auto">
          <a:xfrm>
            <a:off x="6978098" y="4601091"/>
            <a:ext cx="977900" cy="973138"/>
          </a:xfrm>
          <a:prstGeom prst="can">
            <a:avLst/>
          </a:prstGeom>
          <a:solidFill>
            <a:srgbClr val="5AAEFF"/>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600" dirty="0">
                <a:latin typeface="Gill Sans Light"/>
              </a:rPr>
              <a:t>Storage</a:t>
            </a:r>
            <a:endParaRPr kumimoji="0" lang="en-US" sz="1600" b="0" i="0" u="none" strike="noStrike" cap="none" normalizeH="0" baseline="0" dirty="0">
              <a:ln>
                <a:noFill/>
              </a:ln>
              <a:solidFill>
                <a:schemeClr val="tx1"/>
              </a:solidFill>
              <a:effectLst/>
              <a:latin typeface="Gill Sans Light"/>
            </a:endParaRPr>
          </a:p>
        </p:txBody>
      </p:sp>
      <p:pic>
        <p:nvPicPr>
          <p:cNvPr id="27" name="Picture 26">
            <a:extLst>
              <a:ext uri="{FF2B5EF4-FFF2-40B4-BE49-F238E27FC236}">
                <a16:creationId xmlns:a16="http://schemas.microsoft.com/office/drawing/2014/main" id="{57205715-3232-4739-82EE-E1D9E0C153A6}"/>
              </a:ext>
            </a:extLst>
          </p:cNvPr>
          <p:cNvPicPr>
            <a:picLocks noChangeAspect="1"/>
          </p:cNvPicPr>
          <p:nvPr/>
        </p:nvPicPr>
        <p:blipFill>
          <a:blip r:embed="rId2">
            <a:clrChange>
              <a:clrFrom>
                <a:srgbClr val="FFFFFF"/>
              </a:clrFrom>
              <a:clrTo>
                <a:srgbClr val="FFFFFF">
                  <a:alpha val="0"/>
                </a:srgbClr>
              </a:clrTo>
            </a:clrChange>
          </a:blip>
          <a:stretch>
            <a:fillRect/>
          </a:stretch>
        </p:blipFill>
        <p:spPr>
          <a:xfrm flipH="1">
            <a:off x="8302804" y="4559299"/>
            <a:ext cx="1270482" cy="1270482"/>
          </a:xfrm>
          <a:prstGeom prst="rect">
            <a:avLst/>
          </a:prstGeom>
        </p:spPr>
      </p:pic>
      <p:pic>
        <p:nvPicPr>
          <p:cNvPr id="29" name="Picture 28">
            <a:extLst>
              <a:ext uri="{FF2B5EF4-FFF2-40B4-BE49-F238E27FC236}">
                <a16:creationId xmlns:a16="http://schemas.microsoft.com/office/drawing/2014/main" id="{239646AE-0FBB-41A0-BB69-3C54B9834A20}"/>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9883123" y="4996701"/>
            <a:ext cx="759904" cy="537908"/>
          </a:xfrm>
          <a:prstGeom prst="rect">
            <a:avLst/>
          </a:prstGeom>
        </p:spPr>
      </p:pic>
      <p:sp>
        <p:nvSpPr>
          <p:cNvPr id="31" name="TextBox 30">
            <a:extLst>
              <a:ext uri="{FF2B5EF4-FFF2-40B4-BE49-F238E27FC236}">
                <a16:creationId xmlns:a16="http://schemas.microsoft.com/office/drawing/2014/main" id="{A8A63F55-8F57-4FCF-A466-B7ABFA7D293F}"/>
              </a:ext>
            </a:extLst>
          </p:cNvPr>
          <p:cNvSpPr txBox="1"/>
          <p:nvPr/>
        </p:nvSpPr>
        <p:spPr>
          <a:xfrm>
            <a:off x="8315784" y="4518076"/>
            <a:ext cx="1107996" cy="338554"/>
          </a:xfrm>
          <a:prstGeom prst="rect">
            <a:avLst/>
          </a:prstGeom>
          <a:noFill/>
        </p:spPr>
        <p:txBody>
          <a:bodyPr wrap="none" rtlCol="0">
            <a:spAutoFit/>
          </a:bodyPr>
          <a:lstStyle/>
          <a:p>
            <a:pPr algn="ctr"/>
            <a:r>
              <a:rPr lang="en-US" sz="1600" dirty="0">
                <a:latin typeface="Gill Sans Light"/>
              </a:rPr>
              <a:t>Networks</a:t>
            </a:r>
          </a:p>
        </p:txBody>
      </p:sp>
      <p:sp>
        <p:nvSpPr>
          <p:cNvPr id="32" name="TextBox 31">
            <a:extLst>
              <a:ext uri="{FF2B5EF4-FFF2-40B4-BE49-F238E27FC236}">
                <a16:creationId xmlns:a16="http://schemas.microsoft.com/office/drawing/2014/main" id="{B1E08F74-D518-422B-926E-1DC4B2DBA85E}"/>
              </a:ext>
            </a:extLst>
          </p:cNvPr>
          <p:cNvSpPr txBox="1"/>
          <p:nvPr/>
        </p:nvSpPr>
        <p:spPr>
          <a:xfrm>
            <a:off x="9781559" y="4524416"/>
            <a:ext cx="1027845" cy="338554"/>
          </a:xfrm>
          <a:prstGeom prst="rect">
            <a:avLst/>
          </a:prstGeom>
          <a:noFill/>
        </p:spPr>
        <p:txBody>
          <a:bodyPr wrap="none" rtlCol="0">
            <a:spAutoFit/>
          </a:bodyPr>
          <a:lstStyle/>
          <a:p>
            <a:pPr algn="ctr"/>
            <a:r>
              <a:rPr lang="en-US" sz="1600" dirty="0">
                <a:latin typeface="Gill Sans Light"/>
              </a:rPr>
              <a:t>Displays</a:t>
            </a:r>
          </a:p>
        </p:txBody>
      </p:sp>
      <p:sp>
        <p:nvSpPr>
          <p:cNvPr id="34" name="TextBox 33">
            <a:extLst>
              <a:ext uri="{FF2B5EF4-FFF2-40B4-BE49-F238E27FC236}">
                <a16:creationId xmlns:a16="http://schemas.microsoft.com/office/drawing/2014/main" id="{5A2B64A6-5DE4-40BC-B41E-052C2DBBB4E8}"/>
              </a:ext>
            </a:extLst>
          </p:cNvPr>
          <p:cNvSpPr txBox="1"/>
          <p:nvPr/>
        </p:nvSpPr>
        <p:spPr>
          <a:xfrm>
            <a:off x="631271" y="4919941"/>
            <a:ext cx="1353256" cy="400110"/>
          </a:xfrm>
          <a:prstGeom prst="rect">
            <a:avLst/>
          </a:prstGeom>
          <a:noFill/>
        </p:spPr>
        <p:txBody>
          <a:bodyPr wrap="none" rtlCol="0">
            <a:spAutoFit/>
          </a:bodyPr>
          <a:lstStyle/>
          <a:p>
            <a:r>
              <a:rPr lang="en-US" sz="2000" dirty="0">
                <a:latin typeface="Gill Sans Light"/>
              </a:rPr>
              <a:t>Hardware</a:t>
            </a:r>
          </a:p>
        </p:txBody>
      </p:sp>
      <p:cxnSp>
        <p:nvCxnSpPr>
          <p:cNvPr id="39" name="Straight Arrow Connector 38">
            <a:extLst>
              <a:ext uri="{FF2B5EF4-FFF2-40B4-BE49-F238E27FC236}">
                <a16:creationId xmlns:a16="http://schemas.microsoft.com/office/drawing/2014/main" id="{44B237A5-A629-47CA-A0F4-6D264547B1E9}"/>
              </a:ext>
            </a:extLst>
          </p:cNvPr>
          <p:cNvCxnSpPr>
            <a:cxnSpLocks/>
            <a:endCxn id="26" idx="3"/>
          </p:cNvCxnSpPr>
          <p:nvPr/>
        </p:nvCxnSpPr>
        <p:spPr>
          <a:xfrm flipV="1">
            <a:off x="7467048" y="5574229"/>
            <a:ext cx="0" cy="331271"/>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AC006469-8BAB-4F3E-A8D9-EB19E5DDCFD3}"/>
              </a:ext>
            </a:extLst>
          </p:cNvPr>
          <p:cNvCxnSpPr>
            <a:cxnSpLocks/>
          </p:cNvCxnSpPr>
          <p:nvPr/>
        </p:nvCxnSpPr>
        <p:spPr>
          <a:xfrm flipV="1">
            <a:off x="8891831" y="5584848"/>
            <a:ext cx="0" cy="320652"/>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800CF464-6799-4EF1-A173-649974B69470}"/>
              </a:ext>
            </a:extLst>
          </p:cNvPr>
          <p:cNvCxnSpPr>
            <a:cxnSpLocks/>
          </p:cNvCxnSpPr>
          <p:nvPr/>
        </p:nvCxnSpPr>
        <p:spPr>
          <a:xfrm flipV="1">
            <a:off x="4308999" y="5234774"/>
            <a:ext cx="0" cy="670726"/>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383152D4-216C-49CA-89B6-BF4FD78B32A1}"/>
              </a:ext>
            </a:extLst>
          </p:cNvPr>
          <p:cNvCxnSpPr>
            <a:cxnSpLocks/>
          </p:cNvCxnSpPr>
          <p:nvPr/>
        </p:nvCxnSpPr>
        <p:spPr>
          <a:xfrm flipV="1">
            <a:off x="10241074" y="5568661"/>
            <a:ext cx="0" cy="336839"/>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077FE5F6-6698-44C8-949A-3B1FFA12825F}"/>
              </a:ext>
            </a:extLst>
          </p:cNvPr>
          <p:cNvCxnSpPr>
            <a:cxnSpLocks/>
            <a:endCxn id="56" idx="1"/>
          </p:cNvCxnSpPr>
          <p:nvPr/>
        </p:nvCxnSpPr>
        <p:spPr>
          <a:xfrm>
            <a:off x="4105518" y="5911715"/>
            <a:ext cx="1091231" cy="0"/>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56" name="Rectangle 55">
            <a:extLst>
              <a:ext uri="{FF2B5EF4-FFF2-40B4-BE49-F238E27FC236}">
                <a16:creationId xmlns:a16="http://schemas.microsoft.com/office/drawing/2014/main" id="{0182EB5C-4F86-416A-B81D-EA223AEB393C}"/>
              </a:ext>
            </a:extLst>
          </p:cNvPr>
          <p:cNvSpPr/>
          <p:nvPr/>
        </p:nvSpPr>
        <p:spPr bwMode="auto">
          <a:xfrm>
            <a:off x="5196749" y="5765133"/>
            <a:ext cx="1044306" cy="293164"/>
          </a:xfrm>
          <a:prstGeom prst="rect">
            <a:avLst/>
          </a:prstGeom>
          <a:no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400" b="0" i="0" u="none" strike="noStrike" cap="none" normalizeH="0" baseline="0" dirty="0">
                <a:ln>
                  <a:noFill/>
                </a:ln>
                <a:solidFill>
                  <a:schemeClr val="tx1"/>
                </a:solidFill>
                <a:effectLst/>
                <a:latin typeface="Gill Sans Light"/>
              </a:rPr>
              <a:t>I/O </a:t>
            </a:r>
            <a:r>
              <a:rPr kumimoji="0" lang="en-US" sz="1400" b="0" i="0" u="none" strike="noStrike" cap="none" normalizeH="0" baseline="0" dirty="0" err="1">
                <a:ln>
                  <a:noFill/>
                </a:ln>
                <a:solidFill>
                  <a:schemeClr val="tx1"/>
                </a:solidFill>
                <a:effectLst/>
                <a:latin typeface="Gill Sans Light"/>
              </a:rPr>
              <a:t>Ctrlr</a:t>
            </a:r>
            <a:endParaRPr kumimoji="0" lang="en-US" sz="1400" b="0" i="0" u="none" strike="noStrike" cap="none" normalizeH="0" baseline="0" dirty="0">
              <a:ln>
                <a:noFill/>
              </a:ln>
              <a:solidFill>
                <a:schemeClr val="tx1"/>
              </a:solidFill>
              <a:effectLst/>
              <a:latin typeface="Gill Sans Light"/>
            </a:endParaRPr>
          </a:p>
        </p:txBody>
      </p:sp>
      <p:cxnSp>
        <p:nvCxnSpPr>
          <p:cNvPr id="59" name="Straight Arrow Connector 58">
            <a:extLst>
              <a:ext uri="{FF2B5EF4-FFF2-40B4-BE49-F238E27FC236}">
                <a16:creationId xmlns:a16="http://schemas.microsoft.com/office/drawing/2014/main" id="{7CEF80FD-C99C-4106-86FD-C44623EF6D66}"/>
              </a:ext>
            </a:extLst>
          </p:cNvPr>
          <p:cNvCxnSpPr>
            <a:cxnSpLocks/>
            <a:stCxn id="56" idx="3"/>
          </p:cNvCxnSpPr>
          <p:nvPr/>
        </p:nvCxnSpPr>
        <p:spPr>
          <a:xfrm flipV="1">
            <a:off x="6241055" y="5905500"/>
            <a:ext cx="5666023" cy="6215"/>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8C42E879-B352-4CB0-9045-9528A742E94C}"/>
              </a:ext>
            </a:extLst>
          </p:cNvPr>
          <p:cNvSpPr txBox="1"/>
          <p:nvPr/>
        </p:nvSpPr>
        <p:spPr>
          <a:xfrm>
            <a:off x="861699" y="4314038"/>
            <a:ext cx="1494531" cy="338554"/>
          </a:xfrm>
          <a:prstGeom prst="rect">
            <a:avLst/>
          </a:prstGeom>
          <a:solidFill>
            <a:srgbClr val="EFE683"/>
          </a:solidFill>
          <a:ln>
            <a:solidFill>
              <a:schemeClr val="tx1"/>
            </a:solidFill>
          </a:ln>
        </p:spPr>
        <p:txBody>
          <a:bodyPr wrap="square" rtlCol="0">
            <a:spAutoFit/>
          </a:bodyPr>
          <a:lstStyle/>
          <a:p>
            <a:pPr algn="ctr"/>
            <a:r>
              <a:rPr lang="en-US" sz="1600" b="1" i="1" dirty="0">
                <a:latin typeface="Gill Sans Light"/>
              </a:rPr>
              <a:t>ISA</a:t>
            </a:r>
          </a:p>
        </p:txBody>
      </p:sp>
      <p:sp>
        <p:nvSpPr>
          <p:cNvPr id="63" name="Rectangle 62">
            <a:extLst>
              <a:ext uri="{FF2B5EF4-FFF2-40B4-BE49-F238E27FC236}">
                <a16:creationId xmlns:a16="http://schemas.microsoft.com/office/drawing/2014/main" id="{CA91FAA7-997F-463D-B0E7-ECB8FF4BD25C}"/>
              </a:ext>
            </a:extLst>
          </p:cNvPr>
          <p:cNvSpPr/>
          <p:nvPr/>
        </p:nvSpPr>
        <p:spPr>
          <a:xfrm>
            <a:off x="1955800" y="3595554"/>
            <a:ext cx="10103676" cy="936847"/>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latin typeface="Gill Sans Light"/>
              </a:rPr>
              <a:t>Operating System</a:t>
            </a:r>
          </a:p>
        </p:txBody>
      </p:sp>
      <p:sp>
        <p:nvSpPr>
          <p:cNvPr id="80" name="Rectangle 79">
            <a:extLst>
              <a:ext uri="{FF2B5EF4-FFF2-40B4-BE49-F238E27FC236}">
                <a16:creationId xmlns:a16="http://schemas.microsoft.com/office/drawing/2014/main" id="{4838629E-2E3E-4207-99FE-90E9B77B1C43}"/>
              </a:ext>
            </a:extLst>
          </p:cNvPr>
          <p:cNvSpPr/>
          <p:nvPr/>
        </p:nvSpPr>
        <p:spPr>
          <a:xfrm>
            <a:off x="2201858" y="2710529"/>
            <a:ext cx="9436099" cy="936847"/>
          </a:xfrm>
          <a:prstGeom prst="rect">
            <a:avLst/>
          </a:prstGeom>
          <a:solidFill>
            <a:srgbClr val="9E78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1" dirty="0">
                <a:solidFill>
                  <a:schemeClr val="tx1"/>
                </a:solidFill>
                <a:latin typeface="Gill Sans Light"/>
              </a:rPr>
              <a:t>Process: Execution environment with restricted rights provided by OS</a:t>
            </a:r>
          </a:p>
          <a:p>
            <a:pPr algn="ctr"/>
            <a:endParaRPr lang="en-US" sz="1200" dirty="0">
              <a:solidFill>
                <a:schemeClr val="tx1"/>
              </a:solidFill>
              <a:latin typeface="Gill Sans Light"/>
            </a:endParaRPr>
          </a:p>
        </p:txBody>
      </p:sp>
      <p:sp>
        <p:nvSpPr>
          <p:cNvPr id="73" name="Rectangle 72">
            <a:extLst>
              <a:ext uri="{FF2B5EF4-FFF2-40B4-BE49-F238E27FC236}">
                <a16:creationId xmlns:a16="http://schemas.microsoft.com/office/drawing/2014/main" id="{1F630E64-216C-4D30-9C27-5AEDDDA28456}"/>
              </a:ext>
            </a:extLst>
          </p:cNvPr>
          <p:cNvSpPr/>
          <p:nvPr/>
        </p:nvSpPr>
        <p:spPr bwMode="auto">
          <a:xfrm>
            <a:off x="6098451" y="5075238"/>
            <a:ext cx="631346" cy="480009"/>
          </a:xfrm>
          <a:prstGeom prst="rect">
            <a:avLst/>
          </a:prstGeom>
          <a:solidFill>
            <a:schemeClr val="bg2">
              <a:lumMod val="60000"/>
              <a:lumOff val="4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Gill Sans Light"/>
              </a:rPr>
              <a:t>OS Mem</a:t>
            </a:r>
          </a:p>
        </p:txBody>
      </p:sp>
      <p:sp>
        <p:nvSpPr>
          <p:cNvPr id="81" name="Rectangle: Folded Corner 80">
            <a:extLst>
              <a:ext uri="{FF2B5EF4-FFF2-40B4-BE49-F238E27FC236}">
                <a16:creationId xmlns:a16="http://schemas.microsoft.com/office/drawing/2014/main" id="{19183BC7-FF86-4959-8312-523AE576C3AF}"/>
              </a:ext>
            </a:extLst>
          </p:cNvPr>
          <p:cNvSpPr/>
          <p:nvPr/>
        </p:nvSpPr>
        <p:spPr>
          <a:xfrm>
            <a:off x="5533299" y="1372394"/>
            <a:ext cx="2014336" cy="1471720"/>
          </a:xfrm>
          <a:prstGeom prst="foldedCorner">
            <a:avLst>
              <a:gd name="adj" fmla="val 21333"/>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2000" dirty="0">
                <a:solidFill>
                  <a:schemeClr val="tx1"/>
                </a:solidFill>
                <a:latin typeface="Gill Sans Light"/>
              </a:rPr>
              <a:t>Compiled</a:t>
            </a:r>
          </a:p>
          <a:p>
            <a:pPr algn="ctr"/>
            <a:r>
              <a:rPr lang="en-US" sz="2000" dirty="0">
                <a:solidFill>
                  <a:schemeClr val="tx1"/>
                </a:solidFill>
                <a:latin typeface="Gill Sans Light"/>
              </a:rPr>
              <a:t>Program</a:t>
            </a:r>
          </a:p>
        </p:txBody>
      </p:sp>
      <p:sp>
        <p:nvSpPr>
          <p:cNvPr id="83" name="Rectangle 82">
            <a:extLst>
              <a:ext uri="{FF2B5EF4-FFF2-40B4-BE49-F238E27FC236}">
                <a16:creationId xmlns:a16="http://schemas.microsoft.com/office/drawing/2014/main" id="{DCEED07B-2876-4266-8889-B6933456A2AD}"/>
              </a:ext>
            </a:extLst>
          </p:cNvPr>
          <p:cNvSpPr/>
          <p:nvPr/>
        </p:nvSpPr>
        <p:spPr>
          <a:xfrm>
            <a:off x="5780949" y="2322568"/>
            <a:ext cx="1343751" cy="464249"/>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Gill Sans Light"/>
              </a:rPr>
              <a:t>System Libs</a:t>
            </a:r>
          </a:p>
        </p:txBody>
      </p:sp>
      <p:cxnSp>
        <p:nvCxnSpPr>
          <p:cNvPr id="86" name="Straight Arrow Connector 85">
            <a:extLst>
              <a:ext uri="{FF2B5EF4-FFF2-40B4-BE49-F238E27FC236}">
                <a16:creationId xmlns:a16="http://schemas.microsoft.com/office/drawing/2014/main" id="{473344DE-150C-48E1-8B18-C5C21A140188}"/>
              </a:ext>
            </a:extLst>
          </p:cNvPr>
          <p:cNvCxnSpPr>
            <a:cxnSpLocks/>
            <a:endCxn id="72" idx="2"/>
          </p:cNvCxnSpPr>
          <p:nvPr/>
        </p:nvCxnSpPr>
        <p:spPr>
          <a:xfrm flipV="1">
            <a:off x="3527724" y="3726290"/>
            <a:ext cx="0" cy="91440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9" name="Straight Arrow Connector 88">
            <a:extLst>
              <a:ext uri="{FF2B5EF4-FFF2-40B4-BE49-F238E27FC236}">
                <a16:creationId xmlns:a16="http://schemas.microsoft.com/office/drawing/2014/main" id="{FD3737F0-3CFC-4168-9F6E-83512438F226}"/>
              </a:ext>
            </a:extLst>
          </p:cNvPr>
          <p:cNvCxnSpPr>
            <a:cxnSpLocks/>
            <a:endCxn id="74" idx="2"/>
          </p:cNvCxnSpPr>
          <p:nvPr/>
        </p:nvCxnSpPr>
        <p:spPr>
          <a:xfrm flipV="1">
            <a:off x="5660486" y="3729000"/>
            <a:ext cx="0" cy="91440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2" name="Straight Arrow Connector 91">
            <a:extLst>
              <a:ext uri="{FF2B5EF4-FFF2-40B4-BE49-F238E27FC236}">
                <a16:creationId xmlns:a16="http://schemas.microsoft.com/office/drawing/2014/main" id="{CAC55CD2-CE5F-4C43-BA56-7E0797FC6363}"/>
              </a:ext>
            </a:extLst>
          </p:cNvPr>
          <p:cNvCxnSpPr>
            <a:cxnSpLocks/>
            <a:endCxn id="75" idx="2"/>
          </p:cNvCxnSpPr>
          <p:nvPr/>
        </p:nvCxnSpPr>
        <p:spPr>
          <a:xfrm flipV="1">
            <a:off x="7472979" y="3728232"/>
            <a:ext cx="0" cy="91440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6" name="Straight Arrow Connector 95">
            <a:extLst>
              <a:ext uri="{FF2B5EF4-FFF2-40B4-BE49-F238E27FC236}">
                <a16:creationId xmlns:a16="http://schemas.microsoft.com/office/drawing/2014/main" id="{ED2027F6-02F0-4F88-AFB8-0786442C29E4}"/>
              </a:ext>
            </a:extLst>
          </p:cNvPr>
          <p:cNvCxnSpPr>
            <a:cxnSpLocks/>
            <a:endCxn id="76" idx="2"/>
          </p:cNvCxnSpPr>
          <p:nvPr/>
        </p:nvCxnSpPr>
        <p:spPr>
          <a:xfrm flipV="1">
            <a:off x="8814029" y="3728232"/>
            <a:ext cx="0" cy="91440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CE97C817-F8C7-40F3-ACDD-3D43C22ADBA0}"/>
              </a:ext>
            </a:extLst>
          </p:cNvPr>
          <p:cNvCxnSpPr>
            <a:cxnSpLocks/>
            <a:endCxn id="77" idx="2"/>
          </p:cNvCxnSpPr>
          <p:nvPr/>
        </p:nvCxnSpPr>
        <p:spPr>
          <a:xfrm flipV="1">
            <a:off x="10268534" y="3721852"/>
            <a:ext cx="0" cy="91440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2" name="TextBox 71">
            <a:extLst>
              <a:ext uri="{FF2B5EF4-FFF2-40B4-BE49-F238E27FC236}">
                <a16:creationId xmlns:a16="http://schemas.microsoft.com/office/drawing/2014/main" id="{E4897103-5196-4D83-8C50-ED908C0B63F9}"/>
              </a:ext>
            </a:extLst>
          </p:cNvPr>
          <p:cNvSpPr txBox="1"/>
          <p:nvPr/>
        </p:nvSpPr>
        <p:spPr>
          <a:xfrm>
            <a:off x="2724436" y="3326180"/>
            <a:ext cx="1606576" cy="338554"/>
          </a:xfrm>
          <a:prstGeom prst="rect">
            <a:avLst/>
          </a:prstGeom>
          <a:solidFill>
            <a:srgbClr val="EFE683"/>
          </a:solidFill>
          <a:ln>
            <a:solidFill>
              <a:schemeClr val="tx1"/>
            </a:solidFill>
          </a:ln>
        </p:spPr>
        <p:txBody>
          <a:bodyPr wrap="square" rtlCol="0">
            <a:spAutoFit/>
          </a:bodyPr>
          <a:lstStyle/>
          <a:p>
            <a:pPr algn="ctr"/>
            <a:r>
              <a:rPr lang="en-US" sz="1600" b="1" i="1" dirty="0">
                <a:latin typeface="Gill Sans Light"/>
              </a:rPr>
              <a:t>Threads</a:t>
            </a:r>
          </a:p>
        </p:txBody>
      </p:sp>
      <p:sp>
        <p:nvSpPr>
          <p:cNvPr id="74" name="TextBox 73">
            <a:extLst>
              <a:ext uri="{FF2B5EF4-FFF2-40B4-BE49-F238E27FC236}">
                <a16:creationId xmlns:a16="http://schemas.microsoft.com/office/drawing/2014/main" id="{903AC2DB-5960-4CF0-B972-E1CDF92622A2}"/>
              </a:ext>
            </a:extLst>
          </p:cNvPr>
          <p:cNvSpPr txBox="1"/>
          <p:nvPr/>
        </p:nvSpPr>
        <p:spPr>
          <a:xfrm>
            <a:off x="4695968" y="3328890"/>
            <a:ext cx="1929036" cy="338554"/>
          </a:xfrm>
          <a:prstGeom prst="rect">
            <a:avLst/>
          </a:prstGeom>
          <a:solidFill>
            <a:srgbClr val="EFE683"/>
          </a:solidFill>
          <a:ln>
            <a:solidFill>
              <a:schemeClr val="tx1"/>
            </a:solidFill>
          </a:ln>
        </p:spPr>
        <p:txBody>
          <a:bodyPr wrap="square" rtlCol="0">
            <a:spAutoFit/>
          </a:bodyPr>
          <a:lstStyle/>
          <a:p>
            <a:pPr algn="ctr"/>
            <a:r>
              <a:rPr lang="en-US" sz="1600" b="1" i="1" dirty="0">
                <a:latin typeface="Gill Sans Light"/>
              </a:rPr>
              <a:t>Address Spaces</a:t>
            </a:r>
          </a:p>
        </p:txBody>
      </p:sp>
      <p:sp>
        <p:nvSpPr>
          <p:cNvPr id="75" name="TextBox 74">
            <a:extLst>
              <a:ext uri="{FF2B5EF4-FFF2-40B4-BE49-F238E27FC236}">
                <a16:creationId xmlns:a16="http://schemas.microsoft.com/office/drawing/2014/main" id="{AD4C368E-047B-4BC3-8012-71A6CC7B5378}"/>
              </a:ext>
            </a:extLst>
          </p:cNvPr>
          <p:cNvSpPr txBox="1"/>
          <p:nvPr/>
        </p:nvSpPr>
        <p:spPr>
          <a:xfrm>
            <a:off x="6989960" y="3328122"/>
            <a:ext cx="966038" cy="338554"/>
          </a:xfrm>
          <a:prstGeom prst="rect">
            <a:avLst/>
          </a:prstGeom>
          <a:solidFill>
            <a:srgbClr val="EFE683"/>
          </a:solidFill>
          <a:ln>
            <a:solidFill>
              <a:schemeClr val="tx1"/>
            </a:solidFill>
          </a:ln>
        </p:spPr>
        <p:txBody>
          <a:bodyPr wrap="square" rtlCol="0">
            <a:spAutoFit/>
          </a:bodyPr>
          <a:lstStyle/>
          <a:p>
            <a:pPr algn="ctr"/>
            <a:r>
              <a:rPr lang="en-US" sz="1600" b="1" i="1" dirty="0">
                <a:latin typeface="Gill Sans Light"/>
              </a:rPr>
              <a:t>Files</a:t>
            </a:r>
          </a:p>
        </p:txBody>
      </p:sp>
      <p:sp>
        <p:nvSpPr>
          <p:cNvPr id="76" name="TextBox 75">
            <a:extLst>
              <a:ext uri="{FF2B5EF4-FFF2-40B4-BE49-F238E27FC236}">
                <a16:creationId xmlns:a16="http://schemas.microsoft.com/office/drawing/2014/main" id="{8ED3D70A-C8B7-4AAE-8DB5-86A5FF23DEF3}"/>
              </a:ext>
            </a:extLst>
          </p:cNvPr>
          <p:cNvSpPr txBox="1"/>
          <p:nvPr/>
        </p:nvSpPr>
        <p:spPr>
          <a:xfrm>
            <a:off x="8320954" y="3328122"/>
            <a:ext cx="986150" cy="338554"/>
          </a:xfrm>
          <a:prstGeom prst="rect">
            <a:avLst/>
          </a:prstGeom>
          <a:solidFill>
            <a:srgbClr val="EFE683"/>
          </a:solidFill>
          <a:ln>
            <a:solidFill>
              <a:schemeClr val="tx1"/>
            </a:solidFill>
          </a:ln>
        </p:spPr>
        <p:txBody>
          <a:bodyPr wrap="square" rtlCol="0">
            <a:spAutoFit/>
          </a:bodyPr>
          <a:lstStyle/>
          <a:p>
            <a:pPr algn="ctr"/>
            <a:r>
              <a:rPr lang="en-US" sz="1600" b="1" i="1" dirty="0">
                <a:latin typeface="Gill Sans Light"/>
              </a:rPr>
              <a:t>Sockets</a:t>
            </a:r>
          </a:p>
        </p:txBody>
      </p:sp>
      <p:sp>
        <p:nvSpPr>
          <p:cNvPr id="77" name="TextBox 76">
            <a:extLst>
              <a:ext uri="{FF2B5EF4-FFF2-40B4-BE49-F238E27FC236}">
                <a16:creationId xmlns:a16="http://schemas.microsoft.com/office/drawing/2014/main" id="{F3F55CC6-C2AF-49B7-897C-3319F86A34A9}"/>
              </a:ext>
            </a:extLst>
          </p:cNvPr>
          <p:cNvSpPr txBox="1"/>
          <p:nvPr/>
        </p:nvSpPr>
        <p:spPr>
          <a:xfrm>
            <a:off x="9672060" y="3321742"/>
            <a:ext cx="1203398" cy="338554"/>
          </a:xfrm>
          <a:prstGeom prst="rect">
            <a:avLst/>
          </a:prstGeom>
          <a:solidFill>
            <a:srgbClr val="EFE683"/>
          </a:solidFill>
          <a:ln>
            <a:solidFill>
              <a:schemeClr val="tx1"/>
            </a:solidFill>
          </a:ln>
        </p:spPr>
        <p:txBody>
          <a:bodyPr wrap="square" rtlCol="0">
            <a:spAutoFit/>
          </a:bodyPr>
          <a:lstStyle/>
          <a:p>
            <a:pPr algn="ctr"/>
            <a:r>
              <a:rPr lang="en-US" sz="1600" b="1" i="1" dirty="0">
                <a:latin typeface="Gill Sans Light"/>
              </a:rPr>
              <a:t>Windows</a:t>
            </a:r>
          </a:p>
        </p:txBody>
      </p:sp>
      <p:pic>
        <p:nvPicPr>
          <p:cNvPr id="14" name="Picture 13" descr="A picture containing battery&#10;&#10;Description automatically generated">
            <a:extLst>
              <a:ext uri="{FF2B5EF4-FFF2-40B4-BE49-F238E27FC236}">
                <a16:creationId xmlns:a16="http://schemas.microsoft.com/office/drawing/2014/main" id="{41F1D657-BB6E-4341-8DB7-3A097BE48644}"/>
              </a:ext>
            </a:extLst>
          </p:cNvPr>
          <p:cNvPicPr>
            <a:picLocks noChangeAspect="1"/>
          </p:cNvPicPr>
          <p:nvPr/>
        </p:nvPicPr>
        <p:blipFill>
          <a:blip r:embed="rId4" cstate="email">
            <a:clrChange>
              <a:clrFrom>
                <a:srgbClr val="F6F8F7"/>
              </a:clrFrom>
              <a:clrTo>
                <a:srgbClr val="F6F8F7">
                  <a:alpha val="0"/>
                </a:srgbClr>
              </a:clrTo>
            </a:clrChange>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10948105" y="4977301"/>
            <a:ext cx="1164381" cy="635612"/>
          </a:xfrm>
          <a:prstGeom prst="rect">
            <a:avLst/>
          </a:prstGeom>
        </p:spPr>
      </p:pic>
      <p:cxnSp>
        <p:nvCxnSpPr>
          <p:cNvPr id="54" name="Straight Arrow Connector 53">
            <a:extLst>
              <a:ext uri="{FF2B5EF4-FFF2-40B4-BE49-F238E27FC236}">
                <a16:creationId xmlns:a16="http://schemas.microsoft.com/office/drawing/2014/main" id="{727B40DB-3B44-485C-88B9-A60863527017}"/>
              </a:ext>
            </a:extLst>
          </p:cNvPr>
          <p:cNvCxnSpPr>
            <a:cxnSpLocks/>
          </p:cNvCxnSpPr>
          <p:nvPr/>
        </p:nvCxnSpPr>
        <p:spPr>
          <a:xfrm flipV="1">
            <a:off x="11513283" y="5568661"/>
            <a:ext cx="0" cy="336839"/>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55" name="TextBox 54">
            <a:extLst>
              <a:ext uri="{FF2B5EF4-FFF2-40B4-BE49-F238E27FC236}">
                <a16:creationId xmlns:a16="http://schemas.microsoft.com/office/drawing/2014/main" id="{F51246D6-E6DA-45C9-A8A6-C4F552FA9610}"/>
              </a:ext>
            </a:extLst>
          </p:cNvPr>
          <p:cNvSpPr txBox="1"/>
          <p:nvPr/>
        </p:nvSpPr>
        <p:spPr>
          <a:xfrm>
            <a:off x="11052698" y="4530603"/>
            <a:ext cx="891591" cy="338554"/>
          </a:xfrm>
          <a:prstGeom prst="rect">
            <a:avLst/>
          </a:prstGeom>
          <a:noFill/>
        </p:spPr>
        <p:txBody>
          <a:bodyPr wrap="none" rtlCol="0">
            <a:spAutoFit/>
          </a:bodyPr>
          <a:lstStyle/>
          <a:p>
            <a:pPr algn="ctr"/>
            <a:r>
              <a:rPr lang="en-US" sz="1600" dirty="0">
                <a:latin typeface="Gill Sans Light"/>
              </a:rPr>
              <a:t>Battery</a:t>
            </a:r>
          </a:p>
        </p:txBody>
      </p:sp>
      <p:sp>
        <p:nvSpPr>
          <p:cNvPr id="24" name="Rectangle: Rounded Corners 23">
            <a:extLst>
              <a:ext uri="{FF2B5EF4-FFF2-40B4-BE49-F238E27FC236}">
                <a16:creationId xmlns:a16="http://schemas.microsoft.com/office/drawing/2014/main" id="{A55C64A1-963F-4155-AF07-ED9130DC0345}"/>
              </a:ext>
            </a:extLst>
          </p:cNvPr>
          <p:cNvSpPr/>
          <p:nvPr/>
        </p:nvSpPr>
        <p:spPr>
          <a:xfrm>
            <a:off x="10895926" y="3902369"/>
            <a:ext cx="1097206" cy="53774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Gill Sans Light"/>
              </a:rPr>
              <a:t>Power Manager</a:t>
            </a:r>
          </a:p>
        </p:txBody>
      </p:sp>
      <p:sp>
        <p:nvSpPr>
          <p:cNvPr id="57" name="Rectangle: Rounded Corners 56">
            <a:extLst>
              <a:ext uri="{FF2B5EF4-FFF2-40B4-BE49-F238E27FC236}">
                <a16:creationId xmlns:a16="http://schemas.microsoft.com/office/drawing/2014/main" id="{E0048F16-B2FA-4714-B043-98683F32D537}"/>
              </a:ext>
            </a:extLst>
          </p:cNvPr>
          <p:cNvSpPr/>
          <p:nvPr/>
        </p:nvSpPr>
        <p:spPr>
          <a:xfrm>
            <a:off x="8525463" y="3942059"/>
            <a:ext cx="1097206" cy="53774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Gill Sans Light"/>
              </a:rPr>
              <a:t>Network Manager</a:t>
            </a:r>
          </a:p>
        </p:txBody>
      </p:sp>
    </p:spTree>
    <p:extLst>
      <p:ext uri="{BB962C8B-B14F-4D97-AF65-F5344CB8AC3E}">
        <p14:creationId xmlns:p14="http://schemas.microsoft.com/office/powerpoint/2010/main" val="27666541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57"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take CSC112?</a:t>
            </a:r>
          </a:p>
        </p:txBody>
      </p:sp>
      <p:sp>
        <p:nvSpPr>
          <p:cNvPr id="3" name="Content Placeholder 2"/>
          <p:cNvSpPr>
            <a:spLocks noGrp="1"/>
          </p:cNvSpPr>
          <p:nvPr>
            <p:ph idx="1"/>
          </p:nvPr>
        </p:nvSpPr>
        <p:spPr/>
        <p:txBody>
          <a:bodyPr/>
          <a:lstStyle/>
          <a:p>
            <a:r>
              <a:rPr lang="en-US" dirty="0"/>
              <a:t>Some of you will design and build operating systems or components of them.</a:t>
            </a:r>
          </a:p>
          <a:p>
            <a:pPr lvl="1"/>
            <a:r>
              <a:rPr lang="en-US" dirty="0"/>
              <a:t>Perhaps more now than ever for embedded systems</a:t>
            </a:r>
          </a:p>
          <a:p>
            <a:r>
              <a:rPr lang="en-US" dirty="0"/>
              <a:t>Many of you will create systems that utilize the core concepts in operating systems.</a:t>
            </a:r>
          </a:p>
          <a:p>
            <a:pPr lvl="1"/>
            <a:r>
              <a:rPr lang="en-US" dirty="0"/>
              <a:t>Whether you build software or hardware</a:t>
            </a:r>
          </a:p>
          <a:p>
            <a:pPr lvl="1"/>
            <a:r>
              <a:rPr lang="en-US" dirty="0"/>
              <a:t>The concepts and design patterns appear at many levels</a:t>
            </a:r>
          </a:p>
          <a:p>
            <a:r>
              <a:rPr lang="en-US" dirty="0"/>
              <a:t>All of you will build applications, etc. that utilize operating systems</a:t>
            </a:r>
          </a:p>
          <a:p>
            <a:pPr lvl="1"/>
            <a:r>
              <a:rPr lang="en-US" dirty="0"/>
              <a:t>The better you understand their design and implementation, the better use you’ll make of them.</a:t>
            </a:r>
          </a:p>
        </p:txBody>
      </p:sp>
    </p:spTree>
    <p:extLst>
      <p:ext uri="{BB962C8B-B14F-4D97-AF65-F5344CB8AC3E}">
        <p14:creationId xmlns:p14="http://schemas.microsoft.com/office/powerpoint/2010/main" val="203881477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a:xfrm>
            <a:off x="2895600" y="2133600"/>
            <a:ext cx="6400800" cy="2286000"/>
          </a:xfrm>
        </p:spPr>
        <p:txBody>
          <a:bodyPr/>
          <a:lstStyle/>
          <a:p>
            <a:pPr>
              <a:defRPr/>
            </a:pPr>
            <a:r>
              <a:rPr lang="en-US" altLang="en-US" dirty="0">
                <a:latin typeface="Gill Sans Light" charset="0"/>
                <a:cs typeface="Gill Sans Light" charset="0"/>
              </a:rPr>
              <a:t>What makes Operating Systems Exciting and Challenging?</a:t>
            </a:r>
          </a:p>
        </p:txBody>
      </p:sp>
    </p:spTree>
    <p:extLst>
      <p:ext uri="{BB962C8B-B14F-4D97-AF65-F5344CB8AC3E}">
        <p14:creationId xmlns:p14="http://schemas.microsoft.com/office/powerpoint/2010/main" val="780702975"/>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22" name="Rectangle 7"/>
          <p:cNvSpPr>
            <a:spLocks noGrp="1" noChangeArrowheads="1"/>
          </p:cNvSpPr>
          <p:nvPr>
            <p:ph type="title"/>
          </p:nvPr>
        </p:nvSpPr>
        <p:spPr>
          <a:xfrm>
            <a:off x="1981200" y="76200"/>
            <a:ext cx="7162800" cy="533400"/>
          </a:xfrm>
        </p:spPr>
        <p:txBody>
          <a:bodyPr/>
          <a:lstStyle/>
          <a:p>
            <a:pPr>
              <a:defRPr/>
            </a:pPr>
            <a:r>
              <a:rPr lang="en-US" sz="2400" dirty="0">
                <a:latin typeface="Gill Sans Light" charset="0"/>
                <a:ea typeface="ＭＳ Ｐゴシック" charset="0"/>
                <a:cs typeface="Gill Sans Light" charset="0"/>
              </a:rPr>
              <a:t>Societal Scale Information Systems</a:t>
            </a:r>
            <a:br>
              <a:rPr lang="en-US" sz="2400" dirty="0">
                <a:latin typeface="Gill Sans Light" charset="0"/>
                <a:ea typeface="ＭＳ Ｐゴシック" charset="0"/>
                <a:cs typeface="Gill Sans Light" charset="0"/>
              </a:rPr>
            </a:br>
            <a:r>
              <a:rPr lang="en-US" sz="2400" dirty="0">
                <a:latin typeface="Gill Sans Light" charset="0"/>
                <a:ea typeface="ＭＳ Ｐゴシック" charset="0"/>
                <a:cs typeface="Gill Sans Light" charset="0"/>
              </a:rPr>
              <a:t>(Or the “Internet of Things”?)</a:t>
            </a:r>
          </a:p>
        </p:txBody>
      </p:sp>
      <p:sp>
        <p:nvSpPr>
          <p:cNvPr id="40962" name="Text Box 10"/>
          <p:cNvSpPr txBox="1">
            <a:spLocks noChangeArrowheads="1"/>
          </p:cNvSpPr>
          <p:nvPr/>
        </p:nvSpPr>
        <p:spPr bwMode="auto">
          <a:xfrm>
            <a:off x="8458201" y="2667000"/>
            <a:ext cx="2311851" cy="70788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b="1">
                <a:solidFill>
                  <a:schemeClr val="tx1"/>
                </a:solidFill>
                <a:latin typeface="Comic Sans MS" charset="0"/>
                <a:ea typeface="ＭＳ Ｐゴシック" charset="0"/>
                <a:cs typeface="ＭＳ Ｐゴシック" charset="0"/>
              </a:defRPr>
            </a:lvl1pPr>
            <a:lvl2pPr marL="742950" indent="-285750">
              <a:defRPr sz="2400" b="1">
                <a:solidFill>
                  <a:schemeClr val="tx1"/>
                </a:solidFill>
                <a:latin typeface="Comic Sans MS" charset="0"/>
                <a:ea typeface="ＭＳ Ｐゴシック" charset="0"/>
              </a:defRPr>
            </a:lvl2pPr>
            <a:lvl3pPr marL="1143000" indent="-228600">
              <a:defRPr sz="2400" b="1">
                <a:solidFill>
                  <a:schemeClr val="tx1"/>
                </a:solidFill>
                <a:latin typeface="Comic Sans MS" charset="0"/>
                <a:ea typeface="ＭＳ Ｐゴシック" charset="0"/>
              </a:defRPr>
            </a:lvl3pPr>
            <a:lvl4pPr marL="1600200" indent="-228600">
              <a:defRPr sz="2400" b="1">
                <a:solidFill>
                  <a:schemeClr val="tx1"/>
                </a:solidFill>
                <a:latin typeface="Comic Sans MS" charset="0"/>
                <a:ea typeface="ＭＳ Ｐゴシック" charset="0"/>
              </a:defRPr>
            </a:lvl4pPr>
            <a:lvl5pPr marL="2057400" indent="-228600">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b="1">
                <a:solidFill>
                  <a:schemeClr val="tx1"/>
                </a:solidFill>
                <a:latin typeface="Comic Sans MS" charset="0"/>
                <a:ea typeface="ＭＳ Ｐゴシック" charset="0"/>
              </a:defRPr>
            </a:lvl9pPr>
          </a:lstStyle>
          <a:p>
            <a:r>
              <a:rPr lang="en-US" sz="2000" b="0">
                <a:latin typeface="Gill Sans Light"/>
                <a:cs typeface="Gill Sans Light"/>
              </a:rPr>
              <a:t>Scalable, Reliable,</a:t>
            </a:r>
          </a:p>
          <a:p>
            <a:r>
              <a:rPr lang="en-US" sz="2000" b="0">
                <a:latin typeface="Gill Sans Light"/>
                <a:cs typeface="Gill Sans Light"/>
              </a:rPr>
              <a:t>Secure Services</a:t>
            </a:r>
          </a:p>
        </p:txBody>
      </p:sp>
      <p:sp>
        <p:nvSpPr>
          <p:cNvPr id="40963" name="Text Box 13"/>
          <p:cNvSpPr txBox="1">
            <a:spLocks noChangeArrowheads="1"/>
          </p:cNvSpPr>
          <p:nvPr/>
        </p:nvSpPr>
        <p:spPr bwMode="auto">
          <a:xfrm>
            <a:off x="1437547" y="5921375"/>
            <a:ext cx="1595309" cy="70788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type="none" w="sm" len="sm"/>
                <a:tailEnd type="none" w="sm" len="sm"/>
              </a14:hiddenLine>
            </a:ext>
          </a:extLst>
        </p:spPr>
        <p:txBody>
          <a:bodyPr wrap="none">
            <a:spAutoFit/>
          </a:bodyPr>
          <a:lstStyle>
            <a:lvl1pPr>
              <a:defRPr sz="2400" b="1">
                <a:solidFill>
                  <a:schemeClr val="tx1"/>
                </a:solidFill>
                <a:latin typeface="Comic Sans MS" charset="0"/>
                <a:ea typeface="ＭＳ Ｐゴシック" charset="0"/>
                <a:cs typeface="ＭＳ Ｐゴシック" charset="0"/>
              </a:defRPr>
            </a:lvl1pPr>
            <a:lvl2pPr marL="742950" indent="-285750">
              <a:defRPr sz="2400" b="1">
                <a:solidFill>
                  <a:schemeClr val="tx1"/>
                </a:solidFill>
                <a:latin typeface="Comic Sans MS" charset="0"/>
                <a:ea typeface="ＭＳ Ｐゴシック" charset="0"/>
              </a:defRPr>
            </a:lvl2pPr>
            <a:lvl3pPr marL="1143000" indent="-228600">
              <a:defRPr sz="2400" b="1">
                <a:solidFill>
                  <a:schemeClr val="tx1"/>
                </a:solidFill>
                <a:latin typeface="Comic Sans MS" charset="0"/>
                <a:ea typeface="ＭＳ Ｐゴシック" charset="0"/>
              </a:defRPr>
            </a:lvl3pPr>
            <a:lvl4pPr marL="1600200" indent="-228600">
              <a:defRPr sz="2400" b="1">
                <a:solidFill>
                  <a:schemeClr val="tx1"/>
                </a:solidFill>
                <a:latin typeface="Comic Sans MS" charset="0"/>
                <a:ea typeface="ＭＳ Ｐゴシック" charset="0"/>
              </a:defRPr>
            </a:lvl4pPr>
            <a:lvl5pPr marL="2057400" indent="-228600">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b="1">
                <a:solidFill>
                  <a:schemeClr val="tx1"/>
                </a:solidFill>
                <a:latin typeface="Comic Sans MS" charset="0"/>
                <a:ea typeface="ＭＳ Ｐゴシック" charset="0"/>
              </a:defRPr>
            </a:lvl9pPr>
          </a:lstStyle>
          <a:p>
            <a:pPr algn="ctr"/>
            <a:r>
              <a:rPr lang="en-US" sz="2000" b="0">
                <a:latin typeface="Gill Sans" charset="0"/>
                <a:cs typeface="Gill Sans" charset="0"/>
              </a:rPr>
              <a:t>MEMS for </a:t>
            </a:r>
          </a:p>
          <a:p>
            <a:pPr algn="ctr"/>
            <a:r>
              <a:rPr lang="en-US" sz="2000" b="0">
                <a:latin typeface="Gill Sans" charset="0"/>
                <a:cs typeface="Gill Sans" charset="0"/>
              </a:rPr>
              <a:t>Sensor Nets</a:t>
            </a:r>
          </a:p>
        </p:txBody>
      </p:sp>
      <p:sp>
        <p:nvSpPr>
          <p:cNvPr id="40964" name="Text Box 14"/>
          <p:cNvSpPr txBox="1">
            <a:spLocks noChangeArrowheads="1"/>
          </p:cNvSpPr>
          <p:nvPr/>
        </p:nvSpPr>
        <p:spPr bwMode="auto">
          <a:xfrm>
            <a:off x="2209800" y="2727325"/>
            <a:ext cx="1582484" cy="70788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b="1">
                <a:solidFill>
                  <a:schemeClr val="tx1"/>
                </a:solidFill>
                <a:latin typeface="Comic Sans MS" charset="0"/>
                <a:ea typeface="ＭＳ Ｐゴシック" charset="0"/>
                <a:cs typeface="ＭＳ Ｐゴシック" charset="0"/>
              </a:defRPr>
            </a:lvl1pPr>
            <a:lvl2pPr marL="742950" indent="-285750">
              <a:defRPr sz="2400" b="1">
                <a:solidFill>
                  <a:schemeClr val="tx1"/>
                </a:solidFill>
                <a:latin typeface="Comic Sans MS" charset="0"/>
                <a:ea typeface="ＭＳ Ｐゴシック" charset="0"/>
              </a:defRPr>
            </a:lvl2pPr>
            <a:lvl3pPr marL="1143000" indent="-228600">
              <a:defRPr sz="2400" b="1">
                <a:solidFill>
                  <a:schemeClr val="tx1"/>
                </a:solidFill>
                <a:latin typeface="Comic Sans MS" charset="0"/>
                <a:ea typeface="ＭＳ Ｐゴシック" charset="0"/>
              </a:defRPr>
            </a:lvl3pPr>
            <a:lvl4pPr marL="1600200" indent="-228600">
              <a:defRPr sz="2400" b="1">
                <a:solidFill>
                  <a:schemeClr val="tx1"/>
                </a:solidFill>
                <a:latin typeface="Comic Sans MS" charset="0"/>
                <a:ea typeface="ＭＳ Ｐゴシック" charset="0"/>
              </a:defRPr>
            </a:lvl4pPr>
            <a:lvl5pPr marL="2057400" indent="-228600">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b="1">
                <a:solidFill>
                  <a:schemeClr val="tx1"/>
                </a:solidFill>
                <a:latin typeface="Comic Sans MS" charset="0"/>
                <a:ea typeface="ＭＳ Ｐゴシック" charset="0"/>
              </a:defRPr>
            </a:lvl9pPr>
          </a:lstStyle>
          <a:p>
            <a:r>
              <a:rPr lang="en-US" sz="2000" b="0">
                <a:latin typeface="Gill Sans" charset="0"/>
                <a:cs typeface="Gill Sans" charset="0"/>
              </a:rPr>
              <a:t>Internet</a:t>
            </a:r>
            <a:br>
              <a:rPr lang="en-US" sz="2000" b="0">
                <a:latin typeface="Gill Sans" charset="0"/>
                <a:cs typeface="Gill Sans" charset="0"/>
              </a:rPr>
            </a:br>
            <a:r>
              <a:rPr lang="en-US" sz="2000" b="0">
                <a:latin typeface="Gill Sans" charset="0"/>
                <a:cs typeface="Gill Sans" charset="0"/>
              </a:rPr>
              <a:t>Connectivity</a:t>
            </a:r>
          </a:p>
        </p:txBody>
      </p:sp>
      <p:sp>
        <p:nvSpPr>
          <p:cNvPr id="40965" name="Text Box 480"/>
          <p:cNvSpPr txBox="1">
            <a:spLocks noChangeArrowheads="1"/>
          </p:cNvSpPr>
          <p:nvPr/>
        </p:nvSpPr>
        <p:spPr bwMode="auto">
          <a:xfrm>
            <a:off x="8001000" y="3657601"/>
            <a:ext cx="2664512" cy="224676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b="1">
                <a:solidFill>
                  <a:schemeClr val="tx1"/>
                </a:solidFill>
                <a:latin typeface="Comic Sans MS" charset="0"/>
                <a:ea typeface="ＭＳ Ｐゴシック" charset="0"/>
                <a:cs typeface="ＭＳ Ｐゴシック" charset="0"/>
              </a:defRPr>
            </a:lvl1pPr>
            <a:lvl2pPr marL="742950" indent="-285750">
              <a:defRPr sz="2400" b="1">
                <a:solidFill>
                  <a:schemeClr val="tx1"/>
                </a:solidFill>
                <a:latin typeface="Comic Sans MS" charset="0"/>
                <a:ea typeface="ＭＳ Ｐゴシック" charset="0"/>
              </a:defRPr>
            </a:lvl2pPr>
            <a:lvl3pPr marL="1143000" indent="-228600">
              <a:defRPr sz="2400" b="1">
                <a:solidFill>
                  <a:schemeClr val="tx1"/>
                </a:solidFill>
                <a:latin typeface="Comic Sans MS" charset="0"/>
                <a:ea typeface="ＭＳ Ｐゴシック" charset="0"/>
              </a:defRPr>
            </a:lvl3pPr>
            <a:lvl4pPr marL="1600200" indent="-228600">
              <a:defRPr sz="2400" b="1">
                <a:solidFill>
                  <a:schemeClr val="tx1"/>
                </a:solidFill>
                <a:latin typeface="Comic Sans MS" charset="0"/>
                <a:ea typeface="ＭＳ Ｐゴシック" charset="0"/>
              </a:defRPr>
            </a:lvl4pPr>
            <a:lvl5pPr marL="2057400" indent="-228600">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b="1">
                <a:solidFill>
                  <a:schemeClr val="tx1"/>
                </a:solidFill>
                <a:latin typeface="Comic Sans MS" charset="0"/>
                <a:ea typeface="ＭＳ Ｐゴシック" charset="0"/>
              </a:defRPr>
            </a:lvl9pPr>
          </a:lstStyle>
          <a:p>
            <a:r>
              <a:rPr lang="en-US" sz="2000" b="0">
                <a:latin typeface="Gill Sans Light"/>
                <a:cs typeface="Gill Sans Light"/>
              </a:rPr>
              <a:t>Databases</a:t>
            </a:r>
          </a:p>
          <a:p>
            <a:r>
              <a:rPr lang="en-US" sz="2000" b="0">
                <a:latin typeface="Gill Sans Light"/>
                <a:cs typeface="Gill Sans Light"/>
              </a:rPr>
              <a:t>Information Collection</a:t>
            </a:r>
          </a:p>
          <a:p>
            <a:r>
              <a:rPr lang="en-US" sz="2000" b="0">
                <a:latin typeface="Gill Sans Light"/>
                <a:cs typeface="Gill Sans Light"/>
              </a:rPr>
              <a:t>Remote Storage</a:t>
            </a:r>
          </a:p>
          <a:p>
            <a:r>
              <a:rPr lang="en-US" sz="2000" b="0">
                <a:latin typeface="Gill Sans Light"/>
                <a:cs typeface="Gill Sans Light"/>
              </a:rPr>
              <a:t>Online Games</a:t>
            </a:r>
          </a:p>
          <a:p>
            <a:r>
              <a:rPr lang="en-US" sz="2000" b="0">
                <a:latin typeface="Gill Sans Light"/>
                <a:cs typeface="Gill Sans Light"/>
              </a:rPr>
              <a:t>Commerce</a:t>
            </a:r>
          </a:p>
          <a:p>
            <a:r>
              <a:rPr lang="en-US" sz="2000" b="0">
                <a:latin typeface="Gill Sans Light"/>
                <a:cs typeface="Gill Sans Light"/>
              </a:rPr>
              <a:t>	…</a:t>
            </a:r>
          </a:p>
          <a:p>
            <a:endParaRPr lang="en-US" sz="2000" b="0">
              <a:latin typeface="Gill Sans Light"/>
              <a:cs typeface="Gill Sans Light"/>
            </a:endParaRPr>
          </a:p>
        </p:txBody>
      </p:sp>
      <p:sp>
        <p:nvSpPr>
          <p:cNvPr id="30727" name="Rectangle 481"/>
          <p:cNvSpPr>
            <a:spLocks noGrp="1" noChangeArrowheads="1"/>
          </p:cNvSpPr>
          <p:nvPr>
            <p:ph type="body" idx="1"/>
          </p:nvPr>
        </p:nvSpPr>
        <p:spPr>
          <a:xfrm>
            <a:off x="173961" y="842770"/>
            <a:ext cx="5718181" cy="1060450"/>
          </a:xfrm>
        </p:spPr>
        <p:txBody>
          <a:bodyPr/>
          <a:lstStyle/>
          <a:p>
            <a:pPr>
              <a:lnSpc>
                <a:spcPct val="80000"/>
              </a:lnSpc>
              <a:spcBef>
                <a:spcPct val="20000"/>
              </a:spcBef>
              <a:defRPr/>
            </a:pPr>
            <a:r>
              <a:rPr lang="en-US" altLang="en-US" dirty="0">
                <a:ea typeface="ＭＳ Ｐゴシック" charset="-128"/>
              </a:rPr>
              <a:t>The world is a large distributed system</a:t>
            </a:r>
          </a:p>
          <a:p>
            <a:pPr lvl="1">
              <a:lnSpc>
                <a:spcPct val="80000"/>
              </a:lnSpc>
              <a:spcBef>
                <a:spcPct val="20000"/>
              </a:spcBef>
              <a:defRPr/>
            </a:pPr>
            <a:r>
              <a:rPr lang="en-US" altLang="en-US" dirty="0">
                <a:ea typeface="ＭＳ Ｐゴシック" charset="-128"/>
              </a:rPr>
              <a:t>Microprocessors in everything</a:t>
            </a:r>
          </a:p>
          <a:p>
            <a:pPr lvl="1">
              <a:lnSpc>
                <a:spcPct val="80000"/>
              </a:lnSpc>
              <a:spcBef>
                <a:spcPct val="20000"/>
              </a:spcBef>
              <a:defRPr/>
            </a:pPr>
            <a:r>
              <a:rPr lang="en-US" altLang="en-US" dirty="0">
                <a:ea typeface="ＭＳ Ｐゴシック" charset="-128"/>
              </a:rPr>
              <a:t>Vast infrastructure behind them</a:t>
            </a:r>
          </a:p>
        </p:txBody>
      </p:sp>
      <p:sp>
        <p:nvSpPr>
          <p:cNvPr id="40967" name="Line 4"/>
          <p:cNvSpPr>
            <a:spLocks noChangeShapeType="1"/>
          </p:cNvSpPr>
          <p:nvPr/>
        </p:nvSpPr>
        <p:spPr bwMode="auto">
          <a:xfrm flipV="1">
            <a:off x="2514600" y="609600"/>
            <a:ext cx="8153400" cy="5410200"/>
          </a:xfrm>
          <a:prstGeom prst="line">
            <a:avLst/>
          </a:prstGeom>
          <a:noFill/>
          <a:ln w="76200">
            <a:solidFill>
              <a:srgbClr val="33CC33"/>
            </a:solidFill>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pic>
        <p:nvPicPr>
          <p:cNvPr id="40968" name="Picture 13"/>
          <p:cNvPicPr>
            <a:picLocks noChangeAspect="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4953000" y="4470400"/>
            <a:ext cx="1066800" cy="863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40969" name="Picture 12"/>
          <p:cNvPicPr>
            <a:picLocks noChangeAspect="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5867401" y="1676400"/>
            <a:ext cx="1897063" cy="14224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40970" name="Picture 1"/>
          <p:cNvPicPr>
            <a:picLocks noChangeAspect="1"/>
          </p:cNvPicPr>
          <p:nvPr/>
        </p:nvPicPr>
        <p:blipFill>
          <a:blip r:embed="rId5" cstate="email">
            <a:extLst>
              <a:ext uri="{28A0092B-C50C-407E-A947-70E740481C1C}">
                <a14:useLocalDpi xmlns:a14="http://schemas.microsoft.com/office/drawing/2010/main" val="0"/>
              </a:ext>
            </a:extLst>
          </a:blip>
          <a:srcRect/>
          <a:stretch>
            <a:fillRect/>
          </a:stretch>
        </p:blipFill>
        <p:spPr bwMode="auto">
          <a:xfrm>
            <a:off x="2590800" y="3733801"/>
            <a:ext cx="1219200" cy="777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40971" name="Picture 8" descr="bug4"/>
          <p:cNvPicPr>
            <a:picLocks noChangeAspect="1" noChangeArrowheads="1"/>
          </p:cNvPicPr>
          <p:nvPr/>
        </p:nvPicPr>
        <p:blipFill>
          <a:blip r:embed="rId6" cstate="email">
            <a:extLst>
              <a:ext uri="{28A0092B-C50C-407E-A947-70E740481C1C}">
                <a14:useLocalDpi xmlns:a14="http://schemas.microsoft.com/office/drawing/2010/main" val="0"/>
              </a:ext>
            </a:extLst>
          </a:blip>
          <a:srcRect/>
          <a:stretch>
            <a:fillRect/>
          </a:stretch>
        </p:blipFill>
        <p:spPr bwMode="auto">
          <a:xfrm>
            <a:off x="1828801" y="5159375"/>
            <a:ext cx="860425" cy="6731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40972" name="Picture 11"/>
          <p:cNvPicPr>
            <a:picLocks noChangeAspect="1" noChangeArrowheads="1"/>
          </p:cNvPicPr>
          <p:nvPr/>
        </p:nvPicPr>
        <p:blipFill>
          <a:blip r:embed="rId7" cstate="email">
            <a:extLst>
              <a:ext uri="{28A0092B-C50C-407E-A947-70E740481C1C}">
                <a14:useLocalDpi xmlns:a14="http://schemas.microsoft.com/office/drawing/2010/main" val="0"/>
              </a:ext>
            </a:extLst>
          </a:blip>
          <a:srcRect/>
          <a:stretch>
            <a:fillRect/>
          </a:stretch>
        </p:blipFill>
        <p:spPr bwMode="auto">
          <a:xfrm>
            <a:off x="1524000" y="4244976"/>
            <a:ext cx="1524000" cy="8921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40973" name="Picture 2"/>
          <p:cNvPicPr>
            <a:picLocks noChangeAspect="1"/>
          </p:cNvPicPr>
          <p:nvPr/>
        </p:nvPicPr>
        <p:blipFill>
          <a:blip r:embed="rId8" cstate="email">
            <a:extLst>
              <a:ext uri="{28A0092B-C50C-407E-A947-70E740481C1C}">
                <a14:useLocalDpi xmlns:a14="http://schemas.microsoft.com/office/drawing/2010/main" val="0"/>
              </a:ext>
            </a:extLst>
          </a:blip>
          <a:srcRect/>
          <a:stretch>
            <a:fillRect/>
          </a:stretch>
        </p:blipFill>
        <p:spPr bwMode="auto">
          <a:xfrm>
            <a:off x="3817938" y="3124200"/>
            <a:ext cx="876300" cy="14605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40974" name="Picture 4"/>
          <p:cNvPicPr>
            <a:picLocks noChangeAspect="1"/>
          </p:cNvPicPr>
          <p:nvPr/>
        </p:nvPicPr>
        <p:blipFill>
          <a:blip r:embed="rId9" cstate="email">
            <a:extLst>
              <a:ext uri="{28A0092B-C50C-407E-A947-70E740481C1C}">
                <a14:useLocalDpi xmlns:a14="http://schemas.microsoft.com/office/drawing/2010/main" val="0"/>
              </a:ext>
            </a:extLst>
          </a:blip>
          <a:srcRect/>
          <a:stretch>
            <a:fillRect/>
          </a:stretch>
        </p:blipFill>
        <p:spPr bwMode="auto">
          <a:xfrm>
            <a:off x="4724401" y="2489200"/>
            <a:ext cx="1298575" cy="1320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40975" name="Picture 6"/>
          <p:cNvPicPr>
            <a:picLocks noChangeAspect="1"/>
          </p:cNvPicPr>
          <p:nvPr/>
        </p:nvPicPr>
        <p:blipFill>
          <a:blip r:embed="rId10" cstate="email">
            <a:extLst>
              <a:ext uri="{28A0092B-C50C-407E-A947-70E740481C1C}">
                <a14:useLocalDpi xmlns:a14="http://schemas.microsoft.com/office/drawing/2010/main" val="0"/>
              </a:ext>
            </a:extLst>
          </a:blip>
          <a:srcRect/>
          <a:stretch>
            <a:fillRect/>
          </a:stretch>
        </p:blipFill>
        <p:spPr bwMode="auto">
          <a:xfrm>
            <a:off x="6096000" y="5029201"/>
            <a:ext cx="838200" cy="10144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40976" name="Picture 10"/>
          <p:cNvPicPr>
            <a:picLocks noChangeAspect="1"/>
          </p:cNvPicPr>
          <p:nvPr/>
        </p:nvPicPr>
        <p:blipFill>
          <a:blip r:embed="rId11" cstate="email">
            <a:extLst>
              <a:ext uri="{28A0092B-C50C-407E-A947-70E740481C1C}">
                <a14:useLocalDpi xmlns:a14="http://schemas.microsoft.com/office/drawing/2010/main" val="0"/>
              </a:ext>
            </a:extLst>
          </a:blip>
          <a:srcRect/>
          <a:stretch>
            <a:fillRect/>
          </a:stretch>
        </p:blipFill>
        <p:spPr bwMode="auto">
          <a:xfrm>
            <a:off x="6553200" y="3200400"/>
            <a:ext cx="1538288" cy="11557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40977" name="Picture 6"/>
          <p:cNvPicPr>
            <a:picLocks noChangeAspect="1" noChangeArrowheads="1"/>
          </p:cNvPicPr>
          <p:nvPr/>
        </p:nvPicPr>
        <p:blipFill>
          <a:blip r:embed="rId12" cstate="email">
            <a:extLst>
              <a:ext uri="{28A0092B-C50C-407E-A947-70E740481C1C}">
                <a14:useLocalDpi xmlns:a14="http://schemas.microsoft.com/office/drawing/2010/main" val="0"/>
              </a:ext>
            </a:extLst>
          </a:blip>
          <a:srcRect l="38983" t="30769" r="3391" b="12088"/>
          <a:stretch>
            <a:fillRect/>
          </a:stretch>
        </p:blipFill>
        <p:spPr bwMode="auto">
          <a:xfrm>
            <a:off x="2895600" y="4930775"/>
            <a:ext cx="2057400" cy="7874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pic>
      <p:pic>
        <p:nvPicPr>
          <p:cNvPr id="40978" name="Picture 479"/>
          <p:cNvPicPr>
            <a:picLocks noChangeAspect="1" noChangeArrowheads="1"/>
          </p:cNvPicPr>
          <p:nvPr/>
        </p:nvPicPr>
        <p:blipFill>
          <a:blip r:embed="rId1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667376" y="3762376"/>
            <a:ext cx="1419225" cy="14192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pic>
      <p:grpSp>
        <p:nvGrpSpPr>
          <p:cNvPr id="40979" name="Group 15"/>
          <p:cNvGrpSpPr>
            <a:grpSpLocks/>
          </p:cNvGrpSpPr>
          <p:nvPr/>
        </p:nvGrpSpPr>
        <p:grpSpPr bwMode="auto">
          <a:xfrm>
            <a:off x="7653338" y="114301"/>
            <a:ext cx="4176712" cy="2474913"/>
            <a:chOff x="3676" y="336"/>
            <a:chExt cx="2631" cy="1559"/>
          </a:xfrm>
        </p:grpSpPr>
        <p:graphicFrame>
          <p:nvGraphicFramePr>
            <p:cNvPr id="41442" name="Object 4"/>
            <p:cNvGraphicFramePr>
              <a:graphicFrameLocks noChangeAspect="1"/>
            </p:cNvGraphicFramePr>
            <p:nvPr>
              <p:extLst>
                <p:ext uri="{D42A27DB-BD31-4B8C-83A1-F6EECF244321}">
                  <p14:modId xmlns:p14="http://schemas.microsoft.com/office/powerpoint/2010/main" val="3695304313"/>
                </p:ext>
              </p:extLst>
            </p:nvPr>
          </p:nvGraphicFramePr>
          <p:xfrm>
            <a:off x="5335" y="336"/>
            <a:ext cx="972" cy="1033"/>
          </p:xfrm>
          <a:graphic>
            <a:graphicData uri="http://schemas.openxmlformats.org/presentationml/2006/ole">
              <mc:AlternateContent xmlns:mc="http://schemas.openxmlformats.org/markup-compatibility/2006">
                <mc:Choice xmlns:v="urn:schemas-microsoft-com:vml" Requires="v">
                  <p:oleObj name="Image" r:id="rId14" imgW="2007766" imgH="2134839" progId="Photoshop.Image.5">
                    <p:embed/>
                  </p:oleObj>
                </mc:Choice>
                <mc:Fallback>
                  <p:oleObj name="Image" r:id="rId14" imgW="2007766" imgH="2134839" progId="Photoshop.Image.5">
                    <p:embed/>
                    <p:pic>
                      <p:nvPicPr>
                        <p:cNvPr id="41442" name="Object 4"/>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335" y="336"/>
                          <a:ext cx="972" cy="1033"/>
                        </a:xfrm>
                        <a:prstGeom prst="rect">
                          <a:avLst/>
                        </a:prstGeom>
                        <a:noFill/>
                        <a:ln>
                          <a:noFill/>
                        </a:ln>
                        <a:effectLst/>
                        <a:extLst>
                          <a:ext uri="{909E8E84-426E-40dd-AFC4-6F175D3DCCD1}">
                            <a14:hiddenFill xmlns:a14="http://schemas.microsoft.com/office/drawing/2010/main" xmlns="">
                              <a:solidFill>
                                <a:schemeClr val="accent2"/>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7"/>
                                  </a:schemeClr>
                                </a:outerShdw>
                              </a:effectLst>
                            </a14:hiddenEffects>
                          </a:ext>
                        </a:extLst>
                      </p:spPr>
                    </p:pic>
                  </p:oleObj>
                </mc:Fallback>
              </mc:AlternateContent>
            </a:graphicData>
          </a:graphic>
        </p:graphicFrame>
        <p:grpSp>
          <p:nvGrpSpPr>
            <p:cNvPr id="41443" name="Group 17"/>
            <p:cNvGrpSpPr>
              <a:grpSpLocks/>
            </p:cNvGrpSpPr>
            <p:nvPr/>
          </p:nvGrpSpPr>
          <p:grpSpPr bwMode="auto">
            <a:xfrm>
              <a:off x="3676" y="1121"/>
              <a:ext cx="1898" cy="774"/>
              <a:chOff x="2796" y="854"/>
              <a:chExt cx="2748" cy="1121"/>
            </a:xfrm>
          </p:grpSpPr>
          <p:grpSp>
            <p:nvGrpSpPr>
              <p:cNvPr id="41444" name="Group 18"/>
              <p:cNvGrpSpPr>
                <a:grpSpLocks/>
              </p:cNvGrpSpPr>
              <p:nvPr/>
            </p:nvGrpSpPr>
            <p:grpSpPr bwMode="auto">
              <a:xfrm>
                <a:off x="3227" y="1844"/>
                <a:ext cx="513" cy="131"/>
                <a:chOff x="2201" y="2688"/>
                <a:chExt cx="1946" cy="577"/>
              </a:xfrm>
            </p:grpSpPr>
            <p:sp>
              <p:nvSpPr>
                <p:cNvPr id="41892" name="AutoShape 19"/>
                <p:cNvSpPr>
                  <a:spLocks noChangeArrowheads="1"/>
                </p:cNvSpPr>
                <p:nvPr/>
              </p:nvSpPr>
              <p:spPr bwMode="auto">
                <a:xfrm>
                  <a:off x="2934" y="3023"/>
                  <a:ext cx="181" cy="146"/>
                </a:xfrm>
                <a:prstGeom prst="parallelogram">
                  <a:avLst>
                    <a:gd name="adj" fmla="val 30993"/>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93" name="AutoShape 20"/>
                <p:cNvSpPr>
                  <a:spLocks noChangeArrowheads="1"/>
                </p:cNvSpPr>
                <p:nvPr/>
              </p:nvSpPr>
              <p:spPr bwMode="auto">
                <a:xfrm>
                  <a:off x="3030" y="3119"/>
                  <a:ext cx="181" cy="146"/>
                </a:xfrm>
                <a:prstGeom prst="parallelogram">
                  <a:avLst>
                    <a:gd name="adj" fmla="val 30993"/>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94" name="AutoShape 21"/>
                <p:cNvSpPr>
                  <a:spLocks noChangeArrowheads="1"/>
                </p:cNvSpPr>
                <p:nvPr/>
              </p:nvSpPr>
              <p:spPr bwMode="auto">
                <a:xfrm>
                  <a:off x="3329" y="2819"/>
                  <a:ext cx="181" cy="146"/>
                </a:xfrm>
                <a:prstGeom prst="parallelogram">
                  <a:avLst>
                    <a:gd name="adj" fmla="val 30993"/>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95" name="AutoShape 22"/>
                <p:cNvSpPr>
                  <a:spLocks noChangeArrowheads="1"/>
                </p:cNvSpPr>
                <p:nvPr/>
              </p:nvSpPr>
              <p:spPr bwMode="auto">
                <a:xfrm>
                  <a:off x="3425" y="3015"/>
                  <a:ext cx="181" cy="146"/>
                </a:xfrm>
                <a:prstGeom prst="parallelogram">
                  <a:avLst>
                    <a:gd name="adj" fmla="val 30993"/>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96" name="AutoShape 23"/>
                <p:cNvSpPr>
                  <a:spLocks noChangeArrowheads="1"/>
                </p:cNvSpPr>
                <p:nvPr/>
              </p:nvSpPr>
              <p:spPr bwMode="auto">
                <a:xfrm>
                  <a:off x="3570" y="2688"/>
                  <a:ext cx="181" cy="146"/>
                </a:xfrm>
                <a:prstGeom prst="parallelogram">
                  <a:avLst>
                    <a:gd name="adj" fmla="val 30993"/>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97" name="AutoShape 24"/>
                <p:cNvSpPr>
                  <a:spLocks noChangeArrowheads="1"/>
                </p:cNvSpPr>
                <p:nvPr/>
              </p:nvSpPr>
              <p:spPr bwMode="auto">
                <a:xfrm>
                  <a:off x="3666" y="2884"/>
                  <a:ext cx="181" cy="146"/>
                </a:xfrm>
                <a:prstGeom prst="parallelogram">
                  <a:avLst>
                    <a:gd name="adj" fmla="val 30993"/>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98" name="AutoShape 25"/>
                <p:cNvSpPr>
                  <a:spLocks noChangeArrowheads="1"/>
                </p:cNvSpPr>
                <p:nvPr/>
              </p:nvSpPr>
              <p:spPr bwMode="auto">
                <a:xfrm>
                  <a:off x="3026" y="2789"/>
                  <a:ext cx="181" cy="146"/>
                </a:xfrm>
                <a:prstGeom prst="parallelogram">
                  <a:avLst>
                    <a:gd name="adj" fmla="val 30993"/>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99" name="AutoShape 26"/>
                <p:cNvSpPr>
                  <a:spLocks noChangeArrowheads="1"/>
                </p:cNvSpPr>
                <p:nvPr/>
              </p:nvSpPr>
              <p:spPr bwMode="auto">
                <a:xfrm>
                  <a:off x="2201" y="2963"/>
                  <a:ext cx="181" cy="146"/>
                </a:xfrm>
                <a:prstGeom prst="parallelogram">
                  <a:avLst>
                    <a:gd name="adj" fmla="val 30993"/>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900" name="AutoShape 27"/>
                <p:cNvSpPr>
                  <a:spLocks noChangeArrowheads="1"/>
                </p:cNvSpPr>
                <p:nvPr/>
              </p:nvSpPr>
              <p:spPr bwMode="auto">
                <a:xfrm>
                  <a:off x="2297" y="3059"/>
                  <a:ext cx="181" cy="146"/>
                </a:xfrm>
                <a:prstGeom prst="parallelogram">
                  <a:avLst>
                    <a:gd name="adj" fmla="val 30993"/>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901" name="AutoShape 28"/>
                <p:cNvSpPr>
                  <a:spLocks noChangeArrowheads="1"/>
                </p:cNvSpPr>
                <p:nvPr/>
              </p:nvSpPr>
              <p:spPr bwMode="auto">
                <a:xfrm>
                  <a:off x="2596" y="2759"/>
                  <a:ext cx="181" cy="146"/>
                </a:xfrm>
                <a:prstGeom prst="parallelogram">
                  <a:avLst>
                    <a:gd name="adj" fmla="val 30993"/>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902" name="AutoShape 29"/>
                <p:cNvSpPr>
                  <a:spLocks noChangeArrowheads="1"/>
                </p:cNvSpPr>
                <p:nvPr/>
              </p:nvSpPr>
              <p:spPr bwMode="auto">
                <a:xfrm>
                  <a:off x="2692" y="2955"/>
                  <a:ext cx="181" cy="146"/>
                </a:xfrm>
                <a:prstGeom prst="parallelogram">
                  <a:avLst>
                    <a:gd name="adj" fmla="val 30993"/>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903" name="AutoShape 30"/>
                <p:cNvSpPr>
                  <a:spLocks noChangeArrowheads="1"/>
                </p:cNvSpPr>
                <p:nvPr/>
              </p:nvSpPr>
              <p:spPr bwMode="auto">
                <a:xfrm>
                  <a:off x="3870" y="2941"/>
                  <a:ext cx="181" cy="146"/>
                </a:xfrm>
                <a:prstGeom prst="parallelogram">
                  <a:avLst>
                    <a:gd name="adj" fmla="val 30993"/>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904" name="AutoShape 31"/>
                <p:cNvSpPr>
                  <a:spLocks noChangeArrowheads="1"/>
                </p:cNvSpPr>
                <p:nvPr/>
              </p:nvSpPr>
              <p:spPr bwMode="auto">
                <a:xfrm>
                  <a:off x="3966" y="3037"/>
                  <a:ext cx="181" cy="146"/>
                </a:xfrm>
                <a:prstGeom prst="parallelogram">
                  <a:avLst>
                    <a:gd name="adj" fmla="val 30993"/>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nvGrpSpPr>
              <p:cNvPr id="41445" name="Group 32"/>
              <p:cNvGrpSpPr>
                <a:grpSpLocks/>
              </p:cNvGrpSpPr>
              <p:nvPr/>
            </p:nvGrpSpPr>
            <p:grpSpPr bwMode="auto">
              <a:xfrm>
                <a:off x="3899" y="1843"/>
                <a:ext cx="513" cy="131"/>
                <a:chOff x="2201" y="2688"/>
                <a:chExt cx="1946" cy="577"/>
              </a:xfrm>
            </p:grpSpPr>
            <p:sp>
              <p:nvSpPr>
                <p:cNvPr id="41879" name="AutoShape 33"/>
                <p:cNvSpPr>
                  <a:spLocks noChangeArrowheads="1"/>
                </p:cNvSpPr>
                <p:nvPr/>
              </p:nvSpPr>
              <p:spPr bwMode="auto">
                <a:xfrm>
                  <a:off x="2934" y="3023"/>
                  <a:ext cx="181" cy="146"/>
                </a:xfrm>
                <a:prstGeom prst="parallelogram">
                  <a:avLst>
                    <a:gd name="adj" fmla="val 30993"/>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80" name="AutoShape 34"/>
                <p:cNvSpPr>
                  <a:spLocks noChangeArrowheads="1"/>
                </p:cNvSpPr>
                <p:nvPr/>
              </p:nvSpPr>
              <p:spPr bwMode="auto">
                <a:xfrm>
                  <a:off x="3030" y="3119"/>
                  <a:ext cx="181" cy="146"/>
                </a:xfrm>
                <a:prstGeom prst="parallelogram">
                  <a:avLst>
                    <a:gd name="adj" fmla="val 30993"/>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81" name="AutoShape 35"/>
                <p:cNvSpPr>
                  <a:spLocks noChangeArrowheads="1"/>
                </p:cNvSpPr>
                <p:nvPr/>
              </p:nvSpPr>
              <p:spPr bwMode="auto">
                <a:xfrm>
                  <a:off x="3329" y="2819"/>
                  <a:ext cx="181" cy="146"/>
                </a:xfrm>
                <a:prstGeom prst="parallelogram">
                  <a:avLst>
                    <a:gd name="adj" fmla="val 30993"/>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82" name="AutoShape 36"/>
                <p:cNvSpPr>
                  <a:spLocks noChangeArrowheads="1"/>
                </p:cNvSpPr>
                <p:nvPr/>
              </p:nvSpPr>
              <p:spPr bwMode="auto">
                <a:xfrm>
                  <a:off x="3425" y="3015"/>
                  <a:ext cx="181" cy="146"/>
                </a:xfrm>
                <a:prstGeom prst="parallelogram">
                  <a:avLst>
                    <a:gd name="adj" fmla="val 30993"/>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83" name="AutoShape 37"/>
                <p:cNvSpPr>
                  <a:spLocks noChangeArrowheads="1"/>
                </p:cNvSpPr>
                <p:nvPr/>
              </p:nvSpPr>
              <p:spPr bwMode="auto">
                <a:xfrm>
                  <a:off x="3570" y="2688"/>
                  <a:ext cx="181" cy="146"/>
                </a:xfrm>
                <a:prstGeom prst="parallelogram">
                  <a:avLst>
                    <a:gd name="adj" fmla="val 30993"/>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84" name="AutoShape 38"/>
                <p:cNvSpPr>
                  <a:spLocks noChangeArrowheads="1"/>
                </p:cNvSpPr>
                <p:nvPr/>
              </p:nvSpPr>
              <p:spPr bwMode="auto">
                <a:xfrm>
                  <a:off x="3666" y="2884"/>
                  <a:ext cx="181" cy="146"/>
                </a:xfrm>
                <a:prstGeom prst="parallelogram">
                  <a:avLst>
                    <a:gd name="adj" fmla="val 30993"/>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85" name="AutoShape 39"/>
                <p:cNvSpPr>
                  <a:spLocks noChangeArrowheads="1"/>
                </p:cNvSpPr>
                <p:nvPr/>
              </p:nvSpPr>
              <p:spPr bwMode="auto">
                <a:xfrm>
                  <a:off x="3026" y="2789"/>
                  <a:ext cx="181" cy="146"/>
                </a:xfrm>
                <a:prstGeom prst="parallelogram">
                  <a:avLst>
                    <a:gd name="adj" fmla="val 30993"/>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86" name="AutoShape 40"/>
                <p:cNvSpPr>
                  <a:spLocks noChangeArrowheads="1"/>
                </p:cNvSpPr>
                <p:nvPr/>
              </p:nvSpPr>
              <p:spPr bwMode="auto">
                <a:xfrm>
                  <a:off x="2201" y="2963"/>
                  <a:ext cx="181" cy="146"/>
                </a:xfrm>
                <a:prstGeom prst="parallelogram">
                  <a:avLst>
                    <a:gd name="adj" fmla="val 30993"/>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87" name="AutoShape 41"/>
                <p:cNvSpPr>
                  <a:spLocks noChangeArrowheads="1"/>
                </p:cNvSpPr>
                <p:nvPr/>
              </p:nvSpPr>
              <p:spPr bwMode="auto">
                <a:xfrm>
                  <a:off x="2297" y="3059"/>
                  <a:ext cx="181" cy="146"/>
                </a:xfrm>
                <a:prstGeom prst="parallelogram">
                  <a:avLst>
                    <a:gd name="adj" fmla="val 30993"/>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88" name="AutoShape 42"/>
                <p:cNvSpPr>
                  <a:spLocks noChangeArrowheads="1"/>
                </p:cNvSpPr>
                <p:nvPr/>
              </p:nvSpPr>
              <p:spPr bwMode="auto">
                <a:xfrm>
                  <a:off x="2596" y="2759"/>
                  <a:ext cx="181" cy="146"/>
                </a:xfrm>
                <a:prstGeom prst="parallelogram">
                  <a:avLst>
                    <a:gd name="adj" fmla="val 30993"/>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89" name="AutoShape 43"/>
                <p:cNvSpPr>
                  <a:spLocks noChangeArrowheads="1"/>
                </p:cNvSpPr>
                <p:nvPr/>
              </p:nvSpPr>
              <p:spPr bwMode="auto">
                <a:xfrm>
                  <a:off x="2692" y="2955"/>
                  <a:ext cx="181" cy="146"/>
                </a:xfrm>
                <a:prstGeom prst="parallelogram">
                  <a:avLst>
                    <a:gd name="adj" fmla="val 30993"/>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90" name="AutoShape 44"/>
                <p:cNvSpPr>
                  <a:spLocks noChangeArrowheads="1"/>
                </p:cNvSpPr>
                <p:nvPr/>
              </p:nvSpPr>
              <p:spPr bwMode="auto">
                <a:xfrm>
                  <a:off x="3870" y="2941"/>
                  <a:ext cx="181" cy="146"/>
                </a:xfrm>
                <a:prstGeom prst="parallelogram">
                  <a:avLst>
                    <a:gd name="adj" fmla="val 30993"/>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91" name="AutoShape 45"/>
                <p:cNvSpPr>
                  <a:spLocks noChangeArrowheads="1"/>
                </p:cNvSpPr>
                <p:nvPr/>
              </p:nvSpPr>
              <p:spPr bwMode="auto">
                <a:xfrm>
                  <a:off x="3966" y="3037"/>
                  <a:ext cx="181" cy="146"/>
                </a:xfrm>
                <a:prstGeom prst="parallelogram">
                  <a:avLst>
                    <a:gd name="adj" fmla="val 30993"/>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nvGrpSpPr>
              <p:cNvPr id="41446" name="Group 46"/>
              <p:cNvGrpSpPr>
                <a:grpSpLocks/>
              </p:cNvGrpSpPr>
              <p:nvPr/>
            </p:nvGrpSpPr>
            <p:grpSpPr bwMode="auto">
              <a:xfrm>
                <a:off x="4503" y="1773"/>
                <a:ext cx="513" cy="132"/>
                <a:chOff x="2201" y="2688"/>
                <a:chExt cx="1946" cy="577"/>
              </a:xfrm>
            </p:grpSpPr>
            <p:sp>
              <p:nvSpPr>
                <p:cNvPr id="41866" name="AutoShape 47"/>
                <p:cNvSpPr>
                  <a:spLocks noChangeArrowheads="1"/>
                </p:cNvSpPr>
                <p:nvPr/>
              </p:nvSpPr>
              <p:spPr bwMode="auto">
                <a:xfrm>
                  <a:off x="2934" y="3023"/>
                  <a:ext cx="181" cy="146"/>
                </a:xfrm>
                <a:prstGeom prst="parallelogram">
                  <a:avLst>
                    <a:gd name="adj" fmla="val 30993"/>
                  </a:avLst>
                </a:prstGeom>
                <a:solidFill>
                  <a:schemeClr val="hlink"/>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67" name="AutoShape 48"/>
                <p:cNvSpPr>
                  <a:spLocks noChangeArrowheads="1"/>
                </p:cNvSpPr>
                <p:nvPr/>
              </p:nvSpPr>
              <p:spPr bwMode="auto">
                <a:xfrm>
                  <a:off x="3030" y="3119"/>
                  <a:ext cx="181" cy="146"/>
                </a:xfrm>
                <a:prstGeom prst="parallelogram">
                  <a:avLst>
                    <a:gd name="adj" fmla="val 30993"/>
                  </a:avLst>
                </a:prstGeom>
                <a:solidFill>
                  <a:schemeClr val="hlink"/>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68" name="AutoShape 49"/>
                <p:cNvSpPr>
                  <a:spLocks noChangeArrowheads="1"/>
                </p:cNvSpPr>
                <p:nvPr/>
              </p:nvSpPr>
              <p:spPr bwMode="auto">
                <a:xfrm>
                  <a:off x="3329" y="2819"/>
                  <a:ext cx="181" cy="146"/>
                </a:xfrm>
                <a:prstGeom prst="parallelogram">
                  <a:avLst>
                    <a:gd name="adj" fmla="val 30993"/>
                  </a:avLst>
                </a:prstGeom>
                <a:solidFill>
                  <a:schemeClr val="hlink"/>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69" name="AutoShape 50"/>
                <p:cNvSpPr>
                  <a:spLocks noChangeArrowheads="1"/>
                </p:cNvSpPr>
                <p:nvPr/>
              </p:nvSpPr>
              <p:spPr bwMode="auto">
                <a:xfrm>
                  <a:off x="3425" y="3015"/>
                  <a:ext cx="181" cy="146"/>
                </a:xfrm>
                <a:prstGeom prst="parallelogram">
                  <a:avLst>
                    <a:gd name="adj" fmla="val 30993"/>
                  </a:avLst>
                </a:prstGeom>
                <a:solidFill>
                  <a:schemeClr val="hlink"/>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70" name="AutoShape 51"/>
                <p:cNvSpPr>
                  <a:spLocks noChangeArrowheads="1"/>
                </p:cNvSpPr>
                <p:nvPr/>
              </p:nvSpPr>
              <p:spPr bwMode="auto">
                <a:xfrm>
                  <a:off x="3570" y="2688"/>
                  <a:ext cx="181" cy="146"/>
                </a:xfrm>
                <a:prstGeom prst="parallelogram">
                  <a:avLst>
                    <a:gd name="adj" fmla="val 30993"/>
                  </a:avLst>
                </a:prstGeom>
                <a:solidFill>
                  <a:schemeClr val="hlink"/>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71" name="AutoShape 52"/>
                <p:cNvSpPr>
                  <a:spLocks noChangeArrowheads="1"/>
                </p:cNvSpPr>
                <p:nvPr/>
              </p:nvSpPr>
              <p:spPr bwMode="auto">
                <a:xfrm>
                  <a:off x="3666" y="2884"/>
                  <a:ext cx="181" cy="146"/>
                </a:xfrm>
                <a:prstGeom prst="parallelogram">
                  <a:avLst>
                    <a:gd name="adj" fmla="val 30993"/>
                  </a:avLst>
                </a:prstGeom>
                <a:solidFill>
                  <a:schemeClr val="hlink"/>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72" name="AutoShape 53"/>
                <p:cNvSpPr>
                  <a:spLocks noChangeArrowheads="1"/>
                </p:cNvSpPr>
                <p:nvPr/>
              </p:nvSpPr>
              <p:spPr bwMode="auto">
                <a:xfrm>
                  <a:off x="3026" y="2789"/>
                  <a:ext cx="181" cy="146"/>
                </a:xfrm>
                <a:prstGeom prst="parallelogram">
                  <a:avLst>
                    <a:gd name="adj" fmla="val 30993"/>
                  </a:avLst>
                </a:prstGeom>
                <a:solidFill>
                  <a:schemeClr val="hlink"/>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73" name="AutoShape 54"/>
                <p:cNvSpPr>
                  <a:spLocks noChangeArrowheads="1"/>
                </p:cNvSpPr>
                <p:nvPr/>
              </p:nvSpPr>
              <p:spPr bwMode="auto">
                <a:xfrm>
                  <a:off x="2201" y="2963"/>
                  <a:ext cx="181" cy="146"/>
                </a:xfrm>
                <a:prstGeom prst="parallelogram">
                  <a:avLst>
                    <a:gd name="adj" fmla="val 30993"/>
                  </a:avLst>
                </a:prstGeom>
                <a:solidFill>
                  <a:schemeClr val="hlink"/>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74" name="AutoShape 55"/>
                <p:cNvSpPr>
                  <a:spLocks noChangeArrowheads="1"/>
                </p:cNvSpPr>
                <p:nvPr/>
              </p:nvSpPr>
              <p:spPr bwMode="auto">
                <a:xfrm>
                  <a:off x="2297" y="3059"/>
                  <a:ext cx="181" cy="146"/>
                </a:xfrm>
                <a:prstGeom prst="parallelogram">
                  <a:avLst>
                    <a:gd name="adj" fmla="val 30993"/>
                  </a:avLst>
                </a:prstGeom>
                <a:solidFill>
                  <a:schemeClr val="hlink"/>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75" name="AutoShape 56"/>
                <p:cNvSpPr>
                  <a:spLocks noChangeArrowheads="1"/>
                </p:cNvSpPr>
                <p:nvPr/>
              </p:nvSpPr>
              <p:spPr bwMode="auto">
                <a:xfrm>
                  <a:off x="2596" y="2759"/>
                  <a:ext cx="181" cy="146"/>
                </a:xfrm>
                <a:prstGeom prst="parallelogram">
                  <a:avLst>
                    <a:gd name="adj" fmla="val 30993"/>
                  </a:avLst>
                </a:prstGeom>
                <a:solidFill>
                  <a:schemeClr val="hlink"/>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76" name="AutoShape 57"/>
                <p:cNvSpPr>
                  <a:spLocks noChangeArrowheads="1"/>
                </p:cNvSpPr>
                <p:nvPr/>
              </p:nvSpPr>
              <p:spPr bwMode="auto">
                <a:xfrm>
                  <a:off x="2692" y="2955"/>
                  <a:ext cx="181" cy="146"/>
                </a:xfrm>
                <a:prstGeom prst="parallelogram">
                  <a:avLst>
                    <a:gd name="adj" fmla="val 30993"/>
                  </a:avLst>
                </a:prstGeom>
                <a:solidFill>
                  <a:schemeClr val="hlink"/>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77" name="AutoShape 58"/>
                <p:cNvSpPr>
                  <a:spLocks noChangeArrowheads="1"/>
                </p:cNvSpPr>
                <p:nvPr/>
              </p:nvSpPr>
              <p:spPr bwMode="auto">
                <a:xfrm>
                  <a:off x="3870" y="2941"/>
                  <a:ext cx="181" cy="146"/>
                </a:xfrm>
                <a:prstGeom prst="parallelogram">
                  <a:avLst>
                    <a:gd name="adj" fmla="val 30993"/>
                  </a:avLst>
                </a:prstGeom>
                <a:solidFill>
                  <a:schemeClr val="hlink"/>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78" name="AutoShape 59"/>
                <p:cNvSpPr>
                  <a:spLocks noChangeArrowheads="1"/>
                </p:cNvSpPr>
                <p:nvPr/>
              </p:nvSpPr>
              <p:spPr bwMode="auto">
                <a:xfrm>
                  <a:off x="3966" y="3037"/>
                  <a:ext cx="181" cy="146"/>
                </a:xfrm>
                <a:prstGeom prst="parallelogram">
                  <a:avLst>
                    <a:gd name="adj" fmla="val 30993"/>
                  </a:avLst>
                </a:prstGeom>
                <a:solidFill>
                  <a:schemeClr val="hlink"/>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sp>
            <p:nvSpPr>
              <p:cNvPr id="41447" name="Line 60"/>
              <p:cNvSpPr>
                <a:spLocks noChangeShapeType="1"/>
              </p:cNvSpPr>
              <p:nvPr/>
            </p:nvSpPr>
            <p:spPr bwMode="auto">
              <a:xfrm flipH="1">
                <a:off x="3290" y="1425"/>
                <a:ext cx="831" cy="424"/>
              </a:xfrm>
              <a:prstGeom prst="line">
                <a:avLst/>
              </a:prstGeom>
              <a:noFill/>
              <a:ln w="12700">
                <a:solidFill>
                  <a:schemeClr val="tx1"/>
                </a:solidFill>
                <a:prstDash val="sysDot"/>
                <a:round/>
                <a:headEnd type="none" w="sm" len="sm"/>
                <a:tailEnd type="none" w="sm" len="sm"/>
              </a:ln>
              <a:extLst>
                <a:ext uri="{909E8E84-426E-40dd-AFC4-6F175D3DCCD1}">
                  <a14:hiddenFill xmlns:a14="http://schemas.microsoft.com/office/drawing/2010/main" xmlns="">
                    <a:noFill/>
                  </a14:hiddenFill>
                </a:ext>
              </a:extLst>
            </p:spPr>
            <p:txBody>
              <a:bodyPr wrap="none" anchor="ctr"/>
              <a:lstStyle/>
              <a:p>
                <a:endParaRPr lang="en-US"/>
              </a:p>
            </p:txBody>
          </p:sp>
          <p:sp>
            <p:nvSpPr>
              <p:cNvPr id="41448" name="Line 61"/>
              <p:cNvSpPr>
                <a:spLocks noChangeShapeType="1"/>
              </p:cNvSpPr>
              <p:nvPr/>
            </p:nvSpPr>
            <p:spPr bwMode="auto">
              <a:xfrm flipH="1">
                <a:off x="3659" y="1431"/>
                <a:ext cx="460" cy="405"/>
              </a:xfrm>
              <a:prstGeom prst="line">
                <a:avLst/>
              </a:prstGeom>
              <a:noFill/>
              <a:ln w="12700">
                <a:solidFill>
                  <a:schemeClr val="tx1"/>
                </a:solidFill>
                <a:prstDash val="sysDot"/>
                <a:round/>
                <a:headEnd type="none" w="sm" len="sm"/>
                <a:tailEnd type="none" w="sm" len="sm"/>
              </a:ln>
              <a:extLst>
                <a:ext uri="{909E8E84-426E-40dd-AFC4-6F175D3DCCD1}">
                  <a14:hiddenFill xmlns:a14="http://schemas.microsoft.com/office/drawing/2010/main" xmlns="">
                    <a:noFill/>
                  </a14:hiddenFill>
                </a:ext>
              </a:extLst>
            </p:spPr>
            <p:txBody>
              <a:bodyPr wrap="none" anchor="ctr"/>
              <a:lstStyle/>
              <a:p>
                <a:endParaRPr lang="en-US"/>
              </a:p>
            </p:txBody>
          </p:sp>
          <p:sp>
            <p:nvSpPr>
              <p:cNvPr id="41449" name="Line 62"/>
              <p:cNvSpPr>
                <a:spLocks noChangeShapeType="1"/>
              </p:cNvSpPr>
              <p:nvPr/>
            </p:nvSpPr>
            <p:spPr bwMode="auto">
              <a:xfrm flipH="1">
                <a:off x="3921" y="1545"/>
                <a:ext cx="277" cy="326"/>
              </a:xfrm>
              <a:prstGeom prst="line">
                <a:avLst/>
              </a:prstGeom>
              <a:noFill/>
              <a:ln w="12700">
                <a:solidFill>
                  <a:schemeClr val="tx1"/>
                </a:solidFill>
                <a:prstDash val="sysDot"/>
                <a:round/>
                <a:headEnd type="none" w="sm" len="sm"/>
                <a:tailEnd type="none" w="sm" len="sm"/>
              </a:ln>
              <a:extLst>
                <a:ext uri="{909E8E84-426E-40dd-AFC4-6F175D3DCCD1}">
                  <a14:hiddenFill xmlns:a14="http://schemas.microsoft.com/office/drawing/2010/main" xmlns="">
                    <a:noFill/>
                  </a14:hiddenFill>
                </a:ext>
              </a:extLst>
            </p:spPr>
            <p:txBody>
              <a:bodyPr wrap="none" anchor="ctr"/>
              <a:lstStyle/>
              <a:p>
                <a:endParaRPr lang="en-US"/>
              </a:p>
            </p:txBody>
          </p:sp>
          <p:sp>
            <p:nvSpPr>
              <p:cNvPr id="41450" name="Line 63"/>
              <p:cNvSpPr>
                <a:spLocks noChangeShapeType="1"/>
              </p:cNvSpPr>
              <p:nvPr/>
            </p:nvSpPr>
            <p:spPr bwMode="auto">
              <a:xfrm>
                <a:off x="4195" y="1551"/>
                <a:ext cx="147" cy="315"/>
              </a:xfrm>
              <a:prstGeom prst="line">
                <a:avLst/>
              </a:prstGeom>
              <a:noFill/>
              <a:ln w="12700">
                <a:solidFill>
                  <a:schemeClr val="tx1"/>
                </a:solidFill>
                <a:prstDash val="sysDot"/>
                <a:round/>
                <a:headEnd type="none" w="sm" len="sm"/>
                <a:tailEnd type="none" w="sm" len="sm"/>
              </a:ln>
              <a:extLst>
                <a:ext uri="{909E8E84-426E-40dd-AFC4-6F175D3DCCD1}">
                  <a14:hiddenFill xmlns:a14="http://schemas.microsoft.com/office/drawing/2010/main" xmlns="">
                    <a:noFill/>
                  </a14:hiddenFill>
                </a:ext>
              </a:extLst>
            </p:spPr>
            <p:txBody>
              <a:bodyPr wrap="none" anchor="ctr"/>
              <a:lstStyle/>
              <a:p>
                <a:endParaRPr lang="en-US"/>
              </a:p>
            </p:txBody>
          </p:sp>
          <p:grpSp>
            <p:nvGrpSpPr>
              <p:cNvPr id="41451" name="Group 64"/>
              <p:cNvGrpSpPr>
                <a:grpSpLocks/>
              </p:cNvGrpSpPr>
              <p:nvPr/>
            </p:nvGrpSpPr>
            <p:grpSpPr bwMode="auto">
              <a:xfrm>
                <a:off x="2796" y="1732"/>
                <a:ext cx="513" cy="132"/>
                <a:chOff x="2201" y="2688"/>
                <a:chExt cx="1946" cy="577"/>
              </a:xfrm>
            </p:grpSpPr>
            <p:sp>
              <p:nvSpPr>
                <p:cNvPr id="41853" name="AutoShape 65"/>
                <p:cNvSpPr>
                  <a:spLocks noChangeArrowheads="1"/>
                </p:cNvSpPr>
                <p:nvPr/>
              </p:nvSpPr>
              <p:spPr bwMode="auto">
                <a:xfrm>
                  <a:off x="2934" y="3023"/>
                  <a:ext cx="181" cy="146"/>
                </a:xfrm>
                <a:prstGeom prst="parallelogram">
                  <a:avLst>
                    <a:gd name="adj" fmla="val 30993"/>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54" name="AutoShape 66"/>
                <p:cNvSpPr>
                  <a:spLocks noChangeArrowheads="1"/>
                </p:cNvSpPr>
                <p:nvPr/>
              </p:nvSpPr>
              <p:spPr bwMode="auto">
                <a:xfrm>
                  <a:off x="3030" y="3119"/>
                  <a:ext cx="181" cy="146"/>
                </a:xfrm>
                <a:prstGeom prst="parallelogram">
                  <a:avLst>
                    <a:gd name="adj" fmla="val 30993"/>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55" name="AutoShape 67"/>
                <p:cNvSpPr>
                  <a:spLocks noChangeArrowheads="1"/>
                </p:cNvSpPr>
                <p:nvPr/>
              </p:nvSpPr>
              <p:spPr bwMode="auto">
                <a:xfrm>
                  <a:off x="3329" y="2819"/>
                  <a:ext cx="181" cy="146"/>
                </a:xfrm>
                <a:prstGeom prst="parallelogram">
                  <a:avLst>
                    <a:gd name="adj" fmla="val 30993"/>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56" name="AutoShape 68"/>
                <p:cNvSpPr>
                  <a:spLocks noChangeArrowheads="1"/>
                </p:cNvSpPr>
                <p:nvPr/>
              </p:nvSpPr>
              <p:spPr bwMode="auto">
                <a:xfrm>
                  <a:off x="3425" y="3015"/>
                  <a:ext cx="181" cy="146"/>
                </a:xfrm>
                <a:prstGeom prst="parallelogram">
                  <a:avLst>
                    <a:gd name="adj" fmla="val 30993"/>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57" name="AutoShape 69"/>
                <p:cNvSpPr>
                  <a:spLocks noChangeArrowheads="1"/>
                </p:cNvSpPr>
                <p:nvPr/>
              </p:nvSpPr>
              <p:spPr bwMode="auto">
                <a:xfrm>
                  <a:off x="3570" y="2688"/>
                  <a:ext cx="181" cy="146"/>
                </a:xfrm>
                <a:prstGeom prst="parallelogram">
                  <a:avLst>
                    <a:gd name="adj" fmla="val 30993"/>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58" name="AutoShape 70"/>
                <p:cNvSpPr>
                  <a:spLocks noChangeArrowheads="1"/>
                </p:cNvSpPr>
                <p:nvPr/>
              </p:nvSpPr>
              <p:spPr bwMode="auto">
                <a:xfrm>
                  <a:off x="3666" y="2884"/>
                  <a:ext cx="181" cy="146"/>
                </a:xfrm>
                <a:prstGeom prst="parallelogram">
                  <a:avLst>
                    <a:gd name="adj" fmla="val 30993"/>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59" name="AutoShape 71"/>
                <p:cNvSpPr>
                  <a:spLocks noChangeArrowheads="1"/>
                </p:cNvSpPr>
                <p:nvPr/>
              </p:nvSpPr>
              <p:spPr bwMode="auto">
                <a:xfrm>
                  <a:off x="3026" y="2789"/>
                  <a:ext cx="181" cy="146"/>
                </a:xfrm>
                <a:prstGeom prst="parallelogram">
                  <a:avLst>
                    <a:gd name="adj" fmla="val 30993"/>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60" name="AutoShape 72"/>
                <p:cNvSpPr>
                  <a:spLocks noChangeArrowheads="1"/>
                </p:cNvSpPr>
                <p:nvPr/>
              </p:nvSpPr>
              <p:spPr bwMode="auto">
                <a:xfrm>
                  <a:off x="2201" y="2963"/>
                  <a:ext cx="181" cy="146"/>
                </a:xfrm>
                <a:prstGeom prst="parallelogram">
                  <a:avLst>
                    <a:gd name="adj" fmla="val 30993"/>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61" name="AutoShape 73"/>
                <p:cNvSpPr>
                  <a:spLocks noChangeArrowheads="1"/>
                </p:cNvSpPr>
                <p:nvPr/>
              </p:nvSpPr>
              <p:spPr bwMode="auto">
                <a:xfrm>
                  <a:off x="2297" y="3059"/>
                  <a:ext cx="181" cy="146"/>
                </a:xfrm>
                <a:prstGeom prst="parallelogram">
                  <a:avLst>
                    <a:gd name="adj" fmla="val 30993"/>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62" name="AutoShape 74"/>
                <p:cNvSpPr>
                  <a:spLocks noChangeArrowheads="1"/>
                </p:cNvSpPr>
                <p:nvPr/>
              </p:nvSpPr>
              <p:spPr bwMode="auto">
                <a:xfrm>
                  <a:off x="2596" y="2759"/>
                  <a:ext cx="181" cy="146"/>
                </a:xfrm>
                <a:prstGeom prst="parallelogram">
                  <a:avLst>
                    <a:gd name="adj" fmla="val 30993"/>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63" name="AutoShape 75"/>
                <p:cNvSpPr>
                  <a:spLocks noChangeArrowheads="1"/>
                </p:cNvSpPr>
                <p:nvPr/>
              </p:nvSpPr>
              <p:spPr bwMode="auto">
                <a:xfrm>
                  <a:off x="2692" y="2955"/>
                  <a:ext cx="181" cy="146"/>
                </a:xfrm>
                <a:prstGeom prst="parallelogram">
                  <a:avLst>
                    <a:gd name="adj" fmla="val 30993"/>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64" name="AutoShape 76"/>
                <p:cNvSpPr>
                  <a:spLocks noChangeArrowheads="1"/>
                </p:cNvSpPr>
                <p:nvPr/>
              </p:nvSpPr>
              <p:spPr bwMode="auto">
                <a:xfrm>
                  <a:off x="3870" y="2941"/>
                  <a:ext cx="181" cy="146"/>
                </a:xfrm>
                <a:prstGeom prst="parallelogram">
                  <a:avLst>
                    <a:gd name="adj" fmla="val 30993"/>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65" name="AutoShape 77"/>
                <p:cNvSpPr>
                  <a:spLocks noChangeArrowheads="1"/>
                </p:cNvSpPr>
                <p:nvPr/>
              </p:nvSpPr>
              <p:spPr bwMode="auto">
                <a:xfrm>
                  <a:off x="3966" y="3037"/>
                  <a:ext cx="181" cy="146"/>
                </a:xfrm>
                <a:prstGeom prst="parallelogram">
                  <a:avLst>
                    <a:gd name="adj" fmla="val 30993"/>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sp>
            <p:nvSpPr>
              <p:cNvPr id="41452" name="Line 78"/>
              <p:cNvSpPr>
                <a:spLocks noChangeShapeType="1"/>
              </p:cNvSpPr>
              <p:nvPr/>
            </p:nvSpPr>
            <p:spPr bwMode="auto">
              <a:xfrm flipH="1">
                <a:off x="2896" y="1427"/>
                <a:ext cx="543" cy="366"/>
              </a:xfrm>
              <a:prstGeom prst="line">
                <a:avLst/>
              </a:prstGeom>
              <a:noFill/>
              <a:ln w="12700">
                <a:solidFill>
                  <a:schemeClr val="tx1"/>
                </a:solidFill>
                <a:prstDash val="sysDot"/>
                <a:round/>
                <a:headEnd type="none" w="sm" len="sm"/>
                <a:tailEnd type="none" w="sm" len="sm"/>
              </a:ln>
              <a:extLst>
                <a:ext uri="{909E8E84-426E-40dd-AFC4-6F175D3DCCD1}">
                  <a14:hiddenFill xmlns:a14="http://schemas.microsoft.com/office/drawing/2010/main" xmlns="">
                    <a:noFill/>
                  </a14:hiddenFill>
                </a:ext>
              </a:extLst>
            </p:spPr>
            <p:txBody>
              <a:bodyPr wrap="none" anchor="ctr"/>
              <a:lstStyle/>
              <a:p>
                <a:endParaRPr lang="en-US"/>
              </a:p>
            </p:txBody>
          </p:sp>
          <p:grpSp>
            <p:nvGrpSpPr>
              <p:cNvPr id="41453" name="Group 79"/>
              <p:cNvGrpSpPr>
                <a:grpSpLocks/>
              </p:cNvGrpSpPr>
              <p:nvPr/>
            </p:nvGrpSpPr>
            <p:grpSpPr bwMode="auto">
              <a:xfrm>
                <a:off x="4878" y="1324"/>
                <a:ext cx="184" cy="73"/>
                <a:chOff x="1024" y="3264"/>
                <a:chExt cx="320" cy="296"/>
              </a:xfrm>
            </p:grpSpPr>
            <p:sp>
              <p:nvSpPr>
                <p:cNvPr id="41849" name="Rectangle 80"/>
                <p:cNvSpPr>
                  <a:spLocks noChangeArrowheads="1"/>
                </p:cNvSpPr>
                <p:nvPr/>
              </p:nvSpPr>
              <p:spPr bwMode="auto">
                <a:xfrm>
                  <a:off x="1024" y="3376"/>
                  <a:ext cx="192" cy="184"/>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50" name="Rectangle 81"/>
                <p:cNvSpPr>
                  <a:spLocks noChangeArrowheads="1"/>
                </p:cNvSpPr>
                <p:nvPr/>
              </p:nvSpPr>
              <p:spPr bwMode="auto">
                <a:xfrm>
                  <a:off x="1072" y="3336"/>
                  <a:ext cx="192" cy="184"/>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51" name="Rectangle 82"/>
                <p:cNvSpPr>
                  <a:spLocks noChangeArrowheads="1"/>
                </p:cNvSpPr>
                <p:nvPr/>
              </p:nvSpPr>
              <p:spPr bwMode="auto">
                <a:xfrm>
                  <a:off x="1112" y="3296"/>
                  <a:ext cx="192" cy="184"/>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52" name="Rectangle 83"/>
                <p:cNvSpPr>
                  <a:spLocks noChangeArrowheads="1"/>
                </p:cNvSpPr>
                <p:nvPr/>
              </p:nvSpPr>
              <p:spPr bwMode="auto">
                <a:xfrm>
                  <a:off x="1152" y="3264"/>
                  <a:ext cx="192" cy="184"/>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nvGrpSpPr>
              <p:cNvPr id="41454" name="Group 84"/>
              <p:cNvGrpSpPr>
                <a:grpSpLocks/>
              </p:cNvGrpSpPr>
              <p:nvPr/>
            </p:nvGrpSpPr>
            <p:grpSpPr bwMode="auto">
              <a:xfrm>
                <a:off x="3658" y="909"/>
                <a:ext cx="990" cy="315"/>
                <a:chOff x="1832" y="1576"/>
                <a:chExt cx="1720" cy="1272"/>
              </a:xfrm>
            </p:grpSpPr>
            <p:grpSp>
              <p:nvGrpSpPr>
                <p:cNvPr id="41701" name="Group 85"/>
                <p:cNvGrpSpPr>
                  <a:grpSpLocks/>
                </p:cNvGrpSpPr>
                <p:nvPr/>
              </p:nvGrpSpPr>
              <p:grpSpPr bwMode="auto">
                <a:xfrm>
                  <a:off x="1832" y="1992"/>
                  <a:ext cx="888" cy="648"/>
                  <a:chOff x="1752" y="2224"/>
                  <a:chExt cx="888" cy="648"/>
                </a:xfrm>
              </p:grpSpPr>
              <p:grpSp>
                <p:nvGrpSpPr>
                  <p:cNvPr id="41813" name="Group 86"/>
                  <p:cNvGrpSpPr>
                    <a:grpSpLocks/>
                  </p:cNvGrpSpPr>
                  <p:nvPr/>
                </p:nvGrpSpPr>
                <p:grpSpPr bwMode="auto">
                  <a:xfrm>
                    <a:off x="1752" y="2224"/>
                    <a:ext cx="496" cy="528"/>
                    <a:chOff x="2016" y="2000"/>
                    <a:chExt cx="496" cy="528"/>
                  </a:xfrm>
                </p:grpSpPr>
                <p:sp>
                  <p:nvSpPr>
                    <p:cNvPr id="41841" name="Rectangle 87"/>
                    <p:cNvSpPr>
                      <a:spLocks noChangeArrowheads="1"/>
                    </p:cNvSpPr>
                    <p:nvPr/>
                  </p:nvSpPr>
                  <p:spPr bwMode="auto">
                    <a:xfrm>
                      <a:off x="2016" y="2368"/>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42" name="Rectangle 88"/>
                    <p:cNvSpPr>
                      <a:spLocks noChangeArrowheads="1"/>
                    </p:cNvSpPr>
                    <p:nvPr/>
                  </p:nvSpPr>
                  <p:spPr bwMode="auto">
                    <a:xfrm>
                      <a:off x="2064" y="2312"/>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43" name="Rectangle 89"/>
                    <p:cNvSpPr>
                      <a:spLocks noChangeArrowheads="1"/>
                    </p:cNvSpPr>
                    <p:nvPr/>
                  </p:nvSpPr>
                  <p:spPr bwMode="auto">
                    <a:xfrm>
                      <a:off x="2112" y="2264"/>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44" name="Rectangle 90"/>
                    <p:cNvSpPr>
                      <a:spLocks noChangeArrowheads="1"/>
                    </p:cNvSpPr>
                    <p:nvPr/>
                  </p:nvSpPr>
                  <p:spPr bwMode="auto">
                    <a:xfrm>
                      <a:off x="2160" y="2208"/>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45" name="Rectangle 91"/>
                    <p:cNvSpPr>
                      <a:spLocks noChangeArrowheads="1"/>
                    </p:cNvSpPr>
                    <p:nvPr/>
                  </p:nvSpPr>
                  <p:spPr bwMode="auto">
                    <a:xfrm>
                      <a:off x="2200" y="2160"/>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46" name="Rectangle 92"/>
                    <p:cNvSpPr>
                      <a:spLocks noChangeArrowheads="1"/>
                    </p:cNvSpPr>
                    <p:nvPr/>
                  </p:nvSpPr>
                  <p:spPr bwMode="auto">
                    <a:xfrm>
                      <a:off x="2248" y="2104"/>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47" name="Rectangle 93"/>
                    <p:cNvSpPr>
                      <a:spLocks noChangeArrowheads="1"/>
                    </p:cNvSpPr>
                    <p:nvPr/>
                  </p:nvSpPr>
                  <p:spPr bwMode="auto">
                    <a:xfrm>
                      <a:off x="2296" y="2056"/>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48" name="Rectangle 94"/>
                    <p:cNvSpPr>
                      <a:spLocks noChangeArrowheads="1"/>
                    </p:cNvSpPr>
                    <p:nvPr/>
                  </p:nvSpPr>
                  <p:spPr bwMode="auto">
                    <a:xfrm>
                      <a:off x="2344" y="2000"/>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nvGrpSpPr>
                  <p:cNvPr id="41814" name="Group 95"/>
                  <p:cNvGrpSpPr>
                    <a:grpSpLocks/>
                  </p:cNvGrpSpPr>
                  <p:nvPr/>
                </p:nvGrpSpPr>
                <p:grpSpPr bwMode="auto">
                  <a:xfrm>
                    <a:off x="1896" y="2256"/>
                    <a:ext cx="496" cy="528"/>
                    <a:chOff x="2016" y="2000"/>
                    <a:chExt cx="496" cy="528"/>
                  </a:xfrm>
                </p:grpSpPr>
                <p:sp>
                  <p:nvSpPr>
                    <p:cNvPr id="41833" name="Rectangle 96"/>
                    <p:cNvSpPr>
                      <a:spLocks noChangeArrowheads="1"/>
                    </p:cNvSpPr>
                    <p:nvPr/>
                  </p:nvSpPr>
                  <p:spPr bwMode="auto">
                    <a:xfrm>
                      <a:off x="2016" y="2368"/>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34" name="Rectangle 97"/>
                    <p:cNvSpPr>
                      <a:spLocks noChangeArrowheads="1"/>
                    </p:cNvSpPr>
                    <p:nvPr/>
                  </p:nvSpPr>
                  <p:spPr bwMode="auto">
                    <a:xfrm>
                      <a:off x="2064" y="2312"/>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35" name="Rectangle 98"/>
                    <p:cNvSpPr>
                      <a:spLocks noChangeArrowheads="1"/>
                    </p:cNvSpPr>
                    <p:nvPr/>
                  </p:nvSpPr>
                  <p:spPr bwMode="auto">
                    <a:xfrm>
                      <a:off x="2112" y="2264"/>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36" name="Rectangle 99"/>
                    <p:cNvSpPr>
                      <a:spLocks noChangeArrowheads="1"/>
                    </p:cNvSpPr>
                    <p:nvPr/>
                  </p:nvSpPr>
                  <p:spPr bwMode="auto">
                    <a:xfrm>
                      <a:off x="2160" y="2208"/>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37" name="Rectangle 100"/>
                    <p:cNvSpPr>
                      <a:spLocks noChangeArrowheads="1"/>
                    </p:cNvSpPr>
                    <p:nvPr/>
                  </p:nvSpPr>
                  <p:spPr bwMode="auto">
                    <a:xfrm>
                      <a:off x="2200" y="2160"/>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38" name="Rectangle 101"/>
                    <p:cNvSpPr>
                      <a:spLocks noChangeArrowheads="1"/>
                    </p:cNvSpPr>
                    <p:nvPr/>
                  </p:nvSpPr>
                  <p:spPr bwMode="auto">
                    <a:xfrm>
                      <a:off x="2248" y="2104"/>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39" name="Rectangle 102"/>
                    <p:cNvSpPr>
                      <a:spLocks noChangeArrowheads="1"/>
                    </p:cNvSpPr>
                    <p:nvPr/>
                  </p:nvSpPr>
                  <p:spPr bwMode="auto">
                    <a:xfrm>
                      <a:off x="2296" y="2056"/>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40" name="Rectangle 103"/>
                    <p:cNvSpPr>
                      <a:spLocks noChangeArrowheads="1"/>
                    </p:cNvSpPr>
                    <p:nvPr/>
                  </p:nvSpPr>
                  <p:spPr bwMode="auto">
                    <a:xfrm>
                      <a:off x="2344" y="2000"/>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nvGrpSpPr>
                  <p:cNvPr id="41815" name="Group 104"/>
                  <p:cNvGrpSpPr>
                    <a:grpSpLocks/>
                  </p:cNvGrpSpPr>
                  <p:nvPr/>
                </p:nvGrpSpPr>
                <p:grpSpPr bwMode="auto">
                  <a:xfrm>
                    <a:off x="2000" y="2312"/>
                    <a:ext cx="496" cy="528"/>
                    <a:chOff x="2016" y="2000"/>
                    <a:chExt cx="496" cy="528"/>
                  </a:xfrm>
                </p:grpSpPr>
                <p:sp>
                  <p:nvSpPr>
                    <p:cNvPr id="41825" name="Rectangle 105"/>
                    <p:cNvSpPr>
                      <a:spLocks noChangeArrowheads="1"/>
                    </p:cNvSpPr>
                    <p:nvPr/>
                  </p:nvSpPr>
                  <p:spPr bwMode="auto">
                    <a:xfrm>
                      <a:off x="2016" y="2368"/>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26" name="Rectangle 106"/>
                    <p:cNvSpPr>
                      <a:spLocks noChangeArrowheads="1"/>
                    </p:cNvSpPr>
                    <p:nvPr/>
                  </p:nvSpPr>
                  <p:spPr bwMode="auto">
                    <a:xfrm>
                      <a:off x="2064" y="2312"/>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27" name="Rectangle 107"/>
                    <p:cNvSpPr>
                      <a:spLocks noChangeArrowheads="1"/>
                    </p:cNvSpPr>
                    <p:nvPr/>
                  </p:nvSpPr>
                  <p:spPr bwMode="auto">
                    <a:xfrm>
                      <a:off x="2112" y="2264"/>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28" name="Rectangle 108"/>
                    <p:cNvSpPr>
                      <a:spLocks noChangeArrowheads="1"/>
                    </p:cNvSpPr>
                    <p:nvPr/>
                  </p:nvSpPr>
                  <p:spPr bwMode="auto">
                    <a:xfrm>
                      <a:off x="2160" y="2208"/>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29" name="Rectangle 109"/>
                    <p:cNvSpPr>
                      <a:spLocks noChangeArrowheads="1"/>
                    </p:cNvSpPr>
                    <p:nvPr/>
                  </p:nvSpPr>
                  <p:spPr bwMode="auto">
                    <a:xfrm>
                      <a:off x="2200" y="2160"/>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30" name="Rectangle 110"/>
                    <p:cNvSpPr>
                      <a:spLocks noChangeArrowheads="1"/>
                    </p:cNvSpPr>
                    <p:nvPr/>
                  </p:nvSpPr>
                  <p:spPr bwMode="auto">
                    <a:xfrm>
                      <a:off x="2248" y="2104"/>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31" name="Rectangle 111"/>
                    <p:cNvSpPr>
                      <a:spLocks noChangeArrowheads="1"/>
                    </p:cNvSpPr>
                    <p:nvPr/>
                  </p:nvSpPr>
                  <p:spPr bwMode="auto">
                    <a:xfrm>
                      <a:off x="2296" y="2056"/>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32" name="Rectangle 112"/>
                    <p:cNvSpPr>
                      <a:spLocks noChangeArrowheads="1"/>
                    </p:cNvSpPr>
                    <p:nvPr/>
                  </p:nvSpPr>
                  <p:spPr bwMode="auto">
                    <a:xfrm>
                      <a:off x="2344" y="2000"/>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nvGrpSpPr>
                  <p:cNvPr id="41816" name="Group 113"/>
                  <p:cNvGrpSpPr>
                    <a:grpSpLocks/>
                  </p:cNvGrpSpPr>
                  <p:nvPr/>
                </p:nvGrpSpPr>
                <p:grpSpPr bwMode="auto">
                  <a:xfrm>
                    <a:off x="2144" y="2344"/>
                    <a:ext cx="496" cy="528"/>
                    <a:chOff x="2016" y="2000"/>
                    <a:chExt cx="496" cy="528"/>
                  </a:xfrm>
                </p:grpSpPr>
                <p:sp>
                  <p:nvSpPr>
                    <p:cNvPr id="41817" name="Rectangle 114"/>
                    <p:cNvSpPr>
                      <a:spLocks noChangeArrowheads="1"/>
                    </p:cNvSpPr>
                    <p:nvPr/>
                  </p:nvSpPr>
                  <p:spPr bwMode="auto">
                    <a:xfrm>
                      <a:off x="2016" y="2368"/>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18" name="Rectangle 115"/>
                    <p:cNvSpPr>
                      <a:spLocks noChangeArrowheads="1"/>
                    </p:cNvSpPr>
                    <p:nvPr/>
                  </p:nvSpPr>
                  <p:spPr bwMode="auto">
                    <a:xfrm>
                      <a:off x="2064" y="2312"/>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19" name="Rectangle 116"/>
                    <p:cNvSpPr>
                      <a:spLocks noChangeArrowheads="1"/>
                    </p:cNvSpPr>
                    <p:nvPr/>
                  </p:nvSpPr>
                  <p:spPr bwMode="auto">
                    <a:xfrm>
                      <a:off x="2112" y="2264"/>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20" name="Rectangle 117"/>
                    <p:cNvSpPr>
                      <a:spLocks noChangeArrowheads="1"/>
                    </p:cNvSpPr>
                    <p:nvPr/>
                  </p:nvSpPr>
                  <p:spPr bwMode="auto">
                    <a:xfrm>
                      <a:off x="2160" y="2208"/>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21" name="Rectangle 118"/>
                    <p:cNvSpPr>
                      <a:spLocks noChangeArrowheads="1"/>
                    </p:cNvSpPr>
                    <p:nvPr/>
                  </p:nvSpPr>
                  <p:spPr bwMode="auto">
                    <a:xfrm>
                      <a:off x="2200" y="2160"/>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22" name="Rectangle 119"/>
                    <p:cNvSpPr>
                      <a:spLocks noChangeArrowheads="1"/>
                    </p:cNvSpPr>
                    <p:nvPr/>
                  </p:nvSpPr>
                  <p:spPr bwMode="auto">
                    <a:xfrm>
                      <a:off x="2248" y="2104"/>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23" name="Rectangle 120"/>
                    <p:cNvSpPr>
                      <a:spLocks noChangeArrowheads="1"/>
                    </p:cNvSpPr>
                    <p:nvPr/>
                  </p:nvSpPr>
                  <p:spPr bwMode="auto">
                    <a:xfrm>
                      <a:off x="2296" y="2056"/>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24" name="Rectangle 121"/>
                    <p:cNvSpPr>
                      <a:spLocks noChangeArrowheads="1"/>
                    </p:cNvSpPr>
                    <p:nvPr/>
                  </p:nvSpPr>
                  <p:spPr bwMode="auto">
                    <a:xfrm>
                      <a:off x="2344" y="2000"/>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grpSp>
              <p:nvGrpSpPr>
                <p:cNvPr id="41702" name="Group 122"/>
                <p:cNvGrpSpPr>
                  <a:grpSpLocks/>
                </p:cNvGrpSpPr>
                <p:nvPr/>
              </p:nvGrpSpPr>
              <p:grpSpPr bwMode="auto">
                <a:xfrm>
                  <a:off x="2208" y="1576"/>
                  <a:ext cx="888" cy="648"/>
                  <a:chOff x="1800" y="1552"/>
                  <a:chExt cx="888" cy="648"/>
                </a:xfrm>
              </p:grpSpPr>
              <p:grpSp>
                <p:nvGrpSpPr>
                  <p:cNvPr id="41777" name="Group 123"/>
                  <p:cNvGrpSpPr>
                    <a:grpSpLocks/>
                  </p:cNvGrpSpPr>
                  <p:nvPr/>
                </p:nvGrpSpPr>
                <p:grpSpPr bwMode="auto">
                  <a:xfrm>
                    <a:off x="1800" y="1552"/>
                    <a:ext cx="496" cy="528"/>
                    <a:chOff x="2016" y="2000"/>
                    <a:chExt cx="496" cy="528"/>
                  </a:xfrm>
                </p:grpSpPr>
                <p:sp>
                  <p:nvSpPr>
                    <p:cNvPr id="41805" name="Rectangle 124"/>
                    <p:cNvSpPr>
                      <a:spLocks noChangeArrowheads="1"/>
                    </p:cNvSpPr>
                    <p:nvPr/>
                  </p:nvSpPr>
                  <p:spPr bwMode="auto">
                    <a:xfrm>
                      <a:off x="2016" y="2368"/>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06" name="Rectangle 125"/>
                    <p:cNvSpPr>
                      <a:spLocks noChangeArrowheads="1"/>
                    </p:cNvSpPr>
                    <p:nvPr/>
                  </p:nvSpPr>
                  <p:spPr bwMode="auto">
                    <a:xfrm>
                      <a:off x="2064" y="2312"/>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07" name="Rectangle 126"/>
                    <p:cNvSpPr>
                      <a:spLocks noChangeArrowheads="1"/>
                    </p:cNvSpPr>
                    <p:nvPr/>
                  </p:nvSpPr>
                  <p:spPr bwMode="auto">
                    <a:xfrm>
                      <a:off x="2112" y="2264"/>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08" name="Rectangle 127"/>
                    <p:cNvSpPr>
                      <a:spLocks noChangeArrowheads="1"/>
                    </p:cNvSpPr>
                    <p:nvPr/>
                  </p:nvSpPr>
                  <p:spPr bwMode="auto">
                    <a:xfrm>
                      <a:off x="2160" y="2208"/>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09" name="Rectangle 128"/>
                    <p:cNvSpPr>
                      <a:spLocks noChangeArrowheads="1"/>
                    </p:cNvSpPr>
                    <p:nvPr/>
                  </p:nvSpPr>
                  <p:spPr bwMode="auto">
                    <a:xfrm>
                      <a:off x="2200" y="2160"/>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10" name="Rectangle 129"/>
                    <p:cNvSpPr>
                      <a:spLocks noChangeArrowheads="1"/>
                    </p:cNvSpPr>
                    <p:nvPr/>
                  </p:nvSpPr>
                  <p:spPr bwMode="auto">
                    <a:xfrm>
                      <a:off x="2248" y="2104"/>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11" name="Rectangle 130"/>
                    <p:cNvSpPr>
                      <a:spLocks noChangeArrowheads="1"/>
                    </p:cNvSpPr>
                    <p:nvPr/>
                  </p:nvSpPr>
                  <p:spPr bwMode="auto">
                    <a:xfrm>
                      <a:off x="2296" y="2056"/>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12" name="Rectangle 131"/>
                    <p:cNvSpPr>
                      <a:spLocks noChangeArrowheads="1"/>
                    </p:cNvSpPr>
                    <p:nvPr/>
                  </p:nvSpPr>
                  <p:spPr bwMode="auto">
                    <a:xfrm>
                      <a:off x="2344" y="2000"/>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nvGrpSpPr>
                  <p:cNvPr id="41778" name="Group 132"/>
                  <p:cNvGrpSpPr>
                    <a:grpSpLocks/>
                  </p:cNvGrpSpPr>
                  <p:nvPr/>
                </p:nvGrpSpPr>
                <p:grpSpPr bwMode="auto">
                  <a:xfrm>
                    <a:off x="1944" y="1584"/>
                    <a:ext cx="496" cy="528"/>
                    <a:chOff x="2016" y="2000"/>
                    <a:chExt cx="496" cy="528"/>
                  </a:xfrm>
                </p:grpSpPr>
                <p:sp>
                  <p:nvSpPr>
                    <p:cNvPr id="41797" name="Rectangle 133"/>
                    <p:cNvSpPr>
                      <a:spLocks noChangeArrowheads="1"/>
                    </p:cNvSpPr>
                    <p:nvPr/>
                  </p:nvSpPr>
                  <p:spPr bwMode="auto">
                    <a:xfrm>
                      <a:off x="2016" y="2368"/>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98" name="Rectangle 134"/>
                    <p:cNvSpPr>
                      <a:spLocks noChangeArrowheads="1"/>
                    </p:cNvSpPr>
                    <p:nvPr/>
                  </p:nvSpPr>
                  <p:spPr bwMode="auto">
                    <a:xfrm>
                      <a:off x="2064" y="2312"/>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99" name="Rectangle 135"/>
                    <p:cNvSpPr>
                      <a:spLocks noChangeArrowheads="1"/>
                    </p:cNvSpPr>
                    <p:nvPr/>
                  </p:nvSpPr>
                  <p:spPr bwMode="auto">
                    <a:xfrm>
                      <a:off x="2112" y="2264"/>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00" name="Rectangle 136"/>
                    <p:cNvSpPr>
                      <a:spLocks noChangeArrowheads="1"/>
                    </p:cNvSpPr>
                    <p:nvPr/>
                  </p:nvSpPr>
                  <p:spPr bwMode="auto">
                    <a:xfrm>
                      <a:off x="2160" y="2208"/>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01" name="Rectangle 137"/>
                    <p:cNvSpPr>
                      <a:spLocks noChangeArrowheads="1"/>
                    </p:cNvSpPr>
                    <p:nvPr/>
                  </p:nvSpPr>
                  <p:spPr bwMode="auto">
                    <a:xfrm>
                      <a:off x="2200" y="2160"/>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02" name="Rectangle 138"/>
                    <p:cNvSpPr>
                      <a:spLocks noChangeArrowheads="1"/>
                    </p:cNvSpPr>
                    <p:nvPr/>
                  </p:nvSpPr>
                  <p:spPr bwMode="auto">
                    <a:xfrm>
                      <a:off x="2248" y="2104"/>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03" name="Rectangle 139"/>
                    <p:cNvSpPr>
                      <a:spLocks noChangeArrowheads="1"/>
                    </p:cNvSpPr>
                    <p:nvPr/>
                  </p:nvSpPr>
                  <p:spPr bwMode="auto">
                    <a:xfrm>
                      <a:off x="2296" y="2056"/>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804" name="Rectangle 140"/>
                    <p:cNvSpPr>
                      <a:spLocks noChangeArrowheads="1"/>
                    </p:cNvSpPr>
                    <p:nvPr/>
                  </p:nvSpPr>
                  <p:spPr bwMode="auto">
                    <a:xfrm>
                      <a:off x="2344" y="2000"/>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nvGrpSpPr>
                  <p:cNvPr id="41779" name="Group 141"/>
                  <p:cNvGrpSpPr>
                    <a:grpSpLocks/>
                  </p:cNvGrpSpPr>
                  <p:nvPr/>
                </p:nvGrpSpPr>
                <p:grpSpPr bwMode="auto">
                  <a:xfrm>
                    <a:off x="2048" y="1640"/>
                    <a:ext cx="496" cy="528"/>
                    <a:chOff x="2016" y="2000"/>
                    <a:chExt cx="496" cy="528"/>
                  </a:xfrm>
                </p:grpSpPr>
                <p:sp>
                  <p:nvSpPr>
                    <p:cNvPr id="41789" name="Rectangle 142"/>
                    <p:cNvSpPr>
                      <a:spLocks noChangeArrowheads="1"/>
                    </p:cNvSpPr>
                    <p:nvPr/>
                  </p:nvSpPr>
                  <p:spPr bwMode="auto">
                    <a:xfrm>
                      <a:off x="2016" y="2368"/>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90" name="Rectangle 143"/>
                    <p:cNvSpPr>
                      <a:spLocks noChangeArrowheads="1"/>
                    </p:cNvSpPr>
                    <p:nvPr/>
                  </p:nvSpPr>
                  <p:spPr bwMode="auto">
                    <a:xfrm>
                      <a:off x="2064" y="2312"/>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91" name="Rectangle 144"/>
                    <p:cNvSpPr>
                      <a:spLocks noChangeArrowheads="1"/>
                    </p:cNvSpPr>
                    <p:nvPr/>
                  </p:nvSpPr>
                  <p:spPr bwMode="auto">
                    <a:xfrm>
                      <a:off x="2112" y="2264"/>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92" name="Rectangle 145"/>
                    <p:cNvSpPr>
                      <a:spLocks noChangeArrowheads="1"/>
                    </p:cNvSpPr>
                    <p:nvPr/>
                  </p:nvSpPr>
                  <p:spPr bwMode="auto">
                    <a:xfrm>
                      <a:off x="2160" y="2208"/>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93" name="Rectangle 146"/>
                    <p:cNvSpPr>
                      <a:spLocks noChangeArrowheads="1"/>
                    </p:cNvSpPr>
                    <p:nvPr/>
                  </p:nvSpPr>
                  <p:spPr bwMode="auto">
                    <a:xfrm>
                      <a:off x="2200" y="2160"/>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94" name="Rectangle 147"/>
                    <p:cNvSpPr>
                      <a:spLocks noChangeArrowheads="1"/>
                    </p:cNvSpPr>
                    <p:nvPr/>
                  </p:nvSpPr>
                  <p:spPr bwMode="auto">
                    <a:xfrm>
                      <a:off x="2248" y="2104"/>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95" name="Rectangle 148"/>
                    <p:cNvSpPr>
                      <a:spLocks noChangeArrowheads="1"/>
                    </p:cNvSpPr>
                    <p:nvPr/>
                  </p:nvSpPr>
                  <p:spPr bwMode="auto">
                    <a:xfrm>
                      <a:off x="2296" y="2056"/>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96" name="Rectangle 149"/>
                    <p:cNvSpPr>
                      <a:spLocks noChangeArrowheads="1"/>
                    </p:cNvSpPr>
                    <p:nvPr/>
                  </p:nvSpPr>
                  <p:spPr bwMode="auto">
                    <a:xfrm>
                      <a:off x="2344" y="2000"/>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nvGrpSpPr>
                  <p:cNvPr id="41780" name="Group 150"/>
                  <p:cNvGrpSpPr>
                    <a:grpSpLocks/>
                  </p:cNvGrpSpPr>
                  <p:nvPr/>
                </p:nvGrpSpPr>
                <p:grpSpPr bwMode="auto">
                  <a:xfrm>
                    <a:off x="2192" y="1672"/>
                    <a:ext cx="496" cy="528"/>
                    <a:chOff x="2016" y="2000"/>
                    <a:chExt cx="496" cy="528"/>
                  </a:xfrm>
                </p:grpSpPr>
                <p:sp>
                  <p:nvSpPr>
                    <p:cNvPr id="41781" name="Rectangle 151"/>
                    <p:cNvSpPr>
                      <a:spLocks noChangeArrowheads="1"/>
                    </p:cNvSpPr>
                    <p:nvPr/>
                  </p:nvSpPr>
                  <p:spPr bwMode="auto">
                    <a:xfrm>
                      <a:off x="2016" y="2368"/>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82" name="Rectangle 152"/>
                    <p:cNvSpPr>
                      <a:spLocks noChangeArrowheads="1"/>
                    </p:cNvSpPr>
                    <p:nvPr/>
                  </p:nvSpPr>
                  <p:spPr bwMode="auto">
                    <a:xfrm>
                      <a:off x="2064" y="2312"/>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83" name="Rectangle 153"/>
                    <p:cNvSpPr>
                      <a:spLocks noChangeArrowheads="1"/>
                    </p:cNvSpPr>
                    <p:nvPr/>
                  </p:nvSpPr>
                  <p:spPr bwMode="auto">
                    <a:xfrm>
                      <a:off x="2112" y="2264"/>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84" name="Rectangle 154"/>
                    <p:cNvSpPr>
                      <a:spLocks noChangeArrowheads="1"/>
                    </p:cNvSpPr>
                    <p:nvPr/>
                  </p:nvSpPr>
                  <p:spPr bwMode="auto">
                    <a:xfrm>
                      <a:off x="2160" y="2208"/>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85" name="Rectangle 155"/>
                    <p:cNvSpPr>
                      <a:spLocks noChangeArrowheads="1"/>
                    </p:cNvSpPr>
                    <p:nvPr/>
                  </p:nvSpPr>
                  <p:spPr bwMode="auto">
                    <a:xfrm>
                      <a:off x="2200" y="2160"/>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86" name="Rectangle 156"/>
                    <p:cNvSpPr>
                      <a:spLocks noChangeArrowheads="1"/>
                    </p:cNvSpPr>
                    <p:nvPr/>
                  </p:nvSpPr>
                  <p:spPr bwMode="auto">
                    <a:xfrm>
                      <a:off x="2248" y="2104"/>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87" name="Rectangle 157"/>
                    <p:cNvSpPr>
                      <a:spLocks noChangeArrowheads="1"/>
                    </p:cNvSpPr>
                    <p:nvPr/>
                  </p:nvSpPr>
                  <p:spPr bwMode="auto">
                    <a:xfrm>
                      <a:off x="2296" y="2056"/>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88" name="Rectangle 158"/>
                    <p:cNvSpPr>
                      <a:spLocks noChangeArrowheads="1"/>
                    </p:cNvSpPr>
                    <p:nvPr/>
                  </p:nvSpPr>
                  <p:spPr bwMode="auto">
                    <a:xfrm>
                      <a:off x="2344" y="2000"/>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grpSp>
              <p:nvGrpSpPr>
                <p:cNvPr id="41703" name="Group 159"/>
                <p:cNvGrpSpPr>
                  <a:grpSpLocks/>
                </p:cNvGrpSpPr>
                <p:nvPr/>
              </p:nvGrpSpPr>
              <p:grpSpPr bwMode="auto">
                <a:xfrm>
                  <a:off x="2288" y="2200"/>
                  <a:ext cx="888" cy="648"/>
                  <a:chOff x="2560" y="2264"/>
                  <a:chExt cx="888" cy="648"/>
                </a:xfrm>
              </p:grpSpPr>
              <p:grpSp>
                <p:nvGrpSpPr>
                  <p:cNvPr id="41741" name="Group 160"/>
                  <p:cNvGrpSpPr>
                    <a:grpSpLocks/>
                  </p:cNvGrpSpPr>
                  <p:nvPr/>
                </p:nvGrpSpPr>
                <p:grpSpPr bwMode="auto">
                  <a:xfrm>
                    <a:off x="2560" y="2264"/>
                    <a:ext cx="496" cy="528"/>
                    <a:chOff x="2016" y="2000"/>
                    <a:chExt cx="496" cy="528"/>
                  </a:xfrm>
                </p:grpSpPr>
                <p:sp>
                  <p:nvSpPr>
                    <p:cNvPr id="41769" name="Rectangle 161"/>
                    <p:cNvSpPr>
                      <a:spLocks noChangeArrowheads="1"/>
                    </p:cNvSpPr>
                    <p:nvPr/>
                  </p:nvSpPr>
                  <p:spPr bwMode="auto">
                    <a:xfrm>
                      <a:off x="2016" y="2368"/>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70" name="Rectangle 162"/>
                    <p:cNvSpPr>
                      <a:spLocks noChangeArrowheads="1"/>
                    </p:cNvSpPr>
                    <p:nvPr/>
                  </p:nvSpPr>
                  <p:spPr bwMode="auto">
                    <a:xfrm>
                      <a:off x="2064" y="2312"/>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71" name="Rectangle 163"/>
                    <p:cNvSpPr>
                      <a:spLocks noChangeArrowheads="1"/>
                    </p:cNvSpPr>
                    <p:nvPr/>
                  </p:nvSpPr>
                  <p:spPr bwMode="auto">
                    <a:xfrm>
                      <a:off x="2112" y="2264"/>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72" name="Rectangle 164"/>
                    <p:cNvSpPr>
                      <a:spLocks noChangeArrowheads="1"/>
                    </p:cNvSpPr>
                    <p:nvPr/>
                  </p:nvSpPr>
                  <p:spPr bwMode="auto">
                    <a:xfrm>
                      <a:off x="2160" y="2208"/>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73" name="Rectangle 165"/>
                    <p:cNvSpPr>
                      <a:spLocks noChangeArrowheads="1"/>
                    </p:cNvSpPr>
                    <p:nvPr/>
                  </p:nvSpPr>
                  <p:spPr bwMode="auto">
                    <a:xfrm>
                      <a:off x="2200" y="2160"/>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74" name="Rectangle 166"/>
                    <p:cNvSpPr>
                      <a:spLocks noChangeArrowheads="1"/>
                    </p:cNvSpPr>
                    <p:nvPr/>
                  </p:nvSpPr>
                  <p:spPr bwMode="auto">
                    <a:xfrm>
                      <a:off x="2248" y="2104"/>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75" name="Rectangle 167"/>
                    <p:cNvSpPr>
                      <a:spLocks noChangeArrowheads="1"/>
                    </p:cNvSpPr>
                    <p:nvPr/>
                  </p:nvSpPr>
                  <p:spPr bwMode="auto">
                    <a:xfrm>
                      <a:off x="2296" y="2056"/>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76" name="Rectangle 168"/>
                    <p:cNvSpPr>
                      <a:spLocks noChangeArrowheads="1"/>
                    </p:cNvSpPr>
                    <p:nvPr/>
                  </p:nvSpPr>
                  <p:spPr bwMode="auto">
                    <a:xfrm>
                      <a:off x="2344" y="2000"/>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nvGrpSpPr>
                  <p:cNvPr id="41742" name="Group 169"/>
                  <p:cNvGrpSpPr>
                    <a:grpSpLocks/>
                  </p:cNvGrpSpPr>
                  <p:nvPr/>
                </p:nvGrpSpPr>
                <p:grpSpPr bwMode="auto">
                  <a:xfrm>
                    <a:off x="2704" y="2296"/>
                    <a:ext cx="496" cy="528"/>
                    <a:chOff x="2016" y="2000"/>
                    <a:chExt cx="496" cy="528"/>
                  </a:xfrm>
                </p:grpSpPr>
                <p:sp>
                  <p:nvSpPr>
                    <p:cNvPr id="41761" name="Rectangle 170"/>
                    <p:cNvSpPr>
                      <a:spLocks noChangeArrowheads="1"/>
                    </p:cNvSpPr>
                    <p:nvPr/>
                  </p:nvSpPr>
                  <p:spPr bwMode="auto">
                    <a:xfrm>
                      <a:off x="2016" y="2368"/>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62" name="Rectangle 171"/>
                    <p:cNvSpPr>
                      <a:spLocks noChangeArrowheads="1"/>
                    </p:cNvSpPr>
                    <p:nvPr/>
                  </p:nvSpPr>
                  <p:spPr bwMode="auto">
                    <a:xfrm>
                      <a:off x="2064" y="2312"/>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63" name="Rectangle 172"/>
                    <p:cNvSpPr>
                      <a:spLocks noChangeArrowheads="1"/>
                    </p:cNvSpPr>
                    <p:nvPr/>
                  </p:nvSpPr>
                  <p:spPr bwMode="auto">
                    <a:xfrm>
                      <a:off x="2112" y="2264"/>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64" name="Rectangle 173"/>
                    <p:cNvSpPr>
                      <a:spLocks noChangeArrowheads="1"/>
                    </p:cNvSpPr>
                    <p:nvPr/>
                  </p:nvSpPr>
                  <p:spPr bwMode="auto">
                    <a:xfrm>
                      <a:off x="2160" y="2208"/>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65" name="Rectangle 174"/>
                    <p:cNvSpPr>
                      <a:spLocks noChangeArrowheads="1"/>
                    </p:cNvSpPr>
                    <p:nvPr/>
                  </p:nvSpPr>
                  <p:spPr bwMode="auto">
                    <a:xfrm>
                      <a:off x="2200" y="2160"/>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66" name="Rectangle 175"/>
                    <p:cNvSpPr>
                      <a:spLocks noChangeArrowheads="1"/>
                    </p:cNvSpPr>
                    <p:nvPr/>
                  </p:nvSpPr>
                  <p:spPr bwMode="auto">
                    <a:xfrm>
                      <a:off x="2248" y="2104"/>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67" name="Rectangle 176"/>
                    <p:cNvSpPr>
                      <a:spLocks noChangeArrowheads="1"/>
                    </p:cNvSpPr>
                    <p:nvPr/>
                  </p:nvSpPr>
                  <p:spPr bwMode="auto">
                    <a:xfrm>
                      <a:off x="2296" y="2056"/>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68" name="Rectangle 177"/>
                    <p:cNvSpPr>
                      <a:spLocks noChangeArrowheads="1"/>
                    </p:cNvSpPr>
                    <p:nvPr/>
                  </p:nvSpPr>
                  <p:spPr bwMode="auto">
                    <a:xfrm>
                      <a:off x="2344" y="2000"/>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nvGrpSpPr>
                  <p:cNvPr id="41743" name="Group 178"/>
                  <p:cNvGrpSpPr>
                    <a:grpSpLocks/>
                  </p:cNvGrpSpPr>
                  <p:nvPr/>
                </p:nvGrpSpPr>
                <p:grpSpPr bwMode="auto">
                  <a:xfrm>
                    <a:off x="2808" y="2352"/>
                    <a:ext cx="496" cy="528"/>
                    <a:chOff x="2016" y="2000"/>
                    <a:chExt cx="496" cy="528"/>
                  </a:xfrm>
                </p:grpSpPr>
                <p:sp>
                  <p:nvSpPr>
                    <p:cNvPr id="41753" name="Rectangle 179"/>
                    <p:cNvSpPr>
                      <a:spLocks noChangeArrowheads="1"/>
                    </p:cNvSpPr>
                    <p:nvPr/>
                  </p:nvSpPr>
                  <p:spPr bwMode="auto">
                    <a:xfrm>
                      <a:off x="2016" y="2368"/>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54" name="Rectangle 180"/>
                    <p:cNvSpPr>
                      <a:spLocks noChangeArrowheads="1"/>
                    </p:cNvSpPr>
                    <p:nvPr/>
                  </p:nvSpPr>
                  <p:spPr bwMode="auto">
                    <a:xfrm>
                      <a:off x="2064" y="2312"/>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55" name="Rectangle 181"/>
                    <p:cNvSpPr>
                      <a:spLocks noChangeArrowheads="1"/>
                    </p:cNvSpPr>
                    <p:nvPr/>
                  </p:nvSpPr>
                  <p:spPr bwMode="auto">
                    <a:xfrm>
                      <a:off x="2112" y="2264"/>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56" name="Rectangle 182"/>
                    <p:cNvSpPr>
                      <a:spLocks noChangeArrowheads="1"/>
                    </p:cNvSpPr>
                    <p:nvPr/>
                  </p:nvSpPr>
                  <p:spPr bwMode="auto">
                    <a:xfrm>
                      <a:off x="2160" y="2208"/>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57" name="Rectangle 183"/>
                    <p:cNvSpPr>
                      <a:spLocks noChangeArrowheads="1"/>
                    </p:cNvSpPr>
                    <p:nvPr/>
                  </p:nvSpPr>
                  <p:spPr bwMode="auto">
                    <a:xfrm>
                      <a:off x="2200" y="2160"/>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58" name="Rectangle 184"/>
                    <p:cNvSpPr>
                      <a:spLocks noChangeArrowheads="1"/>
                    </p:cNvSpPr>
                    <p:nvPr/>
                  </p:nvSpPr>
                  <p:spPr bwMode="auto">
                    <a:xfrm>
                      <a:off x="2248" y="2104"/>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59" name="Rectangle 185"/>
                    <p:cNvSpPr>
                      <a:spLocks noChangeArrowheads="1"/>
                    </p:cNvSpPr>
                    <p:nvPr/>
                  </p:nvSpPr>
                  <p:spPr bwMode="auto">
                    <a:xfrm>
                      <a:off x="2296" y="2056"/>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60" name="Rectangle 186"/>
                    <p:cNvSpPr>
                      <a:spLocks noChangeArrowheads="1"/>
                    </p:cNvSpPr>
                    <p:nvPr/>
                  </p:nvSpPr>
                  <p:spPr bwMode="auto">
                    <a:xfrm>
                      <a:off x="2344" y="2000"/>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nvGrpSpPr>
                  <p:cNvPr id="41744" name="Group 187"/>
                  <p:cNvGrpSpPr>
                    <a:grpSpLocks/>
                  </p:cNvGrpSpPr>
                  <p:nvPr/>
                </p:nvGrpSpPr>
                <p:grpSpPr bwMode="auto">
                  <a:xfrm>
                    <a:off x="2952" y="2384"/>
                    <a:ext cx="496" cy="528"/>
                    <a:chOff x="2016" y="2000"/>
                    <a:chExt cx="496" cy="528"/>
                  </a:xfrm>
                </p:grpSpPr>
                <p:sp>
                  <p:nvSpPr>
                    <p:cNvPr id="41745" name="Rectangle 188"/>
                    <p:cNvSpPr>
                      <a:spLocks noChangeArrowheads="1"/>
                    </p:cNvSpPr>
                    <p:nvPr/>
                  </p:nvSpPr>
                  <p:spPr bwMode="auto">
                    <a:xfrm>
                      <a:off x="2016" y="2368"/>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46" name="Rectangle 189"/>
                    <p:cNvSpPr>
                      <a:spLocks noChangeArrowheads="1"/>
                    </p:cNvSpPr>
                    <p:nvPr/>
                  </p:nvSpPr>
                  <p:spPr bwMode="auto">
                    <a:xfrm>
                      <a:off x="2064" y="2312"/>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47" name="Rectangle 190"/>
                    <p:cNvSpPr>
                      <a:spLocks noChangeArrowheads="1"/>
                    </p:cNvSpPr>
                    <p:nvPr/>
                  </p:nvSpPr>
                  <p:spPr bwMode="auto">
                    <a:xfrm>
                      <a:off x="2112" y="2264"/>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48" name="Rectangle 191"/>
                    <p:cNvSpPr>
                      <a:spLocks noChangeArrowheads="1"/>
                    </p:cNvSpPr>
                    <p:nvPr/>
                  </p:nvSpPr>
                  <p:spPr bwMode="auto">
                    <a:xfrm>
                      <a:off x="2160" y="2208"/>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49" name="Rectangle 192"/>
                    <p:cNvSpPr>
                      <a:spLocks noChangeArrowheads="1"/>
                    </p:cNvSpPr>
                    <p:nvPr/>
                  </p:nvSpPr>
                  <p:spPr bwMode="auto">
                    <a:xfrm>
                      <a:off x="2200" y="2160"/>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50" name="Rectangle 193"/>
                    <p:cNvSpPr>
                      <a:spLocks noChangeArrowheads="1"/>
                    </p:cNvSpPr>
                    <p:nvPr/>
                  </p:nvSpPr>
                  <p:spPr bwMode="auto">
                    <a:xfrm>
                      <a:off x="2248" y="2104"/>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51" name="Rectangle 194"/>
                    <p:cNvSpPr>
                      <a:spLocks noChangeArrowheads="1"/>
                    </p:cNvSpPr>
                    <p:nvPr/>
                  </p:nvSpPr>
                  <p:spPr bwMode="auto">
                    <a:xfrm>
                      <a:off x="2296" y="2056"/>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52" name="Rectangle 195"/>
                    <p:cNvSpPr>
                      <a:spLocks noChangeArrowheads="1"/>
                    </p:cNvSpPr>
                    <p:nvPr/>
                  </p:nvSpPr>
                  <p:spPr bwMode="auto">
                    <a:xfrm>
                      <a:off x="2344" y="2000"/>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grpSp>
              <p:nvGrpSpPr>
                <p:cNvPr id="41704" name="Group 196"/>
                <p:cNvGrpSpPr>
                  <a:grpSpLocks/>
                </p:cNvGrpSpPr>
                <p:nvPr/>
              </p:nvGrpSpPr>
              <p:grpSpPr bwMode="auto">
                <a:xfrm>
                  <a:off x="2664" y="1736"/>
                  <a:ext cx="888" cy="648"/>
                  <a:chOff x="2608" y="1592"/>
                  <a:chExt cx="888" cy="648"/>
                </a:xfrm>
              </p:grpSpPr>
              <p:grpSp>
                <p:nvGrpSpPr>
                  <p:cNvPr id="41705" name="Group 197"/>
                  <p:cNvGrpSpPr>
                    <a:grpSpLocks/>
                  </p:cNvGrpSpPr>
                  <p:nvPr/>
                </p:nvGrpSpPr>
                <p:grpSpPr bwMode="auto">
                  <a:xfrm>
                    <a:off x="2608" y="1592"/>
                    <a:ext cx="496" cy="528"/>
                    <a:chOff x="2016" y="2000"/>
                    <a:chExt cx="496" cy="528"/>
                  </a:xfrm>
                </p:grpSpPr>
                <p:sp>
                  <p:nvSpPr>
                    <p:cNvPr id="41733" name="Rectangle 198"/>
                    <p:cNvSpPr>
                      <a:spLocks noChangeArrowheads="1"/>
                    </p:cNvSpPr>
                    <p:nvPr/>
                  </p:nvSpPr>
                  <p:spPr bwMode="auto">
                    <a:xfrm>
                      <a:off x="2016" y="2368"/>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34" name="Rectangle 199"/>
                    <p:cNvSpPr>
                      <a:spLocks noChangeArrowheads="1"/>
                    </p:cNvSpPr>
                    <p:nvPr/>
                  </p:nvSpPr>
                  <p:spPr bwMode="auto">
                    <a:xfrm>
                      <a:off x="2064" y="2312"/>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35" name="Rectangle 200"/>
                    <p:cNvSpPr>
                      <a:spLocks noChangeArrowheads="1"/>
                    </p:cNvSpPr>
                    <p:nvPr/>
                  </p:nvSpPr>
                  <p:spPr bwMode="auto">
                    <a:xfrm>
                      <a:off x="2112" y="2264"/>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36" name="Rectangle 201"/>
                    <p:cNvSpPr>
                      <a:spLocks noChangeArrowheads="1"/>
                    </p:cNvSpPr>
                    <p:nvPr/>
                  </p:nvSpPr>
                  <p:spPr bwMode="auto">
                    <a:xfrm>
                      <a:off x="2160" y="2208"/>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37" name="Rectangle 202"/>
                    <p:cNvSpPr>
                      <a:spLocks noChangeArrowheads="1"/>
                    </p:cNvSpPr>
                    <p:nvPr/>
                  </p:nvSpPr>
                  <p:spPr bwMode="auto">
                    <a:xfrm>
                      <a:off x="2200" y="2160"/>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38" name="Rectangle 203"/>
                    <p:cNvSpPr>
                      <a:spLocks noChangeArrowheads="1"/>
                    </p:cNvSpPr>
                    <p:nvPr/>
                  </p:nvSpPr>
                  <p:spPr bwMode="auto">
                    <a:xfrm>
                      <a:off x="2248" y="2104"/>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39" name="Rectangle 204"/>
                    <p:cNvSpPr>
                      <a:spLocks noChangeArrowheads="1"/>
                    </p:cNvSpPr>
                    <p:nvPr/>
                  </p:nvSpPr>
                  <p:spPr bwMode="auto">
                    <a:xfrm>
                      <a:off x="2296" y="2056"/>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40" name="Rectangle 205"/>
                    <p:cNvSpPr>
                      <a:spLocks noChangeArrowheads="1"/>
                    </p:cNvSpPr>
                    <p:nvPr/>
                  </p:nvSpPr>
                  <p:spPr bwMode="auto">
                    <a:xfrm>
                      <a:off x="2344" y="2000"/>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nvGrpSpPr>
                  <p:cNvPr id="41706" name="Group 206"/>
                  <p:cNvGrpSpPr>
                    <a:grpSpLocks/>
                  </p:cNvGrpSpPr>
                  <p:nvPr/>
                </p:nvGrpSpPr>
                <p:grpSpPr bwMode="auto">
                  <a:xfrm>
                    <a:off x="2752" y="1624"/>
                    <a:ext cx="496" cy="528"/>
                    <a:chOff x="2016" y="2000"/>
                    <a:chExt cx="496" cy="528"/>
                  </a:xfrm>
                </p:grpSpPr>
                <p:sp>
                  <p:nvSpPr>
                    <p:cNvPr id="41725" name="Rectangle 207"/>
                    <p:cNvSpPr>
                      <a:spLocks noChangeArrowheads="1"/>
                    </p:cNvSpPr>
                    <p:nvPr/>
                  </p:nvSpPr>
                  <p:spPr bwMode="auto">
                    <a:xfrm>
                      <a:off x="2016" y="2368"/>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26" name="Rectangle 208"/>
                    <p:cNvSpPr>
                      <a:spLocks noChangeArrowheads="1"/>
                    </p:cNvSpPr>
                    <p:nvPr/>
                  </p:nvSpPr>
                  <p:spPr bwMode="auto">
                    <a:xfrm>
                      <a:off x="2064" y="2312"/>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27" name="Rectangle 209"/>
                    <p:cNvSpPr>
                      <a:spLocks noChangeArrowheads="1"/>
                    </p:cNvSpPr>
                    <p:nvPr/>
                  </p:nvSpPr>
                  <p:spPr bwMode="auto">
                    <a:xfrm>
                      <a:off x="2112" y="2264"/>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28" name="Rectangle 210"/>
                    <p:cNvSpPr>
                      <a:spLocks noChangeArrowheads="1"/>
                    </p:cNvSpPr>
                    <p:nvPr/>
                  </p:nvSpPr>
                  <p:spPr bwMode="auto">
                    <a:xfrm>
                      <a:off x="2160" y="2208"/>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29" name="Rectangle 211"/>
                    <p:cNvSpPr>
                      <a:spLocks noChangeArrowheads="1"/>
                    </p:cNvSpPr>
                    <p:nvPr/>
                  </p:nvSpPr>
                  <p:spPr bwMode="auto">
                    <a:xfrm>
                      <a:off x="2200" y="2160"/>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30" name="Rectangle 212"/>
                    <p:cNvSpPr>
                      <a:spLocks noChangeArrowheads="1"/>
                    </p:cNvSpPr>
                    <p:nvPr/>
                  </p:nvSpPr>
                  <p:spPr bwMode="auto">
                    <a:xfrm>
                      <a:off x="2248" y="2104"/>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31" name="Rectangle 213"/>
                    <p:cNvSpPr>
                      <a:spLocks noChangeArrowheads="1"/>
                    </p:cNvSpPr>
                    <p:nvPr/>
                  </p:nvSpPr>
                  <p:spPr bwMode="auto">
                    <a:xfrm>
                      <a:off x="2296" y="2056"/>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32" name="Rectangle 214"/>
                    <p:cNvSpPr>
                      <a:spLocks noChangeArrowheads="1"/>
                    </p:cNvSpPr>
                    <p:nvPr/>
                  </p:nvSpPr>
                  <p:spPr bwMode="auto">
                    <a:xfrm>
                      <a:off x="2344" y="2000"/>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nvGrpSpPr>
                  <p:cNvPr id="41707" name="Group 215"/>
                  <p:cNvGrpSpPr>
                    <a:grpSpLocks/>
                  </p:cNvGrpSpPr>
                  <p:nvPr/>
                </p:nvGrpSpPr>
                <p:grpSpPr bwMode="auto">
                  <a:xfrm>
                    <a:off x="2840" y="1664"/>
                    <a:ext cx="496" cy="528"/>
                    <a:chOff x="2016" y="2000"/>
                    <a:chExt cx="496" cy="528"/>
                  </a:xfrm>
                </p:grpSpPr>
                <p:sp>
                  <p:nvSpPr>
                    <p:cNvPr id="41717" name="Rectangle 216"/>
                    <p:cNvSpPr>
                      <a:spLocks noChangeArrowheads="1"/>
                    </p:cNvSpPr>
                    <p:nvPr/>
                  </p:nvSpPr>
                  <p:spPr bwMode="auto">
                    <a:xfrm>
                      <a:off x="2016" y="2368"/>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18" name="Rectangle 217"/>
                    <p:cNvSpPr>
                      <a:spLocks noChangeArrowheads="1"/>
                    </p:cNvSpPr>
                    <p:nvPr/>
                  </p:nvSpPr>
                  <p:spPr bwMode="auto">
                    <a:xfrm>
                      <a:off x="2064" y="2312"/>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19" name="Rectangle 218"/>
                    <p:cNvSpPr>
                      <a:spLocks noChangeArrowheads="1"/>
                    </p:cNvSpPr>
                    <p:nvPr/>
                  </p:nvSpPr>
                  <p:spPr bwMode="auto">
                    <a:xfrm>
                      <a:off x="2112" y="2264"/>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20" name="Rectangle 219"/>
                    <p:cNvSpPr>
                      <a:spLocks noChangeArrowheads="1"/>
                    </p:cNvSpPr>
                    <p:nvPr/>
                  </p:nvSpPr>
                  <p:spPr bwMode="auto">
                    <a:xfrm>
                      <a:off x="2160" y="2208"/>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21" name="Rectangle 220"/>
                    <p:cNvSpPr>
                      <a:spLocks noChangeArrowheads="1"/>
                    </p:cNvSpPr>
                    <p:nvPr/>
                  </p:nvSpPr>
                  <p:spPr bwMode="auto">
                    <a:xfrm>
                      <a:off x="2200" y="2160"/>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22" name="Rectangle 221"/>
                    <p:cNvSpPr>
                      <a:spLocks noChangeArrowheads="1"/>
                    </p:cNvSpPr>
                    <p:nvPr/>
                  </p:nvSpPr>
                  <p:spPr bwMode="auto">
                    <a:xfrm>
                      <a:off x="2248" y="2104"/>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23" name="Rectangle 222"/>
                    <p:cNvSpPr>
                      <a:spLocks noChangeArrowheads="1"/>
                    </p:cNvSpPr>
                    <p:nvPr/>
                  </p:nvSpPr>
                  <p:spPr bwMode="auto">
                    <a:xfrm>
                      <a:off x="2296" y="2056"/>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24" name="Rectangle 223"/>
                    <p:cNvSpPr>
                      <a:spLocks noChangeArrowheads="1"/>
                    </p:cNvSpPr>
                    <p:nvPr/>
                  </p:nvSpPr>
                  <p:spPr bwMode="auto">
                    <a:xfrm>
                      <a:off x="2344" y="2000"/>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nvGrpSpPr>
                  <p:cNvPr id="41708" name="Group 224"/>
                  <p:cNvGrpSpPr>
                    <a:grpSpLocks/>
                  </p:cNvGrpSpPr>
                  <p:nvPr/>
                </p:nvGrpSpPr>
                <p:grpSpPr bwMode="auto">
                  <a:xfrm>
                    <a:off x="3000" y="1712"/>
                    <a:ext cx="496" cy="528"/>
                    <a:chOff x="2016" y="2000"/>
                    <a:chExt cx="496" cy="528"/>
                  </a:xfrm>
                </p:grpSpPr>
                <p:sp>
                  <p:nvSpPr>
                    <p:cNvPr id="41709" name="Rectangle 225"/>
                    <p:cNvSpPr>
                      <a:spLocks noChangeArrowheads="1"/>
                    </p:cNvSpPr>
                    <p:nvPr/>
                  </p:nvSpPr>
                  <p:spPr bwMode="auto">
                    <a:xfrm>
                      <a:off x="2016" y="2368"/>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10" name="Rectangle 226"/>
                    <p:cNvSpPr>
                      <a:spLocks noChangeArrowheads="1"/>
                    </p:cNvSpPr>
                    <p:nvPr/>
                  </p:nvSpPr>
                  <p:spPr bwMode="auto">
                    <a:xfrm>
                      <a:off x="2064" y="2312"/>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11" name="Rectangle 227"/>
                    <p:cNvSpPr>
                      <a:spLocks noChangeArrowheads="1"/>
                    </p:cNvSpPr>
                    <p:nvPr/>
                  </p:nvSpPr>
                  <p:spPr bwMode="auto">
                    <a:xfrm>
                      <a:off x="2112" y="2264"/>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12" name="Rectangle 228"/>
                    <p:cNvSpPr>
                      <a:spLocks noChangeArrowheads="1"/>
                    </p:cNvSpPr>
                    <p:nvPr/>
                  </p:nvSpPr>
                  <p:spPr bwMode="auto">
                    <a:xfrm>
                      <a:off x="2160" y="2208"/>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13" name="Rectangle 229"/>
                    <p:cNvSpPr>
                      <a:spLocks noChangeArrowheads="1"/>
                    </p:cNvSpPr>
                    <p:nvPr/>
                  </p:nvSpPr>
                  <p:spPr bwMode="auto">
                    <a:xfrm>
                      <a:off x="2200" y="2160"/>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14" name="Rectangle 230"/>
                    <p:cNvSpPr>
                      <a:spLocks noChangeArrowheads="1"/>
                    </p:cNvSpPr>
                    <p:nvPr/>
                  </p:nvSpPr>
                  <p:spPr bwMode="auto">
                    <a:xfrm>
                      <a:off x="2248" y="2104"/>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15" name="Rectangle 231"/>
                    <p:cNvSpPr>
                      <a:spLocks noChangeArrowheads="1"/>
                    </p:cNvSpPr>
                    <p:nvPr/>
                  </p:nvSpPr>
                  <p:spPr bwMode="auto">
                    <a:xfrm>
                      <a:off x="2296" y="2056"/>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16" name="Rectangle 232"/>
                    <p:cNvSpPr>
                      <a:spLocks noChangeArrowheads="1"/>
                    </p:cNvSpPr>
                    <p:nvPr/>
                  </p:nvSpPr>
                  <p:spPr bwMode="auto">
                    <a:xfrm>
                      <a:off x="2344" y="2000"/>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grpSp>
          <p:grpSp>
            <p:nvGrpSpPr>
              <p:cNvPr id="41455" name="Group 233"/>
              <p:cNvGrpSpPr>
                <a:grpSpLocks/>
              </p:cNvGrpSpPr>
              <p:nvPr/>
            </p:nvGrpSpPr>
            <p:grpSpPr bwMode="auto">
              <a:xfrm>
                <a:off x="3703" y="1382"/>
                <a:ext cx="185" cy="74"/>
                <a:chOff x="1024" y="3264"/>
                <a:chExt cx="320" cy="296"/>
              </a:xfrm>
            </p:grpSpPr>
            <p:sp>
              <p:nvSpPr>
                <p:cNvPr id="41697" name="Rectangle 234"/>
                <p:cNvSpPr>
                  <a:spLocks noChangeArrowheads="1"/>
                </p:cNvSpPr>
                <p:nvPr/>
              </p:nvSpPr>
              <p:spPr bwMode="auto">
                <a:xfrm>
                  <a:off x="1024" y="3376"/>
                  <a:ext cx="192" cy="184"/>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98" name="Rectangle 235"/>
                <p:cNvSpPr>
                  <a:spLocks noChangeArrowheads="1"/>
                </p:cNvSpPr>
                <p:nvPr/>
              </p:nvSpPr>
              <p:spPr bwMode="auto">
                <a:xfrm>
                  <a:off x="1072" y="3336"/>
                  <a:ext cx="192" cy="184"/>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99" name="Rectangle 236"/>
                <p:cNvSpPr>
                  <a:spLocks noChangeArrowheads="1"/>
                </p:cNvSpPr>
                <p:nvPr/>
              </p:nvSpPr>
              <p:spPr bwMode="auto">
                <a:xfrm>
                  <a:off x="1112" y="3296"/>
                  <a:ext cx="192" cy="184"/>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700" name="Rectangle 237"/>
                <p:cNvSpPr>
                  <a:spLocks noChangeArrowheads="1"/>
                </p:cNvSpPr>
                <p:nvPr/>
              </p:nvSpPr>
              <p:spPr bwMode="auto">
                <a:xfrm>
                  <a:off x="1152" y="3264"/>
                  <a:ext cx="192" cy="184"/>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nvGrpSpPr>
              <p:cNvPr id="41456" name="Group 238"/>
              <p:cNvGrpSpPr>
                <a:grpSpLocks/>
              </p:cNvGrpSpPr>
              <p:nvPr/>
            </p:nvGrpSpPr>
            <p:grpSpPr bwMode="auto">
              <a:xfrm>
                <a:off x="4152" y="1376"/>
                <a:ext cx="184" cy="73"/>
                <a:chOff x="1024" y="3264"/>
                <a:chExt cx="320" cy="296"/>
              </a:xfrm>
            </p:grpSpPr>
            <p:sp>
              <p:nvSpPr>
                <p:cNvPr id="41693" name="Rectangle 239"/>
                <p:cNvSpPr>
                  <a:spLocks noChangeArrowheads="1"/>
                </p:cNvSpPr>
                <p:nvPr/>
              </p:nvSpPr>
              <p:spPr bwMode="auto">
                <a:xfrm>
                  <a:off x="1024" y="3376"/>
                  <a:ext cx="192" cy="184"/>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94" name="Rectangle 240"/>
                <p:cNvSpPr>
                  <a:spLocks noChangeArrowheads="1"/>
                </p:cNvSpPr>
                <p:nvPr/>
              </p:nvSpPr>
              <p:spPr bwMode="auto">
                <a:xfrm>
                  <a:off x="1072" y="3336"/>
                  <a:ext cx="192" cy="184"/>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95" name="Rectangle 241"/>
                <p:cNvSpPr>
                  <a:spLocks noChangeArrowheads="1"/>
                </p:cNvSpPr>
                <p:nvPr/>
              </p:nvSpPr>
              <p:spPr bwMode="auto">
                <a:xfrm>
                  <a:off x="1112" y="3296"/>
                  <a:ext cx="192" cy="184"/>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96" name="Rectangle 242"/>
                <p:cNvSpPr>
                  <a:spLocks noChangeArrowheads="1"/>
                </p:cNvSpPr>
                <p:nvPr/>
              </p:nvSpPr>
              <p:spPr bwMode="auto">
                <a:xfrm>
                  <a:off x="1152" y="3264"/>
                  <a:ext cx="192" cy="184"/>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nvGrpSpPr>
              <p:cNvPr id="41457" name="Group 243"/>
              <p:cNvGrpSpPr>
                <a:grpSpLocks/>
              </p:cNvGrpSpPr>
              <p:nvPr/>
            </p:nvGrpSpPr>
            <p:grpSpPr bwMode="auto">
              <a:xfrm>
                <a:off x="5005" y="1169"/>
                <a:ext cx="183" cy="73"/>
                <a:chOff x="1024" y="3264"/>
                <a:chExt cx="320" cy="296"/>
              </a:xfrm>
            </p:grpSpPr>
            <p:sp>
              <p:nvSpPr>
                <p:cNvPr id="41689" name="Rectangle 244"/>
                <p:cNvSpPr>
                  <a:spLocks noChangeArrowheads="1"/>
                </p:cNvSpPr>
                <p:nvPr/>
              </p:nvSpPr>
              <p:spPr bwMode="auto">
                <a:xfrm>
                  <a:off x="1024" y="3376"/>
                  <a:ext cx="192" cy="184"/>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90" name="Rectangle 245"/>
                <p:cNvSpPr>
                  <a:spLocks noChangeArrowheads="1"/>
                </p:cNvSpPr>
                <p:nvPr/>
              </p:nvSpPr>
              <p:spPr bwMode="auto">
                <a:xfrm>
                  <a:off x="1072" y="3336"/>
                  <a:ext cx="192" cy="184"/>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91" name="Rectangle 246"/>
                <p:cNvSpPr>
                  <a:spLocks noChangeArrowheads="1"/>
                </p:cNvSpPr>
                <p:nvPr/>
              </p:nvSpPr>
              <p:spPr bwMode="auto">
                <a:xfrm>
                  <a:off x="1112" y="3296"/>
                  <a:ext cx="192" cy="184"/>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92" name="Rectangle 247"/>
                <p:cNvSpPr>
                  <a:spLocks noChangeArrowheads="1"/>
                </p:cNvSpPr>
                <p:nvPr/>
              </p:nvSpPr>
              <p:spPr bwMode="auto">
                <a:xfrm>
                  <a:off x="1152" y="3264"/>
                  <a:ext cx="192" cy="184"/>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nvGrpSpPr>
              <p:cNvPr id="41458" name="Group 248"/>
              <p:cNvGrpSpPr>
                <a:grpSpLocks/>
              </p:cNvGrpSpPr>
              <p:nvPr/>
            </p:nvGrpSpPr>
            <p:grpSpPr bwMode="auto">
              <a:xfrm>
                <a:off x="4528" y="1367"/>
                <a:ext cx="184" cy="73"/>
                <a:chOff x="1024" y="3264"/>
                <a:chExt cx="320" cy="296"/>
              </a:xfrm>
            </p:grpSpPr>
            <p:sp>
              <p:nvSpPr>
                <p:cNvPr id="41685" name="Rectangle 249"/>
                <p:cNvSpPr>
                  <a:spLocks noChangeArrowheads="1"/>
                </p:cNvSpPr>
                <p:nvPr/>
              </p:nvSpPr>
              <p:spPr bwMode="auto">
                <a:xfrm>
                  <a:off x="1024" y="3376"/>
                  <a:ext cx="192" cy="184"/>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86" name="Rectangle 250"/>
                <p:cNvSpPr>
                  <a:spLocks noChangeArrowheads="1"/>
                </p:cNvSpPr>
                <p:nvPr/>
              </p:nvSpPr>
              <p:spPr bwMode="auto">
                <a:xfrm>
                  <a:off x="1072" y="3336"/>
                  <a:ext cx="192" cy="184"/>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87" name="Rectangle 251"/>
                <p:cNvSpPr>
                  <a:spLocks noChangeArrowheads="1"/>
                </p:cNvSpPr>
                <p:nvPr/>
              </p:nvSpPr>
              <p:spPr bwMode="auto">
                <a:xfrm>
                  <a:off x="1112" y="3296"/>
                  <a:ext cx="192" cy="184"/>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88" name="Rectangle 252"/>
                <p:cNvSpPr>
                  <a:spLocks noChangeArrowheads="1"/>
                </p:cNvSpPr>
                <p:nvPr/>
              </p:nvSpPr>
              <p:spPr bwMode="auto">
                <a:xfrm>
                  <a:off x="1152" y="3264"/>
                  <a:ext cx="192" cy="184"/>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nvGrpSpPr>
              <p:cNvPr id="41459" name="Group 253"/>
              <p:cNvGrpSpPr>
                <a:grpSpLocks/>
              </p:cNvGrpSpPr>
              <p:nvPr/>
            </p:nvGrpSpPr>
            <p:grpSpPr bwMode="auto">
              <a:xfrm>
                <a:off x="3176" y="1260"/>
                <a:ext cx="185" cy="73"/>
                <a:chOff x="1024" y="3264"/>
                <a:chExt cx="320" cy="296"/>
              </a:xfrm>
            </p:grpSpPr>
            <p:sp>
              <p:nvSpPr>
                <p:cNvPr id="41681" name="Rectangle 254"/>
                <p:cNvSpPr>
                  <a:spLocks noChangeArrowheads="1"/>
                </p:cNvSpPr>
                <p:nvPr/>
              </p:nvSpPr>
              <p:spPr bwMode="auto">
                <a:xfrm>
                  <a:off x="1024" y="3376"/>
                  <a:ext cx="192" cy="184"/>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82" name="Rectangle 255"/>
                <p:cNvSpPr>
                  <a:spLocks noChangeArrowheads="1"/>
                </p:cNvSpPr>
                <p:nvPr/>
              </p:nvSpPr>
              <p:spPr bwMode="auto">
                <a:xfrm>
                  <a:off x="1072" y="3336"/>
                  <a:ext cx="192" cy="184"/>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83" name="Rectangle 256"/>
                <p:cNvSpPr>
                  <a:spLocks noChangeArrowheads="1"/>
                </p:cNvSpPr>
                <p:nvPr/>
              </p:nvSpPr>
              <p:spPr bwMode="auto">
                <a:xfrm>
                  <a:off x="1112" y="3296"/>
                  <a:ext cx="192" cy="184"/>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84" name="Rectangle 257"/>
                <p:cNvSpPr>
                  <a:spLocks noChangeArrowheads="1"/>
                </p:cNvSpPr>
                <p:nvPr/>
              </p:nvSpPr>
              <p:spPr bwMode="auto">
                <a:xfrm>
                  <a:off x="1152" y="3264"/>
                  <a:ext cx="192" cy="184"/>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nvGrpSpPr>
              <p:cNvPr id="41460" name="Group 258"/>
              <p:cNvGrpSpPr>
                <a:grpSpLocks/>
              </p:cNvGrpSpPr>
              <p:nvPr/>
            </p:nvGrpSpPr>
            <p:grpSpPr bwMode="auto">
              <a:xfrm>
                <a:off x="3158" y="1191"/>
                <a:ext cx="184" cy="73"/>
                <a:chOff x="1024" y="3264"/>
                <a:chExt cx="320" cy="296"/>
              </a:xfrm>
            </p:grpSpPr>
            <p:sp>
              <p:nvSpPr>
                <p:cNvPr id="41677" name="Rectangle 259"/>
                <p:cNvSpPr>
                  <a:spLocks noChangeArrowheads="1"/>
                </p:cNvSpPr>
                <p:nvPr/>
              </p:nvSpPr>
              <p:spPr bwMode="auto">
                <a:xfrm>
                  <a:off x="1024" y="3376"/>
                  <a:ext cx="192" cy="184"/>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78" name="Rectangle 260"/>
                <p:cNvSpPr>
                  <a:spLocks noChangeArrowheads="1"/>
                </p:cNvSpPr>
                <p:nvPr/>
              </p:nvSpPr>
              <p:spPr bwMode="auto">
                <a:xfrm>
                  <a:off x="1072" y="3336"/>
                  <a:ext cx="192" cy="184"/>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79" name="Rectangle 261"/>
                <p:cNvSpPr>
                  <a:spLocks noChangeArrowheads="1"/>
                </p:cNvSpPr>
                <p:nvPr/>
              </p:nvSpPr>
              <p:spPr bwMode="auto">
                <a:xfrm>
                  <a:off x="1112" y="3296"/>
                  <a:ext cx="192" cy="184"/>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80" name="Rectangle 262"/>
                <p:cNvSpPr>
                  <a:spLocks noChangeArrowheads="1"/>
                </p:cNvSpPr>
                <p:nvPr/>
              </p:nvSpPr>
              <p:spPr bwMode="auto">
                <a:xfrm>
                  <a:off x="1152" y="3264"/>
                  <a:ext cx="192" cy="184"/>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nvGrpSpPr>
              <p:cNvPr id="41461" name="Group 263"/>
              <p:cNvGrpSpPr>
                <a:grpSpLocks/>
              </p:cNvGrpSpPr>
              <p:nvPr/>
            </p:nvGrpSpPr>
            <p:grpSpPr bwMode="auto">
              <a:xfrm>
                <a:off x="3323" y="1395"/>
                <a:ext cx="184" cy="73"/>
                <a:chOff x="1024" y="3264"/>
                <a:chExt cx="320" cy="296"/>
              </a:xfrm>
            </p:grpSpPr>
            <p:sp>
              <p:nvSpPr>
                <p:cNvPr id="41673" name="Rectangle 264"/>
                <p:cNvSpPr>
                  <a:spLocks noChangeArrowheads="1"/>
                </p:cNvSpPr>
                <p:nvPr/>
              </p:nvSpPr>
              <p:spPr bwMode="auto">
                <a:xfrm>
                  <a:off x="1024" y="3376"/>
                  <a:ext cx="192" cy="184"/>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74" name="Rectangle 265"/>
                <p:cNvSpPr>
                  <a:spLocks noChangeArrowheads="1"/>
                </p:cNvSpPr>
                <p:nvPr/>
              </p:nvSpPr>
              <p:spPr bwMode="auto">
                <a:xfrm>
                  <a:off x="1072" y="3336"/>
                  <a:ext cx="192" cy="184"/>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75" name="Rectangle 266"/>
                <p:cNvSpPr>
                  <a:spLocks noChangeArrowheads="1"/>
                </p:cNvSpPr>
                <p:nvPr/>
              </p:nvSpPr>
              <p:spPr bwMode="auto">
                <a:xfrm>
                  <a:off x="1112" y="3296"/>
                  <a:ext cx="192" cy="184"/>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76" name="Rectangle 267"/>
                <p:cNvSpPr>
                  <a:spLocks noChangeArrowheads="1"/>
                </p:cNvSpPr>
                <p:nvPr/>
              </p:nvSpPr>
              <p:spPr bwMode="auto">
                <a:xfrm>
                  <a:off x="1152" y="3264"/>
                  <a:ext cx="192" cy="184"/>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nvGrpSpPr>
              <p:cNvPr id="41462" name="Group 268"/>
              <p:cNvGrpSpPr>
                <a:grpSpLocks/>
              </p:cNvGrpSpPr>
              <p:nvPr/>
            </p:nvGrpSpPr>
            <p:grpSpPr bwMode="auto">
              <a:xfrm>
                <a:off x="2799" y="1168"/>
                <a:ext cx="154" cy="61"/>
                <a:chOff x="428" y="2146"/>
                <a:chExt cx="268" cy="244"/>
              </a:xfrm>
            </p:grpSpPr>
            <p:sp>
              <p:nvSpPr>
                <p:cNvPr id="41664" name="Rectangle 269"/>
                <p:cNvSpPr>
                  <a:spLocks noChangeArrowheads="1"/>
                </p:cNvSpPr>
                <p:nvPr/>
              </p:nvSpPr>
              <p:spPr bwMode="auto">
                <a:xfrm>
                  <a:off x="632" y="2152"/>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65" name="Rectangle 270"/>
                <p:cNvSpPr>
                  <a:spLocks noChangeArrowheads="1"/>
                </p:cNvSpPr>
                <p:nvPr/>
              </p:nvSpPr>
              <p:spPr bwMode="auto">
                <a:xfrm>
                  <a:off x="536" y="214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66" name="Rectangle 271"/>
                <p:cNvSpPr>
                  <a:spLocks noChangeArrowheads="1"/>
                </p:cNvSpPr>
                <p:nvPr/>
              </p:nvSpPr>
              <p:spPr bwMode="auto">
                <a:xfrm>
                  <a:off x="626" y="223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67" name="Rectangle 272"/>
                <p:cNvSpPr>
                  <a:spLocks noChangeArrowheads="1"/>
                </p:cNvSpPr>
                <p:nvPr/>
              </p:nvSpPr>
              <p:spPr bwMode="auto">
                <a:xfrm>
                  <a:off x="530" y="2230"/>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68" name="Rectangle 273"/>
                <p:cNvSpPr>
                  <a:spLocks noChangeArrowheads="1"/>
                </p:cNvSpPr>
                <p:nvPr/>
              </p:nvSpPr>
              <p:spPr bwMode="auto">
                <a:xfrm>
                  <a:off x="434" y="216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69" name="Rectangle 274"/>
                <p:cNvSpPr>
                  <a:spLocks noChangeArrowheads="1"/>
                </p:cNvSpPr>
                <p:nvPr/>
              </p:nvSpPr>
              <p:spPr bwMode="auto">
                <a:xfrm>
                  <a:off x="428" y="2248"/>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70" name="Rectangle 275"/>
                <p:cNvSpPr>
                  <a:spLocks noChangeArrowheads="1"/>
                </p:cNvSpPr>
                <p:nvPr/>
              </p:nvSpPr>
              <p:spPr bwMode="auto">
                <a:xfrm>
                  <a:off x="626" y="231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71" name="Rectangle 276"/>
                <p:cNvSpPr>
                  <a:spLocks noChangeArrowheads="1"/>
                </p:cNvSpPr>
                <p:nvPr/>
              </p:nvSpPr>
              <p:spPr bwMode="auto">
                <a:xfrm>
                  <a:off x="530" y="2308"/>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72" name="Rectangle 277"/>
                <p:cNvSpPr>
                  <a:spLocks noChangeArrowheads="1"/>
                </p:cNvSpPr>
                <p:nvPr/>
              </p:nvSpPr>
              <p:spPr bwMode="auto">
                <a:xfrm>
                  <a:off x="428" y="232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nvGrpSpPr>
              <p:cNvPr id="41463" name="Group 278"/>
              <p:cNvGrpSpPr>
                <a:grpSpLocks/>
              </p:cNvGrpSpPr>
              <p:nvPr/>
            </p:nvGrpSpPr>
            <p:grpSpPr bwMode="auto">
              <a:xfrm>
                <a:off x="2801" y="1232"/>
                <a:ext cx="154" cy="61"/>
                <a:chOff x="428" y="2146"/>
                <a:chExt cx="268" cy="244"/>
              </a:xfrm>
            </p:grpSpPr>
            <p:sp>
              <p:nvSpPr>
                <p:cNvPr id="41655" name="Rectangle 279"/>
                <p:cNvSpPr>
                  <a:spLocks noChangeArrowheads="1"/>
                </p:cNvSpPr>
                <p:nvPr/>
              </p:nvSpPr>
              <p:spPr bwMode="auto">
                <a:xfrm>
                  <a:off x="632" y="2152"/>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56" name="Rectangle 280"/>
                <p:cNvSpPr>
                  <a:spLocks noChangeArrowheads="1"/>
                </p:cNvSpPr>
                <p:nvPr/>
              </p:nvSpPr>
              <p:spPr bwMode="auto">
                <a:xfrm>
                  <a:off x="536" y="214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57" name="Rectangle 281"/>
                <p:cNvSpPr>
                  <a:spLocks noChangeArrowheads="1"/>
                </p:cNvSpPr>
                <p:nvPr/>
              </p:nvSpPr>
              <p:spPr bwMode="auto">
                <a:xfrm>
                  <a:off x="626" y="223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58" name="Rectangle 282"/>
                <p:cNvSpPr>
                  <a:spLocks noChangeArrowheads="1"/>
                </p:cNvSpPr>
                <p:nvPr/>
              </p:nvSpPr>
              <p:spPr bwMode="auto">
                <a:xfrm>
                  <a:off x="530" y="2230"/>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59" name="Rectangle 283"/>
                <p:cNvSpPr>
                  <a:spLocks noChangeArrowheads="1"/>
                </p:cNvSpPr>
                <p:nvPr/>
              </p:nvSpPr>
              <p:spPr bwMode="auto">
                <a:xfrm>
                  <a:off x="434" y="216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60" name="Rectangle 284"/>
                <p:cNvSpPr>
                  <a:spLocks noChangeArrowheads="1"/>
                </p:cNvSpPr>
                <p:nvPr/>
              </p:nvSpPr>
              <p:spPr bwMode="auto">
                <a:xfrm>
                  <a:off x="428" y="2248"/>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61" name="Rectangle 285"/>
                <p:cNvSpPr>
                  <a:spLocks noChangeArrowheads="1"/>
                </p:cNvSpPr>
                <p:nvPr/>
              </p:nvSpPr>
              <p:spPr bwMode="auto">
                <a:xfrm>
                  <a:off x="626" y="231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62" name="Rectangle 286"/>
                <p:cNvSpPr>
                  <a:spLocks noChangeArrowheads="1"/>
                </p:cNvSpPr>
                <p:nvPr/>
              </p:nvSpPr>
              <p:spPr bwMode="auto">
                <a:xfrm>
                  <a:off x="530" y="2308"/>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63" name="Rectangle 287"/>
                <p:cNvSpPr>
                  <a:spLocks noChangeArrowheads="1"/>
                </p:cNvSpPr>
                <p:nvPr/>
              </p:nvSpPr>
              <p:spPr bwMode="auto">
                <a:xfrm>
                  <a:off x="428" y="232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sp>
            <p:nvSpPr>
              <p:cNvPr id="41464" name="Rectangle 288"/>
              <p:cNvSpPr>
                <a:spLocks noChangeArrowheads="1"/>
              </p:cNvSpPr>
              <p:nvPr/>
            </p:nvSpPr>
            <p:spPr bwMode="auto">
              <a:xfrm>
                <a:off x="3017" y="1167"/>
                <a:ext cx="93" cy="39"/>
              </a:xfrm>
              <a:prstGeom prst="rect">
                <a:avLst/>
              </a:prstGeom>
              <a:solidFill>
                <a:srgbClr val="FFFF00"/>
              </a:solidFill>
              <a:ln w="12700">
                <a:solidFill>
                  <a:schemeClr val="tx1"/>
                </a:solidFill>
                <a:miter lim="800000"/>
                <a:headEnd type="none" w="sm" len="sm"/>
                <a:tailEnd type="none" w="sm" len="sm"/>
              </a:ln>
            </p:spPr>
            <p:txBody>
              <a:bodyPr wrap="none" anchor="ctr"/>
              <a:lstStyle/>
              <a:p>
                <a:pPr algn="ctr"/>
                <a:endParaRPr lang="en-US" sz="1200" b="0">
                  <a:solidFill>
                    <a:srgbClr val="FFFF00"/>
                  </a:solidFill>
                  <a:latin typeface="Gill Sans" charset="0"/>
                  <a:cs typeface="Gill Sans" charset="0"/>
                </a:endParaRPr>
              </a:p>
            </p:txBody>
          </p:sp>
          <p:sp>
            <p:nvSpPr>
              <p:cNvPr id="41465" name="Rectangle 289"/>
              <p:cNvSpPr>
                <a:spLocks noChangeArrowheads="1"/>
              </p:cNvSpPr>
              <p:nvPr/>
            </p:nvSpPr>
            <p:spPr bwMode="auto">
              <a:xfrm>
                <a:off x="3020" y="1229"/>
                <a:ext cx="93" cy="38"/>
              </a:xfrm>
              <a:prstGeom prst="rect">
                <a:avLst/>
              </a:prstGeom>
              <a:solidFill>
                <a:srgbClr val="FFFF00"/>
              </a:solidFill>
              <a:ln w="12700">
                <a:solidFill>
                  <a:schemeClr val="tx1"/>
                </a:solidFill>
                <a:miter lim="800000"/>
                <a:headEnd type="none" w="sm" len="sm"/>
                <a:tailEnd type="none" w="sm" len="sm"/>
              </a:ln>
            </p:spPr>
            <p:txBody>
              <a:bodyPr wrap="none" anchor="ctr"/>
              <a:lstStyle/>
              <a:p>
                <a:pPr algn="ctr"/>
                <a:endParaRPr lang="en-US" sz="1200" b="0">
                  <a:solidFill>
                    <a:srgbClr val="FFFF00"/>
                  </a:solidFill>
                  <a:latin typeface="Gill Sans" charset="0"/>
                  <a:cs typeface="Gill Sans" charset="0"/>
                </a:endParaRPr>
              </a:p>
            </p:txBody>
          </p:sp>
          <p:grpSp>
            <p:nvGrpSpPr>
              <p:cNvPr id="41466" name="Group 290"/>
              <p:cNvGrpSpPr>
                <a:grpSpLocks/>
              </p:cNvGrpSpPr>
              <p:nvPr/>
            </p:nvGrpSpPr>
            <p:grpSpPr bwMode="auto">
              <a:xfrm>
                <a:off x="2932" y="1390"/>
                <a:ext cx="154" cy="61"/>
                <a:chOff x="428" y="2146"/>
                <a:chExt cx="268" cy="244"/>
              </a:xfrm>
            </p:grpSpPr>
            <p:sp>
              <p:nvSpPr>
                <p:cNvPr id="41646" name="Rectangle 291"/>
                <p:cNvSpPr>
                  <a:spLocks noChangeArrowheads="1"/>
                </p:cNvSpPr>
                <p:nvPr/>
              </p:nvSpPr>
              <p:spPr bwMode="auto">
                <a:xfrm>
                  <a:off x="632" y="2152"/>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47" name="Rectangle 292"/>
                <p:cNvSpPr>
                  <a:spLocks noChangeArrowheads="1"/>
                </p:cNvSpPr>
                <p:nvPr/>
              </p:nvSpPr>
              <p:spPr bwMode="auto">
                <a:xfrm>
                  <a:off x="536" y="214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48" name="Rectangle 293"/>
                <p:cNvSpPr>
                  <a:spLocks noChangeArrowheads="1"/>
                </p:cNvSpPr>
                <p:nvPr/>
              </p:nvSpPr>
              <p:spPr bwMode="auto">
                <a:xfrm>
                  <a:off x="626" y="223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49" name="Rectangle 294"/>
                <p:cNvSpPr>
                  <a:spLocks noChangeArrowheads="1"/>
                </p:cNvSpPr>
                <p:nvPr/>
              </p:nvSpPr>
              <p:spPr bwMode="auto">
                <a:xfrm>
                  <a:off x="530" y="2230"/>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50" name="Rectangle 295"/>
                <p:cNvSpPr>
                  <a:spLocks noChangeArrowheads="1"/>
                </p:cNvSpPr>
                <p:nvPr/>
              </p:nvSpPr>
              <p:spPr bwMode="auto">
                <a:xfrm>
                  <a:off x="434" y="216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51" name="Rectangle 296"/>
                <p:cNvSpPr>
                  <a:spLocks noChangeArrowheads="1"/>
                </p:cNvSpPr>
                <p:nvPr/>
              </p:nvSpPr>
              <p:spPr bwMode="auto">
                <a:xfrm>
                  <a:off x="428" y="2248"/>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52" name="Rectangle 297"/>
                <p:cNvSpPr>
                  <a:spLocks noChangeArrowheads="1"/>
                </p:cNvSpPr>
                <p:nvPr/>
              </p:nvSpPr>
              <p:spPr bwMode="auto">
                <a:xfrm>
                  <a:off x="626" y="231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53" name="Rectangle 298"/>
                <p:cNvSpPr>
                  <a:spLocks noChangeArrowheads="1"/>
                </p:cNvSpPr>
                <p:nvPr/>
              </p:nvSpPr>
              <p:spPr bwMode="auto">
                <a:xfrm>
                  <a:off x="530" y="2308"/>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54" name="Rectangle 299"/>
                <p:cNvSpPr>
                  <a:spLocks noChangeArrowheads="1"/>
                </p:cNvSpPr>
                <p:nvPr/>
              </p:nvSpPr>
              <p:spPr bwMode="auto">
                <a:xfrm>
                  <a:off x="428" y="232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nvGrpSpPr>
              <p:cNvPr id="41467" name="Group 300"/>
              <p:cNvGrpSpPr>
                <a:grpSpLocks/>
              </p:cNvGrpSpPr>
              <p:nvPr/>
            </p:nvGrpSpPr>
            <p:grpSpPr bwMode="auto">
              <a:xfrm>
                <a:off x="2945" y="1465"/>
                <a:ext cx="155" cy="60"/>
                <a:chOff x="428" y="2146"/>
                <a:chExt cx="268" cy="244"/>
              </a:xfrm>
            </p:grpSpPr>
            <p:sp>
              <p:nvSpPr>
                <p:cNvPr id="41637" name="Rectangle 301"/>
                <p:cNvSpPr>
                  <a:spLocks noChangeArrowheads="1"/>
                </p:cNvSpPr>
                <p:nvPr/>
              </p:nvSpPr>
              <p:spPr bwMode="auto">
                <a:xfrm>
                  <a:off x="632" y="2152"/>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38" name="Rectangle 302"/>
                <p:cNvSpPr>
                  <a:spLocks noChangeArrowheads="1"/>
                </p:cNvSpPr>
                <p:nvPr/>
              </p:nvSpPr>
              <p:spPr bwMode="auto">
                <a:xfrm>
                  <a:off x="536" y="214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39" name="Rectangle 303"/>
                <p:cNvSpPr>
                  <a:spLocks noChangeArrowheads="1"/>
                </p:cNvSpPr>
                <p:nvPr/>
              </p:nvSpPr>
              <p:spPr bwMode="auto">
                <a:xfrm>
                  <a:off x="626" y="223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40" name="Rectangle 304"/>
                <p:cNvSpPr>
                  <a:spLocks noChangeArrowheads="1"/>
                </p:cNvSpPr>
                <p:nvPr/>
              </p:nvSpPr>
              <p:spPr bwMode="auto">
                <a:xfrm>
                  <a:off x="530" y="2230"/>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41" name="Rectangle 305"/>
                <p:cNvSpPr>
                  <a:spLocks noChangeArrowheads="1"/>
                </p:cNvSpPr>
                <p:nvPr/>
              </p:nvSpPr>
              <p:spPr bwMode="auto">
                <a:xfrm>
                  <a:off x="434" y="216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42" name="Rectangle 306"/>
                <p:cNvSpPr>
                  <a:spLocks noChangeArrowheads="1"/>
                </p:cNvSpPr>
                <p:nvPr/>
              </p:nvSpPr>
              <p:spPr bwMode="auto">
                <a:xfrm>
                  <a:off x="428" y="2248"/>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43" name="Rectangle 307"/>
                <p:cNvSpPr>
                  <a:spLocks noChangeArrowheads="1"/>
                </p:cNvSpPr>
                <p:nvPr/>
              </p:nvSpPr>
              <p:spPr bwMode="auto">
                <a:xfrm>
                  <a:off x="626" y="231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44" name="Rectangle 308"/>
                <p:cNvSpPr>
                  <a:spLocks noChangeArrowheads="1"/>
                </p:cNvSpPr>
                <p:nvPr/>
              </p:nvSpPr>
              <p:spPr bwMode="auto">
                <a:xfrm>
                  <a:off x="530" y="2308"/>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45" name="Rectangle 309"/>
                <p:cNvSpPr>
                  <a:spLocks noChangeArrowheads="1"/>
                </p:cNvSpPr>
                <p:nvPr/>
              </p:nvSpPr>
              <p:spPr bwMode="auto">
                <a:xfrm>
                  <a:off x="428" y="232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sp>
            <p:nvSpPr>
              <p:cNvPr id="41468" name="Rectangle 310"/>
              <p:cNvSpPr>
                <a:spLocks noChangeArrowheads="1"/>
              </p:cNvSpPr>
              <p:nvPr/>
            </p:nvSpPr>
            <p:spPr bwMode="auto">
              <a:xfrm>
                <a:off x="3127" y="1431"/>
                <a:ext cx="93" cy="39"/>
              </a:xfrm>
              <a:prstGeom prst="rect">
                <a:avLst/>
              </a:prstGeom>
              <a:solidFill>
                <a:srgbClr val="FFFF00"/>
              </a:solidFill>
              <a:ln w="12700">
                <a:solidFill>
                  <a:schemeClr val="tx1"/>
                </a:solidFill>
                <a:miter lim="800000"/>
                <a:headEnd type="none" w="sm" len="sm"/>
                <a:tailEnd type="none" w="sm" len="sm"/>
              </a:ln>
            </p:spPr>
            <p:txBody>
              <a:bodyPr wrap="none" anchor="ctr"/>
              <a:lstStyle/>
              <a:p>
                <a:pPr algn="ctr"/>
                <a:endParaRPr lang="en-US" sz="1200" b="0">
                  <a:solidFill>
                    <a:srgbClr val="FFFF00"/>
                  </a:solidFill>
                  <a:latin typeface="Gill Sans" charset="0"/>
                  <a:cs typeface="Gill Sans" charset="0"/>
                </a:endParaRPr>
              </a:p>
            </p:txBody>
          </p:sp>
          <p:grpSp>
            <p:nvGrpSpPr>
              <p:cNvPr id="41469" name="Group 311"/>
              <p:cNvGrpSpPr>
                <a:grpSpLocks/>
              </p:cNvGrpSpPr>
              <p:nvPr/>
            </p:nvGrpSpPr>
            <p:grpSpPr bwMode="auto">
              <a:xfrm>
                <a:off x="3466" y="1524"/>
                <a:ext cx="155" cy="60"/>
                <a:chOff x="428" y="2146"/>
                <a:chExt cx="268" cy="244"/>
              </a:xfrm>
            </p:grpSpPr>
            <p:sp>
              <p:nvSpPr>
                <p:cNvPr id="41628" name="Rectangle 312"/>
                <p:cNvSpPr>
                  <a:spLocks noChangeArrowheads="1"/>
                </p:cNvSpPr>
                <p:nvPr/>
              </p:nvSpPr>
              <p:spPr bwMode="auto">
                <a:xfrm>
                  <a:off x="632" y="2152"/>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29" name="Rectangle 313"/>
                <p:cNvSpPr>
                  <a:spLocks noChangeArrowheads="1"/>
                </p:cNvSpPr>
                <p:nvPr/>
              </p:nvSpPr>
              <p:spPr bwMode="auto">
                <a:xfrm>
                  <a:off x="536" y="214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30" name="Rectangle 314"/>
                <p:cNvSpPr>
                  <a:spLocks noChangeArrowheads="1"/>
                </p:cNvSpPr>
                <p:nvPr/>
              </p:nvSpPr>
              <p:spPr bwMode="auto">
                <a:xfrm>
                  <a:off x="626" y="223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31" name="Rectangle 315"/>
                <p:cNvSpPr>
                  <a:spLocks noChangeArrowheads="1"/>
                </p:cNvSpPr>
                <p:nvPr/>
              </p:nvSpPr>
              <p:spPr bwMode="auto">
                <a:xfrm>
                  <a:off x="530" y="2230"/>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32" name="Rectangle 316"/>
                <p:cNvSpPr>
                  <a:spLocks noChangeArrowheads="1"/>
                </p:cNvSpPr>
                <p:nvPr/>
              </p:nvSpPr>
              <p:spPr bwMode="auto">
                <a:xfrm>
                  <a:off x="434" y="216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33" name="Rectangle 317"/>
                <p:cNvSpPr>
                  <a:spLocks noChangeArrowheads="1"/>
                </p:cNvSpPr>
                <p:nvPr/>
              </p:nvSpPr>
              <p:spPr bwMode="auto">
                <a:xfrm>
                  <a:off x="428" y="2248"/>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34" name="Rectangle 318"/>
                <p:cNvSpPr>
                  <a:spLocks noChangeArrowheads="1"/>
                </p:cNvSpPr>
                <p:nvPr/>
              </p:nvSpPr>
              <p:spPr bwMode="auto">
                <a:xfrm>
                  <a:off x="626" y="231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35" name="Rectangle 319"/>
                <p:cNvSpPr>
                  <a:spLocks noChangeArrowheads="1"/>
                </p:cNvSpPr>
                <p:nvPr/>
              </p:nvSpPr>
              <p:spPr bwMode="auto">
                <a:xfrm>
                  <a:off x="530" y="2308"/>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36" name="Rectangle 320"/>
                <p:cNvSpPr>
                  <a:spLocks noChangeArrowheads="1"/>
                </p:cNvSpPr>
                <p:nvPr/>
              </p:nvSpPr>
              <p:spPr bwMode="auto">
                <a:xfrm>
                  <a:off x="428" y="232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sp>
            <p:nvSpPr>
              <p:cNvPr id="41470" name="Rectangle 321"/>
              <p:cNvSpPr>
                <a:spLocks noChangeArrowheads="1"/>
              </p:cNvSpPr>
              <p:nvPr/>
            </p:nvSpPr>
            <p:spPr bwMode="auto">
              <a:xfrm>
                <a:off x="3680" y="1471"/>
                <a:ext cx="93" cy="39"/>
              </a:xfrm>
              <a:prstGeom prst="rect">
                <a:avLst/>
              </a:prstGeom>
              <a:solidFill>
                <a:srgbClr val="FFFF00"/>
              </a:solidFill>
              <a:ln w="12700">
                <a:solidFill>
                  <a:schemeClr val="tx1"/>
                </a:solidFill>
                <a:miter lim="800000"/>
                <a:headEnd type="none" w="sm" len="sm"/>
                <a:tailEnd type="none" w="sm" len="sm"/>
              </a:ln>
            </p:spPr>
            <p:txBody>
              <a:bodyPr wrap="none" anchor="ctr"/>
              <a:lstStyle/>
              <a:p>
                <a:pPr algn="ctr"/>
                <a:endParaRPr lang="en-US" sz="1200" b="0">
                  <a:solidFill>
                    <a:srgbClr val="FFFF00"/>
                  </a:solidFill>
                  <a:latin typeface="Gill Sans" charset="0"/>
                  <a:cs typeface="Gill Sans" charset="0"/>
                </a:endParaRPr>
              </a:p>
            </p:txBody>
          </p:sp>
          <p:grpSp>
            <p:nvGrpSpPr>
              <p:cNvPr id="41471" name="Group 322"/>
              <p:cNvGrpSpPr>
                <a:grpSpLocks/>
              </p:cNvGrpSpPr>
              <p:nvPr/>
            </p:nvGrpSpPr>
            <p:grpSpPr bwMode="auto">
              <a:xfrm>
                <a:off x="4133" y="1520"/>
                <a:ext cx="153" cy="41"/>
                <a:chOff x="2378" y="3784"/>
                <a:chExt cx="268" cy="166"/>
              </a:xfrm>
            </p:grpSpPr>
            <p:sp>
              <p:nvSpPr>
                <p:cNvPr id="41622" name="Rectangle 323"/>
                <p:cNvSpPr>
                  <a:spLocks noChangeArrowheads="1"/>
                </p:cNvSpPr>
                <p:nvPr/>
              </p:nvSpPr>
              <p:spPr bwMode="auto">
                <a:xfrm>
                  <a:off x="2582" y="3790"/>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23" name="Rectangle 324"/>
                <p:cNvSpPr>
                  <a:spLocks noChangeArrowheads="1"/>
                </p:cNvSpPr>
                <p:nvPr/>
              </p:nvSpPr>
              <p:spPr bwMode="auto">
                <a:xfrm>
                  <a:off x="2486" y="378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24" name="Rectangle 325"/>
                <p:cNvSpPr>
                  <a:spLocks noChangeArrowheads="1"/>
                </p:cNvSpPr>
                <p:nvPr/>
              </p:nvSpPr>
              <p:spPr bwMode="auto">
                <a:xfrm>
                  <a:off x="2576" y="387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25" name="Rectangle 326"/>
                <p:cNvSpPr>
                  <a:spLocks noChangeArrowheads="1"/>
                </p:cNvSpPr>
                <p:nvPr/>
              </p:nvSpPr>
              <p:spPr bwMode="auto">
                <a:xfrm>
                  <a:off x="2480" y="3868"/>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26" name="Rectangle 327"/>
                <p:cNvSpPr>
                  <a:spLocks noChangeArrowheads="1"/>
                </p:cNvSpPr>
                <p:nvPr/>
              </p:nvSpPr>
              <p:spPr bwMode="auto">
                <a:xfrm>
                  <a:off x="2384" y="3802"/>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27" name="Rectangle 328"/>
                <p:cNvSpPr>
                  <a:spLocks noChangeArrowheads="1"/>
                </p:cNvSpPr>
                <p:nvPr/>
              </p:nvSpPr>
              <p:spPr bwMode="auto">
                <a:xfrm>
                  <a:off x="2378" y="388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sp>
            <p:nvSpPr>
              <p:cNvPr id="41472" name="Rectangle 329"/>
              <p:cNvSpPr>
                <a:spLocks noChangeArrowheads="1"/>
              </p:cNvSpPr>
              <p:nvPr/>
            </p:nvSpPr>
            <p:spPr bwMode="auto">
              <a:xfrm>
                <a:off x="4173" y="1470"/>
                <a:ext cx="93" cy="38"/>
              </a:xfrm>
              <a:prstGeom prst="rect">
                <a:avLst/>
              </a:prstGeom>
              <a:solidFill>
                <a:srgbClr val="FFFF00"/>
              </a:solidFill>
              <a:ln w="12700">
                <a:solidFill>
                  <a:schemeClr val="tx1"/>
                </a:solidFill>
                <a:miter lim="800000"/>
                <a:headEnd type="none" w="sm" len="sm"/>
                <a:tailEnd type="none" w="sm" len="sm"/>
              </a:ln>
            </p:spPr>
            <p:txBody>
              <a:bodyPr wrap="none" anchor="ctr"/>
              <a:lstStyle/>
              <a:p>
                <a:pPr algn="ctr"/>
                <a:endParaRPr lang="en-US" sz="1200" b="0">
                  <a:solidFill>
                    <a:srgbClr val="FFFF00"/>
                  </a:solidFill>
                  <a:latin typeface="Gill Sans" charset="0"/>
                  <a:cs typeface="Gill Sans" charset="0"/>
                </a:endParaRPr>
              </a:p>
            </p:txBody>
          </p:sp>
          <p:grpSp>
            <p:nvGrpSpPr>
              <p:cNvPr id="41473" name="Group 330"/>
              <p:cNvGrpSpPr>
                <a:grpSpLocks/>
              </p:cNvGrpSpPr>
              <p:nvPr/>
            </p:nvGrpSpPr>
            <p:grpSpPr bwMode="auto">
              <a:xfrm>
                <a:off x="4502" y="1510"/>
                <a:ext cx="154" cy="60"/>
                <a:chOff x="428" y="2146"/>
                <a:chExt cx="268" cy="244"/>
              </a:xfrm>
            </p:grpSpPr>
            <p:sp>
              <p:nvSpPr>
                <p:cNvPr id="41613" name="Rectangle 331"/>
                <p:cNvSpPr>
                  <a:spLocks noChangeArrowheads="1"/>
                </p:cNvSpPr>
                <p:nvPr/>
              </p:nvSpPr>
              <p:spPr bwMode="auto">
                <a:xfrm>
                  <a:off x="632" y="2152"/>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14" name="Rectangle 332"/>
                <p:cNvSpPr>
                  <a:spLocks noChangeArrowheads="1"/>
                </p:cNvSpPr>
                <p:nvPr/>
              </p:nvSpPr>
              <p:spPr bwMode="auto">
                <a:xfrm>
                  <a:off x="536" y="214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15" name="Rectangle 333"/>
                <p:cNvSpPr>
                  <a:spLocks noChangeArrowheads="1"/>
                </p:cNvSpPr>
                <p:nvPr/>
              </p:nvSpPr>
              <p:spPr bwMode="auto">
                <a:xfrm>
                  <a:off x="626" y="223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16" name="Rectangle 334"/>
                <p:cNvSpPr>
                  <a:spLocks noChangeArrowheads="1"/>
                </p:cNvSpPr>
                <p:nvPr/>
              </p:nvSpPr>
              <p:spPr bwMode="auto">
                <a:xfrm>
                  <a:off x="530" y="2230"/>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17" name="Rectangle 335"/>
                <p:cNvSpPr>
                  <a:spLocks noChangeArrowheads="1"/>
                </p:cNvSpPr>
                <p:nvPr/>
              </p:nvSpPr>
              <p:spPr bwMode="auto">
                <a:xfrm>
                  <a:off x="434" y="216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18" name="Rectangle 336"/>
                <p:cNvSpPr>
                  <a:spLocks noChangeArrowheads="1"/>
                </p:cNvSpPr>
                <p:nvPr/>
              </p:nvSpPr>
              <p:spPr bwMode="auto">
                <a:xfrm>
                  <a:off x="428" y="2248"/>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19" name="Rectangle 337"/>
                <p:cNvSpPr>
                  <a:spLocks noChangeArrowheads="1"/>
                </p:cNvSpPr>
                <p:nvPr/>
              </p:nvSpPr>
              <p:spPr bwMode="auto">
                <a:xfrm>
                  <a:off x="626" y="231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20" name="Rectangle 338"/>
                <p:cNvSpPr>
                  <a:spLocks noChangeArrowheads="1"/>
                </p:cNvSpPr>
                <p:nvPr/>
              </p:nvSpPr>
              <p:spPr bwMode="auto">
                <a:xfrm>
                  <a:off x="530" y="2308"/>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21" name="Rectangle 339"/>
                <p:cNvSpPr>
                  <a:spLocks noChangeArrowheads="1"/>
                </p:cNvSpPr>
                <p:nvPr/>
              </p:nvSpPr>
              <p:spPr bwMode="auto">
                <a:xfrm>
                  <a:off x="428" y="232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nvGrpSpPr>
              <p:cNvPr id="41474" name="Group 340"/>
              <p:cNvGrpSpPr>
                <a:grpSpLocks/>
              </p:cNvGrpSpPr>
              <p:nvPr/>
            </p:nvGrpSpPr>
            <p:grpSpPr bwMode="auto">
              <a:xfrm>
                <a:off x="4689" y="1540"/>
                <a:ext cx="155" cy="61"/>
                <a:chOff x="428" y="2146"/>
                <a:chExt cx="268" cy="244"/>
              </a:xfrm>
            </p:grpSpPr>
            <p:sp>
              <p:nvSpPr>
                <p:cNvPr id="41604" name="Rectangle 341"/>
                <p:cNvSpPr>
                  <a:spLocks noChangeArrowheads="1"/>
                </p:cNvSpPr>
                <p:nvPr/>
              </p:nvSpPr>
              <p:spPr bwMode="auto">
                <a:xfrm>
                  <a:off x="632" y="2152"/>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05" name="Rectangle 342"/>
                <p:cNvSpPr>
                  <a:spLocks noChangeArrowheads="1"/>
                </p:cNvSpPr>
                <p:nvPr/>
              </p:nvSpPr>
              <p:spPr bwMode="auto">
                <a:xfrm>
                  <a:off x="536" y="214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06" name="Rectangle 343"/>
                <p:cNvSpPr>
                  <a:spLocks noChangeArrowheads="1"/>
                </p:cNvSpPr>
                <p:nvPr/>
              </p:nvSpPr>
              <p:spPr bwMode="auto">
                <a:xfrm>
                  <a:off x="626" y="223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07" name="Rectangle 344"/>
                <p:cNvSpPr>
                  <a:spLocks noChangeArrowheads="1"/>
                </p:cNvSpPr>
                <p:nvPr/>
              </p:nvSpPr>
              <p:spPr bwMode="auto">
                <a:xfrm>
                  <a:off x="530" y="2230"/>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08" name="Rectangle 345"/>
                <p:cNvSpPr>
                  <a:spLocks noChangeArrowheads="1"/>
                </p:cNvSpPr>
                <p:nvPr/>
              </p:nvSpPr>
              <p:spPr bwMode="auto">
                <a:xfrm>
                  <a:off x="434" y="216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09" name="Rectangle 346"/>
                <p:cNvSpPr>
                  <a:spLocks noChangeArrowheads="1"/>
                </p:cNvSpPr>
                <p:nvPr/>
              </p:nvSpPr>
              <p:spPr bwMode="auto">
                <a:xfrm>
                  <a:off x="428" y="2248"/>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10" name="Rectangle 347"/>
                <p:cNvSpPr>
                  <a:spLocks noChangeArrowheads="1"/>
                </p:cNvSpPr>
                <p:nvPr/>
              </p:nvSpPr>
              <p:spPr bwMode="auto">
                <a:xfrm>
                  <a:off x="626" y="231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11" name="Rectangle 348"/>
                <p:cNvSpPr>
                  <a:spLocks noChangeArrowheads="1"/>
                </p:cNvSpPr>
                <p:nvPr/>
              </p:nvSpPr>
              <p:spPr bwMode="auto">
                <a:xfrm>
                  <a:off x="530" y="2308"/>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12" name="Rectangle 349"/>
                <p:cNvSpPr>
                  <a:spLocks noChangeArrowheads="1"/>
                </p:cNvSpPr>
                <p:nvPr/>
              </p:nvSpPr>
              <p:spPr bwMode="auto">
                <a:xfrm>
                  <a:off x="428" y="232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sp>
            <p:nvSpPr>
              <p:cNvPr id="41475" name="Rectangle 350"/>
              <p:cNvSpPr>
                <a:spLocks noChangeArrowheads="1"/>
              </p:cNvSpPr>
              <p:nvPr/>
            </p:nvSpPr>
            <p:spPr bwMode="auto">
              <a:xfrm>
                <a:off x="4625" y="1455"/>
                <a:ext cx="93" cy="38"/>
              </a:xfrm>
              <a:prstGeom prst="rect">
                <a:avLst/>
              </a:prstGeom>
              <a:solidFill>
                <a:srgbClr val="FFFF00"/>
              </a:solidFill>
              <a:ln w="12700">
                <a:solidFill>
                  <a:schemeClr val="tx1"/>
                </a:solidFill>
                <a:miter lim="800000"/>
                <a:headEnd type="none" w="sm" len="sm"/>
                <a:tailEnd type="none" w="sm" len="sm"/>
              </a:ln>
            </p:spPr>
            <p:txBody>
              <a:bodyPr wrap="none" anchor="ctr"/>
              <a:lstStyle/>
              <a:p>
                <a:pPr algn="ctr"/>
                <a:endParaRPr lang="en-US" sz="1200" b="0">
                  <a:solidFill>
                    <a:srgbClr val="FFFF00"/>
                  </a:solidFill>
                  <a:latin typeface="Gill Sans" charset="0"/>
                  <a:cs typeface="Gill Sans" charset="0"/>
                </a:endParaRPr>
              </a:p>
            </p:txBody>
          </p:sp>
          <p:sp>
            <p:nvSpPr>
              <p:cNvPr id="41476" name="Rectangle 351"/>
              <p:cNvSpPr>
                <a:spLocks noChangeArrowheads="1"/>
              </p:cNvSpPr>
              <p:nvPr/>
            </p:nvSpPr>
            <p:spPr bwMode="auto">
              <a:xfrm>
                <a:off x="5229" y="1187"/>
                <a:ext cx="93" cy="39"/>
              </a:xfrm>
              <a:prstGeom prst="rect">
                <a:avLst/>
              </a:prstGeom>
              <a:solidFill>
                <a:srgbClr val="FFFF00"/>
              </a:solidFill>
              <a:ln w="12700">
                <a:solidFill>
                  <a:schemeClr val="tx1"/>
                </a:solidFill>
                <a:miter lim="800000"/>
                <a:headEnd type="none" w="sm" len="sm"/>
                <a:tailEnd type="none" w="sm" len="sm"/>
              </a:ln>
            </p:spPr>
            <p:txBody>
              <a:bodyPr wrap="none" anchor="ctr"/>
              <a:lstStyle/>
              <a:p>
                <a:pPr algn="ctr"/>
                <a:endParaRPr lang="en-US" sz="1200" b="0">
                  <a:solidFill>
                    <a:srgbClr val="FFFF00"/>
                  </a:solidFill>
                  <a:latin typeface="Gill Sans" charset="0"/>
                  <a:cs typeface="Gill Sans" charset="0"/>
                </a:endParaRPr>
              </a:p>
            </p:txBody>
          </p:sp>
          <p:grpSp>
            <p:nvGrpSpPr>
              <p:cNvPr id="41477" name="Group 352"/>
              <p:cNvGrpSpPr>
                <a:grpSpLocks/>
              </p:cNvGrpSpPr>
              <p:nvPr/>
            </p:nvGrpSpPr>
            <p:grpSpPr bwMode="auto">
              <a:xfrm>
                <a:off x="5250" y="1298"/>
                <a:ext cx="155" cy="60"/>
                <a:chOff x="428" y="2146"/>
                <a:chExt cx="268" cy="244"/>
              </a:xfrm>
            </p:grpSpPr>
            <p:sp>
              <p:nvSpPr>
                <p:cNvPr id="41595" name="Rectangle 353"/>
                <p:cNvSpPr>
                  <a:spLocks noChangeArrowheads="1"/>
                </p:cNvSpPr>
                <p:nvPr/>
              </p:nvSpPr>
              <p:spPr bwMode="auto">
                <a:xfrm>
                  <a:off x="632" y="2152"/>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96" name="Rectangle 354"/>
                <p:cNvSpPr>
                  <a:spLocks noChangeArrowheads="1"/>
                </p:cNvSpPr>
                <p:nvPr/>
              </p:nvSpPr>
              <p:spPr bwMode="auto">
                <a:xfrm>
                  <a:off x="536" y="214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97" name="Rectangle 355"/>
                <p:cNvSpPr>
                  <a:spLocks noChangeArrowheads="1"/>
                </p:cNvSpPr>
                <p:nvPr/>
              </p:nvSpPr>
              <p:spPr bwMode="auto">
                <a:xfrm>
                  <a:off x="626" y="223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98" name="Rectangle 356"/>
                <p:cNvSpPr>
                  <a:spLocks noChangeArrowheads="1"/>
                </p:cNvSpPr>
                <p:nvPr/>
              </p:nvSpPr>
              <p:spPr bwMode="auto">
                <a:xfrm>
                  <a:off x="530" y="2230"/>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99" name="Rectangle 357"/>
                <p:cNvSpPr>
                  <a:spLocks noChangeArrowheads="1"/>
                </p:cNvSpPr>
                <p:nvPr/>
              </p:nvSpPr>
              <p:spPr bwMode="auto">
                <a:xfrm>
                  <a:off x="434" y="216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00" name="Rectangle 358"/>
                <p:cNvSpPr>
                  <a:spLocks noChangeArrowheads="1"/>
                </p:cNvSpPr>
                <p:nvPr/>
              </p:nvSpPr>
              <p:spPr bwMode="auto">
                <a:xfrm>
                  <a:off x="428" y="2248"/>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01" name="Rectangle 359"/>
                <p:cNvSpPr>
                  <a:spLocks noChangeArrowheads="1"/>
                </p:cNvSpPr>
                <p:nvPr/>
              </p:nvSpPr>
              <p:spPr bwMode="auto">
                <a:xfrm>
                  <a:off x="626" y="231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02" name="Rectangle 360"/>
                <p:cNvSpPr>
                  <a:spLocks noChangeArrowheads="1"/>
                </p:cNvSpPr>
                <p:nvPr/>
              </p:nvSpPr>
              <p:spPr bwMode="auto">
                <a:xfrm>
                  <a:off x="530" y="2308"/>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603" name="Rectangle 361"/>
                <p:cNvSpPr>
                  <a:spLocks noChangeArrowheads="1"/>
                </p:cNvSpPr>
                <p:nvPr/>
              </p:nvSpPr>
              <p:spPr bwMode="auto">
                <a:xfrm>
                  <a:off x="428" y="232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nvGrpSpPr>
              <p:cNvPr id="41478" name="Group 362"/>
              <p:cNvGrpSpPr>
                <a:grpSpLocks/>
              </p:cNvGrpSpPr>
              <p:nvPr/>
            </p:nvGrpSpPr>
            <p:grpSpPr bwMode="auto">
              <a:xfrm>
                <a:off x="5230" y="1408"/>
                <a:ext cx="154" cy="61"/>
                <a:chOff x="428" y="2146"/>
                <a:chExt cx="268" cy="244"/>
              </a:xfrm>
            </p:grpSpPr>
            <p:sp>
              <p:nvSpPr>
                <p:cNvPr id="41586" name="Rectangle 363"/>
                <p:cNvSpPr>
                  <a:spLocks noChangeArrowheads="1"/>
                </p:cNvSpPr>
                <p:nvPr/>
              </p:nvSpPr>
              <p:spPr bwMode="auto">
                <a:xfrm>
                  <a:off x="632" y="2152"/>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87" name="Rectangle 364"/>
                <p:cNvSpPr>
                  <a:spLocks noChangeArrowheads="1"/>
                </p:cNvSpPr>
                <p:nvPr/>
              </p:nvSpPr>
              <p:spPr bwMode="auto">
                <a:xfrm>
                  <a:off x="536" y="214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88" name="Rectangle 365"/>
                <p:cNvSpPr>
                  <a:spLocks noChangeArrowheads="1"/>
                </p:cNvSpPr>
                <p:nvPr/>
              </p:nvSpPr>
              <p:spPr bwMode="auto">
                <a:xfrm>
                  <a:off x="626" y="223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89" name="Rectangle 366"/>
                <p:cNvSpPr>
                  <a:spLocks noChangeArrowheads="1"/>
                </p:cNvSpPr>
                <p:nvPr/>
              </p:nvSpPr>
              <p:spPr bwMode="auto">
                <a:xfrm>
                  <a:off x="530" y="2230"/>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90" name="Rectangle 367"/>
                <p:cNvSpPr>
                  <a:spLocks noChangeArrowheads="1"/>
                </p:cNvSpPr>
                <p:nvPr/>
              </p:nvSpPr>
              <p:spPr bwMode="auto">
                <a:xfrm>
                  <a:off x="434" y="216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91" name="Rectangle 368"/>
                <p:cNvSpPr>
                  <a:spLocks noChangeArrowheads="1"/>
                </p:cNvSpPr>
                <p:nvPr/>
              </p:nvSpPr>
              <p:spPr bwMode="auto">
                <a:xfrm>
                  <a:off x="428" y="2248"/>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92" name="Rectangle 369"/>
                <p:cNvSpPr>
                  <a:spLocks noChangeArrowheads="1"/>
                </p:cNvSpPr>
                <p:nvPr/>
              </p:nvSpPr>
              <p:spPr bwMode="auto">
                <a:xfrm>
                  <a:off x="626" y="231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93" name="Rectangle 370"/>
                <p:cNvSpPr>
                  <a:spLocks noChangeArrowheads="1"/>
                </p:cNvSpPr>
                <p:nvPr/>
              </p:nvSpPr>
              <p:spPr bwMode="auto">
                <a:xfrm>
                  <a:off x="530" y="2308"/>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94" name="Rectangle 371"/>
                <p:cNvSpPr>
                  <a:spLocks noChangeArrowheads="1"/>
                </p:cNvSpPr>
                <p:nvPr/>
              </p:nvSpPr>
              <p:spPr bwMode="auto">
                <a:xfrm>
                  <a:off x="428" y="232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sp>
            <p:nvSpPr>
              <p:cNvPr id="41479" name="Rectangle 372"/>
              <p:cNvSpPr>
                <a:spLocks noChangeArrowheads="1"/>
              </p:cNvSpPr>
              <p:nvPr/>
            </p:nvSpPr>
            <p:spPr bwMode="auto">
              <a:xfrm>
                <a:off x="5115" y="1344"/>
                <a:ext cx="93" cy="40"/>
              </a:xfrm>
              <a:prstGeom prst="rect">
                <a:avLst/>
              </a:prstGeom>
              <a:solidFill>
                <a:srgbClr val="FFFF00"/>
              </a:solidFill>
              <a:ln w="12700">
                <a:solidFill>
                  <a:schemeClr val="tx1"/>
                </a:solidFill>
                <a:miter lim="800000"/>
                <a:headEnd type="none" w="sm" len="sm"/>
                <a:tailEnd type="none" w="sm" len="sm"/>
              </a:ln>
            </p:spPr>
            <p:txBody>
              <a:bodyPr wrap="none" anchor="ctr"/>
              <a:lstStyle/>
              <a:p>
                <a:pPr algn="ctr"/>
                <a:endParaRPr lang="en-US" sz="1200" b="0">
                  <a:solidFill>
                    <a:srgbClr val="FFFF00"/>
                  </a:solidFill>
                  <a:latin typeface="Gill Sans" charset="0"/>
                  <a:cs typeface="Gill Sans" charset="0"/>
                </a:endParaRPr>
              </a:p>
            </p:txBody>
          </p:sp>
          <p:sp>
            <p:nvSpPr>
              <p:cNvPr id="41480" name="Rectangle 373"/>
              <p:cNvSpPr>
                <a:spLocks noChangeArrowheads="1"/>
              </p:cNvSpPr>
              <p:nvPr/>
            </p:nvSpPr>
            <p:spPr bwMode="auto">
              <a:xfrm>
                <a:off x="5094" y="1401"/>
                <a:ext cx="94" cy="39"/>
              </a:xfrm>
              <a:prstGeom prst="rect">
                <a:avLst/>
              </a:prstGeom>
              <a:solidFill>
                <a:srgbClr val="FFFF00"/>
              </a:solidFill>
              <a:ln w="12700">
                <a:solidFill>
                  <a:schemeClr val="tx1"/>
                </a:solidFill>
                <a:miter lim="800000"/>
                <a:headEnd type="none" w="sm" len="sm"/>
                <a:tailEnd type="none" w="sm" len="sm"/>
              </a:ln>
            </p:spPr>
            <p:txBody>
              <a:bodyPr wrap="none" anchor="ctr"/>
              <a:lstStyle/>
              <a:p>
                <a:pPr algn="ctr"/>
                <a:endParaRPr lang="en-US" sz="1200" b="0">
                  <a:solidFill>
                    <a:srgbClr val="FFFF00"/>
                  </a:solidFill>
                  <a:latin typeface="Gill Sans" charset="0"/>
                  <a:cs typeface="Gill Sans" charset="0"/>
                </a:endParaRPr>
              </a:p>
            </p:txBody>
          </p:sp>
          <p:grpSp>
            <p:nvGrpSpPr>
              <p:cNvPr id="41481" name="Group 374"/>
              <p:cNvGrpSpPr>
                <a:grpSpLocks/>
              </p:cNvGrpSpPr>
              <p:nvPr/>
            </p:nvGrpSpPr>
            <p:grpSpPr bwMode="auto">
              <a:xfrm>
                <a:off x="5171" y="1035"/>
                <a:ext cx="155" cy="60"/>
                <a:chOff x="428" y="2146"/>
                <a:chExt cx="268" cy="244"/>
              </a:xfrm>
            </p:grpSpPr>
            <p:sp>
              <p:nvSpPr>
                <p:cNvPr id="41577" name="Rectangle 375"/>
                <p:cNvSpPr>
                  <a:spLocks noChangeArrowheads="1"/>
                </p:cNvSpPr>
                <p:nvPr/>
              </p:nvSpPr>
              <p:spPr bwMode="auto">
                <a:xfrm>
                  <a:off x="632" y="2152"/>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78" name="Rectangle 376"/>
                <p:cNvSpPr>
                  <a:spLocks noChangeArrowheads="1"/>
                </p:cNvSpPr>
                <p:nvPr/>
              </p:nvSpPr>
              <p:spPr bwMode="auto">
                <a:xfrm>
                  <a:off x="536" y="214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79" name="Rectangle 377"/>
                <p:cNvSpPr>
                  <a:spLocks noChangeArrowheads="1"/>
                </p:cNvSpPr>
                <p:nvPr/>
              </p:nvSpPr>
              <p:spPr bwMode="auto">
                <a:xfrm>
                  <a:off x="626" y="223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80" name="Rectangle 378"/>
                <p:cNvSpPr>
                  <a:spLocks noChangeArrowheads="1"/>
                </p:cNvSpPr>
                <p:nvPr/>
              </p:nvSpPr>
              <p:spPr bwMode="auto">
                <a:xfrm>
                  <a:off x="530" y="2230"/>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81" name="Rectangle 379"/>
                <p:cNvSpPr>
                  <a:spLocks noChangeArrowheads="1"/>
                </p:cNvSpPr>
                <p:nvPr/>
              </p:nvSpPr>
              <p:spPr bwMode="auto">
                <a:xfrm>
                  <a:off x="434" y="216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82" name="Rectangle 380"/>
                <p:cNvSpPr>
                  <a:spLocks noChangeArrowheads="1"/>
                </p:cNvSpPr>
                <p:nvPr/>
              </p:nvSpPr>
              <p:spPr bwMode="auto">
                <a:xfrm>
                  <a:off x="428" y="2248"/>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83" name="Rectangle 381"/>
                <p:cNvSpPr>
                  <a:spLocks noChangeArrowheads="1"/>
                </p:cNvSpPr>
                <p:nvPr/>
              </p:nvSpPr>
              <p:spPr bwMode="auto">
                <a:xfrm>
                  <a:off x="626" y="231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84" name="Rectangle 382"/>
                <p:cNvSpPr>
                  <a:spLocks noChangeArrowheads="1"/>
                </p:cNvSpPr>
                <p:nvPr/>
              </p:nvSpPr>
              <p:spPr bwMode="auto">
                <a:xfrm>
                  <a:off x="530" y="2308"/>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85" name="Rectangle 383"/>
                <p:cNvSpPr>
                  <a:spLocks noChangeArrowheads="1"/>
                </p:cNvSpPr>
                <p:nvPr/>
              </p:nvSpPr>
              <p:spPr bwMode="auto">
                <a:xfrm>
                  <a:off x="428" y="232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sp>
            <p:nvSpPr>
              <p:cNvPr id="41482" name="Rectangle 384"/>
              <p:cNvSpPr>
                <a:spLocks noChangeArrowheads="1"/>
              </p:cNvSpPr>
              <p:nvPr/>
            </p:nvSpPr>
            <p:spPr bwMode="auto">
              <a:xfrm>
                <a:off x="5025" y="1071"/>
                <a:ext cx="93" cy="38"/>
              </a:xfrm>
              <a:prstGeom prst="rect">
                <a:avLst/>
              </a:prstGeom>
              <a:solidFill>
                <a:srgbClr val="FFFF00"/>
              </a:solidFill>
              <a:ln w="12700">
                <a:solidFill>
                  <a:schemeClr val="tx1"/>
                </a:solidFill>
                <a:miter lim="800000"/>
                <a:headEnd type="none" w="sm" len="sm"/>
                <a:tailEnd type="none" w="sm" len="sm"/>
              </a:ln>
            </p:spPr>
            <p:txBody>
              <a:bodyPr wrap="none" anchor="ctr"/>
              <a:lstStyle/>
              <a:p>
                <a:pPr algn="ctr"/>
                <a:endParaRPr lang="en-US" sz="1200" b="0">
                  <a:solidFill>
                    <a:srgbClr val="FFFF00"/>
                  </a:solidFill>
                  <a:latin typeface="Gill Sans" charset="0"/>
                  <a:cs typeface="Gill Sans" charset="0"/>
                </a:endParaRPr>
              </a:p>
            </p:txBody>
          </p:sp>
          <p:grpSp>
            <p:nvGrpSpPr>
              <p:cNvPr id="41483" name="Group 385"/>
              <p:cNvGrpSpPr>
                <a:grpSpLocks/>
              </p:cNvGrpSpPr>
              <p:nvPr/>
            </p:nvGrpSpPr>
            <p:grpSpPr bwMode="auto">
              <a:xfrm>
                <a:off x="5030" y="933"/>
                <a:ext cx="154" cy="61"/>
                <a:chOff x="428" y="2146"/>
                <a:chExt cx="268" cy="244"/>
              </a:xfrm>
            </p:grpSpPr>
            <p:sp>
              <p:nvSpPr>
                <p:cNvPr id="41568" name="Rectangle 386"/>
                <p:cNvSpPr>
                  <a:spLocks noChangeArrowheads="1"/>
                </p:cNvSpPr>
                <p:nvPr/>
              </p:nvSpPr>
              <p:spPr bwMode="auto">
                <a:xfrm>
                  <a:off x="632" y="2152"/>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69" name="Rectangle 387"/>
                <p:cNvSpPr>
                  <a:spLocks noChangeArrowheads="1"/>
                </p:cNvSpPr>
                <p:nvPr/>
              </p:nvSpPr>
              <p:spPr bwMode="auto">
                <a:xfrm>
                  <a:off x="536" y="214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70" name="Rectangle 388"/>
                <p:cNvSpPr>
                  <a:spLocks noChangeArrowheads="1"/>
                </p:cNvSpPr>
                <p:nvPr/>
              </p:nvSpPr>
              <p:spPr bwMode="auto">
                <a:xfrm>
                  <a:off x="626" y="223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71" name="Rectangle 389"/>
                <p:cNvSpPr>
                  <a:spLocks noChangeArrowheads="1"/>
                </p:cNvSpPr>
                <p:nvPr/>
              </p:nvSpPr>
              <p:spPr bwMode="auto">
                <a:xfrm>
                  <a:off x="530" y="2230"/>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72" name="Rectangle 390"/>
                <p:cNvSpPr>
                  <a:spLocks noChangeArrowheads="1"/>
                </p:cNvSpPr>
                <p:nvPr/>
              </p:nvSpPr>
              <p:spPr bwMode="auto">
                <a:xfrm>
                  <a:off x="434" y="216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73" name="Rectangle 391"/>
                <p:cNvSpPr>
                  <a:spLocks noChangeArrowheads="1"/>
                </p:cNvSpPr>
                <p:nvPr/>
              </p:nvSpPr>
              <p:spPr bwMode="auto">
                <a:xfrm>
                  <a:off x="428" y="2248"/>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74" name="Rectangle 392"/>
                <p:cNvSpPr>
                  <a:spLocks noChangeArrowheads="1"/>
                </p:cNvSpPr>
                <p:nvPr/>
              </p:nvSpPr>
              <p:spPr bwMode="auto">
                <a:xfrm>
                  <a:off x="626" y="231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75" name="Rectangle 393"/>
                <p:cNvSpPr>
                  <a:spLocks noChangeArrowheads="1"/>
                </p:cNvSpPr>
                <p:nvPr/>
              </p:nvSpPr>
              <p:spPr bwMode="auto">
                <a:xfrm>
                  <a:off x="530" y="2308"/>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76" name="Rectangle 394"/>
                <p:cNvSpPr>
                  <a:spLocks noChangeArrowheads="1"/>
                </p:cNvSpPr>
                <p:nvPr/>
              </p:nvSpPr>
              <p:spPr bwMode="auto">
                <a:xfrm>
                  <a:off x="428" y="232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nvGrpSpPr>
              <p:cNvPr id="41484" name="Group 395"/>
              <p:cNvGrpSpPr>
                <a:grpSpLocks/>
              </p:cNvGrpSpPr>
              <p:nvPr/>
            </p:nvGrpSpPr>
            <p:grpSpPr bwMode="auto">
              <a:xfrm>
                <a:off x="3328" y="911"/>
                <a:ext cx="155" cy="61"/>
                <a:chOff x="428" y="2146"/>
                <a:chExt cx="268" cy="244"/>
              </a:xfrm>
            </p:grpSpPr>
            <p:sp>
              <p:nvSpPr>
                <p:cNvPr id="41559" name="Rectangle 396"/>
                <p:cNvSpPr>
                  <a:spLocks noChangeArrowheads="1"/>
                </p:cNvSpPr>
                <p:nvPr/>
              </p:nvSpPr>
              <p:spPr bwMode="auto">
                <a:xfrm>
                  <a:off x="632" y="2152"/>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60" name="Rectangle 397"/>
                <p:cNvSpPr>
                  <a:spLocks noChangeArrowheads="1"/>
                </p:cNvSpPr>
                <p:nvPr/>
              </p:nvSpPr>
              <p:spPr bwMode="auto">
                <a:xfrm>
                  <a:off x="536" y="214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61" name="Rectangle 398"/>
                <p:cNvSpPr>
                  <a:spLocks noChangeArrowheads="1"/>
                </p:cNvSpPr>
                <p:nvPr/>
              </p:nvSpPr>
              <p:spPr bwMode="auto">
                <a:xfrm>
                  <a:off x="626" y="223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62" name="Rectangle 399"/>
                <p:cNvSpPr>
                  <a:spLocks noChangeArrowheads="1"/>
                </p:cNvSpPr>
                <p:nvPr/>
              </p:nvSpPr>
              <p:spPr bwMode="auto">
                <a:xfrm>
                  <a:off x="530" y="2230"/>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63" name="Rectangle 400"/>
                <p:cNvSpPr>
                  <a:spLocks noChangeArrowheads="1"/>
                </p:cNvSpPr>
                <p:nvPr/>
              </p:nvSpPr>
              <p:spPr bwMode="auto">
                <a:xfrm>
                  <a:off x="434" y="216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64" name="Rectangle 401"/>
                <p:cNvSpPr>
                  <a:spLocks noChangeArrowheads="1"/>
                </p:cNvSpPr>
                <p:nvPr/>
              </p:nvSpPr>
              <p:spPr bwMode="auto">
                <a:xfrm>
                  <a:off x="428" y="2248"/>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65" name="Rectangle 402"/>
                <p:cNvSpPr>
                  <a:spLocks noChangeArrowheads="1"/>
                </p:cNvSpPr>
                <p:nvPr/>
              </p:nvSpPr>
              <p:spPr bwMode="auto">
                <a:xfrm>
                  <a:off x="626" y="231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66" name="Rectangle 403"/>
                <p:cNvSpPr>
                  <a:spLocks noChangeArrowheads="1"/>
                </p:cNvSpPr>
                <p:nvPr/>
              </p:nvSpPr>
              <p:spPr bwMode="auto">
                <a:xfrm>
                  <a:off x="530" y="2308"/>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67" name="Rectangle 404"/>
                <p:cNvSpPr>
                  <a:spLocks noChangeArrowheads="1"/>
                </p:cNvSpPr>
                <p:nvPr/>
              </p:nvSpPr>
              <p:spPr bwMode="auto">
                <a:xfrm>
                  <a:off x="428" y="232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nvGrpSpPr>
              <p:cNvPr id="41485" name="Group 405"/>
              <p:cNvGrpSpPr>
                <a:grpSpLocks/>
              </p:cNvGrpSpPr>
              <p:nvPr/>
            </p:nvGrpSpPr>
            <p:grpSpPr bwMode="auto">
              <a:xfrm>
                <a:off x="3087" y="996"/>
                <a:ext cx="154" cy="60"/>
                <a:chOff x="428" y="2146"/>
                <a:chExt cx="268" cy="244"/>
              </a:xfrm>
            </p:grpSpPr>
            <p:sp>
              <p:nvSpPr>
                <p:cNvPr id="41550" name="Rectangle 406"/>
                <p:cNvSpPr>
                  <a:spLocks noChangeArrowheads="1"/>
                </p:cNvSpPr>
                <p:nvPr/>
              </p:nvSpPr>
              <p:spPr bwMode="auto">
                <a:xfrm>
                  <a:off x="632" y="2152"/>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51" name="Rectangle 407"/>
                <p:cNvSpPr>
                  <a:spLocks noChangeArrowheads="1"/>
                </p:cNvSpPr>
                <p:nvPr/>
              </p:nvSpPr>
              <p:spPr bwMode="auto">
                <a:xfrm>
                  <a:off x="536" y="214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52" name="Rectangle 408"/>
                <p:cNvSpPr>
                  <a:spLocks noChangeArrowheads="1"/>
                </p:cNvSpPr>
                <p:nvPr/>
              </p:nvSpPr>
              <p:spPr bwMode="auto">
                <a:xfrm>
                  <a:off x="626" y="223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53" name="Rectangle 409"/>
                <p:cNvSpPr>
                  <a:spLocks noChangeArrowheads="1"/>
                </p:cNvSpPr>
                <p:nvPr/>
              </p:nvSpPr>
              <p:spPr bwMode="auto">
                <a:xfrm>
                  <a:off x="530" y="2230"/>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54" name="Rectangle 410"/>
                <p:cNvSpPr>
                  <a:spLocks noChangeArrowheads="1"/>
                </p:cNvSpPr>
                <p:nvPr/>
              </p:nvSpPr>
              <p:spPr bwMode="auto">
                <a:xfrm>
                  <a:off x="434" y="216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55" name="Rectangle 411"/>
                <p:cNvSpPr>
                  <a:spLocks noChangeArrowheads="1"/>
                </p:cNvSpPr>
                <p:nvPr/>
              </p:nvSpPr>
              <p:spPr bwMode="auto">
                <a:xfrm>
                  <a:off x="428" y="2248"/>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56" name="Rectangle 412"/>
                <p:cNvSpPr>
                  <a:spLocks noChangeArrowheads="1"/>
                </p:cNvSpPr>
                <p:nvPr/>
              </p:nvSpPr>
              <p:spPr bwMode="auto">
                <a:xfrm>
                  <a:off x="626" y="231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57" name="Rectangle 413"/>
                <p:cNvSpPr>
                  <a:spLocks noChangeArrowheads="1"/>
                </p:cNvSpPr>
                <p:nvPr/>
              </p:nvSpPr>
              <p:spPr bwMode="auto">
                <a:xfrm>
                  <a:off x="530" y="2308"/>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58" name="Rectangle 414"/>
                <p:cNvSpPr>
                  <a:spLocks noChangeArrowheads="1"/>
                </p:cNvSpPr>
                <p:nvPr/>
              </p:nvSpPr>
              <p:spPr bwMode="auto">
                <a:xfrm>
                  <a:off x="428" y="232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nvGrpSpPr>
              <p:cNvPr id="41486" name="Group 415"/>
              <p:cNvGrpSpPr>
                <a:grpSpLocks/>
              </p:cNvGrpSpPr>
              <p:nvPr/>
            </p:nvGrpSpPr>
            <p:grpSpPr bwMode="auto">
              <a:xfrm>
                <a:off x="3136" y="1499"/>
                <a:ext cx="153" cy="61"/>
                <a:chOff x="428" y="2146"/>
                <a:chExt cx="268" cy="244"/>
              </a:xfrm>
            </p:grpSpPr>
            <p:sp>
              <p:nvSpPr>
                <p:cNvPr id="41541" name="Rectangle 416"/>
                <p:cNvSpPr>
                  <a:spLocks noChangeArrowheads="1"/>
                </p:cNvSpPr>
                <p:nvPr/>
              </p:nvSpPr>
              <p:spPr bwMode="auto">
                <a:xfrm>
                  <a:off x="632" y="2152"/>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42" name="Rectangle 417"/>
                <p:cNvSpPr>
                  <a:spLocks noChangeArrowheads="1"/>
                </p:cNvSpPr>
                <p:nvPr/>
              </p:nvSpPr>
              <p:spPr bwMode="auto">
                <a:xfrm>
                  <a:off x="536" y="214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43" name="Rectangle 418"/>
                <p:cNvSpPr>
                  <a:spLocks noChangeArrowheads="1"/>
                </p:cNvSpPr>
                <p:nvPr/>
              </p:nvSpPr>
              <p:spPr bwMode="auto">
                <a:xfrm>
                  <a:off x="626" y="223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44" name="Rectangle 419"/>
                <p:cNvSpPr>
                  <a:spLocks noChangeArrowheads="1"/>
                </p:cNvSpPr>
                <p:nvPr/>
              </p:nvSpPr>
              <p:spPr bwMode="auto">
                <a:xfrm>
                  <a:off x="530" y="2230"/>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45" name="Rectangle 420"/>
                <p:cNvSpPr>
                  <a:spLocks noChangeArrowheads="1"/>
                </p:cNvSpPr>
                <p:nvPr/>
              </p:nvSpPr>
              <p:spPr bwMode="auto">
                <a:xfrm>
                  <a:off x="434" y="216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46" name="Rectangle 421"/>
                <p:cNvSpPr>
                  <a:spLocks noChangeArrowheads="1"/>
                </p:cNvSpPr>
                <p:nvPr/>
              </p:nvSpPr>
              <p:spPr bwMode="auto">
                <a:xfrm>
                  <a:off x="428" y="2248"/>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47" name="Rectangle 422"/>
                <p:cNvSpPr>
                  <a:spLocks noChangeArrowheads="1"/>
                </p:cNvSpPr>
                <p:nvPr/>
              </p:nvSpPr>
              <p:spPr bwMode="auto">
                <a:xfrm>
                  <a:off x="626" y="231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48" name="Rectangle 423"/>
                <p:cNvSpPr>
                  <a:spLocks noChangeArrowheads="1"/>
                </p:cNvSpPr>
                <p:nvPr/>
              </p:nvSpPr>
              <p:spPr bwMode="auto">
                <a:xfrm>
                  <a:off x="530" y="2308"/>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49" name="Rectangle 424"/>
                <p:cNvSpPr>
                  <a:spLocks noChangeArrowheads="1"/>
                </p:cNvSpPr>
                <p:nvPr/>
              </p:nvSpPr>
              <p:spPr bwMode="auto">
                <a:xfrm>
                  <a:off x="428" y="232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sp>
            <p:nvSpPr>
              <p:cNvPr id="41487" name="Rectangle 425"/>
              <p:cNvSpPr>
                <a:spLocks noChangeArrowheads="1"/>
              </p:cNvSpPr>
              <p:nvPr/>
            </p:nvSpPr>
            <p:spPr bwMode="auto">
              <a:xfrm>
                <a:off x="4915" y="995"/>
                <a:ext cx="93" cy="39"/>
              </a:xfrm>
              <a:prstGeom prst="rect">
                <a:avLst/>
              </a:prstGeom>
              <a:solidFill>
                <a:srgbClr val="FFFF00"/>
              </a:solidFill>
              <a:ln w="12700">
                <a:solidFill>
                  <a:schemeClr val="tx1"/>
                </a:solidFill>
                <a:miter lim="800000"/>
                <a:headEnd type="none" w="sm" len="sm"/>
                <a:tailEnd type="none" w="sm" len="sm"/>
              </a:ln>
            </p:spPr>
            <p:txBody>
              <a:bodyPr wrap="none" anchor="ctr"/>
              <a:lstStyle/>
              <a:p>
                <a:pPr algn="ctr"/>
                <a:endParaRPr lang="en-US" sz="1200" b="0">
                  <a:solidFill>
                    <a:srgbClr val="FFFF00"/>
                  </a:solidFill>
                  <a:latin typeface="Gill Sans" charset="0"/>
                  <a:cs typeface="Gill Sans" charset="0"/>
                </a:endParaRPr>
              </a:p>
            </p:txBody>
          </p:sp>
          <p:sp>
            <p:nvSpPr>
              <p:cNvPr id="41488" name="Rectangle 426"/>
              <p:cNvSpPr>
                <a:spLocks noChangeArrowheads="1"/>
              </p:cNvSpPr>
              <p:nvPr/>
            </p:nvSpPr>
            <p:spPr bwMode="auto">
              <a:xfrm>
                <a:off x="3258" y="1038"/>
                <a:ext cx="93" cy="38"/>
              </a:xfrm>
              <a:prstGeom prst="rect">
                <a:avLst/>
              </a:prstGeom>
              <a:solidFill>
                <a:srgbClr val="FFFF00"/>
              </a:solidFill>
              <a:ln w="12700">
                <a:solidFill>
                  <a:schemeClr val="tx1"/>
                </a:solidFill>
                <a:miter lim="800000"/>
                <a:headEnd type="none" w="sm" len="sm"/>
                <a:tailEnd type="none" w="sm" len="sm"/>
              </a:ln>
            </p:spPr>
            <p:txBody>
              <a:bodyPr wrap="none" anchor="ctr"/>
              <a:lstStyle/>
              <a:p>
                <a:pPr algn="ctr"/>
                <a:endParaRPr lang="en-US" sz="1200" b="0">
                  <a:solidFill>
                    <a:srgbClr val="FFFF00"/>
                  </a:solidFill>
                  <a:latin typeface="Gill Sans" charset="0"/>
                  <a:cs typeface="Gill Sans" charset="0"/>
                </a:endParaRPr>
              </a:p>
            </p:txBody>
          </p:sp>
          <p:grpSp>
            <p:nvGrpSpPr>
              <p:cNvPr id="41489" name="Group 427"/>
              <p:cNvGrpSpPr>
                <a:grpSpLocks/>
              </p:cNvGrpSpPr>
              <p:nvPr/>
            </p:nvGrpSpPr>
            <p:grpSpPr bwMode="auto">
              <a:xfrm>
                <a:off x="5227" y="1473"/>
                <a:ext cx="153" cy="60"/>
                <a:chOff x="428" y="2146"/>
                <a:chExt cx="268" cy="244"/>
              </a:xfrm>
            </p:grpSpPr>
            <p:sp>
              <p:nvSpPr>
                <p:cNvPr id="41532" name="Rectangle 428"/>
                <p:cNvSpPr>
                  <a:spLocks noChangeArrowheads="1"/>
                </p:cNvSpPr>
                <p:nvPr/>
              </p:nvSpPr>
              <p:spPr bwMode="auto">
                <a:xfrm>
                  <a:off x="632" y="2152"/>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33" name="Rectangle 429"/>
                <p:cNvSpPr>
                  <a:spLocks noChangeArrowheads="1"/>
                </p:cNvSpPr>
                <p:nvPr/>
              </p:nvSpPr>
              <p:spPr bwMode="auto">
                <a:xfrm>
                  <a:off x="536" y="214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34" name="Rectangle 430"/>
                <p:cNvSpPr>
                  <a:spLocks noChangeArrowheads="1"/>
                </p:cNvSpPr>
                <p:nvPr/>
              </p:nvSpPr>
              <p:spPr bwMode="auto">
                <a:xfrm>
                  <a:off x="626" y="223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35" name="Rectangle 431"/>
                <p:cNvSpPr>
                  <a:spLocks noChangeArrowheads="1"/>
                </p:cNvSpPr>
                <p:nvPr/>
              </p:nvSpPr>
              <p:spPr bwMode="auto">
                <a:xfrm>
                  <a:off x="530" y="2230"/>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36" name="Rectangle 432"/>
                <p:cNvSpPr>
                  <a:spLocks noChangeArrowheads="1"/>
                </p:cNvSpPr>
                <p:nvPr/>
              </p:nvSpPr>
              <p:spPr bwMode="auto">
                <a:xfrm>
                  <a:off x="434" y="216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37" name="Rectangle 433"/>
                <p:cNvSpPr>
                  <a:spLocks noChangeArrowheads="1"/>
                </p:cNvSpPr>
                <p:nvPr/>
              </p:nvSpPr>
              <p:spPr bwMode="auto">
                <a:xfrm>
                  <a:off x="428" y="2248"/>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38" name="Rectangle 434"/>
                <p:cNvSpPr>
                  <a:spLocks noChangeArrowheads="1"/>
                </p:cNvSpPr>
                <p:nvPr/>
              </p:nvSpPr>
              <p:spPr bwMode="auto">
                <a:xfrm>
                  <a:off x="626" y="231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39" name="Rectangle 435"/>
                <p:cNvSpPr>
                  <a:spLocks noChangeArrowheads="1"/>
                </p:cNvSpPr>
                <p:nvPr/>
              </p:nvSpPr>
              <p:spPr bwMode="auto">
                <a:xfrm>
                  <a:off x="530" y="2308"/>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40" name="Rectangle 436"/>
                <p:cNvSpPr>
                  <a:spLocks noChangeArrowheads="1"/>
                </p:cNvSpPr>
                <p:nvPr/>
              </p:nvSpPr>
              <p:spPr bwMode="auto">
                <a:xfrm>
                  <a:off x="428" y="232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nvGrpSpPr>
              <p:cNvPr id="41490" name="Group 437"/>
              <p:cNvGrpSpPr>
                <a:grpSpLocks/>
              </p:cNvGrpSpPr>
              <p:nvPr/>
            </p:nvGrpSpPr>
            <p:grpSpPr bwMode="auto">
              <a:xfrm>
                <a:off x="5357" y="1179"/>
                <a:ext cx="155" cy="60"/>
                <a:chOff x="428" y="2146"/>
                <a:chExt cx="268" cy="244"/>
              </a:xfrm>
            </p:grpSpPr>
            <p:sp>
              <p:nvSpPr>
                <p:cNvPr id="41523" name="Rectangle 438"/>
                <p:cNvSpPr>
                  <a:spLocks noChangeArrowheads="1"/>
                </p:cNvSpPr>
                <p:nvPr/>
              </p:nvSpPr>
              <p:spPr bwMode="auto">
                <a:xfrm>
                  <a:off x="632" y="2152"/>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24" name="Rectangle 439"/>
                <p:cNvSpPr>
                  <a:spLocks noChangeArrowheads="1"/>
                </p:cNvSpPr>
                <p:nvPr/>
              </p:nvSpPr>
              <p:spPr bwMode="auto">
                <a:xfrm>
                  <a:off x="536" y="214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25" name="Rectangle 440"/>
                <p:cNvSpPr>
                  <a:spLocks noChangeArrowheads="1"/>
                </p:cNvSpPr>
                <p:nvPr/>
              </p:nvSpPr>
              <p:spPr bwMode="auto">
                <a:xfrm>
                  <a:off x="626" y="223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26" name="Rectangle 441"/>
                <p:cNvSpPr>
                  <a:spLocks noChangeArrowheads="1"/>
                </p:cNvSpPr>
                <p:nvPr/>
              </p:nvSpPr>
              <p:spPr bwMode="auto">
                <a:xfrm>
                  <a:off x="530" y="2230"/>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27" name="Rectangle 442"/>
                <p:cNvSpPr>
                  <a:spLocks noChangeArrowheads="1"/>
                </p:cNvSpPr>
                <p:nvPr/>
              </p:nvSpPr>
              <p:spPr bwMode="auto">
                <a:xfrm>
                  <a:off x="434" y="216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28" name="Rectangle 443"/>
                <p:cNvSpPr>
                  <a:spLocks noChangeArrowheads="1"/>
                </p:cNvSpPr>
                <p:nvPr/>
              </p:nvSpPr>
              <p:spPr bwMode="auto">
                <a:xfrm>
                  <a:off x="428" y="2248"/>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29" name="Rectangle 444"/>
                <p:cNvSpPr>
                  <a:spLocks noChangeArrowheads="1"/>
                </p:cNvSpPr>
                <p:nvPr/>
              </p:nvSpPr>
              <p:spPr bwMode="auto">
                <a:xfrm>
                  <a:off x="626" y="231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30" name="Rectangle 445"/>
                <p:cNvSpPr>
                  <a:spLocks noChangeArrowheads="1"/>
                </p:cNvSpPr>
                <p:nvPr/>
              </p:nvSpPr>
              <p:spPr bwMode="auto">
                <a:xfrm>
                  <a:off x="530" y="2308"/>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531" name="Rectangle 446"/>
                <p:cNvSpPr>
                  <a:spLocks noChangeArrowheads="1"/>
                </p:cNvSpPr>
                <p:nvPr/>
              </p:nvSpPr>
              <p:spPr bwMode="auto">
                <a:xfrm>
                  <a:off x="428" y="232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sp>
            <p:nvSpPr>
              <p:cNvPr id="41491" name="Text Box 447"/>
              <p:cNvSpPr txBox="1">
                <a:spLocks noChangeArrowheads="1"/>
              </p:cNvSpPr>
              <p:nvPr/>
            </p:nvSpPr>
            <p:spPr bwMode="auto">
              <a:xfrm>
                <a:off x="4601" y="1105"/>
                <a:ext cx="682" cy="25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wrap="none">
                <a:spAutoFit/>
              </a:bodyPr>
              <a:lstStyle>
                <a:lvl1pPr>
                  <a:defRPr sz="2400" b="1">
                    <a:solidFill>
                      <a:schemeClr val="tx1"/>
                    </a:solidFill>
                    <a:latin typeface="Comic Sans MS" charset="0"/>
                    <a:ea typeface="ＭＳ Ｐゴシック" charset="0"/>
                    <a:cs typeface="ＭＳ Ｐゴシック" charset="0"/>
                  </a:defRPr>
                </a:lvl1pPr>
                <a:lvl2pPr marL="742950" indent="-285750">
                  <a:defRPr sz="2400" b="1">
                    <a:solidFill>
                      <a:schemeClr val="tx1"/>
                    </a:solidFill>
                    <a:latin typeface="Comic Sans MS" charset="0"/>
                    <a:ea typeface="ＭＳ Ｐゴシック" charset="0"/>
                  </a:defRPr>
                </a:lvl2pPr>
                <a:lvl3pPr marL="1143000" indent="-228600">
                  <a:defRPr sz="2400" b="1">
                    <a:solidFill>
                      <a:schemeClr val="tx1"/>
                    </a:solidFill>
                    <a:latin typeface="Comic Sans MS" charset="0"/>
                    <a:ea typeface="ＭＳ Ｐゴシック" charset="0"/>
                  </a:defRPr>
                </a:lvl3pPr>
                <a:lvl4pPr marL="1600200" indent="-228600">
                  <a:defRPr sz="2400" b="1">
                    <a:solidFill>
                      <a:schemeClr val="tx1"/>
                    </a:solidFill>
                    <a:latin typeface="Comic Sans MS" charset="0"/>
                    <a:ea typeface="ＭＳ Ｐゴシック" charset="0"/>
                  </a:defRPr>
                </a:lvl4pPr>
                <a:lvl5pPr marL="2057400" indent="-228600">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b="1">
                    <a:solidFill>
                      <a:schemeClr val="tx1"/>
                    </a:solidFill>
                    <a:latin typeface="Comic Sans MS" charset="0"/>
                    <a:ea typeface="ＭＳ Ｐゴシック" charset="0"/>
                  </a:defRPr>
                </a:lvl9pPr>
              </a:lstStyle>
              <a:p>
                <a:r>
                  <a:rPr lang="en-US" sz="1200" b="0">
                    <a:solidFill>
                      <a:schemeClr val="hlink"/>
                    </a:solidFill>
                    <a:latin typeface="Gill Sans" charset="0"/>
                    <a:cs typeface="Gill Sans" charset="0"/>
                  </a:rPr>
                  <a:t>Clusters</a:t>
                </a:r>
              </a:p>
            </p:txBody>
          </p:sp>
          <p:sp>
            <p:nvSpPr>
              <p:cNvPr id="41492" name="Text Box 448"/>
              <p:cNvSpPr txBox="1">
                <a:spLocks noChangeArrowheads="1"/>
              </p:cNvSpPr>
              <p:nvPr/>
            </p:nvSpPr>
            <p:spPr bwMode="auto">
              <a:xfrm>
                <a:off x="4380" y="854"/>
                <a:ext cx="1164" cy="25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wrap="none">
                <a:spAutoFit/>
              </a:bodyPr>
              <a:lstStyle>
                <a:lvl1pPr>
                  <a:defRPr sz="2400" b="1">
                    <a:solidFill>
                      <a:schemeClr val="tx1"/>
                    </a:solidFill>
                    <a:latin typeface="Comic Sans MS" charset="0"/>
                    <a:ea typeface="ＭＳ Ｐゴシック" charset="0"/>
                    <a:cs typeface="ＭＳ Ｐゴシック" charset="0"/>
                  </a:defRPr>
                </a:lvl1pPr>
                <a:lvl2pPr marL="742950" indent="-285750">
                  <a:defRPr sz="2400" b="1">
                    <a:solidFill>
                      <a:schemeClr val="tx1"/>
                    </a:solidFill>
                    <a:latin typeface="Comic Sans MS" charset="0"/>
                    <a:ea typeface="ＭＳ Ｐゴシック" charset="0"/>
                  </a:defRPr>
                </a:lvl2pPr>
                <a:lvl3pPr marL="1143000" indent="-228600">
                  <a:defRPr sz="2400" b="1">
                    <a:solidFill>
                      <a:schemeClr val="tx1"/>
                    </a:solidFill>
                    <a:latin typeface="Comic Sans MS" charset="0"/>
                    <a:ea typeface="ＭＳ Ｐゴシック" charset="0"/>
                  </a:defRPr>
                </a:lvl3pPr>
                <a:lvl4pPr marL="1600200" indent="-228600">
                  <a:defRPr sz="2400" b="1">
                    <a:solidFill>
                      <a:schemeClr val="tx1"/>
                    </a:solidFill>
                    <a:latin typeface="Comic Sans MS" charset="0"/>
                    <a:ea typeface="ＭＳ Ｐゴシック" charset="0"/>
                  </a:defRPr>
                </a:lvl4pPr>
                <a:lvl5pPr marL="2057400" indent="-228600">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b="1">
                    <a:solidFill>
                      <a:schemeClr val="tx1"/>
                    </a:solidFill>
                    <a:latin typeface="Comic Sans MS" charset="0"/>
                    <a:ea typeface="ＭＳ Ｐゴシック" charset="0"/>
                  </a:defRPr>
                </a:lvl9pPr>
              </a:lstStyle>
              <a:p>
                <a:r>
                  <a:rPr lang="en-US" sz="1200" b="0">
                    <a:solidFill>
                      <a:schemeClr val="hlink"/>
                    </a:solidFill>
                    <a:latin typeface="Gill Sans" charset="0"/>
                    <a:cs typeface="Gill Sans" charset="0"/>
                  </a:rPr>
                  <a:t>Massive Cluster</a:t>
                </a:r>
              </a:p>
            </p:txBody>
          </p:sp>
          <p:grpSp>
            <p:nvGrpSpPr>
              <p:cNvPr id="41493" name="Group 449"/>
              <p:cNvGrpSpPr>
                <a:grpSpLocks/>
              </p:cNvGrpSpPr>
              <p:nvPr/>
            </p:nvGrpSpPr>
            <p:grpSpPr bwMode="auto">
              <a:xfrm>
                <a:off x="3324" y="987"/>
                <a:ext cx="1708" cy="431"/>
                <a:chOff x="1450" y="1101"/>
                <a:chExt cx="2970" cy="997"/>
              </a:xfrm>
            </p:grpSpPr>
            <p:sp>
              <p:nvSpPr>
                <p:cNvPr id="41494" name="Oval 450"/>
                <p:cNvSpPr>
                  <a:spLocks noChangeArrowheads="1"/>
                </p:cNvSpPr>
                <p:nvPr/>
              </p:nvSpPr>
              <p:spPr bwMode="auto">
                <a:xfrm>
                  <a:off x="1984" y="1682"/>
                  <a:ext cx="1760" cy="119"/>
                </a:xfrm>
                <a:prstGeom prst="ellipse">
                  <a:avLst/>
                </a:prstGeom>
                <a:solidFill>
                  <a:srgbClr val="03FBEF"/>
                </a:solidFill>
                <a:ln w="12700">
                  <a:solidFill>
                    <a:schemeClr val="tx2"/>
                  </a:solidFill>
                  <a:round/>
                  <a:headEnd type="none" w="sm" len="sm"/>
                  <a:tailEnd type="none" w="sm" len="sm"/>
                </a:ln>
              </p:spPr>
              <p:txBody>
                <a:bodyPr wrap="none" anchor="ctr"/>
                <a:lstStyle/>
                <a:p>
                  <a:pPr algn="ctr"/>
                  <a:r>
                    <a:rPr lang="en-US" sz="1200" b="0">
                      <a:solidFill>
                        <a:schemeClr val="hlink"/>
                      </a:solidFill>
                      <a:latin typeface="Gill Sans" charset="0"/>
                      <a:cs typeface="Gill Sans" charset="0"/>
                    </a:rPr>
                    <a:t>Gigabit Ethernet</a:t>
                  </a:r>
                  <a:endParaRPr lang="en-US" sz="1200" b="0">
                    <a:latin typeface="Gill Sans" charset="0"/>
                    <a:cs typeface="Gill Sans" charset="0"/>
                  </a:endParaRPr>
                </a:p>
              </p:txBody>
            </p:sp>
            <p:sp>
              <p:nvSpPr>
                <p:cNvPr id="41495" name="Line 451"/>
                <p:cNvSpPr>
                  <a:spLocks noChangeShapeType="1"/>
                </p:cNvSpPr>
                <p:nvPr/>
              </p:nvSpPr>
              <p:spPr bwMode="auto">
                <a:xfrm>
                  <a:off x="2104" y="1471"/>
                  <a:ext cx="0" cy="238"/>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xmlns="">
                      <a:noFill/>
                    </a14:hiddenFill>
                  </a:ext>
                </a:extLst>
              </p:spPr>
              <p:txBody>
                <a:bodyPr wrap="none" anchor="ctr"/>
                <a:lstStyle/>
                <a:p>
                  <a:endParaRPr lang="en-US"/>
                </a:p>
              </p:txBody>
            </p:sp>
            <p:sp>
              <p:nvSpPr>
                <p:cNvPr id="41496" name="Line 452"/>
                <p:cNvSpPr>
                  <a:spLocks noChangeShapeType="1"/>
                </p:cNvSpPr>
                <p:nvPr/>
              </p:nvSpPr>
              <p:spPr bwMode="auto">
                <a:xfrm>
                  <a:off x="2232" y="1485"/>
                  <a:ext cx="0" cy="229"/>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xmlns="">
                      <a:noFill/>
                    </a14:hiddenFill>
                  </a:ext>
                </a:extLst>
              </p:spPr>
              <p:txBody>
                <a:bodyPr wrap="none" anchor="ctr"/>
                <a:lstStyle/>
                <a:p>
                  <a:endParaRPr lang="en-US"/>
                </a:p>
              </p:txBody>
            </p:sp>
            <p:sp>
              <p:nvSpPr>
                <p:cNvPr id="41497" name="Line 453"/>
                <p:cNvSpPr>
                  <a:spLocks noChangeShapeType="1"/>
                </p:cNvSpPr>
                <p:nvPr/>
              </p:nvSpPr>
              <p:spPr bwMode="auto">
                <a:xfrm flipH="1">
                  <a:off x="2360" y="1512"/>
                  <a:ext cx="0" cy="170"/>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xmlns="">
                      <a:noFill/>
                    </a14:hiddenFill>
                  </a:ext>
                </a:extLst>
              </p:spPr>
              <p:txBody>
                <a:bodyPr wrap="none" anchor="ctr"/>
                <a:lstStyle/>
                <a:p>
                  <a:endParaRPr lang="en-US"/>
                </a:p>
              </p:txBody>
            </p:sp>
            <p:sp>
              <p:nvSpPr>
                <p:cNvPr id="41498" name="Line 454"/>
                <p:cNvSpPr>
                  <a:spLocks noChangeShapeType="1"/>
                </p:cNvSpPr>
                <p:nvPr/>
              </p:nvSpPr>
              <p:spPr bwMode="auto">
                <a:xfrm>
                  <a:off x="2472" y="1531"/>
                  <a:ext cx="0" cy="156"/>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xmlns="">
                      <a:noFill/>
                    </a14:hiddenFill>
                  </a:ext>
                </a:extLst>
              </p:spPr>
              <p:txBody>
                <a:bodyPr wrap="none" anchor="ctr"/>
                <a:lstStyle/>
                <a:p>
                  <a:endParaRPr lang="en-US"/>
                </a:p>
              </p:txBody>
            </p:sp>
            <p:sp>
              <p:nvSpPr>
                <p:cNvPr id="41499" name="Line 455"/>
                <p:cNvSpPr>
                  <a:spLocks noChangeShapeType="1"/>
                </p:cNvSpPr>
                <p:nvPr/>
              </p:nvSpPr>
              <p:spPr bwMode="auto">
                <a:xfrm>
                  <a:off x="2560" y="1590"/>
                  <a:ext cx="0" cy="106"/>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xmlns="">
                      <a:noFill/>
                    </a14:hiddenFill>
                  </a:ext>
                </a:extLst>
              </p:spPr>
              <p:txBody>
                <a:bodyPr wrap="none" anchor="ctr"/>
                <a:lstStyle/>
                <a:p>
                  <a:endParaRPr lang="en-US"/>
                </a:p>
              </p:txBody>
            </p:sp>
            <p:sp>
              <p:nvSpPr>
                <p:cNvPr id="41500" name="Line 456"/>
                <p:cNvSpPr>
                  <a:spLocks noChangeShapeType="1"/>
                </p:cNvSpPr>
                <p:nvPr/>
              </p:nvSpPr>
              <p:spPr bwMode="auto">
                <a:xfrm>
                  <a:off x="2680" y="1599"/>
                  <a:ext cx="0" cy="88"/>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xmlns="">
                      <a:noFill/>
                    </a14:hiddenFill>
                  </a:ext>
                </a:extLst>
              </p:spPr>
              <p:txBody>
                <a:bodyPr wrap="none" anchor="ctr"/>
                <a:lstStyle/>
                <a:p>
                  <a:endParaRPr lang="en-US"/>
                </a:p>
              </p:txBody>
            </p:sp>
            <p:sp>
              <p:nvSpPr>
                <p:cNvPr id="41501" name="Line 457"/>
                <p:cNvSpPr>
                  <a:spLocks noChangeShapeType="1"/>
                </p:cNvSpPr>
                <p:nvPr/>
              </p:nvSpPr>
              <p:spPr bwMode="auto">
                <a:xfrm>
                  <a:off x="2808" y="1636"/>
                  <a:ext cx="0" cy="55"/>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xmlns="">
                      <a:noFill/>
                    </a14:hiddenFill>
                  </a:ext>
                </a:extLst>
              </p:spPr>
              <p:txBody>
                <a:bodyPr wrap="none" anchor="ctr"/>
                <a:lstStyle/>
                <a:p>
                  <a:endParaRPr lang="en-US"/>
                </a:p>
              </p:txBody>
            </p:sp>
            <p:sp>
              <p:nvSpPr>
                <p:cNvPr id="41502" name="Line 458"/>
                <p:cNvSpPr>
                  <a:spLocks noChangeShapeType="1"/>
                </p:cNvSpPr>
                <p:nvPr/>
              </p:nvSpPr>
              <p:spPr bwMode="auto">
                <a:xfrm>
                  <a:off x="2944" y="1650"/>
                  <a:ext cx="0" cy="37"/>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xmlns="">
                      <a:noFill/>
                    </a14:hiddenFill>
                  </a:ext>
                </a:extLst>
              </p:spPr>
              <p:txBody>
                <a:bodyPr wrap="none" anchor="ctr"/>
                <a:lstStyle/>
                <a:p>
                  <a:endParaRPr lang="en-US"/>
                </a:p>
              </p:txBody>
            </p:sp>
            <p:sp>
              <p:nvSpPr>
                <p:cNvPr id="41503" name="Line 459"/>
                <p:cNvSpPr>
                  <a:spLocks noChangeShapeType="1"/>
                </p:cNvSpPr>
                <p:nvPr/>
              </p:nvSpPr>
              <p:spPr bwMode="auto">
                <a:xfrm>
                  <a:off x="3168" y="1567"/>
                  <a:ext cx="0" cy="115"/>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xmlns="">
                      <a:noFill/>
                    </a14:hiddenFill>
                  </a:ext>
                </a:extLst>
              </p:spPr>
              <p:txBody>
                <a:bodyPr wrap="none" anchor="ctr"/>
                <a:lstStyle/>
                <a:p>
                  <a:endParaRPr lang="en-US"/>
                </a:p>
              </p:txBody>
            </p:sp>
            <p:sp>
              <p:nvSpPr>
                <p:cNvPr id="41504" name="Line 460"/>
                <p:cNvSpPr>
                  <a:spLocks noChangeShapeType="1"/>
                </p:cNvSpPr>
                <p:nvPr/>
              </p:nvSpPr>
              <p:spPr bwMode="auto">
                <a:xfrm>
                  <a:off x="3312" y="1480"/>
                  <a:ext cx="0" cy="216"/>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xmlns="">
                      <a:noFill/>
                    </a14:hiddenFill>
                  </a:ext>
                </a:extLst>
              </p:spPr>
              <p:txBody>
                <a:bodyPr wrap="none" anchor="ctr"/>
                <a:lstStyle/>
                <a:p>
                  <a:endParaRPr lang="en-US"/>
                </a:p>
              </p:txBody>
            </p:sp>
            <p:sp>
              <p:nvSpPr>
                <p:cNvPr id="41505" name="Line 461"/>
                <p:cNvSpPr>
                  <a:spLocks noChangeShapeType="1"/>
                </p:cNvSpPr>
                <p:nvPr/>
              </p:nvSpPr>
              <p:spPr bwMode="auto">
                <a:xfrm>
                  <a:off x="3448" y="1352"/>
                  <a:ext cx="0" cy="344"/>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xmlns="">
                      <a:noFill/>
                    </a14:hiddenFill>
                  </a:ext>
                </a:extLst>
              </p:spPr>
              <p:txBody>
                <a:bodyPr wrap="none" anchor="ctr"/>
                <a:lstStyle/>
                <a:p>
                  <a:endParaRPr lang="en-US"/>
                </a:p>
              </p:txBody>
            </p:sp>
            <p:sp>
              <p:nvSpPr>
                <p:cNvPr id="41506" name="Line 462"/>
                <p:cNvSpPr>
                  <a:spLocks noChangeShapeType="1"/>
                </p:cNvSpPr>
                <p:nvPr/>
              </p:nvSpPr>
              <p:spPr bwMode="auto">
                <a:xfrm>
                  <a:off x="3640" y="1237"/>
                  <a:ext cx="0" cy="482"/>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xmlns="">
                      <a:noFill/>
                    </a14:hiddenFill>
                  </a:ext>
                </a:extLst>
              </p:spPr>
              <p:txBody>
                <a:bodyPr wrap="none" anchor="ctr"/>
                <a:lstStyle/>
                <a:p>
                  <a:endParaRPr lang="en-US"/>
                </a:p>
              </p:txBody>
            </p:sp>
            <p:sp>
              <p:nvSpPr>
                <p:cNvPr id="41507" name="Oval 463"/>
                <p:cNvSpPr>
                  <a:spLocks noChangeArrowheads="1"/>
                </p:cNvSpPr>
                <p:nvPr/>
              </p:nvSpPr>
              <p:spPr bwMode="auto">
                <a:xfrm rot="2527473">
                  <a:off x="1450" y="1533"/>
                  <a:ext cx="64" cy="92"/>
                </a:xfrm>
                <a:prstGeom prst="ellipse">
                  <a:avLst/>
                </a:prstGeom>
                <a:solidFill>
                  <a:srgbClr val="03FBEF"/>
                </a:solidFill>
                <a:ln w="12700">
                  <a:solidFill>
                    <a:schemeClr val="tx2"/>
                  </a:solidFill>
                  <a:round/>
                  <a:headEnd type="none" w="sm" len="sm"/>
                  <a:tailEnd type="none" w="sm" len="sm"/>
                </a:ln>
              </p:spPr>
              <p:txBody>
                <a:bodyPr wrap="none" anchor="ctr"/>
                <a:lstStyle/>
                <a:p>
                  <a:endParaRPr lang="en-US" sz="1200" b="0">
                    <a:latin typeface="Gill Sans" charset="0"/>
                    <a:cs typeface="Gill Sans" charset="0"/>
                  </a:endParaRPr>
                </a:p>
              </p:txBody>
            </p:sp>
            <p:sp>
              <p:nvSpPr>
                <p:cNvPr id="41508" name="Oval 464"/>
                <p:cNvSpPr>
                  <a:spLocks noChangeArrowheads="1"/>
                </p:cNvSpPr>
                <p:nvPr/>
              </p:nvSpPr>
              <p:spPr bwMode="auto">
                <a:xfrm rot="2527473">
                  <a:off x="1450" y="2006"/>
                  <a:ext cx="71" cy="92"/>
                </a:xfrm>
                <a:prstGeom prst="ellipse">
                  <a:avLst/>
                </a:prstGeom>
                <a:solidFill>
                  <a:srgbClr val="03FBEF"/>
                </a:solidFill>
                <a:ln w="12700">
                  <a:solidFill>
                    <a:schemeClr val="tx2"/>
                  </a:solidFill>
                  <a:round/>
                  <a:headEnd type="none" w="sm" len="sm"/>
                  <a:tailEnd type="none" w="sm" len="sm"/>
                </a:ln>
              </p:spPr>
              <p:txBody>
                <a:bodyPr wrap="none" anchor="ctr"/>
                <a:lstStyle/>
                <a:p>
                  <a:endParaRPr lang="en-US" sz="1200" b="0">
                    <a:latin typeface="Gill Sans" charset="0"/>
                    <a:cs typeface="Gill Sans" charset="0"/>
                  </a:endParaRPr>
                </a:p>
              </p:txBody>
            </p:sp>
            <p:sp>
              <p:nvSpPr>
                <p:cNvPr id="41509" name="Oval 465"/>
                <p:cNvSpPr>
                  <a:spLocks noChangeArrowheads="1"/>
                </p:cNvSpPr>
                <p:nvPr/>
              </p:nvSpPr>
              <p:spPr bwMode="auto">
                <a:xfrm rot="2527473">
                  <a:off x="2114" y="1991"/>
                  <a:ext cx="64" cy="92"/>
                </a:xfrm>
                <a:prstGeom prst="ellipse">
                  <a:avLst/>
                </a:prstGeom>
                <a:solidFill>
                  <a:srgbClr val="03FBEF"/>
                </a:solidFill>
                <a:ln w="12700">
                  <a:solidFill>
                    <a:schemeClr val="tx2"/>
                  </a:solidFill>
                  <a:round/>
                  <a:headEnd type="none" w="sm" len="sm"/>
                  <a:tailEnd type="none" w="sm" len="sm"/>
                </a:ln>
              </p:spPr>
              <p:txBody>
                <a:bodyPr wrap="none" anchor="ctr"/>
                <a:lstStyle/>
                <a:p>
                  <a:endParaRPr lang="en-US" sz="1200" b="0">
                    <a:latin typeface="Gill Sans" charset="0"/>
                    <a:cs typeface="Gill Sans" charset="0"/>
                  </a:endParaRPr>
                </a:p>
              </p:txBody>
            </p:sp>
            <p:sp>
              <p:nvSpPr>
                <p:cNvPr id="41510" name="Oval 466"/>
                <p:cNvSpPr>
                  <a:spLocks noChangeArrowheads="1"/>
                </p:cNvSpPr>
                <p:nvPr/>
              </p:nvSpPr>
              <p:spPr bwMode="auto">
                <a:xfrm rot="2527473">
                  <a:off x="2884" y="1973"/>
                  <a:ext cx="64" cy="92"/>
                </a:xfrm>
                <a:prstGeom prst="ellipse">
                  <a:avLst/>
                </a:prstGeom>
                <a:solidFill>
                  <a:srgbClr val="03FBEF"/>
                </a:solidFill>
                <a:ln w="12700">
                  <a:solidFill>
                    <a:schemeClr val="tx2"/>
                  </a:solidFill>
                  <a:round/>
                  <a:headEnd type="none" w="sm" len="sm"/>
                  <a:tailEnd type="none" w="sm" len="sm"/>
                </a:ln>
              </p:spPr>
              <p:txBody>
                <a:bodyPr wrap="none" anchor="ctr"/>
                <a:lstStyle/>
                <a:p>
                  <a:endParaRPr lang="en-US" sz="1200" b="0">
                    <a:latin typeface="Gill Sans" charset="0"/>
                    <a:cs typeface="Gill Sans" charset="0"/>
                  </a:endParaRPr>
                </a:p>
              </p:txBody>
            </p:sp>
            <p:sp>
              <p:nvSpPr>
                <p:cNvPr id="41511" name="Oval 467"/>
                <p:cNvSpPr>
                  <a:spLocks noChangeArrowheads="1"/>
                </p:cNvSpPr>
                <p:nvPr/>
              </p:nvSpPr>
              <p:spPr bwMode="auto">
                <a:xfrm rot="2527473">
                  <a:off x="1500" y="1829"/>
                  <a:ext cx="64" cy="91"/>
                </a:xfrm>
                <a:prstGeom prst="ellipse">
                  <a:avLst/>
                </a:prstGeom>
                <a:solidFill>
                  <a:srgbClr val="03FBEF"/>
                </a:solidFill>
                <a:ln w="12700">
                  <a:solidFill>
                    <a:schemeClr val="tx2"/>
                  </a:solidFill>
                  <a:round/>
                  <a:headEnd type="none" w="sm" len="sm"/>
                  <a:tailEnd type="none" w="sm" len="sm"/>
                </a:ln>
              </p:spPr>
              <p:txBody>
                <a:bodyPr wrap="none" anchor="ctr"/>
                <a:lstStyle/>
                <a:p>
                  <a:endParaRPr lang="en-US" sz="1200" b="0">
                    <a:latin typeface="Gill Sans" charset="0"/>
                    <a:cs typeface="Gill Sans" charset="0"/>
                  </a:endParaRPr>
                </a:p>
              </p:txBody>
            </p:sp>
            <p:sp>
              <p:nvSpPr>
                <p:cNvPr id="41512" name="Oval 468"/>
                <p:cNvSpPr>
                  <a:spLocks noChangeArrowheads="1"/>
                </p:cNvSpPr>
                <p:nvPr/>
              </p:nvSpPr>
              <p:spPr bwMode="auto">
                <a:xfrm rot="2527473">
                  <a:off x="3560" y="1951"/>
                  <a:ext cx="64" cy="92"/>
                </a:xfrm>
                <a:prstGeom prst="ellipse">
                  <a:avLst/>
                </a:prstGeom>
                <a:solidFill>
                  <a:srgbClr val="03FBEF"/>
                </a:solidFill>
                <a:ln w="12700">
                  <a:solidFill>
                    <a:schemeClr val="tx2"/>
                  </a:solidFill>
                  <a:round/>
                  <a:headEnd type="none" w="sm" len="sm"/>
                  <a:tailEnd type="none" w="sm" len="sm"/>
                </a:ln>
              </p:spPr>
              <p:txBody>
                <a:bodyPr wrap="none" anchor="ctr"/>
                <a:lstStyle/>
                <a:p>
                  <a:endParaRPr lang="en-US" sz="1200" b="0">
                    <a:latin typeface="Gill Sans" charset="0"/>
                    <a:cs typeface="Gill Sans" charset="0"/>
                  </a:endParaRPr>
                </a:p>
              </p:txBody>
            </p:sp>
            <p:sp>
              <p:nvSpPr>
                <p:cNvPr id="41513" name="Oval 469"/>
                <p:cNvSpPr>
                  <a:spLocks noChangeArrowheads="1"/>
                </p:cNvSpPr>
                <p:nvPr/>
              </p:nvSpPr>
              <p:spPr bwMode="auto">
                <a:xfrm rot="2527473">
                  <a:off x="4152" y="1834"/>
                  <a:ext cx="64" cy="92"/>
                </a:xfrm>
                <a:prstGeom prst="ellipse">
                  <a:avLst/>
                </a:prstGeom>
                <a:solidFill>
                  <a:srgbClr val="03FBEF"/>
                </a:solidFill>
                <a:ln w="12700">
                  <a:solidFill>
                    <a:schemeClr val="tx2"/>
                  </a:solidFill>
                  <a:round/>
                  <a:headEnd type="none" w="sm" len="sm"/>
                  <a:tailEnd type="none" w="sm" len="sm"/>
                </a:ln>
              </p:spPr>
              <p:txBody>
                <a:bodyPr wrap="none" anchor="ctr"/>
                <a:lstStyle/>
                <a:p>
                  <a:endParaRPr lang="en-US" sz="1200" b="0">
                    <a:latin typeface="Gill Sans" charset="0"/>
                    <a:cs typeface="Gill Sans" charset="0"/>
                  </a:endParaRPr>
                </a:p>
              </p:txBody>
            </p:sp>
            <p:sp>
              <p:nvSpPr>
                <p:cNvPr id="41514" name="Oval 470"/>
                <p:cNvSpPr>
                  <a:spLocks noChangeArrowheads="1"/>
                </p:cNvSpPr>
                <p:nvPr/>
              </p:nvSpPr>
              <p:spPr bwMode="auto">
                <a:xfrm rot="2527473">
                  <a:off x="4356" y="1485"/>
                  <a:ext cx="64" cy="92"/>
                </a:xfrm>
                <a:prstGeom prst="ellipse">
                  <a:avLst/>
                </a:prstGeom>
                <a:solidFill>
                  <a:srgbClr val="03FBEF"/>
                </a:solidFill>
                <a:ln w="12700">
                  <a:solidFill>
                    <a:schemeClr val="tx2"/>
                  </a:solidFill>
                  <a:round/>
                  <a:headEnd type="none" w="sm" len="sm"/>
                  <a:tailEnd type="none" w="sm" len="sm"/>
                </a:ln>
              </p:spPr>
              <p:txBody>
                <a:bodyPr wrap="none" anchor="ctr"/>
                <a:lstStyle/>
                <a:p>
                  <a:endParaRPr lang="en-US" sz="1200" b="0">
                    <a:latin typeface="Gill Sans" charset="0"/>
                    <a:cs typeface="Gill Sans" charset="0"/>
                  </a:endParaRPr>
                </a:p>
              </p:txBody>
            </p:sp>
            <p:sp>
              <p:nvSpPr>
                <p:cNvPr id="41515" name="Line 471"/>
                <p:cNvSpPr>
                  <a:spLocks noChangeShapeType="1"/>
                </p:cNvSpPr>
                <p:nvPr/>
              </p:nvSpPr>
              <p:spPr bwMode="auto">
                <a:xfrm>
                  <a:off x="1522" y="1578"/>
                  <a:ext cx="510" cy="141"/>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xmlns="">
                      <a:noFill/>
                    </a14:hiddenFill>
                  </a:ext>
                </a:extLst>
              </p:spPr>
              <p:txBody>
                <a:bodyPr wrap="none" anchor="ctr"/>
                <a:lstStyle/>
                <a:p>
                  <a:endParaRPr lang="en-US"/>
                </a:p>
              </p:txBody>
            </p:sp>
            <p:sp>
              <p:nvSpPr>
                <p:cNvPr id="41516" name="Line 472"/>
                <p:cNvSpPr>
                  <a:spLocks noChangeShapeType="1"/>
                </p:cNvSpPr>
                <p:nvPr/>
              </p:nvSpPr>
              <p:spPr bwMode="auto">
                <a:xfrm flipV="1">
                  <a:off x="1546" y="1781"/>
                  <a:ext cx="654" cy="250"/>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xmlns="">
                      <a:noFill/>
                    </a14:hiddenFill>
                  </a:ext>
                </a:extLst>
              </p:spPr>
              <p:txBody>
                <a:bodyPr wrap="none" anchor="ctr"/>
                <a:lstStyle/>
                <a:p>
                  <a:endParaRPr lang="en-US"/>
                </a:p>
              </p:txBody>
            </p:sp>
            <p:sp>
              <p:nvSpPr>
                <p:cNvPr id="41517" name="Line 473"/>
                <p:cNvSpPr>
                  <a:spLocks noChangeShapeType="1"/>
                </p:cNvSpPr>
                <p:nvPr/>
              </p:nvSpPr>
              <p:spPr bwMode="auto">
                <a:xfrm flipV="1">
                  <a:off x="2188" y="1791"/>
                  <a:ext cx="228" cy="216"/>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xmlns="">
                      <a:noFill/>
                    </a14:hiddenFill>
                  </a:ext>
                </a:extLst>
              </p:spPr>
              <p:txBody>
                <a:bodyPr wrap="none" anchor="ctr"/>
                <a:lstStyle/>
                <a:p>
                  <a:endParaRPr lang="en-US"/>
                </a:p>
              </p:txBody>
            </p:sp>
            <p:sp>
              <p:nvSpPr>
                <p:cNvPr id="41518" name="Line 474"/>
                <p:cNvSpPr>
                  <a:spLocks noChangeShapeType="1"/>
                </p:cNvSpPr>
                <p:nvPr/>
              </p:nvSpPr>
              <p:spPr bwMode="auto">
                <a:xfrm flipH="1" flipV="1">
                  <a:off x="2818" y="1798"/>
                  <a:ext cx="108" cy="203"/>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xmlns="">
                      <a:noFill/>
                    </a14:hiddenFill>
                  </a:ext>
                </a:extLst>
              </p:spPr>
              <p:txBody>
                <a:bodyPr wrap="none" anchor="ctr"/>
                <a:lstStyle/>
                <a:p>
                  <a:endParaRPr lang="en-US"/>
                </a:p>
              </p:txBody>
            </p:sp>
            <p:sp>
              <p:nvSpPr>
                <p:cNvPr id="41519" name="Line 475"/>
                <p:cNvSpPr>
                  <a:spLocks noChangeShapeType="1"/>
                </p:cNvSpPr>
                <p:nvPr/>
              </p:nvSpPr>
              <p:spPr bwMode="auto">
                <a:xfrm flipH="1" flipV="1">
                  <a:off x="3388" y="1784"/>
                  <a:ext cx="192" cy="192"/>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xmlns="">
                      <a:noFill/>
                    </a14:hiddenFill>
                  </a:ext>
                </a:extLst>
              </p:spPr>
              <p:txBody>
                <a:bodyPr wrap="none" anchor="ctr"/>
                <a:lstStyle/>
                <a:p>
                  <a:endParaRPr lang="en-US"/>
                </a:p>
              </p:txBody>
            </p:sp>
            <p:sp>
              <p:nvSpPr>
                <p:cNvPr id="41520" name="Line 476"/>
                <p:cNvSpPr>
                  <a:spLocks noChangeShapeType="1"/>
                </p:cNvSpPr>
                <p:nvPr/>
              </p:nvSpPr>
              <p:spPr bwMode="auto">
                <a:xfrm flipH="1" flipV="1">
                  <a:off x="3706" y="1743"/>
                  <a:ext cx="462" cy="120"/>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xmlns="">
                      <a:noFill/>
                    </a14:hiddenFill>
                  </a:ext>
                </a:extLst>
              </p:spPr>
              <p:txBody>
                <a:bodyPr wrap="none" anchor="ctr"/>
                <a:lstStyle/>
                <a:p>
                  <a:endParaRPr lang="en-US"/>
                </a:p>
              </p:txBody>
            </p:sp>
            <p:sp>
              <p:nvSpPr>
                <p:cNvPr id="41521" name="Line 477"/>
                <p:cNvSpPr>
                  <a:spLocks noChangeShapeType="1"/>
                </p:cNvSpPr>
                <p:nvPr/>
              </p:nvSpPr>
              <p:spPr bwMode="auto">
                <a:xfrm flipH="1">
                  <a:off x="3694" y="1540"/>
                  <a:ext cx="648" cy="179"/>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xmlns="">
                      <a:noFill/>
                    </a14:hiddenFill>
                  </a:ext>
                </a:extLst>
              </p:spPr>
              <p:txBody>
                <a:bodyPr wrap="none" anchor="ctr"/>
                <a:lstStyle/>
                <a:p>
                  <a:endParaRPr lang="en-US"/>
                </a:p>
              </p:txBody>
            </p:sp>
            <p:sp>
              <p:nvSpPr>
                <p:cNvPr id="41522" name="Line 478"/>
                <p:cNvSpPr>
                  <a:spLocks noChangeShapeType="1"/>
                </p:cNvSpPr>
                <p:nvPr/>
              </p:nvSpPr>
              <p:spPr bwMode="auto">
                <a:xfrm>
                  <a:off x="1500" y="1101"/>
                  <a:ext cx="582" cy="625"/>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xmlns="">
                      <a:noFill/>
                    </a14:hiddenFill>
                  </a:ext>
                </a:extLst>
              </p:spPr>
              <p:txBody>
                <a:bodyPr wrap="none" anchor="ctr"/>
                <a:lstStyle/>
                <a:p>
                  <a:endParaRPr lang="en-US"/>
                </a:p>
              </p:txBody>
            </p:sp>
          </p:grpSp>
        </p:grpSp>
      </p:grpSp>
      <p:grpSp>
        <p:nvGrpSpPr>
          <p:cNvPr id="40980" name="Group 17"/>
          <p:cNvGrpSpPr>
            <a:grpSpLocks/>
          </p:cNvGrpSpPr>
          <p:nvPr/>
        </p:nvGrpSpPr>
        <p:grpSpPr bwMode="auto">
          <a:xfrm>
            <a:off x="7620000" y="457200"/>
            <a:ext cx="2978150" cy="1428750"/>
            <a:chOff x="2796" y="671"/>
            <a:chExt cx="2716" cy="1304"/>
          </a:xfrm>
        </p:grpSpPr>
        <p:grpSp>
          <p:nvGrpSpPr>
            <p:cNvPr id="40981" name="Group 18"/>
            <p:cNvGrpSpPr>
              <a:grpSpLocks/>
            </p:cNvGrpSpPr>
            <p:nvPr/>
          </p:nvGrpSpPr>
          <p:grpSpPr bwMode="auto">
            <a:xfrm>
              <a:off x="3227" y="1844"/>
              <a:ext cx="513" cy="131"/>
              <a:chOff x="2201" y="2688"/>
              <a:chExt cx="1946" cy="577"/>
            </a:xfrm>
          </p:grpSpPr>
          <p:sp>
            <p:nvSpPr>
              <p:cNvPr id="41429" name="AutoShape 19"/>
              <p:cNvSpPr>
                <a:spLocks noChangeArrowheads="1"/>
              </p:cNvSpPr>
              <p:nvPr/>
            </p:nvSpPr>
            <p:spPr bwMode="auto">
              <a:xfrm>
                <a:off x="2934" y="3023"/>
                <a:ext cx="181" cy="146"/>
              </a:xfrm>
              <a:prstGeom prst="parallelogram">
                <a:avLst>
                  <a:gd name="adj" fmla="val 30993"/>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430" name="AutoShape 20"/>
              <p:cNvSpPr>
                <a:spLocks noChangeArrowheads="1"/>
              </p:cNvSpPr>
              <p:nvPr/>
            </p:nvSpPr>
            <p:spPr bwMode="auto">
              <a:xfrm>
                <a:off x="3030" y="3119"/>
                <a:ext cx="181" cy="146"/>
              </a:xfrm>
              <a:prstGeom prst="parallelogram">
                <a:avLst>
                  <a:gd name="adj" fmla="val 30993"/>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431" name="AutoShape 21"/>
              <p:cNvSpPr>
                <a:spLocks noChangeArrowheads="1"/>
              </p:cNvSpPr>
              <p:nvPr/>
            </p:nvSpPr>
            <p:spPr bwMode="auto">
              <a:xfrm>
                <a:off x="3329" y="2819"/>
                <a:ext cx="181" cy="146"/>
              </a:xfrm>
              <a:prstGeom prst="parallelogram">
                <a:avLst>
                  <a:gd name="adj" fmla="val 30993"/>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432" name="AutoShape 22"/>
              <p:cNvSpPr>
                <a:spLocks noChangeArrowheads="1"/>
              </p:cNvSpPr>
              <p:nvPr/>
            </p:nvSpPr>
            <p:spPr bwMode="auto">
              <a:xfrm>
                <a:off x="3425" y="3015"/>
                <a:ext cx="181" cy="146"/>
              </a:xfrm>
              <a:prstGeom prst="parallelogram">
                <a:avLst>
                  <a:gd name="adj" fmla="val 30993"/>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433" name="AutoShape 23"/>
              <p:cNvSpPr>
                <a:spLocks noChangeArrowheads="1"/>
              </p:cNvSpPr>
              <p:nvPr/>
            </p:nvSpPr>
            <p:spPr bwMode="auto">
              <a:xfrm>
                <a:off x="3570" y="2688"/>
                <a:ext cx="181" cy="146"/>
              </a:xfrm>
              <a:prstGeom prst="parallelogram">
                <a:avLst>
                  <a:gd name="adj" fmla="val 30993"/>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434" name="AutoShape 24"/>
              <p:cNvSpPr>
                <a:spLocks noChangeArrowheads="1"/>
              </p:cNvSpPr>
              <p:nvPr/>
            </p:nvSpPr>
            <p:spPr bwMode="auto">
              <a:xfrm>
                <a:off x="3666" y="2884"/>
                <a:ext cx="181" cy="146"/>
              </a:xfrm>
              <a:prstGeom prst="parallelogram">
                <a:avLst>
                  <a:gd name="adj" fmla="val 30993"/>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435" name="AutoShape 25"/>
              <p:cNvSpPr>
                <a:spLocks noChangeArrowheads="1"/>
              </p:cNvSpPr>
              <p:nvPr/>
            </p:nvSpPr>
            <p:spPr bwMode="auto">
              <a:xfrm>
                <a:off x="3026" y="2789"/>
                <a:ext cx="181" cy="146"/>
              </a:xfrm>
              <a:prstGeom prst="parallelogram">
                <a:avLst>
                  <a:gd name="adj" fmla="val 30993"/>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436" name="AutoShape 26"/>
              <p:cNvSpPr>
                <a:spLocks noChangeArrowheads="1"/>
              </p:cNvSpPr>
              <p:nvPr/>
            </p:nvSpPr>
            <p:spPr bwMode="auto">
              <a:xfrm>
                <a:off x="2201" y="2963"/>
                <a:ext cx="181" cy="146"/>
              </a:xfrm>
              <a:prstGeom prst="parallelogram">
                <a:avLst>
                  <a:gd name="adj" fmla="val 30993"/>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437" name="AutoShape 27"/>
              <p:cNvSpPr>
                <a:spLocks noChangeArrowheads="1"/>
              </p:cNvSpPr>
              <p:nvPr/>
            </p:nvSpPr>
            <p:spPr bwMode="auto">
              <a:xfrm>
                <a:off x="2297" y="3059"/>
                <a:ext cx="181" cy="146"/>
              </a:xfrm>
              <a:prstGeom prst="parallelogram">
                <a:avLst>
                  <a:gd name="adj" fmla="val 30993"/>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438" name="AutoShape 28"/>
              <p:cNvSpPr>
                <a:spLocks noChangeArrowheads="1"/>
              </p:cNvSpPr>
              <p:nvPr/>
            </p:nvSpPr>
            <p:spPr bwMode="auto">
              <a:xfrm>
                <a:off x="2596" y="2759"/>
                <a:ext cx="181" cy="146"/>
              </a:xfrm>
              <a:prstGeom prst="parallelogram">
                <a:avLst>
                  <a:gd name="adj" fmla="val 30993"/>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439" name="AutoShape 29"/>
              <p:cNvSpPr>
                <a:spLocks noChangeArrowheads="1"/>
              </p:cNvSpPr>
              <p:nvPr/>
            </p:nvSpPr>
            <p:spPr bwMode="auto">
              <a:xfrm>
                <a:off x="2692" y="2955"/>
                <a:ext cx="181" cy="146"/>
              </a:xfrm>
              <a:prstGeom prst="parallelogram">
                <a:avLst>
                  <a:gd name="adj" fmla="val 30993"/>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440" name="AutoShape 30"/>
              <p:cNvSpPr>
                <a:spLocks noChangeArrowheads="1"/>
              </p:cNvSpPr>
              <p:nvPr/>
            </p:nvSpPr>
            <p:spPr bwMode="auto">
              <a:xfrm>
                <a:off x="3870" y="2941"/>
                <a:ext cx="181" cy="146"/>
              </a:xfrm>
              <a:prstGeom prst="parallelogram">
                <a:avLst>
                  <a:gd name="adj" fmla="val 30993"/>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441" name="AutoShape 31"/>
              <p:cNvSpPr>
                <a:spLocks noChangeArrowheads="1"/>
              </p:cNvSpPr>
              <p:nvPr/>
            </p:nvSpPr>
            <p:spPr bwMode="auto">
              <a:xfrm>
                <a:off x="3966" y="3037"/>
                <a:ext cx="181" cy="146"/>
              </a:xfrm>
              <a:prstGeom prst="parallelogram">
                <a:avLst>
                  <a:gd name="adj" fmla="val 30993"/>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nvGrpSpPr>
            <p:cNvPr id="40982" name="Group 32"/>
            <p:cNvGrpSpPr>
              <a:grpSpLocks/>
            </p:cNvGrpSpPr>
            <p:nvPr/>
          </p:nvGrpSpPr>
          <p:grpSpPr bwMode="auto">
            <a:xfrm>
              <a:off x="3899" y="1843"/>
              <a:ext cx="513" cy="131"/>
              <a:chOff x="2201" y="2688"/>
              <a:chExt cx="1946" cy="577"/>
            </a:xfrm>
          </p:grpSpPr>
          <p:sp>
            <p:nvSpPr>
              <p:cNvPr id="41416" name="AutoShape 33"/>
              <p:cNvSpPr>
                <a:spLocks noChangeArrowheads="1"/>
              </p:cNvSpPr>
              <p:nvPr/>
            </p:nvSpPr>
            <p:spPr bwMode="auto">
              <a:xfrm>
                <a:off x="2934" y="3023"/>
                <a:ext cx="181" cy="146"/>
              </a:xfrm>
              <a:prstGeom prst="parallelogram">
                <a:avLst>
                  <a:gd name="adj" fmla="val 30993"/>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417" name="AutoShape 34"/>
              <p:cNvSpPr>
                <a:spLocks noChangeArrowheads="1"/>
              </p:cNvSpPr>
              <p:nvPr/>
            </p:nvSpPr>
            <p:spPr bwMode="auto">
              <a:xfrm>
                <a:off x="3030" y="3119"/>
                <a:ext cx="181" cy="146"/>
              </a:xfrm>
              <a:prstGeom prst="parallelogram">
                <a:avLst>
                  <a:gd name="adj" fmla="val 30993"/>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418" name="AutoShape 35"/>
              <p:cNvSpPr>
                <a:spLocks noChangeArrowheads="1"/>
              </p:cNvSpPr>
              <p:nvPr/>
            </p:nvSpPr>
            <p:spPr bwMode="auto">
              <a:xfrm>
                <a:off x="3329" y="2819"/>
                <a:ext cx="181" cy="146"/>
              </a:xfrm>
              <a:prstGeom prst="parallelogram">
                <a:avLst>
                  <a:gd name="adj" fmla="val 30993"/>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419" name="AutoShape 36"/>
              <p:cNvSpPr>
                <a:spLocks noChangeArrowheads="1"/>
              </p:cNvSpPr>
              <p:nvPr/>
            </p:nvSpPr>
            <p:spPr bwMode="auto">
              <a:xfrm>
                <a:off x="3425" y="3015"/>
                <a:ext cx="181" cy="146"/>
              </a:xfrm>
              <a:prstGeom prst="parallelogram">
                <a:avLst>
                  <a:gd name="adj" fmla="val 30993"/>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420" name="AutoShape 37"/>
              <p:cNvSpPr>
                <a:spLocks noChangeArrowheads="1"/>
              </p:cNvSpPr>
              <p:nvPr/>
            </p:nvSpPr>
            <p:spPr bwMode="auto">
              <a:xfrm>
                <a:off x="3570" y="2688"/>
                <a:ext cx="181" cy="146"/>
              </a:xfrm>
              <a:prstGeom prst="parallelogram">
                <a:avLst>
                  <a:gd name="adj" fmla="val 30993"/>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421" name="AutoShape 38"/>
              <p:cNvSpPr>
                <a:spLocks noChangeArrowheads="1"/>
              </p:cNvSpPr>
              <p:nvPr/>
            </p:nvSpPr>
            <p:spPr bwMode="auto">
              <a:xfrm>
                <a:off x="3666" y="2884"/>
                <a:ext cx="181" cy="146"/>
              </a:xfrm>
              <a:prstGeom prst="parallelogram">
                <a:avLst>
                  <a:gd name="adj" fmla="val 30993"/>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422" name="AutoShape 39"/>
              <p:cNvSpPr>
                <a:spLocks noChangeArrowheads="1"/>
              </p:cNvSpPr>
              <p:nvPr/>
            </p:nvSpPr>
            <p:spPr bwMode="auto">
              <a:xfrm>
                <a:off x="3026" y="2789"/>
                <a:ext cx="181" cy="146"/>
              </a:xfrm>
              <a:prstGeom prst="parallelogram">
                <a:avLst>
                  <a:gd name="adj" fmla="val 30993"/>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423" name="AutoShape 40"/>
              <p:cNvSpPr>
                <a:spLocks noChangeArrowheads="1"/>
              </p:cNvSpPr>
              <p:nvPr/>
            </p:nvSpPr>
            <p:spPr bwMode="auto">
              <a:xfrm>
                <a:off x="2201" y="2963"/>
                <a:ext cx="181" cy="146"/>
              </a:xfrm>
              <a:prstGeom prst="parallelogram">
                <a:avLst>
                  <a:gd name="adj" fmla="val 30993"/>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424" name="AutoShape 41"/>
              <p:cNvSpPr>
                <a:spLocks noChangeArrowheads="1"/>
              </p:cNvSpPr>
              <p:nvPr/>
            </p:nvSpPr>
            <p:spPr bwMode="auto">
              <a:xfrm>
                <a:off x="2297" y="3059"/>
                <a:ext cx="181" cy="146"/>
              </a:xfrm>
              <a:prstGeom prst="parallelogram">
                <a:avLst>
                  <a:gd name="adj" fmla="val 30993"/>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425" name="AutoShape 42"/>
              <p:cNvSpPr>
                <a:spLocks noChangeArrowheads="1"/>
              </p:cNvSpPr>
              <p:nvPr/>
            </p:nvSpPr>
            <p:spPr bwMode="auto">
              <a:xfrm>
                <a:off x="2596" y="2759"/>
                <a:ext cx="181" cy="146"/>
              </a:xfrm>
              <a:prstGeom prst="parallelogram">
                <a:avLst>
                  <a:gd name="adj" fmla="val 30993"/>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426" name="AutoShape 43"/>
              <p:cNvSpPr>
                <a:spLocks noChangeArrowheads="1"/>
              </p:cNvSpPr>
              <p:nvPr/>
            </p:nvSpPr>
            <p:spPr bwMode="auto">
              <a:xfrm>
                <a:off x="2692" y="2955"/>
                <a:ext cx="181" cy="146"/>
              </a:xfrm>
              <a:prstGeom prst="parallelogram">
                <a:avLst>
                  <a:gd name="adj" fmla="val 30993"/>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427" name="AutoShape 44"/>
              <p:cNvSpPr>
                <a:spLocks noChangeArrowheads="1"/>
              </p:cNvSpPr>
              <p:nvPr/>
            </p:nvSpPr>
            <p:spPr bwMode="auto">
              <a:xfrm>
                <a:off x="3870" y="2941"/>
                <a:ext cx="181" cy="146"/>
              </a:xfrm>
              <a:prstGeom prst="parallelogram">
                <a:avLst>
                  <a:gd name="adj" fmla="val 30993"/>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428" name="AutoShape 45"/>
              <p:cNvSpPr>
                <a:spLocks noChangeArrowheads="1"/>
              </p:cNvSpPr>
              <p:nvPr/>
            </p:nvSpPr>
            <p:spPr bwMode="auto">
              <a:xfrm>
                <a:off x="3966" y="3037"/>
                <a:ext cx="181" cy="146"/>
              </a:xfrm>
              <a:prstGeom prst="parallelogram">
                <a:avLst>
                  <a:gd name="adj" fmla="val 30993"/>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nvGrpSpPr>
            <p:cNvPr id="40983" name="Group 46"/>
            <p:cNvGrpSpPr>
              <a:grpSpLocks/>
            </p:cNvGrpSpPr>
            <p:nvPr/>
          </p:nvGrpSpPr>
          <p:grpSpPr bwMode="auto">
            <a:xfrm>
              <a:off x="4503" y="1773"/>
              <a:ext cx="513" cy="132"/>
              <a:chOff x="2201" y="2688"/>
              <a:chExt cx="1946" cy="577"/>
            </a:xfrm>
          </p:grpSpPr>
          <p:sp>
            <p:nvSpPr>
              <p:cNvPr id="41403" name="AutoShape 47"/>
              <p:cNvSpPr>
                <a:spLocks noChangeArrowheads="1"/>
              </p:cNvSpPr>
              <p:nvPr/>
            </p:nvSpPr>
            <p:spPr bwMode="auto">
              <a:xfrm>
                <a:off x="2934" y="3023"/>
                <a:ext cx="181" cy="146"/>
              </a:xfrm>
              <a:prstGeom prst="parallelogram">
                <a:avLst>
                  <a:gd name="adj" fmla="val 30993"/>
                </a:avLst>
              </a:prstGeom>
              <a:solidFill>
                <a:schemeClr val="hlink"/>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404" name="AutoShape 48"/>
              <p:cNvSpPr>
                <a:spLocks noChangeArrowheads="1"/>
              </p:cNvSpPr>
              <p:nvPr/>
            </p:nvSpPr>
            <p:spPr bwMode="auto">
              <a:xfrm>
                <a:off x="3030" y="3119"/>
                <a:ext cx="181" cy="146"/>
              </a:xfrm>
              <a:prstGeom prst="parallelogram">
                <a:avLst>
                  <a:gd name="adj" fmla="val 30993"/>
                </a:avLst>
              </a:prstGeom>
              <a:solidFill>
                <a:schemeClr val="hlink"/>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405" name="AutoShape 49"/>
              <p:cNvSpPr>
                <a:spLocks noChangeArrowheads="1"/>
              </p:cNvSpPr>
              <p:nvPr/>
            </p:nvSpPr>
            <p:spPr bwMode="auto">
              <a:xfrm>
                <a:off x="3329" y="2819"/>
                <a:ext cx="181" cy="146"/>
              </a:xfrm>
              <a:prstGeom prst="parallelogram">
                <a:avLst>
                  <a:gd name="adj" fmla="val 30993"/>
                </a:avLst>
              </a:prstGeom>
              <a:solidFill>
                <a:schemeClr val="hlink"/>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406" name="AutoShape 50"/>
              <p:cNvSpPr>
                <a:spLocks noChangeArrowheads="1"/>
              </p:cNvSpPr>
              <p:nvPr/>
            </p:nvSpPr>
            <p:spPr bwMode="auto">
              <a:xfrm>
                <a:off x="3425" y="3015"/>
                <a:ext cx="181" cy="146"/>
              </a:xfrm>
              <a:prstGeom prst="parallelogram">
                <a:avLst>
                  <a:gd name="adj" fmla="val 30993"/>
                </a:avLst>
              </a:prstGeom>
              <a:solidFill>
                <a:schemeClr val="hlink"/>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407" name="AutoShape 51"/>
              <p:cNvSpPr>
                <a:spLocks noChangeArrowheads="1"/>
              </p:cNvSpPr>
              <p:nvPr/>
            </p:nvSpPr>
            <p:spPr bwMode="auto">
              <a:xfrm>
                <a:off x="3570" y="2688"/>
                <a:ext cx="181" cy="146"/>
              </a:xfrm>
              <a:prstGeom prst="parallelogram">
                <a:avLst>
                  <a:gd name="adj" fmla="val 30993"/>
                </a:avLst>
              </a:prstGeom>
              <a:solidFill>
                <a:schemeClr val="hlink"/>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408" name="AutoShape 52"/>
              <p:cNvSpPr>
                <a:spLocks noChangeArrowheads="1"/>
              </p:cNvSpPr>
              <p:nvPr/>
            </p:nvSpPr>
            <p:spPr bwMode="auto">
              <a:xfrm>
                <a:off x="3666" y="2884"/>
                <a:ext cx="181" cy="146"/>
              </a:xfrm>
              <a:prstGeom prst="parallelogram">
                <a:avLst>
                  <a:gd name="adj" fmla="val 30993"/>
                </a:avLst>
              </a:prstGeom>
              <a:solidFill>
                <a:schemeClr val="hlink"/>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409" name="AutoShape 53"/>
              <p:cNvSpPr>
                <a:spLocks noChangeArrowheads="1"/>
              </p:cNvSpPr>
              <p:nvPr/>
            </p:nvSpPr>
            <p:spPr bwMode="auto">
              <a:xfrm>
                <a:off x="3026" y="2789"/>
                <a:ext cx="181" cy="146"/>
              </a:xfrm>
              <a:prstGeom prst="parallelogram">
                <a:avLst>
                  <a:gd name="adj" fmla="val 30993"/>
                </a:avLst>
              </a:prstGeom>
              <a:solidFill>
                <a:schemeClr val="hlink"/>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410" name="AutoShape 54"/>
              <p:cNvSpPr>
                <a:spLocks noChangeArrowheads="1"/>
              </p:cNvSpPr>
              <p:nvPr/>
            </p:nvSpPr>
            <p:spPr bwMode="auto">
              <a:xfrm>
                <a:off x="2201" y="2963"/>
                <a:ext cx="181" cy="146"/>
              </a:xfrm>
              <a:prstGeom prst="parallelogram">
                <a:avLst>
                  <a:gd name="adj" fmla="val 30993"/>
                </a:avLst>
              </a:prstGeom>
              <a:solidFill>
                <a:schemeClr val="hlink"/>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411" name="AutoShape 55"/>
              <p:cNvSpPr>
                <a:spLocks noChangeArrowheads="1"/>
              </p:cNvSpPr>
              <p:nvPr/>
            </p:nvSpPr>
            <p:spPr bwMode="auto">
              <a:xfrm>
                <a:off x="2297" y="3059"/>
                <a:ext cx="181" cy="146"/>
              </a:xfrm>
              <a:prstGeom prst="parallelogram">
                <a:avLst>
                  <a:gd name="adj" fmla="val 30993"/>
                </a:avLst>
              </a:prstGeom>
              <a:solidFill>
                <a:schemeClr val="hlink"/>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412" name="AutoShape 56"/>
              <p:cNvSpPr>
                <a:spLocks noChangeArrowheads="1"/>
              </p:cNvSpPr>
              <p:nvPr/>
            </p:nvSpPr>
            <p:spPr bwMode="auto">
              <a:xfrm>
                <a:off x="2596" y="2759"/>
                <a:ext cx="181" cy="146"/>
              </a:xfrm>
              <a:prstGeom prst="parallelogram">
                <a:avLst>
                  <a:gd name="adj" fmla="val 30993"/>
                </a:avLst>
              </a:prstGeom>
              <a:solidFill>
                <a:schemeClr val="hlink"/>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413" name="AutoShape 57"/>
              <p:cNvSpPr>
                <a:spLocks noChangeArrowheads="1"/>
              </p:cNvSpPr>
              <p:nvPr/>
            </p:nvSpPr>
            <p:spPr bwMode="auto">
              <a:xfrm>
                <a:off x="2692" y="2955"/>
                <a:ext cx="181" cy="146"/>
              </a:xfrm>
              <a:prstGeom prst="parallelogram">
                <a:avLst>
                  <a:gd name="adj" fmla="val 30993"/>
                </a:avLst>
              </a:prstGeom>
              <a:solidFill>
                <a:schemeClr val="hlink"/>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414" name="AutoShape 58"/>
              <p:cNvSpPr>
                <a:spLocks noChangeArrowheads="1"/>
              </p:cNvSpPr>
              <p:nvPr/>
            </p:nvSpPr>
            <p:spPr bwMode="auto">
              <a:xfrm>
                <a:off x="3870" y="2941"/>
                <a:ext cx="181" cy="146"/>
              </a:xfrm>
              <a:prstGeom prst="parallelogram">
                <a:avLst>
                  <a:gd name="adj" fmla="val 30993"/>
                </a:avLst>
              </a:prstGeom>
              <a:solidFill>
                <a:schemeClr val="hlink"/>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415" name="AutoShape 59"/>
              <p:cNvSpPr>
                <a:spLocks noChangeArrowheads="1"/>
              </p:cNvSpPr>
              <p:nvPr/>
            </p:nvSpPr>
            <p:spPr bwMode="auto">
              <a:xfrm>
                <a:off x="3966" y="3037"/>
                <a:ext cx="181" cy="146"/>
              </a:xfrm>
              <a:prstGeom prst="parallelogram">
                <a:avLst>
                  <a:gd name="adj" fmla="val 30993"/>
                </a:avLst>
              </a:prstGeom>
              <a:solidFill>
                <a:schemeClr val="hlink"/>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sp>
          <p:nvSpPr>
            <p:cNvPr id="40984" name="Line 60"/>
            <p:cNvSpPr>
              <a:spLocks noChangeShapeType="1"/>
            </p:cNvSpPr>
            <p:nvPr/>
          </p:nvSpPr>
          <p:spPr bwMode="auto">
            <a:xfrm flipH="1">
              <a:off x="3290" y="1425"/>
              <a:ext cx="831" cy="424"/>
            </a:xfrm>
            <a:prstGeom prst="line">
              <a:avLst/>
            </a:prstGeom>
            <a:noFill/>
            <a:ln w="12700">
              <a:solidFill>
                <a:schemeClr val="tx1"/>
              </a:solidFill>
              <a:prstDash val="sysDot"/>
              <a:round/>
              <a:headEnd type="none" w="sm" len="sm"/>
              <a:tailEnd type="none" w="sm" len="sm"/>
            </a:ln>
            <a:extLst>
              <a:ext uri="{909E8E84-426E-40dd-AFC4-6F175D3DCCD1}">
                <a14:hiddenFill xmlns:a14="http://schemas.microsoft.com/office/drawing/2010/main" xmlns="">
                  <a:noFill/>
                </a14:hiddenFill>
              </a:ext>
            </a:extLst>
          </p:spPr>
          <p:txBody>
            <a:bodyPr wrap="none" anchor="ctr"/>
            <a:lstStyle/>
            <a:p>
              <a:endParaRPr lang="en-US"/>
            </a:p>
          </p:txBody>
        </p:sp>
        <p:sp>
          <p:nvSpPr>
            <p:cNvPr id="40985" name="Line 61"/>
            <p:cNvSpPr>
              <a:spLocks noChangeShapeType="1"/>
            </p:cNvSpPr>
            <p:nvPr/>
          </p:nvSpPr>
          <p:spPr bwMode="auto">
            <a:xfrm flipH="1">
              <a:off x="3659" y="1431"/>
              <a:ext cx="460" cy="405"/>
            </a:xfrm>
            <a:prstGeom prst="line">
              <a:avLst/>
            </a:prstGeom>
            <a:noFill/>
            <a:ln w="12700">
              <a:solidFill>
                <a:schemeClr val="tx1"/>
              </a:solidFill>
              <a:prstDash val="sysDot"/>
              <a:round/>
              <a:headEnd type="none" w="sm" len="sm"/>
              <a:tailEnd type="none" w="sm" len="sm"/>
            </a:ln>
            <a:extLst>
              <a:ext uri="{909E8E84-426E-40dd-AFC4-6F175D3DCCD1}">
                <a14:hiddenFill xmlns:a14="http://schemas.microsoft.com/office/drawing/2010/main" xmlns="">
                  <a:noFill/>
                </a14:hiddenFill>
              </a:ext>
            </a:extLst>
          </p:spPr>
          <p:txBody>
            <a:bodyPr wrap="none" anchor="ctr"/>
            <a:lstStyle/>
            <a:p>
              <a:endParaRPr lang="en-US"/>
            </a:p>
          </p:txBody>
        </p:sp>
        <p:sp>
          <p:nvSpPr>
            <p:cNvPr id="40986" name="Line 62"/>
            <p:cNvSpPr>
              <a:spLocks noChangeShapeType="1"/>
            </p:cNvSpPr>
            <p:nvPr/>
          </p:nvSpPr>
          <p:spPr bwMode="auto">
            <a:xfrm flipH="1">
              <a:off x="3921" y="1545"/>
              <a:ext cx="277" cy="326"/>
            </a:xfrm>
            <a:prstGeom prst="line">
              <a:avLst/>
            </a:prstGeom>
            <a:noFill/>
            <a:ln w="12700">
              <a:solidFill>
                <a:schemeClr val="tx1"/>
              </a:solidFill>
              <a:prstDash val="sysDot"/>
              <a:round/>
              <a:headEnd type="none" w="sm" len="sm"/>
              <a:tailEnd type="none" w="sm" len="sm"/>
            </a:ln>
            <a:extLst>
              <a:ext uri="{909E8E84-426E-40dd-AFC4-6F175D3DCCD1}">
                <a14:hiddenFill xmlns:a14="http://schemas.microsoft.com/office/drawing/2010/main" xmlns="">
                  <a:noFill/>
                </a14:hiddenFill>
              </a:ext>
            </a:extLst>
          </p:spPr>
          <p:txBody>
            <a:bodyPr wrap="none" anchor="ctr"/>
            <a:lstStyle/>
            <a:p>
              <a:endParaRPr lang="en-US"/>
            </a:p>
          </p:txBody>
        </p:sp>
        <p:sp>
          <p:nvSpPr>
            <p:cNvPr id="40987" name="Line 63"/>
            <p:cNvSpPr>
              <a:spLocks noChangeShapeType="1"/>
            </p:cNvSpPr>
            <p:nvPr/>
          </p:nvSpPr>
          <p:spPr bwMode="auto">
            <a:xfrm>
              <a:off x="4195" y="1551"/>
              <a:ext cx="147" cy="315"/>
            </a:xfrm>
            <a:prstGeom prst="line">
              <a:avLst/>
            </a:prstGeom>
            <a:noFill/>
            <a:ln w="12700">
              <a:solidFill>
                <a:schemeClr val="tx1"/>
              </a:solidFill>
              <a:prstDash val="sysDot"/>
              <a:round/>
              <a:headEnd type="none" w="sm" len="sm"/>
              <a:tailEnd type="none" w="sm" len="sm"/>
            </a:ln>
            <a:extLst>
              <a:ext uri="{909E8E84-426E-40dd-AFC4-6F175D3DCCD1}">
                <a14:hiddenFill xmlns:a14="http://schemas.microsoft.com/office/drawing/2010/main" xmlns="">
                  <a:noFill/>
                </a14:hiddenFill>
              </a:ext>
            </a:extLst>
          </p:spPr>
          <p:txBody>
            <a:bodyPr wrap="none" anchor="ctr"/>
            <a:lstStyle/>
            <a:p>
              <a:endParaRPr lang="en-US"/>
            </a:p>
          </p:txBody>
        </p:sp>
        <p:grpSp>
          <p:nvGrpSpPr>
            <p:cNvPr id="40988" name="Group 64"/>
            <p:cNvGrpSpPr>
              <a:grpSpLocks/>
            </p:cNvGrpSpPr>
            <p:nvPr/>
          </p:nvGrpSpPr>
          <p:grpSpPr bwMode="auto">
            <a:xfrm>
              <a:off x="2796" y="1732"/>
              <a:ext cx="513" cy="132"/>
              <a:chOff x="2201" y="2688"/>
              <a:chExt cx="1946" cy="577"/>
            </a:xfrm>
          </p:grpSpPr>
          <p:sp>
            <p:nvSpPr>
              <p:cNvPr id="41390" name="AutoShape 65"/>
              <p:cNvSpPr>
                <a:spLocks noChangeArrowheads="1"/>
              </p:cNvSpPr>
              <p:nvPr/>
            </p:nvSpPr>
            <p:spPr bwMode="auto">
              <a:xfrm>
                <a:off x="2934" y="3023"/>
                <a:ext cx="181" cy="146"/>
              </a:xfrm>
              <a:prstGeom prst="parallelogram">
                <a:avLst>
                  <a:gd name="adj" fmla="val 30993"/>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91" name="AutoShape 66"/>
              <p:cNvSpPr>
                <a:spLocks noChangeArrowheads="1"/>
              </p:cNvSpPr>
              <p:nvPr/>
            </p:nvSpPr>
            <p:spPr bwMode="auto">
              <a:xfrm>
                <a:off x="3030" y="3119"/>
                <a:ext cx="181" cy="146"/>
              </a:xfrm>
              <a:prstGeom prst="parallelogram">
                <a:avLst>
                  <a:gd name="adj" fmla="val 30993"/>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92" name="AutoShape 67"/>
              <p:cNvSpPr>
                <a:spLocks noChangeArrowheads="1"/>
              </p:cNvSpPr>
              <p:nvPr/>
            </p:nvSpPr>
            <p:spPr bwMode="auto">
              <a:xfrm>
                <a:off x="3329" y="2819"/>
                <a:ext cx="181" cy="146"/>
              </a:xfrm>
              <a:prstGeom prst="parallelogram">
                <a:avLst>
                  <a:gd name="adj" fmla="val 30993"/>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93" name="AutoShape 68"/>
              <p:cNvSpPr>
                <a:spLocks noChangeArrowheads="1"/>
              </p:cNvSpPr>
              <p:nvPr/>
            </p:nvSpPr>
            <p:spPr bwMode="auto">
              <a:xfrm>
                <a:off x="3425" y="3015"/>
                <a:ext cx="181" cy="146"/>
              </a:xfrm>
              <a:prstGeom prst="parallelogram">
                <a:avLst>
                  <a:gd name="adj" fmla="val 30993"/>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94" name="AutoShape 69"/>
              <p:cNvSpPr>
                <a:spLocks noChangeArrowheads="1"/>
              </p:cNvSpPr>
              <p:nvPr/>
            </p:nvSpPr>
            <p:spPr bwMode="auto">
              <a:xfrm>
                <a:off x="3570" y="2688"/>
                <a:ext cx="181" cy="146"/>
              </a:xfrm>
              <a:prstGeom prst="parallelogram">
                <a:avLst>
                  <a:gd name="adj" fmla="val 30993"/>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95" name="AutoShape 70"/>
              <p:cNvSpPr>
                <a:spLocks noChangeArrowheads="1"/>
              </p:cNvSpPr>
              <p:nvPr/>
            </p:nvSpPr>
            <p:spPr bwMode="auto">
              <a:xfrm>
                <a:off x="3666" y="2884"/>
                <a:ext cx="181" cy="146"/>
              </a:xfrm>
              <a:prstGeom prst="parallelogram">
                <a:avLst>
                  <a:gd name="adj" fmla="val 30993"/>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96" name="AutoShape 71"/>
              <p:cNvSpPr>
                <a:spLocks noChangeArrowheads="1"/>
              </p:cNvSpPr>
              <p:nvPr/>
            </p:nvSpPr>
            <p:spPr bwMode="auto">
              <a:xfrm>
                <a:off x="3026" y="2789"/>
                <a:ext cx="181" cy="146"/>
              </a:xfrm>
              <a:prstGeom prst="parallelogram">
                <a:avLst>
                  <a:gd name="adj" fmla="val 30993"/>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97" name="AutoShape 72"/>
              <p:cNvSpPr>
                <a:spLocks noChangeArrowheads="1"/>
              </p:cNvSpPr>
              <p:nvPr/>
            </p:nvSpPr>
            <p:spPr bwMode="auto">
              <a:xfrm>
                <a:off x="2201" y="2963"/>
                <a:ext cx="181" cy="146"/>
              </a:xfrm>
              <a:prstGeom prst="parallelogram">
                <a:avLst>
                  <a:gd name="adj" fmla="val 30993"/>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98" name="AutoShape 73"/>
              <p:cNvSpPr>
                <a:spLocks noChangeArrowheads="1"/>
              </p:cNvSpPr>
              <p:nvPr/>
            </p:nvSpPr>
            <p:spPr bwMode="auto">
              <a:xfrm>
                <a:off x="2297" y="3059"/>
                <a:ext cx="181" cy="146"/>
              </a:xfrm>
              <a:prstGeom prst="parallelogram">
                <a:avLst>
                  <a:gd name="adj" fmla="val 30993"/>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99" name="AutoShape 74"/>
              <p:cNvSpPr>
                <a:spLocks noChangeArrowheads="1"/>
              </p:cNvSpPr>
              <p:nvPr/>
            </p:nvSpPr>
            <p:spPr bwMode="auto">
              <a:xfrm>
                <a:off x="2596" y="2759"/>
                <a:ext cx="181" cy="146"/>
              </a:xfrm>
              <a:prstGeom prst="parallelogram">
                <a:avLst>
                  <a:gd name="adj" fmla="val 30993"/>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400" name="AutoShape 75"/>
              <p:cNvSpPr>
                <a:spLocks noChangeArrowheads="1"/>
              </p:cNvSpPr>
              <p:nvPr/>
            </p:nvSpPr>
            <p:spPr bwMode="auto">
              <a:xfrm>
                <a:off x="2692" y="2955"/>
                <a:ext cx="181" cy="146"/>
              </a:xfrm>
              <a:prstGeom prst="parallelogram">
                <a:avLst>
                  <a:gd name="adj" fmla="val 30993"/>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401" name="AutoShape 76"/>
              <p:cNvSpPr>
                <a:spLocks noChangeArrowheads="1"/>
              </p:cNvSpPr>
              <p:nvPr/>
            </p:nvSpPr>
            <p:spPr bwMode="auto">
              <a:xfrm>
                <a:off x="3870" y="2941"/>
                <a:ext cx="181" cy="146"/>
              </a:xfrm>
              <a:prstGeom prst="parallelogram">
                <a:avLst>
                  <a:gd name="adj" fmla="val 30993"/>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402" name="AutoShape 77"/>
              <p:cNvSpPr>
                <a:spLocks noChangeArrowheads="1"/>
              </p:cNvSpPr>
              <p:nvPr/>
            </p:nvSpPr>
            <p:spPr bwMode="auto">
              <a:xfrm>
                <a:off x="3966" y="3037"/>
                <a:ext cx="181" cy="146"/>
              </a:xfrm>
              <a:prstGeom prst="parallelogram">
                <a:avLst>
                  <a:gd name="adj" fmla="val 30993"/>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sp>
          <p:nvSpPr>
            <p:cNvPr id="40989" name="Line 78"/>
            <p:cNvSpPr>
              <a:spLocks noChangeShapeType="1"/>
            </p:cNvSpPr>
            <p:nvPr/>
          </p:nvSpPr>
          <p:spPr bwMode="auto">
            <a:xfrm flipH="1">
              <a:off x="2896" y="1427"/>
              <a:ext cx="543" cy="366"/>
            </a:xfrm>
            <a:prstGeom prst="line">
              <a:avLst/>
            </a:prstGeom>
            <a:noFill/>
            <a:ln w="12700">
              <a:solidFill>
                <a:schemeClr val="tx1"/>
              </a:solidFill>
              <a:prstDash val="sysDot"/>
              <a:round/>
              <a:headEnd type="none" w="sm" len="sm"/>
              <a:tailEnd type="none" w="sm" len="sm"/>
            </a:ln>
            <a:extLst>
              <a:ext uri="{909E8E84-426E-40dd-AFC4-6F175D3DCCD1}">
                <a14:hiddenFill xmlns:a14="http://schemas.microsoft.com/office/drawing/2010/main" xmlns="">
                  <a:noFill/>
                </a14:hiddenFill>
              </a:ext>
            </a:extLst>
          </p:spPr>
          <p:txBody>
            <a:bodyPr wrap="none" anchor="ctr"/>
            <a:lstStyle/>
            <a:p>
              <a:endParaRPr lang="en-US"/>
            </a:p>
          </p:txBody>
        </p:sp>
        <p:grpSp>
          <p:nvGrpSpPr>
            <p:cNvPr id="40990" name="Group 79"/>
            <p:cNvGrpSpPr>
              <a:grpSpLocks/>
            </p:cNvGrpSpPr>
            <p:nvPr/>
          </p:nvGrpSpPr>
          <p:grpSpPr bwMode="auto">
            <a:xfrm>
              <a:off x="4878" y="1324"/>
              <a:ext cx="184" cy="73"/>
              <a:chOff x="1024" y="3264"/>
              <a:chExt cx="320" cy="296"/>
            </a:xfrm>
          </p:grpSpPr>
          <p:sp>
            <p:nvSpPr>
              <p:cNvPr id="41386" name="Rectangle 80"/>
              <p:cNvSpPr>
                <a:spLocks noChangeArrowheads="1"/>
              </p:cNvSpPr>
              <p:nvPr/>
            </p:nvSpPr>
            <p:spPr bwMode="auto">
              <a:xfrm>
                <a:off x="1024" y="3376"/>
                <a:ext cx="192" cy="184"/>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87" name="Rectangle 81"/>
              <p:cNvSpPr>
                <a:spLocks noChangeArrowheads="1"/>
              </p:cNvSpPr>
              <p:nvPr/>
            </p:nvSpPr>
            <p:spPr bwMode="auto">
              <a:xfrm>
                <a:off x="1072" y="3336"/>
                <a:ext cx="192" cy="184"/>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88" name="Rectangle 82"/>
              <p:cNvSpPr>
                <a:spLocks noChangeArrowheads="1"/>
              </p:cNvSpPr>
              <p:nvPr/>
            </p:nvSpPr>
            <p:spPr bwMode="auto">
              <a:xfrm>
                <a:off x="1112" y="3296"/>
                <a:ext cx="192" cy="184"/>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89" name="Rectangle 83"/>
              <p:cNvSpPr>
                <a:spLocks noChangeArrowheads="1"/>
              </p:cNvSpPr>
              <p:nvPr/>
            </p:nvSpPr>
            <p:spPr bwMode="auto">
              <a:xfrm>
                <a:off x="1152" y="3264"/>
                <a:ext cx="192" cy="184"/>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nvGrpSpPr>
            <p:cNvPr id="40991" name="Group 84"/>
            <p:cNvGrpSpPr>
              <a:grpSpLocks/>
            </p:cNvGrpSpPr>
            <p:nvPr/>
          </p:nvGrpSpPr>
          <p:grpSpPr bwMode="auto">
            <a:xfrm>
              <a:off x="3658" y="909"/>
              <a:ext cx="990" cy="315"/>
              <a:chOff x="1832" y="1576"/>
              <a:chExt cx="1720" cy="1272"/>
            </a:xfrm>
          </p:grpSpPr>
          <p:grpSp>
            <p:nvGrpSpPr>
              <p:cNvPr id="41238" name="Group 85"/>
              <p:cNvGrpSpPr>
                <a:grpSpLocks/>
              </p:cNvGrpSpPr>
              <p:nvPr/>
            </p:nvGrpSpPr>
            <p:grpSpPr bwMode="auto">
              <a:xfrm>
                <a:off x="1832" y="1992"/>
                <a:ext cx="888" cy="648"/>
                <a:chOff x="1752" y="2224"/>
                <a:chExt cx="888" cy="648"/>
              </a:xfrm>
            </p:grpSpPr>
            <p:grpSp>
              <p:nvGrpSpPr>
                <p:cNvPr id="41350" name="Group 86"/>
                <p:cNvGrpSpPr>
                  <a:grpSpLocks/>
                </p:cNvGrpSpPr>
                <p:nvPr/>
              </p:nvGrpSpPr>
              <p:grpSpPr bwMode="auto">
                <a:xfrm>
                  <a:off x="1752" y="2224"/>
                  <a:ext cx="496" cy="528"/>
                  <a:chOff x="2016" y="2000"/>
                  <a:chExt cx="496" cy="528"/>
                </a:xfrm>
              </p:grpSpPr>
              <p:sp>
                <p:nvSpPr>
                  <p:cNvPr id="41378" name="Rectangle 87"/>
                  <p:cNvSpPr>
                    <a:spLocks noChangeArrowheads="1"/>
                  </p:cNvSpPr>
                  <p:nvPr/>
                </p:nvSpPr>
                <p:spPr bwMode="auto">
                  <a:xfrm>
                    <a:off x="2016" y="2368"/>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79" name="Rectangle 88"/>
                  <p:cNvSpPr>
                    <a:spLocks noChangeArrowheads="1"/>
                  </p:cNvSpPr>
                  <p:nvPr/>
                </p:nvSpPr>
                <p:spPr bwMode="auto">
                  <a:xfrm>
                    <a:off x="2064" y="2312"/>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80" name="Rectangle 89"/>
                  <p:cNvSpPr>
                    <a:spLocks noChangeArrowheads="1"/>
                  </p:cNvSpPr>
                  <p:nvPr/>
                </p:nvSpPr>
                <p:spPr bwMode="auto">
                  <a:xfrm>
                    <a:off x="2112" y="2264"/>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81" name="Rectangle 90"/>
                  <p:cNvSpPr>
                    <a:spLocks noChangeArrowheads="1"/>
                  </p:cNvSpPr>
                  <p:nvPr/>
                </p:nvSpPr>
                <p:spPr bwMode="auto">
                  <a:xfrm>
                    <a:off x="2160" y="2208"/>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82" name="Rectangle 91"/>
                  <p:cNvSpPr>
                    <a:spLocks noChangeArrowheads="1"/>
                  </p:cNvSpPr>
                  <p:nvPr/>
                </p:nvSpPr>
                <p:spPr bwMode="auto">
                  <a:xfrm>
                    <a:off x="2200" y="2160"/>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83" name="Rectangle 92"/>
                  <p:cNvSpPr>
                    <a:spLocks noChangeArrowheads="1"/>
                  </p:cNvSpPr>
                  <p:nvPr/>
                </p:nvSpPr>
                <p:spPr bwMode="auto">
                  <a:xfrm>
                    <a:off x="2248" y="2104"/>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84" name="Rectangle 93"/>
                  <p:cNvSpPr>
                    <a:spLocks noChangeArrowheads="1"/>
                  </p:cNvSpPr>
                  <p:nvPr/>
                </p:nvSpPr>
                <p:spPr bwMode="auto">
                  <a:xfrm>
                    <a:off x="2296" y="2056"/>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85" name="Rectangle 94"/>
                  <p:cNvSpPr>
                    <a:spLocks noChangeArrowheads="1"/>
                  </p:cNvSpPr>
                  <p:nvPr/>
                </p:nvSpPr>
                <p:spPr bwMode="auto">
                  <a:xfrm>
                    <a:off x="2344" y="2000"/>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nvGrpSpPr>
                <p:cNvPr id="41351" name="Group 95"/>
                <p:cNvGrpSpPr>
                  <a:grpSpLocks/>
                </p:cNvGrpSpPr>
                <p:nvPr/>
              </p:nvGrpSpPr>
              <p:grpSpPr bwMode="auto">
                <a:xfrm>
                  <a:off x="1896" y="2256"/>
                  <a:ext cx="496" cy="528"/>
                  <a:chOff x="2016" y="2000"/>
                  <a:chExt cx="496" cy="528"/>
                </a:xfrm>
              </p:grpSpPr>
              <p:sp>
                <p:nvSpPr>
                  <p:cNvPr id="41370" name="Rectangle 96"/>
                  <p:cNvSpPr>
                    <a:spLocks noChangeArrowheads="1"/>
                  </p:cNvSpPr>
                  <p:nvPr/>
                </p:nvSpPr>
                <p:spPr bwMode="auto">
                  <a:xfrm>
                    <a:off x="2016" y="2368"/>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71" name="Rectangle 97"/>
                  <p:cNvSpPr>
                    <a:spLocks noChangeArrowheads="1"/>
                  </p:cNvSpPr>
                  <p:nvPr/>
                </p:nvSpPr>
                <p:spPr bwMode="auto">
                  <a:xfrm>
                    <a:off x="2064" y="2312"/>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72" name="Rectangle 98"/>
                  <p:cNvSpPr>
                    <a:spLocks noChangeArrowheads="1"/>
                  </p:cNvSpPr>
                  <p:nvPr/>
                </p:nvSpPr>
                <p:spPr bwMode="auto">
                  <a:xfrm>
                    <a:off x="2112" y="2264"/>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73" name="Rectangle 99"/>
                  <p:cNvSpPr>
                    <a:spLocks noChangeArrowheads="1"/>
                  </p:cNvSpPr>
                  <p:nvPr/>
                </p:nvSpPr>
                <p:spPr bwMode="auto">
                  <a:xfrm>
                    <a:off x="2160" y="2208"/>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74" name="Rectangle 100"/>
                  <p:cNvSpPr>
                    <a:spLocks noChangeArrowheads="1"/>
                  </p:cNvSpPr>
                  <p:nvPr/>
                </p:nvSpPr>
                <p:spPr bwMode="auto">
                  <a:xfrm>
                    <a:off x="2200" y="2160"/>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75" name="Rectangle 101"/>
                  <p:cNvSpPr>
                    <a:spLocks noChangeArrowheads="1"/>
                  </p:cNvSpPr>
                  <p:nvPr/>
                </p:nvSpPr>
                <p:spPr bwMode="auto">
                  <a:xfrm>
                    <a:off x="2248" y="2104"/>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76" name="Rectangle 102"/>
                  <p:cNvSpPr>
                    <a:spLocks noChangeArrowheads="1"/>
                  </p:cNvSpPr>
                  <p:nvPr/>
                </p:nvSpPr>
                <p:spPr bwMode="auto">
                  <a:xfrm>
                    <a:off x="2296" y="2056"/>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77" name="Rectangle 103"/>
                  <p:cNvSpPr>
                    <a:spLocks noChangeArrowheads="1"/>
                  </p:cNvSpPr>
                  <p:nvPr/>
                </p:nvSpPr>
                <p:spPr bwMode="auto">
                  <a:xfrm>
                    <a:off x="2344" y="2000"/>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nvGrpSpPr>
                <p:cNvPr id="41352" name="Group 104"/>
                <p:cNvGrpSpPr>
                  <a:grpSpLocks/>
                </p:cNvGrpSpPr>
                <p:nvPr/>
              </p:nvGrpSpPr>
              <p:grpSpPr bwMode="auto">
                <a:xfrm>
                  <a:off x="2000" y="2312"/>
                  <a:ext cx="496" cy="528"/>
                  <a:chOff x="2016" y="2000"/>
                  <a:chExt cx="496" cy="528"/>
                </a:xfrm>
              </p:grpSpPr>
              <p:sp>
                <p:nvSpPr>
                  <p:cNvPr id="41362" name="Rectangle 105"/>
                  <p:cNvSpPr>
                    <a:spLocks noChangeArrowheads="1"/>
                  </p:cNvSpPr>
                  <p:nvPr/>
                </p:nvSpPr>
                <p:spPr bwMode="auto">
                  <a:xfrm>
                    <a:off x="2016" y="2368"/>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63" name="Rectangle 106"/>
                  <p:cNvSpPr>
                    <a:spLocks noChangeArrowheads="1"/>
                  </p:cNvSpPr>
                  <p:nvPr/>
                </p:nvSpPr>
                <p:spPr bwMode="auto">
                  <a:xfrm>
                    <a:off x="2064" y="2312"/>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64" name="Rectangle 107"/>
                  <p:cNvSpPr>
                    <a:spLocks noChangeArrowheads="1"/>
                  </p:cNvSpPr>
                  <p:nvPr/>
                </p:nvSpPr>
                <p:spPr bwMode="auto">
                  <a:xfrm>
                    <a:off x="2112" y="2264"/>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65" name="Rectangle 108"/>
                  <p:cNvSpPr>
                    <a:spLocks noChangeArrowheads="1"/>
                  </p:cNvSpPr>
                  <p:nvPr/>
                </p:nvSpPr>
                <p:spPr bwMode="auto">
                  <a:xfrm>
                    <a:off x="2160" y="2208"/>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66" name="Rectangle 109"/>
                  <p:cNvSpPr>
                    <a:spLocks noChangeArrowheads="1"/>
                  </p:cNvSpPr>
                  <p:nvPr/>
                </p:nvSpPr>
                <p:spPr bwMode="auto">
                  <a:xfrm>
                    <a:off x="2200" y="2160"/>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67" name="Rectangle 110"/>
                  <p:cNvSpPr>
                    <a:spLocks noChangeArrowheads="1"/>
                  </p:cNvSpPr>
                  <p:nvPr/>
                </p:nvSpPr>
                <p:spPr bwMode="auto">
                  <a:xfrm>
                    <a:off x="2248" y="2104"/>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68" name="Rectangle 111"/>
                  <p:cNvSpPr>
                    <a:spLocks noChangeArrowheads="1"/>
                  </p:cNvSpPr>
                  <p:nvPr/>
                </p:nvSpPr>
                <p:spPr bwMode="auto">
                  <a:xfrm>
                    <a:off x="2296" y="2056"/>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69" name="Rectangle 112"/>
                  <p:cNvSpPr>
                    <a:spLocks noChangeArrowheads="1"/>
                  </p:cNvSpPr>
                  <p:nvPr/>
                </p:nvSpPr>
                <p:spPr bwMode="auto">
                  <a:xfrm>
                    <a:off x="2344" y="2000"/>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nvGrpSpPr>
                <p:cNvPr id="41353" name="Group 113"/>
                <p:cNvGrpSpPr>
                  <a:grpSpLocks/>
                </p:cNvGrpSpPr>
                <p:nvPr/>
              </p:nvGrpSpPr>
              <p:grpSpPr bwMode="auto">
                <a:xfrm>
                  <a:off x="2144" y="2344"/>
                  <a:ext cx="496" cy="528"/>
                  <a:chOff x="2016" y="2000"/>
                  <a:chExt cx="496" cy="528"/>
                </a:xfrm>
              </p:grpSpPr>
              <p:sp>
                <p:nvSpPr>
                  <p:cNvPr id="41354" name="Rectangle 114"/>
                  <p:cNvSpPr>
                    <a:spLocks noChangeArrowheads="1"/>
                  </p:cNvSpPr>
                  <p:nvPr/>
                </p:nvSpPr>
                <p:spPr bwMode="auto">
                  <a:xfrm>
                    <a:off x="2016" y="2368"/>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55" name="Rectangle 115"/>
                  <p:cNvSpPr>
                    <a:spLocks noChangeArrowheads="1"/>
                  </p:cNvSpPr>
                  <p:nvPr/>
                </p:nvSpPr>
                <p:spPr bwMode="auto">
                  <a:xfrm>
                    <a:off x="2064" y="2312"/>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56" name="Rectangle 116"/>
                  <p:cNvSpPr>
                    <a:spLocks noChangeArrowheads="1"/>
                  </p:cNvSpPr>
                  <p:nvPr/>
                </p:nvSpPr>
                <p:spPr bwMode="auto">
                  <a:xfrm>
                    <a:off x="2112" y="2264"/>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57" name="Rectangle 117"/>
                  <p:cNvSpPr>
                    <a:spLocks noChangeArrowheads="1"/>
                  </p:cNvSpPr>
                  <p:nvPr/>
                </p:nvSpPr>
                <p:spPr bwMode="auto">
                  <a:xfrm>
                    <a:off x="2160" y="2208"/>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58" name="Rectangle 118"/>
                  <p:cNvSpPr>
                    <a:spLocks noChangeArrowheads="1"/>
                  </p:cNvSpPr>
                  <p:nvPr/>
                </p:nvSpPr>
                <p:spPr bwMode="auto">
                  <a:xfrm>
                    <a:off x="2200" y="2160"/>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59" name="Rectangle 119"/>
                  <p:cNvSpPr>
                    <a:spLocks noChangeArrowheads="1"/>
                  </p:cNvSpPr>
                  <p:nvPr/>
                </p:nvSpPr>
                <p:spPr bwMode="auto">
                  <a:xfrm>
                    <a:off x="2248" y="2104"/>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60" name="Rectangle 120"/>
                  <p:cNvSpPr>
                    <a:spLocks noChangeArrowheads="1"/>
                  </p:cNvSpPr>
                  <p:nvPr/>
                </p:nvSpPr>
                <p:spPr bwMode="auto">
                  <a:xfrm>
                    <a:off x="2296" y="2056"/>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61" name="Rectangle 121"/>
                  <p:cNvSpPr>
                    <a:spLocks noChangeArrowheads="1"/>
                  </p:cNvSpPr>
                  <p:nvPr/>
                </p:nvSpPr>
                <p:spPr bwMode="auto">
                  <a:xfrm>
                    <a:off x="2344" y="2000"/>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grpSp>
            <p:nvGrpSpPr>
              <p:cNvPr id="41239" name="Group 122"/>
              <p:cNvGrpSpPr>
                <a:grpSpLocks/>
              </p:cNvGrpSpPr>
              <p:nvPr/>
            </p:nvGrpSpPr>
            <p:grpSpPr bwMode="auto">
              <a:xfrm>
                <a:off x="2208" y="1576"/>
                <a:ext cx="888" cy="648"/>
                <a:chOff x="1800" y="1552"/>
                <a:chExt cx="888" cy="648"/>
              </a:xfrm>
            </p:grpSpPr>
            <p:grpSp>
              <p:nvGrpSpPr>
                <p:cNvPr id="41314" name="Group 123"/>
                <p:cNvGrpSpPr>
                  <a:grpSpLocks/>
                </p:cNvGrpSpPr>
                <p:nvPr/>
              </p:nvGrpSpPr>
              <p:grpSpPr bwMode="auto">
                <a:xfrm>
                  <a:off x="1800" y="1552"/>
                  <a:ext cx="496" cy="528"/>
                  <a:chOff x="2016" y="2000"/>
                  <a:chExt cx="496" cy="528"/>
                </a:xfrm>
              </p:grpSpPr>
              <p:sp>
                <p:nvSpPr>
                  <p:cNvPr id="41342" name="Rectangle 124"/>
                  <p:cNvSpPr>
                    <a:spLocks noChangeArrowheads="1"/>
                  </p:cNvSpPr>
                  <p:nvPr/>
                </p:nvSpPr>
                <p:spPr bwMode="auto">
                  <a:xfrm>
                    <a:off x="2016" y="2368"/>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43" name="Rectangle 125"/>
                  <p:cNvSpPr>
                    <a:spLocks noChangeArrowheads="1"/>
                  </p:cNvSpPr>
                  <p:nvPr/>
                </p:nvSpPr>
                <p:spPr bwMode="auto">
                  <a:xfrm>
                    <a:off x="2064" y="2312"/>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44" name="Rectangle 126"/>
                  <p:cNvSpPr>
                    <a:spLocks noChangeArrowheads="1"/>
                  </p:cNvSpPr>
                  <p:nvPr/>
                </p:nvSpPr>
                <p:spPr bwMode="auto">
                  <a:xfrm>
                    <a:off x="2112" y="2264"/>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45" name="Rectangle 127"/>
                  <p:cNvSpPr>
                    <a:spLocks noChangeArrowheads="1"/>
                  </p:cNvSpPr>
                  <p:nvPr/>
                </p:nvSpPr>
                <p:spPr bwMode="auto">
                  <a:xfrm>
                    <a:off x="2160" y="2208"/>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46" name="Rectangle 128"/>
                  <p:cNvSpPr>
                    <a:spLocks noChangeArrowheads="1"/>
                  </p:cNvSpPr>
                  <p:nvPr/>
                </p:nvSpPr>
                <p:spPr bwMode="auto">
                  <a:xfrm>
                    <a:off x="2200" y="2160"/>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47" name="Rectangle 129"/>
                  <p:cNvSpPr>
                    <a:spLocks noChangeArrowheads="1"/>
                  </p:cNvSpPr>
                  <p:nvPr/>
                </p:nvSpPr>
                <p:spPr bwMode="auto">
                  <a:xfrm>
                    <a:off x="2248" y="2104"/>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48" name="Rectangle 130"/>
                  <p:cNvSpPr>
                    <a:spLocks noChangeArrowheads="1"/>
                  </p:cNvSpPr>
                  <p:nvPr/>
                </p:nvSpPr>
                <p:spPr bwMode="auto">
                  <a:xfrm>
                    <a:off x="2296" y="2056"/>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49" name="Rectangle 131"/>
                  <p:cNvSpPr>
                    <a:spLocks noChangeArrowheads="1"/>
                  </p:cNvSpPr>
                  <p:nvPr/>
                </p:nvSpPr>
                <p:spPr bwMode="auto">
                  <a:xfrm>
                    <a:off x="2344" y="2000"/>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nvGrpSpPr>
                <p:cNvPr id="41315" name="Group 132"/>
                <p:cNvGrpSpPr>
                  <a:grpSpLocks/>
                </p:cNvGrpSpPr>
                <p:nvPr/>
              </p:nvGrpSpPr>
              <p:grpSpPr bwMode="auto">
                <a:xfrm>
                  <a:off x="1944" y="1584"/>
                  <a:ext cx="496" cy="528"/>
                  <a:chOff x="2016" y="2000"/>
                  <a:chExt cx="496" cy="528"/>
                </a:xfrm>
              </p:grpSpPr>
              <p:sp>
                <p:nvSpPr>
                  <p:cNvPr id="41334" name="Rectangle 133"/>
                  <p:cNvSpPr>
                    <a:spLocks noChangeArrowheads="1"/>
                  </p:cNvSpPr>
                  <p:nvPr/>
                </p:nvSpPr>
                <p:spPr bwMode="auto">
                  <a:xfrm>
                    <a:off x="2016" y="2368"/>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35" name="Rectangle 134"/>
                  <p:cNvSpPr>
                    <a:spLocks noChangeArrowheads="1"/>
                  </p:cNvSpPr>
                  <p:nvPr/>
                </p:nvSpPr>
                <p:spPr bwMode="auto">
                  <a:xfrm>
                    <a:off x="2064" y="2312"/>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36" name="Rectangle 135"/>
                  <p:cNvSpPr>
                    <a:spLocks noChangeArrowheads="1"/>
                  </p:cNvSpPr>
                  <p:nvPr/>
                </p:nvSpPr>
                <p:spPr bwMode="auto">
                  <a:xfrm>
                    <a:off x="2112" y="2264"/>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37" name="Rectangle 136"/>
                  <p:cNvSpPr>
                    <a:spLocks noChangeArrowheads="1"/>
                  </p:cNvSpPr>
                  <p:nvPr/>
                </p:nvSpPr>
                <p:spPr bwMode="auto">
                  <a:xfrm>
                    <a:off x="2160" y="2208"/>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38" name="Rectangle 137"/>
                  <p:cNvSpPr>
                    <a:spLocks noChangeArrowheads="1"/>
                  </p:cNvSpPr>
                  <p:nvPr/>
                </p:nvSpPr>
                <p:spPr bwMode="auto">
                  <a:xfrm>
                    <a:off x="2200" y="2160"/>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39" name="Rectangle 138"/>
                  <p:cNvSpPr>
                    <a:spLocks noChangeArrowheads="1"/>
                  </p:cNvSpPr>
                  <p:nvPr/>
                </p:nvSpPr>
                <p:spPr bwMode="auto">
                  <a:xfrm>
                    <a:off x="2248" y="2104"/>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40" name="Rectangle 139"/>
                  <p:cNvSpPr>
                    <a:spLocks noChangeArrowheads="1"/>
                  </p:cNvSpPr>
                  <p:nvPr/>
                </p:nvSpPr>
                <p:spPr bwMode="auto">
                  <a:xfrm>
                    <a:off x="2296" y="2056"/>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41" name="Rectangle 140"/>
                  <p:cNvSpPr>
                    <a:spLocks noChangeArrowheads="1"/>
                  </p:cNvSpPr>
                  <p:nvPr/>
                </p:nvSpPr>
                <p:spPr bwMode="auto">
                  <a:xfrm>
                    <a:off x="2344" y="2000"/>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nvGrpSpPr>
                <p:cNvPr id="41316" name="Group 141"/>
                <p:cNvGrpSpPr>
                  <a:grpSpLocks/>
                </p:cNvGrpSpPr>
                <p:nvPr/>
              </p:nvGrpSpPr>
              <p:grpSpPr bwMode="auto">
                <a:xfrm>
                  <a:off x="2048" y="1640"/>
                  <a:ext cx="496" cy="528"/>
                  <a:chOff x="2016" y="2000"/>
                  <a:chExt cx="496" cy="528"/>
                </a:xfrm>
              </p:grpSpPr>
              <p:sp>
                <p:nvSpPr>
                  <p:cNvPr id="41326" name="Rectangle 142"/>
                  <p:cNvSpPr>
                    <a:spLocks noChangeArrowheads="1"/>
                  </p:cNvSpPr>
                  <p:nvPr/>
                </p:nvSpPr>
                <p:spPr bwMode="auto">
                  <a:xfrm>
                    <a:off x="2016" y="2368"/>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27" name="Rectangle 143"/>
                  <p:cNvSpPr>
                    <a:spLocks noChangeArrowheads="1"/>
                  </p:cNvSpPr>
                  <p:nvPr/>
                </p:nvSpPr>
                <p:spPr bwMode="auto">
                  <a:xfrm>
                    <a:off x="2064" y="2312"/>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28" name="Rectangle 144"/>
                  <p:cNvSpPr>
                    <a:spLocks noChangeArrowheads="1"/>
                  </p:cNvSpPr>
                  <p:nvPr/>
                </p:nvSpPr>
                <p:spPr bwMode="auto">
                  <a:xfrm>
                    <a:off x="2112" y="2264"/>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29" name="Rectangle 145"/>
                  <p:cNvSpPr>
                    <a:spLocks noChangeArrowheads="1"/>
                  </p:cNvSpPr>
                  <p:nvPr/>
                </p:nvSpPr>
                <p:spPr bwMode="auto">
                  <a:xfrm>
                    <a:off x="2160" y="2208"/>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30" name="Rectangle 146"/>
                  <p:cNvSpPr>
                    <a:spLocks noChangeArrowheads="1"/>
                  </p:cNvSpPr>
                  <p:nvPr/>
                </p:nvSpPr>
                <p:spPr bwMode="auto">
                  <a:xfrm>
                    <a:off x="2200" y="2160"/>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31" name="Rectangle 147"/>
                  <p:cNvSpPr>
                    <a:spLocks noChangeArrowheads="1"/>
                  </p:cNvSpPr>
                  <p:nvPr/>
                </p:nvSpPr>
                <p:spPr bwMode="auto">
                  <a:xfrm>
                    <a:off x="2248" y="2104"/>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32" name="Rectangle 148"/>
                  <p:cNvSpPr>
                    <a:spLocks noChangeArrowheads="1"/>
                  </p:cNvSpPr>
                  <p:nvPr/>
                </p:nvSpPr>
                <p:spPr bwMode="auto">
                  <a:xfrm>
                    <a:off x="2296" y="2056"/>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33" name="Rectangle 149"/>
                  <p:cNvSpPr>
                    <a:spLocks noChangeArrowheads="1"/>
                  </p:cNvSpPr>
                  <p:nvPr/>
                </p:nvSpPr>
                <p:spPr bwMode="auto">
                  <a:xfrm>
                    <a:off x="2344" y="2000"/>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nvGrpSpPr>
                <p:cNvPr id="41317" name="Group 150"/>
                <p:cNvGrpSpPr>
                  <a:grpSpLocks/>
                </p:cNvGrpSpPr>
                <p:nvPr/>
              </p:nvGrpSpPr>
              <p:grpSpPr bwMode="auto">
                <a:xfrm>
                  <a:off x="2192" y="1672"/>
                  <a:ext cx="496" cy="528"/>
                  <a:chOff x="2016" y="2000"/>
                  <a:chExt cx="496" cy="528"/>
                </a:xfrm>
              </p:grpSpPr>
              <p:sp>
                <p:nvSpPr>
                  <p:cNvPr id="41318" name="Rectangle 151"/>
                  <p:cNvSpPr>
                    <a:spLocks noChangeArrowheads="1"/>
                  </p:cNvSpPr>
                  <p:nvPr/>
                </p:nvSpPr>
                <p:spPr bwMode="auto">
                  <a:xfrm>
                    <a:off x="2016" y="2368"/>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19" name="Rectangle 152"/>
                  <p:cNvSpPr>
                    <a:spLocks noChangeArrowheads="1"/>
                  </p:cNvSpPr>
                  <p:nvPr/>
                </p:nvSpPr>
                <p:spPr bwMode="auto">
                  <a:xfrm>
                    <a:off x="2064" y="2312"/>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20" name="Rectangle 153"/>
                  <p:cNvSpPr>
                    <a:spLocks noChangeArrowheads="1"/>
                  </p:cNvSpPr>
                  <p:nvPr/>
                </p:nvSpPr>
                <p:spPr bwMode="auto">
                  <a:xfrm>
                    <a:off x="2112" y="2264"/>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21" name="Rectangle 154"/>
                  <p:cNvSpPr>
                    <a:spLocks noChangeArrowheads="1"/>
                  </p:cNvSpPr>
                  <p:nvPr/>
                </p:nvSpPr>
                <p:spPr bwMode="auto">
                  <a:xfrm>
                    <a:off x="2160" y="2208"/>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22" name="Rectangle 155"/>
                  <p:cNvSpPr>
                    <a:spLocks noChangeArrowheads="1"/>
                  </p:cNvSpPr>
                  <p:nvPr/>
                </p:nvSpPr>
                <p:spPr bwMode="auto">
                  <a:xfrm>
                    <a:off x="2200" y="2160"/>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23" name="Rectangle 156"/>
                  <p:cNvSpPr>
                    <a:spLocks noChangeArrowheads="1"/>
                  </p:cNvSpPr>
                  <p:nvPr/>
                </p:nvSpPr>
                <p:spPr bwMode="auto">
                  <a:xfrm>
                    <a:off x="2248" y="2104"/>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24" name="Rectangle 157"/>
                  <p:cNvSpPr>
                    <a:spLocks noChangeArrowheads="1"/>
                  </p:cNvSpPr>
                  <p:nvPr/>
                </p:nvSpPr>
                <p:spPr bwMode="auto">
                  <a:xfrm>
                    <a:off x="2296" y="2056"/>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25" name="Rectangle 158"/>
                  <p:cNvSpPr>
                    <a:spLocks noChangeArrowheads="1"/>
                  </p:cNvSpPr>
                  <p:nvPr/>
                </p:nvSpPr>
                <p:spPr bwMode="auto">
                  <a:xfrm>
                    <a:off x="2344" y="2000"/>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grpSp>
            <p:nvGrpSpPr>
              <p:cNvPr id="41240" name="Group 159"/>
              <p:cNvGrpSpPr>
                <a:grpSpLocks/>
              </p:cNvGrpSpPr>
              <p:nvPr/>
            </p:nvGrpSpPr>
            <p:grpSpPr bwMode="auto">
              <a:xfrm>
                <a:off x="2288" y="2200"/>
                <a:ext cx="888" cy="648"/>
                <a:chOff x="2560" y="2264"/>
                <a:chExt cx="888" cy="648"/>
              </a:xfrm>
            </p:grpSpPr>
            <p:grpSp>
              <p:nvGrpSpPr>
                <p:cNvPr id="41278" name="Group 160"/>
                <p:cNvGrpSpPr>
                  <a:grpSpLocks/>
                </p:cNvGrpSpPr>
                <p:nvPr/>
              </p:nvGrpSpPr>
              <p:grpSpPr bwMode="auto">
                <a:xfrm>
                  <a:off x="2560" y="2264"/>
                  <a:ext cx="496" cy="528"/>
                  <a:chOff x="2016" y="2000"/>
                  <a:chExt cx="496" cy="528"/>
                </a:xfrm>
              </p:grpSpPr>
              <p:sp>
                <p:nvSpPr>
                  <p:cNvPr id="41306" name="Rectangle 161"/>
                  <p:cNvSpPr>
                    <a:spLocks noChangeArrowheads="1"/>
                  </p:cNvSpPr>
                  <p:nvPr/>
                </p:nvSpPr>
                <p:spPr bwMode="auto">
                  <a:xfrm>
                    <a:off x="2016" y="2368"/>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07" name="Rectangle 162"/>
                  <p:cNvSpPr>
                    <a:spLocks noChangeArrowheads="1"/>
                  </p:cNvSpPr>
                  <p:nvPr/>
                </p:nvSpPr>
                <p:spPr bwMode="auto">
                  <a:xfrm>
                    <a:off x="2064" y="2312"/>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08" name="Rectangle 163"/>
                  <p:cNvSpPr>
                    <a:spLocks noChangeArrowheads="1"/>
                  </p:cNvSpPr>
                  <p:nvPr/>
                </p:nvSpPr>
                <p:spPr bwMode="auto">
                  <a:xfrm>
                    <a:off x="2112" y="2264"/>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09" name="Rectangle 164"/>
                  <p:cNvSpPr>
                    <a:spLocks noChangeArrowheads="1"/>
                  </p:cNvSpPr>
                  <p:nvPr/>
                </p:nvSpPr>
                <p:spPr bwMode="auto">
                  <a:xfrm>
                    <a:off x="2160" y="2208"/>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10" name="Rectangle 165"/>
                  <p:cNvSpPr>
                    <a:spLocks noChangeArrowheads="1"/>
                  </p:cNvSpPr>
                  <p:nvPr/>
                </p:nvSpPr>
                <p:spPr bwMode="auto">
                  <a:xfrm>
                    <a:off x="2200" y="2160"/>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11" name="Rectangle 166"/>
                  <p:cNvSpPr>
                    <a:spLocks noChangeArrowheads="1"/>
                  </p:cNvSpPr>
                  <p:nvPr/>
                </p:nvSpPr>
                <p:spPr bwMode="auto">
                  <a:xfrm>
                    <a:off x="2248" y="2104"/>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12" name="Rectangle 167"/>
                  <p:cNvSpPr>
                    <a:spLocks noChangeArrowheads="1"/>
                  </p:cNvSpPr>
                  <p:nvPr/>
                </p:nvSpPr>
                <p:spPr bwMode="auto">
                  <a:xfrm>
                    <a:off x="2296" y="2056"/>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13" name="Rectangle 168"/>
                  <p:cNvSpPr>
                    <a:spLocks noChangeArrowheads="1"/>
                  </p:cNvSpPr>
                  <p:nvPr/>
                </p:nvSpPr>
                <p:spPr bwMode="auto">
                  <a:xfrm>
                    <a:off x="2344" y="2000"/>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nvGrpSpPr>
                <p:cNvPr id="41279" name="Group 169"/>
                <p:cNvGrpSpPr>
                  <a:grpSpLocks/>
                </p:cNvGrpSpPr>
                <p:nvPr/>
              </p:nvGrpSpPr>
              <p:grpSpPr bwMode="auto">
                <a:xfrm>
                  <a:off x="2704" y="2296"/>
                  <a:ext cx="496" cy="528"/>
                  <a:chOff x="2016" y="2000"/>
                  <a:chExt cx="496" cy="528"/>
                </a:xfrm>
              </p:grpSpPr>
              <p:sp>
                <p:nvSpPr>
                  <p:cNvPr id="41298" name="Rectangle 170"/>
                  <p:cNvSpPr>
                    <a:spLocks noChangeArrowheads="1"/>
                  </p:cNvSpPr>
                  <p:nvPr/>
                </p:nvSpPr>
                <p:spPr bwMode="auto">
                  <a:xfrm>
                    <a:off x="2016" y="2368"/>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99" name="Rectangle 171"/>
                  <p:cNvSpPr>
                    <a:spLocks noChangeArrowheads="1"/>
                  </p:cNvSpPr>
                  <p:nvPr/>
                </p:nvSpPr>
                <p:spPr bwMode="auto">
                  <a:xfrm>
                    <a:off x="2064" y="2312"/>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00" name="Rectangle 172"/>
                  <p:cNvSpPr>
                    <a:spLocks noChangeArrowheads="1"/>
                  </p:cNvSpPr>
                  <p:nvPr/>
                </p:nvSpPr>
                <p:spPr bwMode="auto">
                  <a:xfrm>
                    <a:off x="2112" y="2264"/>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01" name="Rectangle 173"/>
                  <p:cNvSpPr>
                    <a:spLocks noChangeArrowheads="1"/>
                  </p:cNvSpPr>
                  <p:nvPr/>
                </p:nvSpPr>
                <p:spPr bwMode="auto">
                  <a:xfrm>
                    <a:off x="2160" y="2208"/>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02" name="Rectangle 174"/>
                  <p:cNvSpPr>
                    <a:spLocks noChangeArrowheads="1"/>
                  </p:cNvSpPr>
                  <p:nvPr/>
                </p:nvSpPr>
                <p:spPr bwMode="auto">
                  <a:xfrm>
                    <a:off x="2200" y="2160"/>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03" name="Rectangle 175"/>
                  <p:cNvSpPr>
                    <a:spLocks noChangeArrowheads="1"/>
                  </p:cNvSpPr>
                  <p:nvPr/>
                </p:nvSpPr>
                <p:spPr bwMode="auto">
                  <a:xfrm>
                    <a:off x="2248" y="2104"/>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04" name="Rectangle 176"/>
                  <p:cNvSpPr>
                    <a:spLocks noChangeArrowheads="1"/>
                  </p:cNvSpPr>
                  <p:nvPr/>
                </p:nvSpPr>
                <p:spPr bwMode="auto">
                  <a:xfrm>
                    <a:off x="2296" y="2056"/>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305" name="Rectangle 177"/>
                  <p:cNvSpPr>
                    <a:spLocks noChangeArrowheads="1"/>
                  </p:cNvSpPr>
                  <p:nvPr/>
                </p:nvSpPr>
                <p:spPr bwMode="auto">
                  <a:xfrm>
                    <a:off x="2344" y="2000"/>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nvGrpSpPr>
                <p:cNvPr id="41280" name="Group 178"/>
                <p:cNvGrpSpPr>
                  <a:grpSpLocks/>
                </p:cNvGrpSpPr>
                <p:nvPr/>
              </p:nvGrpSpPr>
              <p:grpSpPr bwMode="auto">
                <a:xfrm>
                  <a:off x="2808" y="2352"/>
                  <a:ext cx="496" cy="528"/>
                  <a:chOff x="2016" y="2000"/>
                  <a:chExt cx="496" cy="528"/>
                </a:xfrm>
              </p:grpSpPr>
              <p:sp>
                <p:nvSpPr>
                  <p:cNvPr id="41290" name="Rectangle 179"/>
                  <p:cNvSpPr>
                    <a:spLocks noChangeArrowheads="1"/>
                  </p:cNvSpPr>
                  <p:nvPr/>
                </p:nvSpPr>
                <p:spPr bwMode="auto">
                  <a:xfrm>
                    <a:off x="2016" y="2368"/>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91" name="Rectangle 180"/>
                  <p:cNvSpPr>
                    <a:spLocks noChangeArrowheads="1"/>
                  </p:cNvSpPr>
                  <p:nvPr/>
                </p:nvSpPr>
                <p:spPr bwMode="auto">
                  <a:xfrm>
                    <a:off x="2064" y="2312"/>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92" name="Rectangle 181"/>
                  <p:cNvSpPr>
                    <a:spLocks noChangeArrowheads="1"/>
                  </p:cNvSpPr>
                  <p:nvPr/>
                </p:nvSpPr>
                <p:spPr bwMode="auto">
                  <a:xfrm>
                    <a:off x="2112" y="2264"/>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93" name="Rectangle 182"/>
                  <p:cNvSpPr>
                    <a:spLocks noChangeArrowheads="1"/>
                  </p:cNvSpPr>
                  <p:nvPr/>
                </p:nvSpPr>
                <p:spPr bwMode="auto">
                  <a:xfrm>
                    <a:off x="2160" y="2208"/>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94" name="Rectangle 183"/>
                  <p:cNvSpPr>
                    <a:spLocks noChangeArrowheads="1"/>
                  </p:cNvSpPr>
                  <p:nvPr/>
                </p:nvSpPr>
                <p:spPr bwMode="auto">
                  <a:xfrm>
                    <a:off x="2200" y="2160"/>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95" name="Rectangle 184"/>
                  <p:cNvSpPr>
                    <a:spLocks noChangeArrowheads="1"/>
                  </p:cNvSpPr>
                  <p:nvPr/>
                </p:nvSpPr>
                <p:spPr bwMode="auto">
                  <a:xfrm>
                    <a:off x="2248" y="2104"/>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96" name="Rectangle 185"/>
                  <p:cNvSpPr>
                    <a:spLocks noChangeArrowheads="1"/>
                  </p:cNvSpPr>
                  <p:nvPr/>
                </p:nvSpPr>
                <p:spPr bwMode="auto">
                  <a:xfrm>
                    <a:off x="2296" y="2056"/>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97" name="Rectangle 186"/>
                  <p:cNvSpPr>
                    <a:spLocks noChangeArrowheads="1"/>
                  </p:cNvSpPr>
                  <p:nvPr/>
                </p:nvSpPr>
                <p:spPr bwMode="auto">
                  <a:xfrm>
                    <a:off x="2344" y="2000"/>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nvGrpSpPr>
                <p:cNvPr id="41281" name="Group 187"/>
                <p:cNvGrpSpPr>
                  <a:grpSpLocks/>
                </p:cNvGrpSpPr>
                <p:nvPr/>
              </p:nvGrpSpPr>
              <p:grpSpPr bwMode="auto">
                <a:xfrm>
                  <a:off x="2952" y="2384"/>
                  <a:ext cx="496" cy="528"/>
                  <a:chOff x="2016" y="2000"/>
                  <a:chExt cx="496" cy="528"/>
                </a:xfrm>
              </p:grpSpPr>
              <p:sp>
                <p:nvSpPr>
                  <p:cNvPr id="41282" name="Rectangle 188"/>
                  <p:cNvSpPr>
                    <a:spLocks noChangeArrowheads="1"/>
                  </p:cNvSpPr>
                  <p:nvPr/>
                </p:nvSpPr>
                <p:spPr bwMode="auto">
                  <a:xfrm>
                    <a:off x="2016" y="2368"/>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83" name="Rectangle 189"/>
                  <p:cNvSpPr>
                    <a:spLocks noChangeArrowheads="1"/>
                  </p:cNvSpPr>
                  <p:nvPr/>
                </p:nvSpPr>
                <p:spPr bwMode="auto">
                  <a:xfrm>
                    <a:off x="2064" y="2312"/>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84" name="Rectangle 190"/>
                  <p:cNvSpPr>
                    <a:spLocks noChangeArrowheads="1"/>
                  </p:cNvSpPr>
                  <p:nvPr/>
                </p:nvSpPr>
                <p:spPr bwMode="auto">
                  <a:xfrm>
                    <a:off x="2112" y="2264"/>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85" name="Rectangle 191"/>
                  <p:cNvSpPr>
                    <a:spLocks noChangeArrowheads="1"/>
                  </p:cNvSpPr>
                  <p:nvPr/>
                </p:nvSpPr>
                <p:spPr bwMode="auto">
                  <a:xfrm>
                    <a:off x="2160" y="2208"/>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86" name="Rectangle 192"/>
                  <p:cNvSpPr>
                    <a:spLocks noChangeArrowheads="1"/>
                  </p:cNvSpPr>
                  <p:nvPr/>
                </p:nvSpPr>
                <p:spPr bwMode="auto">
                  <a:xfrm>
                    <a:off x="2200" y="2160"/>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87" name="Rectangle 193"/>
                  <p:cNvSpPr>
                    <a:spLocks noChangeArrowheads="1"/>
                  </p:cNvSpPr>
                  <p:nvPr/>
                </p:nvSpPr>
                <p:spPr bwMode="auto">
                  <a:xfrm>
                    <a:off x="2248" y="2104"/>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88" name="Rectangle 194"/>
                  <p:cNvSpPr>
                    <a:spLocks noChangeArrowheads="1"/>
                  </p:cNvSpPr>
                  <p:nvPr/>
                </p:nvSpPr>
                <p:spPr bwMode="auto">
                  <a:xfrm>
                    <a:off x="2296" y="2056"/>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89" name="Rectangle 195"/>
                  <p:cNvSpPr>
                    <a:spLocks noChangeArrowheads="1"/>
                  </p:cNvSpPr>
                  <p:nvPr/>
                </p:nvSpPr>
                <p:spPr bwMode="auto">
                  <a:xfrm>
                    <a:off x="2344" y="2000"/>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grpSp>
            <p:nvGrpSpPr>
              <p:cNvPr id="41241" name="Group 196"/>
              <p:cNvGrpSpPr>
                <a:grpSpLocks/>
              </p:cNvGrpSpPr>
              <p:nvPr/>
            </p:nvGrpSpPr>
            <p:grpSpPr bwMode="auto">
              <a:xfrm>
                <a:off x="2664" y="1736"/>
                <a:ext cx="888" cy="648"/>
                <a:chOff x="2608" y="1592"/>
                <a:chExt cx="888" cy="648"/>
              </a:xfrm>
            </p:grpSpPr>
            <p:grpSp>
              <p:nvGrpSpPr>
                <p:cNvPr id="41242" name="Group 197"/>
                <p:cNvGrpSpPr>
                  <a:grpSpLocks/>
                </p:cNvGrpSpPr>
                <p:nvPr/>
              </p:nvGrpSpPr>
              <p:grpSpPr bwMode="auto">
                <a:xfrm>
                  <a:off x="2608" y="1592"/>
                  <a:ext cx="496" cy="528"/>
                  <a:chOff x="2016" y="2000"/>
                  <a:chExt cx="496" cy="528"/>
                </a:xfrm>
              </p:grpSpPr>
              <p:sp>
                <p:nvSpPr>
                  <p:cNvPr id="41270" name="Rectangle 198"/>
                  <p:cNvSpPr>
                    <a:spLocks noChangeArrowheads="1"/>
                  </p:cNvSpPr>
                  <p:nvPr/>
                </p:nvSpPr>
                <p:spPr bwMode="auto">
                  <a:xfrm>
                    <a:off x="2016" y="2368"/>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71" name="Rectangle 199"/>
                  <p:cNvSpPr>
                    <a:spLocks noChangeArrowheads="1"/>
                  </p:cNvSpPr>
                  <p:nvPr/>
                </p:nvSpPr>
                <p:spPr bwMode="auto">
                  <a:xfrm>
                    <a:off x="2064" y="2312"/>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72" name="Rectangle 200"/>
                  <p:cNvSpPr>
                    <a:spLocks noChangeArrowheads="1"/>
                  </p:cNvSpPr>
                  <p:nvPr/>
                </p:nvSpPr>
                <p:spPr bwMode="auto">
                  <a:xfrm>
                    <a:off x="2112" y="2264"/>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73" name="Rectangle 201"/>
                  <p:cNvSpPr>
                    <a:spLocks noChangeArrowheads="1"/>
                  </p:cNvSpPr>
                  <p:nvPr/>
                </p:nvSpPr>
                <p:spPr bwMode="auto">
                  <a:xfrm>
                    <a:off x="2160" y="2208"/>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74" name="Rectangle 202"/>
                  <p:cNvSpPr>
                    <a:spLocks noChangeArrowheads="1"/>
                  </p:cNvSpPr>
                  <p:nvPr/>
                </p:nvSpPr>
                <p:spPr bwMode="auto">
                  <a:xfrm>
                    <a:off x="2200" y="2160"/>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75" name="Rectangle 203"/>
                  <p:cNvSpPr>
                    <a:spLocks noChangeArrowheads="1"/>
                  </p:cNvSpPr>
                  <p:nvPr/>
                </p:nvSpPr>
                <p:spPr bwMode="auto">
                  <a:xfrm>
                    <a:off x="2248" y="2104"/>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76" name="Rectangle 204"/>
                  <p:cNvSpPr>
                    <a:spLocks noChangeArrowheads="1"/>
                  </p:cNvSpPr>
                  <p:nvPr/>
                </p:nvSpPr>
                <p:spPr bwMode="auto">
                  <a:xfrm>
                    <a:off x="2296" y="2056"/>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77" name="Rectangle 205"/>
                  <p:cNvSpPr>
                    <a:spLocks noChangeArrowheads="1"/>
                  </p:cNvSpPr>
                  <p:nvPr/>
                </p:nvSpPr>
                <p:spPr bwMode="auto">
                  <a:xfrm>
                    <a:off x="2344" y="2000"/>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nvGrpSpPr>
                <p:cNvPr id="41243" name="Group 206"/>
                <p:cNvGrpSpPr>
                  <a:grpSpLocks/>
                </p:cNvGrpSpPr>
                <p:nvPr/>
              </p:nvGrpSpPr>
              <p:grpSpPr bwMode="auto">
                <a:xfrm>
                  <a:off x="2752" y="1624"/>
                  <a:ext cx="496" cy="528"/>
                  <a:chOff x="2016" y="2000"/>
                  <a:chExt cx="496" cy="528"/>
                </a:xfrm>
              </p:grpSpPr>
              <p:sp>
                <p:nvSpPr>
                  <p:cNvPr id="41262" name="Rectangle 207"/>
                  <p:cNvSpPr>
                    <a:spLocks noChangeArrowheads="1"/>
                  </p:cNvSpPr>
                  <p:nvPr/>
                </p:nvSpPr>
                <p:spPr bwMode="auto">
                  <a:xfrm>
                    <a:off x="2016" y="2368"/>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63" name="Rectangle 208"/>
                  <p:cNvSpPr>
                    <a:spLocks noChangeArrowheads="1"/>
                  </p:cNvSpPr>
                  <p:nvPr/>
                </p:nvSpPr>
                <p:spPr bwMode="auto">
                  <a:xfrm>
                    <a:off x="2064" y="2312"/>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64" name="Rectangle 209"/>
                  <p:cNvSpPr>
                    <a:spLocks noChangeArrowheads="1"/>
                  </p:cNvSpPr>
                  <p:nvPr/>
                </p:nvSpPr>
                <p:spPr bwMode="auto">
                  <a:xfrm>
                    <a:off x="2112" y="2264"/>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65" name="Rectangle 210"/>
                  <p:cNvSpPr>
                    <a:spLocks noChangeArrowheads="1"/>
                  </p:cNvSpPr>
                  <p:nvPr/>
                </p:nvSpPr>
                <p:spPr bwMode="auto">
                  <a:xfrm>
                    <a:off x="2160" y="2208"/>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66" name="Rectangle 211"/>
                  <p:cNvSpPr>
                    <a:spLocks noChangeArrowheads="1"/>
                  </p:cNvSpPr>
                  <p:nvPr/>
                </p:nvSpPr>
                <p:spPr bwMode="auto">
                  <a:xfrm>
                    <a:off x="2200" y="2160"/>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67" name="Rectangle 212"/>
                  <p:cNvSpPr>
                    <a:spLocks noChangeArrowheads="1"/>
                  </p:cNvSpPr>
                  <p:nvPr/>
                </p:nvSpPr>
                <p:spPr bwMode="auto">
                  <a:xfrm>
                    <a:off x="2248" y="2104"/>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68" name="Rectangle 213"/>
                  <p:cNvSpPr>
                    <a:spLocks noChangeArrowheads="1"/>
                  </p:cNvSpPr>
                  <p:nvPr/>
                </p:nvSpPr>
                <p:spPr bwMode="auto">
                  <a:xfrm>
                    <a:off x="2296" y="2056"/>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69" name="Rectangle 214"/>
                  <p:cNvSpPr>
                    <a:spLocks noChangeArrowheads="1"/>
                  </p:cNvSpPr>
                  <p:nvPr/>
                </p:nvSpPr>
                <p:spPr bwMode="auto">
                  <a:xfrm>
                    <a:off x="2344" y="2000"/>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nvGrpSpPr>
                <p:cNvPr id="41244" name="Group 215"/>
                <p:cNvGrpSpPr>
                  <a:grpSpLocks/>
                </p:cNvGrpSpPr>
                <p:nvPr/>
              </p:nvGrpSpPr>
              <p:grpSpPr bwMode="auto">
                <a:xfrm>
                  <a:off x="2840" y="1664"/>
                  <a:ext cx="496" cy="528"/>
                  <a:chOff x="2016" y="2000"/>
                  <a:chExt cx="496" cy="528"/>
                </a:xfrm>
              </p:grpSpPr>
              <p:sp>
                <p:nvSpPr>
                  <p:cNvPr id="41254" name="Rectangle 216"/>
                  <p:cNvSpPr>
                    <a:spLocks noChangeArrowheads="1"/>
                  </p:cNvSpPr>
                  <p:nvPr/>
                </p:nvSpPr>
                <p:spPr bwMode="auto">
                  <a:xfrm>
                    <a:off x="2016" y="2368"/>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55" name="Rectangle 217"/>
                  <p:cNvSpPr>
                    <a:spLocks noChangeArrowheads="1"/>
                  </p:cNvSpPr>
                  <p:nvPr/>
                </p:nvSpPr>
                <p:spPr bwMode="auto">
                  <a:xfrm>
                    <a:off x="2064" y="2312"/>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56" name="Rectangle 218"/>
                  <p:cNvSpPr>
                    <a:spLocks noChangeArrowheads="1"/>
                  </p:cNvSpPr>
                  <p:nvPr/>
                </p:nvSpPr>
                <p:spPr bwMode="auto">
                  <a:xfrm>
                    <a:off x="2112" y="2264"/>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57" name="Rectangle 219"/>
                  <p:cNvSpPr>
                    <a:spLocks noChangeArrowheads="1"/>
                  </p:cNvSpPr>
                  <p:nvPr/>
                </p:nvSpPr>
                <p:spPr bwMode="auto">
                  <a:xfrm>
                    <a:off x="2160" y="2208"/>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58" name="Rectangle 220"/>
                  <p:cNvSpPr>
                    <a:spLocks noChangeArrowheads="1"/>
                  </p:cNvSpPr>
                  <p:nvPr/>
                </p:nvSpPr>
                <p:spPr bwMode="auto">
                  <a:xfrm>
                    <a:off x="2200" y="2160"/>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59" name="Rectangle 221"/>
                  <p:cNvSpPr>
                    <a:spLocks noChangeArrowheads="1"/>
                  </p:cNvSpPr>
                  <p:nvPr/>
                </p:nvSpPr>
                <p:spPr bwMode="auto">
                  <a:xfrm>
                    <a:off x="2248" y="2104"/>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60" name="Rectangle 222"/>
                  <p:cNvSpPr>
                    <a:spLocks noChangeArrowheads="1"/>
                  </p:cNvSpPr>
                  <p:nvPr/>
                </p:nvSpPr>
                <p:spPr bwMode="auto">
                  <a:xfrm>
                    <a:off x="2296" y="2056"/>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61" name="Rectangle 223"/>
                  <p:cNvSpPr>
                    <a:spLocks noChangeArrowheads="1"/>
                  </p:cNvSpPr>
                  <p:nvPr/>
                </p:nvSpPr>
                <p:spPr bwMode="auto">
                  <a:xfrm>
                    <a:off x="2344" y="2000"/>
                    <a:ext cx="168" cy="160"/>
                  </a:xfrm>
                  <a:prstGeom prst="rect">
                    <a:avLst/>
                  </a:prstGeom>
                  <a:solidFill>
                    <a:srgbClr val="114FFB"/>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nvGrpSpPr>
                <p:cNvPr id="41245" name="Group 224"/>
                <p:cNvGrpSpPr>
                  <a:grpSpLocks/>
                </p:cNvGrpSpPr>
                <p:nvPr/>
              </p:nvGrpSpPr>
              <p:grpSpPr bwMode="auto">
                <a:xfrm>
                  <a:off x="3000" y="1712"/>
                  <a:ext cx="496" cy="528"/>
                  <a:chOff x="2016" y="2000"/>
                  <a:chExt cx="496" cy="528"/>
                </a:xfrm>
              </p:grpSpPr>
              <p:sp>
                <p:nvSpPr>
                  <p:cNvPr id="41246" name="Rectangle 225"/>
                  <p:cNvSpPr>
                    <a:spLocks noChangeArrowheads="1"/>
                  </p:cNvSpPr>
                  <p:nvPr/>
                </p:nvSpPr>
                <p:spPr bwMode="auto">
                  <a:xfrm>
                    <a:off x="2016" y="2368"/>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47" name="Rectangle 226"/>
                  <p:cNvSpPr>
                    <a:spLocks noChangeArrowheads="1"/>
                  </p:cNvSpPr>
                  <p:nvPr/>
                </p:nvSpPr>
                <p:spPr bwMode="auto">
                  <a:xfrm>
                    <a:off x="2064" y="2312"/>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48" name="Rectangle 227"/>
                  <p:cNvSpPr>
                    <a:spLocks noChangeArrowheads="1"/>
                  </p:cNvSpPr>
                  <p:nvPr/>
                </p:nvSpPr>
                <p:spPr bwMode="auto">
                  <a:xfrm>
                    <a:off x="2112" y="2264"/>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49" name="Rectangle 228"/>
                  <p:cNvSpPr>
                    <a:spLocks noChangeArrowheads="1"/>
                  </p:cNvSpPr>
                  <p:nvPr/>
                </p:nvSpPr>
                <p:spPr bwMode="auto">
                  <a:xfrm>
                    <a:off x="2160" y="2208"/>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50" name="Rectangle 229"/>
                  <p:cNvSpPr>
                    <a:spLocks noChangeArrowheads="1"/>
                  </p:cNvSpPr>
                  <p:nvPr/>
                </p:nvSpPr>
                <p:spPr bwMode="auto">
                  <a:xfrm>
                    <a:off x="2200" y="2160"/>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51" name="Rectangle 230"/>
                  <p:cNvSpPr>
                    <a:spLocks noChangeArrowheads="1"/>
                  </p:cNvSpPr>
                  <p:nvPr/>
                </p:nvSpPr>
                <p:spPr bwMode="auto">
                  <a:xfrm>
                    <a:off x="2248" y="2104"/>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52" name="Rectangle 231"/>
                  <p:cNvSpPr>
                    <a:spLocks noChangeArrowheads="1"/>
                  </p:cNvSpPr>
                  <p:nvPr/>
                </p:nvSpPr>
                <p:spPr bwMode="auto">
                  <a:xfrm>
                    <a:off x="2296" y="2056"/>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53" name="Rectangle 232"/>
                  <p:cNvSpPr>
                    <a:spLocks noChangeArrowheads="1"/>
                  </p:cNvSpPr>
                  <p:nvPr/>
                </p:nvSpPr>
                <p:spPr bwMode="auto">
                  <a:xfrm>
                    <a:off x="2344" y="2000"/>
                    <a:ext cx="168" cy="160"/>
                  </a:xfrm>
                  <a:prstGeom prst="rect">
                    <a:avLst/>
                  </a:prstGeom>
                  <a:solidFill>
                    <a:srgbClr val="FBBA03"/>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grpSp>
        <p:grpSp>
          <p:nvGrpSpPr>
            <p:cNvPr id="40992" name="Group 233"/>
            <p:cNvGrpSpPr>
              <a:grpSpLocks/>
            </p:cNvGrpSpPr>
            <p:nvPr/>
          </p:nvGrpSpPr>
          <p:grpSpPr bwMode="auto">
            <a:xfrm>
              <a:off x="3703" y="1382"/>
              <a:ext cx="185" cy="74"/>
              <a:chOff x="1024" y="3264"/>
              <a:chExt cx="320" cy="296"/>
            </a:xfrm>
          </p:grpSpPr>
          <p:sp>
            <p:nvSpPr>
              <p:cNvPr id="41234" name="Rectangle 234"/>
              <p:cNvSpPr>
                <a:spLocks noChangeArrowheads="1"/>
              </p:cNvSpPr>
              <p:nvPr/>
            </p:nvSpPr>
            <p:spPr bwMode="auto">
              <a:xfrm>
                <a:off x="1024" y="3376"/>
                <a:ext cx="192" cy="184"/>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35" name="Rectangle 235"/>
              <p:cNvSpPr>
                <a:spLocks noChangeArrowheads="1"/>
              </p:cNvSpPr>
              <p:nvPr/>
            </p:nvSpPr>
            <p:spPr bwMode="auto">
              <a:xfrm>
                <a:off x="1072" y="3336"/>
                <a:ext cx="192" cy="184"/>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36" name="Rectangle 236"/>
              <p:cNvSpPr>
                <a:spLocks noChangeArrowheads="1"/>
              </p:cNvSpPr>
              <p:nvPr/>
            </p:nvSpPr>
            <p:spPr bwMode="auto">
              <a:xfrm>
                <a:off x="1112" y="3296"/>
                <a:ext cx="192" cy="184"/>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37" name="Rectangle 237"/>
              <p:cNvSpPr>
                <a:spLocks noChangeArrowheads="1"/>
              </p:cNvSpPr>
              <p:nvPr/>
            </p:nvSpPr>
            <p:spPr bwMode="auto">
              <a:xfrm>
                <a:off x="1152" y="3264"/>
                <a:ext cx="192" cy="184"/>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nvGrpSpPr>
            <p:cNvPr id="40993" name="Group 238"/>
            <p:cNvGrpSpPr>
              <a:grpSpLocks/>
            </p:cNvGrpSpPr>
            <p:nvPr/>
          </p:nvGrpSpPr>
          <p:grpSpPr bwMode="auto">
            <a:xfrm>
              <a:off x="4152" y="1376"/>
              <a:ext cx="184" cy="73"/>
              <a:chOff x="1024" y="3264"/>
              <a:chExt cx="320" cy="296"/>
            </a:xfrm>
          </p:grpSpPr>
          <p:sp>
            <p:nvSpPr>
              <p:cNvPr id="41230" name="Rectangle 239"/>
              <p:cNvSpPr>
                <a:spLocks noChangeArrowheads="1"/>
              </p:cNvSpPr>
              <p:nvPr/>
            </p:nvSpPr>
            <p:spPr bwMode="auto">
              <a:xfrm>
                <a:off x="1024" y="3376"/>
                <a:ext cx="192" cy="184"/>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31" name="Rectangle 240"/>
              <p:cNvSpPr>
                <a:spLocks noChangeArrowheads="1"/>
              </p:cNvSpPr>
              <p:nvPr/>
            </p:nvSpPr>
            <p:spPr bwMode="auto">
              <a:xfrm>
                <a:off x="1072" y="3336"/>
                <a:ext cx="192" cy="184"/>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32" name="Rectangle 241"/>
              <p:cNvSpPr>
                <a:spLocks noChangeArrowheads="1"/>
              </p:cNvSpPr>
              <p:nvPr/>
            </p:nvSpPr>
            <p:spPr bwMode="auto">
              <a:xfrm>
                <a:off x="1112" y="3296"/>
                <a:ext cx="192" cy="184"/>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33" name="Rectangle 242"/>
              <p:cNvSpPr>
                <a:spLocks noChangeArrowheads="1"/>
              </p:cNvSpPr>
              <p:nvPr/>
            </p:nvSpPr>
            <p:spPr bwMode="auto">
              <a:xfrm>
                <a:off x="1152" y="3264"/>
                <a:ext cx="192" cy="184"/>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nvGrpSpPr>
            <p:cNvPr id="40994" name="Group 243"/>
            <p:cNvGrpSpPr>
              <a:grpSpLocks/>
            </p:cNvGrpSpPr>
            <p:nvPr/>
          </p:nvGrpSpPr>
          <p:grpSpPr bwMode="auto">
            <a:xfrm>
              <a:off x="5005" y="1169"/>
              <a:ext cx="183" cy="73"/>
              <a:chOff x="1024" y="3264"/>
              <a:chExt cx="320" cy="296"/>
            </a:xfrm>
          </p:grpSpPr>
          <p:sp>
            <p:nvSpPr>
              <p:cNvPr id="41226" name="Rectangle 244"/>
              <p:cNvSpPr>
                <a:spLocks noChangeArrowheads="1"/>
              </p:cNvSpPr>
              <p:nvPr/>
            </p:nvSpPr>
            <p:spPr bwMode="auto">
              <a:xfrm>
                <a:off x="1024" y="3376"/>
                <a:ext cx="192" cy="184"/>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27" name="Rectangle 245"/>
              <p:cNvSpPr>
                <a:spLocks noChangeArrowheads="1"/>
              </p:cNvSpPr>
              <p:nvPr/>
            </p:nvSpPr>
            <p:spPr bwMode="auto">
              <a:xfrm>
                <a:off x="1072" y="3336"/>
                <a:ext cx="192" cy="184"/>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28" name="Rectangle 246"/>
              <p:cNvSpPr>
                <a:spLocks noChangeArrowheads="1"/>
              </p:cNvSpPr>
              <p:nvPr/>
            </p:nvSpPr>
            <p:spPr bwMode="auto">
              <a:xfrm>
                <a:off x="1112" y="3296"/>
                <a:ext cx="192" cy="184"/>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29" name="Rectangle 247"/>
              <p:cNvSpPr>
                <a:spLocks noChangeArrowheads="1"/>
              </p:cNvSpPr>
              <p:nvPr/>
            </p:nvSpPr>
            <p:spPr bwMode="auto">
              <a:xfrm>
                <a:off x="1152" y="3264"/>
                <a:ext cx="192" cy="184"/>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nvGrpSpPr>
            <p:cNvPr id="40995" name="Group 248"/>
            <p:cNvGrpSpPr>
              <a:grpSpLocks/>
            </p:cNvGrpSpPr>
            <p:nvPr/>
          </p:nvGrpSpPr>
          <p:grpSpPr bwMode="auto">
            <a:xfrm>
              <a:off x="4528" y="1367"/>
              <a:ext cx="184" cy="73"/>
              <a:chOff x="1024" y="3264"/>
              <a:chExt cx="320" cy="296"/>
            </a:xfrm>
          </p:grpSpPr>
          <p:sp>
            <p:nvSpPr>
              <p:cNvPr id="41222" name="Rectangle 249"/>
              <p:cNvSpPr>
                <a:spLocks noChangeArrowheads="1"/>
              </p:cNvSpPr>
              <p:nvPr/>
            </p:nvSpPr>
            <p:spPr bwMode="auto">
              <a:xfrm>
                <a:off x="1024" y="3376"/>
                <a:ext cx="192" cy="184"/>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23" name="Rectangle 250"/>
              <p:cNvSpPr>
                <a:spLocks noChangeArrowheads="1"/>
              </p:cNvSpPr>
              <p:nvPr/>
            </p:nvSpPr>
            <p:spPr bwMode="auto">
              <a:xfrm>
                <a:off x="1072" y="3336"/>
                <a:ext cx="192" cy="184"/>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24" name="Rectangle 251"/>
              <p:cNvSpPr>
                <a:spLocks noChangeArrowheads="1"/>
              </p:cNvSpPr>
              <p:nvPr/>
            </p:nvSpPr>
            <p:spPr bwMode="auto">
              <a:xfrm>
                <a:off x="1112" y="3296"/>
                <a:ext cx="192" cy="184"/>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25" name="Rectangle 252"/>
              <p:cNvSpPr>
                <a:spLocks noChangeArrowheads="1"/>
              </p:cNvSpPr>
              <p:nvPr/>
            </p:nvSpPr>
            <p:spPr bwMode="auto">
              <a:xfrm>
                <a:off x="1152" y="3264"/>
                <a:ext cx="192" cy="184"/>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nvGrpSpPr>
            <p:cNvPr id="40996" name="Group 253"/>
            <p:cNvGrpSpPr>
              <a:grpSpLocks/>
            </p:cNvGrpSpPr>
            <p:nvPr/>
          </p:nvGrpSpPr>
          <p:grpSpPr bwMode="auto">
            <a:xfrm>
              <a:off x="3176" y="1260"/>
              <a:ext cx="185" cy="73"/>
              <a:chOff x="1024" y="3264"/>
              <a:chExt cx="320" cy="296"/>
            </a:xfrm>
          </p:grpSpPr>
          <p:sp>
            <p:nvSpPr>
              <p:cNvPr id="41218" name="Rectangle 254"/>
              <p:cNvSpPr>
                <a:spLocks noChangeArrowheads="1"/>
              </p:cNvSpPr>
              <p:nvPr/>
            </p:nvSpPr>
            <p:spPr bwMode="auto">
              <a:xfrm>
                <a:off x="1024" y="3376"/>
                <a:ext cx="192" cy="184"/>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19" name="Rectangle 255"/>
              <p:cNvSpPr>
                <a:spLocks noChangeArrowheads="1"/>
              </p:cNvSpPr>
              <p:nvPr/>
            </p:nvSpPr>
            <p:spPr bwMode="auto">
              <a:xfrm>
                <a:off x="1072" y="3336"/>
                <a:ext cx="192" cy="184"/>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20" name="Rectangle 256"/>
              <p:cNvSpPr>
                <a:spLocks noChangeArrowheads="1"/>
              </p:cNvSpPr>
              <p:nvPr/>
            </p:nvSpPr>
            <p:spPr bwMode="auto">
              <a:xfrm>
                <a:off x="1112" y="3296"/>
                <a:ext cx="192" cy="184"/>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21" name="Rectangle 257"/>
              <p:cNvSpPr>
                <a:spLocks noChangeArrowheads="1"/>
              </p:cNvSpPr>
              <p:nvPr/>
            </p:nvSpPr>
            <p:spPr bwMode="auto">
              <a:xfrm>
                <a:off x="1152" y="3264"/>
                <a:ext cx="192" cy="184"/>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nvGrpSpPr>
            <p:cNvPr id="40997" name="Group 258"/>
            <p:cNvGrpSpPr>
              <a:grpSpLocks/>
            </p:cNvGrpSpPr>
            <p:nvPr/>
          </p:nvGrpSpPr>
          <p:grpSpPr bwMode="auto">
            <a:xfrm>
              <a:off x="3158" y="1191"/>
              <a:ext cx="184" cy="73"/>
              <a:chOff x="1024" y="3264"/>
              <a:chExt cx="320" cy="296"/>
            </a:xfrm>
          </p:grpSpPr>
          <p:sp>
            <p:nvSpPr>
              <p:cNvPr id="41214" name="Rectangle 259"/>
              <p:cNvSpPr>
                <a:spLocks noChangeArrowheads="1"/>
              </p:cNvSpPr>
              <p:nvPr/>
            </p:nvSpPr>
            <p:spPr bwMode="auto">
              <a:xfrm>
                <a:off x="1024" y="3376"/>
                <a:ext cx="192" cy="184"/>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15" name="Rectangle 260"/>
              <p:cNvSpPr>
                <a:spLocks noChangeArrowheads="1"/>
              </p:cNvSpPr>
              <p:nvPr/>
            </p:nvSpPr>
            <p:spPr bwMode="auto">
              <a:xfrm>
                <a:off x="1072" y="3336"/>
                <a:ext cx="192" cy="184"/>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16" name="Rectangle 261"/>
              <p:cNvSpPr>
                <a:spLocks noChangeArrowheads="1"/>
              </p:cNvSpPr>
              <p:nvPr/>
            </p:nvSpPr>
            <p:spPr bwMode="auto">
              <a:xfrm>
                <a:off x="1112" y="3296"/>
                <a:ext cx="192" cy="184"/>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17" name="Rectangle 262"/>
              <p:cNvSpPr>
                <a:spLocks noChangeArrowheads="1"/>
              </p:cNvSpPr>
              <p:nvPr/>
            </p:nvSpPr>
            <p:spPr bwMode="auto">
              <a:xfrm>
                <a:off x="1152" y="3264"/>
                <a:ext cx="192" cy="184"/>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nvGrpSpPr>
            <p:cNvPr id="40998" name="Group 263"/>
            <p:cNvGrpSpPr>
              <a:grpSpLocks/>
            </p:cNvGrpSpPr>
            <p:nvPr/>
          </p:nvGrpSpPr>
          <p:grpSpPr bwMode="auto">
            <a:xfrm>
              <a:off x="3323" y="1395"/>
              <a:ext cx="184" cy="73"/>
              <a:chOff x="1024" y="3264"/>
              <a:chExt cx="320" cy="296"/>
            </a:xfrm>
          </p:grpSpPr>
          <p:sp>
            <p:nvSpPr>
              <p:cNvPr id="41210" name="Rectangle 264"/>
              <p:cNvSpPr>
                <a:spLocks noChangeArrowheads="1"/>
              </p:cNvSpPr>
              <p:nvPr/>
            </p:nvSpPr>
            <p:spPr bwMode="auto">
              <a:xfrm>
                <a:off x="1024" y="3376"/>
                <a:ext cx="192" cy="184"/>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11" name="Rectangle 265"/>
              <p:cNvSpPr>
                <a:spLocks noChangeArrowheads="1"/>
              </p:cNvSpPr>
              <p:nvPr/>
            </p:nvSpPr>
            <p:spPr bwMode="auto">
              <a:xfrm>
                <a:off x="1072" y="3336"/>
                <a:ext cx="192" cy="184"/>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12" name="Rectangle 266"/>
              <p:cNvSpPr>
                <a:spLocks noChangeArrowheads="1"/>
              </p:cNvSpPr>
              <p:nvPr/>
            </p:nvSpPr>
            <p:spPr bwMode="auto">
              <a:xfrm>
                <a:off x="1112" y="3296"/>
                <a:ext cx="192" cy="184"/>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13" name="Rectangle 267"/>
              <p:cNvSpPr>
                <a:spLocks noChangeArrowheads="1"/>
              </p:cNvSpPr>
              <p:nvPr/>
            </p:nvSpPr>
            <p:spPr bwMode="auto">
              <a:xfrm>
                <a:off x="1152" y="3264"/>
                <a:ext cx="192" cy="184"/>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nvGrpSpPr>
            <p:cNvPr id="40999" name="Group 268"/>
            <p:cNvGrpSpPr>
              <a:grpSpLocks/>
            </p:cNvGrpSpPr>
            <p:nvPr/>
          </p:nvGrpSpPr>
          <p:grpSpPr bwMode="auto">
            <a:xfrm>
              <a:off x="2799" y="1168"/>
              <a:ext cx="154" cy="61"/>
              <a:chOff x="428" y="2146"/>
              <a:chExt cx="268" cy="244"/>
            </a:xfrm>
          </p:grpSpPr>
          <p:sp>
            <p:nvSpPr>
              <p:cNvPr id="41201" name="Rectangle 269"/>
              <p:cNvSpPr>
                <a:spLocks noChangeArrowheads="1"/>
              </p:cNvSpPr>
              <p:nvPr/>
            </p:nvSpPr>
            <p:spPr bwMode="auto">
              <a:xfrm>
                <a:off x="632" y="2152"/>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02" name="Rectangle 270"/>
              <p:cNvSpPr>
                <a:spLocks noChangeArrowheads="1"/>
              </p:cNvSpPr>
              <p:nvPr/>
            </p:nvSpPr>
            <p:spPr bwMode="auto">
              <a:xfrm>
                <a:off x="536" y="214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03" name="Rectangle 271"/>
              <p:cNvSpPr>
                <a:spLocks noChangeArrowheads="1"/>
              </p:cNvSpPr>
              <p:nvPr/>
            </p:nvSpPr>
            <p:spPr bwMode="auto">
              <a:xfrm>
                <a:off x="626" y="223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04" name="Rectangle 272"/>
              <p:cNvSpPr>
                <a:spLocks noChangeArrowheads="1"/>
              </p:cNvSpPr>
              <p:nvPr/>
            </p:nvSpPr>
            <p:spPr bwMode="auto">
              <a:xfrm>
                <a:off x="530" y="2230"/>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05" name="Rectangle 273"/>
              <p:cNvSpPr>
                <a:spLocks noChangeArrowheads="1"/>
              </p:cNvSpPr>
              <p:nvPr/>
            </p:nvSpPr>
            <p:spPr bwMode="auto">
              <a:xfrm>
                <a:off x="434" y="216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06" name="Rectangle 274"/>
              <p:cNvSpPr>
                <a:spLocks noChangeArrowheads="1"/>
              </p:cNvSpPr>
              <p:nvPr/>
            </p:nvSpPr>
            <p:spPr bwMode="auto">
              <a:xfrm>
                <a:off x="428" y="2248"/>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07" name="Rectangle 275"/>
              <p:cNvSpPr>
                <a:spLocks noChangeArrowheads="1"/>
              </p:cNvSpPr>
              <p:nvPr/>
            </p:nvSpPr>
            <p:spPr bwMode="auto">
              <a:xfrm>
                <a:off x="626" y="231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08" name="Rectangle 276"/>
              <p:cNvSpPr>
                <a:spLocks noChangeArrowheads="1"/>
              </p:cNvSpPr>
              <p:nvPr/>
            </p:nvSpPr>
            <p:spPr bwMode="auto">
              <a:xfrm>
                <a:off x="530" y="2308"/>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09" name="Rectangle 277"/>
              <p:cNvSpPr>
                <a:spLocks noChangeArrowheads="1"/>
              </p:cNvSpPr>
              <p:nvPr/>
            </p:nvSpPr>
            <p:spPr bwMode="auto">
              <a:xfrm>
                <a:off x="428" y="232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nvGrpSpPr>
            <p:cNvPr id="41000" name="Group 278"/>
            <p:cNvGrpSpPr>
              <a:grpSpLocks/>
            </p:cNvGrpSpPr>
            <p:nvPr/>
          </p:nvGrpSpPr>
          <p:grpSpPr bwMode="auto">
            <a:xfrm>
              <a:off x="2801" y="1232"/>
              <a:ext cx="154" cy="61"/>
              <a:chOff x="428" y="2146"/>
              <a:chExt cx="268" cy="244"/>
            </a:xfrm>
          </p:grpSpPr>
          <p:sp>
            <p:nvSpPr>
              <p:cNvPr id="41192" name="Rectangle 279"/>
              <p:cNvSpPr>
                <a:spLocks noChangeArrowheads="1"/>
              </p:cNvSpPr>
              <p:nvPr/>
            </p:nvSpPr>
            <p:spPr bwMode="auto">
              <a:xfrm>
                <a:off x="632" y="2152"/>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93" name="Rectangle 280"/>
              <p:cNvSpPr>
                <a:spLocks noChangeArrowheads="1"/>
              </p:cNvSpPr>
              <p:nvPr/>
            </p:nvSpPr>
            <p:spPr bwMode="auto">
              <a:xfrm>
                <a:off x="536" y="214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94" name="Rectangle 281"/>
              <p:cNvSpPr>
                <a:spLocks noChangeArrowheads="1"/>
              </p:cNvSpPr>
              <p:nvPr/>
            </p:nvSpPr>
            <p:spPr bwMode="auto">
              <a:xfrm>
                <a:off x="626" y="223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95" name="Rectangle 282"/>
              <p:cNvSpPr>
                <a:spLocks noChangeArrowheads="1"/>
              </p:cNvSpPr>
              <p:nvPr/>
            </p:nvSpPr>
            <p:spPr bwMode="auto">
              <a:xfrm>
                <a:off x="530" y="2230"/>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96" name="Rectangle 283"/>
              <p:cNvSpPr>
                <a:spLocks noChangeArrowheads="1"/>
              </p:cNvSpPr>
              <p:nvPr/>
            </p:nvSpPr>
            <p:spPr bwMode="auto">
              <a:xfrm>
                <a:off x="434" y="216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97" name="Rectangle 284"/>
              <p:cNvSpPr>
                <a:spLocks noChangeArrowheads="1"/>
              </p:cNvSpPr>
              <p:nvPr/>
            </p:nvSpPr>
            <p:spPr bwMode="auto">
              <a:xfrm>
                <a:off x="428" y="2248"/>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98" name="Rectangle 285"/>
              <p:cNvSpPr>
                <a:spLocks noChangeArrowheads="1"/>
              </p:cNvSpPr>
              <p:nvPr/>
            </p:nvSpPr>
            <p:spPr bwMode="auto">
              <a:xfrm>
                <a:off x="626" y="231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99" name="Rectangle 286"/>
              <p:cNvSpPr>
                <a:spLocks noChangeArrowheads="1"/>
              </p:cNvSpPr>
              <p:nvPr/>
            </p:nvSpPr>
            <p:spPr bwMode="auto">
              <a:xfrm>
                <a:off x="530" y="2308"/>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200" name="Rectangle 287"/>
              <p:cNvSpPr>
                <a:spLocks noChangeArrowheads="1"/>
              </p:cNvSpPr>
              <p:nvPr/>
            </p:nvSpPr>
            <p:spPr bwMode="auto">
              <a:xfrm>
                <a:off x="428" y="232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sp>
          <p:nvSpPr>
            <p:cNvPr id="41001" name="Rectangle 288"/>
            <p:cNvSpPr>
              <a:spLocks noChangeArrowheads="1"/>
            </p:cNvSpPr>
            <p:nvPr/>
          </p:nvSpPr>
          <p:spPr bwMode="auto">
            <a:xfrm>
              <a:off x="3017" y="1167"/>
              <a:ext cx="93" cy="39"/>
            </a:xfrm>
            <a:prstGeom prst="rect">
              <a:avLst/>
            </a:prstGeom>
            <a:solidFill>
              <a:srgbClr val="FFFF00"/>
            </a:solidFill>
            <a:ln w="12700">
              <a:solidFill>
                <a:schemeClr val="tx1"/>
              </a:solidFill>
              <a:miter lim="800000"/>
              <a:headEnd type="none" w="sm" len="sm"/>
              <a:tailEnd type="none" w="sm" len="sm"/>
            </a:ln>
          </p:spPr>
          <p:txBody>
            <a:bodyPr wrap="none" anchor="ctr"/>
            <a:lstStyle/>
            <a:p>
              <a:pPr algn="ctr"/>
              <a:endParaRPr lang="en-US" sz="1200" b="0">
                <a:solidFill>
                  <a:srgbClr val="FFFF00"/>
                </a:solidFill>
                <a:latin typeface="Gill Sans" charset="0"/>
                <a:cs typeface="Gill Sans" charset="0"/>
              </a:endParaRPr>
            </a:p>
          </p:txBody>
        </p:sp>
        <p:sp>
          <p:nvSpPr>
            <p:cNvPr id="41002" name="Rectangle 289"/>
            <p:cNvSpPr>
              <a:spLocks noChangeArrowheads="1"/>
            </p:cNvSpPr>
            <p:nvPr/>
          </p:nvSpPr>
          <p:spPr bwMode="auto">
            <a:xfrm>
              <a:off x="3020" y="1229"/>
              <a:ext cx="93" cy="38"/>
            </a:xfrm>
            <a:prstGeom prst="rect">
              <a:avLst/>
            </a:prstGeom>
            <a:solidFill>
              <a:srgbClr val="FFFF00"/>
            </a:solidFill>
            <a:ln w="12700">
              <a:solidFill>
                <a:schemeClr val="tx1"/>
              </a:solidFill>
              <a:miter lim="800000"/>
              <a:headEnd type="none" w="sm" len="sm"/>
              <a:tailEnd type="none" w="sm" len="sm"/>
            </a:ln>
          </p:spPr>
          <p:txBody>
            <a:bodyPr wrap="none" anchor="ctr"/>
            <a:lstStyle/>
            <a:p>
              <a:pPr algn="ctr"/>
              <a:endParaRPr lang="en-US" sz="1200" b="0">
                <a:solidFill>
                  <a:srgbClr val="FFFF00"/>
                </a:solidFill>
                <a:latin typeface="Gill Sans" charset="0"/>
                <a:cs typeface="Gill Sans" charset="0"/>
              </a:endParaRPr>
            </a:p>
          </p:txBody>
        </p:sp>
        <p:grpSp>
          <p:nvGrpSpPr>
            <p:cNvPr id="41003" name="Group 290"/>
            <p:cNvGrpSpPr>
              <a:grpSpLocks/>
            </p:cNvGrpSpPr>
            <p:nvPr/>
          </p:nvGrpSpPr>
          <p:grpSpPr bwMode="auto">
            <a:xfrm>
              <a:off x="2932" y="1390"/>
              <a:ext cx="154" cy="61"/>
              <a:chOff x="428" y="2146"/>
              <a:chExt cx="268" cy="244"/>
            </a:xfrm>
          </p:grpSpPr>
          <p:sp>
            <p:nvSpPr>
              <p:cNvPr id="41183" name="Rectangle 291"/>
              <p:cNvSpPr>
                <a:spLocks noChangeArrowheads="1"/>
              </p:cNvSpPr>
              <p:nvPr/>
            </p:nvSpPr>
            <p:spPr bwMode="auto">
              <a:xfrm>
                <a:off x="632" y="2152"/>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84" name="Rectangle 292"/>
              <p:cNvSpPr>
                <a:spLocks noChangeArrowheads="1"/>
              </p:cNvSpPr>
              <p:nvPr/>
            </p:nvSpPr>
            <p:spPr bwMode="auto">
              <a:xfrm>
                <a:off x="536" y="214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85" name="Rectangle 293"/>
              <p:cNvSpPr>
                <a:spLocks noChangeArrowheads="1"/>
              </p:cNvSpPr>
              <p:nvPr/>
            </p:nvSpPr>
            <p:spPr bwMode="auto">
              <a:xfrm>
                <a:off x="626" y="223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86" name="Rectangle 294"/>
              <p:cNvSpPr>
                <a:spLocks noChangeArrowheads="1"/>
              </p:cNvSpPr>
              <p:nvPr/>
            </p:nvSpPr>
            <p:spPr bwMode="auto">
              <a:xfrm>
                <a:off x="530" y="2230"/>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87" name="Rectangle 295"/>
              <p:cNvSpPr>
                <a:spLocks noChangeArrowheads="1"/>
              </p:cNvSpPr>
              <p:nvPr/>
            </p:nvSpPr>
            <p:spPr bwMode="auto">
              <a:xfrm>
                <a:off x="434" y="216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88" name="Rectangle 296"/>
              <p:cNvSpPr>
                <a:spLocks noChangeArrowheads="1"/>
              </p:cNvSpPr>
              <p:nvPr/>
            </p:nvSpPr>
            <p:spPr bwMode="auto">
              <a:xfrm>
                <a:off x="428" y="2248"/>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89" name="Rectangle 297"/>
              <p:cNvSpPr>
                <a:spLocks noChangeArrowheads="1"/>
              </p:cNvSpPr>
              <p:nvPr/>
            </p:nvSpPr>
            <p:spPr bwMode="auto">
              <a:xfrm>
                <a:off x="626" y="231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90" name="Rectangle 298"/>
              <p:cNvSpPr>
                <a:spLocks noChangeArrowheads="1"/>
              </p:cNvSpPr>
              <p:nvPr/>
            </p:nvSpPr>
            <p:spPr bwMode="auto">
              <a:xfrm>
                <a:off x="530" y="2308"/>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91" name="Rectangle 299"/>
              <p:cNvSpPr>
                <a:spLocks noChangeArrowheads="1"/>
              </p:cNvSpPr>
              <p:nvPr/>
            </p:nvSpPr>
            <p:spPr bwMode="auto">
              <a:xfrm>
                <a:off x="428" y="232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nvGrpSpPr>
            <p:cNvPr id="41004" name="Group 300"/>
            <p:cNvGrpSpPr>
              <a:grpSpLocks/>
            </p:cNvGrpSpPr>
            <p:nvPr/>
          </p:nvGrpSpPr>
          <p:grpSpPr bwMode="auto">
            <a:xfrm>
              <a:off x="2945" y="1465"/>
              <a:ext cx="155" cy="60"/>
              <a:chOff x="428" y="2146"/>
              <a:chExt cx="268" cy="244"/>
            </a:xfrm>
          </p:grpSpPr>
          <p:sp>
            <p:nvSpPr>
              <p:cNvPr id="41174" name="Rectangle 301"/>
              <p:cNvSpPr>
                <a:spLocks noChangeArrowheads="1"/>
              </p:cNvSpPr>
              <p:nvPr/>
            </p:nvSpPr>
            <p:spPr bwMode="auto">
              <a:xfrm>
                <a:off x="632" y="2152"/>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75" name="Rectangle 302"/>
              <p:cNvSpPr>
                <a:spLocks noChangeArrowheads="1"/>
              </p:cNvSpPr>
              <p:nvPr/>
            </p:nvSpPr>
            <p:spPr bwMode="auto">
              <a:xfrm>
                <a:off x="536" y="214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76" name="Rectangle 303"/>
              <p:cNvSpPr>
                <a:spLocks noChangeArrowheads="1"/>
              </p:cNvSpPr>
              <p:nvPr/>
            </p:nvSpPr>
            <p:spPr bwMode="auto">
              <a:xfrm>
                <a:off x="626" y="223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77" name="Rectangle 304"/>
              <p:cNvSpPr>
                <a:spLocks noChangeArrowheads="1"/>
              </p:cNvSpPr>
              <p:nvPr/>
            </p:nvSpPr>
            <p:spPr bwMode="auto">
              <a:xfrm>
                <a:off x="530" y="2230"/>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78" name="Rectangle 305"/>
              <p:cNvSpPr>
                <a:spLocks noChangeArrowheads="1"/>
              </p:cNvSpPr>
              <p:nvPr/>
            </p:nvSpPr>
            <p:spPr bwMode="auto">
              <a:xfrm>
                <a:off x="434" y="216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79" name="Rectangle 306"/>
              <p:cNvSpPr>
                <a:spLocks noChangeArrowheads="1"/>
              </p:cNvSpPr>
              <p:nvPr/>
            </p:nvSpPr>
            <p:spPr bwMode="auto">
              <a:xfrm>
                <a:off x="428" y="2248"/>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80" name="Rectangle 307"/>
              <p:cNvSpPr>
                <a:spLocks noChangeArrowheads="1"/>
              </p:cNvSpPr>
              <p:nvPr/>
            </p:nvSpPr>
            <p:spPr bwMode="auto">
              <a:xfrm>
                <a:off x="626" y="231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81" name="Rectangle 308"/>
              <p:cNvSpPr>
                <a:spLocks noChangeArrowheads="1"/>
              </p:cNvSpPr>
              <p:nvPr/>
            </p:nvSpPr>
            <p:spPr bwMode="auto">
              <a:xfrm>
                <a:off x="530" y="2308"/>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82" name="Rectangle 309"/>
              <p:cNvSpPr>
                <a:spLocks noChangeArrowheads="1"/>
              </p:cNvSpPr>
              <p:nvPr/>
            </p:nvSpPr>
            <p:spPr bwMode="auto">
              <a:xfrm>
                <a:off x="428" y="232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sp>
          <p:nvSpPr>
            <p:cNvPr id="41005" name="Rectangle 310"/>
            <p:cNvSpPr>
              <a:spLocks noChangeArrowheads="1"/>
            </p:cNvSpPr>
            <p:nvPr/>
          </p:nvSpPr>
          <p:spPr bwMode="auto">
            <a:xfrm>
              <a:off x="3127" y="1431"/>
              <a:ext cx="93" cy="39"/>
            </a:xfrm>
            <a:prstGeom prst="rect">
              <a:avLst/>
            </a:prstGeom>
            <a:solidFill>
              <a:srgbClr val="FFFF00"/>
            </a:solidFill>
            <a:ln w="12700">
              <a:solidFill>
                <a:schemeClr val="tx1"/>
              </a:solidFill>
              <a:miter lim="800000"/>
              <a:headEnd type="none" w="sm" len="sm"/>
              <a:tailEnd type="none" w="sm" len="sm"/>
            </a:ln>
          </p:spPr>
          <p:txBody>
            <a:bodyPr wrap="none" anchor="ctr"/>
            <a:lstStyle/>
            <a:p>
              <a:pPr algn="ctr"/>
              <a:endParaRPr lang="en-US" sz="1200" b="0">
                <a:solidFill>
                  <a:srgbClr val="FFFF00"/>
                </a:solidFill>
                <a:latin typeface="Gill Sans" charset="0"/>
                <a:cs typeface="Gill Sans" charset="0"/>
              </a:endParaRPr>
            </a:p>
          </p:txBody>
        </p:sp>
        <p:grpSp>
          <p:nvGrpSpPr>
            <p:cNvPr id="41006" name="Group 311"/>
            <p:cNvGrpSpPr>
              <a:grpSpLocks/>
            </p:cNvGrpSpPr>
            <p:nvPr/>
          </p:nvGrpSpPr>
          <p:grpSpPr bwMode="auto">
            <a:xfrm>
              <a:off x="3466" y="1524"/>
              <a:ext cx="155" cy="60"/>
              <a:chOff x="428" y="2146"/>
              <a:chExt cx="268" cy="244"/>
            </a:xfrm>
          </p:grpSpPr>
          <p:sp>
            <p:nvSpPr>
              <p:cNvPr id="41165" name="Rectangle 312"/>
              <p:cNvSpPr>
                <a:spLocks noChangeArrowheads="1"/>
              </p:cNvSpPr>
              <p:nvPr/>
            </p:nvSpPr>
            <p:spPr bwMode="auto">
              <a:xfrm>
                <a:off x="632" y="2152"/>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66" name="Rectangle 313"/>
              <p:cNvSpPr>
                <a:spLocks noChangeArrowheads="1"/>
              </p:cNvSpPr>
              <p:nvPr/>
            </p:nvSpPr>
            <p:spPr bwMode="auto">
              <a:xfrm>
                <a:off x="536" y="214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67" name="Rectangle 314"/>
              <p:cNvSpPr>
                <a:spLocks noChangeArrowheads="1"/>
              </p:cNvSpPr>
              <p:nvPr/>
            </p:nvSpPr>
            <p:spPr bwMode="auto">
              <a:xfrm>
                <a:off x="626" y="223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68" name="Rectangle 315"/>
              <p:cNvSpPr>
                <a:spLocks noChangeArrowheads="1"/>
              </p:cNvSpPr>
              <p:nvPr/>
            </p:nvSpPr>
            <p:spPr bwMode="auto">
              <a:xfrm>
                <a:off x="530" y="2230"/>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69" name="Rectangle 316"/>
              <p:cNvSpPr>
                <a:spLocks noChangeArrowheads="1"/>
              </p:cNvSpPr>
              <p:nvPr/>
            </p:nvSpPr>
            <p:spPr bwMode="auto">
              <a:xfrm>
                <a:off x="434" y="216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70" name="Rectangle 317"/>
              <p:cNvSpPr>
                <a:spLocks noChangeArrowheads="1"/>
              </p:cNvSpPr>
              <p:nvPr/>
            </p:nvSpPr>
            <p:spPr bwMode="auto">
              <a:xfrm>
                <a:off x="428" y="2248"/>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71" name="Rectangle 318"/>
              <p:cNvSpPr>
                <a:spLocks noChangeArrowheads="1"/>
              </p:cNvSpPr>
              <p:nvPr/>
            </p:nvSpPr>
            <p:spPr bwMode="auto">
              <a:xfrm>
                <a:off x="626" y="231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72" name="Rectangle 319"/>
              <p:cNvSpPr>
                <a:spLocks noChangeArrowheads="1"/>
              </p:cNvSpPr>
              <p:nvPr/>
            </p:nvSpPr>
            <p:spPr bwMode="auto">
              <a:xfrm>
                <a:off x="530" y="2308"/>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73" name="Rectangle 320"/>
              <p:cNvSpPr>
                <a:spLocks noChangeArrowheads="1"/>
              </p:cNvSpPr>
              <p:nvPr/>
            </p:nvSpPr>
            <p:spPr bwMode="auto">
              <a:xfrm>
                <a:off x="428" y="232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sp>
          <p:nvSpPr>
            <p:cNvPr id="41007" name="Rectangle 321"/>
            <p:cNvSpPr>
              <a:spLocks noChangeArrowheads="1"/>
            </p:cNvSpPr>
            <p:nvPr/>
          </p:nvSpPr>
          <p:spPr bwMode="auto">
            <a:xfrm>
              <a:off x="3680" y="1471"/>
              <a:ext cx="93" cy="39"/>
            </a:xfrm>
            <a:prstGeom prst="rect">
              <a:avLst/>
            </a:prstGeom>
            <a:solidFill>
              <a:srgbClr val="FFFF00"/>
            </a:solidFill>
            <a:ln w="12700">
              <a:solidFill>
                <a:schemeClr val="tx1"/>
              </a:solidFill>
              <a:miter lim="800000"/>
              <a:headEnd type="none" w="sm" len="sm"/>
              <a:tailEnd type="none" w="sm" len="sm"/>
            </a:ln>
          </p:spPr>
          <p:txBody>
            <a:bodyPr wrap="none" anchor="ctr"/>
            <a:lstStyle/>
            <a:p>
              <a:pPr algn="ctr"/>
              <a:endParaRPr lang="en-US" sz="1200" b="0">
                <a:solidFill>
                  <a:srgbClr val="FFFF00"/>
                </a:solidFill>
                <a:latin typeface="Gill Sans" charset="0"/>
                <a:cs typeface="Gill Sans" charset="0"/>
              </a:endParaRPr>
            </a:p>
          </p:txBody>
        </p:sp>
        <p:grpSp>
          <p:nvGrpSpPr>
            <p:cNvPr id="41008" name="Group 322"/>
            <p:cNvGrpSpPr>
              <a:grpSpLocks/>
            </p:cNvGrpSpPr>
            <p:nvPr/>
          </p:nvGrpSpPr>
          <p:grpSpPr bwMode="auto">
            <a:xfrm>
              <a:off x="4133" y="1520"/>
              <a:ext cx="153" cy="41"/>
              <a:chOff x="2378" y="3784"/>
              <a:chExt cx="268" cy="166"/>
            </a:xfrm>
          </p:grpSpPr>
          <p:sp>
            <p:nvSpPr>
              <p:cNvPr id="41159" name="Rectangle 323"/>
              <p:cNvSpPr>
                <a:spLocks noChangeArrowheads="1"/>
              </p:cNvSpPr>
              <p:nvPr/>
            </p:nvSpPr>
            <p:spPr bwMode="auto">
              <a:xfrm>
                <a:off x="2582" y="3790"/>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60" name="Rectangle 324"/>
              <p:cNvSpPr>
                <a:spLocks noChangeArrowheads="1"/>
              </p:cNvSpPr>
              <p:nvPr/>
            </p:nvSpPr>
            <p:spPr bwMode="auto">
              <a:xfrm>
                <a:off x="2486" y="378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61" name="Rectangle 325"/>
              <p:cNvSpPr>
                <a:spLocks noChangeArrowheads="1"/>
              </p:cNvSpPr>
              <p:nvPr/>
            </p:nvSpPr>
            <p:spPr bwMode="auto">
              <a:xfrm>
                <a:off x="2576" y="387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62" name="Rectangle 326"/>
              <p:cNvSpPr>
                <a:spLocks noChangeArrowheads="1"/>
              </p:cNvSpPr>
              <p:nvPr/>
            </p:nvSpPr>
            <p:spPr bwMode="auto">
              <a:xfrm>
                <a:off x="2480" y="3868"/>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63" name="Rectangle 327"/>
              <p:cNvSpPr>
                <a:spLocks noChangeArrowheads="1"/>
              </p:cNvSpPr>
              <p:nvPr/>
            </p:nvSpPr>
            <p:spPr bwMode="auto">
              <a:xfrm>
                <a:off x="2384" y="3802"/>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64" name="Rectangle 328"/>
              <p:cNvSpPr>
                <a:spLocks noChangeArrowheads="1"/>
              </p:cNvSpPr>
              <p:nvPr/>
            </p:nvSpPr>
            <p:spPr bwMode="auto">
              <a:xfrm>
                <a:off x="2378" y="388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sp>
          <p:nvSpPr>
            <p:cNvPr id="41009" name="Rectangle 329"/>
            <p:cNvSpPr>
              <a:spLocks noChangeArrowheads="1"/>
            </p:cNvSpPr>
            <p:nvPr/>
          </p:nvSpPr>
          <p:spPr bwMode="auto">
            <a:xfrm>
              <a:off x="4173" y="1470"/>
              <a:ext cx="93" cy="38"/>
            </a:xfrm>
            <a:prstGeom prst="rect">
              <a:avLst/>
            </a:prstGeom>
            <a:solidFill>
              <a:srgbClr val="FFFF00"/>
            </a:solidFill>
            <a:ln w="12700">
              <a:solidFill>
                <a:schemeClr val="tx1"/>
              </a:solidFill>
              <a:miter lim="800000"/>
              <a:headEnd type="none" w="sm" len="sm"/>
              <a:tailEnd type="none" w="sm" len="sm"/>
            </a:ln>
          </p:spPr>
          <p:txBody>
            <a:bodyPr wrap="none" anchor="ctr"/>
            <a:lstStyle/>
            <a:p>
              <a:pPr algn="ctr"/>
              <a:endParaRPr lang="en-US" sz="1200" b="0">
                <a:solidFill>
                  <a:srgbClr val="FFFF00"/>
                </a:solidFill>
                <a:latin typeface="Gill Sans" charset="0"/>
                <a:cs typeface="Gill Sans" charset="0"/>
              </a:endParaRPr>
            </a:p>
          </p:txBody>
        </p:sp>
        <p:grpSp>
          <p:nvGrpSpPr>
            <p:cNvPr id="41010" name="Group 330"/>
            <p:cNvGrpSpPr>
              <a:grpSpLocks/>
            </p:cNvGrpSpPr>
            <p:nvPr/>
          </p:nvGrpSpPr>
          <p:grpSpPr bwMode="auto">
            <a:xfrm>
              <a:off x="4502" y="1510"/>
              <a:ext cx="154" cy="60"/>
              <a:chOff x="428" y="2146"/>
              <a:chExt cx="268" cy="244"/>
            </a:xfrm>
          </p:grpSpPr>
          <p:sp>
            <p:nvSpPr>
              <p:cNvPr id="41150" name="Rectangle 331"/>
              <p:cNvSpPr>
                <a:spLocks noChangeArrowheads="1"/>
              </p:cNvSpPr>
              <p:nvPr/>
            </p:nvSpPr>
            <p:spPr bwMode="auto">
              <a:xfrm>
                <a:off x="632" y="2152"/>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51" name="Rectangle 332"/>
              <p:cNvSpPr>
                <a:spLocks noChangeArrowheads="1"/>
              </p:cNvSpPr>
              <p:nvPr/>
            </p:nvSpPr>
            <p:spPr bwMode="auto">
              <a:xfrm>
                <a:off x="536" y="214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52" name="Rectangle 333"/>
              <p:cNvSpPr>
                <a:spLocks noChangeArrowheads="1"/>
              </p:cNvSpPr>
              <p:nvPr/>
            </p:nvSpPr>
            <p:spPr bwMode="auto">
              <a:xfrm>
                <a:off x="626" y="223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53" name="Rectangle 334"/>
              <p:cNvSpPr>
                <a:spLocks noChangeArrowheads="1"/>
              </p:cNvSpPr>
              <p:nvPr/>
            </p:nvSpPr>
            <p:spPr bwMode="auto">
              <a:xfrm>
                <a:off x="530" y="2230"/>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54" name="Rectangle 335"/>
              <p:cNvSpPr>
                <a:spLocks noChangeArrowheads="1"/>
              </p:cNvSpPr>
              <p:nvPr/>
            </p:nvSpPr>
            <p:spPr bwMode="auto">
              <a:xfrm>
                <a:off x="434" y="216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55" name="Rectangle 336"/>
              <p:cNvSpPr>
                <a:spLocks noChangeArrowheads="1"/>
              </p:cNvSpPr>
              <p:nvPr/>
            </p:nvSpPr>
            <p:spPr bwMode="auto">
              <a:xfrm>
                <a:off x="428" y="2248"/>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56" name="Rectangle 337"/>
              <p:cNvSpPr>
                <a:spLocks noChangeArrowheads="1"/>
              </p:cNvSpPr>
              <p:nvPr/>
            </p:nvSpPr>
            <p:spPr bwMode="auto">
              <a:xfrm>
                <a:off x="626" y="231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57" name="Rectangle 338"/>
              <p:cNvSpPr>
                <a:spLocks noChangeArrowheads="1"/>
              </p:cNvSpPr>
              <p:nvPr/>
            </p:nvSpPr>
            <p:spPr bwMode="auto">
              <a:xfrm>
                <a:off x="530" y="2308"/>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58" name="Rectangle 339"/>
              <p:cNvSpPr>
                <a:spLocks noChangeArrowheads="1"/>
              </p:cNvSpPr>
              <p:nvPr/>
            </p:nvSpPr>
            <p:spPr bwMode="auto">
              <a:xfrm>
                <a:off x="428" y="232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nvGrpSpPr>
            <p:cNvPr id="41011" name="Group 340"/>
            <p:cNvGrpSpPr>
              <a:grpSpLocks/>
            </p:cNvGrpSpPr>
            <p:nvPr/>
          </p:nvGrpSpPr>
          <p:grpSpPr bwMode="auto">
            <a:xfrm>
              <a:off x="4689" y="1540"/>
              <a:ext cx="155" cy="61"/>
              <a:chOff x="428" y="2146"/>
              <a:chExt cx="268" cy="244"/>
            </a:xfrm>
          </p:grpSpPr>
          <p:sp>
            <p:nvSpPr>
              <p:cNvPr id="41141" name="Rectangle 341"/>
              <p:cNvSpPr>
                <a:spLocks noChangeArrowheads="1"/>
              </p:cNvSpPr>
              <p:nvPr/>
            </p:nvSpPr>
            <p:spPr bwMode="auto">
              <a:xfrm>
                <a:off x="632" y="2152"/>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42" name="Rectangle 342"/>
              <p:cNvSpPr>
                <a:spLocks noChangeArrowheads="1"/>
              </p:cNvSpPr>
              <p:nvPr/>
            </p:nvSpPr>
            <p:spPr bwMode="auto">
              <a:xfrm>
                <a:off x="536" y="214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43" name="Rectangle 343"/>
              <p:cNvSpPr>
                <a:spLocks noChangeArrowheads="1"/>
              </p:cNvSpPr>
              <p:nvPr/>
            </p:nvSpPr>
            <p:spPr bwMode="auto">
              <a:xfrm>
                <a:off x="626" y="223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44" name="Rectangle 344"/>
              <p:cNvSpPr>
                <a:spLocks noChangeArrowheads="1"/>
              </p:cNvSpPr>
              <p:nvPr/>
            </p:nvSpPr>
            <p:spPr bwMode="auto">
              <a:xfrm>
                <a:off x="530" y="2230"/>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45" name="Rectangle 345"/>
              <p:cNvSpPr>
                <a:spLocks noChangeArrowheads="1"/>
              </p:cNvSpPr>
              <p:nvPr/>
            </p:nvSpPr>
            <p:spPr bwMode="auto">
              <a:xfrm>
                <a:off x="434" y="216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46" name="Rectangle 346"/>
              <p:cNvSpPr>
                <a:spLocks noChangeArrowheads="1"/>
              </p:cNvSpPr>
              <p:nvPr/>
            </p:nvSpPr>
            <p:spPr bwMode="auto">
              <a:xfrm>
                <a:off x="428" y="2248"/>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47" name="Rectangle 347"/>
              <p:cNvSpPr>
                <a:spLocks noChangeArrowheads="1"/>
              </p:cNvSpPr>
              <p:nvPr/>
            </p:nvSpPr>
            <p:spPr bwMode="auto">
              <a:xfrm>
                <a:off x="626" y="231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48" name="Rectangle 348"/>
              <p:cNvSpPr>
                <a:spLocks noChangeArrowheads="1"/>
              </p:cNvSpPr>
              <p:nvPr/>
            </p:nvSpPr>
            <p:spPr bwMode="auto">
              <a:xfrm>
                <a:off x="530" y="2308"/>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49" name="Rectangle 349"/>
              <p:cNvSpPr>
                <a:spLocks noChangeArrowheads="1"/>
              </p:cNvSpPr>
              <p:nvPr/>
            </p:nvSpPr>
            <p:spPr bwMode="auto">
              <a:xfrm>
                <a:off x="428" y="232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sp>
          <p:nvSpPr>
            <p:cNvPr id="41012" name="Rectangle 350"/>
            <p:cNvSpPr>
              <a:spLocks noChangeArrowheads="1"/>
            </p:cNvSpPr>
            <p:nvPr/>
          </p:nvSpPr>
          <p:spPr bwMode="auto">
            <a:xfrm>
              <a:off x="4625" y="1455"/>
              <a:ext cx="93" cy="38"/>
            </a:xfrm>
            <a:prstGeom prst="rect">
              <a:avLst/>
            </a:prstGeom>
            <a:solidFill>
              <a:srgbClr val="FFFF00"/>
            </a:solidFill>
            <a:ln w="12700">
              <a:solidFill>
                <a:schemeClr val="tx1"/>
              </a:solidFill>
              <a:miter lim="800000"/>
              <a:headEnd type="none" w="sm" len="sm"/>
              <a:tailEnd type="none" w="sm" len="sm"/>
            </a:ln>
          </p:spPr>
          <p:txBody>
            <a:bodyPr wrap="none" anchor="ctr"/>
            <a:lstStyle/>
            <a:p>
              <a:pPr algn="ctr"/>
              <a:endParaRPr lang="en-US" sz="1200" b="0">
                <a:solidFill>
                  <a:srgbClr val="FFFF00"/>
                </a:solidFill>
                <a:latin typeface="Gill Sans" charset="0"/>
                <a:cs typeface="Gill Sans" charset="0"/>
              </a:endParaRPr>
            </a:p>
          </p:txBody>
        </p:sp>
        <p:sp>
          <p:nvSpPr>
            <p:cNvPr id="41013" name="Rectangle 351"/>
            <p:cNvSpPr>
              <a:spLocks noChangeArrowheads="1"/>
            </p:cNvSpPr>
            <p:nvPr/>
          </p:nvSpPr>
          <p:spPr bwMode="auto">
            <a:xfrm>
              <a:off x="5229" y="1187"/>
              <a:ext cx="93" cy="39"/>
            </a:xfrm>
            <a:prstGeom prst="rect">
              <a:avLst/>
            </a:prstGeom>
            <a:solidFill>
              <a:srgbClr val="FFFF00"/>
            </a:solidFill>
            <a:ln w="12700">
              <a:solidFill>
                <a:schemeClr val="tx1"/>
              </a:solidFill>
              <a:miter lim="800000"/>
              <a:headEnd type="none" w="sm" len="sm"/>
              <a:tailEnd type="none" w="sm" len="sm"/>
            </a:ln>
          </p:spPr>
          <p:txBody>
            <a:bodyPr wrap="none" anchor="ctr"/>
            <a:lstStyle/>
            <a:p>
              <a:pPr algn="ctr"/>
              <a:endParaRPr lang="en-US" sz="1200" b="0">
                <a:solidFill>
                  <a:srgbClr val="FFFF00"/>
                </a:solidFill>
                <a:latin typeface="Gill Sans" charset="0"/>
                <a:cs typeface="Gill Sans" charset="0"/>
              </a:endParaRPr>
            </a:p>
          </p:txBody>
        </p:sp>
        <p:grpSp>
          <p:nvGrpSpPr>
            <p:cNvPr id="41014" name="Group 352"/>
            <p:cNvGrpSpPr>
              <a:grpSpLocks/>
            </p:cNvGrpSpPr>
            <p:nvPr/>
          </p:nvGrpSpPr>
          <p:grpSpPr bwMode="auto">
            <a:xfrm>
              <a:off x="5250" y="1298"/>
              <a:ext cx="155" cy="60"/>
              <a:chOff x="428" y="2146"/>
              <a:chExt cx="268" cy="244"/>
            </a:xfrm>
          </p:grpSpPr>
          <p:sp>
            <p:nvSpPr>
              <p:cNvPr id="41132" name="Rectangle 353"/>
              <p:cNvSpPr>
                <a:spLocks noChangeArrowheads="1"/>
              </p:cNvSpPr>
              <p:nvPr/>
            </p:nvSpPr>
            <p:spPr bwMode="auto">
              <a:xfrm>
                <a:off x="632" y="2152"/>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33" name="Rectangle 354"/>
              <p:cNvSpPr>
                <a:spLocks noChangeArrowheads="1"/>
              </p:cNvSpPr>
              <p:nvPr/>
            </p:nvSpPr>
            <p:spPr bwMode="auto">
              <a:xfrm>
                <a:off x="536" y="214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34" name="Rectangle 355"/>
              <p:cNvSpPr>
                <a:spLocks noChangeArrowheads="1"/>
              </p:cNvSpPr>
              <p:nvPr/>
            </p:nvSpPr>
            <p:spPr bwMode="auto">
              <a:xfrm>
                <a:off x="626" y="223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35" name="Rectangle 356"/>
              <p:cNvSpPr>
                <a:spLocks noChangeArrowheads="1"/>
              </p:cNvSpPr>
              <p:nvPr/>
            </p:nvSpPr>
            <p:spPr bwMode="auto">
              <a:xfrm>
                <a:off x="530" y="2230"/>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36" name="Rectangle 357"/>
              <p:cNvSpPr>
                <a:spLocks noChangeArrowheads="1"/>
              </p:cNvSpPr>
              <p:nvPr/>
            </p:nvSpPr>
            <p:spPr bwMode="auto">
              <a:xfrm>
                <a:off x="434" y="216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37" name="Rectangle 358"/>
              <p:cNvSpPr>
                <a:spLocks noChangeArrowheads="1"/>
              </p:cNvSpPr>
              <p:nvPr/>
            </p:nvSpPr>
            <p:spPr bwMode="auto">
              <a:xfrm>
                <a:off x="428" y="2248"/>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38" name="Rectangle 359"/>
              <p:cNvSpPr>
                <a:spLocks noChangeArrowheads="1"/>
              </p:cNvSpPr>
              <p:nvPr/>
            </p:nvSpPr>
            <p:spPr bwMode="auto">
              <a:xfrm>
                <a:off x="626" y="231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39" name="Rectangle 360"/>
              <p:cNvSpPr>
                <a:spLocks noChangeArrowheads="1"/>
              </p:cNvSpPr>
              <p:nvPr/>
            </p:nvSpPr>
            <p:spPr bwMode="auto">
              <a:xfrm>
                <a:off x="530" y="2308"/>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40" name="Rectangle 361"/>
              <p:cNvSpPr>
                <a:spLocks noChangeArrowheads="1"/>
              </p:cNvSpPr>
              <p:nvPr/>
            </p:nvSpPr>
            <p:spPr bwMode="auto">
              <a:xfrm>
                <a:off x="428" y="232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nvGrpSpPr>
            <p:cNvPr id="41015" name="Group 362"/>
            <p:cNvGrpSpPr>
              <a:grpSpLocks/>
            </p:cNvGrpSpPr>
            <p:nvPr/>
          </p:nvGrpSpPr>
          <p:grpSpPr bwMode="auto">
            <a:xfrm>
              <a:off x="5230" y="1408"/>
              <a:ext cx="154" cy="61"/>
              <a:chOff x="428" y="2146"/>
              <a:chExt cx="268" cy="244"/>
            </a:xfrm>
          </p:grpSpPr>
          <p:sp>
            <p:nvSpPr>
              <p:cNvPr id="41123" name="Rectangle 363"/>
              <p:cNvSpPr>
                <a:spLocks noChangeArrowheads="1"/>
              </p:cNvSpPr>
              <p:nvPr/>
            </p:nvSpPr>
            <p:spPr bwMode="auto">
              <a:xfrm>
                <a:off x="632" y="2152"/>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24" name="Rectangle 364"/>
              <p:cNvSpPr>
                <a:spLocks noChangeArrowheads="1"/>
              </p:cNvSpPr>
              <p:nvPr/>
            </p:nvSpPr>
            <p:spPr bwMode="auto">
              <a:xfrm>
                <a:off x="536" y="214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25" name="Rectangle 365"/>
              <p:cNvSpPr>
                <a:spLocks noChangeArrowheads="1"/>
              </p:cNvSpPr>
              <p:nvPr/>
            </p:nvSpPr>
            <p:spPr bwMode="auto">
              <a:xfrm>
                <a:off x="626" y="223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26" name="Rectangle 366"/>
              <p:cNvSpPr>
                <a:spLocks noChangeArrowheads="1"/>
              </p:cNvSpPr>
              <p:nvPr/>
            </p:nvSpPr>
            <p:spPr bwMode="auto">
              <a:xfrm>
                <a:off x="530" y="2230"/>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27" name="Rectangle 367"/>
              <p:cNvSpPr>
                <a:spLocks noChangeArrowheads="1"/>
              </p:cNvSpPr>
              <p:nvPr/>
            </p:nvSpPr>
            <p:spPr bwMode="auto">
              <a:xfrm>
                <a:off x="434" y="216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28" name="Rectangle 368"/>
              <p:cNvSpPr>
                <a:spLocks noChangeArrowheads="1"/>
              </p:cNvSpPr>
              <p:nvPr/>
            </p:nvSpPr>
            <p:spPr bwMode="auto">
              <a:xfrm>
                <a:off x="428" y="2248"/>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29" name="Rectangle 369"/>
              <p:cNvSpPr>
                <a:spLocks noChangeArrowheads="1"/>
              </p:cNvSpPr>
              <p:nvPr/>
            </p:nvSpPr>
            <p:spPr bwMode="auto">
              <a:xfrm>
                <a:off x="626" y="231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30" name="Rectangle 370"/>
              <p:cNvSpPr>
                <a:spLocks noChangeArrowheads="1"/>
              </p:cNvSpPr>
              <p:nvPr/>
            </p:nvSpPr>
            <p:spPr bwMode="auto">
              <a:xfrm>
                <a:off x="530" y="2308"/>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31" name="Rectangle 371"/>
              <p:cNvSpPr>
                <a:spLocks noChangeArrowheads="1"/>
              </p:cNvSpPr>
              <p:nvPr/>
            </p:nvSpPr>
            <p:spPr bwMode="auto">
              <a:xfrm>
                <a:off x="428" y="232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sp>
          <p:nvSpPr>
            <p:cNvPr id="41016" name="Rectangle 372"/>
            <p:cNvSpPr>
              <a:spLocks noChangeArrowheads="1"/>
            </p:cNvSpPr>
            <p:nvPr/>
          </p:nvSpPr>
          <p:spPr bwMode="auto">
            <a:xfrm>
              <a:off x="5115" y="1344"/>
              <a:ext cx="93" cy="40"/>
            </a:xfrm>
            <a:prstGeom prst="rect">
              <a:avLst/>
            </a:prstGeom>
            <a:solidFill>
              <a:srgbClr val="FFFF00"/>
            </a:solidFill>
            <a:ln w="12700">
              <a:solidFill>
                <a:schemeClr val="tx1"/>
              </a:solidFill>
              <a:miter lim="800000"/>
              <a:headEnd type="none" w="sm" len="sm"/>
              <a:tailEnd type="none" w="sm" len="sm"/>
            </a:ln>
          </p:spPr>
          <p:txBody>
            <a:bodyPr wrap="none" anchor="ctr"/>
            <a:lstStyle/>
            <a:p>
              <a:pPr algn="ctr"/>
              <a:endParaRPr lang="en-US" sz="1200" b="0">
                <a:solidFill>
                  <a:srgbClr val="FFFF00"/>
                </a:solidFill>
                <a:latin typeface="Gill Sans" charset="0"/>
                <a:cs typeface="Gill Sans" charset="0"/>
              </a:endParaRPr>
            </a:p>
          </p:txBody>
        </p:sp>
        <p:sp>
          <p:nvSpPr>
            <p:cNvPr id="41017" name="Rectangle 373"/>
            <p:cNvSpPr>
              <a:spLocks noChangeArrowheads="1"/>
            </p:cNvSpPr>
            <p:nvPr/>
          </p:nvSpPr>
          <p:spPr bwMode="auto">
            <a:xfrm>
              <a:off x="5094" y="1401"/>
              <a:ext cx="94" cy="39"/>
            </a:xfrm>
            <a:prstGeom prst="rect">
              <a:avLst/>
            </a:prstGeom>
            <a:solidFill>
              <a:srgbClr val="FFFF00"/>
            </a:solidFill>
            <a:ln w="12700">
              <a:solidFill>
                <a:schemeClr val="tx1"/>
              </a:solidFill>
              <a:miter lim="800000"/>
              <a:headEnd type="none" w="sm" len="sm"/>
              <a:tailEnd type="none" w="sm" len="sm"/>
            </a:ln>
          </p:spPr>
          <p:txBody>
            <a:bodyPr wrap="none" anchor="ctr"/>
            <a:lstStyle/>
            <a:p>
              <a:pPr algn="ctr"/>
              <a:endParaRPr lang="en-US" sz="1200" b="0">
                <a:solidFill>
                  <a:srgbClr val="FFFF00"/>
                </a:solidFill>
                <a:latin typeface="Gill Sans" charset="0"/>
                <a:cs typeface="Gill Sans" charset="0"/>
              </a:endParaRPr>
            </a:p>
          </p:txBody>
        </p:sp>
        <p:grpSp>
          <p:nvGrpSpPr>
            <p:cNvPr id="41018" name="Group 374"/>
            <p:cNvGrpSpPr>
              <a:grpSpLocks/>
            </p:cNvGrpSpPr>
            <p:nvPr/>
          </p:nvGrpSpPr>
          <p:grpSpPr bwMode="auto">
            <a:xfrm>
              <a:off x="5171" y="1035"/>
              <a:ext cx="155" cy="60"/>
              <a:chOff x="428" y="2146"/>
              <a:chExt cx="268" cy="244"/>
            </a:xfrm>
          </p:grpSpPr>
          <p:sp>
            <p:nvSpPr>
              <p:cNvPr id="41114" name="Rectangle 375"/>
              <p:cNvSpPr>
                <a:spLocks noChangeArrowheads="1"/>
              </p:cNvSpPr>
              <p:nvPr/>
            </p:nvSpPr>
            <p:spPr bwMode="auto">
              <a:xfrm>
                <a:off x="632" y="2152"/>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15" name="Rectangle 376"/>
              <p:cNvSpPr>
                <a:spLocks noChangeArrowheads="1"/>
              </p:cNvSpPr>
              <p:nvPr/>
            </p:nvSpPr>
            <p:spPr bwMode="auto">
              <a:xfrm>
                <a:off x="536" y="214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16" name="Rectangle 377"/>
              <p:cNvSpPr>
                <a:spLocks noChangeArrowheads="1"/>
              </p:cNvSpPr>
              <p:nvPr/>
            </p:nvSpPr>
            <p:spPr bwMode="auto">
              <a:xfrm>
                <a:off x="626" y="223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17" name="Rectangle 378"/>
              <p:cNvSpPr>
                <a:spLocks noChangeArrowheads="1"/>
              </p:cNvSpPr>
              <p:nvPr/>
            </p:nvSpPr>
            <p:spPr bwMode="auto">
              <a:xfrm>
                <a:off x="530" y="2230"/>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18" name="Rectangle 379"/>
              <p:cNvSpPr>
                <a:spLocks noChangeArrowheads="1"/>
              </p:cNvSpPr>
              <p:nvPr/>
            </p:nvSpPr>
            <p:spPr bwMode="auto">
              <a:xfrm>
                <a:off x="434" y="216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19" name="Rectangle 380"/>
              <p:cNvSpPr>
                <a:spLocks noChangeArrowheads="1"/>
              </p:cNvSpPr>
              <p:nvPr/>
            </p:nvSpPr>
            <p:spPr bwMode="auto">
              <a:xfrm>
                <a:off x="428" y="2248"/>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20" name="Rectangle 381"/>
              <p:cNvSpPr>
                <a:spLocks noChangeArrowheads="1"/>
              </p:cNvSpPr>
              <p:nvPr/>
            </p:nvSpPr>
            <p:spPr bwMode="auto">
              <a:xfrm>
                <a:off x="626" y="231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21" name="Rectangle 382"/>
              <p:cNvSpPr>
                <a:spLocks noChangeArrowheads="1"/>
              </p:cNvSpPr>
              <p:nvPr/>
            </p:nvSpPr>
            <p:spPr bwMode="auto">
              <a:xfrm>
                <a:off x="530" y="2308"/>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22" name="Rectangle 383"/>
              <p:cNvSpPr>
                <a:spLocks noChangeArrowheads="1"/>
              </p:cNvSpPr>
              <p:nvPr/>
            </p:nvSpPr>
            <p:spPr bwMode="auto">
              <a:xfrm>
                <a:off x="428" y="232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sp>
          <p:nvSpPr>
            <p:cNvPr id="41019" name="Rectangle 384"/>
            <p:cNvSpPr>
              <a:spLocks noChangeArrowheads="1"/>
            </p:cNvSpPr>
            <p:nvPr/>
          </p:nvSpPr>
          <p:spPr bwMode="auto">
            <a:xfrm>
              <a:off x="5025" y="1071"/>
              <a:ext cx="93" cy="38"/>
            </a:xfrm>
            <a:prstGeom prst="rect">
              <a:avLst/>
            </a:prstGeom>
            <a:solidFill>
              <a:srgbClr val="FFFF00"/>
            </a:solidFill>
            <a:ln w="12700">
              <a:solidFill>
                <a:schemeClr val="tx1"/>
              </a:solidFill>
              <a:miter lim="800000"/>
              <a:headEnd type="none" w="sm" len="sm"/>
              <a:tailEnd type="none" w="sm" len="sm"/>
            </a:ln>
          </p:spPr>
          <p:txBody>
            <a:bodyPr wrap="none" anchor="ctr"/>
            <a:lstStyle/>
            <a:p>
              <a:pPr algn="ctr"/>
              <a:endParaRPr lang="en-US" sz="1200" b="0">
                <a:solidFill>
                  <a:srgbClr val="FFFF00"/>
                </a:solidFill>
                <a:latin typeface="Gill Sans" charset="0"/>
                <a:cs typeface="Gill Sans" charset="0"/>
              </a:endParaRPr>
            </a:p>
          </p:txBody>
        </p:sp>
        <p:grpSp>
          <p:nvGrpSpPr>
            <p:cNvPr id="41020" name="Group 385"/>
            <p:cNvGrpSpPr>
              <a:grpSpLocks/>
            </p:cNvGrpSpPr>
            <p:nvPr/>
          </p:nvGrpSpPr>
          <p:grpSpPr bwMode="auto">
            <a:xfrm>
              <a:off x="5030" y="933"/>
              <a:ext cx="154" cy="61"/>
              <a:chOff x="428" y="2146"/>
              <a:chExt cx="268" cy="244"/>
            </a:xfrm>
          </p:grpSpPr>
          <p:sp>
            <p:nvSpPr>
              <p:cNvPr id="41105" name="Rectangle 386"/>
              <p:cNvSpPr>
                <a:spLocks noChangeArrowheads="1"/>
              </p:cNvSpPr>
              <p:nvPr/>
            </p:nvSpPr>
            <p:spPr bwMode="auto">
              <a:xfrm>
                <a:off x="632" y="2152"/>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06" name="Rectangle 387"/>
              <p:cNvSpPr>
                <a:spLocks noChangeArrowheads="1"/>
              </p:cNvSpPr>
              <p:nvPr/>
            </p:nvSpPr>
            <p:spPr bwMode="auto">
              <a:xfrm>
                <a:off x="536" y="214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07" name="Rectangle 388"/>
              <p:cNvSpPr>
                <a:spLocks noChangeArrowheads="1"/>
              </p:cNvSpPr>
              <p:nvPr/>
            </p:nvSpPr>
            <p:spPr bwMode="auto">
              <a:xfrm>
                <a:off x="626" y="223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08" name="Rectangle 389"/>
              <p:cNvSpPr>
                <a:spLocks noChangeArrowheads="1"/>
              </p:cNvSpPr>
              <p:nvPr/>
            </p:nvSpPr>
            <p:spPr bwMode="auto">
              <a:xfrm>
                <a:off x="530" y="2230"/>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09" name="Rectangle 390"/>
              <p:cNvSpPr>
                <a:spLocks noChangeArrowheads="1"/>
              </p:cNvSpPr>
              <p:nvPr/>
            </p:nvSpPr>
            <p:spPr bwMode="auto">
              <a:xfrm>
                <a:off x="434" y="216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10" name="Rectangle 391"/>
              <p:cNvSpPr>
                <a:spLocks noChangeArrowheads="1"/>
              </p:cNvSpPr>
              <p:nvPr/>
            </p:nvSpPr>
            <p:spPr bwMode="auto">
              <a:xfrm>
                <a:off x="428" y="2248"/>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11" name="Rectangle 392"/>
              <p:cNvSpPr>
                <a:spLocks noChangeArrowheads="1"/>
              </p:cNvSpPr>
              <p:nvPr/>
            </p:nvSpPr>
            <p:spPr bwMode="auto">
              <a:xfrm>
                <a:off x="626" y="231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12" name="Rectangle 393"/>
              <p:cNvSpPr>
                <a:spLocks noChangeArrowheads="1"/>
              </p:cNvSpPr>
              <p:nvPr/>
            </p:nvSpPr>
            <p:spPr bwMode="auto">
              <a:xfrm>
                <a:off x="530" y="2308"/>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13" name="Rectangle 394"/>
              <p:cNvSpPr>
                <a:spLocks noChangeArrowheads="1"/>
              </p:cNvSpPr>
              <p:nvPr/>
            </p:nvSpPr>
            <p:spPr bwMode="auto">
              <a:xfrm>
                <a:off x="428" y="232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nvGrpSpPr>
            <p:cNvPr id="41021" name="Group 395"/>
            <p:cNvGrpSpPr>
              <a:grpSpLocks/>
            </p:cNvGrpSpPr>
            <p:nvPr/>
          </p:nvGrpSpPr>
          <p:grpSpPr bwMode="auto">
            <a:xfrm>
              <a:off x="3328" y="911"/>
              <a:ext cx="155" cy="61"/>
              <a:chOff x="428" y="2146"/>
              <a:chExt cx="268" cy="244"/>
            </a:xfrm>
          </p:grpSpPr>
          <p:sp>
            <p:nvSpPr>
              <p:cNvPr id="41096" name="Rectangle 396"/>
              <p:cNvSpPr>
                <a:spLocks noChangeArrowheads="1"/>
              </p:cNvSpPr>
              <p:nvPr/>
            </p:nvSpPr>
            <p:spPr bwMode="auto">
              <a:xfrm>
                <a:off x="632" y="2152"/>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097" name="Rectangle 397"/>
              <p:cNvSpPr>
                <a:spLocks noChangeArrowheads="1"/>
              </p:cNvSpPr>
              <p:nvPr/>
            </p:nvSpPr>
            <p:spPr bwMode="auto">
              <a:xfrm>
                <a:off x="536" y="214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098" name="Rectangle 398"/>
              <p:cNvSpPr>
                <a:spLocks noChangeArrowheads="1"/>
              </p:cNvSpPr>
              <p:nvPr/>
            </p:nvSpPr>
            <p:spPr bwMode="auto">
              <a:xfrm>
                <a:off x="626" y="223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099" name="Rectangle 399"/>
              <p:cNvSpPr>
                <a:spLocks noChangeArrowheads="1"/>
              </p:cNvSpPr>
              <p:nvPr/>
            </p:nvSpPr>
            <p:spPr bwMode="auto">
              <a:xfrm>
                <a:off x="530" y="2230"/>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00" name="Rectangle 400"/>
              <p:cNvSpPr>
                <a:spLocks noChangeArrowheads="1"/>
              </p:cNvSpPr>
              <p:nvPr/>
            </p:nvSpPr>
            <p:spPr bwMode="auto">
              <a:xfrm>
                <a:off x="434" y="216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01" name="Rectangle 401"/>
              <p:cNvSpPr>
                <a:spLocks noChangeArrowheads="1"/>
              </p:cNvSpPr>
              <p:nvPr/>
            </p:nvSpPr>
            <p:spPr bwMode="auto">
              <a:xfrm>
                <a:off x="428" y="2248"/>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02" name="Rectangle 402"/>
              <p:cNvSpPr>
                <a:spLocks noChangeArrowheads="1"/>
              </p:cNvSpPr>
              <p:nvPr/>
            </p:nvSpPr>
            <p:spPr bwMode="auto">
              <a:xfrm>
                <a:off x="626" y="231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03" name="Rectangle 403"/>
              <p:cNvSpPr>
                <a:spLocks noChangeArrowheads="1"/>
              </p:cNvSpPr>
              <p:nvPr/>
            </p:nvSpPr>
            <p:spPr bwMode="auto">
              <a:xfrm>
                <a:off x="530" y="2308"/>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104" name="Rectangle 404"/>
              <p:cNvSpPr>
                <a:spLocks noChangeArrowheads="1"/>
              </p:cNvSpPr>
              <p:nvPr/>
            </p:nvSpPr>
            <p:spPr bwMode="auto">
              <a:xfrm>
                <a:off x="428" y="232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nvGrpSpPr>
            <p:cNvPr id="41022" name="Group 405"/>
            <p:cNvGrpSpPr>
              <a:grpSpLocks/>
            </p:cNvGrpSpPr>
            <p:nvPr/>
          </p:nvGrpSpPr>
          <p:grpSpPr bwMode="auto">
            <a:xfrm>
              <a:off x="3087" y="996"/>
              <a:ext cx="154" cy="60"/>
              <a:chOff x="428" y="2146"/>
              <a:chExt cx="268" cy="244"/>
            </a:xfrm>
          </p:grpSpPr>
          <p:sp>
            <p:nvSpPr>
              <p:cNvPr id="41087" name="Rectangle 406"/>
              <p:cNvSpPr>
                <a:spLocks noChangeArrowheads="1"/>
              </p:cNvSpPr>
              <p:nvPr/>
            </p:nvSpPr>
            <p:spPr bwMode="auto">
              <a:xfrm>
                <a:off x="632" y="2152"/>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088" name="Rectangle 407"/>
              <p:cNvSpPr>
                <a:spLocks noChangeArrowheads="1"/>
              </p:cNvSpPr>
              <p:nvPr/>
            </p:nvSpPr>
            <p:spPr bwMode="auto">
              <a:xfrm>
                <a:off x="536" y="214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089" name="Rectangle 408"/>
              <p:cNvSpPr>
                <a:spLocks noChangeArrowheads="1"/>
              </p:cNvSpPr>
              <p:nvPr/>
            </p:nvSpPr>
            <p:spPr bwMode="auto">
              <a:xfrm>
                <a:off x="626" y="223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090" name="Rectangle 409"/>
              <p:cNvSpPr>
                <a:spLocks noChangeArrowheads="1"/>
              </p:cNvSpPr>
              <p:nvPr/>
            </p:nvSpPr>
            <p:spPr bwMode="auto">
              <a:xfrm>
                <a:off x="530" y="2230"/>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091" name="Rectangle 410"/>
              <p:cNvSpPr>
                <a:spLocks noChangeArrowheads="1"/>
              </p:cNvSpPr>
              <p:nvPr/>
            </p:nvSpPr>
            <p:spPr bwMode="auto">
              <a:xfrm>
                <a:off x="434" y="216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092" name="Rectangle 411"/>
              <p:cNvSpPr>
                <a:spLocks noChangeArrowheads="1"/>
              </p:cNvSpPr>
              <p:nvPr/>
            </p:nvSpPr>
            <p:spPr bwMode="auto">
              <a:xfrm>
                <a:off x="428" y="2248"/>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093" name="Rectangle 412"/>
              <p:cNvSpPr>
                <a:spLocks noChangeArrowheads="1"/>
              </p:cNvSpPr>
              <p:nvPr/>
            </p:nvSpPr>
            <p:spPr bwMode="auto">
              <a:xfrm>
                <a:off x="626" y="231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094" name="Rectangle 413"/>
              <p:cNvSpPr>
                <a:spLocks noChangeArrowheads="1"/>
              </p:cNvSpPr>
              <p:nvPr/>
            </p:nvSpPr>
            <p:spPr bwMode="auto">
              <a:xfrm>
                <a:off x="530" y="2308"/>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095" name="Rectangle 414"/>
              <p:cNvSpPr>
                <a:spLocks noChangeArrowheads="1"/>
              </p:cNvSpPr>
              <p:nvPr/>
            </p:nvSpPr>
            <p:spPr bwMode="auto">
              <a:xfrm>
                <a:off x="428" y="232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nvGrpSpPr>
            <p:cNvPr id="41023" name="Group 415"/>
            <p:cNvGrpSpPr>
              <a:grpSpLocks/>
            </p:cNvGrpSpPr>
            <p:nvPr/>
          </p:nvGrpSpPr>
          <p:grpSpPr bwMode="auto">
            <a:xfrm>
              <a:off x="3136" y="1499"/>
              <a:ext cx="153" cy="61"/>
              <a:chOff x="428" y="2146"/>
              <a:chExt cx="268" cy="244"/>
            </a:xfrm>
          </p:grpSpPr>
          <p:sp>
            <p:nvSpPr>
              <p:cNvPr id="41078" name="Rectangle 416"/>
              <p:cNvSpPr>
                <a:spLocks noChangeArrowheads="1"/>
              </p:cNvSpPr>
              <p:nvPr/>
            </p:nvSpPr>
            <p:spPr bwMode="auto">
              <a:xfrm>
                <a:off x="632" y="2152"/>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079" name="Rectangle 417"/>
              <p:cNvSpPr>
                <a:spLocks noChangeArrowheads="1"/>
              </p:cNvSpPr>
              <p:nvPr/>
            </p:nvSpPr>
            <p:spPr bwMode="auto">
              <a:xfrm>
                <a:off x="536" y="214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080" name="Rectangle 418"/>
              <p:cNvSpPr>
                <a:spLocks noChangeArrowheads="1"/>
              </p:cNvSpPr>
              <p:nvPr/>
            </p:nvSpPr>
            <p:spPr bwMode="auto">
              <a:xfrm>
                <a:off x="626" y="223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081" name="Rectangle 419"/>
              <p:cNvSpPr>
                <a:spLocks noChangeArrowheads="1"/>
              </p:cNvSpPr>
              <p:nvPr/>
            </p:nvSpPr>
            <p:spPr bwMode="auto">
              <a:xfrm>
                <a:off x="530" y="2230"/>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082" name="Rectangle 420"/>
              <p:cNvSpPr>
                <a:spLocks noChangeArrowheads="1"/>
              </p:cNvSpPr>
              <p:nvPr/>
            </p:nvSpPr>
            <p:spPr bwMode="auto">
              <a:xfrm>
                <a:off x="434" y="216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083" name="Rectangle 421"/>
              <p:cNvSpPr>
                <a:spLocks noChangeArrowheads="1"/>
              </p:cNvSpPr>
              <p:nvPr/>
            </p:nvSpPr>
            <p:spPr bwMode="auto">
              <a:xfrm>
                <a:off x="428" y="2248"/>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084" name="Rectangle 422"/>
              <p:cNvSpPr>
                <a:spLocks noChangeArrowheads="1"/>
              </p:cNvSpPr>
              <p:nvPr/>
            </p:nvSpPr>
            <p:spPr bwMode="auto">
              <a:xfrm>
                <a:off x="626" y="231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085" name="Rectangle 423"/>
              <p:cNvSpPr>
                <a:spLocks noChangeArrowheads="1"/>
              </p:cNvSpPr>
              <p:nvPr/>
            </p:nvSpPr>
            <p:spPr bwMode="auto">
              <a:xfrm>
                <a:off x="530" y="2308"/>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086" name="Rectangle 424"/>
              <p:cNvSpPr>
                <a:spLocks noChangeArrowheads="1"/>
              </p:cNvSpPr>
              <p:nvPr/>
            </p:nvSpPr>
            <p:spPr bwMode="auto">
              <a:xfrm>
                <a:off x="428" y="232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sp>
          <p:nvSpPr>
            <p:cNvPr id="41024" name="Rectangle 425"/>
            <p:cNvSpPr>
              <a:spLocks noChangeArrowheads="1"/>
            </p:cNvSpPr>
            <p:nvPr/>
          </p:nvSpPr>
          <p:spPr bwMode="auto">
            <a:xfrm>
              <a:off x="4915" y="995"/>
              <a:ext cx="93" cy="39"/>
            </a:xfrm>
            <a:prstGeom prst="rect">
              <a:avLst/>
            </a:prstGeom>
            <a:solidFill>
              <a:srgbClr val="FFFF00"/>
            </a:solidFill>
            <a:ln w="12700">
              <a:solidFill>
                <a:schemeClr val="tx1"/>
              </a:solidFill>
              <a:miter lim="800000"/>
              <a:headEnd type="none" w="sm" len="sm"/>
              <a:tailEnd type="none" w="sm" len="sm"/>
            </a:ln>
          </p:spPr>
          <p:txBody>
            <a:bodyPr wrap="none" anchor="ctr"/>
            <a:lstStyle/>
            <a:p>
              <a:pPr algn="ctr"/>
              <a:endParaRPr lang="en-US" sz="1200" b="0">
                <a:solidFill>
                  <a:srgbClr val="FFFF00"/>
                </a:solidFill>
                <a:latin typeface="Gill Sans" charset="0"/>
                <a:cs typeface="Gill Sans" charset="0"/>
              </a:endParaRPr>
            </a:p>
          </p:txBody>
        </p:sp>
        <p:sp>
          <p:nvSpPr>
            <p:cNvPr id="41025" name="Rectangle 426"/>
            <p:cNvSpPr>
              <a:spLocks noChangeArrowheads="1"/>
            </p:cNvSpPr>
            <p:nvPr/>
          </p:nvSpPr>
          <p:spPr bwMode="auto">
            <a:xfrm>
              <a:off x="3258" y="1038"/>
              <a:ext cx="93" cy="38"/>
            </a:xfrm>
            <a:prstGeom prst="rect">
              <a:avLst/>
            </a:prstGeom>
            <a:solidFill>
              <a:srgbClr val="FFFF00"/>
            </a:solidFill>
            <a:ln w="12700">
              <a:solidFill>
                <a:schemeClr val="tx1"/>
              </a:solidFill>
              <a:miter lim="800000"/>
              <a:headEnd type="none" w="sm" len="sm"/>
              <a:tailEnd type="none" w="sm" len="sm"/>
            </a:ln>
          </p:spPr>
          <p:txBody>
            <a:bodyPr wrap="none" anchor="ctr"/>
            <a:lstStyle/>
            <a:p>
              <a:pPr algn="ctr"/>
              <a:endParaRPr lang="en-US" sz="1200" b="0">
                <a:solidFill>
                  <a:srgbClr val="FFFF00"/>
                </a:solidFill>
                <a:latin typeface="Gill Sans" charset="0"/>
                <a:cs typeface="Gill Sans" charset="0"/>
              </a:endParaRPr>
            </a:p>
          </p:txBody>
        </p:sp>
        <p:grpSp>
          <p:nvGrpSpPr>
            <p:cNvPr id="41026" name="Group 427"/>
            <p:cNvGrpSpPr>
              <a:grpSpLocks/>
            </p:cNvGrpSpPr>
            <p:nvPr/>
          </p:nvGrpSpPr>
          <p:grpSpPr bwMode="auto">
            <a:xfrm>
              <a:off x="5227" y="1473"/>
              <a:ext cx="153" cy="60"/>
              <a:chOff x="428" y="2146"/>
              <a:chExt cx="268" cy="244"/>
            </a:xfrm>
          </p:grpSpPr>
          <p:sp>
            <p:nvSpPr>
              <p:cNvPr id="41069" name="Rectangle 428"/>
              <p:cNvSpPr>
                <a:spLocks noChangeArrowheads="1"/>
              </p:cNvSpPr>
              <p:nvPr/>
            </p:nvSpPr>
            <p:spPr bwMode="auto">
              <a:xfrm>
                <a:off x="632" y="2152"/>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070" name="Rectangle 429"/>
              <p:cNvSpPr>
                <a:spLocks noChangeArrowheads="1"/>
              </p:cNvSpPr>
              <p:nvPr/>
            </p:nvSpPr>
            <p:spPr bwMode="auto">
              <a:xfrm>
                <a:off x="536" y="214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071" name="Rectangle 430"/>
              <p:cNvSpPr>
                <a:spLocks noChangeArrowheads="1"/>
              </p:cNvSpPr>
              <p:nvPr/>
            </p:nvSpPr>
            <p:spPr bwMode="auto">
              <a:xfrm>
                <a:off x="626" y="223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072" name="Rectangle 431"/>
              <p:cNvSpPr>
                <a:spLocks noChangeArrowheads="1"/>
              </p:cNvSpPr>
              <p:nvPr/>
            </p:nvSpPr>
            <p:spPr bwMode="auto">
              <a:xfrm>
                <a:off x="530" y="2230"/>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073" name="Rectangle 432"/>
              <p:cNvSpPr>
                <a:spLocks noChangeArrowheads="1"/>
              </p:cNvSpPr>
              <p:nvPr/>
            </p:nvSpPr>
            <p:spPr bwMode="auto">
              <a:xfrm>
                <a:off x="434" y="216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074" name="Rectangle 433"/>
              <p:cNvSpPr>
                <a:spLocks noChangeArrowheads="1"/>
              </p:cNvSpPr>
              <p:nvPr/>
            </p:nvSpPr>
            <p:spPr bwMode="auto">
              <a:xfrm>
                <a:off x="428" y="2248"/>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075" name="Rectangle 434"/>
              <p:cNvSpPr>
                <a:spLocks noChangeArrowheads="1"/>
              </p:cNvSpPr>
              <p:nvPr/>
            </p:nvSpPr>
            <p:spPr bwMode="auto">
              <a:xfrm>
                <a:off x="626" y="231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076" name="Rectangle 435"/>
              <p:cNvSpPr>
                <a:spLocks noChangeArrowheads="1"/>
              </p:cNvSpPr>
              <p:nvPr/>
            </p:nvSpPr>
            <p:spPr bwMode="auto">
              <a:xfrm>
                <a:off x="530" y="2308"/>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077" name="Rectangle 436"/>
              <p:cNvSpPr>
                <a:spLocks noChangeArrowheads="1"/>
              </p:cNvSpPr>
              <p:nvPr/>
            </p:nvSpPr>
            <p:spPr bwMode="auto">
              <a:xfrm>
                <a:off x="428" y="232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grpSp>
          <p:nvGrpSpPr>
            <p:cNvPr id="41027" name="Group 437"/>
            <p:cNvGrpSpPr>
              <a:grpSpLocks/>
            </p:cNvGrpSpPr>
            <p:nvPr/>
          </p:nvGrpSpPr>
          <p:grpSpPr bwMode="auto">
            <a:xfrm>
              <a:off x="5357" y="1179"/>
              <a:ext cx="155" cy="60"/>
              <a:chOff x="428" y="2146"/>
              <a:chExt cx="268" cy="244"/>
            </a:xfrm>
          </p:grpSpPr>
          <p:sp>
            <p:nvSpPr>
              <p:cNvPr id="41060" name="Rectangle 438"/>
              <p:cNvSpPr>
                <a:spLocks noChangeArrowheads="1"/>
              </p:cNvSpPr>
              <p:nvPr/>
            </p:nvSpPr>
            <p:spPr bwMode="auto">
              <a:xfrm>
                <a:off x="632" y="2152"/>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061" name="Rectangle 439"/>
              <p:cNvSpPr>
                <a:spLocks noChangeArrowheads="1"/>
              </p:cNvSpPr>
              <p:nvPr/>
            </p:nvSpPr>
            <p:spPr bwMode="auto">
              <a:xfrm>
                <a:off x="536" y="214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062" name="Rectangle 440"/>
              <p:cNvSpPr>
                <a:spLocks noChangeArrowheads="1"/>
              </p:cNvSpPr>
              <p:nvPr/>
            </p:nvSpPr>
            <p:spPr bwMode="auto">
              <a:xfrm>
                <a:off x="626" y="223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063" name="Rectangle 441"/>
              <p:cNvSpPr>
                <a:spLocks noChangeArrowheads="1"/>
              </p:cNvSpPr>
              <p:nvPr/>
            </p:nvSpPr>
            <p:spPr bwMode="auto">
              <a:xfrm>
                <a:off x="530" y="2230"/>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064" name="Rectangle 442"/>
              <p:cNvSpPr>
                <a:spLocks noChangeArrowheads="1"/>
              </p:cNvSpPr>
              <p:nvPr/>
            </p:nvSpPr>
            <p:spPr bwMode="auto">
              <a:xfrm>
                <a:off x="434" y="216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065" name="Rectangle 443"/>
              <p:cNvSpPr>
                <a:spLocks noChangeArrowheads="1"/>
              </p:cNvSpPr>
              <p:nvPr/>
            </p:nvSpPr>
            <p:spPr bwMode="auto">
              <a:xfrm>
                <a:off x="428" y="2248"/>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066" name="Rectangle 444"/>
              <p:cNvSpPr>
                <a:spLocks noChangeArrowheads="1"/>
              </p:cNvSpPr>
              <p:nvPr/>
            </p:nvSpPr>
            <p:spPr bwMode="auto">
              <a:xfrm>
                <a:off x="626" y="2314"/>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067" name="Rectangle 445"/>
              <p:cNvSpPr>
                <a:spLocks noChangeArrowheads="1"/>
              </p:cNvSpPr>
              <p:nvPr/>
            </p:nvSpPr>
            <p:spPr bwMode="auto">
              <a:xfrm>
                <a:off x="530" y="2308"/>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sp>
            <p:nvSpPr>
              <p:cNvPr id="41068" name="Rectangle 446"/>
              <p:cNvSpPr>
                <a:spLocks noChangeArrowheads="1"/>
              </p:cNvSpPr>
              <p:nvPr/>
            </p:nvSpPr>
            <p:spPr bwMode="auto">
              <a:xfrm>
                <a:off x="428" y="2326"/>
                <a:ext cx="64" cy="64"/>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sz="1200" b="0">
                  <a:latin typeface="Gill Sans" charset="0"/>
                  <a:cs typeface="Gill Sans" charset="0"/>
                </a:endParaRPr>
              </a:p>
            </p:txBody>
          </p:sp>
        </p:grpSp>
        <p:sp>
          <p:nvSpPr>
            <p:cNvPr id="41028" name="Text Box 447"/>
            <p:cNvSpPr txBox="1">
              <a:spLocks noChangeArrowheads="1"/>
            </p:cNvSpPr>
            <p:nvPr/>
          </p:nvSpPr>
          <p:spPr bwMode="auto">
            <a:xfrm>
              <a:off x="4675" y="1341"/>
              <a:ext cx="682" cy="25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wrap="none">
              <a:spAutoFit/>
            </a:bodyPr>
            <a:lstStyle>
              <a:lvl1pPr>
                <a:defRPr sz="2400" b="1">
                  <a:solidFill>
                    <a:schemeClr val="tx1"/>
                  </a:solidFill>
                  <a:latin typeface="Comic Sans MS" charset="0"/>
                  <a:ea typeface="ＭＳ Ｐゴシック" charset="0"/>
                  <a:cs typeface="ＭＳ Ｐゴシック" charset="0"/>
                </a:defRPr>
              </a:lvl1pPr>
              <a:lvl2pPr marL="742950" indent="-285750">
                <a:defRPr sz="2400" b="1">
                  <a:solidFill>
                    <a:schemeClr val="tx1"/>
                  </a:solidFill>
                  <a:latin typeface="Comic Sans MS" charset="0"/>
                  <a:ea typeface="ＭＳ Ｐゴシック" charset="0"/>
                </a:defRPr>
              </a:lvl2pPr>
              <a:lvl3pPr marL="1143000" indent="-228600">
                <a:defRPr sz="2400" b="1">
                  <a:solidFill>
                    <a:schemeClr val="tx1"/>
                  </a:solidFill>
                  <a:latin typeface="Comic Sans MS" charset="0"/>
                  <a:ea typeface="ＭＳ Ｐゴシック" charset="0"/>
                </a:defRPr>
              </a:lvl3pPr>
              <a:lvl4pPr marL="1600200" indent="-228600">
                <a:defRPr sz="2400" b="1">
                  <a:solidFill>
                    <a:schemeClr val="tx1"/>
                  </a:solidFill>
                  <a:latin typeface="Comic Sans MS" charset="0"/>
                  <a:ea typeface="ＭＳ Ｐゴシック" charset="0"/>
                </a:defRPr>
              </a:lvl4pPr>
              <a:lvl5pPr marL="2057400" indent="-228600">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b="1">
                  <a:solidFill>
                    <a:schemeClr val="tx1"/>
                  </a:solidFill>
                  <a:latin typeface="Comic Sans MS" charset="0"/>
                  <a:ea typeface="ＭＳ Ｐゴシック" charset="0"/>
                </a:defRPr>
              </a:lvl9pPr>
            </a:lstStyle>
            <a:p>
              <a:r>
                <a:rPr lang="en-US" sz="1200" b="0">
                  <a:solidFill>
                    <a:schemeClr val="hlink"/>
                  </a:solidFill>
                  <a:latin typeface="Gill Sans" charset="0"/>
                  <a:cs typeface="Gill Sans" charset="0"/>
                </a:rPr>
                <a:t>Clusters</a:t>
              </a:r>
            </a:p>
          </p:txBody>
        </p:sp>
        <p:sp>
          <p:nvSpPr>
            <p:cNvPr id="41029" name="Text Box 448"/>
            <p:cNvSpPr txBox="1">
              <a:spLocks noChangeArrowheads="1"/>
            </p:cNvSpPr>
            <p:nvPr/>
          </p:nvSpPr>
          <p:spPr bwMode="auto">
            <a:xfrm>
              <a:off x="3914" y="671"/>
              <a:ext cx="1164" cy="25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wrap="none">
              <a:spAutoFit/>
            </a:bodyPr>
            <a:lstStyle>
              <a:lvl1pPr>
                <a:defRPr sz="2400" b="1">
                  <a:solidFill>
                    <a:schemeClr val="tx1"/>
                  </a:solidFill>
                  <a:latin typeface="Comic Sans MS" charset="0"/>
                  <a:ea typeface="ＭＳ Ｐゴシック" charset="0"/>
                  <a:cs typeface="ＭＳ Ｐゴシック" charset="0"/>
                </a:defRPr>
              </a:lvl1pPr>
              <a:lvl2pPr marL="742950" indent="-285750">
                <a:defRPr sz="2400" b="1">
                  <a:solidFill>
                    <a:schemeClr val="tx1"/>
                  </a:solidFill>
                  <a:latin typeface="Comic Sans MS" charset="0"/>
                  <a:ea typeface="ＭＳ Ｐゴシック" charset="0"/>
                </a:defRPr>
              </a:lvl2pPr>
              <a:lvl3pPr marL="1143000" indent="-228600">
                <a:defRPr sz="2400" b="1">
                  <a:solidFill>
                    <a:schemeClr val="tx1"/>
                  </a:solidFill>
                  <a:latin typeface="Comic Sans MS" charset="0"/>
                  <a:ea typeface="ＭＳ Ｐゴシック" charset="0"/>
                </a:defRPr>
              </a:lvl3pPr>
              <a:lvl4pPr marL="1600200" indent="-228600">
                <a:defRPr sz="2400" b="1">
                  <a:solidFill>
                    <a:schemeClr val="tx1"/>
                  </a:solidFill>
                  <a:latin typeface="Comic Sans MS" charset="0"/>
                  <a:ea typeface="ＭＳ Ｐゴシック" charset="0"/>
                </a:defRPr>
              </a:lvl4pPr>
              <a:lvl5pPr marL="2057400" indent="-228600">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b="1">
                  <a:solidFill>
                    <a:schemeClr val="tx1"/>
                  </a:solidFill>
                  <a:latin typeface="Comic Sans MS" charset="0"/>
                  <a:ea typeface="ＭＳ Ｐゴシック" charset="0"/>
                </a:defRPr>
              </a:lvl9pPr>
            </a:lstStyle>
            <a:p>
              <a:r>
                <a:rPr lang="en-US" sz="1200" b="0">
                  <a:solidFill>
                    <a:schemeClr val="hlink"/>
                  </a:solidFill>
                  <a:latin typeface="Gill Sans" charset="0"/>
                  <a:cs typeface="Gill Sans" charset="0"/>
                </a:rPr>
                <a:t>Massive Cluster</a:t>
              </a:r>
            </a:p>
          </p:txBody>
        </p:sp>
        <p:grpSp>
          <p:nvGrpSpPr>
            <p:cNvPr id="41030" name="Group 449"/>
            <p:cNvGrpSpPr>
              <a:grpSpLocks/>
            </p:cNvGrpSpPr>
            <p:nvPr/>
          </p:nvGrpSpPr>
          <p:grpSpPr bwMode="auto">
            <a:xfrm>
              <a:off x="3324" y="987"/>
              <a:ext cx="1708" cy="431"/>
              <a:chOff x="1450" y="1101"/>
              <a:chExt cx="2970" cy="997"/>
            </a:xfrm>
          </p:grpSpPr>
          <p:sp>
            <p:nvSpPr>
              <p:cNvPr id="41031" name="Oval 450"/>
              <p:cNvSpPr>
                <a:spLocks noChangeArrowheads="1"/>
              </p:cNvSpPr>
              <p:nvPr/>
            </p:nvSpPr>
            <p:spPr bwMode="auto">
              <a:xfrm>
                <a:off x="1984" y="1682"/>
                <a:ext cx="1760" cy="119"/>
              </a:xfrm>
              <a:prstGeom prst="ellipse">
                <a:avLst/>
              </a:prstGeom>
              <a:solidFill>
                <a:srgbClr val="03FBEF"/>
              </a:solidFill>
              <a:ln w="12700">
                <a:solidFill>
                  <a:schemeClr val="tx2"/>
                </a:solidFill>
                <a:round/>
                <a:headEnd type="none" w="sm" len="sm"/>
                <a:tailEnd type="none" w="sm" len="sm"/>
              </a:ln>
            </p:spPr>
            <p:txBody>
              <a:bodyPr wrap="none" anchor="ctr"/>
              <a:lstStyle/>
              <a:p>
                <a:pPr algn="ctr"/>
                <a:r>
                  <a:rPr lang="en-US" sz="1200" b="0">
                    <a:solidFill>
                      <a:schemeClr val="hlink"/>
                    </a:solidFill>
                    <a:latin typeface="Gill Sans" charset="0"/>
                    <a:cs typeface="Gill Sans" charset="0"/>
                  </a:rPr>
                  <a:t>Gigabit Ethernet</a:t>
                </a:r>
                <a:endParaRPr lang="en-US" sz="1200" b="0">
                  <a:latin typeface="Gill Sans" charset="0"/>
                  <a:cs typeface="Gill Sans" charset="0"/>
                </a:endParaRPr>
              </a:p>
            </p:txBody>
          </p:sp>
          <p:sp>
            <p:nvSpPr>
              <p:cNvPr id="41032" name="Line 451"/>
              <p:cNvSpPr>
                <a:spLocks noChangeShapeType="1"/>
              </p:cNvSpPr>
              <p:nvPr/>
            </p:nvSpPr>
            <p:spPr bwMode="auto">
              <a:xfrm>
                <a:off x="2104" y="1471"/>
                <a:ext cx="0" cy="238"/>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xmlns="">
                    <a:noFill/>
                  </a14:hiddenFill>
                </a:ext>
              </a:extLst>
            </p:spPr>
            <p:txBody>
              <a:bodyPr wrap="none" anchor="ctr"/>
              <a:lstStyle/>
              <a:p>
                <a:endParaRPr lang="en-US"/>
              </a:p>
            </p:txBody>
          </p:sp>
          <p:sp>
            <p:nvSpPr>
              <p:cNvPr id="41033" name="Line 452"/>
              <p:cNvSpPr>
                <a:spLocks noChangeShapeType="1"/>
              </p:cNvSpPr>
              <p:nvPr/>
            </p:nvSpPr>
            <p:spPr bwMode="auto">
              <a:xfrm>
                <a:off x="2232" y="1485"/>
                <a:ext cx="0" cy="229"/>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xmlns="">
                    <a:noFill/>
                  </a14:hiddenFill>
                </a:ext>
              </a:extLst>
            </p:spPr>
            <p:txBody>
              <a:bodyPr wrap="none" anchor="ctr"/>
              <a:lstStyle/>
              <a:p>
                <a:endParaRPr lang="en-US"/>
              </a:p>
            </p:txBody>
          </p:sp>
          <p:sp>
            <p:nvSpPr>
              <p:cNvPr id="41034" name="Line 453"/>
              <p:cNvSpPr>
                <a:spLocks noChangeShapeType="1"/>
              </p:cNvSpPr>
              <p:nvPr/>
            </p:nvSpPr>
            <p:spPr bwMode="auto">
              <a:xfrm flipH="1">
                <a:off x="2360" y="1512"/>
                <a:ext cx="0" cy="170"/>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xmlns="">
                    <a:noFill/>
                  </a14:hiddenFill>
                </a:ext>
              </a:extLst>
            </p:spPr>
            <p:txBody>
              <a:bodyPr wrap="none" anchor="ctr"/>
              <a:lstStyle/>
              <a:p>
                <a:endParaRPr lang="en-US"/>
              </a:p>
            </p:txBody>
          </p:sp>
          <p:sp>
            <p:nvSpPr>
              <p:cNvPr id="41035" name="Line 454"/>
              <p:cNvSpPr>
                <a:spLocks noChangeShapeType="1"/>
              </p:cNvSpPr>
              <p:nvPr/>
            </p:nvSpPr>
            <p:spPr bwMode="auto">
              <a:xfrm>
                <a:off x="2472" y="1531"/>
                <a:ext cx="0" cy="156"/>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xmlns="">
                    <a:noFill/>
                  </a14:hiddenFill>
                </a:ext>
              </a:extLst>
            </p:spPr>
            <p:txBody>
              <a:bodyPr wrap="none" anchor="ctr"/>
              <a:lstStyle/>
              <a:p>
                <a:endParaRPr lang="en-US"/>
              </a:p>
            </p:txBody>
          </p:sp>
          <p:sp>
            <p:nvSpPr>
              <p:cNvPr id="41036" name="Line 455"/>
              <p:cNvSpPr>
                <a:spLocks noChangeShapeType="1"/>
              </p:cNvSpPr>
              <p:nvPr/>
            </p:nvSpPr>
            <p:spPr bwMode="auto">
              <a:xfrm>
                <a:off x="2560" y="1590"/>
                <a:ext cx="0" cy="106"/>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xmlns="">
                    <a:noFill/>
                  </a14:hiddenFill>
                </a:ext>
              </a:extLst>
            </p:spPr>
            <p:txBody>
              <a:bodyPr wrap="none" anchor="ctr"/>
              <a:lstStyle/>
              <a:p>
                <a:endParaRPr lang="en-US"/>
              </a:p>
            </p:txBody>
          </p:sp>
          <p:sp>
            <p:nvSpPr>
              <p:cNvPr id="41037" name="Line 456"/>
              <p:cNvSpPr>
                <a:spLocks noChangeShapeType="1"/>
              </p:cNvSpPr>
              <p:nvPr/>
            </p:nvSpPr>
            <p:spPr bwMode="auto">
              <a:xfrm>
                <a:off x="2680" y="1599"/>
                <a:ext cx="0" cy="88"/>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xmlns="">
                    <a:noFill/>
                  </a14:hiddenFill>
                </a:ext>
              </a:extLst>
            </p:spPr>
            <p:txBody>
              <a:bodyPr wrap="none" anchor="ctr"/>
              <a:lstStyle/>
              <a:p>
                <a:endParaRPr lang="en-US"/>
              </a:p>
            </p:txBody>
          </p:sp>
          <p:sp>
            <p:nvSpPr>
              <p:cNvPr id="41038" name="Line 457"/>
              <p:cNvSpPr>
                <a:spLocks noChangeShapeType="1"/>
              </p:cNvSpPr>
              <p:nvPr/>
            </p:nvSpPr>
            <p:spPr bwMode="auto">
              <a:xfrm>
                <a:off x="2808" y="1636"/>
                <a:ext cx="0" cy="55"/>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xmlns="">
                    <a:noFill/>
                  </a14:hiddenFill>
                </a:ext>
              </a:extLst>
            </p:spPr>
            <p:txBody>
              <a:bodyPr wrap="none" anchor="ctr"/>
              <a:lstStyle/>
              <a:p>
                <a:endParaRPr lang="en-US"/>
              </a:p>
            </p:txBody>
          </p:sp>
          <p:sp>
            <p:nvSpPr>
              <p:cNvPr id="41039" name="Line 458"/>
              <p:cNvSpPr>
                <a:spLocks noChangeShapeType="1"/>
              </p:cNvSpPr>
              <p:nvPr/>
            </p:nvSpPr>
            <p:spPr bwMode="auto">
              <a:xfrm>
                <a:off x="2944" y="1650"/>
                <a:ext cx="0" cy="37"/>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xmlns="">
                    <a:noFill/>
                  </a14:hiddenFill>
                </a:ext>
              </a:extLst>
            </p:spPr>
            <p:txBody>
              <a:bodyPr wrap="none" anchor="ctr"/>
              <a:lstStyle/>
              <a:p>
                <a:endParaRPr lang="en-US"/>
              </a:p>
            </p:txBody>
          </p:sp>
          <p:sp>
            <p:nvSpPr>
              <p:cNvPr id="41040" name="Line 459"/>
              <p:cNvSpPr>
                <a:spLocks noChangeShapeType="1"/>
              </p:cNvSpPr>
              <p:nvPr/>
            </p:nvSpPr>
            <p:spPr bwMode="auto">
              <a:xfrm>
                <a:off x="3168" y="1567"/>
                <a:ext cx="0" cy="115"/>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xmlns="">
                    <a:noFill/>
                  </a14:hiddenFill>
                </a:ext>
              </a:extLst>
            </p:spPr>
            <p:txBody>
              <a:bodyPr wrap="none" anchor="ctr"/>
              <a:lstStyle/>
              <a:p>
                <a:endParaRPr lang="en-US"/>
              </a:p>
            </p:txBody>
          </p:sp>
          <p:sp>
            <p:nvSpPr>
              <p:cNvPr id="41041" name="Line 460"/>
              <p:cNvSpPr>
                <a:spLocks noChangeShapeType="1"/>
              </p:cNvSpPr>
              <p:nvPr/>
            </p:nvSpPr>
            <p:spPr bwMode="auto">
              <a:xfrm>
                <a:off x="3312" y="1480"/>
                <a:ext cx="0" cy="216"/>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xmlns="">
                    <a:noFill/>
                  </a14:hiddenFill>
                </a:ext>
              </a:extLst>
            </p:spPr>
            <p:txBody>
              <a:bodyPr wrap="none" anchor="ctr"/>
              <a:lstStyle/>
              <a:p>
                <a:endParaRPr lang="en-US"/>
              </a:p>
            </p:txBody>
          </p:sp>
          <p:sp>
            <p:nvSpPr>
              <p:cNvPr id="41042" name="Line 461"/>
              <p:cNvSpPr>
                <a:spLocks noChangeShapeType="1"/>
              </p:cNvSpPr>
              <p:nvPr/>
            </p:nvSpPr>
            <p:spPr bwMode="auto">
              <a:xfrm>
                <a:off x="3448" y="1352"/>
                <a:ext cx="0" cy="344"/>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xmlns="">
                    <a:noFill/>
                  </a14:hiddenFill>
                </a:ext>
              </a:extLst>
            </p:spPr>
            <p:txBody>
              <a:bodyPr wrap="none" anchor="ctr"/>
              <a:lstStyle/>
              <a:p>
                <a:endParaRPr lang="en-US"/>
              </a:p>
            </p:txBody>
          </p:sp>
          <p:sp>
            <p:nvSpPr>
              <p:cNvPr id="41043" name="Line 462"/>
              <p:cNvSpPr>
                <a:spLocks noChangeShapeType="1"/>
              </p:cNvSpPr>
              <p:nvPr/>
            </p:nvSpPr>
            <p:spPr bwMode="auto">
              <a:xfrm>
                <a:off x="3640" y="1237"/>
                <a:ext cx="0" cy="482"/>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xmlns="">
                    <a:noFill/>
                  </a14:hiddenFill>
                </a:ext>
              </a:extLst>
            </p:spPr>
            <p:txBody>
              <a:bodyPr wrap="none" anchor="ctr"/>
              <a:lstStyle/>
              <a:p>
                <a:endParaRPr lang="en-US"/>
              </a:p>
            </p:txBody>
          </p:sp>
          <p:sp>
            <p:nvSpPr>
              <p:cNvPr id="41044" name="Oval 463"/>
              <p:cNvSpPr>
                <a:spLocks noChangeArrowheads="1"/>
              </p:cNvSpPr>
              <p:nvPr/>
            </p:nvSpPr>
            <p:spPr bwMode="auto">
              <a:xfrm rot="2527473">
                <a:off x="1450" y="1533"/>
                <a:ext cx="64" cy="92"/>
              </a:xfrm>
              <a:prstGeom prst="ellipse">
                <a:avLst/>
              </a:prstGeom>
              <a:solidFill>
                <a:srgbClr val="03FBEF"/>
              </a:solidFill>
              <a:ln w="12700">
                <a:solidFill>
                  <a:schemeClr val="tx2"/>
                </a:solidFill>
                <a:round/>
                <a:headEnd type="none" w="sm" len="sm"/>
                <a:tailEnd type="none" w="sm" len="sm"/>
              </a:ln>
            </p:spPr>
            <p:txBody>
              <a:bodyPr wrap="none" anchor="ctr"/>
              <a:lstStyle/>
              <a:p>
                <a:endParaRPr lang="en-US" sz="1200" b="0">
                  <a:latin typeface="Gill Sans" charset="0"/>
                  <a:cs typeface="Gill Sans" charset="0"/>
                </a:endParaRPr>
              </a:p>
            </p:txBody>
          </p:sp>
          <p:sp>
            <p:nvSpPr>
              <p:cNvPr id="41045" name="Oval 464"/>
              <p:cNvSpPr>
                <a:spLocks noChangeArrowheads="1"/>
              </p:cNvSpPr>
              <p:nvPr/>
            </p:nvSpPr>
            <p:spPr bwMode="auto">
              <a:xfrm rot="2527473">
                <a:off x="1450" y="2006"/>
                <a:ext cx="71" cy="92"/>
              </a:xfrm>
              <a:prstGeom prst="ellipse">
                <a:avLst/>
              </a:prstGeom>
              <a:solidFill>
                <a:srgbClr val="03FBEF"/>
              </a:solidFill>
              <a:ln w="12700">
                <a:solidFill>
                  <a:schemeClr val="tx2"/>
                </a:solidFill>
                <a:round/>
                <a:headEnd type="none" w="sm" len="sm"/>
                <a:tailEnd type="none" w="sm" len="sm"/>
              </a:ln>
            </p:spPr>
            <p:txBody>
              <a:bodyPr wrap="none" anchor="ctr"/>
              <a:lstStyle/>
              <a:p>
                <a:endParaRPr lang="en-US" sz="1200" b="0">
                  <a:latin typeface="Gill Sans" charset="0"/>
                  <a:cs typeface="Gill Sans" charset="0"/>
                </a:endParaRPr>
              </a:p>
            </p:txBody>
          </p:sp>
          <p:sp>
            <p:nvSpPr>
              <p:cNvPr id="41046" name="Oval 465"/>
              <p:cNvSpPr>
                <a:spLocks noChangeArrowheads="1"/>
              </p:cNvSpPr>
              <p:nvPr/>
            </p:nvSpPr>
            <p:spPr bwMode="auto">
              <a:xfrm rot="2527473">
                <a:off x="2114" y="1991"/>
                <a:ext cx="64" cy="92"/>
              </a:xfrm>
              <a:prstGeom prst="ellipse">
                <a:avLst/>
              </a:prstGeom>
              <a:solidFill>
                <a:srgbClr val="03FBEF"/>
              </a:solidFill>
              <a:ln w="12700">
                <a:solidFill>
                  <a:schemeClr val="tx2"/>
                </a:solidFill>
                <a:round/>
                <a:headEnd type="none" w="sm" len="sm"/>
                <a:tailEnd type="none" w="sm" len="sm"/>
              </a:ln>
            </p:spPr>
            <p:txBody>
              <a:bodyPr wrap="none" anchor="ctr"/>
              <a:lstStyle/>
              <a:p>
                <a:endParaRPr lang="en-US" sz="1200" b="0">
                  <a:latin typeface="Gill Sans" charset="0"/>
                  <a:cs typeface="Gill Sans" charset="0"/>
                </a:endParaRPr>
              </a:p>
            </p:txBody>
          </p:sp>
          <p:sp>
            <p:nvSpPr>
              <p:cNvPr id="41047" name="Oval 466"/>
              <p:cNvSpPr>
                <a:spLocks noChangeArrowheads="1"/>
              </p:cNvSpPr>
              <p:nvPr/>
            </p:nvSpPr>
            <p:spPr bwMode="auto">
              <a:xfrm rot="2527473">
                <a:off x="2884" y="1973"/>
                <a:ext cx="64" cy="92"/>
              </a:xfrm>
              <a:prstGeom prst="ellipse">
                <a:avLst/>
              </a:prstGeom>
              <a:solidFill>
                <a:srgbClr val="03FBEF"/>
              </a:solidFill>
              <a:ln w="12700">
                <a:solidFill>
                  <a:schemeClr val="tx2"/>
                </a:solidFill>
                <a:round/>
                <a:headEnd type="none" w="sm" len="sm"/>
                <a:tailEnd type="none" w="sm" len="sm"/>
              </a:ln>
            </p:spPr>
            <p:txBody>
              <a:bodyPr wrap="none" anchor="ctr"/>
              <a:lstStyle/>
              <a:p>
                <a:endParaRPr lang="en-US" sz="1200" b="0">
                  <a:latin typeface="Gill Sans" charset="0"/>
                  <a:cs typeface="Gill Sans" charset="0"/>
                </a:endParaRPr>
              </a:p>
            </p:txBody>
          </p:sp>
          <p:sp>
            <p:nvSpPr>
              <p:cNvPr id="41048" name="Oval 467"/>
              <p:cNvSpPr>
                <a:spLocks noChangeArrowheads="1"/>
              </p:cNvSpPr>
              <p:nvPr/>
            </p:nvSpPr>
            <p:spPr bwMode="auto">
              <a:xfrm rot="2527473">
                <a:off x="1500" y="1829"/>
                <a:ext cx="64" cy="91"/>
              </a:xfrm>
              <a:prstGeom prst="ellipse">
                <a:avLst/>
              </a:prstGeom>
              <a:solidFill>
                <a:srgbClr val="03FBEF"/>
              </a:solidFill>
              <a:ln w="12700">
                <a:solidFill>
                  <a:schemeClr val="tx2"/>
                </a:solidFill>
                <a:round/>
                <a:headEnd type="none" w="sm" len="sm"/>
                <a:tailEnd type="none" w="sm" len="sm"/>
              </a:ln>
            </p:spPr>
            <p:txBody>
              <a:bodyPr wrap="none" anchor="ctr"/>
              <a:lstStyle/>
              <a:p>
                <a:endParaRPr lang="en-US" sz="1200" b="0">
                  <a:latin typeface="Gill Sans" charset="0"/>
                  <a:cs typeface="Gill Sans" charset="0"/>
                </a:endParaRPr>
              </a:p>
            </p:txBody>
          </p:sp>
          <p:sp>
            <p:nvSpPr>
              <p:cNvPr id="41049" name="Oval 468"/>
              <p:cNvSpPr>
                <a:spLocks noChangeArrowheads="1"/>
              </p:cNvSpPr>
              <p:nvPr/>
            </p:nvSpPr>
            <p:spPr bwMode="auto">
              <a:xfrm rot="2527473">
                <a:off x="3560" y="1951"/>
                <a:ext cx="64" cy="92"/>
              </a:xfrm>
              <a:prstGeom prst="ellipse">
                <a:avLst/>
              </a:prstGeom>
              <a:solidFill>
                <a:srgbClr val="03FBEF"/>
              </a:solidFill>
              <a:ln w="12700">
                <a:solidFill>
                  <a:schemeClr val="tx2"/>
                </a:solidFill>
                <a:round/>
                <a:headEnd type="none" w="sm" len="sm"/>
                <a:tailEnd type="none" w="sm" len="sm"/>
              </a:ln>
            </p:spPr>
            <p:txBody>
              <a:bodyPr wrap="none" anchor="ctr"/>
              <a:lstStyle/>
              <a:p>
                <a:endParaRPr lang="en-US" sz="1200" b="0">
                  <a:latin typeface="Gill Sans" charset="0"/>
                  <a:cs typeface="Gill Sans" charset="0"/>
                </a:endParaRPr>
              </a:p>
            </p:txBody>
          </p:sp>
          <p:sp>
            <p:nvSpPr>
              <p:cNvPr id="41050" name="Oval 469"/>
              <p:cNvSpPr>
                <a:spLocks noChangeArrowheads="1"/>
              </p:cNvSpPr>
              <p:nvPr/>
            </p:nvSpPr>
            <p:spPr bwMode="auto">
              <a:xfrm rot="2527473">
                <a:off x="4152" y="1834"/>
                <a:ext cx="64" cy="92"/>
              </a:xfrm>
              <a:prstGeom prst="ellipse">
                <a:avLst/>
              </a:prstGeom>
              <a:solidFill>
                <a:srgbClr val="03FBEF"/>
              </a:solidFill>
              <a:ln w="12700">
                <a:solidFill>
                  <a:schemeClr val="tx2"/>
                </a:solidFill>
                <a:round/>
                <a:headEnd type="none" w="sm" len="sm"/>
                <a:tailEnd type="none" w="sm" len="sm"/>
              </a:ln>
            </p:spPr>
            <p:txBody>
              <a:bodyPr wrap="none" anchor="ctr"/>
              <a:lstStyle/>
              <a:p>
                <a:endParaRPr lang="en-US" sz="1200" b="0">
                  <a:latin typeface="Gill Sans" charset="0"/>
                  <a:cs typeface="Gill Sans" charset="0"/>
                </a:endParaRPr>
              </a:p>
            </p:txBody>
          </p:sp>
          <p:sp>
            <p:nvSpPr>
              <p:cNvPr id="41051" name="Oval 470"/>
              <p:cNvSpPr>
                <a:spLocks noChangeArrowheads="1"/>
              </p:cNvSpPr>
              <p:nvPr/>
            </p:nvSpPr>
            <p:spPr bwMode="auto">
              <a:xfrm rot="2527473">
                <a:off x="4356" y="1485"/>
                <a:ext cx="64" cy="92"/>
              </a:xfrm>
              <a:prstGeom prst="ellipse">
                <a:avLst/>
              </a:prstGeom>
              <a:solidFill>
                <a:srgbClr val="03FBEF"/>
              </a:solidFill>
              <a:ln w="12700">
                <a:solidFill>
                  <a:schemeClr val="tx2"/>
                </a:solidFill>
                <a:round/>
                <a:headEnd type="none" w="sm" len="sm"/>
                <a:tailEnd type="none" w="sm" len="sm"/>
              </a:ln>
            </p:spPr>
            <p:txBody>
              <a:bodyPr wrap="none" anchor="ctr"/>
              <a:lstStyle/>
              <a:p>
                <a:endParaRPr lang="en-US" sz="1200" b="0">
                  <a:latin typeface="Gill Sans" charset="0"/>
                  <a:cs typeface="Gill Sans" charset="0"/>
                </a:endParaRPr>
              </a:p>
            </p:txBody>
          </p:sp>
          <p:sp>
            <p:nvSpPr>
              <p:cNvPr id="41052" name="Line 471"/>
              <p:cNvSpPr>
                <a:spLocks noChangeShapeType="1"/>
              </p:cNvSpPr>
              <p:nvPr/>
            </p:nvSpPr>
            <p:spPr bwMode="auto">
              <a:xfrm>
                <a:off x="1522" y="1578"/>
                <a:ext cx="510" cy="141"/>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xmlns="">
                    <a:noFill/>
                  </a14:hiddenFill>
                </a:ext>
              </a:extLst>
            </p:spPr>
            <p:txBody>
              <a:bodyPr wrap="none" anchor="ctr"/>
              <a:lstStyle/>
              <a:p>
                <a:endParaRPr lang="en-US"/>
              </a:p>
            </p:txBody>
          </p:sp>
          <p:sp>
            <p:nvSpPr>
              <p:cNvPr id="41053" name="Line 472"/>
              <p:cNvSpPr>
                <a:spLocks noChangeShapeType="1"/>
              </p:cNvSpPr>
              <p:nvPr/>
            </p:nvSpPr>
            <p:spPr bwMode="auto">
              <a:xfrm flipV="1">
                <a:off x="1546" y="1781"/>
                <a:ext cx="654" cy="250"/>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xmlns="">
                    <a:noFill/>
                  </a14:hiddenFill>
                </a:ext>
              </a:extLst>
            </p:spPr>
            <p:txBody>
              <a:bodyPr wrap="none" anchor="ctr"/>
              <a:lstStyle/>
              <a:p>
                <a:endParaRPr lang="en-US"/>
              </a:p>
            </p:txBody>
          </p:sp>
          <p:sp>
            <p:nvSpPr>
              <p:cNvPr id="41054" name="Line 473"/>
              <p:cNvSpPr>
                <a:spLocks noChangeShapeType="1"/>
              </p:cNvSpPr>
              <p:nvPr/>
            </p:nvSpPr>
            <p:spPr bwMode="auto">
              <a:xfrm flipV="1">
                <a:off x="2188" y="1791"/>
                <a:ext cx="228" cy="216"/>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xmlns="">
                    <a:noFill/>
                  </a14:hiddenFill>
                </a:ext>
              </a:extLst>
            </p:spPr>
            <p:txBody>
              <a:bodyPr wrap="none" anchor="ctr"/>
              <a:lstStyle/>
              <a:p>
                <a:endParaRPr lang="en-US"/>
              </a:p>
            </p:txBody>
          </p:sp>
          <p:sp>
            <p:nvSpPr>
              <p:cNvPr id="41055" name="Line 474"/>
              <p:cNvSpPr>
                <a:spLocks noChangeShapeType="1"/>
              </p:cNvSpPr>
              <p:nvPr/>
            </p:nvSpPr>
            <p:spPr bwMode="auto">
              <a:xfrm flipH="1" flipV="1">
                <a:off x="2818" y="1798"/>
                <a:ext cx="108" cy="203"/>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xmlns="">
                    <a:noFill/>
                  </a14:hiddenFill>
                </a:ext>
              </a:extLst>
            </p:spPr>
            <p:txBody>
              <a:bodyPr wrap="none" anchor="ctr"/>
              <a:lstStyle/>
              <a:p>
                <a:endParaRPr lang="en-US"/>
              </a:p>
            </p:txBody>
          </p:sp>
          <p:sp>
            <p:nvSpPr>
              <p:cNvPr id="41056" name="Line 475"/>
              <p:cNvSpPr>
                <a:spLocks noChangeShapeType="1"/>
              </p:cNvSpPr>
              <p:nvPr/>
            </p:nvSpPr>
            <p:spPr bwMode="auto">
              <a:xfrm flipH="1" flipV="1">
                <a:off x="3388" y="1784"/>
                <a:ext cx="192" cy="192"/>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xmlns="">
                    <a:noFill/>
                  </a14:hiddenFill>
                </a:ext>
              </a:extLst>
            </p:spPr>
            <p:txBody>
              <a:bodyPr wrap="none" anchor="ctr"/>
              <a:lstStyle/>
              <a:p>
                <a:endParaRPr lang="en-US"/>
              </a:p>
            </p:txBody>
          </p:sp>
          <p:sp>
            <p:nvSpPr>
              <p:cNvPr id="41057" name="Line 476"/>
              <p:cNvSpPr>
                <a:spLocks noChangeShapeType="1"/>
              </p:cNvSpPr>
              <p:nvPr/>
            </p:nvSpPr>
            <p:spPr bwMode="auto">
              <a:xfrm flipH="1" flipV="1">
                <a:off x="3706" y="1743"/>
                <a:ext cx="462" cy="120"/>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xmlns="">
                    <a:noFill/>
                  </a14:hiddenFill>
                </a:ext>
              </a:extLst>
            </p:spPr>
            <p:txBody>
              <a:bodyPr wrap="none" anchor="ctr"/>
              <a:lstStyle/>
              <a:p>
                <a:endParaRPr lang="en-US"/>
              </a:p>
            </p:txBody>
          </p:sp>
          <p:sp>
            <p:nvSpPr>
              <p:cNvPr id="41058" name="Line 477"/>
              <p:cNvSpPr>
                <a:spLocks noChangeShapeType="1"/>
              </p:cNvSpPr>
              <p:nvPr/>
            </p:nvSpPr>
            <p:spPr bwMode="auto">
              <a:xfrm flipH="1">
                <a:off x="3694" y="1540"/>
                <a:ext cx="648" cy="179"/>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xmlns="">
                    <a:noFill/>
                  </a14:hiddenFill>
                </a:ext>
              </a:extLst>
            </p:spPr>
            <p:txBody>
              <a:bodyPr wrap="none" anchor="ctr"/>
              <a:lstStyle/>
              <a:p>
                <a:endParaRPr lang="en-US"/>
              </a:p>
            </p:txBody>
          </p:sp>
          <p:sp>
            <p:nvSpPr>
              <p:cNvPr id="41059" name="Line 478"/>
              <p:cNvSpPr>
                <a:spLocks noChangeShapeType="1"/>
              </p:cNvSpPr>
              <p:nvPr/>
            </p:nvSpPr>
            <p:spPr bwMode="auto">
              <a:xfrm>
                <a:off x="1500" y="1101"/>
                <a:ext cx="582" cy="625"/>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xmlns="">
                    <a:noFill/>
                  </a14:hiddenFill>
                </a:ext>
              </a:extLst>
            </p:spPr>
            <p:txBody>
              <a:bodyPr wrap="none" anchor="ctr"/>
              <a:lstStyle/>
              <a:p>
                <a:endParaRPr lang="en-US"/>
              </a:p>
            </p:txBody>
          </p:sp>
        </p:grpSp>
      </p:grpSp>
    </p:spTree>
    <p:extLst>
      <p:ext uri="{BB962C8B-B14F-4D97-AF65-F5344CB8AC3E}">
        <p14:creationId xmlns:p14="http://schemas.microsoft.com/office/powerpoint/2010/main" val="2356201959"/>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2133600" y="241300"/>
            <a:ext cx="8229600" cy="368300"/>
          </a:xfrm>
        </p:spPr>
        <p:txBody>
          <a:bodyPr vert="horz" wrap="square" lIns="90487" tIns="44450" rIns="90487" bIns="44450" numCol="1" anchor="ctr" anchorCtr="0" compatLnSpc="1">
            <a:prstTxWarp prst="textNoShape">
              <a:avLst/>
            </a:prstTxWarp>
          </a:bodyPr>
          <a:lstStyle/>
          <a:p>
            <a:pPr>
              <a:defRPr/>
            </a:pPr>
            <a:r>
              <a:rPr lang="en-US">
                <a:latin typeface="Gill Sans Light" charset="0"/>
                <a:ea typeface="ＭＳ Ｐゴシック" charset="0"/>
                <a:cs typeface="Gill Sans Light" charset="0"/>
              </a:rPr>
              <a:t>Technology Trends: Moore’s Law</a:t>
            </a:r>
          </a:p>
        </p:txBody>
      </p:sp>
      <p:grpSp>
        <p:nvGrpSpPr>
          <p:cNvPr id="27650" name="Group 3"/>
          <p:cNvGrpSpPr>
            <a:grpSpLocks/>
          </p:cNvGrpSpPr>
          <p:nvPr/>
        </p:nvGrpSpPr>
        <p:grpSpPr bwMode="auto">
          <a:xfrm>
            <a:off x="6248400" y="1676400"/>
            <a:ext cx="4419600" cy="4629150"/>
            <a:chOff x="0" y="1008"/>
            <a:chExt cx="2784" cy="2916"/>
          </a:xfrm>
        </p:grpSpPr>
        <p:sp>
          <p:nvSpPr>
            <p:cNvPr id="20488" name="Rectangle 4"/>
            <p:cNvSpPr>
              <a:spLocks noChangeArrowheads="1"/>
            </p:cNvSpPr>
            <p:nvPr/>
          </p:nvSpPr>
          <p:spPr bwMode="auto">
            <a:xfrm>
              <a:off x="144" y="2544"/>
              <a:ext cx="2640" cy="1297"/>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lIns="90487" tIns="44450" rIns="90487" bIns="44450">
              <a:spAutoFit/>
            </a:bodyPr>
            <a:lstStyle/>
            <a:p>
              <a:pPr>
                <a:defRPr/>
              </a:pPr>
              <a:r>
                <a:rPr lang="en-US" b="0" dirty="0">
                  <a:latin typeface="Gill Sans Light"/>
                  <a:cs typeface="Gill Sans Light"/>
                </a:rPr>
                <a:t>2X transistors/Chip Every 1.5 years</a:t>
              </a:r>
            </a:p>
            <a:p>
              <a:pPr>
                <a:defRPr/>
              </a:pPr>
              <a:r>
                <a:rPr lang="en-US" sz="2400" b="0" dirty="0">
                  <a:latin typeface="Gill Sans Light"/>
                  <a:cs typeface="Gill Sans Light"/>
                </a:rPr>
                <a:t>Called “</a:t>
              </a:r>
              <a:r>
                <a:rPr lang="en-US" sz="2400" b="0" u="sng" dirty="0">
                  <a:solidFill>
                    <a:schemeClr val="hlink"/>
                  </a:solidFill>
                  <a:latin typeface="Gill Sans Light"/>
                  <a:cs typeface="Gill Sans Light"/>
                </a:rPr>
                <a:t>Moore’s Law</a:t>
              </a:r>
              <a:r>
                <a:rPr lang="en-US" sz="2400" b="0" dirty="0">
                  <a:latin typeface="Gill Sans Light"/>
                  <a:cs typeface="Gill Sans Light"/>
                </a:rPr>
                <a:t>”</a:t>
              </a:r>
            </a:p>
            <a:p>
              <a:pPr>
                <a:defRPr/>
              </a:pPr>
              <a:endParaRPr kumimoji="1" lang="en-US" sz="2000" b="0" dirty="0">
                <a:latin typeface="Gill Sans Light"/>
                <a:cs typeface="Gill Sans Light"/>
              </a:endParaRPr>
            </a:p>
            <a:p>
              <a:pPr>
                <a:defRPr/>
              </a:pPr>
              <a:endParaRPr lang="en-US" b="0" dirty="0">
                <a:latin typeface="Gill Sans Light"/>
                <a:cs typeface="Gill Sans Light"/>
              </a:endParaRPr>
            </a:p>
            <a:p>
              <a:pPr>
                <a:defRPr/>
              </a:pPr>
              <a:endParaRPr lang="en-US" sz="2400" b="0" dirty="0">
                <a:latin typeface="Gill Sans Light"/>
                <a:cs typeface="Gill Sans Light"/>
              </a:endParaRPr>
            </a:p>
            <a:p>
              <a:pPr>
                <a:defRPr/>
              </a:pPr>
              <a:r>
                <a:rPr lang="en-US" sz="2400" b="0" dirty="0">
                  <a:latin typeface="Gill Sans Light"/>
                  <a:cs typeface="Gill Sans Light"/>
                </a:rPr>
                <a:t> </a:t>
              </a:r>
            </a:p>
          </p:txBody>
        </p:sp>
        <p:sp>
          <p:nvSpPr>
            <p:cNvPr id="20489" name="Rectangle 5"/>
            <p:cNvSpPr>
              <a:spLocks noChangeArrowheads="1"/>
            </p:cNvSpPr>
            <p:nvPr/>
          </p:nvSpPr>
          <p:spPr bwMode="auto">
            <a:xfrm>
              <a:off x="1491" y="1690"/>
              <a:ext cx="936" cy="231"/>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0487" tIns="44450" rIns="90487" bIns="44450">
              <a:spAutoFit/>
            </a:bodyPr>
            <a:lstStyle/>
            <a:p>
              <a:pPr>
                <a:defRPr/>
              </a:pPr>
              <a:r>
                <a:rPr lang="en-US" b="0">
                  <a:latin typeface="Gill Sans Light"/>
                  <a:cs typeface="Gill Sans Light"/>
                </a:rPr>
                <a:t>Moore’s Law</a:t>
              </a:r>
            </a:p>
          </p:txBody>
        </p:sp>
        <p:pic>
          <p:nvPicPr>
            <p:cNvPr id="27657" name="Picture 6" descr="moores-law"/>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008"/>
              <a:ext cx="2688" cy="153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0491" name="Rectangle 7"/>
            <p:cNvSpPr>
              <a:spLocks noChangeArrowheads="1"/>
            </p:cNvSpPr>
            <p:nvPr/>
          </p:nvSpPr>
          <p:spPr bwMode="auto">
            <a:xfrm>
              <a:off x="288" y="3168"/>
              <a:ext cx="2408" cy="756"/>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107763" dir="18900000" algn="ctr" rotWithShape="0">
                      <a:srgbClr val="868686">
                        <a:alpha val="74998"/>
                      </a:srgbClr>
                    </a:outerShdw>
                  </a:effectLst>
                </a14:hiddenEffects>
              </a:ext>
            </a:extLst>
          </p:spPr>
          <p:txBody>
            <a:bodyPr>
              <a:spAutoFit/>
            </a:bodyPr>
            <a:lstStyle>
              <a:lvl1pPr eaLnBrk="0" hangingPunct="0">
                <a:lnSpc>
                  <a:spcPct val="90000"/>
                </a:lnSpc>
                <a:spcBef>
                  <a:spcPct val="30000"/>
                </a:spcBef>
                <a:buSzPct val="100000"/>
                <a:buChar char="•"/>
                <a:defRPr sz="2400" b="1">
                  <a:solidFill>
                    <a:schemeClr val="tx1"/>
                  </a:solidFill>
                  <a:latin typeface="Gill Sans Light" charset="0"/>
                  <a:ea typeface="Gill Sans Light" charset="0"/>
                  <a:cs typeface="Gill Sans Light" charset="0"/>
                </a:defRPr>
              </a:lvl1pPr>
              <a:lvl2pPr marL="742950" indent="-285750" eaLnBrk="0" hangingPunct="0">
                <a:lnSpc>
                  <a:spcPct val="90000"/>
                </a:lnSpc>
                <a:spcBef>
                  <a:spcPct val="30000"/>
                </a:spcBef>
                <a:buSzPct val="100000"/>
                <a:buChar char="–"/>
                <a:defRPr sz="2200" b="1">
                  <a:solidFill>
                    <a:schemeClr val="tx1"/>
                  </a:solidFill>
                  <a:latin typeface="Gill Sans Light" charset="0"/>
                  <a:ea typeface="Gill Sans Light" charset="0"/>
                  <a:cs typeface="Gill Sans Light" charset="0"/>
                </a:defRPr>
              </a:lvl2pPr>
              <a:lvl3pPr marL="1143000" indent="-228600" eaLnBrk="0" hangingPunct="0">
                <a:lnSpc>
                  <a:spcPct val="90000"/>
                </a:lnSpc>
                <a:spcBef>
                  <a:spcPct val="30000"/>
                </a:spcBef>
                <a:buSzPct val="100000"/>
                <a:buChar char="»"/>
                <a:defRPr sz="2000" b="1">
                  <a:solidFill>
                    <a:schemeClr val="tx1"/>
                  </a:solidFill>
                  <a:latin typeface="Gill Sans Light" charset="0"/>
                  <a:ea typeface="Gill Sans Light" charset="0"/>
                  <a:cs typeface="Gill Sans Light" charset="0"/>
                </a:defRPr>
              </a:lvl3pPr>
              <a:lvl4pPr marL="1600200" indent="-228600" eaLnBrk="0" hangingPunct="0">
                <a:lnSpc>
                  <a:spcPct val="90000"/>
                </a:lnSpc>
                <a:spcBef>
                  <a:spcPct val="30000"/>
                </a:spcBef>
                <a:buSzPct val="100000"/>
                <a:buChar char="•"/>
                <a:defRPr sz="2000" b="1">
                  <a:solidFill>
                    <a:schemeClr val="tx1"/>
                  </a:solidFill>
                  <a:latin typeface="Gill Sans Light" charset="0"/>
                  <a:ea typeface="Gill Sans Light" charset="0"/>
                  <a:cs typeface="Gill Sans Light" charset="0"/>
                </a:defRPr>
              </a:lvl4pPr>
              <a:lvl5pPr marL="2057400" indent="-228600" eaLnBrk="0" hangingPunct="0">
                <a:lnSpc>
                  <a:spcPct val="90000"/>
                </a:lnSpc>
                <a:spcBef>
                  <a:spcPct val="30000"/>
                </a:spcBef>
                <a:buSzPct val="100000"/>
                <a:buChar char="–"/>
                <a:defRPr sz="2000" b="1">
                  <a:solidFill>
                    <a:schemeClr val="tx1"/>
                  </a:solidFill>
                  <a:latin typeface="Gill Sans Light" charset="0"/>
                  <a:ea typeface="Gill Sans Light" charset="0"/>
                  <a:cs typeface="Gill Sans Light" charset="0"/>
                </a:defRPr>
              </a:lvl5pPr>
              <a:lvl6pPr marL="2514600" indent="-228600" eaLnBrk="0" fontAlgn="base" hangingPunct="0">
                <a:lnSpc>
                  <a:spcPct val="90000"/>
                </a:lnSpc>
                <a:spcBef>
                  <a:spcPct val="30000"/>
                </a:spcBef>
                <a:spcAft>
                  <a:spcPct val="0"/>
                </a:spcAft>
                <a:buSzPct val="100000"/>
                <a:buChar char="–"/>
                <a:defRPr sz="2000" b="1">
                  <a:solidFill>
                    <a:schemeClr val="tx1"/>
                  </a:solidFill>
                  <a:latin typeface="Gill Sans Light" charset="0"/>
                  <a:ea typeface="Gill Sans Light" charset="0"/>
                  <a:cs typeface="Gill Sans Light" charset="0"/>
                </a:defRPr>
              </a:lvl6pPr>
              <a:lvl7pPr marL="2971800" indent="-228600" eaLnBrk="0" fontAlgn="base" hangingPunct="0">
                <a:lnSpc>
                  <a:spcPct val="90000"/>
                </a:lnSpc>
                <a:spcBef>
                  <a:spcPct val="30000"/>
                </a:spcBef>
                <a:spcAft>
                  <a:spcPct val="0"/>
                </a:spcAft>
                <a:buSzPct val="100000"/>
                <a:buChar char="–"/>
                <a:defRPr sz="2000" b="1">
                  <a:solidFill>
                    <a:schemeClr val="tx1"/>
                  </a:solidFill>
                  <a:latin typeface="Gill Sans Light" charset="0"/>
                  <a:ea typeface="Gill Sans Light" charset="0"/>
                  <a:cs typeface="Gill Sans Light" charset="0"/>
                </a:defRPr>
              </a:lvl7pPr>
              <a:lvl8pPr marL="3429000" indent="-228600" eaLnBrk="0" fontAlgn="base" hangingPunct="0">
                <a:lnSpc>
                  <a:spcPct val="90000"/>
                </a:lnSpc>
                <a:spcBef>
                  <a:spcPct val="30000"/>
                </a:spcBef>
                <a:spcAft>
                  <a:spcPct val="0"/>
                </a:spcAft>
                <a:buSzPct val="100000"/>
                <a:buChar char="–"/>
                <a:defRPr sz="2000" b="1">
                  <a:solidFill>
                    <a:schemeClr val="tx1"/>
                  </a:solidFill>
                  <a:latin typeface="Gill Sans Light" charset="0"/>
                  <a:ea typeface="Gill Sans Light" charset="0"/>
                  <a:cs typeface="Gill Sans Light" charset="0"/>
                </a:defRPr>
              </a:lvl8pPr>
              <a:lvl9pPr marL="3886200" indent="-228600" eaLnBrk="0" fontAlgn="base" hangingPunct="0">
                <a:lnSpc>
                  <a:spcPct val="90000"/>
                </a:lnSpc>
                <a:spcBef>
                  <a:spcPct val="30000"/>
                </a:spcBef>
                <a:spcAft>
                  <a:spcPct val="0"/>
                </a:spcAft>
                <a:buSzPct val="100000"/>
                <a:buChar char="–"/>
                <a:defRPr sz="2000" b="1">
                  <a:solidFill>
                    <a:schemeClr val="tx1"/>
                  </a:solidFill>
                  <a:latin typeface="Gill Sans Light" charset="0"/>
                  <a:ea typeface="Gill Sans Light" charset="0"/>
                  <a:cs typeface="Gill Sans Light" charset="0"/>
                </a:defRPr>
              </a:lvl9pPr>
            </a:lstStyle>
            <a:p>
              <a:pPr>
                <a:lnSpc>
                  <a:spcPct val="100000"/>
                </a:lnSpc>
                <a:spcBef>
                  <a:spcPct val="0"/>
                </a:spcBef>
                <a:buSzTx/>
                <a:buFontTx/>
                <a:buNone/>
                <a:defRPr/>
              </a:pPr>
              <a:r>
                <a:rPr lang="en-US" altLang="en-US" b="0" dirty="0">
                  <a:latin typeface="Gill Sans Light"/>
                  <a:ea typeface="Gill Sans" charset="0"/>
                  <a:cs typeface="Gill Sans Light"/>
                </a:rPr>
                <a:t>Microprocessors have become smaller, denser, and more powerful</a:t>
              </a:r>
            </a:p>
          </p:txBody>
        </p:sp>
      </p:grpSp>
      <p:grpSp>
        <p:nvGrpSpPr>
          <p:cNvPr id="27651" name="Group 8"/>
          <p:cNvGrpSpPr>
            <a:grpSpLocks/>
          </p:cNvGrpSpPr>
          <p:nvPr/>
        </p:nvGrpSpPr>
        <p:grpSpPr bwMode="auto">
          <a:xfrm>
            <a:off x="1724025" y="809625"/>
            <a:ext cx="4597400" cy="5951538"/>
            <a:chOff x="2784" y="528"/>
            <a:chExt cx="2896" cy="3749"/>
          </a:xfrm>
        </p:grpSpPr>
        <p:sp>
          <p:nvSpPr>
            <p:cNvPr id="20485" name="Rectangle 9"/>
            <p:cNvSpPr>
              <a:spLocks noChangeArrowheads="1"/>
            </p:cNvSpPr>
            <p:nvPr/>
          </p:nvSpPr>
          <p:spPr bwMode="auto">
            <a:xfrm>
              <a:off x="2896" y="2823"/>
              <a:ext cx="2784" cy="1454"/>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107763" dir="18900000" algn="ctr" rotWithShape="0">
                      <a:srgbClr val="868686">
                        <a:alpha val="74998"/>
                      </a:srgbClr>
                    </a:outerShdw>
                  </a:effectLst>
                </a14:hiddenEffects>
              </a:ext>
            </a:extLst>
          </p:spPr>
          <p:txBody>
            <a:bodyPr>
              <a:spAutoFit/>
            </a:bodyPr>
            <a:lstStyle>
              <a:lvl1pPr eaLnBrk="0" hangingPunct="0">
                <a:lnSpc>
                  <a:spcPct val="90000"/>
                </a:lnSpc>
                <a:spcBef>
                  <a:spcPct val="30000"/>
                </a:spcBef>
                <a:buSzPct val="100000"/>
                <a:buChar char="•"/>
                <a:defRPr sz="2400" b="1">
                  <a:solidFill>
                    <a:schemeClr val="tx1"/>
                  </a:solidFill>
                  <a:latin typeface="Gill Sans Light" charset="0"/>
                  <a:ea typeface="Gill Sans Light" charset="0"/>
                  <a:cs typeface="Gill Sans Light" charset="0"/>
                </a:defRPr>
              </a:lvl1pPr>
              <a:lvl2pPr marL="742950" indent="-285750" eaLnBrk="0" hangingPunct="0">
                <a:lnSpc>
                  <a:spcPct val="90000"/>
                </a:lnSpc>
                <a:spcBef>
                  <a:spcPct val="30000"/>
                </a:spcBef>
                <a:buSzPct val="100000"/>
                <a:buChar char="–"/>
                <a:defRPr sz="2200" b="1">
                  <a:solidFill>
                    <a:schemeClr val="tx1"/>
                  </a:solidFill>
                  <a:latin typeface="Gill Sans Light" charset="0"/>
                  <a:ea typeface="Gill Sans Light" charset="0"/>
                  <a:cs typeface="Gill Sans Light" charset="0"/>
                </a:defRPr>
              </a:lvl2pPr>
              <a:lvl3pPr marL="1143000" indent="-228600" eaLnBrk="0" hangingPunct="0">
                <a:lnSpc>
                  <a:spcPct val="90000"/>
                </a:lnSpc>
                <a:spcBef>
                  <a:spcPct val="30000"/>
                </a:spcBef>
                <a:buSzPct val="100000"/>
                <a:buChar char="»"/>
                <a:defRPr sz="2000" b="1">
                  <a:solidFill>
                    <a:schemeClr val="tx1"/>
                  </a:solidFill>
                  <a:latin typeface="Gill Sans Light" charset="0"/>
                  <a:ea typeface="Gill Sans Light" charset="0"/>
                  <a:cs typeface="Gill Sans Light" charset="0"/>
                </a:defRPr>
              </a:lvl3pPr>
              <a:lvl4pPr marL="1600200" indent="-228600" eaLnBrk="0" hangingPunct="0">
                <a:lnSpc>
                  <a:spcPct val="90000"/>
                </a:lnSpc>
                <a:spcBef>
                  <a:spcPct val="30000"/>
                </a:spcBef>
                <a:buSzPct val="100000"/>
                <a:buChar char="•"/>
                <a:defRPr sz="2000" b="1">
                  <a:solidFill>
                    <a:schemeClr val="tx1"/>
                  </a:solidFill>
                  <a:latin typeface="Gill Sans Light" charset="0"/>
                  <a:ea typeface="Gill Sans Light" charset="0"/>
                  <a:cs typeface="Gill Sans Light" charset="0"/>
                </a:defRPr>
              </a:lvl4pPr>
              <a:lvl5pPr marL="2057400" indent="-228600" eaLnBrk="0" hangingPunct="0">
                <a:lnSpc>
                  <a:spcPct val="90000"/>
                </a:lnSpc>
                <a:spcBef>
                  <a:spcPct val="30000"/>
                </a:spcBef>
                <a:buSzPct val="100000"/>
                <a:buChar char="–"/>
                <a:defRPr sz="2000" b="1">
                  <a:solidFill>
                    <a:schemeClr val="tx1"/>
                  </a:solidFill>
                  <a:latin typeface="Gill Sans Light" charset="0"/>
                  <a:ea typeface="Gill Sans Light" charset="0"/>
                  <a:cs typeface="Gill Sans Light" charset="0"/>
                </a:defRPr>
              </a:lvl5pPr>
              <a:lvl6pPr marL="2514600" indent="-228600" eaLnBrk="0" fontAlgn="base" hangingPunct="0">
                <a:lnSpc>
                  <a:spcPct val="90000"/>
                </a:lnSpc>
                <a:spcBef>
                  <a:spcPct val="30000"/>
                </a:spcBef>
                <a:spcAft>
                  <a:spcPct val="0"/>
                </a:spcAft>
                <a:buSzPct val="100000"/>
                <a:buChar char="–"/>
                <a:defRPr sz="2000" b="1">
                  <a:solidFill>
                    <a:schemeClr val="tx1"/>
                  </a:solidFill>
                  <a:latin typeface="Gill Sans Light" charset="0"/>
                  <a:ea typeface="Gill Sans Light" charset="0"/>
                  <a:cs typeface="Gill Sans Light" charset="0"/>
                </a:defRPr>
              </a:lvl6pPr>
              <a:lvl7pPr marL="2971800" indent="-228600" eaLnBrk="0" fontAlgn="base" hangingPunct="0">
                <a:lnSpc>
                  <a:spcPct val="90000"/>
                </a:lnSpc>
                <a:spcBef>
                  <a:spcPct val="30000"/>
                </a:spcBef>
                <a:spcAft>
                  <a:spcPct val="0"/>
                </a:spcAft>
                <a:buSzPct val="100000"/>
                <a:buChar char="–"/>
                <a:defRPr sz="2000" b="1">
                  <a:solidFill>
                    <a:schemeClr val="tx1"/>
                  </a:solidFill>
                  <a:latin typeface="Gill Sans Light" charset="0"/>
                  <a:ea typeface="Gill Sans Light" charset="0"/>
                  <a:cs typeface="Gill Sans Light" charset="0"/>
                </a:defRPr>
              </a:lvl7pPr>
              <a:lvl8pPr marL="3429000" indent="-228600" eaLnBrk="0" fontAlgn="base" hangingPunct="0">
                <a:lnSpc>
                  <a:spcPct val="90000"/>
                </a:lnSpc>
                <a:spcBef>
                  <a:spcPct val="30000"/>
                </a:spcBef>
                <a:spcAft>
                  <a:spcPct val="0"/>
                </a:spcAft>
                <a:buSzPct val="100000"/>
                <a:buChar char="–"/>
                <a:defRPr sz="2000" b="1">
                  <a:solidFill>
                    <a:schemeClr val="tx1"/>
                  </a:solidFill>
                  <a:latin typeface="Gill Sans Light" charset="0"/>
                  <a:ea typeface="Gill Sans Light" charset="0"/>
                  <a:cs typeface="Gill Sans Light" charset="0"/>
                </a:defRPr>
              </a:lvl8pPr>
              <a:lvl9pPr marL="3886200" indent="-228600" eaLnBrk="0" fontAlgn="base" hangingPunct="0">
                <a:lnSpc>
                  <a:spcPct val="90000"/>
                </a:lnSpc>
                <a:spcBef>
                  <a:spcPct val="30000"/>
                </a:spcBef>
                <a:spcAft>
                  <a:spcPct val="0"/>
                </a:spcAft>
                <a:buSzPct val="100000"/>
                <a:buChar char="–"/>
                <a:defRPr sz="2000" b="1">
                  <a:solidFill>
                    <a:schemeClr val="tx1"/>
                  </a:solidFill>
                  <a:latin typeface="Gill Sans Light" charset="0"/>
                  <a:ea typeface="Gill Sans Light" charset="0"/>
                  <a:cs typeface="Gill Sans Light" charset="0"/>
                </a:defRPr>
              </a:lvl9pPr>
            </a:lstStyle>
            <a:p>
              <a:pPr>
                <a:lnSpc>
                  <a:spcPct val="100000"/>
                </a:lnSpc>
                <a:spcBef>
                  <a:spcPct val="0"/>
                </a:spcBef>
                <a:buSzTx/>
                <a:buFontTx/>
                <a:buNone/>
                <a:defRPr/>
              </a:pPr>
              <a:r>
                <a:rPr kumimoji="1" lang="en-US" altLang="en-US" b="0" dirty="0">
                  <a:latin typeface="Gill Sans Light"/>
                  <a:ea typeface="Gill Sans" charset="0"/>
                  <a:cs typeface="Gill Sans Light"/>
                </a:rPr>
                <a:t>Gordon Moore (co-founder of Intel) predicted in 1965 that the transistor density of semiconductor chips would double roughly every 18 months</a:t>
              </a:r>
            </a:p>
          </p:txBody>
        </p:sp>
        <p:pic>
          <p:nvPicPr>
            <p:cNvPr id="27653" name="Picture 10" descr="moore"/>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784" y="1632"/>
              <a:ext cx="1200" cy="119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27654" name="Picture 11" descr="moor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48" y="528"/>
              <a:ext cx="1920" cy="153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spTree>
    <p:extLst>
      <p:ext uri="{BB962C8B-B14F-4D97-AF65-F5344CB8AC3E}">
        <p14:creationId xmlns:p14="http://schemas.microsoft.com/office/powerpoint/2010/main" val="2969214157"/>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30721" name="Object 2"/>
          <p:cNvGraphicFramePr>
            <a:graphicFrameLocks noGrp="1" noChangeAspect="1"/>
          </p:cNvGraphicFramePr>
          <p:nvPr>
            <p:ph idx="1"/>
          </p:nvPr>
        </p:nvGraphicFramePr>
        <p:xfrm>
          <a:off x="1530350" y="850901"/>
          <a:ext cx="9145588" cy="4964113"/>
        </p:xfrm>
        <a:graphic>
          <a:graphicData uri="http://schemas.openxmlformats.org/presentationml/2006/ole">
            <mc:AlternateContent xmlns:mc="http://schemas.openxmlformats.org/markup-compatibility/2006">
              <mc:Choice xmlns:v="urn:schemas-microsoft-com:vml" Requires="v">
                <p:oleObj name="Chart" r:id="rId3" imgW="8369300" imgH="4546600" progId="Excel.Chart.8">
                  <p:embed/>
                </p:oleObj>
              </mc:Choice>
              <mc:Fallback>
                <p:oleObj name="Chart" r:id="rId3" imgW="8369300" imgH="4546600" progId="Excel.Chart.8">
                  <p:embed/>
                  <p:pic>
                    <p:nvPicPr>
                      <p:cNvPr id="30721" name="Object 2"/>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30350" y="850901"/>
                        <a:ext cx="9145588" cy="4964113"/>
                      </a:xfrm>
                      <a:prstGeom prst="rect">
                        <a:avLst/>
                      </a:prstGeom>
                      <a:noFill/>
                      <a:ln>
                        <a:noFill/>
                      </a:ln>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Lst>
                    </p:spPr>
                  </p:pic>
                </p:oleObj>
              </mc:Fallback>
            </mc:AlternateContent>
          </a:graphicData>
        </a:graphic>
      </p:graphicFrame>
      <p:sp>
        <p:nvSpPr>
          <p:cNvPr id="22531" name="Rectangle 3"/>
          <p:cNvSpPr>
            <a:spLocks noGrp="1" noChangeArrowheads="1"/>
          </p:cNvSpPr>
          <p:nvPr>
            <p:ph type="title"/>
          </p:nvPr>
        </p:nvSpPr>
        <p:spPr>
          <a:xfrm>
            <a:off x="1524000" y="152400"/>
            <a:ext cx="9067800" cy="533400"/>
          </a:xfrm>
        </p:spPr>
        <p:txBody>
          <a:bodyPr/>
          <a:lstStyle/>
          <a:p>
            <a:pPr>
              <a:defRPr/>
            </a:pPr>
            <a:r>
              <a:rPr lang="en-US" sz="2800" dirty="0">
                <a:latin typeface="Gill Sans Light" charset="0"/>
                <a:ea typeface="ＭＳ Ｐゴシック" charset="0"/>
                <a:cs typeface="Gill Sans Light" charset="0"/>
              </a:rPr>
              <a:t>Big Challenge: Slowdown in Joy’s law of Performance</a:t>
            </a:r>
          </a:p>
        </p:txBody>
      </p:sp>
      <p:sp>
        <p:nvSpPr>
          <p:cNvPr id="22532" name="Text Box 4"/>
          <p:cNvSpPr txBox="1">
            <a:spLocks noChangeArrowheads="1"/>
          </p:cNvSpPr>
          <p:nvPr/>
        </p:nvSpPr>
        <p:spPr bwMode="auto">
          <a:xfrm>
            <a:off x="1676400" y="5622926"/>
            <a:ext cx="4876656" cy="10156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eaLnBrk="0" hangingPunct="0">
              <a:lnSpc>
                <a:spcPct val="90000"/>
              </a:lnSpc>
              <a:spcBef>
                <a:spcPct val="30000"/>
              </a:spcBef>
              <a:buSzPct val="100000"/>
              <a:buChar char="•"/>
              <a:defRPr sz="2400" b="1">
                <a:solidFill>
                  <a:schemeClr val="tx1"/>
                </a:solidFill>
                <a:latin typeface="Gill Sans Light" charset="0"/>
                <a:ea typeface="Gill Sans Light" charset="0"/>
                <a:cs typeface="Gill Sans Light" charset="0"/>
              </a:defRPr>
            </a:lvl1pPr>
            <a:lvl2pPr marL="742950" indent="-285750" eaLnBrk="0" hangingPunct="0">
              <a:lnSpc>
                <a:spcPct val="90000"/>
              </a:lnSpc>
              <a:spcBef>
                <a:spcPct val="30000"/>
              </a:spcBef>
              <a:buSzPct val="100000"/>
              <a:buChar char="–"/>
              <a:defRPr sz="2200" b="1">
                <a:solidFill>
                  <a:schemeClr val="tx1"/>
                </a:solidFill>
                <a:latin typeface="Gill Sans Light" charset="0"/>
                <a:ea typeface="Gill Sans Light" charset="0"/>
                <a:cs typeface="Gill Sans Light" charset="0"/>
              </a:defRPr>
            </a:lvl2pPr>
            <a:lvl3pPr marL="1143000" indent="-228600" eaLnBrk="0" hangingPunct="0">
              <a:lnSpc>
                <a:spcPct val="90000"/>
              </a:lnSpc>
              <a:spcBef>
                <a:spcPct val="30000"/>
              </a:spcBef>
              <a:buSzPct val="100000"/>
              <a:buChar char="»"/>
              <a:defRPr sz="2000" b="1">
                <a:solidFill>
                  <a:schemeClr val="tx1"/>
                </a:solidFill>
                <a:latin typeface="Gill Sans Light" charset="0"/>
                <a:ea typeface="Gill Sans Light" charset="0"/>
                <a:cs typeface="Gill Sans Light" charset="0"/>
              </a:defRPr>
            </a:lvl3pPr>
            <a:lvl4pPr marL="1600200" indent="-228600" eaLnBrk="0" hangingPunct="0">
              <a:lnSpc>
                <a:spcPct val="90000"/>
              </a:lnSpc>
              <a:spcBef>
                <a:spcPct val="30000"/>
              </a:spcBef>
              <a:buSzPct val="100000"/>
              <a:buChar char="•"/>
              <a:defRPr sz="2000" b="1">
                <a:solidFill>
                  <a:schemeClr val="tx1"/>
                </a:solidFill>
                <a:latin typeface="Gill Sans Light" charset="0"/>
                <a:ea typeface="Gill Sans Light" charset="0"/>
                <a:cs typeface="Gill Sans Light" charset="0"/>
              </a:defRPr>
            </a:lvl4pPr>
            <a:lvl5pPr marL="2057400" indent="-228600" eaLnBrk="0" hangingPunct="0">
              <a:lnSpc>
                <a:spcPct val="90000"/>
              </a:lnSpc>
              <a:spcBef>
                <a:spcPct val="30000"/>
              </a:spcBef>
              <a:buSzPct val="100000"/>
              <a:buChar char="–"/>
              <a:defRPr sz="2000" b="1">
                <a:solidFill>
                  <a:schemeClr val="tx1"/>
                </a:solidFill>
                <a:latin typeface="Gill Sans Light" charset="0"/>
                <a:ea typeface="Gill Sans Light" charset="0"/>
                <a:cs typeface="Gill Sans Light" charset="0"/>
              </a:defRPr>
            </a:lvl5pPr>
            <a:lvl6pPr marL="2514600" indent="-228600" eaLnBrk="0" fontAlgn="base" hangingPunct="0">
              <a:lnSpc>
                <a:spcPct val="90000"/>
              </a:lnSpc>
              <a:spcBef>
                <a:spcPct val="30000"/>
              </a:spcBef>
              <a:spcAft>
                <a:spcPct val="0"/>
              </a:spcAft>
              <a:buSzPct val="100000"/>
              <a:buChar char="–"/>
              <a:defRPr sz="2000" b="1">
                <a:solidFill>
                  <a:schemeClr val="tx1"/>
                </a:solidFill>
                <a:latin typeface="Gill Sans Light" charset="0"/>
                <a:ea typeface="Gill Sans Light" charset="0"/>
                <a:cs typeface="Gill Sans Light" charset="0"/>
              </a:defRPr>
            </a:lvl6pPr>
            <a:lvl7pPr marL="2971800" indent="-228600" eaLnBrk="0" fontAlgn="base" hangingPunct="0">
              <a:lnSpc>
                <a:spcPct val="90000"/>
              </a:lnSpc>
              <a:spcBef>
                <a:spcPct val="30000"/>
              </a:spcBef>
              <a:spcAft>
                <a:spcPct val="0"/>
              </a:spcAft>
              <a:buSzPct val="100000"/>
              <a:buChar char="–"/>
              <a:defRPr sz="2000" b="1">
                <a:solidFill>
                  <a:schemeClr val="tx1"/>
                </a:solidFill>
                <a:latin typeface="Gill Sans Light" charset="0"/>
                <a:ea typeface="Gill Sans Light" charset="0"/>
                <a:cs typeface="Gill Sans Light" charset="0"/>
              </a:defRPr>
            </a:lvl7pPr>
            <a:lvl8pPr marL="3429000" indent="-228600" eaLnBrk="0" fontAlgn="base" hangingPunct="0">
              <a:lnSpc>
                <a:spcPct val="90000"/>
              </a:lnSpc>
              <a:spcBef>
                <a:spcPct val="30000"/>
              </a:spcBef>
              <a:spcAft>
                <a:spcPct val="0"/>
              </a:spcAft>
              <a:buSzPct val="100000"/>
              <a:buChar char="–"/>
              <a:defRPr sz="2000" b="1">
                <a:solidFill>
                  <a:schemeClr val="tx1"/>
                </a:solidFill>
                <a:latin typeface="Gill Sans Light" charset="0"/>
                <a:ea typeface="Gill Sans Light" charset="0"/>
                <a:cs typeface="Gill Sans Light" charset="0"/>
              </a:defRPr>
            </a:lvl8pPr>
            <a:lvl9pPr marL="3886200" indent="-228600" eaLnBrk="0" fontAlgn="base" hangingPunct="0">
              <a:lnSpc>
                <a:spcPct val="90000"/>
              </a:lnSpc>
              <a:spcBef>
                <a:spcPct val="30000"/>
              </a:spcBef>
              <a:spcAft>
                <a:spcPct val="0"/>
              </a:spcAft>
              <a:buSzPct val="100000"/>
              <a:buChar char="–"/>
              <a:defRPr sz="2000" b="1">
                <a:solidFill>
                  <a:schemeClr val="tx1"/>
                </a:solidFill>
                <a:latin typeface="Gill Sans Light" charset="0"/>
                <a:ea typeface="Gill Sans Light" charset="0"/>
                <a:cs typeface="Gill Sans Light" charset="0"/>
              </a:defRPr>
            </a:lvl9pPr>
          </a:lstStyle>
          <a:p>
            <a:pPr eaLnBrk="1" hangingPunct="1">
              <a:lnSpc>
                <a:spcPct val="100000"/>
              </a:lnSpc>
              <a:spcBef>
                <a:spcPct val="0"/>
              </a:spcBef>
              <a:buSzTx/>
              <a:defRPr/>
            </a:pPr>
            <a:r>
              <a:rPr lang="en-US" altLang="en-US" sz="2000" b="0" dirty="0">
                <a:latin typeface="Gill Sans Light"/>
                <a:ea typeface="Gill Sans" charset="0"/>
                <a:cs typeface="Gill Sans Light"/>
              </a:rPr>
              <a:t> VAX	        : 25%/year 1978 to 1986</a:t>
            </a:r>
          </a:p>
          <a:p>
            <a:pPr eaLnBrk="1" hangingPunct="1">
              <a:lnSpc>
                <a:spcPct val="100000"/>
              </a:lnSpc>
              <a:spcBef>
                <a:spcPct val="0"/>
              </a:spcBef>
              <a:buSzTx/>
              <a:defRPr/>
            </a:pPr>
            <a:r>
              <a:rPr lang="en-US" altLang="en-US" sz="2000" b="0" dirty="0">
                <a:latin typeface="Gill Sans Light"/>
                <a:ea typeface="Gill Sans" charset="0"/>
                <a:cs typeface="Gill Sans Light"/>
              </a:rPr>
              <a:t> RISC + x86  : 52%/year 1986 to 2002</a:t>
            </a:r>
          </a:p>
          <a:p>
            <a:pPr eaLnBrk="1" hangingPunct="1">
              <a:lnSpc>
                <a:spcPct val="100000"/>
              </a:lnSpc>
              <a:spcBef>
                <a:spcPct val="0"/>
              </a:spcBef>
              <a:buSzTx/>
              <a:defRPr/>
            </a:pPr>
            <a:r>
              <a:rPr lang="en-US" altLang="en-US" sz="2000" b="0" dirty="0">
                <a:latin typeface="Gill Sans Light"/>
                <a:ea typeface="Gill Sans" charset="0"/>
                <a:cs typeface="Gill Sans Light"/>
              </a:rPr>
              <a:t> RISC + x86  : ??%/year 2002 to present</a:t>
            </a:r>
          </a:p>
        </p:txBody>
      </p:sp>
      <p:sp>
        <p:nvSpPr>
          <p:cNvPr id="22533" name="Text Box 5"/>
          <p:cNvSpPr txBox="1">
            <a:spLocks noChangeArrowheads="1"/>
          </p:cNvSpPr>
          <p:nvPr/>
        </p:nvSpPr>
        <p:spPr bwMode="auto">
          <a:xfrm>
            <a:off x="2667000" y="1143001"/>
            <a:ext cx="4979988" cy="83099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lnSpc>
                <a:spcPct val="90000"/>
              </a:lnSpc>
              <a:spcBef>
                <a:spcPct val="30000"/>
              </a:spcBef>
              <a:buSzPct val="100000"/>
              <a:buChar char="•"/>
              <a:defRPr sz="2400" b="1">
                <a:solidFill>
                  <a:schemeClr val="tx1"/>
                </a:solidFill>
                <a:latin typeface="Gill Sans Light" charset="0"/>
                <a:ea typeface="Gill Sans Light" charset="0"/>
                <a:cs typeface="Gill Sans Light" charset="0"/>
              </a:defRPr>
            </a:lvl1pPr>
            <a:lvl2pPr marL="742950" indent="-285750" eaLnBrk="0" hangingPunct="0">
              <a:lnSpc>
                <a:spcPct val="90000"/>
              </a:lnSpc>
              <a:spcBef>
                <a:spcPct val="30000"/>
              </a:spcBef>
              <a:buSzPct val="100000"/>
              <a:buChar char="–"/>
              <a:defRPr sz="2200" b="1">
                <a:solidFill>
                  <a:schemeClr val="tx1"/>
                </a:solidFill>
                <a:latin typeface="Gill Sans Light" charset="0"/>
                <a:ea typeface="Gill Sans Light" charset="0"/>
                <a:cs typeface="Gill Sans Light" charset="0"/>
              </a:defRPr>
            </a:lvl2pPr>
            <a:lvl3pPr marL="1143000" indent="-228600" eaLnBrk="0" hangingPunct="0">
              <a:lnSpc>
                <a:spcPct val="90000"/>
              </a:lnSpc>
              <a:spcBef>
                <a:spcPct val="30000"/>
              </a:spcBef>
              <a:buSzPct val="100000"/>
              <a:buChar char="»"/>
              <a:defRPr sz="2000" b="1">
                <a:solidFill>
                  <a:schemeClr val="tx1"/>
                </a:solidFill>
                <a:latin typeface="Gill Sans Light" charset="0"/>
                <a:ea typeface="Gill Sans Light" charset="0"/>
                <a:cs typeface="Gill Sans Light" charset="0"/>
              </a:defRPr>
            </a:lvl3pPr>
            <a:lvl4pPr marL="1600200" indent="-228600" eaLnBrk="0" hangingPunct="0">
              <a:lnSpc>
                <a:spcPct val="90000"/>
              </a:lnSpc>
              <a:spcBef>
                <a:spcPct val="30000"/>
              </a:spcBef>
              <a:buSzPct val="100000"/>
              <a:buChar char="•"/>
              <a:defRPr sz="2000" b="1">
                <a:solidFill>
                  <a:schemeClr val="tx1"/>
                </a:solidFill>
                <a:latin typeface="Gill Sans Light" charset="0"/>
                <a:ea typeface="Gill Sans Light" charset="0"/>
                <a:cs typeface="Gill Sans Light" charset="0"/>
              </a:defRPr>
            </a:lvl4pPr>
            <a:lvl5pPr marL="2057400" indent="-228600" eaLnBrk="0" hangingPunct="0">
              <a:lnSpc>
                <a:spcPct val="90000"/>
              </a:lnSpc>
              <a:spcBef>
                <a:spcPct val="30000"/>
              </a:spcBef>
              <a:buSzPct val="100000"/>
              <a:buChar char="–"/>
              <a:defRPr sz="2000" b="1">
                <a:solidFill>
                  <a:schemeClr val="tx1"/>
                </a:solidFill>
                <a:latin typeface="Gill Sans Light" charset="0"/>
                <a:ea typeface="Gill Sans Light" charset="0"/>
                <a:cs typeface="Gill Sans Light" charset="0"/>
              </a:defRPr>
            </a:lvl5pPr>
            <a:lvl6pPr marL="2514600" indent="-228600" eaLnBrk="0" fontAlgn="base" hangingPunct="0">
              <a:lnSpc>
                <a:spcPct val="90000"/>
              </a:lnSpc>
              <a:spcBef>
                <a:spcPct val="30000"/>
              </a:spcBef>
              <a:spcAft>
                <a:spcPct val="0"/>
              </a:spcAft>
              <a:buSzPct val="100000"/>
              <a:buChar char="–"/>
              <a:defRPr sz="2000" b="1">
                <a:solidFill>
                  <a:schemeClr val="tx1"/>
                </a:solidFill>
                <a:latin typeface="Gill Sans Light" charset="0"/>
                <a:ea typeface="Gill Sans Light" charset="0"/>
                <a:cs typeface="Gill Sans Light" charset="0"/>
              </a:defRPr>
            </a:lvl6pPr>
            <a:lvl7pPr marL="2971800" indent="-228600" eaLnBrk="0" fontAlgn="base" hangingPunct="0">
              <a:lnSpc>
                <a:spcPct val="90000"/>
              </a:lnSpc>
              <a:spcBef>
                <a:spcPct val="30000"/>
              </a:spcBef>
              <a:spcAft>
                <a:spcPct val="0"/>
              </a:spcAft>
              <a:buSzPct val="100000"/>
              <a:buChar char="–"/>
              <a:defRPr sz="2000" b="1">
                <a:solidFill>
                  <a:schemeClr val="tx1"/>
                </a:solidFill>
                <a:latin typeface="Gill Sans Light" charset="0"/>
                <a:ea typeface="Gill Sans Light" charset="0"/>
                <a:cs typeface="Gill Sans Light" charset="0"/>
              </a:defRPr>
            </a:lvl7pPr>
            <a:lvl8pPr marL="3429000" indent="-228600" eaLnBrk="0" fontAlgn="base" hangingPunct="0">
              <a:lnSpc>
                <a:spcPct val="90000"/>
              </a:lnSpc>
              <a:spcBef>
                <a:spcPct val="30000"/>
              </a:spcBef>
              <a:spcAft>
                <a:spcPct val="0"/>
              </a:spcAft>
              <a:buSzPct val="100000"/>
              <a:buChar char="–"/>
              <a:defRPr sz="2000" b="1">
                <a:solidFill>
                  <a:schemeClr val="tx1"/>
                </a:solidFill>
                <a:latin typeface="Gill Sans Light" charset="0"/>
                <a:ea typeface="Gill Sans Light" charset="0"/>
                <a:cs typeface="Gill Sans Light" charset="0"/>
              </a:defRPr>
            </a:lvl8pPr>
            <a:lvl9pPr marL="3886200" indent="-228600" eaLnBrk="0" fontAlgn="base" hangingPunct="0">
              <a:lnSpc>
                <a:spcPct val="90000"/>
              </a:lnSpc>
              <a:spcBef>
                <a:spcPct val="30000"/>
              </a:spcBef>
              <a:spcAft>
                <a:spcPct val="0"/>
              </a:spcAft>
              <a:buSzPct val="100000"/>
              <a:buChar char="–"/>
              <a:defRPr sz="2000" b="1">
                <a:solidFill>
                  <a:schemeClr val="tx1"/>
                </a:solidFill>
                <a:latin typeface="Gill Sans Light" charset="0"/>
                <a:ea typeface="Gill Sans Light" charset="0"/>
                <a:cs typeface="Gill Sans Light" charset="0"/>
              </a:defRPr>
            </a:lvl9pPr>
          </a:lstStyle>
          <a:p>
            <a:pPr>
              <a:lnSpc>
                <a:spcPct val="100000"/>
              </a:lnSpc>
              <a:spcBef>
                <a:spcPct val="0"/>
              </a:spcBef>
              <a:buSzTx/>
              <a:buFontTx/>
              <a:buNone/>
              <a:defRPr/>
            </a:pPr>
            <a:r>
              <a:rPr lang="en-US" altLang="en-US" sz="1600" b="0"/>
              <a:t>From Hennessy and Patterson, </a:t>
            </a:r>
            <a:r>
              <a:rPr lang="en-US" altLang="en-US" sz="1600" b="0" i="1"/>
              <a:t>Computer Architecture: A Quantitative Approach</a:t>
            </a:r>
            <a:r>
              <a:rPr lang="en-US" altLang="en-US" sz="1600" b="0"/>
              <a:t>, 4th edition, Sept. 15, 2006</a:t>
            </a:r>
          </a:p>
        </p:txBody>
      </p:sp>
      <p:sp>
        <p:nvSpPr>
          <p:cNvPr id="297990" name="Text Box 6"/>
          <p:cNvSpPr txBox="1">
            <a:spLocks noChangeArrowheads="1"/>
          </p:cNvSpPr>
          <p:nvPr/>
        </p:nvSpPr>
        <p:spPr bwMode="auto">
          <a:xfrm>
            <a:off x="6096000" y="3733800"/>
            <a:ext cx="4419600" cy="12001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2400">
                <a:solidFill>
                  <a:schemeClr val="tx1"/>
                </a:solidFill>
                <a:latin typeface="Gill Sans" charset="0"/>
                <a:ea typeface="ＭＳ Ｐゴシック" charset="0"/>
                <a:cs typeface="Gill Sans" charset="0"/>
              </a:defRPr>
            </a:lvl1pPr>
            <a:lvl2pPr marL="742950" indent="-285750">
              <a:defRPr sz="2200">
                <a:solidFill>
                  <a:schemeClr val="tx1"/>
                </a:solidFill>
                <a:latin typeface="Gill Sans" charset="0"/>
                <a:ea typeface="Gill Sans" charset="0"/>
                <a:cs typeface="Gill Sans" charset="0"/>
              </a:defRPr>
            </a:lvl2pPr>
            <a:lvl3pPr>
              <a:defRPr sz="2000">
                <a:solidFill>
                  <a:schemeClr val="tx1"/>
                </a:solidFill>
                <a:latin typeface="Gill Sans" charset="0"/>
                <a:ea typeface="Gill Sans" charset="0"/>
                <a:cs typeface="Gill Sans" charset="0"/>
              </a:defRPr>
            </a:lvl3pPr>
            <a:lvl4pPr marL="1600200" indent="-228600">
              <a:defRPr sz="2000">
                <a:solidFill>
                  <a:schemeClr val="tx1"/>
                </a:solidFill>
                <a:latin typeface="Gill Sans" charset="0"/>
                <a:ea typeface="Gill Sans" charset="0"/>
                <a:cs typeface="Gill Sans" charset="0"/>
              </a:defRPr>
            </a:lvl4pPr>
            <a:lvl5pPr marL="2057400" indent="-228600">
              <a:defRPr sz="2000">
                <a:solidFill>
                  <a:schemeClr val="tx1"/>
                </a:solidFill>
                <a:latin typeface="Gill Sans" charset="0"/>
                <a:ea typeface="Gill Sans" charset="0"/>
                <a:cs typeface="Gill Sans" charset="0"/>
              </a:defRPr>
            </a:lvl5pPr>
            <a:lvl6pPr marL="2514600" indent="-228600">
              <a:defRPr sz="2000">
                <a:solidFill>
                  <a:schemeClr val="tx1"/>
                </a:solidFill>
                <a:latin typeface="Gill Sans" charset="0"/>
                <a:ea typeface="Gill Sans" charset="0"/>
                <a:cs typeface="Gill Sans" charset="0"/>
              </a:defRPr>
            </a:lvl6pPr>
            <a:lvl7pPr marL="2971800" indent="-228600">
              <a:defRPr sz="2000">
                <a:solidFill>
                  <a:schemeClr val="tx1"/>
                </a:solidFill>
                <a:latin typeface="Gill Sans" charset="0"/>
                <a:ea typeface="Gill Sans" charset="0"/>
                <a:cs typeface="Gill Sans" charset="0"/>
              </a:defRPr>
            </a:lvl7pPr>
            <a:lvl8pPr marL="3429000" indent="-228600">
              <a:defRPr sz="2000">
                <a:solidFill>
                  <a:schemeClr val="tx1"/>
                </a:solidFill>
                <a:latin typeface="Gill Sans" charset="0"/>
                <a:ea typeface="Gill Sans" charset="0"/>
                <a:cs typeface="Gill Sans" charset="0"/>
              </a:defRPr>
            </a:lvl8pPr>
            <a:lvl9pPr marL="3886200" indent="-228600">
              <a:defRPr sz="2000">
                <a:solidFill>
                  <a:schemeClr val="tx1"/>
                </a:solidFill>
                <a:latin typeface="Gill Sans" charset="0"/>
                <a:ea typeface="Gill Sans" charset="0"/>
                <a:cs typeface="Gill Sans" charset="0"/>
              </a:defRPr>
            </a:lvl9pPr>
          </a:lstStyle>
          <a:p>
            <a:pPr>
              <a:defRPr/>
            </a:pPr>
            <a:r>
              <a:rPr lang="en-US" b="0">
                <a:solidFill>
                  <a:srgbClr val="FF0000"/>
                </a:solidFill>
                <a:sym typeface="Symbol" charset="0"/>
              </a:rPr>
              <a:t> </a:t>
            </a:r>
            <a:r>
              <a:rPr lang="en-US" b="0">
                <a:solidFill>
                  <a:srgbClr val="FF0000"/>
                </a:solidFill>
              </a:rPr>
              <a:t>Sea change in chip design: multiple “cores” or processors per chip</a:t>
            </a:r>
          </a:p>
        </p:txBody>
      </p:sp>
      <p:sp>
        <p:nvSpPr>
          <p:cNvPr id="22535" name="Text Box 7"/>
          <p:cNvSpPr txBox="1">
            <a:spLocks noChangeArrowheads="1"/>
          </p:cNvSpPr>
          <p:nvPr/>
        </p:nvSpPr>
        <p:spPr bwMode="auto">
          <a:xfrm>
            <a:off x="10210800" y="898526"/>
            <a:ext cx="495300"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eaLnBrk="0" hangingPunct="0">
              <a:lnSpc>
                <a:spcPct val="90000"/>
              </a:lnSpc>
              <a:spcBef>
                <a:spcPct val="30000"/>
              </a:spcBef>
              <a:buSzPct val="100000"/>
              <a:buChar char="•"/>
              <a:defRPr sz="2400" b="1">
                <a:solidFill>
                  <a:schemeClr val="tx1"/>
                </a:solidFill>
                <a:latin typeface="Gill Sans Light" charset="0"/>
                <a:ea typeface="Gill Sans Light" charset="0"/>
                <a:cs typeface="Gill Sans Light" charset="0"/>
              </a:defRPr>
            </a:lvl1pPr>
            <a:lvl2pPr marL="742950" indent="-285750" eaLnBrk="0" hangingPunct="0">
              <a:lnSpc>
                <a:spcPct val="90000"/>
              </a:lnSpc>
              <a:spcBef>
                <a:spcPct val="30000"/>
              </a:spcBef>
              <a:buSzPct val="100000"/>
              <a:buChar char="–"/>
              <a:defRPr sz="2200" b="1">
                <a:solidFill>
                  <a:schemeClr val="tx1"/>
                </a:solidFill>
                <a:latin typeface="Gill Sans Light" charset="0"/>
                <a:ea typeface="Gill Sans Light" charset="0"/>
                <a:cs typeface="Gill Sans Light" charset="0"/>
              </a:defRPr>
            </a:lvl2pPr>
            <a:lvl3pPr marL="1143000" indent="-228600" eaLnBrk="0" hangingPunct="0">
              <a:lnSpc>
                <a:spcPct val="90000"/>
              </a:lnSpc>
              <a:spcBef>
                <a:spcPct val="30000"/>
              </a:spcBef>
              <a:buSzPct val="100000"/>
              <a:buChar char="»"/>
              <a:defRPr sz="2000" b="1">
                <a:solidFill>
                  <a:schemeClr val="tx1"/>
                </a:solidFill>
                <a:latin typeface="Gill Sans Light" charset="0"/>
                <a:ea typeface="Gill Sans Light" charset="0"/>
                <a:cs typeface="Gill Sans Light" charset="0"/>
              </a:defRPr>
            </a:lvl3pPr>
            <a:lvl4pPr marL="1600200" indent="-228600" eaLnBrk="0" hangingPunct="0">
              <a:lnSpc>
                <a:spcPct val="90000"/>
              </a:lnSpc>
              <a:spcBef>
                <a:spcPct val="30000"/>
              </a:spcBef>
              <a:buSzPct val="100000"/>
              <a:buChar char="•"/>
              <a:defRPr sz="2000" b="1">
                <a:solidFill>
                  <a:schemeClr val="tx1"/>
                </a:solidFill>
                <a:latin typeface="Gill Sans Light" charset="0"/>
                <a:ea typeface="Gill Sans Light" charset="0"/>
                <a:cs typeface="Gill Sans Light" charset="0"/>
              </a:defRPr>
            </a:lvl4pPr>
            <a:lvl5pPr marL="2057400" indent="-228600" eaLnBrk="0" hangingPunct="0">
              <a:lnSpc>
                <a:spcPct val="90000"/>
              </a:lnSpc>
              <a:spcBef>
                <a:spcPct val="30000"/>
              </a:spcBef>
              <a:buSzPct val="100000"/>
              <a:buChar char="–"/>
              <a:defRPr sz="2000" b="1">
                <a:solidFill>
                  <a:schemeClr val="tx1"/>
                </a:solidFill>
                <a:latin typeface="Gill Sans Light" charset="0"/>
                <a:ea typeface="Gill Sans Light" charset="0"/>
                <a:cs typeface="Gill Sans Light" charset="0"/>
              </a:defRPr>
            </a:lvl5pPr>
            <a:lvl6pPr marL="2514600" indent="-228600" eaLnBrk="0" fontAlgn="base" hangingPunct="0">
              <a:lnSpc>
                <a:spcPct val="90000"/>
              </a:lnSpc>
              <a:spcBef>
                <a:spcPct val="30000"/>
              </a:spcBef>
              <a:spcAft>
                <a:spcPct val="0"/>
              </a:spcAft>
              <a:buSzPct val="100000"/>
              <a:buChar char="–"/>
              <a:defRPr sz="2000" b="1">
                <a:solidFill>
                  <a:schemeClr val="tx1"/>
                </a:solidFill>
                <a:latin typeface="Gill Sans Light" charset="0"/>
                <a:ea typeface="Gill Sans Light" charset="0"/>
                <a:cs typeface="Gill Sans Light" charset="0"/>
              </a:defRPr>
            </a:lvl6pPr>
            <a:lvl7pPr marL="2971800" indent="-228600" eaLnBrk="0" fontAlgn="base" hangingPunct="0">
              <a:lnSpc>
                <a:spcPct val="90000"/>
              </a:lnSpc>
              <a:spcBef>
                <a:spcPct val="30000"/>
              </a:spcBef>
              <a:spcAft>
                <a:spcPct val="0"/>
              </a:spcAft>
              <a:buSzPct val="100000"/>
              <a:buChar char="–"/>
              <a:defRPr sz="2000" b="1">
                <a:solidFill>
                  <a:schemeClr val="tx1"/>
                </a:solidFill>
                <a:latin typeface="Gill Sans Light" charset="0"/>
                <a:ea typeface="Gill Sans Light" charset="0"/>
                <a:cs typeface="Gill Sans Light" charset="0"/>
              </a:defRPr>
            </a:lvl7pPr>
            <a:lvl8pPr marL="3429000" indent="-228600" eaLnBrk="0" fontAlgn="base" hangingPunct="0">
              <a:lnSpc>
                <a:spcPct val="90000"/>
              </a:lnSpc>
              <a:spcBef>
                <a:spcPct val="30000"/>
              </a:spcBef>
              <a:spcAft>
                <a:spcPct val="0"/>
              </a:spcAft>
              <a:buSzPct val="100000"/>
              <a:buChar char="–"/>
              <a:defRPr sz="2000" b="1">
                <a:solidFill>
                  <a:schemeClr val="tx1"/>
                </a:solidFill>
                <a:latin typeface="Gill Sans Light" charset="0"/>
                <a:ea typeface="Gill Sans Light" charset="0"/>
                <a:cs typeface="Gill Sans Light" charset="0"/>
              </a:defRPr>
            </a:lvl8pPr>
            <a:lvl9pPr marL="3886200" indent="-228600" eaLnBrk="0" fontAlgn="base" hangingPunct="0">
              <a:lnSpc>
                <a:spcPct val="90000"/>
              </a:lnSpc>
              <a:spcBef>
                <a:spcPct val="30000"/>
              </a:spcBef>
              <a:spcAft>
                <a:spcPct val="0"/>
              </a:spcAft>
              <a:buSzPct val="100000"/>
              <a:buChar char="–"/>
              <a:defRPr sz="2000" b="1">
                <a:solidFill>
                  <a:schemeClr val="tx1"/>
                </a:solidFill>
                <a:latin typeface="Gill Sans Light" charset="0"/>
                <a:ea typeface="Gill Sans Light" charset="0"/>
                <a:cs typeface="Gill Sans Light" charset="0"/>
              </a:defRPr>
            </a:lvl9pPr>
          </a:lstStyle>
          <a:p>
            <a:pPr>
              <a:lnSpc>
                <a:spcPct val="100000"/>
              </a:lnSpc>
              <a:spcBef>
                <a:spcPct val="0"/>
              </a:spcBef>
              <a:buSzTx/>
              <a:buFontTx/>
              <a:buNone/>
              <a:defRPr/>
            </a:pPr>
            <a:r>
              <a:rPr lang="en-US" altLang="en-US" sz="2000" b="0">
                <a:solidFill>
                  <a:srgbClr val="FF0000"/>
                </a:solidFill>
              </a:rPr>
              <a:t>3X</a:t>
            </a:r>
          </a:p>
        </p:txBody>
      </p:sp>
      <p:sp>
        <p:nvSpPr>
          <p:cNvPr id="22536" name="Line 8"/>
          <p:cNvSpPr>
            <a:spLocks noChangeShapeType="1"/>
          </p:cNvSpPr>
          <p:nvPr/>
        </p:nvSpPr>
        <p:spPr bwMode="auto">
          <a:xfrm>
            <a:off x="10287000" y="850900"/>
            <a:ext cx="0" cy="457200"/>
          </a:xfrm>
          <a:prstGeom prst="line">
            <a:avLst/>
          </a:prstGeom>
          <a:noFill/>
          <a:ln w="9525">
            <a:solidFill>
              <a:srgbClr val="FF0000"/>
            </a:solidFill>
            <a:round/>
            <a:headEnd type="triangle"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eaLnBrk="1" hangingPunct="1">
              <a:defRPr/>
            </a:pPr>
            <a:endParaRPr lang="en-US">
              <a:ea typeface="Arial" charset="0"/>
              <a:cs typeface="Arial" charset="0"/>
            </a:endParaRPr>
          </a:p>
        </p:txBody>
      </p:sp>
    </p:spTree>
    <p:extLst>
      <p:ext uri="{BB962C8B-B14F-4D97-AF65-F5344CB8AC3E}">
        <p14:creationId xmlns:p14="http://schemas.microsoft.com/office/powerpoint/2010/main" val="188545758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799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990" grpId="0"/>
    </p:bldLst>
  </p:timing>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578" name="Rectangle 4"/>
          <p:cNvSpPr>
            <a:spLocks noGrp="1" noChangeArrowheads="1"/>
          </p:cNvSpPr>
          <p:nvPr>
            <p:ph type="title"/>
          </p:nvPr>
        </p:nvSpPr>
        <p:spPr/>
        <p:txBody>
          <a:bodyPr/>
          <a:lstStyle/>
          <a:p>
            <a:pPr>
              <a:defRPr/>
            </a:pPr>
            <a:r>
              <a:rPr lang="en-US" altLang="en-US">
                <a:latin typeface="Gill Sans Light" charset="0"/>
                <a:cs typeface="Gill Sans Light" charset="0"/>
              </a:rPr>
              <a:t>Another Challenge: Power Density</a:t>
            </a:r>
          </a:p>
        </p:txBody>
      </p:sp>
      <p:sp>
        <p:nvSpPr>
          <p:cNvPr id="305158" name="Rectangle 6"/>
          <p:cNvSpPr>
            <a:spLocks noGrp="1" noChangeArrowheads="1"/>
          </p:cNvSpPr>
          <p:nvPr>
            <p:ph type="body" idx="1"/>
          </p:nvPr>
        </p:nvSpPr>
        <p:spPr>
          <a:xfrm>
            <a:off x="1752600" y="4495800"/>
            <a:ext cx="8686800" cy="2133600"/>
          </a:xfrm>
        </p:spPr>
        <p:txBody>
          <a:bodyPr/>
          <a:lstStyle/>
          <a:p>
            <a:pPr>
              <a:defRPr/>
            </a:pPr>
            <a:r>
              <a:rPr lang="en-US" dirty="0">
                <a:ea typeface="ＭＳ Ｐゴシック" charset="0"/>
              </a:rPr>
              <a:t>Moore’s law extrapolation</a:t>
            </a:r>
          </a:p>
          <a:p>
            <a:pPr lvl="1">
              <a:defRPr/>
            </a:pPr>
            <a:r>
              <a:rPr lang="en-US" dirty="0">
                <a:ea typeface="ＭＳ Ｐゴシック" charset="0"/>
              </a:rPr>
              <a:t>Potential power density reaching amazing levels!</a:t>
            </a:r>
          </a:p>
          <a:p>
            <a:pPr>
              <a:defRPr/>
            </a:pPr>
            <a:r>
              <a:rPr lang="en-US" dirty="0">
                <a:ea typeface="ＭＳ Ｐゴシック" charset="0"/>
              </a:rPr>
              <a:t>Flip side: battery life very important</a:t>
            </a:r>
          </a:p>
          <a:p>
            <a:pPr lvl="1">
              <a:defRPr/>
            </a:pPr>
            <a:r>
              <a:rPr lang="en-US" dirty="0">
                <a:ea typeface="ＭＳ Ｐゴシック" charset="0"/>
              </a:rPr>
              <a:t>Moore’s law yielded more functionality at equivalent </a:t>
            </a:r>
            <a:br>
              <a:rPr lang="en-US" dirty="0">
                <a:ea typeface="ＭＳ Ｐゴシック" charset="0"/>
              </a:rPr>
            </a:br>
            <a:r>
              <a:rPr lang="en-US" dirty="0">
                <a:ea typeface="ＭＳ Ｐゴシック" charset="0"/>
              </a:rPr>
              <a:t>(or less) total energy consumption</a:t>
            </a:r>
          </a:p>
        </p:txBody>
      </p:sp>
      <p:pic>
        <p:nvPicPr>
          <p:cNvPr id="2" name="Picture 1"/>
          <p:cNvPicPr>
            <a:picLocks noChangeAspect="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590800" y="731838"/>
            <a:ext cx="6248400" cy="38290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34417129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 presetClass="entr" presetSubtype="2" fill="hold" grpId="0" nodeType="clickEffect">
                                  <p:stCondLst>
                                    <p:cond delay="0"/>
                                  </p:stCondLst>
                                  <p:childTnLst>
                                    <p:set>
                                      <p:cBhvr>
                                        <p:cTn id="10" dur="1" fill="hold">
                                          <p:stCondLst>
                                            <p:cond delay="0"/>
                                          </p:stCondLst>
                                        </p:cTn>
                                        <p:tgtEl>
                                          <p:spTgt spid="305158">
                                            <p:txEl>
                                              <p:pRg st="0" end="0"/>
                                            </p:txEl>
                                          </p:spTgt>
                                        </p:tgtEl>
                                        <p:attrNameLst>
                                          <p:attrName>style.visibility</p:attrName>
                                        </p:attrNameLst>
                                      </p:cBhvr>
                                      <p:to>
                                        <p:strVal val="visible"/>
                                      </p:to>
                                    </p:set>
                                    <p:anim calcmode="lin" valueType="num">
                                      <p:cBhvr additive="base">
                                        <p:cTn id="11" dur="500" fill="hold"/>
                                        <p:tgtEl>
                                          <p:spTgt spid="305158">
                                            <p:txEl>
                                              <p:pRg st="0" end="0"/>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305158">
                                            <p:txEl>
                                              <p:pRg st="0" end="0"/>
                                            </p:txEl>
                                          </p:spTgt>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0"/>
                                  </p:stCondLst>
                                  <p:childTnLst>
                                    <p:set>
                                      <p:cBhvr>
                                        <p:cTn id="14" dur="1" fill="hold">
                                          <p:stCondLst>
                                            <p:cond delay="0"/>
                                          </p:stCondLst>
                                        </p:cTn>
                                        <p:tgtEl>
                                          <p:spTgt spid="305158">
                                            <p:txEl>
                                              <p:pRg st="1" end="1"/>
                                            </p:txEl>
                                          </p:spTgt>
                                        </p:tgtEl>
                                        <p:attrNameLst>
                                          <p:attrName>style.visibility</p:attrName>
                                        </p:attrNameLst>
                                      </p:cBhvr>
                                      <p:to>
                                        <p:strVal val="visible"/>
                                      </p:to>
                                    </p:set>
                                    <p:anim calcmode="lin" valueType="num">
                                      <p:cBhvr additive="base">
                                        <p:cTn id="15" dur="500" fill="hold"/>
                                        <p:tgtEl>
                                          <p:spTgt spid="305158">
                                            <p:txEl>
                                              <p:pRg st="1" end="1"/>
                                            </p:txEl>
                                          </p:spTgt>
                                        </p:tgtEl>
                                        <p:attrNameLst>
                                          <p:attrName>ppt_x</p:attrName>
                                        </p:attrNameLst>
                                      </p:cBhvr>
                                      <p:tavLst>
                                        <p:tav tm="0">
                                          <p:val>
                                            <p:strVal val="1+#ppt_w/2"/>
                                          </p:val>
                                        </p:tav>
                                        <p:tav tm="100000">
                                          <p:val>
                                            <p:strVal val="#ppt_x"/>
                                          </p:val>
                                        </p:tav>
                                      </p:tavLst>
                                    </p:anim>
                                    <p:anim calcmode="lin" valueType="num">
                                      <p:cBhvr additive="base">
                                        <p:cTn id="16" dur="500" fill="hold"/>
                                        <p:tgtEl>
                                          <p:spTgt spid="305158">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2" presetClass="entr" presetSubtype="2" fill="hold" grpId="0" nodeType="clickEffect">
                                  <p:stCondLst>
                                    <p:cond delay="0"/>
                                  </p:stCondLst>
                                  <p:childTnLst>
                                    <p:set>
                                      <p:cBhvr>
                                        <p:cTn id="20" dur="1" fill="hold">
                                          <p:stCondLst>
                                            <p:cond delay="0"/>
                                          </p:stCondLst>
                                        </p:cTn>
                                        <p:tgtEl>
                                          <p:spTgt spid="305158">
                                            <p:txEl>
                                              <p:pRg st="2" end="2"/>
                                            </p:txEl>
                                          </p:spTgt>
                                        </p:tgtEl>
                                        <p:attrNameLst>
                                          <p:attrName>style.visibility</p:attrName>
                                        </p:attrNameLst>
                                      </p:cBhvr>
                                      <p:to>
                                        <p:strVal val="visible"/>
                                      </p:to>
                                    </p:set>
                                    <p:anim calcmode="lin" valueType="num">
                                      <p:cBhvr additive="base">
                                        <p:cTn id="21" dur="500" fill="hold"/>
                                        <p:tgtEl>
                                          <p:spTgt spid="305158">
                                            <p:txEl>
                                              <p:pRg st="2" end="2"/>
                                            </p:txEl>
                                          </p:spTgt>
                                        </p:tgtEl>
                                        <p:attrNameLst>
                                          <p:attrName>ppt_x</p:attrName>
                                        </p:attrNameLst>
                                      </p:cBhvr>
                                      <p:tavLst>
                                        <p:tav tm="0">
                                          <p:val>
                                            <p:strVal val="1+#ppt_w/2"/>
                                          </p:val>
                                        </p:tav>
                                        <p:tav tm="100000">
                                          <p:val>
                                            <p:strVal val="#ppt_x"/>
                                          </p:val>
                                        </p:tav>
                                      </p:tavLst>
                                    </p:anim>
                                    <p:anim calcmode="lin" valueType="num">
                                      <p:cBhvr additive="base">
                                        <p:cTn id="22" dur="500" fill="hold"/>
                                        <p:tgtEl>
                                          <p:spTgt spid="305158">
                                            <p:txEl>
                                              <p:pRg st="2" end="2"/>
                                            </p:txEl>
                                          </p:spTgt>
                                        </p:tgtEl>
                                        <p:attrNameLst>
                                          <p:attrName>ppt_y</p:attrName>
                                        </p:attrNameLst>
                                      </p:cBhvr>
                                      <p:tavLst>
                                        <p:tav tm="0">
                                          <p:val>
                                            <p:strVal val="#ppt_y"/>
                                          </p:val>
                                        </p:tav>
                                        <p:tav tm="100000">
                                          <p:val>
                                            <p:strVal val="#ppt_y"/>
                                          </p:val>
                                        </p:tav>
                                      </p:tavLst>
                                    </p:anim>
                                  </p:childTnLst>
                                </p:cTn>
                              </p:par>
                              <p:par>
                                <p:cTn id="23" presetID="2" presetClass="entr" presetSubtype="2" fill="hold" grpId="0" nodeType="withEffect">
                                  <p:stCondLst>
                                    <p:cond delay="0"/>
                                  </p:stCondLst>
                                  <p:childTnLst>
                                    <p:set>
                                      <p:cBhvr>
                                        <p:cTn id="24" dur="1" fill="hold">
                                          <p:stCondLst>
                                            <p:cond delay="0"/>
                                          </p:stCondLst>
                                        </p:cTn>
                                        <p:tgtEl>
                                          <p:spTgt spid="305158">
                                            <p:txEl>
                                              <p:pRg st="3" end="3"/>
                                            </p:txEl>
                                          </p:spTgt>
                                        </p:tgtEl>
                                        <p:attrNameLst>
                                          <p:attrName>style.visibility</p:attrName>
                                        </p:attrNameLst>
                                      </p:cBhvr>
                                      <p:to>
                                        <p:strVal val="visible"/>
                                      </p:to>
                                    </p:set>
                                    <p:anim calcmode="lin" valueType="num">
                                      <p:cBhvr additive="base">
                                        <p:cTn id="25" dur="500" fill="hold"/>
                                        <p:tgtEl>
                                          <p:spTgt spid="305158">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305158">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5158"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a:ea typeface="ＭＳ Ｐゴシック" charset="0"/>
              </a:rPr>
              <a:t>But then Moore’s Law Ended…</a:t>
            </a:r>
          </a:p>
        </p:txBody>
      </p:sp>
      <p:sp>
        <p:nvSpPr>
          <p:cNvPr id="3" name="Content Placeholder 2"/>
          <p:cNvSpPr>
            <a:spLocks noGrp="1"/>
          </p:cNvSpPr>
          <p:nvPr>
            <p:ph idx="1"/>
          </p:nvPr>
        </p:nvSpPr>
        <p:spPr>
          <a:xfrm>
            <a:off x="1891393" y="3278187"/>
            <a:ext cx="8610600" cy="2971800"/>
          </a:xfrm>
        </p:spPr>
        <p:txBody>
          <a:bodyPr/>
          <a:lstStyle/>
          <a:p>
            <a:pPr>
              <a:defRPr/>
            </a:pPr>
            <a:r>
              <a:rPr lang="en-US" dirty="0">
                <a:ea typeface="ＭＳ Ｐゴシック" charset="0"/>
              </a:rPr>
              <a:t>Moore</a:t>
            </a:r>
            <a:r>
              <a:rPr lang="ja-JP" altLang="en-US" dirty="0">
                <a:ea typeface="ＭＳ Ｐゴシック" charset="0"/>
              </a:rPr>
              <a:t>’</a:t>
            </a:r>
            <a:r>
              <a:rPr lang="en-US" dirty="0">
                <a:ea typeface="ＭＳ Ｐゴシック" charset="0"/>
              </a:rPr>
              <a:t>s Law has (officially) ended -- Feb 2016</a:t>
            </a:r>
          </a:p>
          <a:p>
            <a:pPr lvl="1">
              <a:defRPr/>
            </a:pPr>
            <a:r>
              <a:rPr lang="en-US" dirty="0">
                <a:ea typeface="ＭＳ Ｐゴシック" charset="0"/>
              </a:rPr>
              <a:t>No longer getting 2 x transistors/chip every 18 months…</a:t>
            </a:r>
          </a:p>
          <a:p>
            <a:pPr lvl="1">
              <a:defRPr/>
            </a:pPr>
            <a:r>
              <a:rPr lang="en-US" dirty="0">
                <a:ea typeface="ＭＳ Ｐゴシック" charset="0"/>
              </a:rPr>
              <a:t>or even every 24 months</a:t>
            </a:r>
          </a:p>
          <a:p>
            <a:pPr>
              <a:defRPr/>
            </a:pPr>
            <a:r>
              <a:rPr lang="en-US" dirty="0">
                <a:ea typeface="ＭＳ Ｐゴシック" charset="0"/>
              </a:rPr>
              <a:t>May have only 2-3 smallest geometry fabrication plants left:</a:t>
            </a:r>
          </a:p>
          <a:p>
            <a:pPr lvl="1">
              <a:defRPr/>
            </a:pPr>
            <a:r>
              <a:rPr lang="en-US" dirty="0">
                <a:ea typeface="ＭＳ Ｐゴシック" charset="0"/>
              </a:rPr>
              <a:t> Intel and Samsung and/or TSMC</a:t>
            </a:r>
          </a:p>
          <a:p>
            <a:pPr>
              <a:defRPr/>
            </a:pPr>
            <a:r>
              <a:rPr lang="en-US" dirty="0">
                <a:ea typeface="ＭＳ Ｐゴシック" charset="0"/>
              </a:rPr>
              <a:t>Vendors moving to 3D stacked chips</a:t>
            </a:r>
          </a:p>
          <a:p>
            <a:pPr lvl="1">
              <a:defRPr/>
            </a:pPr>
            <a:r>
              <a:rPr lang="en-US" dirty="0">
                <a:ea typeface="ＭＳ Ｐゴシック" charset="0"/>
              </a:rPr>
              <a:t>More layers in old geometries</a:t>
            </a:r>
          </a:p>
        </p:txBody>
      </p:sp>
      <p:pic>
        <p:nvPicPr>
          <p:cNvPr id="35844" name="Picture 6"/>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905000" y="839788"/>
            <a:ext cx="8153400" cy="22844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268236692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1+#ppt_w/2"/>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2" fill="hold" grpId="0"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1+#ppt_w/2"/>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ppt_y"/>
                                          </p:val>
                                        </p:tav>
                                        <p:tav tm="100000">
                                          <p:val>
                                            <p:strVal val="#ppt_y"/>
                                          </p:val>
                                        </p:tav>
                                      </p:tavLst>
                                    </p:anim>
                                  </p:childTnLst>
                                </p:cTn>
                              </p:par>
                              <p:par>
                                <p:cTn id="23" presetID="2" presetClass="entr" presetSubtype="2"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ppt_y"/>
                                          </p:val>
                                        </p:tav>
                                        <p:tav tm="100000">
                                          <p:val>
                                            <p:strVal val="#ppt_y"/>
                                          </p:val>
                                        </p:tav>
                                      </p:tavLst>
                                    </p:anim>
                                  </p:childTnLst>
                                </p:cTn>
                              </p:par>
                              <p:par>
                                <p:cTn id="33" presetID="2" presetClass="entr" presetSubtype="2" fill="hold" grpId="0" nodeType="with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 calcmode="lin" valueType="num">
                                      <p:cBhvr additive="base">
                                        <p:cTn id="35" dur="500" fill="hold"/>
                                        <p:tgtEl>
                                          <p:spTgt spid="3">
                                            <p:txEl>
                                              <p:pRg st="6" end="6"/>
                                            </p:txEl>
                                          </p:spTgt>
                                        </p:tgtEl>
                                        <p:attrNameLst>
                                          <p:attrName>ppt_x</p:attrName>
                                        </p:attrNameLst>
                                      </p:cBhvr>
                                      <p:tavLst>
                                        <p:tav tm="0">
                                          <p:val>
                                            <p:strVal val="1+#ppt_w/2"/>
                                          </p:val>
                                        </p:tav>
                                        <p:tav tm="100000">
                                          <p:val>
                                            <p:strVal val="#ppt_x"/>
                                          </p:val>
                                        </p:tav>
                                      </p:tavLst>
                                    </p:anim>
                                    <p:anim calcmode="lin" valueType="num">
                                      <p:cBhvr additive="base">
                                        <p:cTn id="36" dur="500" fill="hold"/>
                                        <p:tgtEl>
                                          <p:spTgt spid="3">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F0EF959-216A-478D-91F3-E4DF8C43279B}"/>
              </a:ext>
            </a:extLst>
          </p:cNvPr>
          <p:cNvSpPr>
            <a:spLocks noGrp="1"/>
          </p:cNvSpPr>
          <p:nvPr>
            <p:ph type="title"/>
          </p:nvPr>
        </p:nvSpPr>
        <p:spPr/>
        <p:txBody>
          <a:bodyPr/>
          <a:lstStyle/>
          <a:p>
            <a:r>
              <a:rPr lang="en-US" dirty="0"/>
              <a:t>Storage Capacity is Still Growing!</a:t>
            </a:r>
          </a:p>
        </p:txBody>
      </p:sp>
      <p:pic>
        <p:nvPicPr>
          <p:cNvPr id="13" name="Content Placeholder 12" descr="A picture containing dark, flying, skiing, kite&#10;&#10;Description automatically generated">
            <a:extLst>
              <a:ext uri="{FF2B5EF4-FFF2-40B4-BE49-F238E27FC236}">
                <a16:creationId xmlns:a16="http://schemas.microsoft.com/office/drawing/2014/main" id="{521EA7AA-6439-4663-809A-082A834FEFBF}"/>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23446" y="1401073"/>
            <a:ext cx="6096000" cy="4055854"/>
          </a:xfrm>
        </p:spPr>
      </p:pic>
      <p:pic>
        <p:nvPicPr>
          <p:cNvPr id="15" name="Content Placeholder 14" descr="A screen shot of a computer&#10;&#10;Description automatically generated">
            <a:extLst>
              <a:ext uri="{FF2B5EF4-FFF2-40B4-BE49-F238E27FC236}">
                <a16:creationId xmlns:a16="http://schemas.microsoft.com/office/drawing/2014/main" id="{E7D472CB-195A-4169-AEC3-771D9D08701A}"/>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248400" y="1600200"/>
            <a:ext cx="5761973" cy="3657600"/>
          </a:xfrm>
        </p:spPr>
      </p:pic>
    </p:spTree>
    <p:extLst>
      <p:ext uri="{BB962C8B-B14F-4D97-AF65-F5344CB8AC3E}">
        <p14:creationId xmlns:p14="http://schemas.microsoft.com/office/powerpoint/2010/main" val="609167027"/>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4E1B36-1EDE-4EC2-9F52-2F309AE3CD61}"/>
              </a:ext>
            </a:extLst>
          </p:cNvPr>
          <p:cNvSpPr>
            <a:spLocks noGrp="1"/>
          </p:cNvSpPr>
          <p:nvPr>
            <p:ph type="title"/>
          </p:nvPr>
        </p:nvSpPr>
        <p:spPr/>
        <p:txBody>
          <a:bodyPr/>
          <a:lstStyle/>
          <a:p>
            <a:r>
              <a:rPr lang="en-US" dirty="0"/>
              <a:t>Society is Increasingly Connected…</a:t>
            </a:r>
          </a:p>
        </p:txBody>
      </p:sp>
      <p:pic>
        <p:nvPicPr>
          <p:cNvPr id="7" name="Picture 6">
            <a:extLst>
              <a:ext uri="{FF2B5EF4-FFF2-40B4-BE49-F238E27FC236}">
                <a16:creationId xmlns:a16="http://schemas.microsoft.com/office/drawing/2014/main" id="{D42EF918-8E98-4053-846D-20B95B515A10}"/>
              </a:ext>
            </a:extLst>
          </p:cNvPr>
          <p:cNvPicPr>
            <a:picLocks noChangeAspect="1"/>
          </p:cNvPicPr>
          <p:nvPr/>
        </p:nvPicPr>
        <p:blipFill>
          <a:blip r:embed="rId2"/>
          <a:stretch>
            <a:fillRect/>
          </a:stretch>
        </p:blipFill>
        <p:spPr>
          <a:xfrm>
            <a:off x="262648" y="1752843"/>
            <a:ext cx="5522984" cy="3092871"/>
          </a:xfrm>
          <a:prstGeom prst="rect">
            <a:avLst/>
          </a:prstGeom>
        </p:spPr>
      </p:pic>
      <p:pic>
        <p:nvPicPr>
          <p:cNvPr id="8" name="Picture 7">
            <a:extLst>
              <a:ext uri="{FF2B5EF4-FFF2-40B4-BE49-F238E27FC236}">
                <a16:creationId xmlns:a16="http://schemas.microsoft.com/office/drawing/2014/main" id="{7D8F4935-8356-4524-99BE-6535797DAA35}"/>
              </a:ext>
            </a:extLst>
          </p:cNvPr>
          <p:cNvPicPr>
            <a:picLocks noChangeAspect="1"/>
          </p:cNvPicPr>
          <p:nvPr/>
        </p:nvPicPr>
        <p:blipFill>
          <a:blip r:embed="rId3"/>
          <a:stretch>
            <a:fillRect/>
          </a:stretch>
        </p:blipFill>
        <p:spPr>
          <a:xfrm>
            <a:off x="5932859" y="2535027"/>
            <a:ext cx="6198917" cy="3471393"/>
          </a:xfrm>
          <a:prstGeom prst="rect">
            <a:avLst/>
          </a:prstGeom>
        </p:spPr>
      </p:pic>
    </p:spTree>
    <p:extLst>
      <p:ext uri="{BB962C8B-B14F-4D97-AF65-F5344CB8AC3E}">
        <p14:creationId xmlns:p14="http://schemas.microsoft.com/office/powerpoint/2010/main" val="3376287471"/>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p:txBody>
          <a:bodyPr/>
          <a:lstStyle/>
          <a:p>
            <a:pPr>
              <a:defRPr/>
            </a:pPr>
            <a:r>
              <a:rPr lang="en-US" altLang="en-US" dirty="0">
                <a:latin typeface="Gill Sans Light" charset="0"/>
                <a:ea typeface="ＭＳ Ｐゴシック" charset="-128"/>
                <a:cs typeface="Gill Sans Light" charset="0"/>
              </a:rPr>
              <a:t>Network Capacity Still Increasing</a:t>
            </a:r>
          </a:p>
        </p:txBody>
      </p:sp>
      <p:pic>
        <p:nvPicPr>
          <p:cNvPr id="37890" name="Picture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438400" y="838200"/>
            <a:ext cx="6934200" cy="5410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37891" name="Rectangle 4"/>
          <p:cNvSpPr>
            <a:spLocks noChangeArrowheads="1"/>
          </p:cNvSpPr>
          <p:nvPr/>
        </p:nvSpPr>
        <p:spPr bwMode="auto">
          <a:xfrm>
            <a:off x="1752600" y="6138864"/>
            <a:ext cx="8763000" cy="3381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algn="ctr"/>
            <a:r>
              <a:rPr lang="en-US" sz="1600" b="0">
                <a:latin typeface="Gill Sans Light" charset="0"/>
                <a:cs typeface="Gill Sans Light" charset="0"/>
              </a:rPr>
              <a:t>(source: </a:t>
            </a:r>
            <a:r>
              <a:rPr lang="en-US" sz="1600" b="0">
                <a:latin typeface="Gill Sans Light" charset="0"/>
                <a:cs typeface="Gill Sans Light" charset="0"/>
                <a:hlinkClick r:id="rId4"/>
              </a:rPr>
              <a:t>http://www.ospmag.com/issue/article/Time-Is-Not-Always-On-Our-Side</a:t>
            </a:r>
            <a:r>
              <a:rPr lang="en-US" sz="1600" b="0">
                <a:latin typeface="Gill Sans Light" charset="0"/>
                <a:cs typeface="Gill Sans Light" charset="0"/>
              </a:rPr>
              <a:t> )</a:t>
            </a:r>
          </a:p>
        </p:txBody>
      </p:sp>
    </p:spTree>
    <p:extLst>
      <p:ext uri="{BB962C8B-B14F-4D97-AF65-F5344CB8AC3E}">
        <p14:creationId xmlns:p14="http://schemas.microsoft.com/office/powerpoint/2010/main" val="745834304"/>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defRPr/>
            </a:pPr>
            <a:r>
              <a:rPr lang="en-US" sz="2800" dirty="0">
                <a:ea typeface="ＭＳ Ｐゴシック" charset="0"/>
              </a:rPr>
              <a:t>In 2011, smartphone shipments exceeded PC shipments!</a:t>
            </a:r>
          </a:p>
          <a:p>
            <a:pPr>
              <a:defRPr/>
            </a:pPr>
            <a:r>
              <a:rPr lang="en-US" sz="2800" dirty="0">
                <a:ea typeface="ＭＳ Ｐゴシック" charset="0"/>
              </a:rPr>
              <a:t>2011 shipments:</a:t>
            </a:r>
          </a:p>
          <a:p>
            <a:pPr lvl="1">
              <a:defRPr/>
            </a:pPr>
            <a:r>
              <a:rPr lang="en-US" sz="2400" dirty="0">
                <a:ea typeface="ＭＳ Ｐゴシック" charset="0"/>
              </a:rPr>
              <a:t>487M smartphones</a:t>
            </a:r>
          </a:p>
          <a:p>
            <a:pPr lvl="1">
              <a:defRPr/>
            </a:pPr>
            <a:r>
              <a:rPr lang="en-US" sz="2400" dirty="0">
                <a:ea typeface="ＭＳ Ｐゴシック" charset="0"/>
              </a:rPr>
              <a:t>414M PC clients</a:t>
            </a:r>
          </a:p>
          <a:p>
            <a:pPr lvl="2">
              <a:defRPr/>
            </a:pPr>
            <a:r>
              <a:rPr lang="en-US" sz="2200" dirty="0">
                <a:ea typeface="ＭＳ Ｐゴシック" charset="0"/>
              </a:rPr>
              <a:t>210M notebooks</a:t>
            </a:r>
          </a:p>
          <a:p>
            <a:pPr lvl="2">
              <a:defRPr/>
            </a:pPr>
            <a:r>
              <a:rPr lang="en-US" sz="2200" dirty="0">
                <a:ea typeface="ＭＳ Ｐゴシック" charset="0"/>
              </a:rPr>
              <a:t>112M desktops</a:t>
            </a:r>
          </a:p>
          <a:p>
            <a:pPr lvl="2">
              <a:defRPr/>
            </a:pPr>
            <a:r>
              <a:rPr lang="en-US" sz="2200" dirty="0">
                <a:ea typeface="ＭＳ Ｐゴシック" charset="0"/>
              </a:rPr>
              <a:t>63M tablet</a:t>
            </a:r>
            <a:r>
              <a:rPr lang="en-US" dirty="0">
                <a:ea typeface="ＭＳ Ｐゴシック" charset="0"/>
              </a:rPr>
              <a:t>s</a:t>
            </a:r>
          </a:p>
          <a:p>
            <a:pPr lvl="1">
              <a:defRPr/>
            </a:pPr>
            <a:r>
              <a:rPr lang="en-US" sz="2400" dirty="0">
                <a:ea typeface="ＭＳ Ｐゴシック" charset="0"/>
              </a:rPr>
              <a:t>25M smart TVs</a:t>
            </a:r>
          </a:p>
          <a:p>
            <a:pPr lvl="1">
              <a:buFontTx/>
              <a:buNone/>
              <a:defRPr/>
            </a:pPr>
            <a:endParaRPr lang="en-US" dirty="0">
              <a:ea typeface="ＭＳ Ｐゴシック" charset="0"/>
            </a:endParaRPr>
          </a:p>
          <a:p>
            <a:pPr>
              <a:defRPr/>
            </a:pPr>
            <a:r>
              <a:rPr lang="en-US" sz="2800" dirty="0">
                <a:ea typeface="ＭＳ Ｐゴシック" charset="0"/>
              </a:rPr>
              <a:t>4 billion phones in the world </a:t>
            </a:r>
            <a:r>
              <a:rPr lang="en-US" sz="2800" dirty="0">
                <a:ea typeface="ＭＳ Ｐゴシック" charset="0"/>
                <a:sym typeface="Wingdings" charset="0"/>
              </a:rPr>
              <a:t> smartphones over next few years</a:t>
            </a:r>
            <a:endParaRPr lang="en-US" sz="2800" dirty="0">
              <a:ea typeface="ＭＳ Ｐゴシック" charset="0"/>
            </a:endParaRPr>
          </a:p>
          <a:p>
            <a:pPr>
              <a:defRPr/>
            </a:pPr>
            <a:r>
              <a:rPr lang="en-US" sz="2800" dirty="0">
                <a:ea typeface="ＭＳ Ｐゴシック" charset="0"/>
              </a:rPr>
              <a:t>Then…</a:t>
            </a:r>
            <a:endParaRPr lang="en-US" dirty="0">
              <a:ea typeface="ＭＳ Ｐゴシック" charset="0"/>
            </a:endParaRPr>
          </a:p>
          <a:p>
            <a:endParaRPr lang="en-US" dirty="0"/>
          </a:p>
        </p:txBody>
      </p:sp>
      <p:sp>
        <p:nvSpPr>
          <p:cNvPr id="11" name="Title 1"/>
          <p:cNvSpPr>
            <a:spLocks noGrp="1"/>
          </p:cNvSpPr>
          <p:nvPr>
            <p:ph type="title"/>
          </p:nvPr>
        </p:nvSpPr>
        <p:spPr>
          <a:xfrm>
            <a:off x="2133600" y="200025"/>
            <a:ext cx="7924800" cy="533400"/>
          </a:xfrm>
          <a:noFill/>
        </p:spPr>
        <p:txBody>
          <a:bodyPr/>
          <a:lstStyle/>
          <a:p>
            <a:pPr>
              <a:defRPr/>
            </a:pPr>
            <a:r>
              <a:rPr lang="en-US" altLang="en-US" dirty="0">
                <a:latin typeface="Gill Sans Light" charset="0"/>
                <a:ea typeface="ＭＳ Ｐゴシック" charset="-128"/>
                <a:cs typeface="Gill Sans Light" charset="0"/>
              </a:rPr>
              <a:t>Not Only PCs connected to the Internet</a:t>
            </a:r>
          </a:p>
        </p:txBody>
      </p:sp>
      <p:pic>
        <p:nvPicPr>
          <p:cNvPr id="12" name="Picture 1"/>
          <p:cNvPicPr>
            <a:picLocks noChangeAspect="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6477000" y="2057401"/>
            <a:ext cx="3733800" cy="2333625"/>
          </a:xfrm>
          <a:prstGeom prst="rect">
            <a:avLst/>
          </a:prstGeom>
          <a:noFill/>
          <a:ln w="12700" cmpd="sng">
            <a:solidFill>
              <a:srgbClr val="000000"/>
            </a:solidFill>
            <a:miter lim="800000"/>
            <a:headEnd/>
            <a:tailEnd/>
          </a:ln>
          <a:extLst>
            <a:ext uri="{909E8E84-426E-40dd-AFC4-6F175D3DCCD1}">
              <a14:hiddenFill xmlns:a14="http://schemas.microsoft.com/office/drawing/2010/main" xmlns="">
                <a:solidFill>
                  <a:srgbClr val="FFFFFF"/>
                </a:solidFill>
              </a14:hiddenFill>
            </a:ext>
          </a:extLst>
        </p:spPr>
      </p:pic>
      <p:sp>
        <p:nvSpPr>
          <p:cNvPr id="13" name="Rounded Rectangular Callout 12"/>
          <p:cNvSpPr>
            <a:spLocks noChangeArrowheads="1"/>
          </p:cNvSpPr>
          <p:nvPr/>
        </p:nvSpPr>
        <p:spPr bwMode="auto">
          <a:xfrm>
            <a:off x="5029200" y="1524000"/>
            <a:ext cx="3352800" cy="609600"/>
          </a:xfrm>
          <a:prstGeom prst="wedgeRoundRectCallout">
            <a:avLst>
              <a:gd name="adj1" fmla="val -93929"/>
              <a:gd name="adj2" fmla="val 102767"/>
              <a:gd name="adj3" fmla="val 16667"/>
            </a:avLst>
          </a:prstGeom>
          <a:solidFill>
            <a:schemeClr val="bg1"/>
          </a:solidFill>
          <a:ln w="12700" cmpd="sng">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eaLnBrk="0" hangingPunct="0">
              <a:defRPr b="1">
                <a:solidFill>
                  <a:schemeClr val="tx1"/>
                </a:solidFill>
                <a:latin typeface="Comic Sans MS" charset="0"/>
              </a:defRPr>
            </a:lvl1pPr>
            <a:lvl2pPr marL="742950" indent="-285750" eaLnBrk="0" hangingPunct="0">
              <a:defRPr b="1">
                <a:solidFill>
                  <a:schemeClr val="tx1"/>
                </a:solidFill>
                <a:latin typeface="Comic Sans MS" charset="0"/>
              </a:defRPr>
            </a:lvl2pPr>
            <a:lvl3pPr marL="1143000" indent="-228600" eaLnBrk="0" hangingPunct="0">
              <a:defRPr b="1">
                <a:solidFill>
                  <a:schemeClr val="tx1"/>
                </a:solidFill>
                <a:latin typeface="Comic Sans MS" charset="0"/>
              </a:defRPr>
            </a:lvl3pPr>
            <a:lvl4pPr marL="1600200" indent="-228600" eaLnBrk="0" hangingPunct="0">
              <a:defRPr b="1">
                <a:solidFill>
                  <a:schemeClr val="tx1"/>
                </a:solidFill>
                <a:latin typeface="Comic Sans MS" charset="0"/>
              </a:defRPr>
            </a:lvl4pPr>
            <a:lvl5pPr marL="2057400" indent="-228600" eaLnBrk="0" hangingPunct="0">
              <a:defRPr b="1">
                <a:solidFill>
                  <a:schemeClr val="tx1"/>
                </a:solidFill>
                <a:latin typeface="Comic Sans MS" charset="0"/>
              </a:defRPr>
            </a:lvl5pPr>
            <a:lvl6pPr marL="2514600" indent="-228600" eaLnBrk="0" fontAlgn="base" hangingPunct="0">
              <a:spcBef>
                <a:spcPct val="0"/>
              </a:spcBef>
              <a:spcAft>
                <a:spcPct val="0"/>
              </a:spcAft>
              <a:defRPr b="1">
                <a:solidFill>
                  <a:schemeClr val="tx1"/>
                </a:solidFill>
                <a:latin typeface="Comic Sans MS" charset="0"/>
              </a:defRPr>
            </a:lvl6pPr>
            <a:lvl7pPr marL="2971800" indent="-228600" eaLnBrk="0" fontAlgn="base" hangingPunct="0">
              <a:spcBef>
                <a:spcPct val="0"/>
              </a:spcBef>
              <a:spcAft>
                <a:spcPct val="0"/>
              </a:spcAft>
              <a:defRPr b="1">
                <a:solidFill>
                  <a:schemeClr val="tx1"/>
                </a:solidFill>
                <a:latin typeface="Comic Sans MS" charset="0"/>
              </a:defRPr>
            </a:lvl7pPr>
            <a:lvl8pPr marL="3429000" indent="-228600" eaLnBrk="0" fontAlgn="base" hangingPunct="0">
              <a:spcBef>
                <a:spcPct val="0"/>
              </a:spcBef>
              <a:spcAft>
                <a:spcPct val="0"/>
              </a:spcAft>
              <a:defRPr b="1">
                <a:solidFill>
                  <a:schemeClr val="tx1"/>
                </a:solidFill>
                <a:latin typeface="Comic Sans MS" charset="0"/>
              </a:defRPr>
            </a:lvl8pPr>
            <a:lvl9pPr marL="3886200" indent="-228600" eaLnBrk="0" fontAlgn="base" hangingPunct="0">
              <a:spcBef>
                <a:spcPct val="0"/>
              </a:spcBef>
              <a:spcAft>
                <a:spcPct val="0"/>
              </a:spcAft>
              <a:defRPr b="1">
                <a:solidFill>
                  <a:schemeClr val="tx1"/>
                </a:solidFill>
                <a:latin typeface="Comic Sans MS" charset="0"/>
              </a:defRPr>
            </a:lvl9pPr>
          </a:lstStyle>
          <a:p>
            <a:pPr algn="ctr">
              <a:defRPr/>
            </a:pPr>
            <a:r>
              <a:rPr lang="en-US" altLang="en-US" sz="2400" b="0" dirty="0">
                <a:solidFill>
                  <a:schemeClr val="accent2">
                    <a:lumMod val="75000"/>
                  </a:schemeClr>
                </a:solidFill>
                <a:latin typeface="Gill Sans Light"/>
                <a:ea typeface="Gill Sans" charset="0"/>
                <a:cs typeface="Gill Sans Light"/>
              </a:rPr>
              <a:t>1.53B</a:t>
            </a:r>
            <a:r>
              <a:rPr lang="en-US" altLang="en-US" sz="2400" b="0" dirty="0">
                <a:latin typeface="Gill Sans Light"/>
                <a:ea typeface="Gill Sans" charset="0"/>
                <a:cs typeface="Gill Sans Light"/>
              </a:rPr>
              <a:t> in 2017</a:t>
            </a:r>
          </a:p>
        </p:txBody>
      </p:sp>
      <p:sp>
        <p:nvSpPr>
          <p:cNvPr id="14" name="Rounded Rectangular Callout 13"/>
          <p:cNvSpPr>
            <a:spLocks noChangeArrowheads="1"/>
          </p:cNvSpPr>
          <p:nvPr/>
        </p:nvSpPr>
        <p:spPr bwMode="auto">
          <a:xfrm>
            <a:off x="7010400" y="2438400"/>
            <a:ext cx="2362200" cy="533400"/>
          </a:xfrm>
          <a:prstGeom prst="wedgeRoundRectCallout">
            <a:avLst>
              <a:gd name="adj1" fmla="val -157876"/>
              <a:gd name="adj2" fmla="val 63221"/>
              <a:gd name="adj3" fmla="val 16667"/>
            </a:avLst>
          </a:prstGeom>
          <a:solidFill>
            <a:schemeClr val="bg1"/>
          </a:solidFill>
          <a:ln w="12700" cmpd="sng">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eaLnBrk="0" hangingPunct="0">
              <a:defRPr b="1">
                <a:solidFill>
                  <a:schemeClr val="tx1"/>
                </a:solidFill>
                <a:latin typeface="Comic Sans MS" charset="0"/>
              </a:defRPr>
            </a:lvl1pPr>
            <a:lvl2pPr marL="742950" indent="-285750" eaLnBrk="0" hangingPunct="0">
              <a:defRPr b="1">
                <a:solidFill>
                  <a:schemeClr val="tx1"/>
                </a:solidFill>
                <a:latin typeface="Comic Sans MS" charset="0"/>
              </a:defRPr>
            </a:lvl2pPr>
            <a:lvl3pPr marL="1143000" indent="-228600" eaLnBrk="0" hangingPunct="0">
              <a:defRPr b="1">
                <a:solidFill>
                  <a:schemeClr val="tx1"/>
                </a:solidFill>
                <a:latin typeface="Comic Sans MS" charset="0"/>
              </a:defRPr>
            </a:lvl3pPr>
            <a:lvl4pPr marL="1600200" indent="-228600" eaLnBrk="0" hangingPunct="0">
              <a:defRPr b="1">
                <a:solidFill>
                  <a:schemeClr val="tx1"/>
                </a:solidFill>
                <a:latin typeface="Comic Sans MS" charset="0"/>
              </a:defRPr>
            </a:lvl4pPr>
            <a:lvl5pPr marL="2057400" indent="-228600" eaLnBrk="0" hangingPunct="0">
              <a:defRPr b="1">
                <a:solidFill>
                  <a:schemeClr val="tx1"/>
                </a:solidFill>
                <a:latin typeface="Comic Sans MS" charset="0"/>
              </a:defRPr>
            </a:lvl5pPr>
            <a:lvl6pPr marL="2514600" indent="-228600" eaLnBrk="0" fontAlgn="base" hangingPunct="0">
              <a:spcBef>
                <a:spcPct val="0"/>
              </a:spcBef>
              <a:spcAft>
                <a:spcPct val="0"/>
              </a:spcAft>
              <a:defRPr b="1">
                <a:solidFill>
                  <a:schemeClr val="tx1"/>
                </a:solidFill>
                <a:latin typeface="Comic Sans MS" charset="0"/>
              </a:defRPr>
            </a:lvl6pPr>
            <a:lvl7pPr marL="2971800" indent="-228600" eaLnBrk="0" fontAlgn="base" hangingPunct="0">
              <a:spcBef>
                <a:spcPct val="0"/>
              </a:spcBef>
              <a:spcAft>
                <a:spcPct val="0"/>
              </a:spcAft>
              <a:defRPr b="1">
                <a:solidFill>
                  <a:schemeClr val="tx1"/>
                </a:solidFill>
                <a:latin typeface="Comic Sans MS" charset="0"/>
              </a:defRPr>
            </a:lvl7pPr>
            <a:lvl8pPr marL="3429000" indent="-228600" eaLnBrk="0" fontAlgn="base" hangingPunct="0">
              <a:spcBef>
                <a:spcPct val="0"/>
              </a:spcBef>
              <a:spcAft>
                <a:spcPct val="0"/>
              </a:spcAft>
              <a:defRPr b="1">
                <a:solidFill>
                  <a:schemeClr val="tx1"/>
                </a:solidFill>
                <a:latin typeface="Comic Sans MS" charset="0"/>
              </a:defRPr>
            </a:lvl8pPr>
            <a:lvl9pPr marL="3886200" indent="-228600" eaLnBrk="0" fontAlgn="base" hangingPunct="0">
              <a:spcBef>
                <a:spcPct val="0"/>
              </a:spcBef>
              <a:spcAft>
                <a:spcPct val="0"/>
              </a:spcAft>
              <a:defRPr b="1">
                <a:solidFill>
                  <a:schemeClr val="tx1"/>
                </a:solidFill>
                <a:latin typeface="Comic Sans MS" charset="0"/>
              </a:defRPr>
            </a:lvl9pPr>
          </a:lstStyle>
          <a:p>
            <a:pPr>
              <a:defRPr/>
            </a:pPr>
            <a:r>
              <a:rPr lang="en-US" altLang="en-US" sz="2400" b="0" dirty="0">
                <a:solidFill>
                  <a:srgbClr val="FF0000"/>
                </a:solidFill>
                <a:latin typeface="Gill Sans Light"/>
                <a:ea typeface="Gill Sans" charset="0"/>
                <a:cs typeface="Gill Sans Light"/>
              </a:rPr>
              <a:t>262.5M</a:t>
            </a:r>
            <a:r>
              <a:rPr lang="en-US" altLang="en-US" sz="2400" b="0" dirty="0">
                <a:latin typeface="Gill Sans Light"/>
                <a:ea typeface="Gill Sans" charset="0"/>
                <a:cs typeface="Gill Sans Light"/>
              </a:rPr>
              <a:t> in 2017</a:t>
            </a:r>
          </a:p>
        </p:txBody>
      </p:sp>
      <p:sp>
        <p:nvSpPr>
          <p:cNvPr id="15" name="Rounded Rectangular Callout 14"/>
          <p:cNvSpPr>
            <a:spLocks noChangeArrowheads="1"/>
          </p:cNvSpPr>
          <p:nvPr/>
        </p:nvSpPr>
        <p:spPr bwMode="auto">
          <a:xfrm>
            <a:off x="6781800" y="3657600"/>
            <a:ext cx="2209800" cy="533400"/>
          </a:xfrm>
          <a:prstGeom prst="wedgeRoundRectCallout">
            <a:avLst>
              <a:gd name="adj1" fmla="val -152919"/>
              <a:gd name="adj2" fmla="val 47760"/>
              <a:gd name="adj3" fmla="val 16667"/>
            </a:avLst>
          </a:prstGeom>
          <a:solidFill>
            <a:schemeClr val="bg1"/>
          </a:solidFill>
          <a:ln w="12700" cmpd="sng">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eaLnBrk="0" hangingPunct="0">
              <a:defRPr b="1">
                <a:solidFill>
                  <a:schemeClr val="tx1"/>
                </a:solidFill>
                <a:latin typeface="Comic Sans MS" charset="0"/>
              </a:defRPr>
            </a:lvl1pPr>
            <a:lvl2pPr marL="742950" indent="-285750" eaLnBrk="0" hangingPunct="0">
              <a:defRPr b="1">
                <a:solidFill>
                  <a:schemeClr val="tx1"/>
                </a:solidFill>
                <a:latin typeface="Comic Sans MS" charset="0"/>
              </a:defRPr>
            </a:lvl2pPr>
            <a:lvl3pPr marL="1143000" indent="-228600" eaLnBrk="0" hangingPunct="0">
              <a:defRPr b="1">
                <a:solidFill>
                  <a:schemeClr val="tx1"/>
                </a:solidFill>
                <a:latin typeface="Comic Sans MS" charset="0"/>
              </a:defRPr>
            </a:lvl3pPr>
            <a:lvl4pPr marL="1600200" indent="-228600" eaLnBrk="0" hangingPunct="0">
              <a:defRPr b="1">
                <a:solidFill>
                  <a:schemeClr val="tx1"/>
                </a:solidFill>
                <a:latin typeface="Comic Sans MS" charset="0"/>
              </a:defRPr>
            </a:lvl4pPr>
            <a:lvl5pPr marL="2057400" indent="-228600" eaLnBrk="0" hangingPunct="0">
              <a:defRPr b="1">
                <a:solidFill>
                  <a:schemeClr val="tx1"/>
                </a:solidFill>
                <a:latin typeface="Comic Sans MS" charset="0"/>
              </a:defRPr>
            </a:lvl5pPr>
            <a:lvl6pPr marL="2514600" indent="-228600" eaLnBrk="0" fontAlgn="base" hangingPunct="0">
              <a:spcBef>
                <a:spcPct val="0"/>
              </a:spcBef>
              <a:spcAft>
                <a:spcPct val="0"/>
              </a:spcAft>
              <a:defRPr b="1">
                <a:solidFill>
                  <a:schemeClr val="tx1"/>
                </a:solidFill>
                <a:latin typeface="Comic Sans MS" charset="0"/>
              </a:defRPr>
            </a:lvl6pPr>
            <a:lvl7pPr marL="2971800" indent="-228600" eaLnBrk="0" fontAlgn="base" hangingPunct="0">
              <a:spcBef>
                <a:spcPct val="0"/>
              </a:spcBef>
              <a:spcAft>
                <a:spcPct val="0"/>
              </a:spcAft>
              <a:defRPr b="1">
                <a:solidFill>
                  <a:schemeClr val="tx1"/>
                </a:solidFill>
                <a:latin typeface="Comic Sans MS" charset="0"/>
              </a:defRPr>
            </a:lvl7pPr>
            <a:lvl8pPr marL="3429000" indent="-228600" eaLnBrk="0" fontAlgn="base" hangingPunct="0">
              <a:spcBef>
                <a:spcPct val="0"/>
              </a:spcBef>
              <a:spcAft>
                <a:spcPct val="0"/>
              </a:spcAft>
              <a:defRPr b="1">
                <a:solidFill>
                  <a:schemeClr val="tx1"/>
                </a:solidFill>
                <a:latin typeface="Comic Sans MS" charset="0"/>
              </a:defRPr>
            </a:lvl8pPr>
            <a:lvl9pPr marL="3886200" indent="-228600" eaLnBrk="0" fontAlgn="base" hangingPunct="0">
              <a:spcBef>
                <a:spcPct val="0"/>
              </a:spcBef>
              <a:spcAft>
                <a:spcPct val="0"/>
              </a:spcAft>
              <a:defRPr b="1">
                <a:solidFill>
                  <a:schemeClr val="tx1"/>
                </a:solidFill>
                <a:latin typeface="Comic Sans MS" charset="0"/>
              </a:defRPr>
            </a:lvl9pPr>
          </a:lstStyle>
          <a:p>
            <a:pPr>
              <a:defRPr/>
            </a:pPr>
            <a:r>
              <a:rPr lang="en-US" altLang="en-US" sz="2400" b="0" dirty="0">
                <a:solidFill>
                  <a:schemeClr val="accent2">
                    <a:lumMod val="75000"/>
                  </a:schemeClr>
                </a:solidFill>
                <a:latin typeface="Gill Sans Light"/>
                <a:ea typeface="Gill Sans" charset="0"/>
                <a:cs typeface="Gill Sans Light"/>
              </a:rPr>
              <a:t>164M</a:t>
            </a:r>
            <a:r>
              <a:rPr lang="en-US" altLang="en-US" sz="2400" b="0" dirty="0">
                <a:latin typeface="Gill Sans Light"/>
                <a:ea typeface="Gill Sans" charset="0"/>
                <a:cs typeface="Gill Sans Light"/>
              </a:rPr>
              <a:t> in 2017</a:t>
            </a:r>
          </a:p>
        </p:txBody>
      </p:sp>
      <p:sp>
        <p:nvSpPr>
          <p:cNvPr id="16" name="Rounded Rectangular Callout 15"/>
          <p:cNvSpPr>
            <a:spLocks noChangeArrowheads="1"/>
          </p:cNvSpPr>
          <p:nvPr/>
        </p:nvSpPr>
        <p:spPr bwMode="auto">
          <a:xfrm>
            <a:off x="6858000" y="4572001"/>
            <a:ext cx="2209800" cy="504825"/>
          </a:xfrm>
          <a:prstGeom prst="wedgeRoundRectCallout">
            <a:avLst>
              <a:gd name="adj1" fmla="val -160756"/>
              <a:gd name="adj2" fmla="val -37420"/>
              <a:gd name="adj3" fmla="val 16667"/>
            </a:avLst>
          </a:prstGeom>
          <a:solidFill>
            <a:schemeClr val="bg1"/>
          </a:solidFill>
          <a:ln w="12700" cmpd="sng">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eaLnBrk="0" hangingPunct="0">
              <a:defRPr b="1">
                <a:solidFill>
                  <a:schemeClr val="tx1"/>
                </a:solidFill>
                <a:latin typeface="Comic Sans MS" charset="0"/>
              </a:defRPr>
            </a:lvl1pPr>
            <a:lvl2pPr marL="742950" indent="-285750" eaLnBrk="0" hangingPunct="0">
              <a:defRPr b="1">
                <a:solidFill>
                  <a:schemeClr val="tx1"/>
                </a:solidFill>
                <a:latin typeface="Comic Sans MS" charset="0"/>
              </a:defRPr>
            </a:lvl2pPr>
            <a:lvl3pPr marL="1143000" indent="-228600" eaLnBrk="0" hangingPunct="0">
              <a:defRPr b="1">
                <a:solidFill>
                  <a:schemeClr val="tx1"/>
                </a:solidFill>
                <a:latin typeface="Comic Sans MS" charset="0"/>
              </a:defRPr>
            </a:lvl3pPr>
            <a:lvl4pPr marL="1600200" indent="-228600" eaLnBrk="0" hangingPunct="0">
              <a:defRPr b="1">
                <a:solidFill>
                  <a:schemeClr val="tx1"/>
                </a:solidFill>
                <a:latin typeface="Comic Sans MS" charset="0"/>
              </a:defRPr>
            </a:lvl4pPr>
            <a:lvl5pPr marL="2057400" indent="-228600" eaLnBrk="0" hangingPunct="0">
              <a:defRPr b="1">
                <a:solidFill>
                  <a:schemeClr val="tx1"/>
                </a:solidFill>
                <a:latin typeface="Comic Sans MS" charset="0"/>
              </a:defRPr>
            </a:lvl5pPr>
            <a:lvl6pPr marL="2514600" indent="-228600" eaLnBrk="0" fontAlgn="base" hangingPunct="0">
              <a:spcBef>
                <a:spcPct val="0"/>
              </a:spcBef>
              <a:spcAft>
                <a:spcPct val="0"/>
              </a:spcAft>
              <a:defRPr b="1">
                <a:solidFill>
                  <a:schemeClr val="tx1"/>
                </a:solidFill>
                <a:latin typeface="Comic Sans MS" charset="0"/>
              </a:defRPr>
            </a:lvl6pPr>
            <a:lvl7pPr marL="2971800" indent="-228600" eaLnBrk="0" fontAlgn="base" hangingPunct="0">
              <a:spcBef>
                <a:spcPct val="0"/>
              </a:spcBef>
              <a:spcAft>
                <a:spcPct val="0"/>
              </a:spcAft>
              <a:defRPr b="1">
                <a:solidFill>
                  <a:schemeClr val="tx1"/>
                </a:solidFill>
                <a:latin typeface="Comic Sans MS" charset="0"/>
              </a:defRPr>
            </a:lvl7pPr>
            <a:lvl8pPr marL="3429000" indent="-228600" eaLnBrk="0" fontAlgn="base" hangingPunct="0">
              <a:spcBef>
                <a:spcPct val="0"/>
              </a:spcBef>
              <a:spcAft>
                <a:spcPct val="0"/>
              </a:spcAft>
              <a:defRPr b="1">
                <a:solidFill>
                  <a:schemeClr val="tx1"/>
                </a:solidFill>
                <a:latin typeface="Comic Sans MS" charset="0"/>
              </a:defRPr>
            </a:lvl8pPr>
            <a:lvl9pPr marL="3886200" indent="-228600" eaLnBrk="0" fontAlgn="base" hangingPunct="0">
              <a:spcBef>
                <a:spcPct val="0"/>
              </a:spcBef>
              <a:spcAft>
                <a:spcPct val="0"/>
              </a:spcAft>
              <a:defRPr b="1">
                <a:solidFill>
                  <a:schemeClr val="tx1"/>
                </a:solidFill>
                <a:latin typeface="Comic Sans MS" charset="0"/>
              </a:defRPr>
            </a:lvl9pPr>
          </a:lstStyle>
          <a:p>
            <a:pPr>
              <a:defRPr/>
            </a:pPr>
            <a:r>
              <a:rPr lang="en-US" altLang="en-US" sz="2400" b="0" dirty="0">
                <a:solidFill>
                  <a:schemeClr val="accent2">
                    <a:lumMod val="75000"/>
                  </a:schemeClr>
                </a:solidFill>
                <a:latin typeface="Gill Sans Light"/>
                <a:ea typeface="Gill Sans" charset="0"/>
                <a:cs typeface="Gill Sans Light"/>
              </a:rPr>
              <a:t>39.5M</a:t>
            </a:r>
            <a:r>
              <a:rPr lang="en-US" altLang="en-US" sz="2400" b="0" dirty="0">
                <a:latin typeface="Gill Sans Light"/>
                <a:ea typeface="Gill Sans" charset="0"/>
                <a:cs typeface="Gill Sans Light"/>
              </a:rPr>
              <a:t> in 2017</a:t>
            </a:r>
          </a:p>
        </p:txBody>
      </p:sp>
    </p:spTree>
    <p:extLst>
      <p:ext uri="{BB962C8B-B14F-4D97-AF65-F5344CB8AC3E}">
        <p14:creationId xmlns:p14="http://schemas.microsoft.com/office/powerpoint/2010/main" val="363001545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13" grpId="0" animBg="1"/>
      <p:bldP spid="14" grpId="0" animBg="1"/>
      <p:bldP spid="15" grpId="0" animBg="1"/>
      <p:bldP spid="16"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37431" y="186696"/>
            <a:ext cx="7912100" cy="444187"/>
          </a:xfrm>
        </p:spPr>
        <p:txBody>
          <a:bodyPr/>
          <a:lstStyle/>
          <a:p>
            <a:r>
              <a:rPr lang="en-US" altLang="en-US" dirty="0">
                <a:latin typeface="Gill Sans Light" charset="0"/>
                <a:cs typeface="Gill Sans Light" charset="0"/>
              </a:rPr>
              <a:t>People-to-Computer Ratio Over Time</a:t>
            </a:r>
            <a:endParaRPr lang="en-US" dirty="0"/>
          </a:p>
        </p:txBody>
      </p:sp>
      <p:grpSp>
        <p:nvGrpSpPr>
          <p:cNvPr id="4" name="Group 10"/>
          <p:cNvGrpSpPr>
            <a:grpSpLocks/>
          </p:cNvGrpSpPr>
          <p:nvPr/>
        </p:nvGrpSpPr>
        <p:grpSpPr bwMode="auto">
          <a:xfrm>
            <a:off x="2056918" y="816417"/>
            <a:ext cx="5608937" cy="4651623"/>
            <a:chOff x="2898" y="1503"/>
            <a:chExt cx="2579" cy="2085"/>
          </a:xfrm>
          <a:noFill/>
        </p:grpSpPr>
        <p:sp>
          <p:nvSpPr>
            <p:cNvPr id="12" name="Text Box 11"/>
            <p:cNvSpPr txBox="1">
              <a:spLocks noChangeArrowheads="1"/>
            </p:cNvSpPr>
            <p:nvPr/>
          </p:nvSpPr>
          <p:spPr bwMode="auto">
            <a:xfrm>
              <a:off x="4126" y="3436"/>
              <a:ext cx="466" cy="152"/>
            </a:xfrm>
            <a:prstGeom prst="rect">
              <a:avLst/>
            </a:prstGeom>
            <a:grpFill/>
            <a:ln w="12700">
              <a:noFill/>
              <a:miter lim="800000"/>
              <a:headEnd type="none" w="sm" len="sm"/>
              <a:tailEnd type="none" w="sm" len="sm"/>
            </a:ln>
            <a:effectLst/>
          </p:spPr>
          <p:txBody>
            <a:bodyPr wrap="square">
              <a:prstTxWarp prst="textNoShape">
                <a:avLst/>
              </a:prstTxWarp>
              <a:spAutoFit/>
            </a:bodyPr>
            <a:lstStyle/>
            <a:p>
              <a:pPr eaLnBrk="0" hangingPunct="0"/>
              <a:r>
                <a:rPr lang="en-US" sz="1600">
                  <a:latin typeface="Verdana" charset="0"/>
                </a:rPr>
                <a:t>years</a:t>
              </a:r>
            </a:p>
          </p:txBody>
        </p:sp>
        <p:sp>
          <p:nvSpPr>
            <p:cNvPr id="13" name="Text Box 12"/>
            <p:cNvSpPr txBox="1">
              <a:spLocks noChangeArrowheads="1"/>
            </p:cNvSpPr>
            <p:nvPr/>
          </p:nvSpPr>
          <p:spPr bwMode="auto">
            <a:xfrm>
              <a:off x="2898" y="1503"/>
              <a:ext cx="792" cy="262"/>
            </a:xfrm>
            <a:prstGeom prst="rect">
              <a:avLst/>
            </a:prstGeom>
            <a:grpFill/>
            <a:ln w="9525">
              <a:noFill/>
              <a:miter lim="800000"/>
              <a:headEnd/>
              <a:tailEnd/>
            </a:ln>
            <a:effectLst/>
          </p:spPr>
          <p:txBody>
            <a:bodyPr wrap="square">
              <a:prstTxWarp prst="textNoShape">
                <a:avLst/>
              </a:prstTxWarp>
              <a:spAutoFit/>
            </a:bodyPr>
            <a:lstStyle/>
            <a:p>
              <a:pPr eaLnBrk="0" hangingPunct="0"/>
              <a:r>
                <a:rPr lang="en-US" sz="1600"/>
                <a:t>Computers</a:t>
              </a:r>
            </a:p>
            <a:p>
              <a:pPr eaLnBrk="0" hangingPunct="0"/>
              <a:r>
                <a:rPr lang="en-US" sz="1600"/>
                <a:t>Per Person</a:t>
              </a:r>
            </a:p>
          </p:txBody>
        </p:sp>
        <p:sp>
          <p:nvSpPr>
            <p:cNvPr id="14" name="Text Box 13"/>
            <p:cNvSpPr txBox="1">
              <a:spLocks noChangeArrowheads="1"/>
            </p:cNvSpPr>
            <p:nvPr/>
          </p:nvSpPr>
          <p:spPr bwMode="auto">
            <a:xfrm>
              <a:off x="3043" y="3155"/>
              <a:ext cx="421" cy="152"/>
            </a:xfrm>
            <a:prstGeom prst="rect">
              <a:avLst/>
            </a:prstGeom>
            <a:grpFill/>
            <a:ln w="9525">
              <a:noFill/>
              <a:miter lim="800000"/>
              <a:headEnd/>
              <a:tailEnd/>
            </a:ln>
            <a:effectLst/>
          </p:spPr>
          <p:txBody>
            <a:bodyPr wrap="square">
              <a:prstTxWarp prst="textNoShape">
                <a:avLst/>
              </a:prstTxWarp>
              <a:spAutoFit/>
            </a:bodyPr>
            <a:lstStyle/>
            <a:p>
              <a:pPr eaLnBrk="0" hangingPunct="0"/>
              <a:r>
                <a:rPr lang="en-US" sz="1600"/>
                <a:t>10</a:t>
              </a:r>
              <a:r>
                <a:rPr lang="en-US" sz="1600" baseline="30000"/>
                <a:t>3</a:t>
              </a:r>
              <a:r>
                <a:rPr lang="en-US" sz="1600"/>
                <a:t>:1</a:t>
              </a:r>
            </a:p>
          </p:txBody>
        </p:sp>
        <p:sp>
          <p:nvSpPr>
            <p:cNvPr id="15" name="Text Box 14"/>
            <p:cNvSpPr txBox="1">
              <a:spLocks noChangeArrowheads="1"/>
            </p:cNvSpPr>
            <p:nvPr/>
          </p:nvSpPr>
          <p:spPr bwMode="auto">
            <a:xfrm>
              <a:off x="3043" y="1824"/>
              <a:ext cx="421" cy="152"/>
            </a:xfrm>
            <a:prstGeom prst="rect">
              <a:avLst/>
            </a:prstGeom>
            <a:grpFill/>
            <a:ln w="9525">
              <a:noFill/>
              <a:miter lim="800000"/>
              <a:headEnd/>
              <a:tailEnd/>
            </a:ln>
            <a:effectLst/>
          </p:spPr>
          <p:txBody>
            <a:bodyPr wrap="square">
              <a:prstTxWarp prst="textNoShape">
                <a:avLst/>
              </a:prstTxWarp>
              <a:spAutoFit/>
            </a:bodyPr>
            <a:lstStyle/>
            <a:p>
              <a:pPr eaLnBrk="0" hangingPunct="0"/>
              <a:r>
                <a:rPr lang="en-US" sz="1600"/>
                <a:t>1:10</a:t>
              </a:r>
              <a:r>
                <a:rPr lang="en-US" sz="1600" baseline="30000"/>
                <a:t>6</a:t>
              </a:r>
            </a:p>
          </p:txBody>
        </p:sp>
        <p:sp>
          <p:nvSpPr>
            <p:cNvPr id="16" name="Text Box 15"/>
            <p:cNvSpPr txBox="1">
              <a:spLocks noChangeArrowheads="1"/>
            </p:cNvSpPr>
            <p:nvPr/>
          </p:nvSpPr>
          <p:spPr bwMode="auto">
            <a:xfrm>
              <a:off x="4800" y="2640"/>
              <a:ext cx="677" cy="138"/>
            </a:xfrm>
            <a:prstGeom prst="rect">
              <a:avLst/>
            </a:prstGeom>
            <a:grpFill/>
            <a:ln w="12700">
              <a:noFill/>
              <a:miter lim="800000"/>
              <a:headEnd type="none" w="sm" len="sm"/>
              <a:tailEnd type="none" w="sm" len="sm"/>
            </a:ln>
            <a:effectLst/>
          </p:spPr>
          <p:txBody>
            <a:bodyPr wrap="square">
              <a:prstTxWarp prst="textNoShape">
                <a:avLst/>
              </a:prstTxWarp>
              <a:spAutoFit/>
            </a:bodyPr>
            <a:lstStyle/>
            <a:p>
              <a:pPr eaLnBrk="0" hangingPunct="0"/>
              <a:r>
                <a:rPr lang="en-US" sz="1400">
                  <a:latin typeface="Verdana" charset="0"/>
                </a:rPr>
                <a:t>Laptop</a:t>
              </a:r>
            </a:p>
          </p:txBody>
        </p:sp>
        <p:sp>
          <p:nvSpPr>
            <p:cNvPr id="17" name="Text Box 16"/>
            <p:cNvSpPr txBox="1">
              <a:spLocks noChangeArrowheads="1"/>
            </p:cNvSpPr>
            <p:nvPr/>
          </p:nvSpPr>
          <p:spPr bwMode="auto">
            <a:xfrm>
              <a:off x="4958" y="2814"/>
              <a:ext cx="394" cy="138"/>
            </a:xfrm>
            <a:prstGeom prst="rect">
              <a:avLst/>
            </a:prstGeom>
            <a:grpFill/>
            <a:ln w="12700">
              <a:noFill/>
              <a:miter lim="800000"/>
              <a:headEnd type="none" w="sm" len="sm"/>
              <a:tailEnd type="none" w="sm" len="sm"/>
            </a:ln>
            <a:effectLst/>
          </p:spPr>
          <p:txBody>
            <a:bodyPr wrap="square">
              <a:prstTxWarp prst="textNoShape">
                <a:avLst/>
              </a:prstTxWarp>
              <a:spAutoFit/>
            </a:bodyPr>
            <a:lstStyle/>
            <a:p>
              <a:pPr eaLnBrk="0" hangingPunct="0"/>
              <a:r>
                <a:rPr lang="en-US" sz="1400">
                  <a:latin typeface="Verdana" charset="0"/>
                </a:rPr>
                <a:t>PDA</a:t>
              </a:r>
            </a:p>
          </p:txBody>
        </p:sp>
        <p:sp>
          <p:nvSpPr>
            <p:cNvPr id="18" name="Line 17"/>
            <p:cNvSpPr>
              <a:spLocks noChangeShapeType="1"/>
            </p:cNvSpPr>
            <p:nvPr/>
          </p:nvSpPr>
          <p:spPr bwMode="auto">
            <a:xfrm>
              <a:off x="3458" y="3385"/>
              <a:ext cx="1978" cy="0"/>
            </a:xfrm>
            <a:prstGeom prst="line">
              <a:avLst/>
            </a:prstGeom>
            <a:grpFill/>
            <a:ln w="38100">
              <a:solidFill>
                <a:schemeClr val="tx1"/>
              </a:solidFill>
              <a:round/>
              <a:headEnd type="none" w="sm" len="sm"/>
              <a:tailEnd type="triangle" w="med" len="med"/>
            </a:ln>
            <a:effectLst/>
          </p:spPr>
          <p:txBody>
            <a:bodyPr>
              <a:prstTxWarp prst="textNoShape">
                <a:avLst/>
              </a:prstTxWarp>
            </a:bodyPr>
            <a:lstStyle/>
            <a:p>
              <a:endParaRPr lang="en-US"/>
            </a:p>
          </p:txBody>
        </p:sp>
        <p:sp>
          <p:nvSpPr>
            <p:cNvPr id="19" name="Line 18"/>
            <p:cNvSpPr>
              <a:spLocks noChangeShapeType="1"/>
            </p:cNvSpPr>
            <p:nvPr/>
          </p:nvSpPr>
          <p:spPr bwMode="auto">
            <a:xfrm flipV="1">
              <a:off x="3462" y="1715"/>
              <a:ext cx="0" cy="1661"/>
            </a:xfrm>
            <a:prstGeom prst="line">
              <a:avLst/>
            </a:prstGeom>
            <a:grpFill/>
            <a:ln w="38100">
              <a:solidFill>
                <a:schemeClr val="tx1"/>
              </a:solidFill>
              <a:round/>
              <a:headEnd type="none" w="sm" len="sm"/>
              <a:tailEnd type="triangle" w="med" len="med"/>
            </a:ln>
            <a:effectLst/>
          </p:spPr>
          <p:txBody>
            <a:bodyPr>
              <a:prstTxWarp prst="textNoShape">
                <a:avLst/>
              </a:prstTxWarp>
            </a:bodyPr>
            <a:lstStyle/>
            <a:p>
              <a:endParaRPr lang="en-US"/>
            </a:p>
          </p:txBody>
        </p:sp>
        <p:pic>
          <p:nvPicPr>
            <p:cNvPr id="20" name="Picture 19" descr="whirlwind-computer"/>
            <p:cNvPicPr>
              <a:picLocks noChangeAspect="1" noChangeArrowheads="1"/>
            </p:cNvPicPr>
            <p:nvPr/>
          </p:nvPicPr>
          <p:blipFill>
            <a:blip r:embed="rId3"/>
            <a:srcRect/>
            <a:stretch>
              <a:fillRect/>
            </a:stretch>
          </p:blipFill>
          <p:spPr bwMode="auto">
            <a:xfrm>
              <a:off x="3486" y="1777"/>
              <a:ext cx="486" cy="348"/>
            </a:xfrm>
            <a:prstGeom prst="rect">
              <a:avLst/>
            </a:prstGeom>
            <a:grpFill/>
          </p:spPr>
        </p:pic>
        <p:pic>
          <p:nvPicPr>
            <p:cNvPr id="21" name="Picture 20" descr="360-67"/>
            <p:cNvPicPr>
              <a:picLocks noChangeAspect="1" noChangeArrowheads="1"/>
            </p:cNvPicPr>
            <p:nvPr/>
          </p:nvPicPr>
          <p:blipFill>
            <a:blip r:embed="rId4"/>
            <a:srcRect/>
            <a:stretch>
              <a:fillRect/>
            </a:stretch>
          </p:blipFill>
          <p:spPr bwMode="auto">
            <a:xfrm>
              <a:off x="3736" y="2070"/>
              <a:ext cx="442" cy="327"/>
            </a:xfrm>
            <a:prstGeom prst="rect">
              <a:avLst/>
            </a:prstGeom>
            <a:grpFill/>
          </p:spPr>
        </p:pic>
        <p:sp>
          <p:nvSpPr>
            <p:cNvPr id="22" name="Text Box 21"/>
            <p:cNvSpPr txBox="1">
              <a:spLocks noChangeArrowheads="1"/>
            </p:cNvSpPr>
            <p:nvPr/>
          </p:nvSpPr>
          <p:spPr bwMode="auto">
            <a:xfrm>
              <a:off x="4154" y="1968"/>
              <a:ext cx="862" cy="138"/>
            </a:xfrm>
            <a:prstGeom prst="rect">
              <a:avLst/>
            </a:prstGeom>
            <a:grpFill/>
            <a:ln w="12700">
              <a:noFill/>
              <a:miter lim="800000"/>
              <a:headEnd type="none" w="sm" len="sm"/>
              <a:tailEnd type="none" w="sm" len="sm"/>
            </a:ln>
            <a:effectLst/>
          </p:spPr>
          <p:txBody>
            <a:bodyPr wrap="square">
              <a:prstTxWarp prst="textNoShape">
                <a:avLst/>
              </a:prstTxWarp>
              <a:spAutoFit/>
            </a:bodyPr>
            <a:lstStyle/>
            <a:p>
              <a:pPr eaLnBrk="0" hangingPunct="0"/>
              <a:r>
                <a:rPr lang="en-US" sz="1400" dirty="0">
                  <a:latin typeface="Verdana" charset="0"/>
                </a:rPr>
                <a:t>Mainframe</a:t>
              </a:r>
            </a:p>
          </p:txBody>
        </p:sp>
        <p:pic>
          <p:nvPicPr>
            <p:cNvPr id="23" name="Picture 22" descr="vax11-780"/>
            <p:cNvPicPr>
              <a:picLocks noChangeAspect="1" noChangeArrowheads="1"/>
            </p:cNvPicPr>
            <p:nvPr/>
          </p:nvPicPr>
          <p:blipFill>
            <a:blip r:embed="rId5"/>
            <a:srcRect/>
            <a:stretch>
              <a:fillRect/>
            </a:stretch>
          </p:blipFill>
          <p:spPr bwMode="auto">
            <a:xfrm>
              <a:off x="4108" y="2307"/>
              <a:ext cx="272" cy="296"/>
            </a:xfrm>
            <a:prstGeom prst="rect">
              <a:avLst/>
            </a:prstGeom>
            <a:grpFill/>
          </p:spPr>
        </p:pic>
        <p:sp>
          <p:nvSpPr>
            <p:cNvPr id="24" name="Text Box 23"/>
            <p:cNvSpPr txBox="1">
              <a:spLocks noChangeArrowheads="1"/>
            </p:cNvSpPr>
            <p:nvPr/>
          </p:nvSpPr>
          <p:spPr bwMode="auto">
            <a:xfrm>
              <a:off x="4386" y="2216"/>
              <a:ext cx="468" cy="138"/>
            </a:xfrm>
            <a:prstGeom prst="rect">
              <a:avLst/>
            </a:prstGeom>
            <a:grpFill/>
            <a:ln w="12700">
              <a:noFill/>
              <a:miter lim="800000"/>
              <a:headEnd type="none" w="sm" len="sm"/>
              <a:tailEnd type="none" w="sm" len="sm"/>
            </a:ln>
            <a:effectLst/>
          </p:spPr>
          <p:txBody>
            <a:bodyPr wrap="square">
              <a:prstTxWarp prst="textNoShape">
                <a:avLst/>
              </a:prstTxWarp>
              <a:spAutoFit/>
            </a:bodyPr>
            <a:lstStyle/>
            <a:p>
              <a:pPr eaLnBrk="0" hangingPunct="0"/>
              <a:r>
                <a:rPr lang="en-US" sz="1400">
                  <a:latin typeface="Verdana" charset="0"/>
                </a:rPr>
                <a:t>Mini</a:t>
              </a:r>
            </a:p>
          </p:txBody>
        </p:sp>
        <p:pic>
          <p:nvPicPr>
            <p:cNvPr id="25" name="Picture 24" descr="sun3+3d"/>
            <p:cNvPicPr>
              <a:picLocks noChangeAspect="1" noChangeArrowheads="1"/>
            </p:cNvPicPr>
            <p:nvPr/>
          </p:nvPicPr>
          <p:blipFill>
            <a:blip r:embed="rId6"/>
            <a:srcRect/>
            <a:stretch>
              <a:fillRect/>
            </a:stretch>
          </p:blipFill>
          <p:spPr bwMode="auto">
            <a:xfrm>
              <a:off x="4284" y="2488"/>
              <a:ext cx="303" cy="259"/>
            </a:xfrm>
            <a:prstGeom prst="rect">
              <a:avLst/>
            </a:prstGeom>
            <a:grpFill/>
          </p:spPr>
        </p:pic>
        <p:sp>
          <p:nvSpPr>
            <p:cNvPr id="26" name="Text Box 25"/>
            <p:cNvSpPr txBox="1">
              <a:spLocks noChangeArrowheads="1"/>
            </p:cNvSpPr>
            <p:nvPr/>
          </p:nvSpPr>
          <p:spPr bwMode="auto">
            <a:xfrm>
              <a:off x="4547" y="2397"/>
              <a:ext cx="829" cy="138"/>
            </a:xfrm>
            <a:prstGeom prst="rect">
              <a:avLst/>
            </a:prstGeom>
            <a:grpFill/>
            <a:ln w="12700">
              <a:noFill/>
              <a:miter lim="800000"/>
              <a:headEnd type="none" w="sm" len="sm"/>
              <a:tailEnd type="none" w="sm" len="sm"/>
            </a:ln>
            <a:effectLst/>
          </p:spPr>
          <p:txBody>
            <a:bodyPr wrap="square">
              <a:prstTxWarp prst="textNoShape">
                <a:avLst/>
              </a:prstTxWarp>
              <a:spAutoFit/>
            </a:bodyPr>
            <a:lstStyle/>
            <a:p>
              <a:pPr eaLnBrk="0" hangingPunct="0"/>
              <a:r>
                <a:rPr lang="en-US" sz="1400" dirty="0">
                  <a:latin typeface="Verdana" charset="0"/>
                </a:rPr>
                <a:t>Workstation</a:t>
              </a:r>
            </a:p>
          </p:txBody>
        </p:sp>
        <p:sp>
          <p:nvSpPr>
            <p:cNvPr id="27" name="Text Box 26"/>
            <p:cNvSpPr txBox="1">
              <a:spLocks noChangeArrowheads="1"/>
            </p:cNvSpPr>
            <p:nvPr/>
          </p:nvSpPr>
          <p:spPr bwMode="auto">
            <a:xfrm>
              <a:off x="4704" y="2544"/>
              <a:ext cx="309" cy="138"/>
            </a:xfrm>
            <a:prstGeom prst="rect">
              <a:avLst/>
            </a:prstGeom>
            <a:grpFill/>
            <a:ln w="12700">
              <a:noFill/>
              <a:miter lim="800000"/>
              <a:headEnd type="none" w="sm" len="sm"/>
              <a:tailEnd type="none" w="sm" len="sm"/>
            </a:ln>
            <a:effectLst/>
          </p:spPr>
          <p:txBody>
            <a:bodyPr wrap="square">
              <a:prstTxWarp prst="textNoShape">
                <a:avLst/>
              </a:prstTxWarp>
              <a:spAutoFit/>
            </a:bodyPr>
            <a:lstStyle/>
            <a:p>
              <a:pPr eaLnBrk="0" hangingPunct="0"/>
              <a:r>
                <a:rPr lang="en-US" sz="1400">
                  <a:latin typeface="Verdana" charset="0"/>
                </a:rPr>
                <a:t>PC</a:t>
              </a:r>
            </a:p>
          </p:txBody>
        </p:sp>
        <p:pic>
          <p:nvPicPr>
            <p:cNvPr id="28" name="Picture 27" descr="IBM_ThinkPad@ThinkPad_A_Series"/>
            <p:cNvPicPr>
              <a:picLocks noChangeAspect="1" noChangeArrowheads="1"/>
            </p:cNvPicPr>
            <p:nvPr/>
          </p:nvPicPr>
          <p:blipFill>
            <a:blip r:embed="rId7"/>
            <a:srcRect/>
            <a:stretch>
              <a:fillRect/>
            </a:stretch>
          </p:blipFill>
          <p:spPr bwMode="auto">
            <a:xfrm>
              <a:off x="4635" y="2760"/>
              <a:ext cx="233" cy="227"/>
            </a:xfrm>
            <a:prstGeom prst="rect">
              <a:avLst/>
            </a:prstGeom>
            <a:grpFill/>
          </p:spPr>
        </p:pic>
        <p:pic>
          <p:nvPicPr>
            <p:cNvPr id="30" name="Picture 28" descr="cell-phone-nokia">
              <a:hlinkClick r:id="rId8"/>
            </p:cNvPr>
            <p:cNvPicPr>
              <a:picLocks noChangeAspect="1" noChangeArrowheads="1"/>
            </p:cNvPicPr>
            <p:nvPr/>
          </p:nvPicPr>
          <p:blipFill>
            <a:blip r:embed="rId9"/>
            <a:srcRect/>
            <a:stretch>
              <a:fillRect/>
            </a:stretch>
          </p:blipFill>
          <p:spPr bwMode="auto">
            <a:xfrm>
              <a:off x="5031" y="3078"/>
              <a:ext cx="175" cy="133"/>
            </a:xfrm>
            <a:prstGeom prst="rect">
              <a:avLst/>
            </a:prstGeom>
            <a:grpFill/>
          </p:spPr>
        </p:pic>
        <p:pic>
          <p:nvPicPr>
            <p:cNvPr id="31" name="Picture 29" descr="pcsm"/>
            <p:cNvPicPr>
              <a:picLocks noChangeAspect="1" noChangeArrowheads="1"/>
            </p:cNvPicPr>
            <p:nvPr/>
          </p:nvPicPr>
          <p:blipFill>
            <a:blip r:embed="rId10"/>
            <a:srcRect/>
            <a:stretch>
              <a:fillRect/>
            </a:stretch>
          </p:blipFill>
          <p:spPr bwMode="auto">
            <a:xfrm>
              <a:off x="4503" y="2624"/>
              <a:ext cx="157" cy="221"/>
            </a:xfrm>
            <a:prstGeom prst="rect">
              <a:avLst/>
            </a:prstGeom>
            <a:grpFill/>
          </p:spPr>
        </p:pic>
        <p:pic>
          <p:nvPicPr>
            <p:cNvPr id="32" name="Picture 30" descr="palm"/>
            <p:cNvPicPr>
              <a:picLocks noChangeAspect="1" noChangeArrowheads="1"/>
            </p:cNvPicPr>
            <p:nvPr/>
          </p:nvPicPr>
          <p:blipFill>
            <a:blip r:embed="rId11"/>
            <a:srcRect/>
            <a:stretch>
              <a:fillRect/>
            </a:stretch>
          </p:blipFill>
          <p:spPr bwMode="auto">
            <a:xfrm>
              <a:off x="4803" y="2984"/>
              <a:ext cx="126" cy="184"/>
            </a:xfrm>
            <a:prstGeom prst="rect">
              <a:avLst/>
            </a:prstGeom>
            <a:grpFill/>
            <a:ln w="9525">
              <a:noFill/>
              <a:miter lim="800000"/>
              <a:headEnd/>
              <a:tailEnd/>
            </a:ln>
          </p:spPr>
        </p:pic>
        <p:sp>
          <p:nvSpPr>
            <p:cNvPr id="33" name="Rectangle 31"/>
            <p:cNvSpPr>
              <a:spLocks noChangeArrowheads="1"/>
            </p:cNvSpPr>
            <p:nvPr/>
          </p:nvSpPr>
          <p:spPr bwMode="auto">
            <a:xfrm>
              <a:off x="5064" y="2934"/>
              <a:ext cx="322" cy="138"/>
            </a:xfrm>
            <a:prstGeom prst="rect">
              <a:avLst/>
            </a:prstGeom>
            <a:grpFill/>
            <a:ln w="9525">
              <a:noFill/>
              <a:miter lim="800000"/>
              <a:headEnd/>
              <a:tailEnd/>
            </a:ln>
            <a:effectLst/>
          </p:spPr>
          <p:txBody>
            <a:bodyPr wrap="square">
              <a:prstTxWarp prst="textNoShape">
                <a:avLst/>
              </a:prstTxWarp>
              <a:spAutoFit/>
            </a:bodyPr>
            <a:lstStyle/>
            <a:p>
              <a:r>
                <a:rPr lang="en-US" sz="1400">
                  <a:latin typeface="Verdana" charset="0"/>
                </a:rPr>
                <a:t>Cell</a:t>
              </a:r>
            </a:p>
          </p:txBody>
        </p:sp>
        <p:sp>
          <p:nvSpPr>
            <p:cNvPr id="34" name="Text Box 32"/>
            <p:cNvSpPr txBox="1">
              <a:spLocks noChangeArrowheads="1"/>
            </p:cNvSpPr>
            <p:nvPr/>
          </p:nvSpPr>
          <p:spPr bwMode="auto">
            <a:xfrm>
              <a:off x="3163" y="2712"/>
              <a:ext cx="301" cy="152"/>
            </a:xfrm>
            <a:prstGeom prst="rect">
              <a:avLst/>
            </a:prstGeom>
            <a:grpFill/>
            <a:ln w="9525">
              <a:noFill/>
              <a:miter lim="800000"/>
              <a:headEnd/>
              <a:tailEnd/>
            </a:ln>
            <a:effectLst/>
          </p:spPr>
          <p:txBody>
            <a:bodyPr wrap="square">
              <a:prstTxWarp prst="textNoShape">
                <a:avLst/>
              </a:prstTxWarp>
              <a:spAutoFit/>
            </a:bodyPr>
            <a:lstStyle/>
            <a:p>
              <a:pPr eaLnBrk="0" hangingPunct="0"/>
              <a:r>
                <a:rPr lang="en-US" sz="1600"/>
                <a:t>1:1</a:t>
              </a:r>
            </a:p>
          </p:txBody>
        </p:sp>
        <p:sp>
          <p:nvSpPr>
            <p:cNvPr id="35" name="Text Box 33"/>
            <p:cNvSpPr txBox="1">
              <a:spLocks noChangeArrowheads="1"/>
            </p:cNvSpPr>
            <p:nvPr/>
          </p:nvSpPr>
          <p:spPr bwMode="auto">
            <a:xfrm>
              <a:off x="3043" y="2304"/>
              <a:ext cx="421" cy="152"/>
            </a:xfrm>
            <a:prstGeom prst="rect">
              <a:avLst/>
            </a:prstGeom>
            <a:grpFill/>
            <a:ln w="9525">
              <a:noFill/>
              <a:miter lim="800000"/>
              <a:headEnd/>
              <a:tailEnd/>
            </a:ln>
            <a:effectLst/>
          </p:spPr>
          <p:txBody>
            <a:bodyPr wrap="square">
              <a:prstTxWarp prst="textNoShape">
                <a:avLst/>
              </a:prstTxWarp>
              <a:spAutoFit/>
            </a:bodyPr>
            <a:lstStyle/>
            <a:p>
              <a:pPr eaLnBrk="0" hangingPunct="0"/>
              <a:r>
                <a:rPr lang="en-US" sz="1600"/>
                <a:t>1:10</a:t>
              </a:r>
              <a:r>
                <a:rPr lang="en-US" sz="1600" baseline="30000"/>
                <a:t>3</a:t>
              </a:r>
            </a:p>
          </p:txBody>
        </p:sp>
      </p:grpSp>
      <p:grpSp>
        <p:nvGrpSpPr>
          <p:cNvPr id="5" name="Group 7"/>
          <p:cNvGrpSpPr>
            <a:grpSpLocks/>
          </p:cNvGrpSpPr>
          <p:nvPr/>
        </p:nvGrpSpPr>
        <p:grpSpPr bwMode="auto">
          <a:xfrm>
            <a:off x="6853682" y="4583069"/>
            <a:ext cx="781050" cy="755650"/>
            <a:chOff x="4992" y="3124"/>
            <a:chExt cx="492" cy="476"/>
          </a:xfrm>
        </p:grpSpPr>
        <p:sp>
          <p:nvSpPr>
            <p:cNvPr id="40" name="Text Box 8"/>
            <p:cNvSpPr txBox="1">
              <a:spLocks noChangeArrowheads="1"/>
            </p:cNvSpPr>
            <p:nvPr/>
          </p:nvSpPr>
          <p:spPr bwMode="auto">
            <a:xfrm>
              <a:off x="4992" y="3408"/>
              <a:ext cx="492" cy="192"/>
            </a:xfrm>
            <a:prstGeom prst="rect">
              <a:avLst/>
            </a:prstGeom>
            <a:noFill/>
            <a:ln w="12700">
              <a:noFill/>
              <a:miter lim="800000"/>
              <a:headEnd type="none" w="sm" len="sm"/>
              <a:tailEnd type="none" w="sm" len="sm"/>
            </a:ln>
            <a:effectLst/>
          </p:spPr>
          <p:txBody>
            <a:bodyPr>
              <a:prstTxWarp prst="textNoShape">
                <a:avLst/>
              </a:prstTxWarp>
              <a:spAutoFit/>
            </a:bodyPr>
            <a:lstStyle/>
            <a:p>
              <a:pPr eaLnBrk="0" hangingPunct="0"/>
              <a:r>
                <a:rPr lang="en-US" sz="1400" i="1" dirty="0">
                  <a:latin typeface="Verdana" charset="0"/>
                </a:rPr>
                <a:t>Mote!</a:t>
              </a:r>
            </a:p>
          </p:txBody>
        </p:sp>
        <p:pic>
          <p:nvPicPr>
            <p:cNvPr id="41" name="Picture 9" descr="dots"/>
            <p:cNvPicPr>
              <a:picLocks noChangeAspect="1" noChangeArrowheads="1"/>
            </p:cNvPicPr>
            <p:nvPr/>
          </p:nvPicPr>
          <p:blipFill>
            <a:blip r:embed="rId12"/>
            <a:srcRect/>
            <a:stretch>
              <a:fillRect/>
            </a:stretch>
          </p:blipFill>
          <p:spPr bwMode="auto">
            <a:xfrm>
              <a:off x="5206" y="3124"/>
              <a:ext cx="211" cy="260"/>
            </a:xfrm>
            <a:prstGeom prst="rect">
              <a:avLst/>
            </a:prstGeom>
            <a:noFill/>
          </p:spPr>
        </p:pic>
      </p:grpSp>
      <p:pic>
        <p:nvPicPr>
          <p:cNvPr id="42" name="Picture 3"/>
          <p:cNvPicPr>
            <a:picLocks noChangeAspect="1"/>
          </p:cNvPicPr>
          <p:nvPr/>
        </p:nvPicPr>
        <p:blipFill>
          <a:blip r:embed="rId13"/>
          <a:srcRect/>
          <a:stretch>
            <a:fillRect/>
          </a:stretch>
        </p:blipFill>
        <p:spPr bwMode="auto">
          <a:xfrm>
            <a:off x="7302450" y="892013"/>
            <a:ext cx="1252243" cy="767207"/>
          </a:xfrm>
          <a:prstGeom prst="rect">
            <a:avLst/>
          </a:prstGeom>
          <a:noFill/>
          <a:ln w="9525">
            <a:noFill/>
            <a:miter lim="800000"/>
            <a:headEnd/>
            <a:tailEnd/>
          </a:ln>
        </p:spPr>
      </p:pic>
      <p:pic>
        <p:nvPicPr>
          <p:cNvPr id="43" name="Picture 42"/>
          <p:cNvPicPr>
            <a:picLocks noChangeAspect="1"/>
          </p:cNvPicPr>
          <p:nvPr/>
        </p:nvPicPr>
        <p:blipFill>
          <a:blip r:embed="rId14"/>
          <a:stretch>
            <a:fillRect/>
          </a:stretch>
        </p:blipFill>
        <p:spPr>
          <a:xfrm>
            <a:off x="7392662" y="3840630"/>
            <a:ext cx="467971" cy="493613"/>
          </a:xfrm>
          <a:prstGeom prst="rect">
            <a:avLst/>
          </a:prstGeom>
        </p:spPr>
      </p:pic>
      <p:pic>
        <p:nvPicPr>
          <p:cNvPr id="44" name="Picture 43"/>
          <p:cNvPicPr>
            <a:picLocks noChangeAspect="1"/>
          </p:cNvPicPr>
          <p:nvPr/>
        </p:nvPicPr>
        <p:blipFill>
          <a:blip r:embed="rId15"/>
          <a:stretch>
            <a:fillRect/>
          </a:stretch>
        </p:blipFill>
        <p:spPr>
          <a:xfrm>
            <a:off x="6657700" y="1360395"/>
            <a:ext cx="1333500" cy="952500"/>
          </a:xfrm>
          <a:prstGeom prst="rect">
            <a:avLst/>
          </a:prstGeom>
        </p:spPr>
      </p:pic>
      <p:pic>
        <p:nvPicPr>
          <p:cNvPr id="45" name="Picture 44"/>
          <p:cNvPicPr>
            <a:picLocks noChangeAspect="1"/>
          </p:cNvPicPr>
          <p:nvPr/>
        </p:nvPicPr>
        <p:blipFill>
          <a:blip r:embed="rId16"/>
          <a:stretch>
            <a:fillRect/>
          </a:stretch>
        </p:blipFill>
        <p:spPr>
          <a:xfrm>
            <a:off x="7149647" y="2240805"/>
            <a:ext cx="864217" cy="822885"/>
          </a:xfrm>
          <a:prstGeom prst="rect">
            <a:avLst/>
          </a:prstGeom>
        </p:spPr>
      </p:pic>
      <p:pic>
        <p:nvPicPr>
          <p:cNvPr id="46" name="Picture 45"/>
          <p:cNvPicPr>
            <a:picLocks noChangeAspect="1"/>
          </p:cNvPicPr>
          <p:nvPr/>
        </p:nvPicPr>
        <p:blipFill>
          <a:blip r:embed="rId17"/>
          <a:stretch>
            <a:fillRect/>
          </a:stretch>
        </p:blipFill>
        <p:spPr>
          <a:xfrm>
            <a:off x="7318100" y="3067325"/>
            <a:ext cx="583453" cy="575708"/>
          </a:xfrm>
          <a:prstGeom prst="rect">
            <a:avLst/>
          </a:prstGeom>
        </p:spPr>
      </p:pic>
      <p:pic>
        <p:nvPicPr>
          <p:cNvPr id="47" name="Picture 46"/>
          <p:cNvPicPr>
            <a:picLocks noChangeAspect="1"/>
          </p:cNvPicPr>
          <p:nvPr/>
        </p:nvPicPr>
        <p:blipFill>
          <a:blip r:embed="rId18"/>
          <a:stretch>
            <a:fillRect/>
          </a:stretch>
        </p:blipFill>
        <p:spPr>
          <a:xfrm>
            <a:off x="7605287" y="3437219"/>
            <a:ext cx="540718" cy="485962"/>
          </a:xfrm>
          <a:prstGeom prst="rect">
            <a:avLst/>
          </a:prstGeom>
        </p:spPr>
      </p:pic>
      <p:cxnSp>
        <p:nvCxnSpPr>
          <p:cNvPr id="49" name="Straight Connector 48"/>
          <p:cNvCxnSpPr/>
          <p:nvPr/>
        </p:nvCxnSpPr>
        <p:spPr>
          <a:xfrm>
            <a:off x="5136689" y="1718984"/>
            <a:ext cx="1419411" cy="29883"/>
          </a:xfrm>
          <a:prstGeom prst="line">
            <a:avLst/>
          </a:prstGeom>
          <a:ln w="28575" cap="flat" cmpd="sng" algn="ctr">
            <a:solidFill>
              <a:schemeClr val="accent4">
                <a:lumMod val="60000"/>
                <a:lumOff val="40000"/>
              </a:schemeClr>
            </a:solidFill>
            <a:prstDash val="dash"/>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50" name="Straight Connector 49"/>
          <p:cNvCxnSpPr/>
          <p:nvPr/>
        </p:nvCxnSpPr>
        <p:spPr>
          <a:xfrm>
            <a:off x="5438501" y="2379384"/>
            <a:ext cx="1419411" cy="29883"/>
          </a:xfrm>
          <a:prstGeom prst="line">
            <a:avLst/>
          </a:prstGeom>
          <a:ln w="28575" cap="flat" cmpd="sng" algn="ctr">
            <a:solidFill>
              <a:schemeClr val="accent4">
                <a:lumMod val="60000"/>
                <a:lumOff val="40000"/>
              </a:schemeClr>
            </a:solidFill>
            <a:prstDash val="dash"/>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51" name="Straight Connector 50"/>
          <p:cNvCxnSpPr/>
          <p:nvPr/>
        </p:nvCxnSpPr>
        <p:spPr>
          <a:xfrm flipV="1">
            <a:off x="6442547" y="3228043"/>
            <a:ext cx="696259" cy="5977"/>
          </a:xfrm>
          <a:prstGeom prst="line">
            <a:avLst/>
          </a:prstGeom>
          <a:ln w="28575" cap="flat" cmpd="sng" algn="ctr">
            <a:solidFill>
              <a:schemeClr val="accent4">
                <a:lumMod val="60000"/>
                <a:lumOff val="40000"/>
              </a:schemeClr>
            </a:solidFill>
            <a:prstDash val="dash"/>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57" name="Cloud 56"/>
          <p:cNvSpPr/>
          <p:nvPr/>
        </p:nvSpPr>
        <p:spPr>
          <a:xfrm>
            <a:off x="7050391" y="609601"/>
            <a:ext cx="1722481" cy="1677147"/>
          </a:xfrm>
          <a:prstGeom prst="cloud">
            <a:avLst/>
          </a:prstGeom>
          <a:solidFill>
            <a:schemeClr val="tx1">
              <a:lumMod val="85000"/>
              <a:alpha val="16000"/>
            </a:schemeClr>
          </a:solidFill>
          <a:ln>
            <a:solidFill>
              <a:schemeClr val="accent4">
                <a:lumMod val="60000"/>
                <a:lumOff val="4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2" name="TextBox 51"/>
          <p:cNvSpPr txBox="1"/>
          <p:nvPr/>
        </p:nvSpPr>
        <p:spPr>
          <a:xfrm>
            <a:off x="2263337" y="5677629"/>
            <a:ext cx="5062027" cy="369332"/>
          </a:xfrm>
          <a:prstGeom prst="rect">
            <a:avLst/>
          </a:prstGeom>
          <a:noFill/>
        </p:spPr>
        <p:txBody>
          <a:bodyPr wrap="none" rtlCol="0">
            <a:spAutoFit/>
          </a:bodyPr>
          <a:lstStyle/>
          <a:p>
            <a:r>
              <a:rPr lang="en-US" dirty="0">
                <a:latin typeface="Gill Sans Light"/>
              </a:rPr>
              <a:t>Bell’s Law: new computer class per 10 years</a:t>
            </a:r>
          </a:p>
        </p:txBody>
      </p:sp>
      <p:sp>
        <p:nvSpPr>
          <p:cNvPr id="53" name="Rounded Rectangular Callout 52"/>
          <p:cNvSpPr/>
          <p:nvPr/>
        </p:nvSpPr>
        <p:spPr bwMode="auto">
          <a:xfrm>
            <a:off x="7696200" y="5388416"/>
            <a:ext cx="1905000" cy="838200"/>
          </a:xfrm>
          <a:prstGeom prst="wedgeRoundRectCallout">
            <a:avLst>
              <a:gd name="adj1" fmla="val -55278"/>
              <a:gd name="adj2" fmla="val -109144"/>
              <a:gd name="adj3" fmla="val 16667"/>
            </a:avLst>
          </a:prstGeom>
          <a:solidFill>
            <a:srgbClr val="FFC000"/>
          </a:solidFill>
          <a:ln w="25400" cap="flat" cmpd="sng" algn="ctr">
            <a:solidFill>
              <a:schemeClr val="tx1"/>
            </a:solidFill>
            <a:prstDash val="solid"/>
            <a:round/>
            <a:headEnd type="triangle" w="med" len="med"/>
            <a:tailEnd type="none" w="med" len="med"/>
          </a:ln>
          <a:effectLst/>
        </p:spPr>
        <p:txBody>
          <a:bodyPr anchor="ctr"/>
          <a:lstStyle/>
          <a:p>
            <a:pPr algn="ctr">
              <a:defRPr/>
            </a:pPr>
            <a:r>
              <a:rPr lang="en-US" sz="2000" b="0" dirty="0">
                <a:latin typeface="Helvetica"/>
                <a:cs typeface="Helvetica"/>
              </a:rPr>
              <a:t>The Internet of Things!</a:t>
            </a:r>
          </a:p>
        </p:txBody>
      </p:sp>
      <p:sp>
        <p:nvSpPr>
          <p:cNvPr id="6" name="Right Brace 5"/>
          <p:cNvSpPr/>
          <p:nvPr/>
        </p:nvSpPr>
        <p:spPr bwMode="auto">
          <a:xfrm>
            <a:off x="8763000" y="1197416"/>
            <a:ext cx="304800" cy="1447800"/>
          </a:xfrm>
          <a:prstGeom prst="rightBrace">
            <a:avLst/>
          </a:prstGeom>
          <a:solidFill>
            <a:srgbClr val="FFFFFF"/>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endParaRPr lang="en-US" b="0">
              <a:latin typeface="Gill Sans Light"/>
            </a:endParaRPr>
          </a:p>
        </p:txBody>
      </p:sp>
      <p:sp>
        <p:nvSpPr>
          <p:cNvPr id="54" name="Right Brace 53"/>
          <p:cNvSpPr/>
          <p:nvPr/>
        </p:nvSpPr>
        <p:spPr bwMode="auto">
          <a:xfrm>
            <a:off x="8991600" y="2569016"/>
            <a:ext cx="304800" cy="1447800"/>
          </a:xfrm>
          <a:prstGeom prst="rightBrace">
            <a:avLst/>
          </a:prstGeom>
          <a:solidFill>
            <a:srgbClr val="FFFFFF"/>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endParaRPr lang="en-US" b="0">
              <a:latin typeface="Gill Sans Light"/>
            </a:endParaRPr>
          </a:p>
        </p:txBody>
      </p:sp>
      <p:sp>
        <p:nvSpPr>
          <p:cNvPr id="55" name="Right Brace 54"/>
          <p:cNvSpPr/>
          <p:nvPr/>
        </p:nvSpPr>
        <p:spPr bwMode="auto">
          <a:xfrm>
            <a:off x="8763000" y="4016816"/>
            <a:ext cx="304800" cy="990600"/>
          </a:xfrm>
          <a:prstGeom prst="rightBrace">
            <a:avLst/>
          </a:prstGeom>
          <a:solidFill>
            <a:srgbClr val="FFFFFF"/>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endParaRPr lang="en-US" b="0">
              <a:latin typeface="Gill Sans Light"/>
            </a:endParaRPr>
          </a:p>
        </p:txBody>
      </p:sp>
      <p:sp>
        <p:nvSpPr>
          <p:cNvPr id="7" name="TextBox 6"/>
          <p:cNvSpPr txBox="1"/>
          <p:nvPr/>
        </p:nvSpPr>
        <p:spPr>
          <a:xfrm>
            <a:off x="9144000" y="1045016"/>
            <a:ext cx="1524000" cy="1569660"/>
          </a:xfrm>
          <a:prstGeom prst="rect">
            <a:avLst/>
          </a:prstGeom>
          <a:noFill/>
        </p:spPr>
        <p:txBody>
          <a:bodyPr wrap="square" rtlCol="0">
            <a:spAutoFit/>
          </a:bodyPr>
          <a:lstStyle/>
          <a:p>
            <a:r>
              <a:rPr lang="en-US" sz="1600" dirty="0">
                <a:latin typeface="Gill Sans Light"/>
              </a:rPr>
              <a:t>Number crunching, Data Storage, Massive </a:t>
            </a:r>
            <a:r>
              <a:rPr lang="en-US" sz="1600" dirty="0" err="1">
                <a:latin typeface="Gill Sans Light"/>
              </a:rPr>
              <a:t>Inet</a:t>
            </a:r>
            <a:r>
              <a:rPr lang="en-US" sz="1600" dirty="0">
                <a:latin typeface="Gill Sans Light"/>
              </a:rPr>
              <a:t> Services,</a:t>
            </a:r>
          </a:p>
          <a:p>
            <a:r>
              <a:rPr lang="en-US" sz="1600" dirty="0">
                <a:latin typeface="Gill Sans Light"/>
              </a:rPr>
              <a:t>ML, …</a:t>
            </a:r>
          </a:p>
        </p:txBody>
      </p:sp>
      <p:sp>
        <p:nvSpPr>
          <p:cNvPr id="56" name="TextBox 55"/>
          <p:cNvSpPr txBox="1"/>
          <p:nvPr/>
        </p:nvSpPr>
        <p:spPr>
          <a:xfrm>
            <a:off x="9296400" y="2950016"/>
            <a:ext cx="1524000" cy="584776"/>
          </a:xfrm>
          <a:prstGeom prst="rect">
            <a:avLst/>
          </a:prstGeom>
          <a:noFill/>
        </p:spPr>
        <p:txBody>
          <a:bodyPr wrap="square" rtlCol="0">
            <a:spAutoFit/>
          </a:bodyPr>
          <a:lstStyle/>
          <a:p>
            <a:r>
              <a:rPr lang="en-US" sz="1600" dirty="0">
                <a:latin typeface="Gill Sans Light"/>
              </a:rPr>
              <a:t>Productivity,</a:t>
            </a:r>
          </a:p>
          <a:p>
            <a:r>
              <a:rPr lang="en-US" sz="1600" dirty="0">
                <a:latin typeface="Gill Sans Light"/>
              </a:rPr>
              <a:t>Interactive</a:t>
            </a:r>
          </a:p>
        </p:txBody>
      </p:sp>
      <p:sp>
        <p:nvSpPr>
          <p:cNvPr id="58" name="TextBox 57"/>
          <p:cNvSpPr txBox="1"/>
          <p:nvPr/>
        </p:nvSpPr>
        <p:spPr>
          <a:xfrm>
            <a:off x="9131300" y="4093016"/>
            <a:ext cx="1524000" cy="1077218"/>
          </a:xfrm>
          <a:prstGeom prst="rect">
            <a:avLst/>
          </a:prstGeom>
          <a:noFill/>
        </p:spPr>
        <p:txBody>
          <a:bodyPr wrap="square" rtlCol="0">
            <a:spAutoFit/>
          </a:bodyPr>
          <a:lstStyle/>
          <a:p>
            <a:r>
              <a:rPr lang="en-US" sz="1600" dirty="0">
                <a:latin typeface="Gill Sans Light"/>
              </a:rPr>
              <a:t>Streaming from/to the physical world</a:t>
            </a:r>
          </a:p>
        </p:txBody>
      </p:sp>
      <p:pic>
        <p:nvPicPr>
          <p:cNvPr id="11" name="Picture 10">
            <a:extLst>
              <a:ext uri="{FF2B5EF4-FFF2-40B4-BE49-F238E27FC236}">
                <a16:creationId xmlns:a16="http://schemas.microsoft.com/office/drawing/2014/main" id="{FACF598D-99D7-3E46-9F0C-2E8DD4E7AC89}"/>
              </a:ext>
            </a:extLst>
          </p:cNvPr>
          <p:cNvPicPr>
            <a:picLocks noChangeAspect="1"/>
          </p:cNvPicPr>
          <p:nvPr/>
        </p:nvPicPr>
        <p:blipFill>
          <a:blip r:embed="rId19"/>
          <a:stretch>
            <a:fillRect/>
          </a:stretch>
        </p:blipFill>
        <p:spPr>
          <a:xfrm>
            <a:off x="7581015" y="4364544"/>
            <a:ext cx="540718" cy="456507"/>
          </a:xfrm>
          <a:prstGeom prst="rect">
            <a:avLst/>
          </a:prstGeom>
        </p:spPr>
      </p:pic>
      <p:pic>
        <p:nvPicPr>
          <p:cNvPr id="29" name="Picture 28">
            <a:extLst>
              <a:ext uri="{FF2B5EF4-FFF2-40B4-BE49-F238E27FC236}">
                <a16:creationId xmlns:a16="http://schemas.microsoft.com/office/drawing/2014/main" id="{93DADA7A-ABD0-4E43-B882-FA94571CB3E9}"/>
              </a:ext>
            </a:extLst>
          </p:cNvPr>
          <p:cNvPicPr>
            <a:picLocks noChangeAspect="1"/>
          </p:cNvPicPr>
          <p:nvPr/>
        </p:nvPicPr>
        <p:blipFill>
          <a:blip r:embed="rId20"/>
          <a:stretch>
            <a:fillRect/>
          </a:stretch>
        </p:blipFill>
        <p:spPr>
          <a:xfrm>
            <a:off x="7928570" y="4745474"/>
            <a:ext cx="328530" cy="328530"/>
          </a:xfrm>
          <a:prstGeom prst="rect">
            <a:avLst/>
          </a:prstGeom>
        </p:spPr>
      </p:pic>
      <p:pic>
        <p:nvPicPr>
          <p:cNvPr id="37" name="Picture 36">
            <a:extLst>
              <a:ext uri="{FF2B5EF4-FFF2-40B4-BE49-F238E27FC236}">
                <a16:creationId xmlns:a16="http://schemas.microsoft.com/office/drawing/2014/main" id="{C6CD20A3-930D-FF43-B997-0763F8943AAD}"/>
              </a:ext>
            </a:extLst>
          </p:cNvPr>
          <p:cNvPicPr>
            <a:picLocks noChangeAspect="1"/>
          </p:cNvPicPr>
          <p:nvPr/>
        </p:nvPicPr>
        <p:blipFill>
          <a:blip r:embed="rId21"/>
          <a:stretch>
            <a:fillRect/>
          </a:stretch>
        </p:blipFill>
        <p:spPr>
          <a:xfrm>
            <a:off x="8182706" y="4508514"/>
            <a:ext cx="351694" cy="351694"/>
          </a:xfrm>
          <a:prstGeom prst="rect">
            <a:avLst/>
          </a:prstGeom>
        </p:spPr>
      </p:pic>
      <p:pic>
        <p:nvPicPr>
          <p:cNvPr id="38" name="Picture 37">
            <a:extLst>
              <a:ext uri="{FF2B5EF4-FFF2-40B4-BE49-F238E27FC236}">
                <a16:creationId xmlns:a16="http://schemas.microsoft.com/office/drawing/2014/main" id="{5E0D5A9B-4751-2D46-9AA3-4F67A358B7AA}"/>
              </a:ext>
            </a:extLst>
          </p:cNvPr>
          <p:cNvPicPr>
            <a:picLocks noChangeAspect="1"/>
          </p:cNvPicPr>
          <p:nvPr/>
        </p:nvPicPr>
        <p:blipFill>
          <a:blip r:embed="rId22"/>
          <a:stretch>
            <a:fillRect/>
          </a:stretch>
        </p:blipFill>
        <p:spPr>
          <a:xfrm>
            <a:off x="7892417" y="4181717"/>
            <a:ext cx="463487" cy="463487"/>
          </a:xfrm>
          <a:prstGeom prst="rect">
            <a:avLst/>
          </a:prstGeom>
        </p:spPr>
      </p:pic>
    </p:spTree>
    <p:extLst>
      <p:ext uri="{BB962C8B-B14F-4D97-AF65-F5344CB8AC3E}">
        <p14:creationId xmlns:p14="http://schemas.microsoft.com/office/powerpoint/2010/main" val="38077663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p:cNvSpPr>
            <a:spLocks noGrp="1"/>
          </p:cNvSpPr>
          <p:nvPr>
            <p:ph type="title"/>
          </p:nvPr>
        </p:nvSpPr>
        <p:spPr/>
        <p:txBody>
          <a:bodyPr/>
          <a:lstStyle/>
          <a:p>
            <a:pPr>
              <a:defRPr/>
            </a:pPr>
            <a:r>
              <a:rPr lang="en-US" altLang="en-US">
                <a:latin typeface="Gill Sans Light" charset="0"/>
                <a:ea typeface="ＭＳ Ｐゴシック" charset="-128"/>
                <a:cs typeface="Gill Sans Light" charset="0"/>
              </a:rPr>
              <a:t>Challenge: Complexity</a:t>
            </a:r>
          </a:p>
        </p:txBody>
      </p:sp>
      <p:sp>
        <p:nvSpPr>
          <p:cNvPr id="3" name="Content Placeholder 2"/>
          <p:cNvSpPr>
            <a:spLocks noGrp="1"/>
          </p:cNvSpPr>
          <p:nvPr>
            <p:ph idx="1"/>
          </p:nvPr>
        </p:nvSpPr>
        <p:spPr>
          <a:xfrm>
            <a:off x="2209800" y="914400"/>
            <a:ext cx="8153400" cy="5105400"/>
          </a:xfrm>
        </p:spPr>
        <p:txBody>
          <a:bodyPr/>
          <a:lstStyle/>
          <a:p>
            <a:pPr>
              <a:defRPr/>
            </a:pPr>
            <a:r>
              <a:rPr lang="en-US" dirty="0">
                <a:ea typeface="ＭＳ Ｐゴシック" charset="0"/>
              </a:rPr>
              <a:t>Applications consisting of…</a:t>
            </a:r>
          </a:p>
          <a:p>
            <a:pPr lvl="1">
              <a:defRPr/>
            </a:pPr>
            <a:r>
              <a:rPr lang="en-US" dirty="0">
                <a:ea typeface="ＭＳ Ｐゴシック" charset="0"/>
              </a:rPr>
              <a:t>… a variety of software modules that …</a:t>
            </a:r>
          </a:p>
          <a:p>
            <a:pPr lvl="1">
              <a:defRPr/>
            </a:pPr>
            <a:r>
              <a:rPr lang="en-US" dirty="0">
                <a:ea typeface="ＭＳ Ｐゴシック" charset="0"/>
              </a:rPr>
              <a:t>… run on a variety of devices (machines) that</a:t>
            </a:r>
          </a:p>
          <a:p>
            <a:pPr lvl="2">
              <a:defRPr/>
            </a:pPr>
            <a:r>
              <a:rPr lang="en-US" dirty="0">
                <a:ea typeface="ＭＳ Ｐゴシック" charset="0"/>
              </a:rPr>
              <a:t>… implement different hardware architectures</a:t>
            </a:r>
          </a:p>
          <a:p>
            <a:pPr lvl="2">
              <a:defRPr/>
            </a:pPr>
            <a:r>
              <a:rPr lang="en-US" dirty="0">
                <a:ea typeface="ＭＳ Ｐゴシック" charset="0"/>
              </a:rPr>
              <a:t>… run competing applications</a:t>
            </a:r>
          </a:p>
          <a:p>
            <a:pPr lvl="2">
              <a:defRPr/>
            </a:pPr>
            <a:r>
              <a:rPr lang="en-US" dirty="0">
                <a:ea typeface="ＭＳ Ｐゴシック" charset="0"/>
              </a:rPr>
              <a:t>… fail in unexpected ways</a:t>
            </a:r>
          </a:p>
          <a:p>
            <a:pPr lvl="2">
              <a:defRPr/>
            </a:pPr>
            <a:r>
              <a:rPr lang="en-US" dirty="0">
                <a:ea typeface="ＭＳ Ｐゴシック" charset="0"/>
              </a:rPr>
              <a:t>… can be under a variety of attacks</a:t>
            </a:r>
          </a:p>
          <a:p>
            <a:pPr>
              <a:defRPr/>
            </a:pPr>
            <a:endParaRPr lang="en-US" dirty="0">
              <a:ea typeface="ＭＳ Ｐゴシック" charset="0"/>
            </a:endParaRPr>
          </a:p>
          <a:p>
            <a:pPr>
              <a:defRPr/>
            </a:pPr>
            <a:r>
              <a:rPr lang="en-US" dirty="0">
                <a:ea typeface="ＭＳ Ｐゴシック" charset="0"/>
              </a:rPr>
              <a:t>Not feasible to test software for all possible environments and combinations of components and devices</a:t>
            </a:r>
          </a:p>
          <a:p>
            <a:pPr lvl="1">
              <a:defRPr/>
            </a:pPr>
            <a:r>
              <a:rPr lang="en-US" dirty="0">
                <a:ea typeface="ＭＳ Ｐゴシック" charset="0"/>
              </a:rPr>
              <a:t>The question is not whether there are bugs but how serious are the bugs! </a:t>
            </a:r>
          </a:p>
          <a:p>
            <a:pPr lvl="1">
              <a:defRPr/>
            </a:pPr>
            <a:endParaRPr lang="en-US" dirty="0">
              <a:ea typeface="ＭＳ Ｐゴシック" charset="0"/>
            </a:endParaRPr>
          </a:p>
        </p:txBody>
      </p:sp>
    </p:spTree>
    <p:extLst>
      <p:ext uri="{BB962C8B-B14F-4D97-AF65-F5344CB8AC3E}">
        <p14:creationId xmlns:p14="http://schemas.microsoft.com/office/powerpoint/2010/main" val="12065602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noChangeAspect="1"/>
          </p:cNvGraphicFramePr>
          <p:nvPr>
            <p:ph idx="1"/>
          </p:nvPr>
        </p:nvGraphicFramePr>
        <p:xfrm>
          <a:off x="1771650" y="745671"/>
          <a:ext cx="8648700" cy="4862512"/>
        </p:xfrm>
        <a:graphic>
          <a:graphicData uri="http://schemas.openxmlformats.org/presentationml/2006/ole">
            <mc:AlternateContent xmlns:mc="http://schemas.openxmlformats.org/markup-compatibility/2006">
              <mc:Choice xmlns:v="urn:schemas-microsoft-com:vml" Requires="v">
                <p:oleObj name="Chart" r:id="rId2" imgW="6698086" imgH="3764296" progId="Excel.Chart.8">
                  <p:embed followColorScheme="full"/>
                </p:oleObj>
              </mc:Choice>
              <mc:Fallback>
                <p:oleObj name="Chart" r:id="rId2" imgW="6698086" imgH="3764296" progId="Excel.Chart.8">
                  <p:embed followColorScheme="full"/>
                  <p:pic>
                    <p:nvPicPr>
                      <p:cNvPr id="4" name="Content Placeholder 3"/>
                      <p:cNvPicPr/>
                      <p:nvPr/>
                    </p:nvPicPr>
                    <p:blipFill>
                      <a:blip r:embed="rId3"/>
                      <a:stretch>
                        <a:fillRect/>
                      </a:stretch>
                    </p:blipFill>
                    <p:spPr>
                      <a:xfrm>
                        <a:off x="1771650" y="745671"/>
                        <a:ext cx="8648700" cy="4862512"/>
                      </a:xfrm>
                      <a:prstGeom prst="rect">
                        <a:avLst/>
                      </a:prstGeom>
                    </p:spPr>
                  </p:pic>
                </p:oleObj>
              </mc:Fallback>
            </mc:AlternateContent>
          </a:graphicData>
        </a:graphic>
      </p:graphicFrame>
      <p:graphicFrame>
        <p:nvGraphicFramePr>
          <p:cNvPr id="13" name="Content Placeholder 3"/>
          <p:cNvGraphicFramePr>
            <a:graphicFrameLocks noChangeAspect="1"/>
          </p:cNvGraphicFramePr>
          <p:nvPr>
            <p:extLst>
              <p:ext uri="{D42A27DB-BD31-4B8C-83A1-F6EECF244321}">
                <p14:modId xmlns:p14="http://schemas.microsoft.com/office/powerpoint/2010/main" val="1790546454"/>
              </p:ext>
            </p:extLst>
          </p:nvPr>
        </p:nvGraphicFramePr>
        <p:xfrm>
          <a:off x="1770063" y="746125"/>
          <a:ext cx="8651875" cy="4864100"/>
        </p:xfrm>
        <a:graphic>
          <a:graphicData uri="http://schemas.openxmlformats.org/presentationml/2006/ole">
            <mc:AlternateContent xmlns:mc="http://schemas.openxmlformats.org/markup-compatibility/2006">
              <mc:Choice xmlns:v="urn:schemas-microsoft-com:vml" Requires="v">
                <p:oleObj name="Chart" r:id="rId4" imgW="6698086" imgH="3764406" progId="Excel.Chart.8">
                  <p:embed followColorScheme="full"/>
                </p:oleObj>
              </mc:Choice>
              <mc:Fallback>
                <p:oleObj name="Chart" r:id="rId4" imgW="6698086" imgH="3764406" progId="Excel.Chart.8">
                  <p:embed followColorScheme="full"/>
                  <p:pic>
                    <p:nvPicPr>
                      <p:cNvPr id="13" name="Content Placeholder 3"/>
                      <p:cNvPicPr/>
                      <p:nvPr/>
                    </p:nvPicPr>
                    <p:blipFill>
                      <a:blip r:embed="rId5"/>
                      <a:stretch>
                        <a:fillRect/>
                      </a:stretch>
                    </p:blipFill>
                    <p:spPr>
                      <a:xfrm>
                        <a:off x="1770063" y="746125"/>
                        <a:ext cx="8651875" cy="4864100"/>
                      </a:xfrm>
                      <a:prstGeom prst="rect">
                        <a:avLst/>
                      </a:prstGeom>
                    </p:spPr>
                  </p:pic>
                </p:oleObj>
              </mc:Fallback>
            </mc:AlternateContent>
          </a:graphicData>
        </a:graphic>
      </p:graphicFrame>
      <p:graphicFrame>
        <p:nvGraphicFramePr>
          <p:cNvPr id="14" name="Content Placeholder 3"/>
          <p:cNvGraphicFramePr>
            <a:graphicFrameLocks noChangeAspect="1"/>
          </p:cNvGraphicFramePr>
          <p:nvPr>
            <p:extLst>
              <p:ext uri="{D42A27DB-BD31-4B8C-83A1-F6EECF244321}">
                <p14:modId xmlns:p14="http://schemas.microsoft.com/office/powerpoint/2010/main" val="3578620499"/>
              </p:ext>
            </p:extLst>
          </p:nvPr>
        </p:nvGraphicFramePr>
        <p:xfrm>
          <a:off x="1770063" y="746125"/>
          <a:ext cx="8651875" cy="4864100"/>
        </p:xfrm>
        <a:graphic>
          <a:graphicData uri="http://schemas.openxmlformats.org/presentationml/2006/ole">
            <mc:AlternateContent xmlns:mc="http://schemas.openxmlformats.org/markup-compatibility/2006">
              <mc:Choice xmlns:v="urn:schemas-microsoft-com:vml" Requires="v">
                <p:oleObj name="Chart" r:id="rId6" imgW="6698086" imgH="3764406" progId="Excel.Chart.8">
                  <p:embed followColorScheme="full"/>
                </p:oleObj>
              </mc:Choice>
              <mc:Fallback>
                <p:oleObj name="Chart" r:id="rId6" imgW="6698086" imgH="3764406" progId="Excel.Chart.8">
                  <p:embed followColorScheme="full"/>
                  <p:pic>
                    <p:nvPicPr>
                      <p:cNvPr id="14" name="Content Placeholder 3"/>
                      <p:cNvPicPr/>
                      <p:nvPr/>
                    </p:nvPicPr>
                    <p:blipFill>
                      <a:blip r:embed="rId7"/>
                      <a:stretch>
                        <a:fillRect/>
                      </a:stretch>
                    </p:blipFill>
                    <p:spPr>
                      <a:xfrm>
                        <a:off x="1770063" y="746125"/>
                        <a:ext cx="8651875" cy="4864100"/>
                      </a:xfrm>
                      <a:prstGeom prst="rect">
                        <a:avLst/>
                      </a:prstGeom>
                    </p:spPr>
                  </p:pic>
                </p:oleObj>
              </mc:Fallback>
            </mc:AlternateContent>
          </a:graphicData>
        </a:graphic>
      </p:graphicFrame>
      <p:grpSp>
        <p:nvGrpSpPr>
          <p:cNvPr id="8" name="Group 7"/>
          <p:cNvGrpSpPr/>
          <p:nvPr/>
        </p:nvGrpSpPr>
        <p:grpSpPr>
          <a:xfrm>
            <a:off x="3702996" y="1185592"/>
            <a:ext cx="6660060" cy="1434904"/>
            <a:chOff x="2124222" y="1153551"/>
            <a:chExt cx="6660060" cy="1434904"/>
          </a:xfrm>
        </p:grpSpPr>
        <p:sp>
          <p:nvSpPr>
            <p:cNvPr id="6" name="Freeform 5"/>
            <p:cNvSpPr/>
            <p:nvPr/>
          </p:nvSpPr>
          <p:spPr bwMode="auto">
            <a:xfrm>
              <a:off x="2124222" y="1153551"/>
              <a:ext cx="912974" cy="1434904"/>
            </a:xfrm>
            <a:custGeom>
              <a:avLst/>
              <a:gdLst>
                <a:gd name="connsiteX0" fmla="*/ 0 w 912974"/>
                <a:gd name="connsiteY0" fmla="*/ 0 h 1434904"/>
                <a:gd name="connsiteX1" fmla="*/ 766689 w 912974"/>
                <a:gd name="connsiteY1" fmla="*/ 161778 h 1434904"/>
                <a:gd name="connsiteX2" fmla="*/ 900332 w 912974"/>
                <a:gd name="connsiteY2" fmla="*/ 914400 h 1434904"/>
                <a:gd name="connsiteX3" fmla="*/ 590843 w 912974"/>
                <a:gd name="connsiteY3" fmla="*/ 1434904 h 1434904"/>
              </a:gdLst>
              <a:ahLst/>
              <a:cxnLst>
                <a:cxn ang="0">
                  <a:pos x="connsiteX0" y="connsiteY0"/>
                </a:cxn>
                <a:cxn ang="0">
                  <a:pos x="connsiteX1" y="connsiteY1"/>
                </a:cxn>
                <a:cxn ang="0">
                  <a:pos x="connsiteX2" y="connsiteY2"/>
                </a:cxn>
                <a:cxn ang="0">
                  <a:pos x="connsiteX3" y="connsiteY3"/>
                </a:cxn>
              </a:cxnLst>
              <a:rect l="l" t="t" r="r" b="b"/>
              <a:pathLst>
                <a:path w="912974" h="1434904">
                  <a:moveTo>
                    <a:pt x="0" y="0"/>
                  </a:moveTo>
                  <a:cubicBezTo>
                    <a:pt x="308317" y="4689"/>
                    <a:pt x="616634" y="9378"/>
                    <a:pt x="766689" y="161778"/>
                  </a:cubicBezTo>
                  <a:cubicBezTo>
                    <a:pt x="916744" y="314178"/>
                    <a:pt x="929640" y="702212"/>
                    <a:pt x="900332" y="914400"/>
                  </a:cubicBezTo>
                  <a:cubicBezTo>
                    <a:pt x="871024" y="1126588"/>
                    <a:pt x="730933" y="1280746"/>
                    <a:pt x="590843" y="1434904"/>
                  </a:cubicBezTo>
                </a:path>
              </a:pathLst>
            </a:custGeom>
            <a:noFill/>
            <a:ln w="57150" cap="flat" cmpd="sng" algn="ctr">
              <a:solidFill>
                <a:srgbClr val="FF0000"/>
              </a:solidFill>
              <a:prstDash val="solid"/>
              <a:round/>
              <a:headEnd type="none" w="med" len="med"/>
              <a:tailEnd type="triangl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endParaRPr lang="en-US">
                <a:latin typeface="Comic Sans MS" pitchFamily="66" charset="0"/>
              </a:endParaRPr>
            </a:p>
          </p:txBody>
        </p:sp>
        <p:sp>
          <p:nvSpPr>
            <p:cNvPr id="7" name="TextBox 6"/>
            <p:cNvSpPr txBox="1"/>
            <p:nvPr/>
          </p:nvSpPr>
          <p:spPr>
            <a:xfrm>
              <a:off x="3037196" y="1501671"/>
              <a:ext cx="5747086" cy="369332"/>
            </a:xfrm>
            <a:prstGeom prst="rect">
              <a:avLst/>
            </a:prstGeom>
            <a:noFill/>
          </p:spPr>
          <p:txBody>
            <a:bodyPr wrap="none" rtlCol="0">
              <a:spAutoFit/>
            </a:bodyPr>
            <a:lstStyle/>
            <a:p>
              <a:r>
                <a:rPr lang="en-US" dirty="0">
                  <a:solidFill>
                    <a:srgbClr val="FF0000"/>
                  </a:solidFill>
                  <a:latin typeface="Gill Sans Light"/>
                </a:rPr>
                <a:t>New Versions usually (much) larger older versions!</a:t>
              </a:r>
            </a:p>
          </p:txBody>
        </p:sp>
      </p:grpSp>
      <p:sp>
        <p:nvSpPr>
          <p:cNvPr id="2" name="Title 1"/>
          <p:cNvSpPr>
            <a:spLocks noGrp="1"/>
          </p:cNvSpPr>
          <p:nvPr>
            <p:ph type="title"/>
          </p:nvPr>
        </p:nvSpPr>
        <p:spPr>
          <a:xfrm>
            <a:off x="1981200" y="152400"/>
            <a:ext cx="8229600" cy="533400"/>
          </a:xfrm>
        </p:spPr>
        <p:txBody>
          <a:bodyPr/>
          <a:lstStyle/>
          <a:p>
            <a:r>
              <a:rPr lang="en-US" dirty="0"/>
              <a:t>Recall: Increasing Software Complexity</a:t>
            </a:r>
          </a:p>
        </p:txBody>
      </p:sp>
      <p:sp>
        <p:nvSpPr>
          <p:cNvPr id="5" name="TextBox 4"/>
          <p:cNvSpPr txBox="1"/>
          <p:nvPr/>
        </p:nvSpPr>
        <p:spPr>
          <a:xfrm>
            <a:off x="2111576" y="5561237"/>
            <a:ext cx="7968848" cy="677108"/>
          </a:xfrm>
          <a:prstGeom prst="rect">
            <a:avLst/>
          </a:prstGeom>
          <a:noFill/>
        </p:spPr>
        <p:txBody>
          <a:bodyPr wrap="none" rtlCol="0">
            <a:spAutoFit/>
          </a:bodyPr>
          <a:lstStyle/>
          <a:p>
            <a:pPr algn="ctr"/>
            <a:r>
              <a:rPr lang="en-US" sz="2000" dirty="0">
                <a:latin typeface="Gill Sans"/>
              </a:rPr>
              <a:t>Millions of Lines of Code</a:t>
            </a:r>
          </a:p>
          <a:p>
            <a:pPr algn="ctr"/>
            <a:r>
              <a:rPr lang="en-US" b="0" dirty="0">
                <a:latin typeface="Gill Sans"/>
              </a:rPr>
              <a:t>(source https://informationisbeautiful.net/visualizations/million-lines-of-code/)</a:t>
            </a:r>
          </a:p>
        </p:txBody>
      </p:sp>
      <p:grpSp>
        <p:nvGrpSpPr>
          <p:cNvPr id="12" name="Group 11"/>
          <p:cNvGrpSpPr/>
          <p:nvPr/>
        </p:nvGrpSpPr>
        <p:grpSpPr>
          <a:xfrm>
            <a:off x="7033026" y="3346788"/>
            <a:ext cx="3275256" cy="1149012"/>
            <a:chOff x="5509026" y="3346788"/>
            <a:chExt cx="3275256" cy="1149012"/>
          </a:xfrm>
        </p:grpSpPr>
        <p:sp>
          <p:nvSpPr>
            <p:cNvPr id="9" name="TextBox 8"/>
            <p:cNvSpPr txBox="1"/>
            <p:nvPr/>
          </p:nvSpPr>
          <p:spPr>
            <a:xfrm>
              <a:off x="5509026" y="3346788"/>
              <a:ext cx="3275256" cy="369332"/>
            </a:xfrm>
            <a:prstGeom prst="rect">
              <a:avLst/>
            </a:prstGeom>
            <a:noFill/>
          </p:spPr>
          <p:txBody>
            <a:bodyPr wrap="none" rtlCol="0">
              <a:spAutoFit/>
            </a:bodyPr>
            <a:lstStyle/>
            <a:p>
              <a:r>
                <a:rPr lang="en-US" dirty="0">
                  <a:solidFill>
                    <a:srgbClr val="FF0000"/>
                  </a:solidFill>
                  <a:latin typeface="Gill Sans Light"/>
                </a:rPr>
                <a:t>Cars getting really complex!</a:t>
              </a:r>
            </a:p>
          </p:txBody>
        </p:sp>
        <p:cxnSp>
          <p:nvCxnSpPr>
            <p:cNvPr id="11" name="Straight Arrow Connector 10"/>
            <p:cNvCxnSpPr/>
            <p:nvPr/>
          </p:nvCxnSpPr>
          <p:spPr bwMode="auto">
            <a:xfrm flipH="1">
              <a:off x="6705600" y="3733800"/>
              <a:ext cx="228600" cy="762000"/>
            </a:xfrm>
            <a:prstGeom prst="straightConnector1">
              <a:avLst/>
            </a:prstGeom>
            <a:solidFill>
              <a:schemeClr val="bg1"/>
            </a:solidFill>
            <a:ln w="57150" cap="flat" cmpd="sng" algn="ctr">
              <a:solidFill>
                <a:srgbClr val="FF0000"/>
              </a:solidFill>
              <a:prstDash val="solid"/>
              <a:round/>
              <a:headEnd type="none" w="med" len="med"/>
              <a:tailEnd type="triangle"/>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grpSp>
    </p:spTree>
    <p:extLst>
      <p:ext uri="{BB962C8B-B14F-4D97-AF65-F5344CB8AC3E}">
        <p14:creationId xmlns:p14="http://schemas.microsoft.com/office/powerpoint/2010/main" val="174832745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OleChart spid="13" grpId="0"/>
      <p:bldOleChart spid="14"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a:xfrm>
            <a:off x="1447800" y="152400"/>
            <a:ext cx="9220200" cy="533400"/>
          </a:xfrm>
        </p:spPr>
        <p:txBody>
          <a:bodyPr/>
          <a:lstStyle/>
          <a:p>
            <a:pPr>
              <a:defRPr/>
            </a:pPr>
            <a:r>
              <a:rPr lang="en-US" sz="2800" dirty="0">
                <a:latin typeface="Gill Sans Light" charset="0"/>
                <a:ea typeface="ＭＳ Ｐゴシック" charset="0"/>
                <a:cs typeface="Gill Sans Light" charset="0"/>
              </a:rPr>
              <a:t>Example: Some Mars Rover (“Pathfinder”) Requirements</a:t>
            </a:r>
          </a:p>
        </p:txBody>
      </p:sp>
      <p:sp>
        <p:nvSpPr>
          <p:cNvPr id="16389" name="Rectangle 3"/>
          <p:cNvSpPr>
            <a:spLocks noGrp="1" noChangeArrowheads="1"/>
          </p:cNvSpPr>
          <p:nvPr>
            <p:ph type="body" idx="1"/>
          </p:nvPr>
        </p:nvSpPr>
        <p:spPr>
          <a:xfrm>
            <a:off x="381000" y="762000"/>
            <a:ext cx="10287000" cy="5943600"/>
          </a:xfrm>
        </p:spPr>
        <p:txBody>
          <a:bodyPr>
            <a:normAutofit/>
          </a:bodyPr>
          <a:lstStyle/>
          <a:p>
            <a:pPr>
              <a:lnSpc>
                <a:spcPct val="70000"/>
              </a:lnSpc>
              <a:defRPr/>
            </a:pPr>
            <a:r>
              <a:rPr lang="en-US" sz="2200" dirty="0">
                <a:ea typeface="ＭＳ Ｐゴシック" charset="0"/>
              </a:rPr>
              <a:t>Pathfinder hardware limitations/complexity:</a:t>
            </a:r>
          </a:p>
          <a:p>
            <a:pPr lvl="1">
              <a:lnSpc>
                <a:spcPct val="70000"/>
              </a:lnSpc>
              <a:defRPr/>
            </a:pPr>
            <a:r>
              <a:rPr lang="en-US" sz="2000" dirty="0">
                <a:ea typeface="ＭＳ Ｐゴシック" charset="0"/>
              </a:rPr>
              <a:t>20Mhz processor, 128MB of DRAM, </a:t>
            </a:r>
            <a:r>
              <a:rPr lang="en-US" sz="2000" dirty="0" err="1">
                <a:ea typeface="ＭＳ Ｐゴシック" charset="0"/>
              </a:rPr>
              <a:t>VxWorks</a:t>
            </a:r>
            <a:r>
              <a:rPr lang="en-US" sz="2000" dirty="0">
                <a:ea typeface="ＭＳ Ｐゴシック" charset="0"/>
              </a:rPr>
              <a:t> OS </a:t>
            </a:r>
          </a:p>
          <a:p>
            <a:pPr lvl="1">
              <a:lnSpc>
                <a:spcPct val="70000"/>
              </a:lnSpc>
              <a:defRPr/>
            </a:pPr>
            <a:r>
              <a:rPr lang="en-US" sz="2000" dirty="0">
                <a:ea typeface="ＭＳ Ｐゴシック" charset="0"/>
              </a:rPr>
              <a:t>cameras, scientific instruments, batteries, solar panels, and locomotion equipment</a:t>
            </a:r>
          </a:p>
          <a:p>
            <a:pPr lvl="1">
              <a:lnSpc>
                <a:spcPct val="70000"/>
              </a:lnSpc>
              <a:defRPr/>
            </a:pPr>
            <a:r>
              <a:rPr lang="en-US" sz="2000" dirty="0">
                <a:ea typeface="ＭＳ Ｐゴシック" charset="0"/>
              </a:rPr>
              <a:t>Many independent processes work together</a:t>
            </a:r>
          </a:p>
          <a:p>
            <a:pPr>
              <a:lnSpc>
                <a:spcPct val="70000"/>
              </a:lnSpc>
              <a:defRPr/>
            </a:pPr>
            <a:r>
              <a:rPr lang="en-US" sz="2200" dirty="0">
                <a:ea typeface="ＭＳ Ｐゴシック" charset="0"/>
              </a:rPr>
              <a:t>Can’t hit reset button very easily!</a:t>
            </a:r>
          </a:p>
          <a:p>
            <a:pPr lvl="1">
              <a:lnSpc>
                <a:spcPct val="70000"/>
              </a:lnSpc>
              <a:defRPr/>
            </a:pPr>
            <a:r>
              <a:rPr lang="en-US" sz="2000" dirty="0">
                <a:ea typeface="ＭＳ Ｐゴシック" charset="0"/>
              </a:rPr>
              <a:t>Must reboot itself if necessary</a:t>
            </a:r>
          </a:p>
          <a:p>
            <a:pPr lvl="1">
              <a:lnSpc>
                <a:spcPct val="70000"/>
              </a:lnSpc>
              <a:defRPr/>
            </a:pPr>
            <a:r>
              <a:rPr lang="en-US" sz="2000" dirty="0">
                <a:ea typeface="ＭＳ Ｐゴシック" charset="0"/>
              </a:rPr>
              <a:t>Must always be able to receive commands from Earth</a:t>
            </a:r>
          </a:p>
          <a:p>
            <a:pPr>
              <a:lnSpc>
                <a:spcPct val="70000"/>
              </a:lnSpc>
              <a:defRPr/>
            </a:pPr>
            <a:r>
              <a:rPr lang="en-US" sz="2200" dirty="0">
                <a:ea typeface="ＭＳ Ｐゴシック" charset="0"/>
              </a:rPr>
              <a:t>Individual Programs must not interfere</a:t>
            </a:r>
          </a:p>
          <a:p>
            <a:pPr lvl="1">
              <a:lnSpc>
                <a:spcPct val="70000"/>
              </a:lnSpc>
              <a:defRPr/>
            </a:pPr>
            <a:r>
              <a:rPr lang="en-US" sz="2000" dirty="0">
                <a:ea typeface="ＭＳ Ｐゴシック" charset="0"/>
              </a:rPr>
              <a:t>One buggy module should not crash critical modules, e.g., antenna positioning software!</a:t>
            </a:r>
          </a:p>
          <a:p>
            <a:pPr>
              <a:lnSpc>
                <a:spcPct val="70000"/>
              </a:lnSpc>
              <a:defRPr/>
            </a:pPr>
            <a:r>
              <a:rPr lang="en-US" sz="2200" dirty="0">
                <a:ea typeface="ＭＳ Ｐゴシック" charset="0"/>
              </a:rPr>
              <a:t>Further, all software may crash occasionally</a:t>
            </a:r>
          </a:p>
          <a:p>
            <a:pPr lvl="1">
              <a:lnSpc>
                <a:spcPct val="70000"/>
              </a:lnSpc>
              <a:defRPr/>
            </a:pPr>
            <a:r>
              <a:rPr lang="en-US" sz="2000" dirty="0">
                <a:ea typeface="ＭＳ Ｐゴシック" charset="0"/>
              </a:rPr>
              <a:t>Automatic restart with diagnostics sent to Earth</a:t>
            </a:r>
          </a:p>
          <a:p>
            <a:pPr lvl="1">
              <a:lnSpc>
                <a:spcPct val="70000"/>
              </a:lnSpc>
              <a:defRPr/>
            </a:pPr>
            <a:r>
              <a:rPr lang="en-US" sz="2000" dirty="0">
                <a:ea typeface="ＭＳ Ｐゴシック" charset="0"/>
              </a:rPr>
              <a:t>Periodic checkpoint of results saved?</a:t>
            </a:r>
          </a:p>
          <a:p>
            <a:pPr>
              <a:lnSpc>
                <a:spcPct val="70000"/>
              </a:lnSpc>
              <a:defRPr/>
            </a:pPr>
            <a:r>
              <a:rPr lang="en-US" sz="2200" dirty="0">
                <a:ea typeface="ＭＳ Ｐゴシック" charset="0"/>
              </a:rPr>
              <a:t>Certain functions time critical:</a:t>
            </a:r>
          </a:p>
          <a:p>
            <a:pPr lvl="1">
              <a:lnSpc>
                <a:spcPct val="70000"/>
              </a:lnSpc>
              <a:defRPr/>
            </a:pPr>
            <a:r>
              <a:rPr lang="en-US" sz="2000" dirty="0">
                <a:ea typeface="ＭＳ Ｐゴシック" charset="0"/>
              </a:rPr>
              <a:t>Need to stop before hitting something</a:t>
            </a:r>
          </a:p>
          <a:p>
            <a:pPr lvl="1">
              <a:lnSpc>
                <a:spcPct val="70000"/>
              </a:lnSpc>
              <a:defRPr/>
            </a:pPr>
            <a:r>
              <a:rPr lang="en-US" sz="2000" dirty="0">
                <a:ea typeface="ＭＳ Ｐゴシック" charset="0"/>
              </a:rPr>
              <a:t>Must track orbit of Earth for communication</a:t>
            </a:r>
          </a:p>
          <a:p>
            <a:pPr>
              <a:lnSpc>
                <a:spcPct val="70000"/>
              </a:lnSpc>
              <a:defRPr/>
            </a:pPr>
            <a:r>
              <a:rPr lang="en-US" sz="2200" dirty="0">
                <a:solidFill>
                  <a:srgbClr val="FF0000"/>
                </a:solidFill>
                <a:ea typeface="ＭＳ Ｐゴシック" charset="0"/>
              </a:rPr>
              <a:t>A lot of similarity with the Internet of Things?</a:t>
            </a:r>
          </a:p>
          <a:p>
            <a:pPr lvl="1">
              <a:lnSpc>
                <a:spcPct val="70000"/>
              </a:lnSpc>
              <a:defRPr/>
            </a:pPr>
            <a:r>
              <a:rPr lang="en-US" sz="2000" i="1" dirty="0">
                <a:solidFill>
                  <a:srgbClr val="FF0000"/>
                </a:solidFill>
                <a:ea typeface="ＭＳ Ｐゴシック" charset="0"/>
              </a:rPr>
              <a:t>Complexity, </a:t>
            </a:r>
            <a:r>
              <a:rPr lang="en-US" sz="2000" dirty="0" err="1">
                <a:solidFill>
                  <a:srgbClr val="FF0000"/>
                </a:solidFill>
                <a:ea typeface="ＭＳ Ｐゴシック" charset="0"/>
              </a:rPr>
              <a:t>QoS</a:t>
            </a:r>
            <a:r>
              <a:rPr lang="en-US" sz="2000" dirty="0">
                <a:solidFill>
                  <a:srgbClr val="FF0000"/>
                </a:solidFill>
                <a:ea typeface="ＭＳ Ｐゴシック" charset="0"/>
              </a:rPr>
              <a:t>, </a:t>
            </a:r>
            <a:r>
              <a:rPr lang="en-US" sz="2000" dirty="0" err="1">
                <a:solidFill>
                  <a:srgbClr val="FF0000"/>
                </a:solidFill>
                <a:ea typeface="ＭＳ Ｐゴシック" charset="0"/>
              </a:rPr>
              <a:t>Inaccessbility</a:t>
            </a:r>
            <a:r>
              <a:rPr lang="en-US" sz="2000" dirty="0">
                <a:solidFill>
                  <a:srgbClr val="FF0000"/>
                </a:solidFill>
                <a:ea typeface="ＭＳ Ｐゴシック" charset="0"/>
              </a:rPr>
              <a:t>, Power limitations … ?</a:t>
            </a:r>
          </a:p>
          <a:p>
            <a:pPr lvl="1">
              <a:lnSpc>
                <a:spcPct val="70000"/>
              </a:lnSpc>
              <a:defRPr/>
            </a:pPr>
            <a:endParaRPr lang="en-US" sz="2000" dirty="0">
              <a:ea typeface="ＭＳ Ｐゴシック" charset="0"/>
            </a:endParaRPr>
          </a:p>
          <a:p>
            <a:pPr>
              <a:lnSpc>
                <a:spcPct val="70000"/>
              </a:lnSpc>
              <a:defRPr/>
            </a:pPr>
            <a:endParaRPr lang="en-US" sz="2200" dirty="0">
              <a:ea typeface="ＭＳ Ｐゴシック" charset="0"/>
            </a:endParaRPr>
          </a:p>
        </p:txBody>
      </p:sp>
      <p:pic>
        <p:nvPicPr>
          <p:cNvPr id="5018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10600" y="4191000"/>
            <a:ext cx="2057400" cy="1639888"/>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5715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Tree>
    <p:custDataLst>
      <p:tags r:id="rId1"/>
    </p:custDataLst>
    <p:extLst>
      <p:ext uri="{BB962C8B-B14F-4D97-AF65-F5344CB8AC3E}">
        <p14:creationId xmlns:p14="http://schemas.microsoft.com/office/powerpoint/2010/main" val="3445559641"/>
      </p:ext>
    </p:ext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03563A-64C6-4EA7-963B-397622C45EDB}"/>
              </a:ext>
            </a:extLst>
          </p:cNvPr>
          <p:cNvSpPr>
            <a:spLocks noGrp="1"/>
          </p:cNvSpPr>
          <p:nvPr>
            <p:ph type="title"/>
          </p:nvPr>
        </p:nvSpPr>
        <p:spPr/>
        <p:txBody>
          <a:bodyPr/>
          <a:lstStyle/>
          <a:p>
            <a:r>
              <a:rPr lang="en-US" dirty="0"/>
              <a:t>Questions</a:t>
            </a:r>
          </a:p>
        </p:txBody>
      </p:sp>
      <p:sp>
        <p:nvSpPr>
          <p:cNvPr id="3" name="Content Placeholder 2">
            <a:extLst>
              <a:ext uri="{FF2B5EF4-FFF2-40B4-BE49-F238E27FC236}">
                <a16:creationId xmlns:a16="http://schemas.microsoft.com/office/drawing/2014/main" id="{C6143E53-1204-4886-8FDB-AFA068C0DEDE}"/>
              </a:ext>
            </a:extLst>
          </p:cNvPr>
          <p:cNvSpPr>
            <a:spLocks noGrp="1"/>
          </p:cNvSpPr>
          <p:nvPr>
            <p:ph idx="1"/>
          </p:nvPr>
        </p:nvSpPr>
        <p:spPr/>
        <p:txBody>
          <a:bodyPr>
            <a:normAutofit/>
          </a:bodyPr>
          <a:lstStyle/>
          <a:p>
            <a:r>
              <a:rPr lang="en-US" dirty="0"/>
              <a:t>Does the programmer need to write a single program that performs many independent activities?</a:t>
            </a:r>
          </a:p>
          <a:p>
            <a:r>
              <a:rPr lang="en-US" dirty="0"/>
              <a:t>Does every program have to be altered for every piece of hardware?</a:t>
            </a:r>
          </a:p>
          <a:p>
            <a:r>
              <a:rPr lang="en-US" dirty="0"/>
              <a:t>Does a faulty program crash everything?</a:t>
            </a:r>
          </a:p>
          <a:p>
            <a:r>
              <a:rPr lang="en-US" dirty="0"/>
              <a:t>Does every program have access to all hardware?</a:t>
            </a:r>
            <a:endParaRPr lang="en-US" sz="4800" b="1" dirty="0">
              <a:ln w="22225">
                <a:solidFill>
                  <a:schemeClr val="tx1"/>
                </a:solidFill>
                <a:prstDash val="solid"/>
              </a:ln>
              <a:solidFill>
                <a:srgbClr val="FF0000"/>
              </a:solidFill>
            </a:endParaRPr>
          </a:p>
          <a:p>
            <a:pPr marL="0" indent="0">
              <a:buNone/>
            </a:pPr>
            <a:endParaRPr lang="en-US" sz="4800" b="1" dirty="0">
              <a:ln w="0"/>
              <a:solidFill>
                <a:schemeClr val="accent1"/>
              </a:solidFill>
              <a:effectLst>
                <a:outerShdw blurRad="38100" dist="19050" dir="2700000" algn="tl" rotWithShape="0">
                  <a:schemeClr val="dk1">
                    <a:alpha val="40000"/>
                  </a:schemeClr>
                </a:outerShdw>
              </a:effectLst>
              <a:latin typeface="Gill Sans Light"/>
            </a:endParaRPr>
          </a:p>
          <a:p>
            <a:pPr marL="0" indent="0">
              <a:buNone/>
            </a:pPr>
            <a:r>
              <a:rPr lang="en-US" sz="4800" b="1" dirty="0">
                <a:ln w="0"/>
                <a:solidFill>
                  <a:schemeClr val="accent1"/>
                </a:solidFill>
                <a:effectLst>
                  <a:outerShdw blurRad="38100" dist="19050" dir="2700000" algn="tl" rotWithShape="0">
                    <a:schemeClr val="dk1">
                      <a:alpha val="40000"/>
                    </a:schemeClr>
                  </a:outerShdw>
                </a:effectLst>
                <a:latin typeface="Gill Sans Light"/>
              </a:rPr>
              <a:t>No. Operating Systems help the programmer write robust programs!</a:t>
            </a:r>
          </a:p>
        </p:txBody>
      </p:sp>
    </p:spTree>
    <p:extLst>
      <p:ext uri="{BB962C8B-B14F-4D97-AF65-F5344CB8AC3E}">
        <p14:creationId xmlns:p14="http://schemas.microsoft.com/office/powerpoint/2010/main" val="170363588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251B2E-FBF0-4E04-9FC4-502C43FCBD4C}"/>
              </a:ext>
            </a:extLst>
          </p:cNvPr>
          <p:cNvSpPr>
            <a:spLocks noGrp="1"/>
          </p:cNvSpPr>
          <p:nvPr>
            <p:ph type="title"/>
          </p:nvPr>
        </p:nvSpPr>
        <p:spPr/>
        <p:txBody>
          <a:bodyPr/>
          <a:lstStyle/>
          <a:p>
            <a:r>
              <a:rPr lang="en-US" dirty="0">
                <a:latin typeface="Gill Sans Light"/>
              </a:rPr>
              <a:t>OS </a:t>
            </a:r>
            <a:r>
              <a:rPr lang="en-US" i="1" dirty="0">
                <a:latin typeface="Gill Sans Light"/>
              </a:rPr>
              <a:t>Abstracts</a:t>
            </a:r>
            <a:r>
              <a:rPr lang="en-US" dirty="0">
                <a:latin typeface="Gill Sans Light"/>
              </a:rPr>
              <a:t> the Underlying Hardware</a:t>
            </a:r>
          </a:p>
        </p:txBody>
      </p:sp>
      <p:sp>
        <p:nvSpPr>
          <p:cNvPr id="3" name="Content Placeholder 2">
            <a:extLst>
              <a:ext uri="{FF2B5EF4-FFF2-40B4-BE49-F238E27FC236}">
                <a16:creationId xmlns:a16="http://schemas.microsoft.com/office/drawing/2014/main" id="{AAF92885-8509-40DA-A2E9-EE3FA209CF36}"/>
              </a:ext>
            </a:extLst>
          </p:cNvPr>
          <p:cNvSpPr>
            <a:spLocks noGrp="1"/>
          </p:cNvSpPr>
          <p:nvPr>
            <p:ph idx="1"/>
          </p:nvPr>
        </p:nvSpPr>
        <p:spPr>
          <a:xfrm>
            <a:off x="715039" y="1143000"/>
            <a:ext cx="10515600" cy="4778859"/>
          </a:xfrm>
        </p:spPr>
        <p:txBody>
          <a:bodyPr>
            <a:normAutofit/>
          </a:bodyPr>
          <a:lstStyle/>
          <a:p>
            <a:pPr>
              <a:lnSpc>
                <a:spcPct val="80000"/>
              </a:lnSpc>
              <a:defRPr/>
            </a:pPr>
            <a:r>
              <a:rPr lang="en-US" kern="0" dirty="0">
                <a:latin typeface="Gill Sans Light"/>
                <a:ea typeface="ＭＳ Ｐゴシック" charset="0"/>
              </a:rPr>
              <a:t>Processor → Thread</a:t>
            </a:r>
          </a:p>
          <a:p>
            <a:pPr>
              <a:lnSpc>
                <a:spcPct val="80000"/>
              </a:lnSpc>
              <a:defRPr/>
            </a:pPr>
            <a:r>
              <a:rPr lang="en-US" kern="0" dirty="0">
                <a:latin typeface="Gill Sans Light"/>
                <a:ea typeface="ＭＳ Ｐゴシック" charset="0"/>
              </a:rPr>
              <a:t>Memory → Address Space</a:t>
            </a:r>
          </a:p>
          <a:p>
            <a:pPr>
              <a:lnSpc>
                <a:spcPct val="80000"/>
              </a:lnSpc>
              <a:defRPr/>
            </a:pPr>
            <a:r>
              <a:rPr lang="en-US" kern="0" dirty="0">
                <a:latin typeface="Gill Sans Light"/>
                <a:ea typeface="ＭＳ Ｐゴシック" charset="0"/>
              </a:rPr>
              <a:t>Disks, SSDs, … → Files</a:t>
            </a:r>
          </a:p>
          <a:p>
            <a:pPr>
              <a:lnSpc>
                <a:spcPct val="80000"/>
              </a:lnSpc>
              <a:defRPr/>
            </a:pPr>
            <a:r>
              <a:rPr lang="en-US" kern="0" dirty="0">
                <a:latin typeface="Gill Sans Light"/>
                <a:ea typeface="ＭＳ Ｐゴシック" charset="0"/>
              </a:rPr>
              <a:t>Networks → Sockets</a:t>
            </a:r>
          </a:p>
          <a:p>
            <a:pPr>
              <a:lnSpc>
                <a:spcPct val="80000"/>
              </a:lnSpc>
              <a:defRPr/>
            </a:pPr>
            <a:r>
              <a:rPr lang="en-US" kern="0" dirty="0">
                <a:latin typeface="Gill Sans Light"/>
                <a:ea typeface="ＭＳ Ｐゴシック" charset="0"/>
              </a:rPr>
              <a:t>Machines → Processes</a:t>
            </a:r>
          </a:p>
          <a:p>
            <a:pPr>
              <a:lnSpc>
                <a:spcPct val="80000"/>
              </a:lnSpc>
              <a:defRPr/>
            </a:pPr>
            <a:endParaRPr lang="en-US" kern="0" dirty="0">
              <a:latin typeface="Gill Sans Light"/>
              <a:ea typeface="ＭＳ Ｐゴシック" charset="0"/>
            </a:endParaRPr>
          </a:p>
          <a:p>
            <a:pPr>
              <a:lnSpc>
                <a:spcPct val="80000"/>
              </a:lnSpc>
              <a:defRPr/>
            </a:pPr>
            <a:r>
              <a:rPr lang="en-US" kern="0" dirty="0">
                <a:latin typeface="Gill Sans Light"/>
                <a:ea typeface="ＭＳ Ｐゴシック" charset="0"/>
              </a:rPr>
              <a:t>OS as an </a:t>
            </a:r>
            <a:r>
              <a:rPr lang="en-US" i="1" kern="0" dirty="0">
                <a:latin typeface="Gill Sans Light"/>
                <a:ea typeface="ＭＳ Ｐゴシック" charset="0"/>
              </a:rPr>
              <a:t>Illusionist</a:t>
            </a:r>
            <a:r>
              <a:rPr lang="en-US" kern="0" dirty="0">
                <a:latin typeface="Gill Sans Light"/>
                <a:ea typeface="ＭＳ Ｐゴシック" charset="0"/>
              </a:rPr>
              <a:t>:</a:t>
            </a:r>
          </a:p>
          <a:p>
            <a:pPr lvl="1">
              <a:lnSpc>
                <a:spcPct val="80000"/>
              </a:lnSpc>
              <a:defRPr/>
            </a:pPr>
            <a:r>
              <a:rPr lang="en-US" kern="0" dirty="0">
                <a:latin typeface="Gill Sans Light"/>
                <a:ea typeface="ＭＳ Ｐゴシック" charset="0"/>
              </a:rPr>
              <a:t>Remove software/hardware quirks (</a:t>
            </a:r>
            <a:r>
              <a:rPr lang="en-US" i="1" kern="0" dirty="0">
                <a:latin typeface="Gill Sans Light"/>
                <a:ea typeface="ＭＳ Ｐゴシック" charset="0"/>
              </a:rPr>
              <a:t>fight complexity)</a:t>
            </a:r>
            <a:endParaRPr lang="en-US" kern="0" dirty="0">
              <a:latin typeface="Gill Sans Light"/>
              <a:ea typeface="ＭＳ Ｐゴシック" charset="0"/>
            </a:endParaRPr>
          </a:p>
          <a:p>
            <a:pPr lvl="1">
              <a:lnSpc>
                <a:spcPct val="80000"/>
              </a:lnSpc>
              <a:defRPr/>
            </a:pPr>
            <a:r>
              <a:rPr lang="en-US" kern="0" dirty="0">
                <a:latin typeface="Gill Sans Light"/>
                <a:ea typeface="ＭＳ Ｐゴシック" charset="0"/>
              </a:rPr>
              <a:t>Optimize for convenience, utilization, reliability, … </a:t>
            </a:r>
            <a:r>
              <a:rPr lang="en-US" i="1" kern="0" dirty="0">
                <a:latin typeface="Gill Sans Light"/>
                <a:ea typeface="ＭＳ Ｐゴシック" charset="0"/>
              </a:rPr>
              <a:t>(help the programmer)</a:t>
            </a:r>
            <a:endParaRPr lang="en-US" kern="0" dirty="0">
              <a:latin typeface="Gill Sans Light"/>
              <a:ea typeface="ＭＳ Ｐゴシック" charset="0"/>
            </a:endParaRPr>
          </a:p>
          <a:p>
            <a:pPr>
              <a:lnSpc>
                <a:spcPct val="80000"/>
              </a:lnSpc>
              <a:defRPr/>
            </a:pPr>
            <a:r>
              <a:rPr lang="en-US" kern="0" dirty="0">
                <a:latin typeface="Gill Sans Light"/>
                <a:ea typeface="ＭＳ Ｐゴシック" charset="0"/>
              </a:rPr>
              <a:t>For any OS area (e.g. file systems, virtual memory, networking, scheduling):</a:t>
            </a:r>
          </a:p>
          <a:p>
            <a:pPr lvl="1">
              <a:lnSpc>
                <a:spcPct val="80000"/>
              </a:lnSpc>
              <a:defRPr/>
            </a:pPr>
            <a:r>
              <a:rPr lang="en-US" kern="0" dirty="0">
                <a:latin typeface="Gill Sans Light"/>
                <a:ea typeface="ＭＳ Ｐゴシック" charset="0"/>
              </a:rPr>
              <a:t>What hardware interface to handle? (physical reality)</a:t>
            </a:r>
          </a:p>
          <a:p>
            <a:pPr lvl="1">
              <a:lnSpc>
                <a:spcPct val="80000"/>
              </a:lnSpc>
              <a:defRPr/>
            </a:pPr>
            <a:r>
              <a:rPr lang="en-US" kern="0" dirty="0">
                <a:latin typeface="Gill Sans Light"/>
                <a:ea typeface="ＭＳ Ｐゴシック" charset="0"/>
              </a:rPr>
              <a:t>What’s software interface to provide? (nicer abstraction)</a:t>
            </a:r>
          </a:p>
        </p:txBody>
      </p:sp>
      <p:grpSp>
        <p:nvGrpSpPr>
          <p:cNvPr id="14" name="Group 13">
            <a:extLst>
              <a:ext uri="{FF2B5EF4-FFF2-40B4-BE49-F238E27FC236}">
                <a16:creationId xmlns:a16="http://schemas.microsoft.com/office/drawing/2014/main" id="{ACC00620-D6F4-4E4F-800D-4AE997E5101C}"/>
              </a:ext>
            </a:extLst>
          </p:cNvPr>
          <p:cNvGrpSpPr/>
          <p:nvPr/>
        </p:nvGrpSpPr>
        <p:grpSpPr>
          <a:xfrm>
            <a:off x="5095461" y="1143000"/>
            <a:ext cx="6120524" cy="1792790"/>
            <a:chOff x="5254487" y="1791728"/>
            <a:chExt cx="6120524" cy="1792790"/>
          </a:xfrm>
        </p:grpSpPr>
        <p:sp>
          <p:nvSpPr>
            <p:cNvPr id="9" name="Text Box 4">
              <a:extLst>
                <a:ext uri="{FF2B5EF4-FFF2-40B4-BE49-F238E27FC236}">
                  <a16:creationId xmlns:a16="http://schemas.microsoft.com/office/drawing/2014/main" id="{59B24BAC-A1B4-44AA-BD8D-5BCBBC4BA68F}"/>
                </a:ext>
              </a:extLst>
            </p:cNvPr>
            <p:cNvSpPr txBox="1">
              <a:spLocks noChangeArrowheads="1"/>
            </p:cNvSpPr>
            <p:nvPr/>
          </p:nvSpPr>
          <p:spPr bwMode="auto">
            <a:xfrm>
              <a:off x="5254487" y="1791728"/>
              <a:ext cx="3039658" cy="1792790"/>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5715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lIns="68572" tIns="34286" rIns="68572" bIns="34286">
              <a:spAutoFit/>
            </a:bodyPr>
            <a:lstStyle>
              <a:lvl1pPr eaLnBrk="0" hangingPunct="0">
                <a:lnSpc>
                  <a:spcPct val="90000"/>
                </a:lnSpc>
                <a:spcBef>
                  <a:spcPct val="30000"/>
                </a:spcBef>
                <a:buSzPct val="100000"/>
                <a:buChar char="•"/>
                <a:defRPr sz="2400" b="1">
                  <a:solidFill>
                    <a:schemeClr val="tx1"/>
                  </a:solidFill>
                  <a:latin typeface="Gill Sans Light" charset="0"/>
                  <a:ea typeface="Gill Sans Light" charset="0"/>
                  <a:cs typeface="Gill Sans Light" charset="0"/>
                </a:defRPr>
              </a:lvl1pPr>
              <a:lvl2pPr marL="742950" indent="-285750" eaLnBrk="0" hangingPunct="0">
                <a:lnSpc>
                  <a:spcPct val="90000"/>
                </a:lnSpc>
                <a:spcBef>
                  <a:spcPct val="30000"/>
                </a:spcBef>
                <a:buSzPct val="100000"/>
                <a:buChar char="–"/>
                <a:defRPr sz="2200" b="1">
                  <a:solidFill>
                    <a:schemeClr val="tx1"/>
                  </a:solidFill>
                  <a:latin typeface="Gill Sans Light" charset="0"/>
                  <a:ea typeface="Gill Sans Light" charset="0"/>
                  <a:cs typeface="Gill Sans Light" charset="0"/>
                </a:defRPr>
              </a:lvl2pPr>
              <a:lvl3pPr marL="1143000" indent="-228600" eaLnBrk="0" hangingPunct="0">
                <a:lnSpc>
                  <a:spcPct val="90000"/>
                </a:lnSpc>
                <a:spcBef>
                  <a:spcPct val="30000"/>
                </a:spcBef>
                <a:buSzPct val="100000"/>
                <a:buChar char="»"/>
                <a:defRPr sz="2000" b="1">
                  <a:solidFill>
                    <a:schemeClr val="tx1"/>
                  </a:solidFill>
                  <a:latin typeface="Gill Sans Light" charset="0"/>
                  <a:ea typeface="Gill Sans Light" charset="0"/>
                  <a:cs typeface="Gill Sans Light" charset="0"/>
                </a:defRPr>
              </a:lvl3pPr>
              <a:lvl4pPr marL="1600200" indent="-228600" eaLnBrk="0" hangingPunct="0">
                <a:lnSpc>
                  <a:spcPct val="90000"/>
                </a:lnSpc>
                <a:spcBef>
                  <a:spcPct val="30000"/>
                </a:spcBef>
                <a:buSzPct val="100000"/>
                <a:buChar char="•"/>
                <a:defRPr sz="2000" b="1">
                  <a:solidFill>
                    <a:schemeClr val="tx1"/>
                  </a:solidFill>
                  <a:latin typeface="Gill Sans Light" charset="0"/>
                  <a:ea typeface="Gill Sans Light" charset="0"/>
                  <a:cs typeface="Gill Sans Light" charset="0"/>
                </a:defRPr>
              </a:lvl4pPr>
              <a:lvl5pPr marL="2057400" indent="-228600" eaLnBrk="0" hangingPunct="0">
                <a:lnSpc>
                  <a:spcPct val="90000"/>
                </a:lnSpc>
                <a:spcBef>
                  <a:spcPct val="30000"/>
                </a:spcBef>
                <a:buSzPct val="100000"/>
                <a:buChar char="–"/>
                <a:defRPr sz="2000" b="1">
                  <a:solidFill>
                    <a:schemeClr val="tx1"/>
                  </a:solidFill>
                  <a:latin typeface="Gill Sans Light" charset="0"/>
                  <a:ea typeface="Gill Sans Light" charset="0"/>
                  <a:cs typeface="Gill Sans Light" charset="0"/>
                </a:defRPr>
              </a:lvl5pPr>
              <a:lvl6pPr marL="2514600" indent="-228600" eaLnBrk="0" fontAlgn="base" hangingPunct="0">
                <a:lnSpc>
                  <a:spcPct val="90000"/>
                </a:lnSpc>
                <a:spcBef>
                  <a:spcPct val="30000"/>
                </a:spcBef>
                <a:spcAft>
                  <a:spcPct val="0"/>
                </a:spcAft>
                <a:buSzPct val="100000"/>
                <a:buChar char="–"/>
                <a:defRPr sz="2000" b="1">
                  <a:solidFill>
                    <a:schemeClr val="tx1"/>
                  </a:solidFill>
                  <a:latin typeface="Gill Sans Light" charset="0"/>
                  <a:ea typeface="Gill Sans Light" charset="0"/>
                  <a:cs typeface="Gill Sans Light" charset="0"/>
                </a:defRPr>
              </a:lvl6pPr>
              <a:lvl7pPr marL="2971800" indent="-228600" eaLnBrk="0" fontAlgn="base" hangingPunct="0">
                <a:lnSpc>
                  <a:spcPct val="90000"/>
                </a:lnSpc>
                <a:spcBef>
                  <a:spcPct val="30000"/>
                </a:spcBef>
                <a:spcAft>
                  <a:spcPct val="0"/>
                </a:spcAft>
                <a:buSzPct val="100000"/>
                <a:buChar char="–"/>
                <a:defRPr sz="2000" b="1">
                  <a:solidFill>
                    <a:schemeClr val="tx1"/>
                  </a:solidFill>
                  <a:latin typeface="Gill Sans Light" charset="0"/>
                  <a:ea typeface="Gill Sans Light" charset="0"/>
                  <a:cs typeface="Gill Sans Light" charset="0"/>
                </a:defRPr>
              </a:lvl7pPr>
              <a:lvl8pPr marL="3429000" indent="-228600" eaLnBrk="0" fontAlgn="base" hangingPunct="0">
                <a:lnSpc>
                  <a:spcPct val="90000"/>
                </a:lnSpc>
                <a:spcBef>
                  <a:spcPct val="30000"/>
                </a:spcBef>
                <a:spcAft>
                  <a:spcPct val="0"/>
                </a:spcAft>
                <a:buSzPct val="100000"/>
                <a:buChar char="–"/>
                <a:defRPr sz="2000" b="1">
                  <a:solidFill>
                    <a:schemeClr val="tx1"/>
                  </a:solidFill>
                  <a:latin typeface="Gill Sans Light" charset="0"/>
                  <a:ea typeface="Gill Sans Light" charset="0"/>
                  <a:cs typeface="Gill Sans Light" charset="0"/>
                </a:defRPr>
              </a:lvl8pPr>
              <a:lvl9pPr marL="3886200" indent="-228600" eaLnBrk="0" fontAlgn="base" hangingPunct="0">
                <a:lnSpc>
                  <a:spcPct val="90000"/>
                </a:lnSpc>
                <a:spcBef>
                  <a:spcPct val="30000"/>
                </a:spcBef>
                <a:spcAft>
                  <a:spcPct val="0"/>
                </a:spcAft>
                <a:buSzPct val="100000"/>
                <a:buChar char="–"/>
                <a:defRPr sz="2000" b="1">
                  <a:solidFill>
                    <a:schemeClr val="tx1"/>
                  </a:solidFill>
                  <a:latin typeface="Gill Sans Light" charset="0"/>
                  <a:ea typeface="Gill Sans Light" charset="0"/>
                  <a:cs typeface="Gill Sans Light" charset="0"/>
                </a:defRPr>
              </a:lvl9pPr>
            </a:lstStyle>
            <a:p>
              <a:pPr algn="ctr">
                <a:lnSpc>
                  <a:spcPct val="100000"/>
                </a:lnSpc>
                <a:spcBef>
                  <a:spcPct val="50000"/>
                </a:spcBef>
                <a:buSzTx/>
                <a:buFontTx/>
                <a:buNone/>
                <a:defRPr/>
              </a:pPr>
              <a:r>
                <a:rPr lang="en-US" altLang="en-US" sz="2800" b="0" dirty="0">
                  <a:solidFill>
                    <a:srgbClr val="00B050"/>
                  </a:solidFill>
                  <a:latin typeface="Gill Sans Light"/>
                  <a:ea typeface="Gill Sans" charset="0"/>
                  <a:cs typeface="Gill Sans" charset="0"/>
                </a:rPr>
                <a:t>Application</a:t>
              </a:r>
            </a:p>
            <a:p>
              <a:pPr algn="ctr">
                <a:lnSpc>
                  <a:spcPct val="100000"/>
                </a:lnSpc>
                <a:spcBef>
                  <a:spcPct val="50000"/>
                </a:spcBef>
                <a:buSzTx/>
                <a:buFontTx/>
                <a:buNone/>
                <a:defRPr/>
              </a:pPr>
              <a:r>
                <a:rPr lang="en-US" altLang="en-US" sz="2800" b="0" dirty="0">
                  <a:solidFill>
                    <a:srgbClr val="00B050"/>
                  </a:solidFill>
                  <a:latin typeface="Gill Sans Light"/>
                  <a:ea typeface="Gill Sans" charset="0"/>
                  <a:cs typeface="Gill Sans" charset="0"/>
                </a:rPr>
                <a:t>Operating System</a:t>
              </a:r>
            </a:p>
            <a:p>
              <a:pPr algn="ctr">
                <a:lnSpc>
                  <a:spcPct val="100000"/>
                </a:lnSpc>
                <a:spcBef>
                  <a:spcPct val="50000"/>
                </a:spcBef>
                <a:buSzTx/>
                <a:buFontTx/>
                <a:buNone/>
                <a:defRPr/>
              </a:pPr>
              <a:r>
                <a:rPr lang="en-US" altLang="en-US" sz="2800" b="0" dirty="0">
                  <a:solidFill>
                    <a:srgbClr val="00B050"/>
                  </a:solidFill>
                  <a:latin typeface="Gill Sans Light"/>
                  <a:ea typeface="Gill Sans" charset="0"/>
                  <a:cs typeface="Gill Sans" charset="0"/>
                </a:rPr>
                <a:t>Hardware</a:t>
              </a:r>
            </a:p>
          </p:txBody>
        </p:sp>
        <p:sp>
          <p:nvSpPr>
            <p:cNvPr id="10" name="Line 5">
              <a:extLst>
                <a:ext uri="{FF2B5EF4-FFF2-40B4-BE49-F238E27FC236}">
                  <a16:creationId xmlns:a16="http://schemas.microsoft.com/office/drawing/2014/main" id="{7DCCCD57-1A1F-4863-8290-5F4D4FCD4FD6}"/>
                </a:ext>
              </a:extLst>
            </p:cNvPr>
            <p:cNvSpPr>
              <a:spLocks noChangeShapeType="1"/>
            </p:cNvSpPr>
            <p:nvPr/>
          </p:nvSpPr>
          <p:spPr bwMode="auto">
            <a:xfrm>
              <a:off x="5519530" y="3029013"/>
              <a:ext cx="2564295" cy="0"/>
            </a:xfrm>
            <a:prstGeom prst="line">
              <a:avLst/>
            </a:prstGeom>
            <a:noFill/>
            <a:ln w="5715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sz="1100">
                <a:latin typeface="Gill Sans Light"/>
                <a:ea typeface="Gill Sans" charset="0"/>
                <a:cs typeface="Gill Sans" charset="0"/>
              </a:endParaRPr>
            </a:p>
          </p:txBody>
        </p:sp>
        <p:sp>
          <p:nvSpPr>
            <p:cNvPr id="11" name="Line 6">
              <a:extLst>
                <a:ext uri="{FF2B5EF4-FFF2-40B4-BE49-F238E27FC236}">
                  <a16:creationId xmlns:a16="http://schemas.microsoft.com/office/drawing/2014/main" id="{0F9B481A-4D38-4060-BDF1-24F65C3A5888}"/>
                </a:ext>
              </a:extLst>
            </p:cNvPr>
            <p:cNvSpPr>
              <a:spLocks noChangeShapeType="1"/>
            </p:cNvSpPr>
            <p:nvPr/>
          </p:nvSpPr>
          <p:spPr bwMode="auto">
            <a:xfrm>
              <a:off x="5519530" y="2367789"/>
              <a:ext cx="2564295" cy="0"/>
            </a:xfrm>
            <a:prstGeom prst="line">
              <a:avLst/>
            </a:prstGeom>
            <a:noFill/>
            <a:ln w="5715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sz="1100">
                <a:latin typeface="Gill Sans Light"/>
                <a:ea typeface="Gill Sans" charset="0"/>
                <a:cs typeface="Gill Sans" charset="0"/>
              </a:endParaRPr>
            </a:p>
          </p:txBody>
        </p:sp>
        <p:sp>
          <p:nvSpPr>
            <p:cNvPr id="12" name="Text Box 8">
              <a:extLst>
                <a:ext uri="{FF2B5EF4-FFF2-40B4-BE49-F238E27FC236}">
                  <a16:creationId xmlns:a16="http://schemas.microsoft.com/office/drawing/2014/main" id="{AA39F109-99B5-4531-8EC4-237E3523168C}"/>
                </a:ext>
              </a:extLst>
            </p:cNvPr>
            <p:cNvSpPr txBox="1">
              <a:spLocks noChangeArrowheads="1"/>
            </p:cNvSpPr>
            <p:nvPr/>
          </p:nvSpPr>
          <p:spPr bwMode="auto">
            <a:xfrm>
              <a:off x="8173189" y="2840504"/>
              <a:ext cx="3201822" cy="377018"/>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5715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lIns="68572" tIns="34286" rIns="68572" bIns="34286">
              <a:spAutoFit/>
            </a:bodyPr>
            <a:lstStyle>
              <a:lvl1pPr eaLnBrk="0" hangingPunct="0">
                <a:lnSpc>
                  <a:spcPct val="90000"/>
                </a:lnSpc>
                <a:spcBef>
                  <a:spcPct val="30000"/>
                </a:spcBef>
                <a:buSzPct val="100000"/>
                <a:buChar char="•"/>
                <a:defRPr sz="2400" b="1">
                  <a:solidFill>
                    <a:schemeClr val="tx1"/>
                  </a:solidFill>
                  <a:latin typeface="Gill Sans Light" charset="0"/>
                  <a:ea typeface="Gill Sans Light" charset="0"/>
                  <a:cs typeface="Gill Sans Light" charset="0"/>
                </a:defRPr>
              </a:lvl1pPr>
              <a:lvl2pPr marL="742950" indent="-285750" eaLnBrk="0" hangingPunct="0">
                <a:lnSpc>
                  <a:spcPct val="90000"/>
                </a:lnSpc>
                <a:spcBef>
                  <a:spcPct val="30000"/>
                </a:spcBef>
                <a:buSzPct val="100000"/>
                <a:buChar char="–"/>
                <a:defRPr sz="2200" b="1">
                  <a:solidFill>
                    <a:schemeClr val="tx1"/>
                  </a:solidFill>
                  <a:latin typeface="Gill Sans Light" charset="0"/>
                  <a:ea typeface="Gill Sans Light" charset="0"/>
                  <a:cs typeface="Gill Sans Light" charset="0"/>
                </a:defRPr>
              </a:lvl2pPr>
              <a:lvl3pPr marL="1143000" indent="-228600" eaLnBrk="0" hangingPunct="0">
                <a:lnSpc>
                  <a:spcPct val="90000"/>
                </a:lnSpc>
                <a:spcBef>
                  <a:spcPct val="30000"/>
                </a:spcBef>
                <a:buSzPct val="100000"/>
                <a:buChar char="»"/>
                <a:defRPr sz="2000" b="1">
                  <a:solidFill>
                    <a:schemeClr val="tx1"/>
                  </a:solidFill>
                  <a:latin typeface="Gill Sans Light" charset="0"/>
                  <a:ea typeface="Gill Sans Light" charset="0"/>
                  <a:cs typeface="Gill Sans Light" charset="0"/>
                </a:defRPr>
              </a:lvl3pPr>
              <a:lvl4pPr marL="1600200" indent="-228600" eaLnBrk="0" hangingPunct="0">
                <a:lnSpc>
                  <a:spcPct val="90000"/>
                </a:lnSpc>
                <a:spcBef>
                  <a:spcPct val="30000"/>
                </a:spcBef>
                <a:buSzPct val="100000"/>
                <a:buChar char="•"/>
                <a:defRPr sz="2000" b="1">
                  <a:solidFill>
                    <a:schemeClr val="tx1"/>
                  </a:solidFill>
                  <a:latin typeface="Gill Sans Light" charset="0"/>
                  <a:ea typeface="Gill Sans Light" charset="0"/>
                  <a:cs typeface="Gill Sans Light" charset="0"/>
                </a:defRPr>
              </a:lvl4pPr>
              <a:lvl5pPr marL="2057400" indent="-228600" eaLnBrk="0" hangingPunct="0">
                <a:lnSpc>
                  <a:spcPct val="90000"/>
                </a:lnSpc>
                <a:spcBef>
                  <a:spcPct val="30000"/>
                </a:spcBef>
                <a:buSzPct val="100000"/>
                <a:buChar char="–"/>
                <a:defRPr sz="2000" b="1">
                  <a:solidFill>
                    <a:schemeClr val="tx1"/>
                  </a:solidFill>
                  <a:latin typeface="Gill Sans Light" charset="0"/>
                  <a:ea typeface="Gill Sans Light" charset="0"/>
                  <a:cs typeface="Gill Sans Light" charset="0"/>
                </a:defRPr>
              </a:lvl5pPr>
              <a:lvl6pPr marL="2514600" indent="-228600" eaLnBrk="0" fontAlgn="base" hangingPunct="0">
                <a:lnSpc>
                  <a:spcPct val="90000"/>
                </a:lnSpc>
                <a:spcBef>
                  <a:spcPct val="30000"/>
                </a:spcBef>
                <a:spcAft>
                  <a:spcPct val="0"/>
                </a:spcAft>
                <a:buSzPct val="100000"/>
                <a:buChar char="–"/>
                <a:defRPr sz="2000" b="1">
                  <a:solidFill>
                    <a:schemeClr val="tx1"/>
                  </a:solidFill>
                  <a:latin typeface="Gill Sans Light" charset="0"/>
                  <a:ea typeface="Gill Sans Light" charset="0"/>
                  <a:cs typeface="Gill Sans Light" charset="0"/>
                </a:defRPr>
              </a:lvl6pPr>
              <a:lvl7pPr marL="2971800" indent="-228600" eaLnBrk="0" fontAlgn="base" hangingPunct="0">
                <a:lnSpc>
                  <a:spcPct val="90000"/>
                </a:lnSpc>
                <a:spcBef>
                  <a:spcPct val="30000"/>
                </a:spcBef>
                <a:spcAft>
                  <a:spcPct val="0"/>
                </a:spcAft>
                <a:buSzPct val="100000"/>
                <a:buChar char="–"/>
                <a:defRPr sz="2000" b="1">
                  <a:solidFill>
                    <a:schemeClr val="tx1"/>
                  </a:solidFill>
                  <a:latin typeface="Gill Sans Light" charset="0"/>
                  <a:ea typeface="Gill Sans Light" charset="0"/>
                  <a:cs typeface="Gill Sans Light" charset="0"/>
                </a:defRPr>
              </a:lvl7pPr>
              <a:lvl8pPr marL="3429000" indent="-228600" eaLnBrk="0" fontAlgn="base" hangingPunct="0">
                <a:lnSpc>
                  <a:spcPct val="90000"/>
                </a:lnSpc>
                <a:spcBef>
                  <a:spcPct val="30000"/>
                </a:spcBef>
                <a:spcAft>
                  <a:spcPct val="0"/>
                </a:spcAft>
                <a:buSzPct val="100000"/>
                <a:buChar char="–"/>
                <a:defRPr sz="2000" b="1">
                  <a:solidFill>
                    <a:schemeClr val="tx1"/>
                  </a:solidFill>
                  <a:latin typeface="Gill Sans Light" charset="0"/>
                  <a:ea typeface="Gill Sans Light" charset="0"/>
                  <a:cs typeface="Gill Sans Light" charset="0"/>
                </a:defRPr>
              </a:lvl8pPr>
              <a:lvl9pPr marL="3886200" indent="-228600" eaLnBrk="0" fontAlgn="base" hangingPunct="0">
                <a:lnSpc>
                  <a:spcPct val="90000"/>
                </a:lnSpc>
                <a:spcBef>
                  <a:spcPct val="30000"/>
                </a:spcBef>
                <a:spcAft>
                  <a:spcPct val="0"/>
                </a:spcAft>
                <a:buSzPct val="100000"/>
                <a:buChar char="–"/>
                <a:defRPr sz="2000" b="1">
                  <a:solidFill>
                    <a:schemeClr val="tx1"/>
                  </a:solidFill>
                  <a:latin typeface="Gill Sans Light" charset="0"/>
                  <a:ea typeface="Gill Sans Light" charset="0"/>
                  <a:cs typeface="Gill Sans Light" charset="0"/>
                </a:defRPr>
              </a:lvl9pPr>
            </a:lstStyle>
            <a:p>
              <a:pPr>
                <a:lnSpc>
                  <a:spcPct val="100000"/>
                </a:lnSpc>
                <a:spcBef>
                  <a:spcPct val="0"/>
                </a:spcBef>
                <a:buSzTx/>
                <a:buFontTx/>
                <a:buNone/>
                <a:defRPr/>
              </a:pPr>
              <a:r>
                <a:rPr lang="en-US" altLang="en-US" sz="2000" b="0" dirty="0">
                  <a:latin typeface="Gill Sans Light"/>
                  <a:ea typeface="Gill Sans" charset="0"/>
                  <a:cs typeface="Gill Sans" charset="0"/>
                </a:rPr>
                <a:t>Physical Machine Interface</a:t>
              </a:r>
            </a:p>
          </p:txBody>
        </p:sp>
        <p:sp>
          <p:nvSpPr>
            <p:cNvPr id="13" name="Text Box 9">
              <a:extLst>
                <a:ext uri="{FF2B5EF4-FFF2-40B4-BE49-F238E27FC236}">
                  <a16:creationId xmlns:a16="http://schemas.microsoft.com/office/drawing/2014/main" id="{6D1794CA-71C2-4E77-A787-1C3EDF87BC04}"/>
                </a:ext>
              </a:extLst>
            </p:cNvPr>
            <p:cNvSpPr txBox="1">
              <a:spLocks noChangeArrowheads="1"/>
            </p:cNvSpPr>
            <p:nvPr/>
          </p:nvSpPr>
          <p:spPr bwMode="auto">
            <a:xfrm>
              <a:off x="8173189" y="2179280"/>
              <a:ext cx="3184189" cy="377018"/>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5715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lIns="68572" tIns="34286" rIns="68572" bIns="34286">
              <a:spAutoFit/>
            </a:bodyPr>
            <a:lstStyle>
              <a:lvl1pPr eaLnBrk="0" hangingPunct="0">
                <a:lnSpc>
                  <a:spcPct val="90000"/>
                </a:lnSpc>
                <a:spcBef>
                  <a:spcPct val="30000"/>
                </a:spcBef>
                <a:buSzPct val="100000"/>
                <a:buChar char="•"/>
                <a:defRPr sz="2400" b="1">
                  <a:solidFill>
                    <a:schemeClr val="tx1"/>
                  </a:solidFill>
                  <a:latin typeface="Gill Sans Light" charset="0"/>
                  <a:ea typeface="Gill Sans Light" charset="0"/>
                  <a:cs typeface="Gill Sans Light" charset="0"/>
                </a:defRPr>
              </a:lvl1pPr>
              <a:lvl2pPr marL="742950" indent="-285750" eaLnBrk="0" hangingPunct="0">
                <a:lnSpc>
                  <a:spcPct val="90000"/>
                </a:lnSpc>
                <a:spcBef>
                  <a:spcPct val="30000"/>
                </a:spcBef>
                <a:buSzPct val="100000"/>
                <a:buChar char="–"/>
                <a:defRPr sz="2200" b="1">
                  <a:solidFill>
                    <a:schemeClr val="tx1"/>
                  </a:solidFill>
                  <a:latin typeface="Gill Sans Light" charset="0"/>
                  <a:ea typeface="Gill Sans Light" charset="0"/>
                  <a:cs typeface="Gill Sans Light" charset="0"/>
                </a:defRPr>
              </a:lvl2pPr>
              <a:lvl3pPr marL="1143000" indent="-228600" eaLnBrk="0" hangingPunct="0">
                <a:lnSpc>
                  <a:spcPct val="90000"/>
                </a:lnSpc>
                <a:spcBef>
                  <a:spcPct val="30000"/>
                </a:spcBef>
                <a:buSzPct val="100000"/>
                <a:buChar char="»"/>
                <a:defRPr sz="2000" b="1">
                  <a:solidFill>
                    <a:schemeClr val="tx1"/>
                  </a:solidFill>
                  <a:latin typeface="Gill Sans Light" charset="0"/>
                  <a:ea typeface="Gill Sans Light" charset="0"/>
                  <a:cs typeface="Gill Sans Light" charset="0"/>
                </a:defRPr>
              </a:lvl3pPr>
              <a:lvl4pPr marL="1600200" indent="-228600" eaLnBrk="0" hangingPunct="0">
                <a:lnSpc>
                  <a:spcPct val="90000"/>
                </a:lnSpc>
                <a:spcBef>
                  <a:spcPct val="30000"/>
                </a:spcBef>
                <a:buSzPct val="100000"/>
                <a:buChar char="•"/>
                <a:defRPr sz="2000" b="1">
                  <a:solidFill>
                    <a:schemeClr val="tx1"/>
                  </a:solidFill>
                  <a:latin typeface="Gill Sans Light" charset="0"/>
                  <a:ea typeface="Gill Sans Light" charset="0"/>
                  <a:cs typeface="Gill Sans Light" charset="0"/>
                </a:defRPr>
              </a:lvl4pPr>
              <a:lvl5pPr marL="2057400" indent="-228600" eaLnBrk="0" hangingPunct="0">
                <a:lnSpc>
                  <a:spcPct val="90000"/>
                </a:lnSpc>
                <a:spcBef>
                  <a:spcPct val="30000"/>
                </a:spcBef>
                <a:buSzPct val="100000"/>
                <a:buChar char="–"/>
                <a:defRPr sz="2000" b="1">
                  <a:solidFill>
                    <a:schemeClr val="tx1"/>
                  </a:solidFill>
                  <a:latin typeface="Gill Sans Light" charset="0"/>
                  <a:ea typeface="Gill Sans Light" charset="0"/>
                  <a:cs typeface="Gill Sans Light" charset="0"/>
                </a:defRPr>
              </a:lvl5pPr>
              <a:lvl6pPr marL="2514600" indent="-228600" eaLnBrk="0" fontAlgn="base" hangingPunct="0">
                <a:lnSpc>
                  <a:spcPct val="90000"/>
                </a:lnSpc>
                <a:spcBef>
                  <a:spcPct val="30000"/>
                </a:spcBef>
                <a:spcAft>
                  <a:spcPct val="0"/>
                </a:spcAft>
                <a:buSzPct val="100000"/>
                <a:buChar char="–"/>
                <a:defRPr sz="2000" b="1">
                  <a:solidFill>
                    <a:schemeClr val="tx1"/>
                  </a:solidFill>
                  <a:latin typeface="Gill Sans Light" charset="0"/>
                  <a:ea typeface="Gill Sans Light" charset="0"/>
                  <a:cs typeface="Gill Sans Light" charset="0"/>
                </a:defRPr>
              </a:lvl6pPr>
              <a:lvl7pPr marL="2971800" indent="-228600" eaLnBrk="0" fontAlgn="base" hangingPunct="0">
                <a:lnSpc>
                  <a:spcPct val="90000"/>
                </a:lnSpc>
                <a:spcBef>
                  <a:spcPct val="30000"/>
                </a:spcBef>
                <a:spcAft>
                  <a:spcPct val="0"/>
                </a:spcAft>
                <a:buSzPct val="100000"/>
                <a:buChar char="–"/>
                <a:defRPr sz="2000" b="1">
                  <a:solidFill>
                    <a:schemeClr val="tx1"/>
                  </a:solidFill>
                  <a:latin typeface="Gill Sans Light" charset="0"/>
                  <a:ea typeface="Gill Sans Light" charset="0"/>
                  <a:cs typeface="Gill Sans Light" charset="0"/>
                </a:defRPr>
              </a:lvl7pPr>
              <a:lvl8pPr marL="3429000" indent="-228600" eaLnBrk="0" fontAlgn="base" hangingPunct="0">
                <a:lnSpc>
                  <a:spcPct val="90000"/>
                </a:lnSpc>
                <a:spcBef>
                  <a:spcPct val="30000"/>
                </a:spcBef>
                <a:spcAft>
                  <a:spcPct val="0"/>
                </a:spcAft>
                <a:buSzPct val="100000"/>
                <a:buChar char="–"/>
                <a:defRPr sz="2000" b="1">
                  <a:solidFill>
                    <a:schemeClr val="tx1"/>
                  </a:solidFill>
                  <a:latin typeface="Gill Sans Light" charset="0"/>
                  <a:ea typeface="Gill Sans Light" charset="0"/>
                  <a:cs typeface="Gill Sans Light" charset="0"/>
                </a:defRPr>
              </a:lvl8pPr>
              <a:lvl9pPr marL="3886200" indent="-228600" eaLnBrk="0" fontAlgn="base" hangingPunct="0">
                <a:lnSpc>
                  <a:spcPct val="90000"/>
                </a:lnSpc>
                <a:spcBef>
                  <a:spcPct val="30000"/>
                </a:spcBef>
                <a:spcAft>
                  <a:spcPct val="0"/>
                </a:spcAft>
                <a:buSzPct val="100000"/>
                <a:buChar char="–"/>
                <a:defRPr sz="2000" b="1">
                  <a:solidFill>
                    <a:schemeClr val="tx1"/>
                  </a:solidFill>
                  <a:latin typeface="Gill Sans Light" charset="0"/>
                  <a:ea typeface="Gill Sans Light" charset="0"/>
                  <a:cs typeface="Gill Sans Light" charset="0"/>
                </a:defRPr>
              </a:lvl9pPr>
            </a:lstStyle>
            <a:p>
              <a:pPr>
                <a:lnSpc>
                  <a:spcPct val="100000"/>
                </a:lnSpc>
                <a:spcBef>
                  <a:spcPct val="0"/>
                </a:spcBef>
                <a:buSzTx/>
                <a:buFontTx/>
                <a:buNone/>
                <a:defRPr/>
              </a:pPr>
              <a:r>
                <a:rPr lang="en-US" altLang="en-US" sz="2000" b="0" dirty="0">
                  <a:latin typeface="Gill Sans Light"/>
                  <a:ea typeface="Gill Sans" charset="0"/>
                  <a:cs typeface="Gill Sans" charset="0"/>
                </a:rPr>
                <a:t>Abstract Machine Interface</a:t>
              </a:r>
            </a:p>
          </p:txBody>
        </p:sp>
      </p:grpSp>
    </p:spTree>
    <p:extLst>
      <p:ext uri="{BB962C8B-B14F-4D97-AF65-F5344CB8AC3E}">
        <p14:creationId xmlns:p14="http://schemas.microsoft.com/office/powerpoint/2010/main" val="777053875"/>
      </p:ext>
    </p:extLst>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371AB3-6012-440C-9AD7-0949DC3E6B02}"/>
              </a:ext>
            </a:extLst>
          </p:cNvPr>
          <p:cNvSpPr>
            <a:spLocks noGrp="1"/>
          </p:cNvSpPr>
          <p:nvPr>
            <p:ph type="title"/>
          </p:nvPr>
        </p:nvSpPr>
        <p:spPr/>
        <p:txBody>
          <a:bodyPr/>
          <a:lstStyle/>
          <a:p>
            <a:r>
              <a:rPr lang="en-US" dirty="0"/>
              <a:t>OS </a:t>
            </a:r>
            <a:r>
              <a:rPr lang="en-US" i="1" dirty="0"/>
              <a:t>Protects</a:t>
            </a:r>
            <a:r>
              <a:rPr lang="en-US" dirty="0"/>
              <a:t> Processes and the Kernel</a:t>
            </a:r>
          </a:p>
        </p:txBody>
      </p:sp>
      <p:sp>
        <p:nvSpPr>
          <p:cNvPr id="3" name="Content Placeholder 2">
            <a:extLst>
              <a:ext uri="{FF2B5EF4-FFF2-40B4-BE49-F238E27FC236}">
                <a16:creationId xmlns:a16="http://schemas.microsoft.com/office/drawing/2014/main" id="{8AC849A2-3DB5-4064-A223-D625F24E56C9}"/>
              </a:ext>
            </a:extLst>
          </p:cNvPr>
          <p:cNvSpPr>
            <a:spLocks noGrp="1"/>
          </p:cNvSpPr>
          <p:nvPr>
            <p:ph idx="1"/>
          </p:nvPr>
        </p:nvSpPr>
        <p:spPr>
          <a:xfrm>
            <a:off x="609600" y="1219200"/>
            <a:ext cx="10515600" cy="1325563"/>
          </a:xfrm>
        </p:spPr>
        <p:txBody>
          <a:bodyPr/>
          <a:lstStyle/>
          <a:p>
            <a:r>
              <a:rPr lang="en-US" dirty="0"/>
              <a:t>Run multiple applications and:</a:t>
            </a:r>
          </a:p>
          <a:p>
            <a:pPr lvl="1"/>
            <a:r>
              <a:rPr lang="en-US" dirty="0"/>
              <a:t>Keep them from interfering with or crashing the operating system</a:t>
            </a:r>
          </a:p>
          <a:p>
            <a:pPr lvl="1"/>
            <a:r>
              <a:rPr lang="en-US" dirty="0"/>
              <a:t>Keep them from interfering with or crashing each other</a:t>
            </a:r>
          </a:p>
        </p:txBody>
      </p:sp>
      <p:pic>
        <p:nvPicPr>
          <p:cNvPr id="7" name="Picture 2" descr="https://i2.kym-cdn.com/photos/images/newsfeed/000/176/261/Windows_9X_BSOD.png">
            <a:extLst>
              <a:ext uri="{FF2B5EF4-FFF2-40B4-BE49-F238E27FC236}">
                <a16:creationId xmlns:a16="http://schemas.microsoft.com/office/drawing/2014/main" id="{BC96329F-534A-49FD-9D8E-6C8DEC03BFEB}"/>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3422374" y="2507521"/>
            <a:ext cx="4890052" cy="30562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5277118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2DEBCE-2DB2-4932-AF1A-8F3FEFA8DC53}"/>
              </a:ext>
            </a:extLst>
          </p:cNvPr>
          <p:cNvSpPr>
            <a:spLocks noGrp="1"/>
          </p:cNvSpPr>
          <p:nvPr>
            <p:ph type="title"/>
          </p:nvPr>
        </p:nvSpPr>
        <p:spPr/>
        <p:txBody>
          <a:bodyPr/>
          <a:lstStyle/>
          <a:p>
            <a:r>
              <a:rPr lang="en-US" dirty="0"/>
              <a:t>Basic Tool: Dual-Mode Operation</a:t>
            </a:r>
          </a:p>
        </p:txBody>
      </p:sp>
      <p:sp>
        <p:nvSpPr>
          <p:cNvPr id="3" name="Content Placeholder 2">
            <a:extLst>
              <a:ext uri="{FF2B5EF4-FFF2-40B4-BE49-F238E27FC236}">
                <a16:creationId xmlns:a16="http://schemas.microsoft.com/office/drawing/2014/main" id="{3C86558F-1319-42A4-AD6F-4F24FBDBCD9B}"/>
              </a:ext>
            </a:extLst>
          </p:cNvPr>
          <p:cNvSpPr>
            <a:spLocks noGrp="1"/>
          </p:cNvSpPr>
          <p:nvPr>
            <p:ph idx="1"/>
          </p:nvPr>
        </p:nvSpPr>
        <p:spPr>
          <a:xfrm>
            <a:off x="838200" y="990600"/>
            <a:ext cx="10515600" cy="3124062"/>
          </a:xfrm>
        </p:spPr>
        <p:txBody>
          <a:bodyPr>
            <a:normAutofit lnSpcReduction="10000"/>
          </a:bodyPr>
          <a:lstStyle/>
          <a:p>
            <a:r>
              <a:rPr lang="en-US" dirty="0"/>
              <a:t>Hardware provides at least two modes:</a:t>
            </a:r>
          </a:p>
          <a:p>
            <a:pPr lvl="1" indent="-342900">
              <a:buFont typeface="+mj-lt"/>
              <a:buAutoNum type="arabicPeriod"/>
            </a:pPr>
            <a:r>
              <a:rPr lang="en-US" dirty="0"/>
              <a:t>Kernel Mode (or “supervisor” mode)</a:t>
            </a:r>
          </a:p>
          <a:p>
            <a:pPr lvl="1" indent="-342900">
              <a:buFont typeface="+mj-lt"/>
              <a:buAutoNum type="arabicPeriod"/>
            </a:pPr>
            <a:r>
              <a:rPr lang="en-US" dirty="0"/>
              <a:t>User Mode</a:t>
            </a:r>
          </a:p>
          <a:p>
            <a:r>
              <a:rPr lang="en-US" dirty="0"/>
              <a:t>Certain operations are </a:t>
            </a:r>
            <a:r>
              <a:rPr lang="en-US" b="1" dirty="0"/>
              <a:t>prohibited</a:t>
            </a:r>
            <a:r>
              <a:rPr lang="en-US" dirty="0"/>
              <a:t> when running in user mode</a:t>
            </a:r>
          </a:p>
          <a:p>
            <a:pPr lvl="1"/>
            <a:r>
              <a:rPr lang="en-US" dirty="0"/>
              <a:t>Changing the page table pointer, disabling interrupts, interacting directly w/ hardware, writing to kernel memory</a:t>
            </a:r>
          </a:p>
          <a:p>
            <a:r>
              <a:rPr lang="en-US" dirty="0"/>
              <a:t>Carefully controlled transitions between user mode and kernel mode</a:t>
            </a:r>
          </a:p>
          <a:p>
            <a:pPr lvl="1"/>
            <a:r>
              <a:rPr lang="en-US" dirty="0"/>
              <a:t>System calls, interrupts, exceptions</a:t>
            </a:r>
          </a:p>
        </p:txBody>
      </p:sp>
      <p:pic>
        <p:nvPicPr>
          <p:cNvPr id="7" name="Picture 6">
            <a:extLst>
              <a:ext uri="{FF2B5EF4-FFF2-40B4-BE49-F238E27FC236}">
                <a16:creationId xmlns:a16="http://schemas.microsoft.com/office/drawing/2014/main" id="{D3C87741-2BDD-4FAA-B56A-DEB5D17A370F}"/>
              </a:ext>
            </a:extLst>
          </p:cNvPr>
          <p:cNvPicPr>
            <a:picLocks noChangeAspect="1"/>
          </p:cNvPicPr>
          <p:nvPr/>
        </p:nvPicPr>
        <p:blipFill>
          <a:blip r:embed="rId2"/>
          <a:stretch>
            <a:fillRect/>
          </a:stretch>
        </p:blipFill>
        <p:spPr>
          <a:xfrm>
            <a:off x="2608251" y="4117547"/>
            <a:ext cx="6400800" cy="1924050"/>
          </a:xfrm>
          <a:prstGeom prst="rect">
            <a:avLst/>
          </a:prstGeom>
        </p:spPr>
      </p:pic>
    </p:spTree>
    <p:extLst>
      <p:ext uri="{BB962C8B-B14F-4D97-AF65-F5344CB8AC3E}">
        <p14:creationId xmlns:p14="http://schemas.microsoft.com/office/powerpoint/2010/main" val="234552931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AF1925-2E85-4E50-B2EC-2BA455B638CC}"/>
              </a:ext>
            </a:extLst>
          </p:cNvPr>
          <p:cNvSpPr>
            <a:spLocks noGrp="1"/>
          </p:cNvSpPr>
          <p:nvPr>
            <p:ph type="title"/>
          </p:nvPr>
        </p:nvSpPr>
        <p:spPr/>
        <p:txBody>
          <a:bodyPr/>
          <a:lstStyle/>
          <a:p>
            <a:r>
              <a:rPr lang="en-US" dirty="0"/>
              <a:t>UNIX System Structure</a:t>
            </a:r>
          </a:p>
        </p:txBody>
      </p:sp>
      <p:pic>
        <p:nvPicPr>
          <p:cNvPr id="8" name="Content Placeholder 7" descr="A screenshot of a cell phone&#10;&#10;Description automatically generated">
            <a:extLst>
              <a:ext uri="{FF2B5EF4-FFF2-40B4-BE49-F238E27FC236}">
                <a16:creationId xmlns:a16="http://schemas.microsoft.com/office/drawing/2014/main" id="{3C0A142C-0CD8-42EE-AD23-37D029C8F9E4}"/>
              </a:ext>
            </a:extLst>
          </p:cNvPr>
          <p:cNvPicPr>
            <a:picLocks noGrp="1" noChangeAspect="1"/>
          </p:cNvPicPr>
          <p:nvPr>
            <p:ph idx="1"/>
          </p:nvPr>
        </p:nvPicPr>
        <p:blipFill>
          <a:blip r:embed="rId2" cstate="email">
            <a:extLst>
              <a:ext uri="{28A0092B-C50C-407E-A947-70E740481C1C}">
                <a14:useLocalDpi xmlns:a14="http://schemas.microsoft.com/office/drawing/2010/main" val="0"/>
              </a:ext>
            </a:extLst>
          </a:blip>
          <a:stretch>
            <a:fillRect/>
          </a:stretch>
        </p:blipFill>
        <p:spPr>
          <a:xfrm>
            <a:off x="2286000" y="1066800"/>
            <a:ext cx="7420050" cy="4351338"/>
          </a:xfrm>
        </p:spPr>
      </p:pic>
    </p:spTree>
    <p:extLst>
      <p:ext uri="{BB962C8B-B14F-4D97-AF65-F5344CB8AC3E}">
        <p14:creationId xmlns:p14="http://schemas.microsoft.com/office/powerpoint/2010/main" val="1466978771"/>
      </p:ext>
    </p:extLst>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63ECED-1294-4B57-AFFD-07C00F221921}"/>
              </a:ext>
            </a:extLst>
          </p:cNvPr>
          <p:cNvSpPr>
            <a:spLocks noGrp="1"/>
          </p:cNvSpPr>
          <p:nvPr>
            <p:ph type="title"/>
          </p:nvPr>
        </p:nvSpPr>
        <p:spPr>
          <a:xfrm>
            <a:off x="609600" y="228600"/>
            <a:ext cx="11125200" cy="473075"/>
          </a:xfrm>
        </p:spPr>
        <p:txBody>
          <a:bodyPr/>
          <a:lstStyle/>
          <a:p>
            <a:r>
              <a:rPr lang="en-US" dirty="0"/>
              <a:t>Virtualization: Execution Environments for Systems</a:t>
            </a:r>
          </a:p>
        </p:txBody>
      </p:sp>
      <p:pic>
        <p:nvPicPr>
          <p:cNvPr id="14" name="Content Placeholder 13" descr="A screenshot of a cell phone&#10;&#10;Description automatically generated">
            <a:extLst>
              <a:ext uri="{FF2B5EF4-FFF2-40B4-BE49-F238E27FC236}">
                <a16:creationId xmlns:a16="http://schemas.microsoft.com/office/drawing/2014/main" id="{3709BBA1-CC0C-4344-A9C7-9476D5560072}"/>
              </a:ext>
            </a:extLst>
          </p:cNvPr>
          <p:cNvPicPr>
            <a:picLocks noGrp="1" noChangeAspect="1"/>
          </p:cNvPicPr>
          <p:nvPr>
            <p:ph sz="half" idx="1"/>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tretch>
            <a:fillRect/>
          </a:stretch>
        </p:blipFill>
        <p:spPr>
          <a:xfrm>
            <a:off x="1045204" y="1221543"/>
            <a:ext cx="4558187" cy="3643095"/>
          </a:xfrm>
        </p:spPr>
      </p:pic>
      <p:pic>
        <p:nvPicPr>
          <p:cNvPr id="16" name="Content Placeholder 15" descr="A screenshot of a cell phone&#10;&#10;Description automatically generated">
            <a:extLst>
              <a:ext uri="{FF2B5EF4-FFF2-40B4-BE49-F238E27FC236}">
                <a16:creationId xmlns:a16="http://schemas.microsoft.com/office/drawing/2014/main" id="{43082C4F-0D19-49CF-89BF-917562269F19}"/>
              </a:ext>
            </a:extLst>
          </p:cNvPr>
          <p:cNvPicPr>
            <a:picLocks noGrp="1" noChangeAspect="1"/>
          </p:cNvPicPr>
          <p:nvPr>
            <p:ph sz="half" idx="2"/>
          </p:nvPr>
        </p:nvPicPr>
        <p:blipFill>
          <a:blip r:embed="rId4">
            <a:extLst>
              <a:ext uri="{BEBA8EAE-BF5A-486C-A8C5-ECC9F3942E4B}">
                <a14:imgProps xmlns:a14="http://schemas.microsoft.com/office/drawing/2010/main">
                  <a14:imgLayer r:embed="rId5">
                    <a14:imgEffect>
                      <a14:sharpenSoften amount="50000"/>
                    </a14:imgEffect>
                  </a14:imgLayer>
                </a14:imgProps>
              </a:ext>
              <a:ext uri="{28A0092B-C50C-407E-A947-70E740481C1C}">
                <a14:useLocalDpi xmlns:a14="http://schemas.microsoft.com/office/drawing/2010/main" val="0"/>
              </a:ext>
            </a:extLst>
          </a:blip>
          <a:stretch>
            <a:fillRect/>
          </a:stretch>
        </p:blipFill>
        <p:spPr>
          <a:xfrm>
            <a:off x="6271542" y="1221544"/>
            <a:ext cx="4468712" cy="3563208"/>
          </a:xfrm>
        </p:spPr>
      </p:pic>
      <p:sp>
        <p:nvSpPr>
          <p:cNvPr id="17" name="TextBox 16">
            <a:extLst>
              <a:ext uri="{FF2B5EF4-FFF2-40B4-BE49-F238E27FC236}">
                <a16:creationId xmlns:a16="http://schemas.microsoft.com/office/drawing/2014/main" id="{F817EBB9-A3CF-42CF-B1FD-34F2C518632F}"/>
              </a:ext>
            </a:extLst>
          </p:cNvPr>
          <p:cNvSpPr txBox="1"/>
          <p:nvPr/>
        </p:nvSpPr>
        <p:spPr>
          <a:xfrm>
            <a:off x="234881" y="5153673"/>
            <a:ext cx="11957119" cy="461665"/>
          </a:xfrm>
          <a:prstGeom prst="rect">
            <a:avLst/>
          </a:prstGeom>
          <a:noFill/>
        </p:spPr>
        <p:txBody>
          <a:bodyPr wrap="none" rtlCol="0">
            <a:spAutoFit/>
          </a:bodyPr>
          <a:lstStyle/>
          <a:p>
            <a:r>
              <a:rPr lang="en-US" sz="2400" b="1" dirty="0">
                <a:latin typeface="Gill Sans Light"/>
              </a:rPr>
              <a:t>Additional layers of protection and isolation can help further manage complexity</a:t>
            </a:r>
          </a:p>
        </p:txBody>
      </p:sp>
    </p:spTree>
    <p:extLst>
      <p:ext uri="{BB962C8B-B14F-4D97-AF65-F5344CB8AC3E}">
        <p14:creationId xmlns:p14="http://schemas.microsoft.com/office/powerpoint/2010/main" val="1015351334"/>
      </p:ext>
    </p:extLst>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p:txBody>
          <a:bodyPr/>
          <a:lstStyle/>
          <a:p>
            <a:pPr>
              <a:defRPr/>
            </a:pPr>
            <a:r>
              <a:rPr lang="en-US" altLang="en-US" dirty="0">
                <a:latin typeface="Gill Sans Light" charset="0"/>
                <a:cs typeface="Gill Sans Light" charset="0"/>
              </a:rPr>
              <a:t>Operating System Definition</a:t>
            </a:r>
          </a:p>
        </p:txBody>
      </p:sp>
      <p:sp>
        <p:nvSpPr>
          <p:cNvPr id="34819" name="Rectangle 3"/>
          <p:cNvSpPr>
            <a:spLocks noGrp="1" noChangeArrowheads="1"/>
          </p:cNvSpPr>
          <p:nvPr>
            <p:ph type="body" idx="1"/>
          </p:nvPr>
        </p:nvSpPr>
        <p:spPr>
          <a:xfrm>
            <a:off x="2187576" y="1108075"/>
            <a:ext cx="7750175" cy="3568700"/>
          </a:xfrm>
        </p:spPr>
        <p:txBody>
          <a:bodyPr/>
          <a:lstStyle/>
          <a:p>
            <a:pPr>
              <a:defRPr/>
            </a:pPr>
            <a:r>
              <a:rPr lang="en-US" dirty="0">
                <a:ea typeface="ＭＳ Ｐゴシック" charset="0"/>
              </a:rPr>
              <a:t>No universally accepted definition</a:t>
            </a:r>
          </a:p>
          <a:p>
            <a:pPr>
              <a:defRPr/>
            </a:pPr>
            <a:r>
              <a:rPr lang="en-US" dirty="0">
                <a:ea typeface="ＭＳ Ｐゴシック" charset="0"/>
              </a:rPr>
              <a:t>“Everything a vendor ships when you order an operating system” is good approximation</a:t>
            </a:r>
          </a:p>
          <a:p>
            <a:pPr lvl="1">
              <a:defRPr/>
            </a:pPr>
            <a:r>
              <a:rPr lang="en-US" dirty="0">
                <a:ea typeface="ＭＳ Ｐゴシック" charset="0"/>
              </a:rPr>
              <a:t>But varies wildly</a:t>
            </a:r>
          </a:p>
          <a:p>
            <a:pPr>
              <a:defRPr/>
            </a:pPr>
            <a:r>
              <a:rPr lang="en-US" dirty="0">
                <a:ea typeface="ＭＳ Ｐゴシック" charset="0"/>
              </a:rPr>
              <a:t>“The one program running at all times on the computer” is the </a:t>
            </a:r>
            <a:r>
              <a:rPr lang="en-US" dirty="0">
                <a:solidFill>
                  <a:schemeClr val="hlink"/>
                </a:solidFill>
                <a:ea typeface="ＭＳ Ｐゴシック" charset="0"/>
              </a:rPr>
              <a:t>kernel</a:t>
            </a:r>
            <a:r>
              <a:rPr lang="en-US" dirty="0">
                <a:ea typeface="ＭＳ Ｐゴシック" charset="0"/>
              </a:rPr>
              <a:t>  </a:t>
            </a:r>
          </a:p>
          <a:p>
            <a:pPr lvl="1">
              <a:defRPr/>
            </a:pPr>
            <a:r>
              <a:rPr lang="en-US" dirty="0">
                <a:ea typeface="ＭＳ Ｐゴシック" charset="0"/>
              </a:rPr>
              <a:t>Everything else is either a system program (ships with the operating system) or an application program</a:t>
            </a:r>
          </a:p>
        </p:txBody>
      </p:sp>
    </p:spTree>
    <p:extLst>
      <p:ext uri="{BB962C8B-B14F-4D97-AF65-F5344CB8AC3E}">
        <p14:creationId xmlns:p14="http://schemas.microsoft.com/office/powerpoint/2010/main" val="137783502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81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4819">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4819">
                                            <p:txEl>
                                              <p:pRg st="2" end="2"/>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4819">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481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9"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p:txBody>
          <a:bodyPr/>
          <a:lstStyle/>
          <a:p>
            <a:r>
              <a:rPr lang="en-US" dirty="0">
                <a:latin typeface="Gill Sans Light" charset="0"/>
                <a:ea typeface="ＭＳ Ｐゴシック" charset="0"/>
                <a:cs typeface="Gill Sans Light" charset="0"/>
              </a:rPr>
              <a:t>“In conclusion…Operating Systems:”</a:t>
            </a:r>
          </a:p>
        </p:txBody>
      </p:sp>
      <p:sp>
        <p:nvSpPr>
          <p:cNvPr id="64515" name="Rectangle 3"/>
          <p:cNvSpPr>
            <a:spLocks noGrp="1" noChangeArrowheads="1"/>
          </p:cNvSpPr>
          <p:nvPr>
            <p:ph type="body" idx="1"/>
          </p:nvPr>
        </p:nvSpPr>
        <p:spPr>
          <a:xfrm>
            <a:off x="990600" y="914400"/>
            <a:ext cx="9677400" cy="5105400"/>
          </a:xfrm>
        </p:spPr>
        <p:txBody>
          <a:bodyPr/>
          <a:lstStyle/>
          <a:p>
            <a:r>
              <a:rPr lang="en-US" dirty="0"/>
              <a:t>Provide convenient abstractions to handle diverse hardware</a:t>
            </a:r>
          </a:p>
          <a:p>
            <a:pPr lvl="1"/>
            <a:r>
              <a:rPr lang="en-US" dirty="0"/>
              <a:t>Convenience, protection, reliability obtained in creating the illusion</a:t>
            </a:r>
          </a:p>
          <a:p>
            <a:r>
              <a:rPr lang="en-US" dirty="0"/>
              <a:t>Coordinate resources and protect users from each other</a:t>
            </a:r>
          </a:p>
          <a:p>
            <a:pPr lvl="1"/>
            <a:r>
              <a:rPr lang="en-US" dirty="0"/>
              <a:t>Using a few critical hardware mechanisms</a:t>
            </a:r>
          </a:p>
          <a:p>
            <a:r>
              <a:rPr lang="en-US" dirty="0"/>
              <a:t>Simplify application development by providing standard services</a:t>
            </a:r>
          </a:p>
          <a:p>
            <a:r>
              <a:rPr lang="en-US" dirty="0"/>
              <a:t>Provide fault containment, fault tolerance, and fault recovery</a:t>
            </a:r>
          </a:p>
        </p:txBody>
      </p:sp>
    </p:spTree>
    <p:custDataLst>
      <p:tags r:id="rId1"/>
    </p:custDataLst>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TIMING" val="|3.5|122.6|48.1|44.8|32.4"/>
</p:tagLst>
</file>

<file path=ppt/tags/tag2.xml><?xml version="1.0" encoding="utf-8"?>
<p:tagLst xmlns:a="http://schemas.openxmlformats.org/drawingml/2006/main" xmlns:r="http://schemas.openxmlformats.org/officeDocument/2006/relationships" xmlns:p="http://schemas.openxmlformats.org/presentationml/2006/main">
  <p:tag name="TIMING" val="|1.6|13|11.3|10.9|11.8"/>
</p:tagLst>
</file>

<file path=ppt/theme/theme1.xml><?xml version="1.0" encoding="utf-8"?>
<a:theme xmlns:a="http://schemas.openxmlformats.org/drawingml/2006/main" name="Offic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omic Sans MS"/>
        <a:ea typeface=""/>
        <a:cs typeface=""/>
      </a:majorFont>
      <a:minorFont>
        <a:latin typeface="Comic Sans M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bg1"/>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Comic Sans MS" pitchFamily="66" charset="0"/>
          </a:defRPr>
        </a:defPPr>
      </a:lstStyle>
    </a:spDef>
    <a:lnDef>
      <a:spPr bwMode="auto">
        <a:xfrm>
          <a:off x="0" y="0"/>
          <a:ext cx="1" cy="1"/>
        </a:xfrm>
        <a:custGeom>
          <a:avLst/>
          <a:gdLst/>
          <a:ahLst/>
          <a:cxnLst/>
          <a:rect l="0" t="0" r="0" b="0"/>
          <a:pathLst/>
        </a:custGeom>
        <a:solidFill>
          <a:schemeClr val="bg1"/>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Comic Sans MS" pitchFamily="66" charset="0"/>
          </a:defRPr>
        </a:defPPr>
      </a:lstStyle>
    </a:lnDef>
    <a:txDef>
      <a:spPr>
        <a:noFill/>
      </a:spPr>
      <a:bodyPr wrap="none" rtlCol="0">
        <a:spAutoFit/>
      </a:bodyPr>
      <a:lstStyle>
        <a:defPPr>
          <a:defRPr dirty="0">
            <a:latin typeface="Gill Sans Light"/>
          </a:defRPr>
        </a:defPPr>
      </a:lstStyle>
    </a:txDef>
  </a:objectDefaults>
  <a:extraClrSchemeLst>
    <a:extraClrScheme>
      <a:clrScheme name="Offic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da48a9ac-7937-4134-8b13-3620bf967764}" enabled="1" method="Privileged" siteId="{5a4ba6f9-f531-4f32-9467-398f19e69de4}" contentBits="0" removed="0"/>
</clbl:labelList>
</file>

<file path=docProps/app.xml><?xml version="1.0" encoding="utf-8"?>
<Properties xmlns="http://schemas.openxmlformats.org/officeDocument/2006/extended-properties" xmlns:vt="http://schemas.openxmlformats.org/officeDocument/2006/docPropsVTypes">
  <Template/>
  <TotalTime>62660</TotalTime>
  <Pages>60</Pages>
  <Words>2694</Words>
  <Application>Microsoft Office PowerPoint</Application>
  <PresentationFormat>Widescreen</PresentationFormat>
  <Paragraphs>748</Paragraphs>
  <Slides>50</Slides>
  <Notes>10</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2</vt:i4>
      </vt:variant>
      <vt:variant>
        <vt:lpstr>Slide Titles</vt:lpstr>
      </vt:variant>
      <vt:variant>
        <vt:i4>50</vt:i4>
      </vt:variant>
    </vt:vector>
  </HeadingPairs>
  <TitlesOfParts>
    <vt:vector size="62" baseType="lpstr">
      <vt:lpstr>Gill Sans</vt:lpstr>
      <vt:lpstr>Gill Sans Light</vt:lpstr>
      <vt:lpstr>ＭＳ Ｐゴシック</vt:lpstr>
      <vt:lpstr>Arial</vt:lpstr>
      <vt:lpstr>Comic Sans MS</vt:lpstr>
      <vt:lpstr>Consolas</vt:lpstr>
      <vt:lpstr>Helvetica</vt:lpstr>
      <vt:lpstr>Symbol</vt:lpstr>
      <vt:lpstr>Verdana</vt:lpstr>
      <vt:lpstr>Office</vt:lpstr>
      <vt:lpstr>Image</vt:lpstr>
      <vt:lpstr>Chart</vt:lpstr>
      <vt:lpstr>CSC 112: Computer Operating Systems Lecture 1  What is an Operating System?</vt:lpstr>
      <vt:lpstr>Across Incredible Diversity</vt:lpstr>
      <vt:lpstr>And Range of Timescales</vt:lpstr>
      <vt:lpstr>Operating Systems are at the Heart of it All!</vt:lpstr>
      <vt:lpstr>Example: What’s in a Search Query?</vt:lpstr>
      <vt:lpstr>One Definition of an Operating System</vt:lpstr>
      <vt:lpstr>Hardware/Software Interface</vt:lpstr>
      <vt:lpstr>What is an Operating System?</vt:lpstr>
      <vt:lpstr>OS Basics: Virtualizing the Machine</vt:lpstr>
      <vt:lpstr>Compiled Program’s View of the World</vt:lpstr>
      <vt:lpstr>System Programmer’s View of the World</vt:lpstr>
      <vt:lpstr>What’s in a Process?</vt:lpstr>
      <vt:lpstr>Operating System’s View of the World</vt:lpstr>
      <vt:lpstr>Operating System’s View of the World</vt:lpstr>
      <vt:lpstr>What is an Operating System?</vt:lpstr>
      <vt:lpstr>OS Basics: Running a Process</vt:lpstr>
      <vt:lpstr>OS Basics: Switching Processes</vt:lpstr>
      <vt:lpstr>OS Basics: Switching Processes</vt:lpstr>
      <vt:lpstr>OS Basics: Switching Processes</vt:lpstr>
      <vt:lpstr>OS Basics: Switching Processes</vt:lpstr>
      <vt:lpstr>OS Basics: Protection</vt:lpstr>
      <vt:lpstr>OS Basics: Protection</vt:lpstr>
      <vt:lpstr>OS Basics: Protection</vt:lpstr>
      <vt:lpstr>What is an Operating System?</vt:lpstr>
      <vt:lpstr>OS Basics: I/O</vt:lpstr>
      <vt:lpstr>OS Basics: Look and Feel</vt:lpstr>
      <vt:lpstr>OS Basics: Background Management</vt:lpstr>
      <vt:lpstr>Why take CSC112?</vt:lpstr>
      <vt:lpstr>What makes Operating Systems Exciting and Challenging?</vt:lpstr>
      <vt:lpstr>Societal Scale Information Systems (Or the “Internet of Things”?)</vt:lpstr>
      <vt:lpstr>Technology Trends: Moore’s Law</vt:lpstr>
      <vt:lpstr>Big Challenge: Slowdown in Joy’s law of Performance</vt:lpstr>
      <vt:lpstr>Another Challenge: Power Density</vt:lpstr>
      <vt:lpstr>But then Moore’s Law Ended…</vt:lpstr>
      <vt:lpstr>Storage Capacity is Still Growing!</vt:lpstr>
      <vt:lpstr>Society is Increasingly Connected…</vt:lpstr>
      <vt:lpstr>Network Capacity Still Increasing</vt:lpstr>
      <vt:lpstr>Not Only PCs connected to the Internet</vt:lpstr>
      <vt:lpstr>People-to-Computer Ratio Over Time</vt:lpstr>
      <vt:lpstr>Challenge: Complexity</vt:lpstr>
      <vt:lpstr>Recall: Increasing Software Complexity</vt:lpstr>
      <vt:lpstr>Example: Some Mars Rover (“Pathfinder”) Requirements</vt:lpstr>
      <vt:lpstr>Questions</vt:lpstr>
      <vt:lpstr>OS Abstracts the Underlying Hardware</vt:lpstr>
      <vt:lpstr>OS Protects Processes and the Kernel</vt:lpstr>
      <vt:lpstr>Basic Tool: Dual-Mode Operation</vt:lpstr>
      <vt:lpstr>UNIX System Structure</vt:lpstr>
      <vt:lpstr>Virtualization: Execution Environments for Systems</vt:lpstr>
      <vt:lpstr>Operating System Definition</vt:lpstr>
      <vt:lpstr>“In conclusion…Operating Systems:”</vt:lpstr>
    </vt:vector>
  </TitlesOfParts>
  <Company>UC Berkeley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1: Course Introduction and Overview</dc:title>
  <dc:creator>John D. Kubiatowicz</dc:creator>
  <dc:description>Imported some pictures from Silbershatz (c) 2005</dc:description>
  <cp:lastModifiedBy>Zonghua Gu</cp:lastModifiedBy>
  <cp:revision>594</cp:revision>
  <cp:lastPrinted>2022-01-18T01:58:33Z</cp:lastPrinted>
  <dcterms:created xsi:type="dcterms:W3CDTF">1995-08-12T11:37:26Z</dcterms:created>
  <dcterms:modified xsi:type="dcterms:W3CDTF">2026-09-02T22:22:38Z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wner">
    <vt:lpwstr>Joseph</vt:lpwstr>
  </property>
  <property fmtid="{D5CDD505-2E9C-101B-9397-08002B2CF9AE}" pid="3" name="Semester">
    <vt:lpwstr>Spring 2006</vt:lpwstr>
  </property>
</Properties>
</file>